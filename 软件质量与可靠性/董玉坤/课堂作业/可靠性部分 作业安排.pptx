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686" r:id="rId2"/>
    <p:sldId id="687" r:id="rId3"/>
    <p:sldId id="688" r:id="rId4"/>
    <p:sldId id="860" r:id="rId5"/>
    <p:sldId id="859" r:id="rId6"/>
    <p:sldId id="768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8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3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8605"/>
            <a:ext cx="10515600" cy="4638675"/>
          </a:xfrm>
        </p:spPr>
        <p:txBody>
          <a:bodyPr/>
          <a:lstStyle>
            <a:lvl1pPr eaLnBrk="1" fontAlgn="auto" latinLnBrk="0" hangingPunct="1">
              <a:lnSpc>
                <a:spcPct val="130000"/>
              </a:lnSpc>
              <a:defRPr/>
            </a:lvl1pPr>
            <a:lvl2pPr eaLnBrk="1" fontAlgn="auto" latinLnBrk="0" hangingPunct="1">
              <a:lnSpc>
                <a:spcPct val="130000"/>
              </a:lnSpc>
              <a:defRPr/>
            </a:lvl2pPr>
            <a:lvl3pPr eaLnBrk="1" fontAlgn="auto" latinLnBrk="0" hangingPunct="1">
              <a:lnSpc>
                <a:spcPct val="130000"/>
              </a:lnSpc>
              <a:defRPr/>
            </a:lvl3pPr>
            <a:lvl4pPr eaLnBrk="1" fontAlgn="auto" latinLnBrk="0" hangingPunct="1">
              <a:lnSpc>
                <a:spcPct val="130000"/>
              </a:lnSpc>
              <a:defRPr/>
            </a:lvl4pPr>
            <a:lvl5pPr eaLnBrk="1" fontAlgn="auto" latinLnBrk="0" hangingPunct="1"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EFBB9-8D04-43DE-A59C-D9D9C885B1D2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D90DF-7CA0-4224-96EF-983A14E141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针对一个需求规格说明书，根据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ISO/IEC 25010:20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23</a:t>
            </a:r>
            <a:r>
              <a:rPr lang="zh-CN" altLang="en-US" dirty="0">
                <a:sym typeface="+mn-ea"/>
              </a:rPr>
              <a:t>质量模型，给出在以下方面的质量需求：</a:t>
            </a:r>
          </a:p>
          <a:p>
            <a:pPr lvl="1"/>
            <a:r>
              <a:rPr lang="zh-CN" altLang="en-US" dirty="0">
                <a:sym typeface="+mn-ea"/>
              </a:rPr>
              <a:t>可靠性（尽可能量化，给出必要的原因解释）</a:t>
            </a:r>
          </a:p>
          <a:p>
            <a:pPr lvl="1"/>
            <a:r>
              <a:rPr lang="zh-CN" altLang="en-US" dirty="0">
                <a:sym typeface="+mn-ea"/>
              </a:rPr>
              <a:t>性能效率（尽可能量化，给出必要的原因解释）</a:t>
            </a:r>
          </a:p>
          <a:p>
            <a:pPr lvl="1"/>
            <a:r>
              <a:rPr lang="zh-CN" altLang="en-US" dirty="0">
                <a:sym typeface="+mn-ea"/>
              </a:rPr>
              <a:t>安全性（识别出出现安全故障后可能存在的风险）</a:t>
            </a:r>
          </a:p>
          <a:p>
            <a:pPr lvl="1"/>
            <a:r>
              <a:rPr lang="zh-CN" altLang="en-US" dirty="0">
                <a:sym typeface="+mn-ea"/>
              </a:rPr>
              <a:t>兼容性（给出至少兼容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个软件的必要性）</a:t>
            </a:r>
          </a:p>
          <a:p>
            <a:pPr lvl="1"/>
            <a:r>
              <a:rPr lang="en-US" altLang="zh-CN" dirty="0">
                <a:sym typeface="+mn-ea"/>
              </a:rPr>
              <a:t>...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整理至少</a:t>
            </a:r>
            <a:r>
              <a:rPr lang="en-US" altLang="zh-CN" dirty="0">
                <a:sym typeface="+mn-ea"/>
              </a:rPr>
              <a:t>10</a:t>
            </a:r>
            <a:r>
              <a:rPr lang="zh-CN" altLang="en-US" dirty="0">
                <a:sym typeface="+mn-ea"/>
              </a:rPr>
              <a:t>个程序语义缺陷的例子（至少</a:t>
            </a:r>
            <a:r>
              <a:rPr lang="en-US" altLang="zh-CN" dirty="0">
                <a:sym typeface="+mn-ea"/>
              </a:rPr>
              <a:t>6</a:t>
            </a:r>
            <a:r>
              <a:rPr lang="zh-CN" altLang="en-US" dirty="0">
                <a:sym typeface="+mn-ea"/>
              </a:rPr>
              <a:t>种类型），应用至少两种大模型进行缺陷检测，并分析各大模型对各类缺陷检测的准确率、漏报率与误报率。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以上例子对编程语言不限。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整理至少</a:t>
            </a:r>
            <a:r>
              <a:rPr lang="en-US" altLang="zh-CN" dirty="0">
                <a:sym typeface="+mn-ea"/>
              </a:rPr>
              <a:t>6</a:t>
            </a:r>
            <a:r>
              <a:rPr lang="zh-CN" altLang="en-US" dirty="0">
                <a:sym typeface="+mn-ea"/>
              </a:rPr>
              <a:t>个软件功能故障模式的程序例子（至少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种类型），并设计至少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个导致该程序出现故障的测试用例（给出测试输入、预期结果与实际结果，实际结果最好截图）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以上例子对编程语言不限。</a:t>
            </a:r>
          </a:p>
        </p:txBody>
      </p:sp>
    </p:spTree>
    <p:extLst>
      <p:ext uri="{BB962C8B-B14F-4D97-AF65-F5344CB8AC3E}">
        <p14:creationId xmlns:p14="http://schemas.microsoft.com/office/powerpoint/2010/main" val="4043248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针对所选的一个项目的场景：</a:t>
            </a:r>
          </a:p>
          <a:p>
            <a:pPr marL="914400" lvl="1" indent="-457200">
              <a:buFont typeface="+mj-ea"/>
              <a:buAutoNum type="circleNumDbPlain"/>
            </a:pPr>
            <a:r>
              <a:rPr lang="zh-CN" altLang="en-US">
                <a:sym typeface="+mn-ea"/>
              </a:rPr>
              <a:t>选择一种场景，代码实现一个关联缺陷（可以简化）</a:t>
            </a:r>
          </a:p>
          <a:p>
            <a:pPr marL="914400" lvl="1" indent="-457200">
              <a:buFont typeface="+mj-ea"/>
              <a:buAutoNum type="circleNumDbPlain"/>
            </a:pPr>
            <a:r>
              <a:rPr lang="zh-CN" altLang="en-US">
                <a:sym typeface="+mn-ea"/>
              </a:rPr>
              <a:t>可通过多个简单的方法调用进行模拟</a:t>
            </a:r>
          </a:p>
          <a:p>
            <a:pPr marL="914400" lvl="1" indent="-457200">
              <a:buFont typeface="+mj-ea"/>
              <a:buAutoNum type="circleNumDbPlain"/>
            </a:pPr>
            <a:r>
              <a:rPr lang="zh-CN" altLang="en-US">
                <a:sym typeface="+mn-ea"/>
              </a:rPr>
              <a:t>设计多个测试用例，给出有无故障产生的输出结果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38605"/>
            <a:ext cx="10515600" cy="1682115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sym typeface="+mn-ea"/>
              </a:rPr>
              <a:t>针对一款软件，进行软件失效模式和影响分析，用下表进行统计结果，识别至少</a:t>
            </a:r>
            <a:r>
              <a:rPr lang="en-US" altLang="zh-CN" dirty="0">
                <a:sym typeface="+mn-ea"/>
              </a:rPr>
              <a:t>10</a:t>
            </a:r>
            <a:r>
              <a:rPr lang="zh-CN" altLang="en-US" dirty="0">
                <a:sym typeface="+mn-ea"/>
              </a:rPr>
              <a:t>个失效模式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需要先对软件进行介绍</a:t>
            </a:r>
          </a:p>
        </p:txBody>
      </p:sp>
      <p:graphicFrame>
        <p:nvGraphicFramePr>
          <p:cNvPr id="78851" name="表格 7885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2527842"/>
              </p:ext>
            </p:extLst>
          </p:nvPr>
        </p:nvGraphicFramePr>
        <p:xfrm>
          <a:off x="929640" y="3637280"/>
          <a:ext cx="10119360" cy="2534285"/>
        </p:xfrm>
        <a:graphic>
          <a:graphicData uri="http://schemas.openxmlformats.org/drawingml/2006/table">
            <a:tbl>
              <a:tblPr/>
              <a:tblGrid>
                <a:gridCol w="68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4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5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276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</a:rPr>
                        <a:t>编号</a:t>
                      </a:r>
                    </a:p>
                  </a:txBody>
                  <a:tcPr marL="0" marR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</a:rPr>
                        <a:t>失效模式</a:t>
                      </a:r>
                    </a:p>
                  </a:txBody>
                  <a:tcPr marL="0" marR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</a:rPr>
                        <a:t>失效影响</a:t>
                      </a:r>
                    </a:p>
                  </a:txBody>
                  <a:tcPr marL="0" marR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</a:rPr>
                        <a:t>严重性 </a:t>
                      </a:r>
                    </a:p>
                  </a:txBody>
                  <a:tcPr marL="0" marR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</a:rPr>
                        <a:t>措施 </a:t>
                      </a:r>
                    </a:p>
                  </a:txBody>
                  <a:tcPr marL="0" marR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buNone/>
                      </a:pPr>
                      <a:endParaRPr lang="zh-CN" alt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buNone/>
                      </a:pPr>
                      <a:endParaRPr lang="zh-CN" alt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0000"/>
                        </a:lnSpc>
                        <a:buNone/>
                      </a:pPr>
                      <a:endParaRPr lang="zh-CN" alt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buNone/>
                      </a:pPr>
                      <a:endParaRPr lang="zh-CN" alt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81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buNone/>
                      </a:pPr>
                      <a:endParaRPr lang="zh-CN" alt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buNone/>
                      </a:pPr>
                      <a:endParaRPr lang="zh-CN" alt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0000"/>
                        </a:lnSpc>
                        <a:buNone/>
                      </a:pPr>
                      <a:endParaRPr lang="zh-CN" alt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buNone/>
                      </a:pPr>
                      <a:endParaRPr lang="zh-CN" alt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00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buNone/>
                      </a:pP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buNone/>
                      </a:pP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0000"/>
                        </a:lnSpc>
                        <a:buNone/>
                      </a:pPr>
                      <a:endParaRPr lang="zh-CN" alt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buNone/>
                      </a:pP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/>
              <a:t>6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针对一个需求规格说明书，给出至少</a:t>
            </a:r>
            <a:r>
              <a:rPr lang="en-US" altLang="zh-CN" dirty="0"/>
              <a:t>10</a:t>
            </a:r>
            <a:r>
              <a:rPr lang="zh-CN" altLang="en-US" dirty="0"/>
              <a:t>条提升可靠性的设计策略</a:t>
            </a:r>
            <a:r>
              <a:rPr lang="zh-CN" altLang="en-US" dirty="0">
                <a:sym typeface="+mn-ea"/>
              </a:rPr>
              <a:t>。</a:t>
            </a:r>
          </a:p>
          <a:p>
            <a:pPr lvl="1"/>
            <a:r>
              <a:rPr lang="zh-CN" altLang="en-US">
                <a:sym typeface="+mn-ea"/>
              </a:rPr>
              <a:t>需要给出较为详细一点的需求规格说明书，可以用大模型给生成一个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bd29f46-b8e6-4582-857c-02eb3b47549f"/>
  <p:tag name="COMMONDATA" val="eyJoZGlkIjoiNGVhMGEzMzFmYzE0NDk3ZTNmMGYzOThhM2NhOTZlNT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96*199"/>
  <p:tag name="TABLE_ENDDRAG_RECT" val="49*214*796*199"/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 sz="2000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</TotalTime>
  <Words>313</Words>
  <Application>Microsoft Office PowerPoint</Application>
  <PresentationFormat>宽屏</PresentationFormat>
  <Paragraphs>32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宋体</vt:lpstr>
      <vt:lpstr>Arial</vt:lpstr>
      <vt:lpstr>Calibri</vt:lpstr>
      <vt:lpstr>Calibri Light</vt:lpstr>
      <vt:lpstr>Times New Roman</vt:lpstr>
      <vt:lpstr>Office 主题</vt:lpstr>
      <vt:lpstr>作业1</vt:lpstr>
      <vt:lpstr>作业2</vt:lpstr>
      <vt:lpstr>作业3</vt:lpstr>
      <vt:lpstr>作业4</vt:lpstr>
      <vt:lpstr>作业5</vt:lpstr>
      <vt:lpstr>作业6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软件分析概要</dc:title>
  <dc:creator>Microsoft</dc:creator>
  <cp:lastModifiedBy>dyk</cp:lastModifiedBy>
  <cp:revision>197</cp:revision>
  <dcterms:created xsi:type="dcterms:W3CDTF">2022-08-08T01:51:00Z</dcterms:created>
  <dcterms:modified xsi:type="dcterms:W3CDTF">2025-10-23T02:20:43Z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E9266E9539684B88B8E38D15771F6DA7_12</vt:lpwstr>
  </property>
  <property fmtid="{D5CDD505-2E9C-101B-9397-08002B2CF9AE}" pid="3" name="KSOProductBuildVer">
    <vt:lpwstr>2052-12.1.0.23125</vt:lpwstr>
  </property>
</Properties>
</file>