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8"/>
  </p:notesMasterIdLst>
  <p:handoutMasterIdLst>
    <p:handoutMasterId r:id="rId99"/>
  </p:handoutMasterIdLst>
  <p:sldIdLst>
    <p:sldId id="256" r:id="rId3"/>
    <p:sldId id="257" r:id="rId4"/>
    <p:sldId id="656" r:id="rId5"/>
    <p:sldId id="657" r:id="rId6"/>
    <p:sldId id="658" r:id="rId7"/>
    <p:sldId id="661" r:id="rId8"/>
    <p:sldId id="662" r:id="rId9"/>
    <p:sldId id="663" r:id="rId10"/>
    <p:sldId id="664" r:id="rId11"/>
    <p:sldId id="665" r:id="rId12"/>
    <p:sldId id="666" r:id="rId13"/>
    <p:sldId id="667" r:id="rId14"/>
    <p:sldId id="668" r:id="rId15"/>
    <p:sldId id="669" r:id="rId16"/>
    <p:sldId id="670" r:id="rId17"/>
    <p:sldId id="671" r:id="rId18"/>
    <p:sldId id="672" r:id="rId19"/>
    <p:sldId id="673" r:id="rId20"/>
    <p:sldId id="674" r:id="rId21"/>
    <p:sldId id="675" r:id="rId22"/>
    <p:sldId id="676" r:id="rId23"/>
    <p:sldId id="677" r:id="rId24"/>
    <p:sldId id="678" r:id="rId25"/>
    <p:sldId id="679" r:id="rId26"/>
    <p:sldId id="680" r:id="rId27"/>
    <p:sldId id="681" r:id="rId28"/>
    <p:sldId id="682" r:id="rId29"/>
    <p:sldId id="683" r:id="rId30"/>
    <p:sldId id="684" r:id="rId31"/>
    <p:sldId id="685" r:id="rId32"/>
    <p:sldId id="731" r:id="rId33"/>
    <p:sldId id="758" r:id="rId34"/>
    <p:sldId id="759" r:id="rId35"/>
    <p:sldId id="760" r:id="rId36"/>
    <p:sldId id="761" r:id="rId37"/>
    <p:sldId id="762" r:id="rId38"/>
    <p:sldId id="763" r:id="rId39"/>
    <p:sldId id="764" r:id="rId40"/>
    <p:sldId id="765" r:id="rId41"/>
    <p:sldId id="766" r:id="rId42"/>
    <p:sldId id="767" r:id="rId43"/>
    <p:sldId id="768" r:id="rId44"/>
    <p:sldId id="769" r:id="rId45"/>
    <p:sldId id="770" r:id="rId46"/>
    <p:sldId id="771" r:id="rId47"/>
    <p:sldId id="772" r:id="rId48"/>
    <p:sldId id="773" r:id="rId49"/>
    <p:sldId id="774" r:id="rId50"/>
    <p:sldId id="775" r:id="rId51"/>
    <p:sldId id="776" r:id="rId52"/>
    <p:sldId id="777" r:id="rId53"/>
    <p:sldId id="778" r:id="rId54"/>
    <p:sldId id="779" r:id="rId55"/>
    <p:sldId id="780" r:id="rId56"/>
    <p:sldId id="781" r:id="rId57"/>
    <p:sldId id="782" r:id="rId58"/>
    <p:sldId id="783" r:id="rId59"/>
    <p:sldId id="784" r:id="rId60"/>
    <p:sldId id="785" r:id="rId61"/>
    <p:sldId id="786" r:id="rId62"/>
    <p:sldId id="787" r:id="rId63"/>
    <p:sldId id="788" r:id="rId64"/>
    <p:sldId id="789" r:id="rId65"/>
    <p:sldId id="790" r:id="rId66"/>
    <p:sldId id="791" r:id="rId67"/>
    <p:sldId id="792" r:id="rId68"/>
    <p:sldId id="793" r:id="rId69"/>
    <p:sldId id="794" r:id="rId70"/>
    <p:sldId id="795" r:id="rId71"/>
    <p:sldId id="796" r:id="rId72"/>
    <p:sldId id="797" r:id="rId73"/>
    <p:sldId id="798" r:id="rId74"/>
    <p:sldId id="821" r:id="rId75"/>
    <p:sldId id="799" r:id="rId76"/>
    <p:sldId id="800" r:id="rId77"/>
    <p:sldId id="801" r:id="rId78"/>
    <p:sldId id="802" r:id="rId79"/>
    <p:sldId id="803" r:id="rId80"/>
    <p:sldId id="804" r:id="rId81"/>
    <p:sldId id="805" r:id="rId82"/>
    <p:sldId id="806" r:id="rId83"/>
    <p:sldId id="807" r:id="rId84"/>
    <p:sldId id="808" r:id="rId85"/>
    <p:sldId id="809" r:id="rId86"/>
    <p:sldId id="810" r:id="rId87"/>
    <p:sldId id="811" r:id="rId88"/>
    <p:sldId id="812" r:id="rId89"/>
    <p:sldId id="813" r:id="rId90"/>
    <p:sldId id="814" r:id="rId91"/>
    <p:sldId id="815" r:id="rId92"/>
    <p:sldId id="816" r:id="rId93"/>
    <p:sldId id="817" r:id="rId94"/>
    <p:sldId id="818" r:id="rId95"/>
    <p:sldId id="819" r:id="rId96"/>
    <p:sldId id="686" r:id="rId97"/>
  </p:sldIdLst>
  <p:sldSz cx="12192000" cy="6858000"/>
  <p:notesSz cx="6858000" cy="9144000"/>
  <p:custDataLst>
    <p:tags r:id="rId10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9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handoutMaster" Target="handoutMasters/handoutMaster1.xml"/><Relationship Id="rId98" Type="http://schemas.openxmlformats.org/officeDocument/2006/relationships/notesMaster" Target="notesMasters/notesMaster1.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3" Type="http://schemas.openxmlformats.org/officeDocument/2006/relationships/tags" Target="tags/tag54.xml"/><Relationship Id="rId102" Type="http://schemas.openxmlformats.org/officeDocument/2006/relationships/tableStyles" Target="tableStyles.xml"/><Relationship Id="rId101" Type="http://schemas.openxmlformats.org/officeDocument/2006/relationships/viewProps" Target="viewProps.xml"/><Relationship Id="rId100"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5355"/>
          </a:xfrm>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a:xfrm>
            <a:off x="838200" y="1538605"/>
            <a:ext cx="10515600" cy="4638675"/>
          </a:xfrm>
        </p:spPr>
        <p:txBody>
          <a:bodyPr/>
          <a:lstStyle>
            <a:lvl1pPr eaLnBrk="1" fontAlgn="auto" latinLnBrk="0" hangingPunct="1">
              <a:lnSpc>
                <a:spcPct val="130000"/>
              </a:lnSpc>
              <a:defRPr>
                <a:latin typeface="黑体" panose="02010609060101010101" pitchFamily="2" charset="-122"/>
                <a:ea typeface="黑体" panose="02010609060101010101" pitchFamily="2" charset="-122"/>
              </a:defRPr>
            </a:lvl1pPr>
            <a:lvl2pPr eaLnBrk="1" fontAlgn="auto" latinLnBrk="0" hangingPunct="1">
              <a:lnSpc>
                <a:spcPct val="130000"/>
              </a:lnSpc>
              <a:defRPr>
                <a:latin typeface="黑体" panose="02010609060101010101" pitchFamily="2" charset="-122"/>
                <a:ea typeface="黑体" panose="02010609060101010101" pitchFamily="2" charset="-122"/>
              </a:defRPr>
            </a:lvl2pPr>
            <a:lvl3pPr eaLnBrk="1" fontAlgn="auto" latinLnBrk="0" hangingPunct="1">
              <a:lnSpc>
                <a:spcPct val="130000"/>
              </a:lnSpc>
              <a:defRPr>
                <a:latin typeface="黑体" panose="02010609060101010101" pitchFamily="2" charset="-122"/>
                <a:ea typeface="黑体" panose="02010609060101010101" pitchFamily="2" charset="-122"/>
              </a:defRPr>
            </a:lvl3pPr>
            <a:lvl4pPr eaLnBrk="1" fontAlgn="auto" latinLnBrk="0" hangingPunct="1">
              <a:lnSpc>
                <a:spcPct val="130000"/>
              </a:lnSpc>
              <a:defRPr>
                <a:latin typeface="黑体" panose="02010609060101010101" pitchFamily="2" charset="-122"/>
                <a:ea typeface="黑体" panose="02010609060101010101" pitchFamily="2" charset="-122"/>
              </a:defRPr>
            </a:lvl4pPr>
            <a:lvl5pPr eaLnBrk="1" fontAlgn="auto" latinLnBrk="0" hangingPunct="1">
              <a:lnSpc>
                <a:spcPct val="130000"/>
              </a:lnSpc>
              <a:defRPr>
                <a:latin typeface="黑体" panose="02010609060101010101" pitchFamily="2" charset="-122"/>
                <a:ea typeface="黑体" panose="02010609060101010101" pitchFamily="2"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609600" y="1600201"/>
            <a:ext cx="10972800" cy="4525963"/>
          </a:xfrm>
        </p:spPr>
        <p:txBody>
          <a:bodyPr/>
          <a:lstStyle/>
          <a:p>
            <a:pPr lvl="0"/>
            <a:endParaRPr lang="zh-CN" altLang="en-US" noProof="0" smtClean="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4D90DF-7CA0-4224-96EF-983A14E1413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5" Type="http://schemas.openxmlformats.org/officeDocument/2006/relationships/slideLayout" Target="../slideLayouts/slideLayout2.xml"/><Relationship Id="rId34" Type="http://schemas.openxmlformats.org/officeDocument/2006/relationships/tags" Target="../tags/tag29.xml"/><Relationship Id="rId33" Type="http://schemas.openxmlformats.org/officeDocument/2006/relationships/tags" Target="../tags/tag28.xml"/><Relationship Id="rId32" Type="http://schemas.openxmlformats.org/officeDocument/2006/relationships/tags" Target="../tags/tag27.xml"/><Relationship Id="rId31" Type="http://schemas.openxmlformats.org/officeDocument/2006/relationships/tags" Target="../tags/tag26.xml"/><Relationship Id="rId30" Type="http://schemas.openxmlformats.org/officeDocument/2006/relationships/tags" Target="../tags/tag25.xml"/><Relationship Id="rId3" Type="http://schemas.openxmlformats.org/officeDocument/2006/relationships/tags" Target="../tags/tag2.xml"/><Relationship Id="rId29" Type="http://schemas.openxmlformats.org/officeDocument/2006/relationships/tags" Target="../tags/tag24.xml"/><Relationship Id="rId28" Type="http://schemas.openxmlformats.org/officeDocument/2006/relationships/image" Target="../media/image5.png"/><Relationship Id="rId27" Type="http://schemas.openxmlformats.org/officeDocument/2006/relationships/tags" Target="../tags/tag23.xml"/><Relationship Id="rId26" Type="http://schemas.openxmlformats.org/officeDocument/2006/relationships/tags" Target="../tags/tag22.xml"/><Relationship Id="rId25" Type="http://schemas.openxmlformats.org/officeDocument/2006/relationships/tags" Target="../tags/tag21.xml"/><Relationship Id="rId24" Type="http://schemas.openxmlformats.org/officeDocument/2006/relationships/tags" Target="../tags/tag20.xml"/><Relationship Id="rId23" Type="http://schemas.openxmlformats.org/officeDocument/2006/relationships/image" Target="../media/image4.png"/><Relationship Id="rId22" Type="http://schemas.openxmlformats.org/officeDocument/2006/relationships/tags" Target="../tags/tag19.xml"/><Relationship Id="rId21" Type="http://schemas.openxmlformats.org/officeDocument/2006/relationships/tags" Target="../tags/tag18.xml"/><Relationship Id="rId20" Type="http://schemas.openxmlformats.org/officeDocument/2006/relationships/tags" Target="../tags/tag17.xml"/><Relationship Id="rId2" Type="http://schemas.openxmlformats.org/officeDocument/2006/relationships/image" Target="../media/image1.png"/><Relationship Id="rId19" Type="http://schemas.openxmlformats.org/officeDocument/2006/relationships/image" Target="../media/image3.png"/><Relationship Id="rId18" Type="http://schemas.openxmlformats.org/officeDocument/2006/relationships/tags" Target="../tags/tag16.xml"/><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image" Target="../media/image2.png"/><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tags" Target="../tags/tag31.xml"/><Relationship Id="rId2" Type="http://schemas.openxmlformats.org/officeDocument/2006/relationships/image" Target="../media/image7.e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第</a:t>
            </a:r>
            <a:r>
              <a:rPr lang="en-US" altLang="zh-CN" dirty="0" smtClean="0"/>
              <a:t>2</a:t>
            </a:r>
            <a:r>
              <a:rPr lang="zh-CN" altLang="en-US" dirty="0" smtClean="0"/>
              <a:t>章 软件缺陷</a:t>
            </a:r>
            <a:endParaRPr lang="zh-CN" altLang="en-US" dirty="0" smtClean="0"/>
          </a:p>
        </p:txBody>
      </p:sp>
      <p:sp>
        <p:nvSpPr>
          <p:cNvPr id="3" name="副标题 2"/>
          <p:cNvSpPr>
            <a:spLocks noGrp="1"/>
          </p:cNvSpPr>
          <p:nvPr>
            <p:ph type="subTitle" idx="1"/>
          </p:nvPr>
        </p:nvSpPr>
        <p:spPr>
          <a:xfrm>
            <a:off x="2667000" y="3934558"/>
            <a:ext cx="6858000" cy="866042"/>
          </a:xfrm>
        </p:spPr>
        <p:txBody>
          <a:bodyPr>
            <a:normAutofit lnSpcReduction="10000"/>
          </a:bodyPr>
          <a:lstStyle/>
          <a:p>
            <a:r>
              <a:rPr lang="zh-CN" altLang="en-US" dirty="0" smtClean="0"/>
              <a:t>中国石油大学（华东）</a:t>
            </a:r>
            <a:endParaRPr lang="zh-CN" altLang="en-US" dirty="0" smtClean="0"/>
          </a:p>
          <a:p>
            <a:r>
              <a:rPr lang="zh-CN" altLang="en-US" dirty="0"/>
              <a:t>青岛软件学院、计算机科学与技术</a:t>
            </a:r>
            <a:r>
              <a:rPr lang="zh-CN" altLang="en-US" dirty="0"/>
              <a:t>学院</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C00000"/>
                </a:solidFill>
              </a:rPr>
              <a:t>内容</a:t>
            </a:r>
            <a:endParaRPr lang="zh-CN" altLang="en-US" dirty="0" smtClean="0">
              <a:solidFill>
                <a:srgbClr val="C00000"/>
              </a:solidFill>
            </a:endParaRPr>
          </a:p>
        </p:txBody>
      </p:sp>
      <p:sp>
        <p:nvSpPr>
          <p:cNvPr id="3" name="内容占位符 2"/>
          <p:cNvSpPr>
            <a:spLocks noGrp="1"/>
          </p:cNvSpPr>
          <p:nvPr>
            <p:ph idx="1"/>
          </p:nvPr>
        </p:nvSpPr>
        <p:spPr/>
        <p:txBody>
          <a:bodyPr>
            <a:normAutofit/>
          </a:bodyPr>
          <a:lstStyle/>
          <a:p>
            <a:r>
              <a:rPr lang="en-US" altLang="zh-CN" dirty="0"/>
              <a:t>1. </a:t>
            </a:r>
            <a:r>
              <a:rPr lang="zh-CN" altLang="en-US" dirty="0"/>
              <a:t>软件缺陷</a:t>
            </a:r>
            <a:r>
              <a:rPr lang="zh-CN" altLang="en-US" dirty="0"/>
              <a:t>概述</a:t>
            </a:r>
            <a:endParaRPr lang="zh-CN" altLang="en-US" dirty="0"/>
          </a:p>
          <a:p>
            <a:r>
              <a:rPr lang="en-US" altLang="zh-CN" dirty="0"/>
              <a:t>2. </a:t>
            </a:r>
            <a:r>
              <a:rPr lang="zh-CN" altLang="en-US" dirty="0"/>
              <a:t>软件缺陷</a:t>
            </a:r>
            <a:r>
              <a:rPr lang="zh-CN" altLang="en-US" dirty="0"/>
              <a:t>分类</a:t>
            </a:r>
            <a:endParaRPr lang="zh-CN" altLang="en-US" dirty="0"/>
          </a:p>
          <a:p>
            <a:r>
              <a:rPr lang="en-US" altLang="zh-CN" dirty="0"/>
              <a:t>3. </a:t>
            </a:r>
            <a:r>
              <a:rPr lang="zh-CN" altLang="en-US" dirty="0"/>
              <a:t>程序语义</a:t>
            </a:r>
            <a:r>
              <a:rPr lang="zh-CN" altLang="en-US" dirty="0"/>
              <a:t>缺陷</a:t>
            </a:r>
            <a:endParaRPr lang="zh-CN" altLang="en-US" dirty="0"/>
          </a:p>
          <a:p>
            <a:r>
              <a:rPr lang="en-US" altLang="zh-CN" dirty="0"/>
              <a:t>4. </a:t>
            </a:r>
            <a:r>
              <a:rPr lang="zh-CN" altLang="en-US" dirty="0"/>
              <a:t>软件功能</a:t>
            </a:r>
            <a:r>
              <a:rPr lang="zh-CN" altLang="en-US" dirty="0"/>
              <a:t>性故障</a:t>
            </a:r>
            <a:r>
              <a:rPr lang="zh-CN" altLang="en-US" dirty="0"/>
              <a:t>模型</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rPr>
              <a:t>2.1 </a:t>
            </a:r>
            <a:r>
              <a:rPr lang="zh-CN" altLang="en-US">
                <a:solidFill>
                  <a:srgbClr val="C00000"/>
                </a:solidFill>
              </a:rPr>
              <a:t>软件缺陷</a:t>
            </a:r>
            <a:r>
              <a:rPr lang="zh-CN" altLang="en-US">
                <a:solidFill>
                  <a:srgbClr val="C00000"/>
                </a:solidFill>
              </a:rPr>
              <a:t>概述</a:t>
            </a:r>
            <a:endParaRPr lang="zh-CN" altLang="en-US">
              <a:solidFill>
                <a:srgbClr val="C00000"/>
              </a:solidFill>
            </a:endParaRPr>
          </a:p>
        </p:txBody>
      </p:sp>
      <p:sp>
        <p:nvSpPr>
          <p:cNvPr id="3" name="内容占位符 2"/>
          <p:cNvSpPr>
            <a:spLocks noGrp="1"/>
          </p:cNvSpPr>
          <p:nvPr>
            <p:ph idx="1"/>
          </p:nvPr>
        </p:nvSpPr>
        <p:spPr/>
        <p:txBody>
          <a:bodyPr>
            <a:normAutofit/>
          </a:bodyPr>
          <a:p>
            <a:pPr algn="l" eaLnBrk="1" hangingPunct="1">
              <a:lnSpc>
                <a:spcPct val="130000"/>
              </a:lnSpc>
              <a:buClrTx/>
              <a:buSzTx/>
            </a:pPr>
            <a:r>
              <a:rPr lang="en-US" altLang="zh-CN" sz="2800" b="1">
                <a:solidFill>
                  <a:srgbClr val="FF0000"/>
                </a:solidFill>
                <a:sym typeface="+mn-ea"/>
              </a:rPr>
              <a:t>错误（error）</a:t>
            </a:r>
            <a:endParaRPr lang="en-US" altLang="zh-CN" sz="2800" b="1">
              <a:solidFill>
                <a:srgbClr val="FF0000"/>
              </a:solidFill>
            </a:endParaRPr>
          </a:p>
          <a:p>
            <a:pPr lvl="1" algn="l" eaLnBrk="1" hangingPunct="1">
              <a:lnSpc>
                <a:spcPct val="130000"/>
              </a:lnSpc>
              <a:buClrTx/>
              <a:buSzTx/>
            </a:pPr>
            <a:r>
              <a:rPr lang="en-US" altLang="zh-CN" sz="2400">
                <a:sym typeface="+mn-ea"/>
              </a:rPr>
              <a:t>通俗地说，错误是指某件做错的事。它是一种人类的失误行为。</a:t>
            </a:r>
            <a:endParaRPr lang="en-US" altLang="zh-CN" sz="2400"/>
          </a:p>
          <a:p>
            <a:pPr lvl="1" algn="l" eaLnBrk="1" hangingPunct="1">
              <a:lnSpc>
                <a:spcPct val="130000"/>
              </a:lnSpc>
              <a:buClrTx/>
              <a:buSzTx/>
            </a:pPr>
            <a:r>
              <a:rPr lang="en-US" altLang="zh-CN" sz="2400">
                <a:sym typeface="+mn-ea"/>
              </a:rPr>
              <a:t>和错误有关的行为——忘记、疏忽、随意、臆测、误判、错想、误会、含混、轻信、无知…。</a:t>
            </a:r>
            <a:endParaRPr lang="en-US" altLang="zh-CN" sz="2400"/>
          </a:p>
          <a:p>
            <a:pPr algn="l" eaLnBrk="1" hangingPunct="1">
              <a:lnSpc>
                <a:spcPct val="130000"/>
              </a:lnSpc>
              <a:buClrTx/>
              <a:buSzTx/>
            </a:pPr>
            <a:r>
              <a:rPr lang="en-US" altLang="zh-CN" sz="2800" b="1">
                <a:solidFill>
                  <a:srgbClr val="FF0000"/>
                </a:solidFill>
                <a:sym typeface="+mn-ea"/>
              </a:rPr>
              <a:t>（软件）缺陷（defect）</a:t>
            </a:r>
            <a:endParaRPr lang="en-US" altLang="zh-CN" sz="2800" b="1">
              <a:solidFill>
                <a:srgbClr val="FF0000"/>
              </a:solidFill>
            </a:endParaRPr>
          </a:p>
          <a:p>
            <a:pPr lvl="1" algn="l" eaLnBrk="1" hangingPunct="1">
              <a:lnSpc>
                <a:spcPct val="130000"/>
              </a:lnSpc>
              <a:buClrTx/>
              <a:buSzTx/>
            </a:pPr>
            <a:r>
              <a:rPr lang="en-US" altLang="zh-CN" sz="2400">
                <a:sym typeface="+mn-ea"/>
              </a:rPr>
              <a:t>缺陷是错误在软件中体现出来的结果。</a:t>
            </a:r>
            <a:endParaRPr lang="en-US" altLang="zh-CN" sz="2400"/>
          </a:p>
          <a:p>
            <a:pPr lvl="1" algn="l" eaLnBrk="1" hangingPunct="1">
              <a:lnSpc>
                <a:spcPct val="130000"/>
              </a:lnSpc>
              <a:buClrTx/>
              <a:buSzTx/>
            </a:pPr>
            <a:r>
              <a:rPr lang="en-US" altLang="zh-CN" sz="2400">
                <a:sym typeface="+mn-ea"/>
              </a:rPr>
              <a:t>错误是潜伏在软件中的问题，如果永远不执行它们就不会出现缺陷。</a:t>
            </a:r>
            <a:endParaRPr lang="en-US" altLang="zh-CN" sz="2400"/>
          </a:p>
          <a:p>
            <a:pPr lvl="1" algn="l" eaLnBrk="1" hangingPunct="1">
              <a:lnSpc>
                <a:spcPct val="130000"/>
              </a:lnSpc>
              <a:buClrTx/>
              <a:buSzTx/>
            </a:pPr>
            <a:r>
              <a:rPr lang="en-US" altLang="zh-CN" sz="2400">
                <a:sym typeface="+mn-ea"/>
              </a:rPr>
              <a:t>但是，如果没有条件引发这个缺陷，我们就可以认为没有缺陷吗？</a:t>
            </a:r>
            <a:endParaRPr lang="en-US" altLang="zh-CN" sz="2400"/>
          </a:p>
          <a:p>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buClrTx/>
              <a:buSzTx/>
              <a:buFontTx/>
            </a:pPr>
            <a:r>
              <a:rPr lang="en-US" altLang="zh-CN">
                <a:solidFill>
                  <a:srgbClr val="C00000"/>
                </a:solidFill>
                <a:sym typeface="+mn-ea"/>
              </a:rPr>
              <a:t>2.1 </a:t>
            </a:r>
            <a:r>
              <a:rPr lang="zh-CN" altLang="en-US">
                <a:solidFill>
                  <a:srgbClr val="C00000"/>
                </a:solidFill>
                <a:sym typeface="+mn-ea"/>
              </a:rPr>
              <a:t>软件缺陷概述</a:t>
            </a:r>
            <a:endParaRPr lang="zh-CN" altLang="en-US">
              <a:solidFill>
                <a:srgbClr val="C00000"/>
              </a:solidFill>
            </a:endParaRPr>
          </a:p>
        </p:txBody>
      </p:sp>
      <p:sp>
        <p:nvSpPr>
          <p:cNvPr id="3" name="内容占位符 2"/>
          <p:cNvSpPr>
            <a:spLocks noGrp="1"/>
          </p:cNvSpPr>
          <p:nvPr>
            <p:ph idx="1"/>
          </p:nvPr>
        </p:nvSpPr>
        <p:spPr/>
        <p:txBody>
          <a:bodyPr>
            <a:normAutofit fontScale="90000"/>
          </a:bodyPr>
          <a:p>
            <a:pPr algn="l" eaLnBrk="1" hangingPunct="1">
              <a:lnSpc>
                <a:spcPct val="130000"/>
              </a:lnSpc>
              <a:buClrTx/>
              <a:buSzTx/>
            </a:pPr>
            <a:r>
              <a:rPr lang="en-US" altLang="zh-CN" sz="2800" b="1">
                <a:solidFill>
                  <a:srgbClr val="FF0000"/>
                </a:solidFill>
                <a:sym typeface="+mn-ea"/>
              </a:rPr>
              <a:t>故障（fault）</a:t>
            </a:r>
            <a:endParaRPr lang="en-US" altLang="zh-CN" sz="2800" b="1">
              <a:solidFill>
                <a:srgbClr val="FF0000"/>
              </a:solidFill>
            </a:endParaRPr>
          </a:p>
          <a:p>
            <a:pPr lvl="1" algn="l" eaLnBrk="1" hangingPunct="1">
              <a:lnSpc>
                <a:spcPct val="130000"/>
              </a:lnSpc>
              <a:buClrTx/>
              <a:buSzTx/>
            </a:pPr>
            <a:r>
              <a:rPr lang="en-US" altLang="zh-CN" sz="2400">
                <a:sym typeface="+mn-ea"/>
              </a:rPr>
              <a:t>当缺陷被引发时，它可能造成故障（失效）。</a:t>
            </a:r>
            <a:endParaRPr lang="en-US" altLang="zh-CN" sz="2400"/>
          </a:p>
          <a:p>
            <a:pPr lvl="1" algn="l" eaLnBrk="1" hangingPunct="1">
              <a:lnSpc>
                <a:spcPct val="130000"/>
              </a:lnSpc>
              <a:buClrTx/>
              <a:buSzTx/>
            </a:pPr>
            <a:r>
              <a:rPr lang="en-US" altLang="zh-CN" sz="2400">
                <a:sym typeface="+mn-ea"/>
              </a:rPr>
              <a:t>故障是缺陷的表现形式，是软件的运行结果相对于软件预期行为的一种偏离。</a:t>
            </a:r>
            <a:endParaRPr lang="en-US" altLang="zh-CN" sz="2400"/>
          </a:p>
          <a:p>
            <a:pPr algn="l" eaLnBrk="1" hangingPunct="1">
              <a:lnSpc>
                <a:spcPct val="130000"/>
              </a:lnSpc>
              <a:buClrTx/>
              <a:buSzTx/>
            </a:pPr>
            <a:r>
              <a:rPr lang="en-US" altLang="zh-CN" sz="2800" b="1">
                <a:solidFill>
                  <a:srgbClr val="FF0000"/>
                </a:solidFill>
                <a:sym typeface="+mn-ea"/>
              </a:rPr>
              <a:t>Bug</a:t>
            </a:r>
            <a:endParaRPr lang="en-US" altLang="zh-CN" sz="2800" b="1">
              <a:solidFill>
                <a:srgbClr val="FF0000"/>
              </a:solidFill>
            </a:endParaRPr>
          </a:p>
          <a:p>
            <a:pPr lvl="1" algn="l" eaLnBrk="1" hangingPunct="1">
              <a:lnSpc>
                <a:spcPct val="130000"/>
              </a:lnSpc>
              <a:buClrTx/>
              <a:buSzTx/>
            </a:pPr>
            <a:r>
              <a:rPr lang="en-US" altLang="zh-CN" sz="2400">
                <a:sym typeface="+mn-ea"/>
              </a:rPr>
              <a:t>是一种通俗的说法，通常用作缺陷的同义词。</a:t>
            </a:r>
            <a:endParaRPr lang="en-US" altLang="zh-CN" sz="2400"/>
          </a:p>
          <a:p>
            <a:pPr lvl="1" algn="l" eaLnBrk="1" hangingPunct="1">
              <a:lnSpc>
                <a:spcPct val="130000"/>
              </a:lnSpc>
              <a:buClrTx/>
              <a:buSzTx/>
            </a:pPr>
            <a:r>
              <a:rPr lang="en-US" altLang="zh-CN" sz="2400">
                <a:sym typeface="+mn-ea"/>
              </a:rPr>
              <a:t>Bug的英文含义是“虫”，用在软件中，可以理解为人脑子里的“虫”，变成了系统中潜在的缺陷。</a:t>
            </a:r>
            <a:endParaRPr lang="en-US" altLang="zh-CN" sz="2400"/>
          </a:p>
          <a:p>
            <a:pPr algn="l" eaLnBrk="1" hangingPunct="1">
              <a:lnSpc>
                <a:spcPct val="130000"/>
              </a:lnSpc>
              <a:buClrTx/>
              <a:buSzTx/>
            </a:pPr>
            <a:r>
              <a:rPr lang="en-US" altLang="zh-CN" sz="2800" b="1">
                <a:solidFill>
                  <a:srgbClr val="FF0000"/>
                </a:solidFill>
                <a:sym typeface="+mn-ea"/>
              </a:rPr>
              <a:t>失效（failure）</a:t>
            </a:r>
            <a:endParaRPr lang="en-US" altLang="zh-CN" b="1">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buClrTx/>
              <a:buSzTx/>
              <a:buFontTx/>
            </a:pPr>
            <a:r>
              <a:rPr lang="en-US" altLang="zh-CN">
                <a:solidFill>
                  <a:srgbClr val="C00000"/>
                </a:solidFill>
                <a:sym typeface="+mn-ea"/>
              </a:rPr>
              <a:t>2.1 </a:t>
            </a:r>
            <a:r>
              <a:rPr lang="zh-CN" altLang="en-US">
                <a:solidFill>
                  <a:srgbClr val="C00000"/>
                </a:solidFill>
                <a:sym typeface="+mn-ea"/>
              </a:rPr>
              <a:t>软件缺陷概述</a:t>
            </a:r>
            <a:endParaRPr lang="zh-CN" altLang="en-US">
              <a:solidFill>
                <a:srgbClr val="C00000"/>
              </a:solidFill>
            </a:endParaRPr>
          </a:p>
        </p:txBody>
      </p:sp>
      <p:grpSp>
        <p:nvGrpSpPr>
          <p:cNvPr id="48132" name="Group 3"/>
          <p:cNvGrpSpPr/>
          <p:nvPr/>
        </p:nvGrpSpPr>
        <p:grpSpPr bwMode="auto">
          <a:xfrm>
            <a:off x="1282065" y="3163570"/>
            <a:ext cx="1316038" cy="1169988"/>
            <a:chOff x="0" y="0"/>
            <a:chExt cx="829" cy="737"/>
          </a:xfrm>
        </p:grpSpPr>
        <p:pic>
          <p:nvPicPr>
            <p:cNvPr id="48172" name="菱形 3"/>
            <p:cNvPicPr>
              <a:picLocks noChangeArrowheads="1"/>
            </p:cNvPicPr>
            <p:nvPr>
              <p:custDataLst>
                <p:tags r:id="rId1"/>
              </p:custDataLst>
            </p:nvPr>
          </p:nvPicPr>
          <p:blipFill>
            <a:blip r:embed="rId2"/>
            <a:srcRect/>
            <a:stretch>
              <a:fillRect/>
            </a:stretch>
          </p:blipFill>
          <p:spPr bwMode="auto">
            <a:xfrm>
              <a:off x="0" y="0"/>
              <a:ext cx="829" cy="737"/>
            </a:xfrm>
            <a:prstGeom prst="rect">
              <a:avLst/>
            </a:prstGeom>
            <a:noFill/>
            <a:ln w="9525">
              <a:noFill/>
              <a:miter lim="800000"/>
              <a:headEnd/>
              <a:tailEnd/>
            </a:ln>
          </p:spPr>
        </p:pic>
        <p:sp>
          <p:nvSpPr>
            <p:cNvPr id="48173" name="Text Box 5"/>
            <p:cNvSpPr txBox="1">
              <a:spLocks noChangeArrowheads="1"/>
            </p:cNvSpPr>
            <p:nvPr>
              <p:custDataLst>
                <p:tags r:id="rId3"/>
              </p:custDataLst>
            </p:nvPr>
          </p:nvSpPr>
          <p:spPr bwMode="auto">
            <a:xfrm>
              <a:off x="234" y="212"/>
              <a:ext cx="360" cy="315"/>
            </a:xfrm>
            <a:prstGeom prst="rect">
              <a:avLst/>
            </a:prstGeom>
            <a:noFill/>
            <a:ln w="9525">
              <a:noFill/>
              <a:miter lim="800000"/>
            </a:ln>
          </p:spPr>
          <p:txBody>
            <a:bodyPr anchor="ctr"/>
            <a:p>
              <a:r>
                <a:rPr lang="zh-CN" altLang="en-US" b="1" i="0">
                  <a:solidFill>
                    <a:srgbClr val="000000"/>
                  </a:solidFill>
                  <a:latin typeface="Corbel" panose="020B0503020204020204" pitchFamily="34" charset="0"/>
                </a:rPr>
                <a:t>错误</a:t>
              </a:r>
              <a:endParaRPr lang="zh-CN" altLang="en-US" b="1" i="0">
                <a:solidFill>
                  <a:srgbClr val="000000"/>
                </a:solidFill>
                <a:latin typeface="Corbel" panose="020B0503020204020204" pitchFamily="34" charset="0"/>
              </a:endParaRPr>
            </a:p>
          </p:txBody>
        </p:sp>
      </p:grpSp>
      <p:sp>
        <p:nvSpPr>
          <p:cNvPr id="48133" name="饼形 4"/>
          <p:cNvSpPr>
            <a:spLocks noChangeArrowheads="1"/>
          </p:cNvSpPr>
          <p:nvPr>
            <p:custDataLst>
              <p:tags r:id="rId4"/>
            </p:custDataLst>
          </p:nvPr>
        </p:nvSpPr>
        <p:spPr bwMode="auto">
          <a:xfrm>
            <a:off x="3082290" y="2677795"/>
            <a:ext cx="571500" cy="571500"/>
          </a:xfrm>
          <a:custGeom>
            <a:avLst/>
            <a:gdLst>
              <a:gd name="T0" fmla="*/ 571500 w 571500"/>
              <a:gd name="T1" fmla="*/ 285750 h 571500"/>
              <a:gd name="T2" fmla="*/ 285750 w 571500"/>
              <a:gd name="T3" fmla="*/ 571500 h 571500"/>
              <a:gd name="T4" fmla="*/ 0 w 571500"/>
              <a:gd name="T5" fmla="*/ 285750 h 571500"/>
              <a:gd name="T6" fmla="*/ 285750 w 571500"/>
              <a:gd name="T7" fmla="*/ 0 h 571500"/>
              <a:gd name="T8" fmla="*/ 0 60000 65536"/>
              <a:gd name="T9" fmla="*/ 5898240 60000 65536"/>
              <a:gd name="T10" fmla="*/ 11796480 60000 65536"/>
              <a:gd name="T11" fmla="*/ 17694720 60000 65536"/>
              <a:gd name="T12" fmla="*/ 83694 w 571500"/>
              <a:gd name="T13" fmla="*/ 83694 h 571500"/>
              <a:gd name="T14" fmla="*/ 487806 w 571500"/>
              <a:gd name="T15" fmla="*/ 487806 h 571500"/>
            </a:gdLst>
            <a:ahLst/>
            <a:cxnLst>
              <a:cxn ang="T8">
                <a:pos x="T0" y="T1"/>
              </a:cxn>
              <a:cxn ang="T9">
                <a:pos x="T2" y="T3"/>
              </a:cxn>
              <a:cxn ang="T10">
                <a:pos x="T4" y="T5"/>
              </a:cxn>
              <a:cxn ang="T11">
                <a:pos x="T6" y="T7"/>
              </a:cxn>
            </a:cxnLst>
            <a:rect l="T12" t="T13" r="T14" b="T15"/>
            <a:pathLst>
              <a:path w="571500" h="571500">
                <a:moveTo>
                  <a:pt x="571500" y="285750"/>
                </a:moveTo>
                <a:lnTo>
                  <a:pt x="571500" y="285750"/>
                </a:lnTo>
                <a:cubicBezTo>
                  <a:pt x="571500" y="443565"/>
                  <a:pt x="443565" y="571500"/>
                  <a:pt x="285750" y="571500"/>
                </a:cubicBezTo>
                <a:cubicBezTo>
                  <a:pt x="127934" y="571500"/>
                  <a:pt x="0" y="443565"/>
                  <a:pt x="0" y="285750"/>
                </a:cubicBezTo>
                <a:cubicBezTo>
                  <a:pt x="-1" y="127934"/>
                  <a:pt x="127934" y="0"/>
                  <a:pt x="285749" y="0"/>
                </a:cubicBezTo>
                <a:lnTo>
                  <a:pt x="285750" y="285750"/>
                </a:lnTo>
                <a:lnTo>
                  <a:pt x="571500" y="285750"/>
                </a:lnTo>
                <a:close/>
              </a:path>
            </a:pathLst>
          </a:custGeom>
          <a:solidFill>
            <a:schemeClr val="accent1"/>
          </a:solidFill>
          <a:ln w="19050">
            <a:solidFill>
              <a:srgbClr val="5C9929"/>
            </a:solidFill>
            <a:miter lim="800000"/>
          </a:ln>
        </p:spPr>
        <p:txBody>
          <a:bodyPr anchor="ctr"/>
          <a:p>
            <a:endParaRPr lang="zh-CN" altLang="en-US" i="0"/>
          </a:p>
        </p:txBody>
      </p:sp>
      <p:sp>
        <p:nvSpPr>
          <p:cNvPr id="48134" name="TextBox 7"/>
          <p:cNvSpPr txBox="1">
            <a:spLocks noChangeArrowheads="1"/>
          </p:cNvSpPr>
          <p:nvPr>
            <p:custDataLst>
              <p:tags r:id="rId5"/>
            </p:custDataLst>
          </p:nvPr>
        </p:nvSpPr>
        <p:spPr bwMode="auto">
          <a:xfrm>
            <a:off x="3439478" y="2534921"/>
            <a:ext cx="857250" cy="396875"/>
          </a:xfrm>
          <a:prstGeom prst="rect">
            <a:avLst/>
          </a:prstGeom>
          <a:noFill/>
          <a:ln w="9525">
            <a:noFill/>
            <a:miter lim="800000"/>
          </a:ln>
        </p:spPr>
        <p:txBody>
          <a:bodyPr>
            <a:spAutoFit/>
          </a:bodyPr>
          <a:p>
            <a:r>
              <a:rPr lang="zh-CN" altLang="en-US" sz="2000" b="1" i="0"/>
              <a:t>缺陷</a:t>
            </a:r>
            <a:endParaRPr lang="zh-CN" altLang="en-US" sz="2000" b="1" i="0"/>
          </a:p>
        </p:txBody>
      </p:sp>
      <p:sp>
        <p:nvSpPr>
          <p:cNvPr id="48135" name="饼形 6"/>
          <p:cNvSpPr>
            <a:spLocks noChangeArrowheads="1"/>
          </p:cNvSpPr>
          <p:nvPr>
            <p:custDataLst>
              <p:tags r:id="rId6"/>
            </p:custDataLst>
          </p:nvPr>
        </p:nvSpPr>
        <p:spPr bwMode="auto">
          <a:xfrm>
            <a:off x="3225165" y="3606483"/>
            <a:ext cx="571500" cy="571500"/>
          </a:xfrm>
          <a:custGeom>
            <a:avLst/>
            <a:gdLst>
              <a:gd name="T0" fmla="*/ 571500 w 571500"/>
              <a:gd name="T1" fmla="*/ 285750 h 571500"/>
              <a:gd name="T2" fmla="*/ 285750 w 571500"/>
              <a:gd name="T3" fmla="*/ 571500 h 571500"/>
              <a:gd name="T4" fmla="*/ 0 w 571500"/>
              <a:gd name="T5" fmla="*/ 285750 h 571500"/>
              <a:gd name="T6" fmla="*/ 285750 w 571500"/>
              <a:gd name="T7" fmla="*/ 0 h 571500"/>
              <a:gd name="T8" fmla="*/ 0 60000 65536"/>
              <a:gd name="T9" fmla="*/ 5898240 60000 65536"/>
              <a:gd name="T10" fmla="*/ 11796480 60000 65536"/>
              <a:gd name="T11" fmla="*/ 17694720 60000 65536"/>
              <a:gd name="T12" fmla="*/ 83694 w 571500"/>
              <a:gd name="T13" fmla="*/ 83694 h 571500"/>
              <a:gd name="T14" fmla="*/ 487806 w 571500"/>
              <a:gd name="T15" fmla="*/ 487806 h 571500"/>
            </a:gdLst>
            <a:ahLst/>
            <a:cxnLst>
              <a:cxn ang="T8">
                <a:pos x="T0" y="T1"/>
              </a:cxn>
              <a:cxn ang="T9">
                <a:pos x="T2" y="T3"/>
              </a:cxn>
              <a:cxn ang="T10">
                <a:pos x="T4" y="T5"/>
              </a:cxn>
              <a:cxn ang="T11">
                <a:pos x="T6" y="T7"/>
              </a:cxn>
            </a:cxnLst>
            <a:rect l="T12" t="T13" r="T14" b="T15"/>
            <a:pathLst>
              <a:path w="571500" h="571500">
                <a:moveTo>
                  <a:pt x="571500" y="285750"/>
                </a:moveTo>
                <a:lnTo>
                  <a:pt x="571500" y="285750"/>
                </a:lnTo>
                <a:cubicBezTo>
                  <a:pt x="571500" y="443565"/>
                  <a:pt x="443565" y="571500"/>
                  <a:pt x="285750" y="571500"/>
                </a:cubicBezTo>
                <a:cubicBezTo>
                  <a:pt x="127934" y="571500"/>
                  <a:pt x="0" y="443565"/>
                  <a:pt x="0" y="285750"/>
                </a:cubicBezTo>
                <a:cubicBezTo>
                  <a:pt x="-1" y="127934"/>
                  <a:pt x="127934" y="0"/>
                  <a:pt x="285749" y="0"/>
                </a:cubicBezTo>
                <a:lnTo>
                  <a:pt x="285750" y="285750"/>
                </a:lnTo>
                <a:lnTo>
                  <a:pt x="571500" y="285750"/>
                </a:lnTo>
                <a:close/>
              </a:path>
            </a:pathLst>
          </a:custGeom>
          <a:solidFill>
            <a:schemeClr val="accent1"/>
          </a:solidFill>
          <a:ln w="19050">
            <a:solidFill>
              <a:srgbClr val="5C9929"/>
            </a:solidFill>
            <a:miter lim="800000"/>
          </a:ln>
        </p:spPr>
        <p:txBody>
          <a:bodyPr anchor="ctr"/>
          <a:p>
            <a:endParaRPr lang="zh-CN" altLang="en-US" i="0"/>
          </a:p>
        </p:txBody>
      </p:sp>
      <p:sp>
        <p:nvSpPr>
          <p:cNvPr id="48136" name="TextBox 9"/>
          <p:cNvSpPr txBox="1">
            <a:spLocks noChangeArrowheads="1"/>
          </p:cNvSpPr>
          <p:nvPr>
            <p:custDataLst>
              <p:tags r:id="rId7"/>
            </p:custDataLst>
          </p:nvPr>
        </p:nvSpPr>
        <p:spPr bwMode="auto">
          <a:xfrm>
            <a:off x="3582353" y="3463609"/>
            <a:ext cx="857250" cy="396875"/>
          </a:xfrm>
          <a:prstGeom prst="rect">
            <a:avLst/>
          </a:prstGeom>
          <a:noFill/>
          <a:ln w="9525">
            <a:noFill/>
            <a:miter lim="800000"/>
          </a:ln>
        </p:spPr>
        <p:txBody>
          <a:bodyPr>
            <a:spAutoFit/>
          </a:bodyPr>
          <a:p>
            <a:r>
              <a:rPr lang="zh-CN" altLang="en-US" sz="2000" b="1" i="0"/>
              <a:t>缺陷</a:t>
            </a:r>
            <a:endParaRPr lang="zh-CN" altLang="en-US" sz="2000" b="1" i="0"/>
          </a:p>
        </p:txBody>
      </p:sp>
      <p:sp>
        <p:nvSpPr>
          <p:cNvPr id="48137" name="饼形 8"/>
          <p:cNvSpPr>
            <a:spLocks noChangeArrowheads="1"/>
          </p:cNvSpPr>
          <p:nvPr>
            <p:custDataLst>
              <p:tags r:id="rId8"/>
            </p:custDataLst>
          </p:nvPr>
        </p:nvSpPr>
        <p:spPr bwMode="auto">
          <a:xfrm>
            <a:off x="3225165" y="4463733"/>
            <a:ext cx="571500" cy="571500"/>
          </a:xfrm>
          <a:custGeom>
            <a:avLst/>
            <a:gdLst>
              <a:gd name="T0" fmla="*/ 571500 w 571500"/>
              <a:gd name="T1" fmla="*/ 285750 h 571500"/>
              <a:gd name="T2" fmla="*/ 285750 w 571500"/>
              <a:gd name="T3" fmla="*/ 571500 h 571500"/>
              <a:gd name="T4" fmla="*/ 0 w 571500"/>
              <a:gd name="T5" fmla="*/ 285750 h 571500"/>
              <a:gd name="T6" fmla="*/ 285750 w 571500"/>
              <a:gd name="T7" fmla="*/ 0 h 571500"/>
              <a:gd name="T8" fmla="*/ 0 60000 65536"/>
              <a:gd name="T9" fmla="*/ 5898240 60000 65536"/>
              <a:gd name="T10" fmla="*/ 11796480 60000 65536"/>
              <a:gd name="T11" fmla="*/ 17694720 60000 65536"/>
              <a:gd name="T12" fmla="*/ 83694 w 571500"/>
              <a:gd name="T13" fmla="*/ 83694 h 571500"/>
              <a:gd name="T14" fmla="*/ 487806 w 571500"/>
              <a:gd name="T15" fmla="*/ 487806 h 571500"/>
            </a:gdLst>
            <a:ahLst/>
            <a:cxnLst>
              <a:cxn ang="T8">
                <a:pos x="T0" y="T1"/>
              </a:cxn>
              <a:cxn ang="T9">
                <a:pos x="T2" y="T3"/>
              </a:cxn>
              <a:cxn ang="T10">
                <a:pos x="T4" y="T5"/>
              </a:cxn>
              <a:cxn ang="T11">
                <a:pos x="T6" y="T7"/>
              </a:cxn>
            </a:cxnLst>
            <a:rect l="T12" t="T13" r="T14" b="T15"/>
            <a:pathLst>
              <a:path w="571500" h="571500">
                <a:moveTo>
                  <a:pt x="571500" y="285750"/>
                </a:moveTo>
                <a:lnTo>
                  <a:pt x="571500" y="285750"/>
                </a:lnTo>
                <a:cubicBezTo>
                  <a:pt x="571500" y="443565"/>
                  <a:pt x="443565" y="571500"/>
                  <a:pt x="285750" y="571500"/>
                </a:cubicBezTo>
                <a:cubicBezTo>
                  <a:pt x="127934" y="571500"/>
                  <a:pt x="0" y="443565"/>
                  <a:pt x="0" y="285750"/>
                </a:cubicBezTo>
                <a:cubicBezTo>
                  <a:pt x="-1" y="127934"/>
                  <a:pt x="127934" y="0"/>
                  <a:pt x="285749" y="0"/>
                </a:cubicBezTo>
                <a:lnTo>
                  <a:pt x="285750" y="285750"/>
                </a:lnTo>
                <a:lnTo>
                  <a:pt x="571500" y="285750"/>
                </a:lnTo>
                <a:close/>
              </a:path>
            </a:pathLst>
          </a:custGeom>
          <a:solidFill>
            <a:schemeClr val="accent1"/>
          </a:solidFill>
          <a:ln w="19050">
            <a:solidFill>
              <a:srgbClr val="5C9929"/>
            </a:solidFill>
            <a:miter lim="800000"/>
          </a:ln>
        </p:spPr>
        <p:txBody>
          <a:bodyPr anchor="ctr"/>
          <a:p>
            <a:endParaRPr lang="zh-CN" altLang="en-US" i="0"/>
          </a:p>
        </p:txBody>
      </p:sp>
      <p:sp>
        <p:nvSpPr>
          <p:cNvPr id="48138" name="TextBox 11"/>
          <p:cNvSpPr txBox="1">
            <a:spLocks noChangeArrowheads="1"/>
          </p:cNvSpPr>
          <p:nvPr>
            <p:custDataLst>
              <p:tags r:id="rId9"/>
            </p:custDataLst>
          </p:nvPr>
        </p:nvSpPr>
        <p:spPr bwMode="auto">
          <a:xfrm>
            <a:off x="3582353" y="4320859"/>
            <a:ext cx="857250" cy="396875"/>
          </a:xfrm>
          <a:prstGeom prst="rect">
            <a:avLst/>
          </a:prstGeom>
          <a:noFill/>
          <a:ln w="9525">
            <a:noFill/>
            <a:miter lim="800000"/>
          </a:ln>
        </p:spPr>
        <p:txBody>
          <a:bodyPr>
            <a:spAutoFit/>
          </a:bodyPr>
          <a:p>
            <a:r>
              <a:rPr lang="zh-CN" altLang="en-US" sz="2000" b="1" i="0"/>
              <a:t>缺陷</a:t>
            </a:r>
            <a:endParaRPr lang="zh-CN" altLang="en-US" sz="2000" b="1" i="0"/>
          </a:p>
        </p:txBody>
      </p:sp>
      <p:cxnSp>
        <p:nvCxnSpPr>
          <p:cNvPr id="48139" name="直接箭头连接符 10"/>
          <p:cNvCxnSpPr>
            <a:cxnSpLocks noChangeShapeType="1"/>
          </p:cNvCxnSpPr>
          <p:nvPr>
            <p:custDataLst>
              <p:tags r:id="rId10"/>
            </p:custDataLst>
          </p:nvPr>
        </p:nvCxnSpPr>
        <p:spPr bwMode="auto">
          <a:xfrm flipV="1">
            <a:off x="2510791" y="3106420"/>
            <a:ext cx="785813" cy="642938"/>
          </a:xfrm>
          <a:prstGeom prst="straightConnector1">
            <a:avLst/>
          </a:prstGeom>
          <a:noFill/>
          <a:ln w="38100">
            <a:solidFill>
              <a:srgbClr val="FF0000"/>
            </a:solidFill>
            <a:round/>
            <a:tailEnd type="arrow" w="med" len="med"/>
          </a:ln>
        </p:spPr>
      </p:cxnSp>
      <p:cxnSp>
        <p:nvCxnSpPr>
          <p:cNvPr id="48140" name="直接箭头连接符 11"/>
          <p:cNvCxnSpPr>
            <a:cxnSpLocks noChangeShapeType="1"/>
          </p:cNvCxnSpPr>
          <p:nvPr>
            <p:custDataLst>
              <p:tags r:id="rId11"/>
            </p:custDataLst>
          </p:nvPr>
        </p:nvCxnSpPr>
        <p:spPr bwMode="auto">
          <a:xfrm>
            <a:off x="2510791" y="3749358"/>
            <a:ext cx="714375" cy="214312"/>
          </a:xfrm>
          <a:prstGeom prst="straightConnector1">
            <a:avLst/>
          </a:prstGeom>
          <a:noFill/>
          <a:ln w="38100">
            <a:solidFill>
              <a:srgbClr val="FF0000"/>
            </a:solidFill>
            <a:round/>
            <a:tailEnd type="arrow" w="med" len="med"/>
          </a:ln>
        </p:spPr>
      </p:cxnSp>
      <p:cxnSp>
        <p:nvCxnSpPr>
          <p:cNvPr id="48141" name="直接箭头连接符 12"/>
          <p:cNvCxnSpPr>
            <a:cxnSpLocks noChangeShapeType="1"/>
            <a:endCxn id="48137" idx="2"/>
          </p:cNvCxnSpPr>
          <p:nvPr>
            <p:custDataLst>
              <p:tags r:id="rId12"/>
            </p:custDataLst>
          </p:nvPr>
        </p:nvCxnSpPr>
        <p:spPr bwMode="auto">
          <a:xfrm>
            <a:off x="2501266" y="3749359"/>
            <a:ext cx="714375" cy="1000125"/>
          </a:xfrm>
          <a:prstGeom prst="straightConnector1">
            <a:avLst/>
          </a:prstGeom>
          <a:noFill/>
          <a:ln w="38100">
            <a:solidFill>
              <a:srgbClr val="FF0000"/>
            </a:solidFill>
            <a:round/>
            <a:tailEnd type="arrow" w="med" len="med"/>
          </a:ln>
        </p:spPr>
      </p:cxnSp>
      <p:grpSp>
        <p:nvGrpSpPr>
          <p:cNvPr id="48142" name="Group 15"/>
          <p:cNvGrpSpPr/>
          <p:nvPr/>
        </p:nvGrpSpPr>
        <p:grpSpPr bwMode="auto">
          <a:xfrm>
            <a:off x="5196840" y="3096895"/>
            <a:ext cx="1717675" cy="1243330"/>
            <a:chOff x="0" y="0"/>
            <a:chExt cx="1455" cy="783"/>
          </a:xfrm>
        </p:grpSpPr>
        <p:pic>
          <p:nvPicPr>
            <p:cNvPr id="48170" name="云形 13"/>
            <p:cNvPicPr>
              <a:picLocks noChangeArrowheads="1"/>
            </p:cNvPicPr>
            <p:nvPr>
              <p:custDataLst>
                <p:tags r:id="rId13"/>
              </p:custDataLst>
            </p:nvPr>
          </p:nvPicPr>
          <p:blipFill>
            <a:blip r:embed="rId14"/>
            <a:srcRect/>
            <a:stretch>
              <a:fillRect/>
            </a:stretch>
          </p:blipFill>
          <p:spPr bwMode="auto">
            <a:xfrm>
              <a:off x="0" y="0"/>
              <a:ext cx="1455" cy="783"/>
            </a:xfrm>
            <a:prstGeom prst="rect">
              <a:avLst/>
            </a:prstGeom>
            <a:noFill/>
            <a:ln w="9525">
              <a:noFill/>
              <a:miter lim="800000"/>
              <a:headEnd/>
              <a:tailEnd/>
            </a:ln>
          </p:spPr>
        </p:pic>
        <p:sp>
          <p:nvSpPr>
            <p:cNvPr id="48171" name="Text Box 17"/>
            <p:cNvSpPr txBox="1">
              <a:spLocks noChangeArrowheads="1"/>
            </p:cNvSpPr>
            <p:nvPr>
              <p:custDataLst>
                <p:tags r:id="rId15"/>
              </p:custDataLst>
            </p:nvPr>
          </p:nvSpPr>
          <p:spPr bwMode="auto">
            <a:xfrm>
              <a:off x="238" y="153"/>
              <a:ext cx="994" cy="440"/>
            </a:xfrm>
            <a:prstGeom prst="rect">
              <a:avLst/>
            </a:prstGeom>
            <a:noFill/>
            <a:ln w="9525">
              <a:noFill/>
              <a:miter lim="800000"/>
            </a:ln>
          </p:spPr>
          <p:txBody>
            <a:bodyPr anchor="ctr"/>
            <a:p>
              <a:pPr algn="ctr"/>
              <a:r>
                <a:rPr lang="zh-CN" altLang="en-US" b="1" i="0">
                  <a:solidFill>
                    <a:srgbClr val="000000"/>
                  </a:solidFill>
                  <a:latin typeface="Corbel" panose="020B0503020204020204" pitchFamily="34" charset="0"/>
                </a:rPr>
                <a:t>软硬件环境与操作条件</a:t>
              </a:r>
              <a:endParaRPr lang="zh-CN" altLang="en-US" b="1" i="0">
                <a:solidFill>
                  <a:srgbClr val="000000"/>
                </a:solidFill>
                <a:latin typeface="Corbel" panose="020B0503020204020204" pitchFamily="34" charset="0"/>
              </a:endParaRPr>
            </a:p>
          </p:txBody>
        </p:sp>
      </p:grpSp>
      <p:sp>
        <p:nvSpPr>
          <p:cNvPr id="48143" name="右大括号 14"/>
          <p:cNvSpPr/>
          <p:nvPr>
            <p:custDataLst>
              <p:tags r:id="rId16"/>
            </p:custDataLst>
          </p:nvPr>
        </p:nvSpPr>
        <p:spPr bwMode="auto">
          <a:xfrm>
            <a:off x="4153853" y="2534921"/>
            <a:ext cx="571500" cy="2500313"/>
          </a:xfrm>
          <a:prstGeom prst="rightBrace">
            <a:avLst>
              <a:gd name="adj1" fmla="val 46667"/>
              <a:gd name="adj2" fmla="val 50000"/>
            </a:avLst>
          </a:prstGeom>
          <a:noFill/>
          <a:ln w="28575">
            <a:solidFill>
              <a:schemeClr val="accent1"/>
            </a:solidFill>
            <a:round/>
          </a:ln>
        </p:spPr>
        <p:txBody>
          <a:bodyPr anchor="ctr"/>
          <a:p>
            <a:endParaRPr lang="zh-CN" altLang="en-US" i="0">
              <a:latin typeface="Corbel" panose="020B0503020204020204" pitchFamily="34" charset="0"/>
            </a:endParaRPr>
          </a:p>
        </p:txBody>
      </p:sp>
      <p:sp>
        <p:nvSpPr>
          <p:cNvPr id="48144" name="右箭头 15"/>
          <p:cNvSpPr>
            <a:spLocks noChangeArrowheads="1"/>
          </p:cNvSpPr>
          <p:nvPr>
            <p:custDataLst>
              <p:tags r:id="rId17"/>
            </p:custDataLst>
          </p:nvPr>
        </p:nvSpPr>
        <p:spPr bwMode="auto">
          <a:xfrm>
            <a:off x="4796791" y="3606484"/>
            <a:ext cx="428625" cy="357187"/>
          </a:xfrm>
          <a:prstGeom prst="rightArrow">
            <a:avLst>
              <a:gd name="adj1" fmla="val 50000"/>
              <a:gd name="adj2" fmla="val 50000"/>
            </a:avLst>
          </a:prstGeom>
          <a:solidFill>
            <a:schemeClr val="accent1"/>
          </a:solidFill>
          <a:ln w="19050">
            <a:solidFill>
              <a:srgbClr val="5C9929"/>
            </a:solidFill>
            <a:miter lim="800000"/>
          </a:ln>
        </p:spPr>
        <p:txBody>
          <a:bodyPr anchor="ctr"/>
          <a:p>
            <a:endParaRPr lang="zh-CN" altLang="en-US" i="0">
              <a:solidFill>
                <a:srgbClr val="FFFFFF"/>
              </a:solidFill>
              <a:latin typeface="Corbel" panose="020B0503020204020204" pitchFamily="34" charset="0"/>
            </a:endParaRPr>
          </a:p>
        </p:txBody>
      </p:sp>
      <p:grpSp>
        <p:nvGrpSpPr>
          <p:cNvPr id="48145" name="Group 20"/>
          <p:cNvGrpSpPr/>
          <p:nvPr/>
        </p:nvGrpSpPr>
        <p:grpSpPr bwMode="auto">
          <a:xfrm>
            <a:off x="7446329" y="2614614"/>
            <a:ext cx="1457325" cy="2382837"/>
            <a:chOff x="0" y="0"/>
            <a:chExt cx="918" cy="1501"/>
          </a:xfrm>
        </p:grpSpPr>
        <p:pic>
          <p:nvPicPr>
            <p:cNvPr id="48168" name="爆炸形 1 16"/>
            <p:cNvPicPr>
              <a:picLocks noChangeArrowheads="1"/>
            </p:cNvPicPr>
            <p:nvPr>
              <p:custDataLst>
                <p:tags r:id="rId18"/>
              </p:custDataLst>
            </p:nvPr>
          </p:nvPicPr>
          <p:blipFill>
            <a:blip r:embed="rId19"/>
            <a:srcRect/>
            <a:stretch>
              <a:fillRect/>
            </a:stretch>
          </p:blipFill>
          <p:spPr bwMode="auto">
            <a:xfrm>
              <a:off x="0" y="0"/>
              <a:ext cx="918" cy="1501"/>
            </a:xfrm>
            <a:prstGeom prst="rect">
              <a:avLst/>
            </a:prstGeom>
            <a:noFill/>
            <a:ln w="9525">
              <a:noFill/>
              <a:miter lim="800000"/>
              <a:headEnd/>
              <a:tailEnd/>
            </a:ln>
          </p:spPr>
        </p:pic>
        <p:sp>
          <p:nvSpPr>
            <p:cNvPr id="48169" name="Text Box 22"/>
            <p:cNvSpPr txBox="1">
              <a:spLocks noChangeArrowheads="1"/>
            </p:cNvSpPr>
            <p:nvPr>
              <p:custDataLst>
                <p:tags r:id="rId20"/>
              </p:custDataLst>
            </p:nvPr>
          </p:nvSpPr>
          <p:spPr bwMode="auto">
            <a:xfrm>
              <a:off x="230" y="460"/>
              <a:ext cx="452" cy="492"/>
            </a:xfrm>
            <a:prstGeom prst="rect">
              <a:avLst/>
            </a:prstGeom>
            <a:noFill/>
            <a:ln w="9525">
              <a:noFill/>
              <a:miter lim="800000"/>
            </a:ln>
          </p:spPr>
          <p:txBody>
            <a:bodyPr anchor="ctr"/>
            <a:p>
              <a:r>
                <a:rPr lang="zh-CN" altLang="en-US" sz="2800" b="1" i="0">
                  <a:solidFill>
                    <a:srgbClr val="000000"/>
                  </a:solidFill>
                  <a:latin typeface="Corbel" panose="020B0503020204020204" pitchFamily="34" charset="0"/>
                </a:rPr>
                <a:t>故障</a:t>
              </a:r>
              <a:endParaRPr lang="zh-CN" altLang="en-US" sz="2800" b="1" i="0">
                <a:solidFill>
                  <a:srgbClr val="000000"/>
                </a:solidFill>
                <a:latin typeface="Corbel" panose="020B0503020204020204" pitchFamily="34" charset="0"/>
              </a:endParaRPr>
            </a:p>
          </p:txBody>
        </p:sp>
      </p:grpSp>
      <p:sp>
        <p:nvSpPr>
          <p:cNvPr id="48146" name="右箭头 17"/>
          <p:cNvSpPr>
            <a:spLocks noChangeArrowheads="1"/>
          </p:cNvSpPr>
          <p:nvPr>
            <p:custDataLst>
              <p:tags r:id="rId21"/>
            </p:custDataLst>
          </p:nvPr>
        </p:nvSpPr>
        <p:spPr bwMode="auto">
          <a:xfrm>
            <a:off x="6963729" y="3554414"/>
            <a:ext cx="428625" cy="357187"/>
          </a:xfrm>
          <a:prstGeom prst="rightArrow">
            <a:avLst>
              <a:gd name="adj1" fmla="val 50000"/>
              <a:gd name="adj2" fmla="val 50000"/>
            </a:avLst>
          </a:prstGeom>
          <a:solidFill>
            <a:schemeClr val="accent1"/>
          </a:solidFill>
          <a:ln w="19050">
            <a:solidFill>
              <a:srgbClr val="5C9929"/>
            </a:solidFill>
            <a:miter lim="800000"/>
          </a:ln>
        </p:spPr>
        <p:txBody>
          <a:bodyPr anchor="ctr"/>
          <a:p>
            <a:endParaRPr lang="zh-CN" altLang="en-US" i="0">
              <a:solidFill>
                <a:srgbClr val="FFFFFF"/>
              </a:solidFill>
              <a:latin typeface="Corbel" panose="020B0503020204020204" pitchFamily="34" charset="0"/>
            </a:endParaRPr>
          </a:p>
        </p:txBody>
      </p:sp>
      <p:grpSp>
        <p:nvGrpSpPr>
          <p:cNvPr id="48148" name="Group 25"/>
          <p:cNvGrpSpPr/>
          <p:nvPr/>
        </p:nvGrpSpPr>
        <p:grpSpPr bwMode="auto">
          <a:xfrm>
            <a:off x="762953" y="3144520"/>
            <a:ext cx="927100" cy="927100"/>
            <a:chOff x="0" y="0"/>
            <a:chExt cx="584" cy="584"/>
          </a:xfrm>
        </p:grpSpPr>
        <p:pic>
          <p:nvPicPr>
            <p:cNvPr id="48166" name="笑脸 19"/>
            <p:cNvPicPr>
              <a:picLocks noChangeArrowheads="1"/>
            </p:cNvPicPr>
            <p:nvPr>
              <p:custDataLst>
                <p:tags r:id="rId22"/>
              </p:custDataLst>
            </p:nvPr>
          </p:nvPicPr>
          <p:blipFill>
            <a:blip r:embed="rId23"/>
            <a:srcRect/>
            <a:stretch>
              <a:fillRect/>
            </a:stretch>
          </p:blipFill>
          <p:spPr bwMode="auto">
            <a:xfrm>
              <a:off x="0" y="0"/>
              <a:ext cx="584" cy="584"/>
            </a:xfrm>
            <a:prstGeom prst="rect">
              <a:avLst/>
            </a:prstGeom>
            <a:noFill/>
            <a:ln w="9525">
              <a:noFill/>
              <a:miter lim="800000"/>
              <a:headEnd/>
              <a:tailEnd/>
            </a:ln>
          </p:spPr>
        </p:pic>
        <p:sp>
          <p:nvSpPr>
            <p:cNvPr id="48167" name="Text Box 27"/>
            <p:cNvSpPr txBox="1">
              <a:spLocks noChangeArrowheads="1"/>
            </p:cNvSpPr>
            <p:nvPr>
              <p:custDataLst>
                <p:tags r:id="rId24"/>
              </p:custDataLst>
            </p:nvPr>
          </p:nvSpPr>
          <p:spPr bwMode="auto">
            <a:xfrm>
              <a:off x="132" y="132"/>
              <a:ext cx="318" cy="318"/>
            </a:xfrm>
            <a:prstGeom prst="rect">
              <a:avLst/>
            </a:prstGeom>
            <a:noFill/>
            <a:ln w="9525">
              <a:noFill/>
              <a:miter lim="800000"/>
            </a:ln>
          </p:spPr>
          <p:txBody>
            <a:bodyPr anchor="ctr"/>
            <a:p>
              <a:endParaRPr lang="zh-CN" altLang="en-US" i="0">
                <a:solidFill>
                  <a:srgbClr val="000000"/>
                </a:solidFill>
                <a:latin typeface="Corbel" panose="020B0503020204020204" pitchFamily="34" charset="0"/>
              </a:endParaRPr>
            </a:p>
          </p:txBody>
        </p:sp>
      </p:grpSp>
      <p:grpSp>
        <p:nvGrpSpPr>
          <p:cNvPr id="48149" name="Group 28"/>
          <p:cNvGrpSpPr/>
          <p:nvPr/>
        </p:nvGrpSpPr>
        <p:grpSpPr bwMode="auto">
          <a:xfrm>
            <a:off x="762953" y="3931920"/>
            <a:ext cx="927100" cy="927100"/>
            <a:chOff x="0" y="0"/>
            <a:chExt cx="584" cy="584"/>
          </a:xfrm>
        </p:grpSpPr>
        <p:pic>
          <p:nvPicPr>
            <p:cNvPr id="48164" name="笑脸 20"/>
            <p:cNvPicPr>
              <a:picLocks noChangeArrowheads="1"/>
            </p:cNvPicPr>
            <p:nvPr>
              <p:custDataLst>
                <p:tags r:id="rId25"/>
              </p:custDataLst>
            </p:nvPr>
          </p:nvPicPr>
          <p:blipFill>
            <a:blip r:embed="rId23"/>
            <a:srcRect/>
            <a:stretch>
              <a:fillRect/>
            </a:stretch>
          </p:blipFill>
          <p:spPr bwMode="auto">
            <a:xfrm>
              <a:off x="0" y="0"/>
              <a:ext cx="584" cy="584"/>
            </a:xfrm>
            <a:prstGeom prst="rect">
              <a:avLst/>
            </a:prstGeom>
            <a:noFill/>
            <a:ln w="9525">
              <a:noFill/>
              <a:miter lim="800000"/>
              <a:headEnd/>
              <a:tailEnd/>
            </a:ln>
          </p:spPr>
        </p:pic>
        <p:sp>
          <p:nvSpPr>
            <p:cNvPr id="48165" name="Text Box 30"/>
            <p:cNvSpPr txBox="1">
              <a:spLocks noChangeArrowheads="1"/>
            </p:cNvSpPr>
            <p:nvPr>
              <p:custDataLst>
                <p:tags r:id="rId26"/>
              </p:custDataLst>
            </p:nvPr>
          </p:nvSpPr>
          <p:spPr bwMode="auto">
            <a:xfrm>
              <a:off x="132" y="131"/>
              <a:ext cx="318" cy="318"/>
            </a:xfrm>
            <a:prstGeom prst="rect">
              <a:avLst/>
            </a:prstGeom>
            <a:noFill/>
            <a:ln w="9525">
              <a:noFill/>
              <a:miter lim="800000"/>
            </a:ln>
          </p:spPr>
          <p:txBody>
            <a:bodyPr anchor="ctr"/>
            <a:p>
              <a:endParaRPr lang="zh-CN" altLang="en-US" i="0">
                <a:solidFill>
                  <a:srgbClr val="000000"/>
                </a:solidFill>
                <a:latin typeface="Corbel" panose="020B0503020204020204" pitchFamily="34" charset="0"/>
              </a:endParaRPr>
            </a:p>
          </p:txBody>
        </p:sp>
      </p:grpSp>
      <p:grpSp>
        <p:nvGrpSpPr>
          <p:cNvPr id="48150" name="Group 31"/>
          <p:cNvGrpSpPr/>
          <p:nvPr/>
        </p:nvGrpSpPr>
        <p:grpSpPr bwMode="auto">
          <a:xfrm>
            <a:off x="1189991" y="4144645"/>
            <a:ext cx="931863" cy="927100"/>
            <a:chOff x="0" y="0"/>
            <a:chExt cx="587" cy="584"/>
          </a:xfrm>
        </p:grpSpPr>
        <p:pic>
          <p:nvPicPr>
            <p:cNvPr id="48162" name="笑脸 21"/>
            <p:cNvPicPr>
              <a:picLocks noChangeArrowheads="1"/>
            </p:cNvPicPr>
            <p:nvPr>
              <p:custDataLst>
                <p:tags r:id="rId27"/>
              </p:custDataLst>
            </p:nvPr>
          </p:nvPicPr>
          <p:blipFill>
            <a:blip r:embed="rId28"/>
            <a:srcRect/>
            <a:stretch>
              <a:fillRect/>
            </a:stretch>
          </p:blipFill>
          <p:spPr bwMode="auto">
            <a:xfrm>
              <a:off x="0" y="0"/>
              <a:ext cx="587" cy="584"/>
            </a:xfrm>
            <a:prstGeom prst="rect">
              <a:avLst/>
            </a:prstGeom>
            <a:noFill/>
            <a:ln w="9525">
              <a:noFill/>
              <a:miter lim="800000"/>
              <a:headEnd/>
              <a:tailEnd/>
            </a:ln>
          </p:spPr>
        </p:pic>
        <p:sp>
          <p:nvSpPr>
            <p:cNvPr id="48163" name="Text Box 33"/>
            <p:cNvSpPr txBox="1">
              <a:spLocks noChangeArrowheads="1"/>
            </p:cNvSpPr>
            <p:nvPr>
              <p:custDataLst>
                <p:tags r:id="rId29"/>
              </p:custDataLst>
            </p:nvPr>
          </p:nvSpPr>
          <p:spPr bwMode="auto">
            <a:xfrm>
              <a:off x="133" y="132"/>
              <a:ext cx="318" cy="318"/>
            </a:xfrm>
            <a:prstGeom prst="rect">
              <a:avLst/>
            </a:prstGeom>
            <a:noFill/>
            <a:ln w="9525">
              <a:noFill/>
              <a:miter lim="800000"/>
            </a:ln>
          </p:spPr>
          <p:txBody>
            <a:bodyPr anchor="ctr"/>
            <a:p>
              <a:endParaRPr lang="zh-CN" altLang="en-US" i="0">
                <a:solidFill>
                  <a:srgbClr val="000000"/>
                </a:solidFill>
                <a:latin typeface="Corbel" panose="020B0503020204020204" pitchFamily="34" charset="0"/>
              </a:endParaRPr>
            </a:p>
          </p:txBody>
        </p:sp>
      </p:grpSp>
      <p:grpSp>
        <p:nvGrpSpPr>
          <p:cNvPr id="48151" name="Group 34"/>
          <p:cNvGrpSpPr/>
          <p:nvPr/>
        </p:nvGrpSpPr>
        <p:grpSpPr bwMode="auto">
          <a:xfrm>
            <a:off x="1123316" y="2646046"/>
            <a:ext cx="925513" cy="925513"/>
            <a:chOff x="0" y="0"/>
            <a:chExt cx="583" cy="583"/>
          </a:xfrm>
        </p:grpSpPr>
        <p:pic>
          <p:nvPicPr>
            <p:cNvPr id="48160" name="笑脸 22"/>
            <p:cNvPicPr>
              <a:picLocks noChangeArrowheads="1"/>
            </p:cNvPicPr>
            <p:nvPr>
              <p:custDataLst>
                <p:tags r:id="rId30"/>
              </p:custDataLst>
            </p:nvPr>
          </p:nvPicPr>
          <p:blipFill>
            <a:blip r:embed="rId23"/>
            <a:srcRect/>
            <a:stretch>
              <a:fillRect/>
            </a:stretch>
          </p:blipFill>
          <p:spPr bwMode="auto">
            <a:xfrm>
              <a:off x="0" y="0"/>
              <a:ext cx="583" cy="583"/>
            </a:xfrm>
            <a:prstGeom prst="rect">
              <a:avLst/>
            </a:prstGeom>
            <a:noFill/>
            <a:ln w="9525">
              <a:noFill/>
              <a:miter lim="800000"/>
              <a:headEnd/>
              <a:tailEnd/>
            </a:ln>
          </p:spPr>
        </p:pic>
        <p:sp>
          <p:nvSpPr>
            <p:cNvPr id="48161" name="Text Box 36"/>
            <p:cNvSpPr txBox="1">
              <a:spLocks noChangeArrowheads="1"/>
            </p:cNvSpPr>
            <p:nvPr>
              <p:custDataLst>
                <p:tags r:id="rId31"/>
              </p:custDataLst>
            </p:nvPr>
          </p:nvSpPr>
          <p:spPr bwMode="auto">
            <a:xfrm>
              <a:off x="130" y="131"/>
              <a:ext cx="318" cy="318"/>
            </a:xfrm>
            <a:prstGeom prst="rect">
              <a:avLst/>
            </a:prstGeom>
            <a:noFill/>
            <a:ln w="9525">
              <a:noFill/>
              <a:miter lim="800000"/>
            </a:ln>
          </p:spPr>
          <p:txBody>
            <a:bodyPr anchor="ctr"/>
            <a:p>
              <a:endParaRPr lang="zh-CN" altLang="en-US" i="0">
                <a:solidFill>
                  <a:srgbClr val="000000"/>
                </a:solidFill>
                <a:latin typeface="Corbel" panose="020B0503020204020204" pitchFamily="34" charset="0"/>
              </a:endParaRPr>
            </a:p>
          </p:txBody>
        </p:sp>
      </p:grpSp>
      <p:grpSp>
        <p:nvGrpSpPr>
          <p:cNvPr id="48152" name="Group 37"/>
          <p:cNvGrpSpPr/>
          <p:nvPr/>
        </p:nvGrpSpPr>
        <p:grpSpPr bwMode="auto">
          <a:xfrm>
            <a:off x="689928" y="2145983"/>
            <a:ext cx="933450" cy="925512"/>
            <a:chOff x="0" y="0"/>
            <a:chExt cx="588" cy="583"/>
          </a:xfrm>
        </p:grpSpPr>
        <p:pic>
          <p:nvPicPr>
            <p:cNvPr id="48158" name="笑脸 23"/>
            <p:cNvPicPr>
              <a:picLocks noChangeArrowheads="1"/>
            </p:cNvPicPr>
            <p:nvPr>
              <p:custDataLst>
                <p:tags r:id="rId32"/>
              </p:custDataLst>
            </p:nvPr>
          </p:nvPicPr>
          <p:blipFill>
            <a:blip r:embed="rId28"/>
            <a:srcRect/>
            <a:stretch>
              <a:fillRect/>
            </a:stretch>
          </p:blipFill>
          <p:spPr bwMode="auto">
            <a:xfrm>
              <a:off x="0" y="0"/>
              <a:ext cx="588" cy="583"/>
            </a:xfrm>
            <a:prstGeom prst="rect">
              <a:avLst/>
            </a:prstGeom>
            <a:noFill/>
            <a:ln w="9525">
              <a:noFill/>
              <a:miter lim="800000"/>
              <a:headEnd/>
              <a:tailEnd/>
            </a:ln>
          </p:spPr>
        </p:pic>
        <p:sp>
          <p:nvSpPr>
            <p:cNvPr id="48159" name="Text Box 39"/>
            <p:cNvSpPr txBox="1">
              <a:spLocks noChangeArrowheads="1"/>
            </p:cNvSpPr>
            <p:nvPr>
              <p:custDataLst>
                <p:tags r:id="rId33"/>
              </p:custDataLst>
            </p:nvPr>
          </p:nvSpPr>
          <p:spPr bwMode="auto">
            <a:xfrm>
              <a:off x="133" y="131"/>
              <a:ext cx="318" cy="318"/>
            </a:xfrm>
            <a:prstGeom prst="rect">
              <a:avLst/>
            </a:prstGeom>
            <a:noFill/>
            <a:ln w="9525">
              <a:noFill/>
              <a:miter lim="800000"/>
            </a:ln>
          </p:spPr>
          <p:txBody>
            <a:bodyPr anchor="ctr"/>
            <a:p>
              <a:endParaRPr lang="zh-CN" altLang="en-US" i="0">
                <a:solidFill>
                  <a:srgbClr val="000000"/>
                </a:solidFill>
                <a:latin typeface="Corbel" panose="020B0503020204020204" pitchFamily="34" charset="0"/>
              </a:endParaRPr>
            </a:p>
          </p:txBody>
        </p:sp>
      </p:grpSp>
      <p:sp>
        <p:nvSpPr>
          <p:cNvPr id="5" name="右箭头 17"/>
          <p:cNvSpPr>
            <a:spLocks noChangeArrowheads="1"/>
          </p:cNvSpPr>
          <p:nvPr>
            <p:custDataLst>
              <p:tags r:id="rId34"/>
            </p:custDataLst>
          </p:nvPr>
        </p:nvSpPr>
        <p:spPr bwMode="auto">
          <a:xfrm>
            <a:off x="9130984" y="3554414"/>
            <a:ext cx="428625" cy="357187"/>
          </a:xfrm>
          <a:prstGeom prst="rightArrow">
            <a:avLst>
              <a:gd name="adj1" fmla="val 50000"/>
              <a:gd name="adj2" fmla="val 50000"/>
            </a:avLst>
          </a:prstGeom>
          <a:solidFill>
            <a:schemeClr val="accent1"/>
          </a:solidFill>
          <a:ln w="19050">
            <a:solidFill>
              <a:srgbClr val="5C9929"/>
            </a:solidFill>
            <a:miter lim="800000"/>
          </a:ln>
        </p:spPr>
        <p:txBody>
          <a:bodyPr anchor="ctr"/>
          <a:p>
            <a:endParaRPr lang="zh-CN" altLang="en-US" i="0">
              <a:solidFill>
                <a:srgbClr val="FFFFFF"/>
              </a:solidFill>
              <a:latin typeface="Corbel" panose="020B0503020204020204" pitchFamily="34" charset="0"/>
            </a:endParaRPr>
          </a:p>
        </p:txBody>
      </p:sp>
      <p:sp>
        <p:nvSpPr>
          <p:cNvPr id="6" name="爆炸形 2 5"/>
          <p:cNvSpPr/>
          <p:nvPr/>
        </p:nvSpPr>
        <p:spPr>
          <a:xfrm>
            <a:off x="9916795" y="2750820"/>
            <a:ext cx="1866900" cy="1966595"/>
          </a:xfrm>
          <a:prstGeom prst="irregularSeal2">
            <a:avLst/>
          </a:prstGeom>
          <a:solidFill>
            <a:schemeClr val="accent2">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b="1"/>
              <a:t>失效</a:t>
            </a:r>
            <a:endParaRPr lang="zh-CN" altLang="en-US" sz="2800" b="1"/>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en-US" altLang="zh-CN">
                <a:solidFill>
                  <a:srgbClr val="C00000"/>
                </a:solidFill>
                <a:sym typeface="+mn-ea"/>
              </a:rPr>
              <a:t>2.1 </a:t>
            </a:r>
            <a:r>
              <a:rPr lang="zh-CN" altLang="en-US">
                <a:solidFill>
                  <a:srgbClr val="C00000"/>
                </a:solidFill>
                <a:sym typeface="+mn-ea"/>
              </a:rPr>
              <a:t>软件缺陷概述</a:t>
            </a:r>
            <a:endParaRPr lang="zh-CN" altLang="en-US" smtClean="0"/>
          </a:p>
        </p:txBody>
      </p:sp>
      <p:sp>
        <p:nvSpPr>
          <p:cNvPr id="49155" name="内容占位符 2"/>
          <p:cNvSpPr>
            <a:spLocks noGrp="1"/>
          </p:cNvSpPr>
          <p:nvPr>
            <p:ph idx="1"/>
          </p:nvPr>
        </p:nvSpPr>
        <p:spPr/>
        <p:txBody>
          <a:bodyPr/>
          <a:lstStyle/>
          <a:p>
            <a:pPr marL="358775">
              <a:lnSpc>
                <a:spcPts val="3580"/>
              </a:lnSpc>
            </a:pPr>
            <a:r>
              <a:rPr lang="zh-CN" altLang="en-US" dirty="0" smtClean="0"/>
              <a:t>软件缺陷的不可避免性。</a:t>
            </a:r>
            <a:endParaRPr lang="zh-CN" altLang="en-US" dirty="0" smtClean="0"/>
          </a:p>
          <a:p>
            <a:pPr marL="914400" lvl="1" indent="-457200">
              <a:lnSpc>
                <a:spcPts val="3580"/>
              </a:lnSpc>
              <a:buFont typeface="+mj-ea"/>
              <a:buAutoNum type="circleNumDbPlain"/>
            </a:pPr>
            <a:r>
              <a:rPr lang="zh-CN" altLang="en-US" b="1" dirty="0" smtClean="0">
                <a:solidFill>
                  <a:srgbClr val="0000FF"/>
                </a:solidFill>
                <a:latin typeface="黑体" panose="02010609060101010101" pitchFamily="2" charset="-122"/>
                <a:cs typeface="楷体_GB2312" pitchFamily="49" charset="-122"/>
              </a:rPr>
              <a:t>软件本身</a:t>
            </a:r>
            <a:r>
              <a:rPr lang="zh-CN" altLang="en-US" dirty="0" smtClean="0">
                <a:solidFill>
                  <a:srgbClr val="0000FF"/>
                </a:solidFill>
                <a:latin typeface="黑体" panose="02010609060101010101" pitchFamily="2" charset="-122"/>
                <a:cs typeface="楷体_GB2312" pitchFamily="49" charset="-122"/>
              </a:rPr>
              <a:t>：</a:t>
            </a:r>
            <a:r>
              <a:rPr lang="zh-CN" altLang="en-US" dirty="0" smtClean="0">
                <a:latin typeface="黑体" panose="02010609060101010101" pitchFamily="2" charset="-122"/>
                <a:cs typeface="楷体_GB2312" pitchFamily="49" charset="-122"/>
              </a:rPr>
              <a:t>需求不清晰、结构复杂、运行环境复杂、采用新技术、系统扩展或兼容问题</a:t>
            </a:r>
            <a:endParaRPr lang="zh-CN" altLang="en-US" dirty="0" smtClean="0">
              <a:latin typeface="黑体" panose="02010609060101010101" pitchFamily="2" charset="-122"/>
              <a:cs typeface="楷体_GB2312" pitchFamily="49" charset="-122"/>
            </a:endParaRPr>
          </a:p>
          <a:p>
            <a:pPr marL="914400" lvl="1" indent="-457200">
              <a:lnSpc>
                <a:spcPts val="3580"/>
              </a:lnSpc>
              <a:buFont typeface="+mj-ea"/>
              <a:buAutoNum type="circleNumDbPlain"/>
            </a:pPr>
            <a:r>
              <a:rPr lang="zh-CN" altLang="en-US" b="1" dirty="0" smtClean="0">
                <a:solidFill>
                  <a:srgbClr val="0000FF"/>
                </a:solidFill>
                <a:latin typeface="黑体" panose="02010609060101010101" pitchFamily="2" charset="-122"/>
                <a:cs typeface="楷体_GB2312" pitchFamily="49" charset="-122"/>
              </a:rPr>
              <a:t>团队工作</a:t>
            </a:r>
            <a:r>
              <a:rPr lang="zh-CN" altLang="en-US" dirty="0" smtClean="0">
                <a:solidFill>
                  <a:srgbClr val="0000FF"/>
                </a:solidFill>
                <a:latin typeface="黑体" panose="02010609060101010101" pitchFamily="2" charset="-122"/>
                <a:cs typeface="楷体_GB2312" pitchFamily="49" charset="-122"/>
              </a:rPr>
              <a:t>：</a:t>
            </a:r>
            <a:r>
              <a:rPr lang="zh-CN" altLang="en-US" dirty="0" smtClean="0">
                <a:latin typeface="黑体" panose="02010609060101010101" pitchFamily="2" charset="-122"/>
                <a:cs typeface="楷体_GB2312" pitchFamily="49" charset="-122"/>
              </a:rPr>
              <a:t>需求理解、相互沟通、技术水平</a:t>
            </a:r>
            <a:endParaRPr lang="zh-CN" altLang="en-US" dirty="0" smtClean="0">
              <a:latin typeface="黑体" panose="02010609060101010101" pitchFamily="2" charset="-122"/>
              <a:cs typeface="楷体_GB2312" pitchFamily="49" charset="-122"/>
            </a:endParaRPr>
          </a:p>
          <a:p>
            <a:pPr marL="914400" lvl="1" indent="-457200">
              <a:lnSpc>
                <a:spcPts val="3580"/>
              </a:lnSpc>
              <a:buFont typeface="+mj-ea"/>
              <a:buAutoNum type="circleNumDbPlain"/>
            </a:pPr>
            <a:r>
              <a:rPr lang="zh-CN" altLang="en-US" b="1" dirty="0" smtClean="0">
                <a:solidFill>
                  <a:srgbClr val="0000FF"/>
                </a:solidFill>
                <a:latin typeface="黑体" panose="02010609060101010101" pitchFamily="2" charset="-122"/>
                <a:cs typeface="楷体_GB2312" pitchFamily="49" charset="-122"/>
              </a:rPr>
              <a:t>技术问题</a:t>
            </a:r>
            <a:r>
              <a:rPr lang="zh-CN" altLang="en-US" dirty="0" smtClean="0">
                <a:solidFill>
                  <a:srgbClr val="0000FF"/>
                </a:solidFill>
                <a:latin typeface="黑体" panose="02010609060101010101" pitchFamily="2" charset="-122"/>
                <a:cs typeface="楷体_GB2312" pitchFamily="49" charset="-122"/>
              </a:rPr>
              <a:t>：</a:t>
            </a:r>
            <a:r>
              <a:rPr lang="zh-CN" altLang="en-US" dirty="0" smtClean="0">
                <a:latin typeface="黑体" panose="02010609060101010101" pitchFamily="2" charset="-122"/>
                <a:cs typeface="楷体_GB2312" pitchFamily="49" charset="-122"/>
              </a:rPr>
              <a:t>算法错误、语法错误等</a:t>
            </a:r>
            <a:endParaRPr lang="zh-CN" altLang="en-US" dirty="0" smtClean="0">
              <a:latin typeface="黑体" panose="02010609060101010101" pitchFamily="2" charset="-122"/>
              <a:cs typeface="楷体_GB2312" pitchFamily="49" charset="-122"/>
            </a:endParaRPr>
          </a:p>
          <a:p>
            <a:pPr marL="914400" lvl="1" indent="-457200">
              <a:lnSpc>
                <a:spcPts val="3580"/>
              </a:lnSpc>
              <a:buFont typeface="+mj-ea"/>
              <a:buAutoNum type="circleNumDbPlain"/>
            </a:pPr>
            <a:r>
              <a:rPr lang="zh-CN" altLang="en-US" b="1" dirty="0" smtClean="0">
                <a:solidFill>
                  <a:srgbClr val="0000FF"/>
                </a:solidFill>
                <a:latin typeface="黑体" panose="02010609060101010101" pitchFamily="2" charset="-122"/>
                <a:cs typeface="楷体_GB2312" pitchFamily="49" charset="-122"/>
              </a:rPr>
              <a:t>项目管理</a:t>
            </a:r>
            <a:r>
              <a:rPr lang="zh-CN" altLang="en-US" dirty="0" smtClean="0">
                <a:solidFill>
                  <a:srgbClr val="0000FF"/>
                </a:solidFill>
                <a:latin typeface="黑体" panose="02010609060101010101" pitchFamily="2" charset="-122"/>
                <a:cs typeface="楷体_GB2312" pitchFamily="49" charset="-122"/>
              </a:rPr>
              <a:t>：</a:t>
            </a:r>
            <a:r>
              <a:rPr lang="zh-CN" altLang="en-US" dirty="0" smtClean="0">
                <a:latin typeface="黑体" panose="02010609060101010101" pitchFamily="2" charset="-122"/>
                <a:cs typeface="楷体_GB2312" pitchFamily="49" charset="-122"/>
              </a:rPr>
              <a:t>不重视质量、缺乏评审机制、风险估计不足等。</a:t>
            </a:r>
            <a:endParaRPr lang="zh-CN" altLang="en-US" dirty="0" smtClean="0">
              <a:latin typeface="黑体" panose="02010609060101010101" pitchFamily="2" charset="-122"/>
              <a:cs typeface="楷体_GB2312" pitchFamily="49" charset="-122"/>
            </a:endParaRPr>
          </a:p>
          <a:p>
            <a:pPr marL="358775">
              <a:lnSpc>
                <a:spcPct val="120000"/>
              </a:lnSpc>
            </a:pPr>
            <a:endParaRPr lang="zh-CN" altLang="en-US" dirty="0" smtClean="0"/>
          </a:p>
        </p:txBody>
      </p:sp>
      <p:sp>
        <p:nvSpPr>
          <p:cNvPr id="49156" name="页脚占位符 3"/>
          <p:cNvSpPr>
            <a:spLocks noGrp="1"/>
          </p:cNvSpPr>
          <p:nvPr>
            <p:ph type="ftr" sz="quarter" idx="10"/>
          </p:nvPr>
        </p:nvSpPr>
        <p:spPr>
          <a:noFill/>
        </p:spPr>
        <p:txBody>
          <a:bodyPr/>
          <a:lstStyle/>
          <a:p>
            <a:fld id="{81C14EA9-EA32-4BD8-A3BF-67D52A80E84B}" type="slidenum">
              <a:rPr lang="en-US" altLang="zh-CN" smtClean="0"/>
            </a:fld>
            <a:endParaRPr lang="en-US" altLang="zh-CN" smtClean="0"/>
          </a:p>
        </p:txBody>
      </p:sp>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r>
              <a:rPr lang="en-US" altLang="zh-CN">
                <a:solidFill>
                  <a:srgbClr val="C00000"/>
                </a:solidFill>
                <a:sym typeface="+mn-ea"/>
              </a:rPr>
              <a:t>2.1 </a:t>
            </a:r>
            <a:r>
              <a:rPr lang="zh-CN" altLang="en-US">
                <a:solidFill>
                  <a:srgbClr val="C00000"/>
                </a:solidFill>
                <a:sym typeface="+mn-ea"/>
              </a:rPr>
              <a:t>软件缺陷概述</a:t>
            </a:r>
            <a:endParaRPr lang="zh-CN" altLang="en-US" smtClean="0"/>
          </a:p>
        </p:txBody>
      </p:sp>
      <p:sp>
        <p:nvSpPr>
          <p:cNvPr id="48131" name="内容占位符 2"/>
          <p:cNvSpPr>
            <a:spLocks noGrp="1"/>
          </p:cNvSpPr>
          <p:nvPr>
            <p:ph idx="1"/>
          </p:nvPr>
        </p:nvSpPr>
        <p:spPr/>
        <p:txBody>
          <a:bodyPr/>
          <a:lstStyle/>
          <a:p>
            <a:pPr marL="358775"/>
            <a:r>
              <a:rPr lang="zh-CN" altLang="en-US" dirty="0" smtClean="0"/>
              <a:t>问题：软件缺陷可能存在于什么地方？仅出现在代码中？</a:t>
            </a:r>
            <a:endParaRPr lang="zh-CN" altLang="en-US" dirty="0" smtClean="0"/>
          </a:p>
          <a:p>
            <a:pPr lvl="1" eaLnBrk="1" hangingPunct="1">
              <a:spcBef>
                <a:spcPct val="10000"/>
              </a:spcBef>
            </a:pPr>
            <a:r>
              <a:rPr lang="zh-CN" altLang="en-US" dirty="0" smtClean="0">
                <a:solidFill>
                  <a:srgbClr val="FF0000"/>
                </a:solidFill>
                <a:latin typeface="黑体" panose="02010609060101010101" pitchFamily="2" charset="-122"/>
                <a:ea typeface="黑体" panose="02010609060101010101" pitchFamily="2" charset="-122"/>
                <a:cs typeface="楷体_GB2312" pitchFamily="49" charset="-122"/>
              </a:rPr>
              <a:t>不是。</a:t>
            </a:r>
            <a:endParaRPr lang="zh-CN" altLang="en-US" dirty="0" smtClean="0">
              <a:solidFill>
                <a:srgbClr val="FF0000"/>
              </a:solidFill>
              <a:latin typeface="黑体" panose="02010609060101010101" pitchFamily="2" charset="-122"/>
              <a:ea typeface="黑体" panose="02010609060101010101" pitchFamily="2" charset="-122"/>
              <a:cs typeface="楷体_GB2312" pitchFamily="49" charset="-122"/>
            </a:endParaRPr>
          </a:p>
          <a:p>
            <a:pPr lvl="1" eaLnBrk="1" hangingPunct="1">
              <a:spcBef>
                <a:spcPct val="10000"/>
              </a:spcBef>
            </a:pPr>
            <a:r>
              <a:rPr lang="zh-CN" altLang="en-US" dirty="0" smtClean="0">
                <a:solidFill>
                  <a:srgbClr val="FF0000"/>
                </a:solidFill>
                <a:latin typeface="黑体" panose="02010609060101010101" pitchFamily="2" charset="-122"/>
                <a:ea typeface="黑体" panose="02010609060101010101" pitchFamily="2" charset="-122"/>
                <a:cs typeface="楷体_GB2312" pitchFamily="49" charset="-122"/>
              </a:rPr>
              <a:t>它无处不在！</a:t>
            </a:r>
            <a:endParaRPr lang="zh-CN" altLang="en-US" dirty="0" smtClean="0">
              <a:solidFill>
                <a:srgbClr val="FF0000"/>
              </a:solidFill>
              <a:latin typeface="黑体" panose="02010609060101010101" pitchFamily="2" charset="-122"/>
              <a:ea typeface="黑体" panose="02010609060101010101" pitchFamily="2" charset="-122"/>
              <a:cs typeface="楷体_GB2312" pitchFamily="49" charset="-122"/>
            </a:endParaRPr>
          </a:p>
          <a:p>
            <a:pPr lvl="1" eaLnBrk="1" hangingPunct="1">
              <a:spcBef>
                <a:spcPct val="10000"/>
              </a:spcBef>
            </a:pPr>
            <a:r>
              <a:rPr lang="zh-CN" altLang="en-US" dirty="0" smtClean="0">
                <a:solidFill>
                  <a:srgbClr val="FF0000"/>
                </a:solidFill>
                <a:latin typeface="黑体" panose="02010609060101010101" pitchFamily="2" charset="-122"/>
                <a:ea typeface="黑体" panose="02010609060101010101" pitchFamily="2" charset="-122"/>
                <a:cs typeface="楷体_GB2312" pitchFamily="49" charset="-122"/>
              </a:rPr>
              <a:t>其中，需求说明书是软件缺陷出现最多的地方</a:t>
            </a:r>
            <a:r>
              <a:rPr lang="zh-CN" altLang="en-US" dirty="0" smtClean="0">
                <a:solidFill>
                  <a:srgbClr val="FF0000"/>
                </a:solidFill>
                <a:latin typeface="黑体" panose="02010609060101010101" pitchFamily="2" charset="-122"/>
                <a:ea typeface="黑体" panose="02010609060101010101" pitchFamily="2" charset="-122"/>
                <a:cs typeface="楷体_GB2312" pitchFamily="49" charset="-122"/>
              </a:rPr>
              <a:t>。</a:t>
            </a:r>
            <a:endParaRPr lang="en-US" altLang="zh-CN" dirty="0" smtClean="0">
              <a:solidFill>
                <a:srgbClr val="FF0000"/>
              </a:solidFill>
              <a:latin typeface="黑体" panose="02010609060101010101" pitchFamily="2" charset="-122"/>
              <a:ea typeface="黑体" panose="02010609060101010101" pitchFamily="2" charset="-122"/>
              <a:cs typeface="楷体_GB2312" pitchFamily="49" charset="-122"/>
            </a:endParaRPr>
          </a:p>
          <a:p>
            <a:pPr lvl="1" eaLnBrk="1" hangingPunct="1">
              <a:spcBef>
                <a:spcPct val="10000"/>
              </a:spcBef>
            </a:pPr>
            <a:endParaRPr lang="zh-CN" altLang="en-US" dirty="0" smtClean="0">
              <a:solidFill>
                <a:srgbClr val="FF0000"/>
              </a:solidFill>
              <a:latin typeface="黑体" panose="02010609060101010101" pitchFamily="2" charset="-122"/>
              <a:ea typeface="黑体" panose="02010609060101010101" pitchFamily="2" charset="-122"/>
              <a:cs typeface="楷体_GB2312" pitchFamily="49" charset="-122"/>
            </a:endParaRPr>
          </a:p>
          <a:p>
            <a:pPr marL="358775"/>
            <a:r>
              <a:rPr lang="zh-CN" altLang="en-US" dirty="0" smtClean="0"/>
              <a:t>因此，我们必须提前测试，预防缺陷在后期大爆发</a:t>
            </a:r>
            <a:endParaRPr lang="zh-CN" altLang="en-US" dirty="0" smtClean="0"/>
          </a:p>
        </p:txBody>
      </p:sp>
      <p:sp>
        <p:nvSpPr>
          <p:cNvPr id="50180" name="页脚占位符 3"/>
          <p:cNvSpPr>
            <a:spLocks noGrp="1"/>
          </p:cNvSpPr>
          <p:nvPr>
            <p:ph type="ftr" sz="quarter" idx="10"/>
          </p:nvPr>
        </p:nvSpPr>
        <p:spPr>
          <a:noFill/>
        </p:spPr>
        <p:txBody>
          <a:bodyPr/>
          <a:lstStyle/>
          <a:p>
            <a:fld id="{5458320A-AA44-432B-8F01-5E48C45DCDAA}" type="slidenum">
              <a:rPr lang="en-US" altLang="zh-CN" smtClean="0"/>
            </a:fld>
            <a:endParaRPr lang="en-US" altLang="zh-CN" smtClean="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13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13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13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a:xfrm>
            <a:off x="1017270" y="2397760"/>
            <a:ext cx="1700530" cy="2026285"/>
          </a:xfrm>
        </p:spPr>
        <p:txBody>
          <a:bodyPr>
            <a:noAutofit/>
          </a:bodyPr>
          <a:lstStyle/>
          <a:p>
            <a:r>
              <a:rPr lang="zh-CN" altLang="en-US" sz="2800" smtClean="0">
                <a:latin typeface="华文中宋" panose="02010600040101010101" pitchFamily="2" charset="-122"/>
                <a:ea typeface="华文中宋" panose="02010600040101010101" pitchFamily="2" charset="-122"/>
              </a:rPr>
              <a:t>软件缺陷在开发周期不同阶段的</a:t>
            </a:r>
            <a:r>
              <a:rPr lang="zh-CN" altLang="en-US" sz="2800" smtClean="0">
                <a:solidFill>
                  <a:srgbClr val="FF0000"/>
                </a:solidFill>
                <a:latin typeface="华文中宋" panose="02010600040101010101" pitchFamily="2" charset="-122"/>
                <a:ea typeface="华文中宋" panose="02010600040101010101" pitchFamily="2" charset="-122"/>
              </a:rPr>
              <a:t>分布</a:t>
            </a:r>
            <a:endParaRPr lang="zh-CN" altLang="en-US" sz="2800" smtClean="0">
              <a:solidFill>
                <a:srgbClr val="FF0000"/>
              </a:solidFill>
              <a:latin typeface="华文中宋" panose="02010600040101010101" pitchFamily="2" charset="-122"/>
              <a:ea typeface="华文中宋" panose="02010600040101010101" pitchFamily="2" charset="-122"/>
            </a:endParaRPr>
          </a:p>
        </p:txBody>
      </p:sp>
      <p:sp>
        <p:nvSpPr>
          <p:cNvPr id="51203" name="页脚占位符 3"/>
          <p:cNvSpPr>
            <a:spLocks noGrp="1"/>
          </p:cNvSpPr>
          <p:nvPr>
            <p:ph type="ftr" sz="quarter" idx="10"/>
          </p:nvPr>
        </p:nvSpPr>
        <p:spPr>
          <a:noFill/>
        </p:spPr>
        <p:txBody>
          <a:bodyPr/>
          <a:lstStyle/>
          <a:p>
            <a:fld id="{D31A632E-EB12-475E-A4A7-546C2475D912}" type="slidenum">
              <a:rPr lang="en-US" altLang="zh-CN" smtClean="0"/>
            </a:fld>
            <a:endParaRPr lang="en-US" altLang="zh-CN" smtClean="0"/>
          </a:p>
        </p:txBody>
      </p:sp>
      <p:pic>
        <p:nvPicPr>
          <p:cNvPr id="51204" name="Picture 2"/>
          <p:cNvPicPr>
            <a:picLocks noChangeAspect="1" noChangeArrowheads="1"/>
          </p:cNvPicPr>
          <p:nvPr/>
        </p:nvPicPr>
        <p:blipFill>
          <a:blip r:embed="rId1"/>
          <a:srcRect/>
          <a:stretch>
            <a:fillRect/>
          </a:stretch>
        </p:blipFill>
        <p:spPr bwMode="auto">
          <a:xfrm>
            <a:off x="3122295" y="1058545"/>
            <a:ext cx="8946515" cy="5647055"/>
          </a:xfrm>
          <a:prstGeom prst="rect">
            <a:avLst/>
          </a:prstGeom>
          <a:noFill/>
          <a:ln w="9525">
            <a:noFill/>
            <a:miter lim="800000"/>
            <a:headEnd/>
            <a:tailEnd/>
          </a:ln>
        </p:spPr>
      </p:pic>
      <p:sp>
        <p:nvSpPr>
          <p:cNvPr id="50178" name="标题 1"/>
          <p:cNvSpPr>
            <a:spLocks noGrp="1"/>
          </p:cNvSpPr>
          <p:nvPr>
            <p:custDataLst>
              <p:tags r:id="rId2"/>
            </p:custDataLst>
          </p:nvPr>
        </p:nvSpPr>
        <p:spPr>
          <a:xfrm>
            <a:off x="838200" y="365125"/>
            <a:ext cx="10515600" cy="9353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a:solidFill>
                  <a:srgbClr val="C00000"/>
                </a:solidFill>
                <a:sym typeface="+mn-ea"/>
              </a:rPr>
              <a:t>2.1 </a:t>
            </a:r>
            <a:r>
              <a:rPr lang="zh-CN" altLang="en-US">
                <a:solidFill>
                  <a:srgbClr val="C00000"/>
                </a:solidFill>
                <a:sym typeface="+mn-ea"/>
              </a:rPr>
              <a:t>软件缺陷概述</a:t>
            </a:r>
            <a:endParaRPr lang="zh-CN" altLang="en-US" smtClean="0"/>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标题 1"/>
          <p:cNvSpPr>
            <a:spLocks noGrp="1"/>
          </p:cNvSpPr>
          <p:nvPr>
            <p:ph type="title"/>
          </p:nvPr>
        </p:nvSpPr>
        <p:spPr>
          <a:xfrm>
            <a:off x="788035" y="3528060"/>
            <a:ext cx="899795" cy="935355"/>
          </a:xfrm>
        </p:spPr>
        <p:txBody>
          <a:bodyPr>
            <a:noAutofit/>
          </a:bodyPr>
          <a:lstStyle/>
          <a:p>
            <a:r>
              <a:rPr lang="zh-CN" altLang="en-US" sz="3200" smtClean="0"/>
              <a:t>软件缺陷构成</a:t>
            </a:r>
            <a:endParaRPr lang="zh-CN" altLang="en-US" sz="3200" smtClean="0"/>
          </a:p>
        </p:txBody>
      </p:sp>
      <p:sp>
        <p:nvSpPr>
          <p:cNvPr id="12292" name="页脚占位符 3"/>
          <p:cNvSpPr>
            <a:spLocks noGrp="1"/>
          </p:cNvSpPr>
          <p:nvPr>
            <p:ph type="ftr" sz="quarter" idx="10"/>
          </p:nvPr>
        </p:nvSpPr>
        <p:spPr>
          <a:noFill/>
        </p:spPr>
        <p:txBody>
          <a:bodyPr/>
          <a:lstStyle/>
          <a:p>
            <a:fld id="{4797B44E-E1D6-4266-A872-AF6AA9E4C30D}" type="slidenum">
              <a:rPr lang="en-US" altLang="zh-CN" smtClean="0"/>
            </a:fld>
            <a:endParaRPr lang="en-US" altLang="zh-CN" smtClean="0"/>
          </a:p>
        </p:txBody>
      </p:sp>
      <p:graphicFrame>
        <p:nvGraphicFramePr>
          <p:cNvPr id="12290" name="Object 3"/>
          <p:cNvGraphicFramePr>
            <a:graphicFrameLocks noChangeAspect="1"/>
          </p:cNvGraphicFramePr>
          <p:nvPr/>
        </p:nvGraphicFramePr>
        <p:xfrm>
          <a:off x="2133600" y="1123950"/>
          <a:ext cx="8001000" cy="5641649"/>
        </p:xfrm>
        <a:graphic>
          <a:graphicData uri="http://schemas.openxmlformats.org/presentationml/2006/ole">
            <mc:AlternateContent xmlns:mc="http://schemas.openxmlformats.org/markup-compatibility/2006">
              <mc:Choice xmlns:v="urn:schemas-microsoft-com:vml" Requires="v">
                <p:oleObj spid="_x0000_s12343" name="" r:id="rId1" imgW="5555615" imgH="4155440" progId="Excel.Sheet.8">
                  <p:embed/>
                </p:oleObj>
              </mc:Choice>
              <mc:Fallback>
                <p:oleObj name="" r:id="rId1" imgW="5555615" imgH="4155440" progId="Excel.Shee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123950"/>
                        <a:ext cx="8001000" cy="5641649"/>
                      </a:xfrm>
                      <a:prstGeom prst="rect">
                        <a:avLst/>
                      </a:prstGeom>
                      <a:noFill/>
                      <a:effectLst/>
                    </p:spPr>
                  </p:pic>
                </p:oleObj>
              </mc:Fallback>
            </mc:AlternateContent>
          </a:graphicData>
        </a:graphic>
      </p:graphicFrame>
      <p:sp>
        <p:nvSpPr>
          <p:cNvPr id="50178" name="标题 1"/>
          <p:cNvSpPr>
            <a:spLocks noGrp="1"/>
          </p:cNvSpPr>
          <p:nvPr>
            <p:custDataLst>
              <p:tags r:id="rId3"/>
            </p:custDataLst>
          </p:nvPr>
        </p:nvSpPr>
        <p:spPr>
          <a:xfrm>
            <a:off x="838200" y="365125"/>
            <a:ext cx="10515600" cy="9353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a:solidFill>
                  <a:srgbClr val="C00000"/>
                </a:solidFill>
                <a:sym typeface="+mn-ea"/>
              </a:rPr>
              <a:t>2.1 </a:t>
            </a:r>
            <a:r>
              <a:rPr lang="zh-CN" altLang="en-US">
                <a:solidFill>
                  <a:srgbClr val="C00000"/>
                </a:solidFill>
                <a:sym typeface="+mn-ea"/>
              </a:rPr>
              <a:t>软件缺陷概述</a:t>
            </a:r>
            <a:endParaRPr lang="zh-CN" altLang="en-US" smtClean="0"/>
          </a:p>
        </p:txBody>
      </p:sp>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a:xfrm>
            <a:off x="1052830" y="4250055"/>
            <a:ext cx="2723515" cy="935355"/>
          </a:xfrm>
        </p:spPr>
        <p:txBody>
          <a:bodyPr>
            <a:noAutofit/>
          </a:bodyPr>
          <a:lstStyle/>
          <a:p>
            <a:r>
              <a:rPr lang="zh-CN" altLang="en-US" sz="3200" smtClean="0"/>
              <a:t>修复软件缺陷的代价</a:t>
            </a:r>
            <a:endParaRPr lang="zh-CN" altLang="en-US" sz="3200" smtClean="0"/>
          </a:p>
        </p:txBody>
      </p:sp>
      <p:sp>
        <p:nvSpPr>
          <p:cNvPr id="52227" name="内容占位符 2"/>
          <p:cNvSpPr>
            <a:spLocks noGrp="1"/>
          </p:cNvSpPr>
          <p:nvPr>
            <p:ph idx="1"/>
          </p:nvPr>
        </p:nvSpPr>
        <p:spPr/>
        <p:txBody>
          <a:bodyPr/>
          <a:lstStyle/>
          <a:p>
            <a:pPr marL="358775" eaLnBrk="1" hangingPunct="1">
              <a:spcBef>
                <a:spcPts val="400"/>
              </a:spcBef>
            </a:pPr>
            <a:r>
              <a:rPr lang="zh-CN" altLang="en-US" smtClean="0"/>
              <a:t>“老生常谈”，但仍未得到足够的重视！</a:t>
            </a:r>
            <a:endParaRPr lang="en-US" smtClean="0"/>
          </a:p>
          <a:p>
            <a:pPr marL="358775" eaLnBrk="1" hangingPunct="1">
              <a:spcBef>
                <a:spcPts val="400"/>
              </a:spcBef>
            </a:pPr>
            <a:r>
              <a:rPr lang="zh-CN" altLang="en-US" smtClean="0"/>
              <a:t>人们总是因追求进度和实现而忽略了对软件缺陷的及时排除。</a:t>
            </a:r>
            <a:endParaRPr lang="zh-CN" altLang="en-US" smtClean="0"/>
          </a:p>
          <a:p>
            <a:pPr marL="358775"/>
            <a:endParaRPr lang="zh-CN" altLang="en-US" smtClean="0"/>
          </a:p>
        </p:txBody>
      </p:sp>
      <p:sp>
        <p:nvSpPr>
          <p:cNvPr id="52228" name="页脚占位符 3"/>
          <p:cNvSpPr>
            <a:spLocks noGrp="1"/>
          </p:cNvSpPr>
          <p:nvPr>
            <p:ph type="ftr" sz="quarter" idx="10"/>
          </p:nvPr>
        </p:nvSpPr>
        <p:spPr>
          <a:noFill/>
        </p:spPr>
        <p:txBody>
          <a:bodyPr/>
          <a:lstStyle/>
          <a:p>
            <a:fld id="{805FE2AB-4BD0-4DFC-A4E6-44C92F96CCDE}" type="slidenum">
              <a:rPr lang="en-US" altLang="zh-CN" smtClean="0"/>
            </a:fld>
            <a:endParaRPr lang="en-US" altLang="zh-CN" smtClean="0"/>
          </a:p>
        </p:txBody>
      </p:sp>
      <p:pic>
        <p:nvPicPr>
          <p:cNvPr id="52229" name="Picture 2"/>
          <p:cNvPicPr>
            <a:picLocks noChangeAspect="1" noChangeArrowheads="1"/>
          </p:cNvPicPr>
          <p:nvPr/>
        </p:nvPicPr>
        <p:blipFill>
          <a:blip r:embed="rId1"/>
          <a:srcRect/>
          <a:stretch>
            <a:fillRect/>
          </a:stretch>
        </p:blipFill>
        <p:spPr bwMode="auto">
          <a:xfrm>
            <a:off x="3821430" y="2976245"/>
            <a:ext cx="6008370" cy="3742055"/>
          </a:xfrm>
          <a:prstGeom prst="rect">
            <a:avLst/>
          </a:prstGeom>
          <a:noFill/>
          <a:ln w="9525">
            <a:noFill/>
            <a:miter lim="800000"/>
            <a:headEnd/>
            <a:tailEnd/>
          </a:ln>
        </p:spPr>
      </p:pic>
      <p:sp>
        <p:nvSpPr>
          <p:cNvPr id="50178" name="标题 1"/>
          <p:cNvSpPr>
            <a:spLocks noGrp="1"/>
          </p:cNvSpPr>
          <p:nvPr>
            <p:custDataLst>
              <p:tags r:id="rId2"/>
            </p:custDataLst>
          </p:nvPr>
        </p:nvSpPr>
        <p:spPr>
          <a:xfrm>
            <a:off x="838200" y="365125"/>
            <a:ext cx="10515600" cy="9353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a:solidFill>
                  <a:srgbClr val="C00000"/>
                </a:solidFill>
                <a:sym typeface="+mn-ea"/>
              </a:rPr>
              <a:t>2.1 </a:t>
            </a:r>
            <a:r>
              <a:rPr lang="zh-CN" altLang="en-US">
                <a:solidFill>
                  <a:srgbClr val="C00000"/>
                </a:solidFill>
                <a:sym typeface="+mn-ea"/>
              </a:rPr>
              <a:t>软件缺陷概述</a:t>
            </a:r>
            <a:endParaRPr lang="zh-CN" altLang="en-US" smtClean="0"/>
          </a:p>
        </p:txBody>
      </p:sp>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1"/>
          <p:cNvSpPr>
            <a:spLocks noGrp="1"/>
          </p:cNvSpPr>
          <p:nvPr>
            <p:ph type="title"/>
          </p:nvPr>
        </p:nvSpPr>
        <p:spPr/>
        <p:txBody>
          <a:bodyPr vert="horz" wrap="square" lIns="91440" tIns="45720" rIns="91440" bIns="45720" anchor="ctr" anchorCtr="0"/>
          <a:p>
            <a:r>
              <a:rPr lang="en-US" altLang="zh-CN">
                <a:solidFill>
                  <a:srgbClr val="C00000"/>
                </a:solidFill>
                <a:latin typeface="+mj-lt"/>
                <a:ea typeface="+mj-ea"/>
                <a:cs typeface="+mj-cs"/>
              </a:rPr>
              <a:t>2.2 </a:t>
            </a:r>
            <a:r>
              <a:rPr lang="zh-CN" altLang="en-US">
                <a:solidFill>
                  <a:srgbClr val="C00000"/>
                </a:solidFill>
                <a:latin typeface="+mj-lt"/>
                <a:ea typeface="+mj-ea"/>
                <a:cs typeface="+mj-cs"/>
              </a:rPr>
              <a:t>软件缺陷分类</a:t>
            </a:r>
            <a:endParaRPr lang="zh-CN" altLang="en-US">
              <a:solidFill>
                <a:srgbClr val="C00000"/>
              </a:solidFill>
              <a:latin typeface="+mj-lt"/>
              <a:ea typeface="+mj-ea"/>
              <a:cs typeface="+mj-cs"/>
            </a:endParaRPr>
          </a:p>
        </p:txBody>
      </p:sp>
      <p:sp>
        <p:nvSpPr>
          <p:cNvPr id="9219" name="内容占位符 2"/>
          <p:cNvSpPr>
            <a:spLocks noGrp="1"/>
          </p:cNvSpPr>
          <p:nvPr>
            <p:ph idx="1"/>
          </p:nvPr>
        </p:nvSpPr>
        <p:spPr/>
        <p:txBody>
          <a:bodyPr vert="horz" wrap="square" lIns="91440" tIns="45720" rIns="91440" bIns="45720" anchor="t" anchorCtr="0"/>
          <a:p>
            <a:pPr marL="358775">
              <a:buSzPct val="75000"/>
            </a:pPr>
            <a:r>
              <a:rPr lang="zh-CN" altLang="en-US" dirty="0">
                <a:latin typeface="微软雅黑" panose="020B0503020204020204" charset="-122"/>
                <a:ea typeface="微软雅黑" panose="020B0503020204020204" charset="-122"/>
                <a:cs typeface="+mn-cs"/>
              </a:rPr>
              <a:t>需求缺陷</a:t>
            </a:r>
            <a:endParaRPr lang="en-US" altLang="zh-CN" dirty="0">
              <a:latin typeface="微软雅黑" panose="020B0503020204020204" charset="-122"/>
              <a:ea typeface="微软雅黑" panose="020B0503020204020204" charset="-122"/>
              <a:cs typeface="+mn-cs"/>
            </a:endParaRPr>
          </a:p>
          <a:p>
            <a:pPr lvl="1">
              <a:buSzPct val="70000"/>
            </a:pPr>
            <a:r>
              <a:rPr lang="zh-CN" altLang="en-US" dirty="0">
                <a:latin typeface="楷体" panose="02010609060101010101" pitchFamily="49" charset="-122"/>
                <a:ea typeface="楷体" panose="02010609060101010101" pitchFamily="49" charset="-122"/>
                <a:cs typeface="楷体_GB2312"/>
              </a:rPr>
              <a:t>需求有误</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需求逻辑错误</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需求不完备</a:t>
            </a:r>
            <a:endParaRPr lang="zh-CN" altLang="en-US"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需求文档描述问题</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需求更改</a:t>
            </a:r>
            <a:endParaRPr lang="zh-CN" altLang="en-US" dirty="0">
              <a:latin typeface="楷体" panose="02010609060101010101" pitchFamily="49" charset="-122"/>
              <a:ea typeface="楷体" panose="02010609060101010101" pitchFamily="49" charset="-122"/>
              <a:cs typeface="楷体_GB2312"/>
            </a:endParaRPr>
          </a:p>
        </p:txBody>
      </p:sp>
      <p:sp>
        <p:nvSpPr>
          <p:cNvPr id="9220" name="页脚占位符 3"/>
          <p:cNvSpPr txBox="1">
            <a:spLocks noGrp="1"/>
          </p:cNvSpPr>
          <p:nvPr>
            <p:ph type="ftr" sz="quarter" idx="10"/>
          </p:nvPr>
        </p:nvSpPr>
        <p:spPr/>
        <p:txBody>
          <a:bodyPr/>
          <a:p>
            <a:pPr marL="0" indent="0" algn="ctr" eaLnBrk="1" hangingPunct="1">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
          <p:cNvSpPr>
            <a:spLocks noGrp="1"/>
          </p:cNvSpPr>
          <p:nvPr>
            <p:ph type="title"/>
          </p:nvPr>
        </p:nvSpPr>
        <p:spPr/>
        <p:txBody>
          <a:bodyPr vert="horz" wrap="square" lIns="91440" tIns="45720" rIns="91440" bIns="45720" anchor="ctr" anchorCtr="0"/>
          <a:p>
            <a:pPr algn="l">
              <a:buClrTx/>
              <a:buSzTx/>
              <a:buFontTx/>
            </a:pPr>
            <a:r>
              <a:rPr lang="en-US" altLang="zh-CN">
                <a:solidFill>
                  <a:srgbClr val="C00000"/>
                </a:solidFill>
                <a:sym typeface="+mn-ea"/>
              </a:rPr>
              <a:t>2.2 </a:t>
            </a:r>
            <a:r>
              <a:rPr lang="zh-CN" altLang="en-US">
                <a:solidFill>
                  <a:srgbClr val="C00000"/>
                </a:solidFill>
                <a:sym typeface="+mn-ea"/>
              </a:rPr>
              <a:t>软件缺陷分类</a:t>
            </a:r>
            <a:endParaRPr lang="zh-CN" altLang="en-US">
              <a:solidFill>
                <a:srgbClr val="C00000"/>
              </a:solidFill>
              <a:latin typeface="+mj-lt"/>
              <a:ea typeface="+mj-ea"/>
              <a:cs typeface="+mj-cs"/>
            </a:endParaRPr>
          </a:p>
        </p:txBody>
      </p:sp>
      <p:sp>
        <p:nvSpPr>
          <p:cNvPr id="10243" name="内容占位符 2"/>
          <p:cNvSpPr>
            <a:spLocks noGrp="1"/>
          </p:cNvSpPr>
          <p:nvPr>
            <p:ph idx="1"/>
          </p:nvPr>
        </p:nvSpPr>
        <p:spPr/>
        <p:txBody>
          <a:bodyPr vert="horz" wrap="square" lIns="91440" tIns="45720" rIns="91440" bIns="45720" anchor="t" anchorCtr="0"/>
          <a:p>
            <a:pPr marL="358775">
              <a:buSzPct val="75000"/>
            </a:pPr>
            <a:r>
              <a:rPr lang="zh-CN" altLang="en-US" dirty="0">
                <a:latin typeface="微软雅黑" panose="020B0503020204020204" charset="-122"/>
                <a:ea typeface="微软雅黑" panose="020B0503020204020204" charset="-122"/>
                <a:cs typeface="+mn-cs"/>
              </a:rPr>
              <a:t>设计缺陷</a:t>
            </a:r>
            <a:endParaRPr lang="en-US" altLang="zh-CN" dirty="0">
              <a:latin typeface="微软雅黑" panose="020B0503020204020204" charset="-122"/>
              <a:ea typeface="微软雅黑" panose="020B0503020204020204" charset="-122"/>
              <a:cs typeface="+mn-cs"/>
            </a:endParaRPr>
          </a:p>
          <a:p>
            <a:pPr lvl="1">
              <a:buSzPct val="70000"/>
            </a:pPr>
            <a:r>
              <a:rPr lang="zh-CN" altLang="en-US" dirty="0">
                <a:latin typeface="楷体" panose="02010609060101010101" pitchFamily="49" charset="-122"/>
                <a:ea typeface="楷体" panose="02010609060101010101" pitchFamily="49" charset="-122"/>
                <a:cs typeface="楷体_GB2312"/>
              </a:rPr>
              <a:t>设计不合理</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设计文档描述问题</a:t>
            </a:r>
            <a:endParaRPr lang="zh-CN" altLang="en-US"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设计变更带来的</a:t>
            </a:r>
            <a:endParaRPr lang="en-US" altLang="zh-CN" dirty="0">
              <a:latin typeface="楷体" panose="02010609060101010101" pitchFamily="49" charset="-122"/>
              <a:ea typeface="楷体" panose="02010609060101010101" pitchFamily="49" charset="-122"/>
              <a:cs typeface="楷体_GB2312"/>
            </a:endParaRPr>
          </a:p>
          <a:p>
            <a:pPr marL="358775">
              <a:buSzPct val="75000"/>
            </a:pPr>
            <a:endParaRPr lang="zh-CN" altLang="en-US" dirty="0">
              <a:latin typeface="微软雅黑" panose="020B0503020204020204" charset="-122"/>
              <a:ea typeface="微软雅黑" panose="020B0503020204020204" charset="-122"/>
              <a:cs typeface="+mn-cs"/>
            </a:endParaRPr>
          </a:p>
        </p:txBody>
      </p:sp>
      <p:sp>
        <p:nvSpPr>
          <p:cNvPr id="10244" name="页脚占位符 3"/>
          <p:cNvSpPr txBox="1">
            <a:spLocks noGrp="1"/>
          </p:cNvSpPr>
          <p:nvPr>
            <p:ph type="ftr" sz="quarter" idx="10"/>
          </p:nvPr>
        </p:nvSpPr>
        <p:spPr/>
        <p:txBody>
          <a:bodyPr/>
          <a:p>
            <a:pPr marL="0" indent="0" algn="ctr" eaLnBrk="1" hangingPunct="1">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
          <p:cNvSpPr>
            <a:spLocks noGrp="1"/>
          </p:cNvSpPr>
          <p:nvPr>
            <p:ph type="title"/>
          </p:nvPr>
        </p:nvSpPr>
        <p:spPr/>
        <p:txBody>
          <a:bodyPr vert="horz" wrap="square" lIns="91440" tIns="45720" rIns="91440" bIns="45720" anchor="ctr" anchorCtr="0"/>
          <a:p>
            <a:pPr algn="l">
              <a:buClrTx/>
              <a:buSzTx/>
              <a:buFontTx/>
            </a:pPr>
            <a:r>
              <a:rPr lang="en-US" altLang="zh-CN">
                <a:solidFill>
                  <a:srgbClr val="C00000"/>
                </a:solidFill>
                <a:sym typeface="+mn-ea"/>
              </a:rPr>
              <a:t>2.2 </a:t>
            </a:r>
            <a:r>
              <a:rPr lang="zh-CN" altLang="en-US">
                <a:solidFill>
                  <a:srgbClr val="C00000"/>
                </a:solidFill>
                <a:sym typeface="+mn-ea"/>
              </a:rPr>
              <a:t>软件缺陷分类</a:t>
            </a:r>
            <a:endParaRPr lang="zh-CN" altLang="en-US">
              <a:solidFill>
                <a:srgbClr val="C00000"/>
              </a:solidFill>
              <a:latin typeface="+mj-lt"/>
              <a:ea typeface="+mj-ea"/>
              <a:cs typeface="+mj-cs"/>
            </a:endParaRPr>
          </a:p>
        </p:txBody>
      </p:sp>
      <p:sp>
        <p:nvSpPr>
          <p:cNvPr id="11267" name="内容占位符 2"/>
          <p:cNvSpPr>
            <a:spLocks noGrp="1"/>
          </p:cNvSpPr>
          <p:nvPr>
            <p:ph idx="1"/>
          </p:nvPr>
        </p:nvSpPr>
        <p:spPr/>
        <p:txBody>
          <a:bodyPr vert="horz" wrap="square" lIns="91440" tIns="45720" rIns="91440" bIns="45720" anchor="t" anchorCtr="0"/>
          <a:p>
            <a:pPr marL="358775">
              <a:buSzPct val="75000"/>
            </a:pPr>
            <a:r>
              <a:rPr lang="zh-CN" altLang="en-US" dirty="0">
                <a:latin typeface="微软雅黑" panose="020B0503020204020204" charset="-122"/>
                <a:ea typeface="微软雅黑" panose="020B0503020204020204" charset="-122"/>
                <a:cs typeface="+mn-cs"/>
              </a:rPr>
              <a:t>功能和性能缺陷</a:t>
            </a:r>
            <a:endParaRPr lang="en-US" altLang="zh-CN" dirty="0">
              <a:latin typeface="微软雅黑" panose="020B0503020204020204" charset="-122"/>
              <a:ea typeface="微软雅黑" panose="020B0503020204020204" charset="-122"/>
              <a:cs typeface="+mn-cs"/>
            </a:endParaRPr>
          </a:p>
          <a:p>
            <a:pPr lvl="1">
              <a:buSzPct val="70000"/>
            </a:pPr>
            <a:r>
              <a:rPr lang="zh-CN" altLang="en-US" dirty="0">
                <a:latin typeface="楷体" panose="02010609060101010101" pitchFamily="49" charset="-122"/>
                <a:ea typeface="楷体" panose="02010609060101010101" pitchFamily="49" charset="-122"/>
                <a:cs typeface="楷体_GB2312"/>
              </a:rPr>
              <a:t>功能或性能有误</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性能不完全</a:t>
            </a:r>
            <a:endParaRPr lang="zh-CN" altLang="en-US"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适应范围有问题</a:t>
            </a:r>
            <a:endParaRPr lang="zh-CN" altLang="en-US"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用户信息和诊断信息有误</a:t>
            </a:r>
            <a:endParaRPr lang="zh-CN" altLang="en-US"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异常情况处理有误</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其他功能错误</a:t>
            </a:r>
            <a:endParaRPr lang="zh-CN" altLang="en-US" dirty="0">
              <a:latin typeface="楷体" panose="02010609060101010101" pitchFamily="49" charset="-122"/>
              <a:ea typeface="楷体" panose="02010609060101010101" pitchFamily="49" charset="-122"/>
              <a:cs typeface="楷体_GB2312"/>
            </a:endParaRPr>
          </a:p>
        </p:txBody>
      </p:sp>
      <p:sp>
        <p:nvSpPr>
          <p:cNvPr id="11268" name="页脚占位符 3"/>
          <p:cNvSpPr txBox="1">
            <a:spLocks noGrp="1"/>
          </p:cNvSpPr>
          <p:nvPr>
            <p:ph type="ftr" sz="quarter" idx="10"/>
          </p:nvPr>
        </p:nvSpPr>
        <p:spPr/>
        <p:txBody>
          <a:bodyPr/>
          <a:p>
            <a:pPr marL="0" indent="0" algn="ctr" eaLnBrk="1" hangingPunct="1">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标题 1"/>
          <p:cNvSpPr>
            <a:spLocks noGrp="1"/>
          </p:cNvSpPr>
          <p:nvPr>
            <p:ph type="title"/>
          </p:nvPr>
        </p:nvSpPr>
        <p:spPr/>
        <p:txBody>
          <a:bodyPr vert="horz" wrap="square" lIns="91440" tIns="45720" rIns="91440" bIns="45720" anchor="ctr" anchorCtr="0"/>
          <a:p>
            <a:pPr algn="l">
              <a:buClrTx/>
              <a:buSzTx/>
              <a:buFontTx/>
            </a:pPr>
            <a:r>
              <a:rPr lang="en-US" altLang="zh-CN">
                <a:solidFill>
                  <a:srgbClr val="C00000"/>
                </a:solidFill>
                <a:sym typeface="+mn-ea"/>
              </a:rPr>
              <a:t>2.2 </a:t>
            </a:r>
            <a:r>
              <a:rPr lang="zh-CN" altLang="en-US">
                <a:solidFill>
                  <a:srgbClr val="C00000"/>
                </a:solidFill>
                <a:sym typeface="+mn-ea"/>
              </a:rPr>
              <a:t>软件缺陷分类</a:t>
            </a:r>
            <a:endParaRPr lang="zh-CN" altLang="en-US">
              <a:solidFill>
                <a:srgbClr val="C00000"/>
              </a:solidFill>
              <a:latin typeface="+mj-lt"/>
              <a:ea typeface="+mj-ea"/>
              <a:cs typeface="+mj-cs"/>
            </a:endParaRPr>
          </a:p>
        </p:txBody>
      </p:sp>
      <p:sp>
        <p:nvSpPr>
          <p:cNvPr id="12291" name="内容占位符 2"/>
          <p:cNvSpPr>
            <a:spLocks noGrp="1"/>
          </p:cNvSpPr>
          <p:nvPr>
            <p:ph idx="1"/>
          </p:nvPr>
        </p:nvSpPr>
        <p:spPr/>
        <p:txBody>
          <a:bodyPr vert="horz" wrap="square" lIns="91440" tIns="45720" rIns="91440" bIns="45720" anchor="t" anchorCtr="0"/>
          <a:p>
            <a:pPr marL="358775">
              <a:buSzPct val="75000"/>
            </a:pPr>
            <a:r>
              <a:rPr lang="zh-CN" altLang="en-US" dirty="0">
                <a:latin typeface="微软雅黑" panose="020B0503020204020204" charset="-122"/>
                <a:ea typeface="微软雅黑" panose="020B0503020204020204" charset="-122"/>
                <a:cs typeface="+mn-cs"/>
              </a:rPr>
              <a:t>界面缺陷</a:t>
            </a:r>
            <a:endParaRPr lang="en-US" altLang="zh-CN" dirty="0">
              <a:latin typeface="微软雅黑" panose="020B0503020204020204" charset="-122"/>
              <a:ea typeface="微软雅黑" panose="020B0503020204020204" charset="-122"/>
              <a:cs typeface="+mn-cs"/>
            </a:endParaRPr>
          </a:p>
          <a:p>
            <a:pPr lvl="1">
              <a:buSzPct val="70000"/>
            </a:pPr>
            <a:r>
              <a:rPr lang="zh-CN" altLang="en-US" dirty="0">
                <a:latin typeface="楷体" panose="02010609060101010101" pitchFamily="49" charset="-122"/>
                <a:ea typeface="楷体" panose="02010609060101010101" pitchFamily="49" charset="-122"/>
                <a:cs typeface="楷体_GB2312"/>
              </a:rPr>
              <a:t>系统的图片、文字、按钮、翻明显有错误</a:t>
            </a:r>
            <a:endParaRPr lang="zh-CN" altLang="en-US" dirty="0">
              <a:latin typeface="楷体" panose="02010609060101010101" pitchFamily="49" charset="-122"/>
              <a:ea typeface="楷体" panose="02010609060101010101" pitchFamily="49" charset="-122"/>
              <a:cs typeface="楷体_GB2312"/>
            </a:endParaRPr>
          </a:p>
        </p:txBody>
      </p:sp>
      <p:sp>
        <p:nvSpPr>
          <p:cNvPr id="12292" name="页脚占位符 3"/>
          <p:cNvSpPr txBox="1">
            <a:spLocks noGrp="1"/>
          </p:cNvSpPr>
          <p:nvPr>
            <p:ph type="ftr" sz="quarter" idx="10"/>
          </p:nvPr>
        </p:nvSpPr>
        <p:spPr/>
        <p:txBody>
          <a:bodyPr/>
          <a:p>
            <a:pPr marL="0" indent="0" algn="ctr" eaLnBrk="1" hangingPunct="1">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标题 1"/>
          <p:cNvSpPr>
            <a:spLocks noGrp="1"/>
          </p:cNvSpPr>
          <p:nvPr>
            <p:ph type="title"/>
          </p:nvPr>
        </p:nvSpPr>
        <p:spPr/>
        <p:txBody>
          <a:bodyPr vert="horz" wrap="square" lIns="91440" tIns="45720" rIns="91440" bIns="45720" anchor="ctr" anchorCtr="0"/>
          <a:p>
            <a:pPr algn="l">
              <a:buClrTx/>
              <a:buSzTx/>
              <a:buFontTx/>
            </a:pPr>
            <a:r>
              <a:rPr lang="en-US" altLang="zh-CN">
                <a:solidFill>
                  <a:srgbClr val="C00000"/>
                </a:solidFill>
                <a:sym typeface="+mn-ea"/>
              </a:rPr>
              <a:t>2.2 </a:t>
            </a:r>
            <a:r>
              <a:rPr lang="zh-CN" altLang="en-US">
                <a:solidFill>
                  <a:srgbClr val="C00000"/>
                </a:solidFill>
                <a:sym typeface="+mn-ea"/>
              </a:rPr>
              <a:t>软件缺陷分类</a:t>
            </a:r>
            <a:endParaRPr lang="zh-CN" altLang="en-US">
              <a:solidFill>
                <a:srgbClr val="C00000"/>
              </a:solidFill>
              <a:latin typeface="+mj-lt"/>
              <a:ea typeface="+mj-ea"/>
              <a:cs typeface="+mj-cs"/>
            </a:endParaRPr>
          </a:p>
        </p:txBody>
      </p:sp>
      <p:sp>
        <p:nvSpPr>
          <p:cNvPr id="13315" name="内容占位符 2"/>
          <p:cNvSpPr>
            <a:spLocks noGrp="1"/>
          </p:cNvSpPr>
          <p:nvPr>
            <p:ph idx="1"/>
          </p:nvPr>
        </p:nvSpPr>
        <p:spPr/>
        <p:txBody>
          <a:bodyPr vert="horz" wrap="square" lIns="91440" tIns="45720" rIns="91440" bIns="45720" anchor="t" anchorCtr="0"/>
          <a:p>
            <a:pPr marL="358775">
              <a:buSzPct val="75000"/>
            </a:pPr>
            <a:r>
              <a:rPr lang="zh-CN" altLang="en-US" dirty="0">
                <a:latin typeface="微软雅黑" panose="020B0503020204020204" charset="-122"/>
                <a:ea typeface="微软雅黑" panose="020B0503020204020204" charset="-122"/>
                <a:cs typeface="+mn-cs"/>
              </a:rPr>
              <a:t>数据错误</a:t>
            </a:r>
            <a:endParaRPr lang="en-US" altLang="zh-CN" dirty="0">
              <a:latin typeface="微软雅黑" panose="020B0503020204020204" charset="-122"/>
              <a:ea typeface="微软雅黑" panose="020B0503020204020204" charset="-122"/>
              <a:cs typeface="+mn-cs"/>
            </a:endParaRPr>
          </a:p>
          <a:p>
            <a:pPr lvl="1">
              <a:buSzPct val="70000"/>
            </a:pPr>
            <a:r>
              <a:rPr lang="zh-CN" altLang="en-US" dirty="0">
                <a:latin typeface="楷体" panose="02010609060101010101" pitchFamily="49" charset="-122"/>
                <a:ea typeface="楷体" panose="02010609060101010101" pitchFamily="49" charset="-122"/>
                <a:cs typeface="楷体_GB2312"/>
              </a:rPr>
              <a:t>数据定义数据结构错误</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数据存取及数据操作错误</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其它数据问题</a:t>
            </a:r>
            <a:endParaRPr lang="en-US" altLang="zh-CN" dirty="0">
              <a:latin typeface="楷体" panose="02010609060101010101" pitchFamily="49" charset="-122"/>
              <a:ea typeface="楷体" panose="02010609060101010101" pitchFamily="49" charset="-122"/>
              <a:cs typeface="楷体_GB2312"/>
            </a:endParaRPr>
          </a:p>
          <a:p>
            <a:pPr marL="358775">
              <a:buSzPct val="75000"/>
            </a:pPr>
            <a:endParaRPr lang="zh-CN" altLang="en-US" dirty="0">
              <a:latin typeface="微软雅黑" panose="020B0503020204020204" charset="-122"/>
              <a:ea typeface="微软雅黑" panose="020B0503020204020204" charset="-122"/>
              <a:cs typeface="+mn-cs"/>
            </a:endParaRPr>
          </a:p>
        </p:txBody>
      </p:sp>
      <p:sp>
        <p:nvSpPr>
          <p:cNvPr id="13316" name="页脚占位符 3"/>
          <p:cNvSpPr txBox="1">
            <a:spLocks noGrp="1"/>
          </p:cNvSpPr>
          <p:nvPr>
            <p:ph type="ftr" sz="quarter" idx="10"/>
          </p:nvPr>
        </p:nvSpPr>
        <p:spPr/>
        <p:txBody>
          <a:bodyPr/>
          <a:p>
            <a:pPr marL="0" indent="0" algn="ctr" eaLnBrk="1" hangingPunct="1">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
          <p:cNvSpPr>
            <a:spLocks noGrp="1"/>
          </p:cNvSpPr>
          <p:nvPr>
            <p:ph type="title"/>
          </p:nvPr>
        </p:nvSpPr>
        <p:spPr/>
        <p:txBody>
          <a:bodyPr vert="horz" wrap="square" lIns="91440" tIns="45720" rIns="91440" bIns="45720" anchor="ctr" anchorCtr="0"/>
          <a:p>
            <a:pPr algn="l">
              <a:buClrTx/>
              <a:buSzTx/>
              <a:buFontTx/>
            </a:pPr>
            <a:r>
              <a:rPr lang="en-US" altLang="zh-CN">
                <a:solidFill>
                  <a:srgbClr val="C00000"/>
                </a:solidFill>
                <a:sym typeface="+mn-ea"/>
              </a:rPr>
              <a:t>2.2 </a:t>
            </a:r>
            <a:r>
              <a:rPr lang="zh-CN" altLang="en-US">
                <a:solidFill>
                  <a:srgbClr val="C00000"/>
                </a:solidFill>
                <a:sym typeface="+mn-ea"/>
              </a:rPr>
              <a:t>软件缺陷分类</a:t>
            </a:r>
            <a:endParaRPr lang="zh-CN" altLang="en-US">
              <a:solidFill>
                <a:srgbClr val="C00000"/>
              </a:solidFill>
              <a:latin typeface="+mj-lt"/>
              <a:ea typeface="+mj-ea"/>
              <a:cs typeface="+mj-cs"/>
            </a:endParaRPr>
          </a:p>
        </p:txBody>
      </p:sp>
      <p:sp>
        <p:nvSpPr>
          <p:cNvPr id="14339" name="内容占位符 2"/>
          <p:cNvSpPr>
            <a:spLocks noGrp="1"/>
          </p:cNvSpPr>
          <p:nvPr>
            <p:ph idx="1"/>
          </p:nvPr>
        </p:nvSpPr>
        <p:spPr/>
        <p:txBody>
          <a:bodyPr vert="horz" wrap="square" lIns="91440" tIns="45720" rIns="91440" bIns="45720" anchor="t" anchorCtr="0"/>
          <a:p>
            <a:pPr marL="358775">
              <a:buSzPct val="75000"/>
            </a:pPr>
            <a:r>
              <a:rPr lang="zh-CN" altLang="en-US" dirty="0">
                <a:latin typeface="微软雅黑" panose="020B0503020204020204" charset="-122"/>
                <a:ea typeface="微软雅黑" panose="020B0503020204020204" charset="-122"/>
                <a:cs typeface="+mn-cs"/>
              </a:rPr>
              <a:t>实现与编码缺陷</a:t>
            </a:r>
            <a:endParaRPr lang="en-US" altLang="zh-CN" dirty="0">
              <a:latin typeface="微软雅黑" panose="020B0503020204020204" charset="-122"/>
              <a:ea typeface="微软雅黑" panose="020B0503020204020204" charset="-122"/>
              <a:cs typeface="+mn-cs"/>
            </a:endParaRPr>
          </a:p>
          <a:p>
            <a:pPr lvl="1">
              <a:buSzPct val="70000"/>
            </a:pPr>
            <a:r>
              <a:rPr lang="zh-CN" altLang="en-US" dirty="0">
                <a:latin typeface="楷体" panose="02010609060101010101" pitchFamily="49" charset="-122"/>
                <a:ea typeface="楷体" panose="02010609060101010101" pitchFamily="49" charset="-122"/>
                <a:cs typeface="楷体_GB2312"/>
              </a:rPr>
              <a:t>编码错误</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违背编码风格或标准</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文档有误</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其它实现的问题</a:t>
            </a:r>
            <a:endParaRPr lang="en-US" altLang="zh-CN" dirty="0">
              <a:latin typeface="楷体" panose="02010609060101010101" pitchFamily="49" charset="-122"/>
              <a:ea typeface="楷体" panose="02010609060101010101" pitchFamily="49" charset="-122"/>
              <a:cs typeface="楷体_GB2312"/>
            </a:endParaRPr>
          </a:p>
          <a:p>
            <a:pPr marL="358775">
              <a:buSzPct val="75000"/>
            </a:pPr>
            <a:endParaRPr lang="zh-CN" altLang="en-US" dirty="0">
              <a:latin typeface="微软雅黑" panose="020B0503020204020204" charset="-122"/>
              <a:ea typeface="微软雅黑" panose="020B0503020204020204" charset="-122"/>
              <a:cs typeface="+mn-cs"/>
            </a:endParaRPr>
          </a:p>
        </p:txBody>
      </p:sp>
      <p:sp>
        <p:nvSpPr>
          <p:cNvPr id="14340" name="页脚占位符 3"/>
          <p:cNvSpPr txBox="1">
            <a:spLocks noGrp="1"/>
          </p:cNvSpPr>
          <p:nvPr>
            <p:ph type="ftr" sz="quarter" idx="10"/>
          </p:nvPr>
        </p:nvSpPr>
        <p:spPr/>
        <p:txBody>
          <a:bodyPr/>
          <a:p>
            <a:pPr marL="0" indent="0" algn="ctr" eaLnBrk="1" hangingPunct="1">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标题 1"/>
          <p:cNvSpPr>
            <a:spLocks noGrp="1"/>
          </p:cNvSpPr>
          <p:nvPr>
            <p:ph type="title"/>
          </p:nvPr>
        </p:nvSpPr>
        <p:spPr/>
        <p:txBody>
          <a:bodyPr vert="horz" wrap="square" lIns="91440" tIns="45720" rIns="91440" bIns="45720" anchor="ctr" anchorCtr="0"/>
          <a:p>
            <a:r>
              <a:rPr lang="en-US" altLang="zh-CN">
                <a:solidFill>
                  <a:srgbClr val="C00000"/>
                </a:solidFill>
                <a:sym typeface="+mn-ea"/>
              </a:rPr>
              <a:t>2.2 </a:t>
            </a:r>
            <a:r>
              <a:rPr lang="zh-CN" altLang="en-US">
                <a:solidFill>
                  <a:srgbClr val="C00000"/>
                </a:solidFill>
                <a:sym typeface="+mn-ea"/>
              </a:rPr>
              <a:t>软件缺陷分类</a:t>
            </a:r>
            <a:endParaRPr lang="zh-CN" altLang="en-US" dirty="0">
              <a:latin typeface="+mj-lt"/>
              <a:ea typeface="+mj-ea"/>
              <a:cs typeface="+mj-cs"/>
            </a:endParaRPr>
          </a:p>
        </p:txBody>
      </p:sp>
      <p:sp>
        <p:nvSpPr>
          <p:cNvPr id="15363" name="内容占位符 2"/>
          <p:cNvSpPr>
            <a:spLocks noGrp="1"/>
          </p:cNvSpPr>
          <p:nvPr>
            <p:ph idx="1"/>
          </p:nvPr>
        </p:nvSpPr>
        <p:spPr/>
        <p:txBody>
          <a:bodyPr vert="horz" wrap="square" lIns="91440" tIns="45720" rIns="91440" bIns="45720" anchor="t" anchorCtr="0"/>
          <a:p>
            <a:pPr marL="358775">
              <a:buSzPct val="75000"/>
            </a:pPr>
            <a:r>
              <a:rPr lang="zh-CN" altLang="en-US" dirty="0">
                <a:latin typeface="微软雅黑" panose="020B0503020204020204" charset="-122"/>
                <a:ea typeface="微软雅黑" panose="020B0503020204020204" charset="-122"/>
                <a:cs typeface="+mn-cs"/>
              </a:rPr>
              <a:t>实现与编码缺陷</a:t>
            </a:r>
            <a:endParaRPr lang="en-US" altLang="zh-CN" dirty="0">
              <a:latin typeface="微软雅黑" panose="020B0503020204020204" charset="-122"/>
              <a:ea typeface="微软雅黑" panose="020B0503020204020204" charset="-122"/>
              <a:cs typeface="+mn-cs"/>
            </a:endParaRPr>
          </a:p>
          <a:p>
            <a:pPr lvl="1">
              <a:buSzPct val="70000"/>
            </a:pPr>
            <a:r>
              <a:rPr lang="zh-CN" altLang="en-US" dirty="0">
                <a:latin typeface="楷体" panose="02010609060101010101" pitchFamily="49" charset="-122"/>
                <a:ea typeface="楷体" panose="02010609060101010101" pitchFamily="49" charset="-122"/>
                <a:cs typeface="楷体_GB2312"/>
              </a:rPr>
              <a:t>编码错误</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违背编码风格或标准</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文档有误</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其它实现的问题</a:t>
            </a:r>
            <a:endParaRPr lang="en-US" altLang="zh-CN" dirty="0">
              <a:latin typeface="楷体" panose="02010609060101010101" pitchFamily="49" charset="-122"/>
              <a:ea typeface="楷体" panose="02010609060101010101" pitchFamily="49" charset="-122"/>
              <a:cs typeface="楷体_GB2312"/>
            </a:endParaRPr>
          </a:p>
          <a:p>
            <a:pPr marL="358775">
              <a:buSzPct val="75000"/>
            </a:pPr>
            <a:endParaRPr lang="zh-CN" altLang="en-US" dirty="0">
              <a:latin typeface="微软雅黑" panose="020B0503020204020204" charset="-122"/>
              <a:ea typeface="微软雅黑" panose="020B0503020204020204" charset="-122"/>
              <a:cs typeface="+mn-cs"/>
            </a:endParaRPr>
          </a:p>
        </p:txBody>
      </p:sp>
      <p:sp>
        <p:nvSpPr>
          <p:cNvPr id="15364" name="页脚占位符 3"/>
          <p:cNvSpPr txBox="1">
            <a:spLocks noGrp="1"/>
          </p:cNvSpPr>
          <p:nvPr>
            <p:ph type="ftr" sz="quarter" idx="10"/>
          </p:nvPr>
        </p:nvSpPr>
        <p:spPr/>
        <p:txBody>
          <a:bodyPr/>
          <a:p>
            <a:pPr marL="0" indent="0" algn="ctr" eaLnBrk="1" hangingPunct="1">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
          <p:cNvSpPr>
            <a:spLocks noGrp="1"/>
          </p:cNvSpPr>
          <p:nvPr>
            <p:ph type="title"/>
          </p:nvPr>
        </p:nvSpPr>
        <p:spPr/>
        <p:txBody>
          <a:bodyPr vert="horz" wrap="square" lIns="91440" tIns="45720" rIns="91440" bIns="45720" anchor="ctr" anchorCtr="0"/>
          <a:p>
            <a:r>
              <a:rPr lang="en-US" altLang="zh-CN">
                <a:solidFill>
                  <a:srgbClr val="C00000"/>
                </a:solidFill>
                <a:sym typeface="+mn-ea"/>
              </a:rPr>
              <a:t>2.2 </a:t>
            </a:r>
            <a:r>
              <a:rPr lang="zh-CN" altLang="en-US">
                <a:solidFill>
                  <a:srgbClr val="C00000"/>
                </a:solidFill>
                <a:sym typeface="+mn-ea"/>
              </a:rPr>
              <a:t>软件缺陷分类</a:t>
            </a:r>
            <a:endParaRPr lang="zh-CN" altLang="en-US">
              <a:solidFill>
                <a:srgbClr val="C00000"/>
              </a:solidFill>
              <a:latin typeface="+mj-lt"/>
              <a:ea typeface="+mj-ea"/>
              <a:cs typeface="+mj-cs"/>
            </a:endParaRPr>
          </a:p>
        </p:txBody>
      </p:sp>
      <p:sp>
        <p:nvSpPr>
          <p:cNvPr id="16387" name="内容占位符 2"/>
          <p:cNvSpPr>
            <a:spLocks noGrp="1"/>
          </p:cNvSpPr>
          <p:nvPr>
            <p:ph idx="1"/>
          </p:nvPr>
        </p:nvSpPr>
        <p:spPr/>
        <p:txBody>
          <a:bodyPr vert="horz" wrap="square" lIns="91440" tIns="45720" rIns="91440" bIns="45720" anchor="t" anchorCtr="0"/>
          <a:p>
            <a:pPr marL="358775">
              <a:buSzPct val="75000"/>
            </a:pPr>
            <a:r>
              <a:rPr lang="zh-CN" altLang="en-US" dirty="0">
                <a:latin typeface="微软雅黑" panose="020B0503020204020204" charset="-122"/>
                <a:ea typeface="微软雅黑" panose="020B0503020204020204" charset="-122"/>
                <a:cs typeface="+mn-cs"/>
              </a:rPr>
              <a:t>软件集成缺陷</a:t>
            </a:r>
            <a:endParaRPr lang="en-US" altLang="zh-CN" dirty="0">
              <a:latin typeface="微软雅黑" panose="020B0503020204020204" charset="-122"/>
              <a:ea typeface="微软雅黑" panose="020B0503020204020204" charset="-122"/>
              <a:cs typeface="+mn-cs"/>
            </a:endParaRPr>
          </a:p>
          <a:p>
            <a:pPr lvl="1">
              <a:buSzPct val="70000"/>
            </a:pPr>
            <a:r>
              <a:rPr lang="zh-CN" altLang="en-US" dirty="0">
                <a:latin typeface="楷体" panose="02010609060101010101" pitchFamily="49" charset="-122"/>
                <a:ea typeface="楷体" panose="02010609060101010101" pitchFamily="49" charset="-122"/>
                <a:cs typeface="楷体_GB2312"/>
              </a:rPr>
              <a:t>内部接口错误</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外部接口，时间、吞吐问题</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其他集成错误</a:t>
            </a:r>
            <a:endParaRPr lang="zh-CN" altLang="en-US" dirty="0">
              <a:latin typeface="楷体" panose="02010609060101010101" pitchFamily="49" charset="-122"/>
              <a:ea typeface="楷体" panose="02010609060101010101" pitchFamily="49" charset="-122"/>
              <a:cs typeface="楷体_GB2312"/>
            </a:endParaRPr>
          </a:p>
        </p:txBody>
      </p:sp>
      <p:sp>
        <p:nvSpPr>
          <p:cNvPr id="16388" name="页脚占位符 3"/>
          <p:cNvSpPr txBox="1">
            <a:spLocks noGrp="1"/>
          </p:cNvSpPr>
          <p:nvPr>
            <p:ph type="ftr" sz="quarter" idx="10"/>
          </p:nvPr>
        </p:nvSpPr>
        <p:spPr/>
        <p:txBody>
          <a:bodyPr/>
          <a:p>
            <a:pPr marL="0" indent="0" algn="ctr" eaLnBrk="1" hangingPunct="1">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1"/>
          <p:cNvSpPr>
            <a:spLocks noGrp="1"/>
          </p:cNvSpPr>
          <p:nvPr>
            <p:ph type="title"/>
          </p:nvPr>
        </p:nvSpPr>
        <p:spPr/>
        <p:txBody>
          <a:bodyPr vert="horz" wrap="square" lIns="91440" tIns="45720" rIns="91440" bIns="45720" anchor="ctr" anchorCtr="0"/>
          <a:p>
            <a:r>
              <a:rPr lang="en-US" altLang="zh-CN">
                <a:solidFill>
                  <a:srgbClr val="C00000"/>
                </a:solidFill>
                <a:sym typeface="+mn-ea"/>
              </a:rPr>
              <a:t>2.2 </a:t>
            </a:r>
            <a:r>
              <a:rPr lang="zh-CN" altLang="en-US">
                <a:solidFill>
                  <a:srgbClr val="C00000"/>
                </a:solidFill>
                <a:sym typeface="+mn-ea"/>
              </a:rPr>
              <a:t>软件缺陷分类</a:t>
            </a:r>
            <a:endParaRPr lang="zh-CN" altLang="en-US">
              <a:solidFill>
                <a:srgbClr val="C00000"/>
              </a:solidFill>
              <a:latin typeface="+mj-lt"/>
              <a:ea typeface="+mj-ea"/>
              <a:cs typeface="+mj-cs"/>
            </a:endParaRPr>
          </a:p>
        </p:txBody>
      </p:sp>
      <p:sp>
        <p:nvSpPr>
          <p:cNvPr id="17411" name="内容占位符 2"/>
          <p:cNvSpPr>
            <a:spLocks noGrp="1"/>
          </p:cNvSpPr>
          <p:nvPr>
            <p:ph idx="1"/>
          </p:nvPr>
        </p:nvSpPr>
        <p:spPr/>
        <p:txBody>
          <a:bodyPr vert="horz" wrap="square" lIns="91440" tIns="45720" rIns="91440" bIns="45720" anchor="t" anchorCtr="0"/>
          <a:p>
            <a:pPr marL="358775">
              <a:buSzPct val="75000"/>
            </a:pPr>
            <a:r>
              <a:rPr lang="zh-CN" altLang="en-US" dirty="0">
                <a:latin typeface="微软雅黑" panose="020B0503020204020204" charset="-122"/>
                <a:ea typeface="微软雅黑" panose="020B0503020204020204" charset="-122"/>
                <a:cs typeface="+mn-cs"/>
              </a:rPr>
              <a:t>系统结构缺陷</a:t>
            </a:r>
            <a:endParaRPr lang="en-US" altLang="zh-CN" dirty="0">
              <a:latin typeface="微软雅黑" panose="020B0503020204020204" charset="-122"/>
              <a:ea typeface="微软雅黑" panose="020B0503020204020204" charset="-122"/>
              <a:cs typeface="+mn-cs"/>
            </a:endParaRPr>
          </a:p>
          <a:p>
            <a:pPr lvl="1">
              <a:buSzPct val="70000"/>
            </a:pPr>
            <a:r>
              <a:rPr lang="zh-CN" altLang="en-US" dirty="0">
                <a:latin typeface="楷体" panose="02010609060101010101" pitchFamily="49" charset="-122"/>
                <a:ea typeface="楷体" panose="02010609060101010101" pitchFamily="49" charset="-122"/>
                <a:cs typeface="楷体_GB2312"/>
              </a:rPr>
              <a:t>操作系统引用或使用错误</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软件结构错误</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恢复错误</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执行错误</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诊断错误</a:t>
            </a:r>
            <a:endParaRPr lang="zh-CN" altLang="en-US"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分割覆盖错误</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引用环境错误</a:t>
            </a:r>
            <a:endParaRPr lang="zh-CN" altLang="en-US" dirty="0">
              <a:latin typeface="楷体" panose="02010609060101010101" pitchFamily="49" charset="-122"/>
              <a:ea typeface="楷体" panose="02010609060101010101" pitchFamily="49" charset="-122"/>
              <a:cs typeface="楷体_GB2312"/>
            </a:endParaRPr>
          </a:p>
        </p:txBody>
      </p:sp>
      <p:sp>
        <p:nvSpPr>
          <p:cNvPr id="17412" name="页脚占位符 3"/>
          <p:cNvSpPr txBox="1">
            <a:spLocks noGrp="1"/>
          </p:cNvSpPr>
          <p:nvPr>
            <p:ph type="ftr" sz="quarter" idx="10"/>
          </p:nvPr>
        </p:nvSpPr>
        <p:spPr/>
        <p:txBody>
          <a:bodyPr/>
          <a:p>
            <a:pPr marL="0" indent="0" algn="ctr" eaLnBrk="1" hangingPunct="1">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1"/>
          <p:cNvSpPr>
            <a:spLocks noGrp="1"/>
          </p:cNvSpPr>
          <p:nvPr>
            <p:ph type="title"/>
          </p:nvPr>
        </p:nvSpPr>
        <p:spPr/>
        <p:txBody>
          <a:bodyPr vert="horz" wrap="square" lIns="91440" tIns="45720" rIns="91440" bIns="45720" anchor="ctr" anchorCtr="0"/>
          <a:p>
            <a:r>
              <a:rPr lang="en-US" altLang="zh-CN">
                <a:solidFill>
                  <a:srgbClr val="C00000"/>
                </a:solidFill>
                <a:sym typeface="+mn-ea"/>
              </a:rPr>
              <a:t>2.3 </a:t>
            </a:r>
            <a:r>
              <a:rPr lang="zh-CN" altLang="en-US">
                <a:solidFill>
                  <a:srgbClr val="C00000"/>
                </a:solidFill>
                <a:sym typeface="+mn-ea"/>
              </a:rPr>
              <a:t>程序语义</a:t>
            </a:r>
            <a:r>
              <a:rPr lang="zh-CN" altLang="en-US">
                <a:solidFill>
                  <a:srgbClr val="C00000"/>
                </a:solidFill>
                <a:sym typeface="+mn-ea"/>
              </a:rPr>
              <a:t>缺陷</a:t>
            </a:r>
            <a:endParaRPr lang="zh-CN" altLang="en-US">
              <a:solidFill>
                <a:srgbClr val="C00000"/>
              </a:solidFill>
              <a:sym typeface="+mn-ea"/>
            </a:endParaRPr>
          </a:p>
        </p:txBody>
      </p:sp>
      <p:sp>
        <p:nvSpPr>
          <p:cNvPr id="18435" name="内容占位符 2"/>
          <p:cNvSpPr>
            <a:spLocks noGrp="1"/>
          </p:cNvSpPr>
          <p:nvPr>
            <p:ph idx="1"/>
          </p:nvPr>
        </p:nvSpPr>
        <p:spPr/>
        <p:txBody>
          <a:bodyPr vert="horz" wrap="square" lIns="91440" tIns="45720" rIns="91440" bIns="45720" anchor="t" anchorCtr="0">
            <a:normAutofit/>
          </a:bodyPr>
          <a:p>
            <a:pPr marL="358775">
              <a:buSzPct val="75000"/>
            </a:pPr>
            <a:r>
              <a:rPr lang="zh-CN" altLang="en-US" dirty="0">
                <a:latin typeface="微软雅黑" panose="020B0503020204020204" charset="-122"/>
                <a:ea typeface="微软雅黑" panose="020B0503020204020204" charset="-122"/>
                <a:cs typeface="+mn-cs"/>
              </a:rPr>
              <a:t>程序语义缺陷</a:t>
            </a:r>
            <a:endParaRPr lang="en-US" altLang="zh-CN" dirty="0">
              <a:latin typeface="微软雅黑" panose="020B0503020204020204" charset="-122"/>
              <a:ea typeface="微软雅黑" panose="020B0503020204020204" charset="-122"/>
              <a:cs typeface="+mn-cs"/>
            </a:endParaRPr>
          </a:p>
          <a:p>
            <a:pPr lvl="1">
              <a:buSzPct val="70000"/>
            </a:pPr>
            <a:r>
              <a:rPr lang="zh-CN" altLang="en-US" dirty="0">
                <a:latin typeface="楷体" panose="02010609060101010101" pitchFamily="49" charset="-122"/>
                <a:ea typeface="楷体" panose="02010609060101010101" pitchFamily="49" charset="-122"/>
                <a:cs typeface="楷体_GB2312"/>
              </a:rPr>
              <a:t>空指针引用</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数组越界</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非法计算</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变量未初始化</a:t>
            </a:r>
            <a:r>
              <a:rPr lang="zh-CN" altLang="en-US" dirty="0">
                <a:latin typeface="楷体" panose="02010609060101010101" pitchFamily="49" charset="-122"/>
                <a:ea typeface="楷体" panose="02010609060101010101" pitchFamily="49" charset="-122"/>
                <a:cs typeface="楷体_GB2312"/>
              </a:rPr>
              <a:t>使用</a:t>
            </a:r>
            <a:endParaRPr lang="en-US" altLang="zh-CN"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内存泄漏</a:t>
            </a:r>
            <a:endParaRPr lang="zh-CN" altLang="en-US" dirty="0">
              <a:latin typeface="楷体" panose="02010609060101010101" pitchFamily="49" charset="-122"/>
              <a:ea typeface="楷体" panose="02010609060101010101" pitchFamily="49" charset="-122"/>
              <a:cs typeface="楷体_GB2312"/>
            </a:endParaRPr>
          </a:p>
          <a:p>
            <a:pPr lvl="1">
              <a:buSzPct val="70000"/>
            </a:pPr>
            <a:endParaRPr lang="zh-CN" altLang="en-US" dirty="0">
              <a:latin typeface="楷体" panose="02010609060101010101" pitchFamily="49" charset="-122"/>
              <a:ea typeface="楷体" panose="02010609060101010101" pitchFamily="49" charset="-122"/>
              <a:cs typeface="楷体_GB2312"/>
            </a:endParaRPr>
          </a:p>
        </p:txBody>
      </p:sp>
      <p:sp>
        <p:nvSpPr>
          <p:cNvPr id="18436" name="页脚占位符 3"/>
          <p:cNvSpPr txBox="1">
            <a:spLocks noGrp="1"/>
          </p:cNvSpPr>
          <p:nvPr>
            <p:ph type="ftr" sz="quarter" idx="10"/>
          </p:nvPr>
        </p:nvSpPr>
        <p:spPr/>
        <p:txBody>
          <a:bodyPr/>
          <a:p>
            <a:pPr marL="0" indent="0" algn="ctr" eaLnBrk="1" hangingPunct="1">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2" name="内容占位符 2"/>
          <p:cNvSpPr>
            <a:spLocks noGrp="1"/>
          </p:cNvSpPr>
          <p:nvPr/>
        </p:nvSpPr>
        <p:spPr>
          <a:xfrm>
            <a:off x="6238875" y="1539875"/>
            <a:ext cx="5241925" cy="4638675"/>
          </a:xfrm>
          <a:prstGeom prst="rect">
            <a:avLst/>
          </a:prstGeom>
        </p:spPr>
        <p:txBody>
          <a:bodyPr vert="horz" wrap="square" lIns="91440" tIns="45720" rIns="91440" bIns="45720" rtlCol="0" anchor="t" anchorCtr="0">
            <a:normAutofit/>
          </a:bodyPr>
          <a:lstStyle>
            <a:lvl1pPr marL="228600" indent="-228600" algn="l" defTabSz="914400" rtl="0" eaLnBrk="1" fontAlgn="auto" latinLnBrk="0" hangingPunct="1">
              <a:lnSpc>
                <a:spcPct val="13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fontAlgn="auto" latinLnBrk="0" hangingPunct="1">
              <a:lnSpc>
                <a:spcPct val="13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fontAlgn="auto" latinLnBrk="0" hangingPunct="1">
              <a:lnSpc>
                <a:spcPct val="13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fontAlgn="auto" latinLnBrk="0" hangingPunct="1">
              <a:lnSpc>
                <a:spcPct val="13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fontAlgn="auto" latinLnBrk="0" hangingPunct="1">
              <a:lnSpc>
                <a:spcPct val="13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8775">
              <a:buSzPct val="75000"/>
            </a:pPr>
            <a:r>
              <a:rPr lang="zh-CN" altLang="en-US" dirty="0">
                <a:latin typeface="微软雅黑" panose="020B0503020204020204" charset="-122"/>
                <a:ea typeface="微软雅黑" panose="020B0503020204020204" charset="-122"/>
                <a:cs typeface="+mn-cs"/>
              </a:rPr>
              <a:t>程序语义缺陷</a:t>
            </a:r>
            <a:endParaRPr lang="en-US" altLang="zh-CN" dirty="0">
              <a:latin typeface="微软雅黑" panose="020B0503020204020204" charset="-122"/>
              <a:ea typeface="微软雅黑" panose="020B0503020204020204" charset="-122"/>
              <a:cs typeface="+mn-cs"/>
            </a:endParaRPr>
          </a:p>
          <a:p>
            <a:pPr lvl="1">
              <a:buSzPct val="70000"/>
            </a:pPr>
            <a:r>
              <a:rPr lang="zh-CN" altLang="en-US" dirty="0">
                <a:latin typeface="楷体" panose="02010609060101010101" pitchFamily="49" charset="-122"/>
                <a:ea typeface="楷体" panose="02010609060101010101" pitchFamily="49" charset="-122"/>
                <a:cs typeface="楷体_GB2312"/>
              </a:rPr>
              <a:t>资源</a:t>
            </a:r>
            <a:r>
              <a:rPr lang="zh-CN" altLang="en-US" dirty="0">
                <a:latin typeface="楷体" panose="02010609060101010101" pitchFamily="49" charset="-122"/>
                <a:ea typeface="楷体" panose="02010609060101010101" pitchFamily="49" charset="-122"/>
                <a:cs typeface="楷体_GB2312"/>
              </a:rPr>
              <a:t>泄露</a:t>
            </a:r>
            <a:endParaRPr lang="zh-CN" altLang="en-US"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死循环</a:t>
            </a:r>
            <a:endParaRPr lang="zh-CN" altLang="en-US"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强制类型</a:t>
            </a:r>
            <a:r>
              <a:rPr lang="zh-CN" altLang="en-US" dirty="0">
                <a:latin typeface="楷体" panose="02010609060101010101" pitchFamily="49" charset="-122"/>
                <a:ea typeface="楷体" panose="02010609060101010101" pitchFamily="49" charset="-122"/>
                <a:cs typeface="楷体_GB2312"/>
              </a:rPr>
              <a:t>转换</a:t>
            </a:r>
            <a:endParaRPr lang="zh-CN" altLang="en-US"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整数溢出</a:t>
            </a:r>
            <a:endParaRPr lang="zh-CN" altLang="en-US" dirty="0">
              <a:latin typeface="楷体" panose="02010609060101010101" pitchFamily="49" charset="-122"/>
              <a:ea typeface="楷体" panose="02010609060101010101" pitchFamily="49" charset="-122"/>
              <a:cs typeface="楷体_GB2312"/>
            </a:endParaRPr>
          </a:p>
          <a:p>
            <a:pPr lvl="1">
              <a:buSzPct val="70000"/>
            </a:pPr>
            <a:r>
              <a:rPr lang="zh-CN" altLang="en-US" dirty="0">
                <a:latin typeface="楷体" panose="02010609060101010101" pitchFamily="49" charset="-122"/>
                <a:ea typeface="楷体" panose="02010609060101010101" pitchFamily="49" charset="-122"/>
                <a:cs typeface="楷体_GB2312"/>
              </a:rPr>
              <a:t>悬挂指针</a:t>
            </a:r>
            <a:endParaRPr lang="zh-CN" altLang="en-US" dirty="0">
              <a:latin typeface="楷体" panose="02010609060101010101" pitchFamily="49" charset="-122"/>
              <a:ea typeface="楷体" panose="02010609060101010101" pitchFamily="49" charset="-122"/>
              <a:cs typeface="楷体_GB2312"/>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2.3 </a:t>
            </a:r>
            <a:r>
              <a:rPr lang="zh-CN" altLang="en-US">
                <a:solidFill>
                  <a:srgbClr val="C00000"/>
                </a:solidFill>
                <a:sym typeface="+mn-ea"/>
              </a:rPr>
              <a:t>程序语义缺陷</a:t>
            </a:r>
            <a:r>
              <a:rPr lang="zh-CN" altLang="en-US">
                <a:solidFill>
                  <a:srgbClr val="C00000"/>
                </a:solidFill>
                <a:sym typeface="+mn-ea"/>
              </a:rPr>
              <a:t>：空指针</a:t>
            </a:r>
            <a:r>
              <a:rPr lang="zh-CN" altLang="en-US">
                <a:solidFill>
                  <a:srgbClr val="C00000"/>
                </a:solidFill>
                <a:sym typeface="+mn-ea"/>
              </a:rPr>
              <a:t>引用</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t>在</a:t>
            </a:r>
            <a:r>
              <a:rPr lang="en-US" altLang="zh-CN"/>
              <a:t>C/C++</a:t>
            </a:r>
            <a:r>
              <a:rPr lang="zh-CN" altLang="en-US"/>
              <a:t>语言中可以方便地使用指针。其中一个特殊指针值</a:t>
            </a:r>
            <a:r>
              <a:rPr lang="en-US" altLang="zh-CN"/>
              <a:t>NULL</a:t>
            </a:r>
            <a:r>
              <a:rPr lang="zh-CN" altLang="en-US"/>
              <a:t>被称为空指针，就是指向地址为</a:t>
            </a:r>
            <a:r>
              <a:rPr lang="en-US" altLang="zh-CN"/>
              <a:t>0</a:t>
            </a:r>
            <a:r>
              <a:rPr lang="zh-CN" altLang="en-US"/>
              <a:t>的</a:t>
            </a:r>
            <a:r>
              <a:rPr lang="zh-CN" altLang="en-US"/>
              <a:t>指针。</a:t>
            </a:r>
            <a:endParaRPr lang="zh-CN" altLang="en-US"/>
          </a:p>
          <a:p>
            <a:r>
              <a:rPr lang="zh-CN" altLang="en-US"/>
              <a:t>在</a:t>
            </a:r>
            <a:r>
              <a:rPr lang="en-US" altLang="zh-CN"/>
              <a:t>Java</a:t>
            </a:r>
            <a:r>
              <a:rPr lang="zh-CN" altLang="en-US"/>
              <a:t>语言中，一个对象可能为</a:t>
            </a:r>
            <a:r>
              <a:rPr lang="zh-CN" altLang="en-US"/>
              <a:t>空对象。</a:t>
            </a:r>
            <a:endParaRPr lang="zh-CN" altLang="en-US"/>
          </a:p>
          <a:p>
            <a:r>
              <a:rPr lang="zh-CN" altLang="en-US"/>
              <a:t>对空指针或空对象进行引用时，因为访问了非法的内存，将导致空指针引用，导致运行时异常或者程序非正常</a:t>
            </a:r>
            <a:r>
              <a:rPr lang="zh-CN" altLang="en-US"/>
              <a:t>终止。</a:t>
            </a:r>
            <a:endParaRPr lang="zh-CN" altLang="en-US"/>
          </a:p>
          <a:p>
            <a:endParaRPr lang="zh-CN" altLang="en-US"/>
          </a:p>
          <a:p>
            <a:endParaRPr lang="zh-CN" altLang="en-US"/>
          </a:p>
        </p:txBody>
      </p:sp>
      <p:sp>
        <p:nvSpPr>
          <p:cNvPr id="4" name="云形标注 3"/>
          <p:cNvSpPr/>
          <p:nvPr/>
        </p:nvSpPr>
        <p:spPr>
          <a:xfrm>
            <a:off x="6202045" y="5180330"/>
            <a:ext cx="4520565" cy="1141730"/>
          </a:xfrm>
          <a:prstGeom prst="cloudCallout">
            <a:avLst>
              <a:gd name="adj1" fmla="val -59004"/>
              <a:gd name="adj2" fmla="val -77753"/>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solidFill>
                  <a:srgbClr val="FFFF00"/>
                </a:solidFill>
                <a:latin typeface="微软雅黑" panose="020B0503020204020204" charset="-122"/>
                <a:ea typeface="微软雅黑" panose="020B0503020204020204" charset="-122"/>
              </a:rPr>
              <a:t>思考：如何规避？</a:t>
            </a:r>
            <a:endParaRPr lang="zh-CN" altLang="en-US" sz="2800">
              <a:solidFill>
                <a:srgbClr val="FFFF0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2.3 </a:t>
            </a:r>
            <a:r>
              <a:rPr lang="zh-CN" altLang="en-US">
                <a:solidFill>
                  <a:srgbClr val="C00000"/>
                </a:solidFill>
                <a:sym typeface="+mn-ea"/>
              </a:rPr>
              <a:t>程序语义缺陷</a:t>
            </a:r>
            <a:r>
              <a:rPr lang="zh-CN" altLang="en-US">
                <a:solidFill>
                  <a:srgbClr val="C00000"/>
                </a:solidFill>
                <a:sym typeface="+mn-ea"/>
              </a:rPr>
              <a:t>：</a:t>
            </a:r>
            <a:r>
              <a:rPr lang="zh-CN" altLang="en-US">
                <a:solidFill>
                  <a:srgbClr val="C00000"/>
                </a:solidFill>
                <a:sym typeface="+mn-ea"/>
              </a:rPr>
              <a:t>数组越界</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t>数组或者</a:t>
            </a:r>
            <a:r>
              <a:rPr lang="en-US" altLang="zh-CN"/>
              <a:t>C/C++</a:t>
            </a:r>
            <a:r>
              <a:rPr lang="zh-CN" altLang="en-US"/>
              <a:t>中动态分配的内存都是有大小的，如果超过该界限就认为是</a:t>
            </a:r>
            <a:r>
              <a:rPr lang="zh-CN" altLang="en-US"/>
              <a:t>数组越界。</a:t>
            </a:r>
            <a:endParaRPr lang="zh-CN" altLang="en-US"/>
          </a:p>
          <a:p>
            <a:r>
              <a:rPr lang="zh-CN" altLang="en-US"/>
              <a:t>数组越界时，因为访问了非法的内存，将导致运行时异常或者程序非正常</a:t>
            </a:r>
            <a:r>
              <a:rPr lang="zh-CN" altLang="en-US"/>
              <a:t>终止。</a:t>
            </a:r>
            <a:endParaRPr lang="zh-CN" altLang="en-US"/>
          </a:p>
        </p:txBody>
      </p:sp>
      <p:sp>
        <p:nvSpPr>
          <p:cNvPr id="4" name="云形标注 3"/>
          <p:cNvSpPr/>
          <p:nvPr/>
        </p:nvSpPr>
        <p:spPr>
          <a:xfrm>
            <a:off x="6202045" y="4570095"/>
            <a:ext cx="4520565" cy="1141730"/>
          </a:xfrm>
          <a:prstGeom prst="cloudCallout">
            <a:avLst>
              <a:gd name="adj1" fmla="val -59004"/>
              <a:gd name="adj2" fmla="val -77753"/>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solidFill>
                  <a:srgbClr val="FFFF00"/>
                </a:solidFill>
                <a:latin typeface="微软雅黑" panose="020B0503020204020204" charset="-122"/>
                <a:ea typeface="微软雅黑" panose="020B0503020204020204" charset="-122"/>
              </a:rPr>
              <a:t>思考：如何规避？</a:t>
            </a:r>
            <a:endParaRPr lang="zh-CN" altLang="en-US" sz="2800">
              <a:solidFill>
                <a:srgbClr val="FFFF0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2.3 </a:t>
            </a:r>
            <a:r>
              <a:rPr lang="zh-CN" altLang="en-US">
                <a:solidFill>
                  <a:srgbClr val="C00000"/>
                </a:solidFill>
                <a:sym typeface="+mn-ea"/>
              </a:rPr>
              <a:t>程序语义缺陷</a:t>
            </a:r>
            <a:r>
              <a:rPr lang="zh-CN" altLang="en-US">
                <a:solidFill>
                  <a:srgbClr val="C00000"/>
                </a:solidFill>
                <a:sym typeface="+mn-ea"/>
              </a:rPr>
              <a:t>：</a:t>
            </a:r>
            <a:r>
              <a:rPr lang="zh-CN" altLang="en-US">
                <a:solidFill>
                  <a:srgbClr val="C00000"/>
                </a:solidFill>
                <a:sym typeface="+mn-ea"/>
              </a:rPr>
              <a:t>非法计算</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t>算数运算中的除法运算的除数不能为</a:t>
            </a:r>
            <a:r>
              <a:rPr lang="en-US" altLang="zh-CN"/>
              <a:t>0</a:t>
            </a:r>
            <a:endParaRPr lang="en-US" altLang="zh-CN"/>
          </a:p>
          <a:p>
            <a:pPr lvl="1"/>
            <a:r>
              <a:rPr lang="en-US" altLang="zh-CN" sz="2400"/>
              <a:t>%</a:t>
            </a:r>
            <a:r>
              <a:rPr lang="zh-CN" altLang="en-US" sz="2400"/>
              <a:t>、</a:t>
            </a:r>
            <a:r>
              <a:rPr lang="en-US" altLang="zh-CN" sz="2400"/>
              <a:t>/</a:t>
            </a:r>
            <a:r>
              <a:rPr lang="zh-CN" altLang="en-US" sz="2400"/>
              <a:t>、</a:t>
            </a:r>
            <a:r>
              <a:rPr lang="en-US" altLang="zh-CN" sz="2400"/>
              <a:t>%=</a:t>
            </a:r>
            <a:r>
              <a:rPr lang="zh-CN" altLang="en-US" sz="2400"/>
              <a:t>、</a:t>
            </a:r>
            <a:r>
              <a:rPr lang="en-US" altLang="zh-CN" sz="2400"/>
              <a:t>/=</a:t>
            </a:r>
            <a:endParaRPr lang="en-US" altLang="zh-CN"/>
          </a:p>
          <a:p>
            <a:r>
              <a:rPr lang="zh-CN" altLang="en-US"/>
              <a:t>常用数学函数</a:t>
            </a:r>
            <a:r>
              <a:rPr lang="zh-CN" altLang="en-US"/>
              <a:t>参数不能超出</a:t>
            </a:r>
            <a:r>
              <a:rPr lang="zh-CN" altLang="en-US"/>
              <a:t>定义域</a:t>
            </a:r>
            <a:endParaRPr lang="zh-CN" altLang="en-US"/>
          </a:p>
          <a:p>
            <a:pPr lvl="1"/>
            <a:r>
              <a:rPr lang="en-US" altLang="zh-CN"/>
              <a:t>asin</a:t>
            </a:r>
            <a:r>
              <a:rPr lang="zh-CN" altLang="en-US"/>
              <a:t>、</a:t>
            </a:r>
            <a:r>
              <a:rPr lang="en-US" altLang="zh-CN"/>
              <a:t>acos</a:t>
            </a:r>
            <a:r>
              <a:rPr lang="zh-CN" altLang="en-US"/>
              <a:t>、</a:t>
            </a:r>
            <a:r>
              <a:rPr lang="en-US" altLang="zh-CN"/>
              <a:t>div</a:t>
            </a:r>
            <a:r>
              <a:rPr lang="zh-CN" altLang="en-US"/>
              <a:t>、</a:t>
            </a:r>
            <a:r>
              <a:rPr lang="en-US" altLang="zh-CN"/>
              <a:t>log</a:t>
            </a:r>
            <a:r>
              <a:rPr lang="zh-CN" altLang="en-US"/>
              <a:t>、</a:t>
            </a:r>
            <a:r>
              <a:rPr lang="en-US" altLang="zh-CN"/>
              <a:t>sqrt</a:t>
            </a:r>
            <a:r>
              <a:rPr lang="zh-CN" altLang="en-US"/>
              <a:t>等</a:t>
            </a:r>
            <a:endParaRPr lang="zh-CN" altLang="en-US"/>
          </a:p>
        </p:txBody>
      </p:sp>
      <p:sp>
        <p:nvSpPr>
          <p:cNvPr id="4" name="云形标注 3"/>
          <p:cNvSpPr/>
          <p:nvPr/>
        </p:nvSpPr>
        <p:spPr>
          <a:xfrm>
            <a:off x="6352540" y="4746625"/>
            <a:ext cx="4520565" cy="1141730"/>
          </a:xfrm>
          <a:prstGeom prst="cloudCallout">
            <a:avLst>
              <a:gd name="adj1" fmla="val -59004"/>
              <a:gd name="adj2" fmla="val -77753"/>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solidFill>
                  <a:srgbClr val="FFFF00"/>
                </a:solidFill>
                <a:latin typeface="微软雅黑" panose="020B0503020204020204" charset="-122"/>
                <a:ea typeface="微软雅黑" panose="020B0503020204020204" charset="-122"/>
              </a:rPr>
              <a:t>思考：如何规避？</a:t>
            </a:r>
            <a:endParaRPr lang="zh-CN" altLang="en-US" sz="2800">
              <a:solidFill>
                <a:srgbClr val="FFFF0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2.3 </a:t>
            </a:r>
            <a:r>
              <a:rPr lang="zh-CN" altLang="en-US">
                <a:solidFill>
                  <a:srgbClr val="C00000"/>
                </a:solidFill>
                <a:sym typeface="+mn-ea"/>
              </a:rPr>
              <a:t>程序语义缺陷</a:t>
            </a:r>
            <a:r>
              <a:rPr lang="zh-CN" altLang="en-US">
                <a:solidFill>
                  <a:srgbClr val="C00000"/>
                </a:solidFill>
                <a:sym typeface="+mn-ea"/>
              </a:rPr>
              <a:t>：变量未初始化</a:t>
            </a:r>
            <a:r>
              <a:rPr lang="zh-CN" altLang="en-US">
                <a:solidFill>
                  <a:srgbClr val="C00000"/>
                </a:solidFill>
                <a:sym typeface="+mn-ea"/>
              </a:rPr>
              <a:t>使用</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t>有些程序设计语言，例如</a:t>
            </a:r>
            <a:r>
              <a:rPr lang="en-US" altLang="zh-CN"/>
              <a:t>C/C++</a:t>
            </a:r>
            <a:r>
              <a:rPr lang="zh-CN" altLang="en-US"/>
              <a:t>的变量不会进行自动初始化。未初始化的变量在内存中为不定值，如果使用将会出现无法预计的</a:t>
            </a:r>
            <a:r>
              <a:rPr lang="zh-CN" altLang="en-US"/>
              <a:t>行为。</a:t>
            </a:r>
            <a:endParaRPr lang="zh-CN" altLang="en-US"/>
          </a:p>
          <a:p>
            <a:r>
              <a:rPr lang="zh-CN" altLang="en-US"/>
              <a:t>常见</a:t>
            </a:r>
            <a:r>
              <a:rPr lang="zh-CN" altLang="en-US"/>
              <a:t>类型：</a:t>
            </a:r>
            <a:endParaRPr lang="zh-CN" altLang="en-US"/>
          </a:p>
          <a:p>
            <a:pPr lvl="1"/>
            <a:r>
              <a:rPr lang="zh-CN" altLang="en-US"/>
              <a:t>局部变量未初始化</a:t>
            </a:r>
            <a:r>
              <a:rPr lang="zh-CN" altLang="en-US"/>
              <a:t>使用</a:t>
            </a:r>
            <a:endParaRPr lang="zh-CN" altLang="en-US"/>
          </a:p>
          <a:p>
            <a:pPr lvl="1"/>
            <a:r>
              <a:rPr lang="zh-CN" altLang="en-US"/>
              <a:t>参数未初始化</a:t>
            </a:r>
            <a:r>
              <a:rPr lang="zh-CN" altLang="en-US"/>
              <a:t>使用</a:t>
            </a:r>
            <a:endParaRPr lang="zh-CN" altLang="en-US"/>
          </a:p>
          <a:p>
            <a:pPr lvl="1"/>
            <a:r>
              <a:rPr lang="zh-CN" altLang="en-US"/>
              <a:t>变量未在所有路径上</a:t>
            </a:r>
            <a:r>
              <a:rPr lang="zh-CN" altLang="en-US"/>
              <a:t>初始化</a:t>
            </a:r>
            <a:endParaRPr lang="zh-CN" altLang="en-US"/>
          </a:p>
          <a:p>
            <a:pPr lvl="1"/>
            <a:r>
              <a:rPr lang="zh-CN" altLang="en-US"/>
              <a:t>复合数据类型的成员变量未</a:t>
            </a:r>
            <a:r>
              <a:rPr lang="zh-CN" altLang="en-US"/>
              <a:t>初始化</a:t>
            </a:r>
            <a:endParaRPr lang="zh-CN" altLang="en-US"/>
          </a:p>
        </p:txBody>
      </p:sp>
      <p:sp>
        <p:nvSpPr>
          <p:cNvPr id="4" name="云形标注 3"/>
          <p:cNvSpPr/>
          <p:nvPr/>
        </p:nvSpPr>
        <p:spPr>
          <a:xfrm>
            <a:off x="7139940" y="4198620"/>
            <a:ext cx="4520565" cy="1141730"/>
          </a:xfrm>
          <a:prstGeom prst="cloudCallout">
            <a:avLst>
              <a:gd name="adj1" fmla="val -59004"/>
              <a:gd name="adj2" fmla="val -77753"/>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solidFill>
                  <a:srgbClr val="FFFF00"/>
                </a:solidFill>
                <a:latin typeface="微软雅黑" panose="020B0503020204020204" charset="-122"/>
                <a:ea typeface="微软雅黑" panose="020B0503020204020204" charset="-122"/>
              </a:rPr>
              <a:t>思考：如何规避？</a:t>
            </a:r>
            <a:endParaRPr lang="zh-CN" altLang="en-US" sz="2800">
              <a:solidFill>
                <a:srgbClr val="FFFF0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2.3 </a:t>
            </a:r>
            <a:r>
              <a:rPr lang="zh-CN" altLang="en-US">
                <a:solidFill>
                  <a:srgbClr val="C00000"/>
                </a:solidFill>
                <a:sym typeface="+mn-ea"/>
              </a:rPr>
              <a:t>程序语义缺陷</a:t>
            </a:r>
            <a:r>
              <a:rPr lang="zh-CN" altLang="en-US">
                <a:solidFill>
                  <a:srgbClr val="C00000"/>
                </a:solidFill>
                <a:sym typeface="+mn-ea"/>
              </a:rPr>
              <a:t>：</a:t>
            </a:r>
            <a:r>
              <a:rPr lang="zh-CN" altLang="en-US">
                <a:solidFill>
                  <a:srgbClr val="C00000"/>
                </a:solidFill>
                <a:sym typeface="+mn-ea"/>
              </a:rPr>
              <a:t>内存泄漏</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t>有些程序设计语言，例如</a:t>
            </a:r>
            <a:r>
              <a:rPr lang="en-US" altLang="zh-CN"/>
              <a:t>C/C++</a:t>
            </a:r>
            <a:r>
              <a:rPr lang="zh-CN" altLang="en-US"/>
              <a:t>可以动态分配内存，但是没有垃圾自动回收机制，需要在程序中</a:t>
            </a:r>
            <a:r>
              <a:rPr lang="zh-CN" altLang="en-US"/>
              <a:t>释放。</a:t>
            </a:r>
            <a:endParaRPr lang="zh-CN" altLang="en-US"/>
          </a:p>
          <a:p>
            <a:r>
              <a:rPr lang="zh-CN" altLang="en-US"/>
              <a:t>程序没有释放之前分配给它的内存，这时有些路径上动态内存的引用可能会丢失，导致程序占用内存资源越来越多，最后可能导致服务无法访问等</a:t>
            </a:r>
            <a:r>
              <a:rPr lang="zh-CN" altLang="en-US"/>
              <a:t>故障。</a:t>
            </a:r>
            <a:endParaRPr lang="zh-CN" altLang="en-US"/>
          </a:p>
        </p:txBody>
      </p:sp>
      <p:sp>
        <p:nvSpPr>
          <p:cNvPr id="4" name="云形标注 3"/>
          <p:cNvSpPr/>
          <p:nvPr/>
        </p:nvSpPr>
        <p:spPr>
          <a:xfrm>
            <a:off x="6202045" y="5180330"/>
            <a:ext cx="4520565" cy="1141730"/>
          </a:xfrm>
          <a:prstGeom prst="cloudCallout">
            <a:avLst>
              <a:gd name="adj1" fmla="val -59004"/>
              <a:gd name="adj2" fmla="val -77753"/>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solidFill>
                  <a:srgbClr val="FFFF00"/>
                </a:solidFill>
                <a:latin typeface="微软雅黑" panose="020B0503020204020204" charset="-122"/>
                <a:ea typeface="微软雅黑" panose="020B0503020204020204" charset="-122"/>
              </a:rPr>
              <a:t>思考：如何规避？</a:t>
            </a:r>
            <a:endParaRPr lang="zh-CN" altLang="en-US" sz="2800">
              <a:solidFill>
                <a:srgbClr val="FFFF0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2.3 </a:t>
            </a:r>
            <a:r>
              <a:rPr lang="zh-CN" altLang="en-US">
                <a:solidFill>
                  <a:srgbClr val="C00000"/>
                </a:solidFill>
                <a:sym typeface="+mn-ea"/>
              </a:rPr>
              <a:t>程序语义缺陷</a:t>
            </a:r>
            <a:r>
              <a:rPr lang="zh-CN" altLang="en-US">
                <a:solidFill>
                  <a:srgbClr val="C00000"/>
                </a:solidFill>
                <a:sym typeface="+mn-ea"/>
              </a:rPr>
              <a:t>：</a:t>
            </a:r>
            <a:r>
              <a:rPr lang="zh-CN" altLang="en-US">
                <a:solidFill>
                  <a:srgbClr val="C00000"/>
                </a:solidFill>
                <a:sym typeface="+mn-ea"/>
              </a:rPr>
              <a:t>资源泄漏</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t>程序访问外部的文件、数据库、服务等资源时，需要建立</a:t>
            </a:r>
            <a:r>
              <a:rPr lang="en-US" altLang="zh-CN"/>
              <a:t>Connection</a:t>
            </a:r>
            <a:r>
              <a:rPr lang="zh-CN" altLang="en-US"/>
              <a:t>，每个</a:t>
            </a:r>
            <a:r>
              <a:rPr lang="en-US" altLang="zh-CN"/>
              <a:t>Connection</a:t>
            </a:r>
            <a:r>
              <a:rPr lang="zh-CN" altLang="en-US"/>
              <a:t>将占据一定的</a:t>
            </a:r>
            <a:r>
              <a:rPr lang="zh-CN" altLang="en-US"/>
              <a:t>资源。</a:t>
            </a:r>
            <a:endParaRPr lang="zh-CN" altLang="en-US"/>
          </a:p>
          <a:p>
            <a:r>
              <a:rPr lang="zh-CN" altLang="en-US"/>
              <a:t>如果</a:t>
            </a:r>
            <a:r>
              <a:rPr lang="en-US" altLang="zh-CN"/>
              <a:t>Connection</a:t>
            </a:r>
            <a:r>
              <a:rPr lang="zh-CN" altLang="en-US"/>
              <a:t>没有有效的关闭，将会导致占据的资源越来越多，最后导致软件无法正常提供</a:t>
            </a:r>
            <a:r>
              <a:rPr lang="zh-CN" altLang="en-US"/>
              <a:t>服务。</a:t>
            </a:r>
            <a:endParaRPr lang="zh-CN" altLang="en-US"/>
          </a:p>
        </p:txBody>
      </p:sp>
      <p:sp>
        <p:nvSpPr>
          <p:cNvPr id="4" name="云形标注 3"/>
          <p:cNvSpPr/>
          <p:nvPr/>
        </p:nvSpPr>
        <p:spPr>
          <a:xfrm>
            <a:off x="6202045" y="5180330"/>
            <a:ext cx="4520565" cy="1141730"/>
          </a:xfrm>
          <a:prstGeom prst="cloudCallout">
            <a:avLst>
              <a:gd name="adj1" fmla="val -59004"/>
              <a:gd name="adj2" fmla="val -77753"/>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solidFill>
                  <a:srgbClr val="FFFF00"/>
                </a:solidFill>
                <a:latin typeface="微软雅黑" panose="020B0503020204020204" charset="-122"/>
                <a:ea typeface="微软雅黑" panose="020B0503020204020204" charset="-122"/>
              </a:rPr>
              <a:t>思考：如何规避？</a:t>
            </a:r>
            <a:endParaRPr lang="zh-CN" altLang="en-US" sz="2800">
              <a:solidFill>
                <a:srgbClr val="FFFF0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2.3 </a:t>
            </a:r>
            <a:r>
              <a:rPr lang="zh-CN" altLang="en-US">
                <a:solidFill>
                  <a:srgbClr val="C00000"/>
                </a:solidFill>
                <a:sym typeface="+mn-ea"/>
              </a:rPr>
              <a:t>程序语义缺陷</a:t>
            </a:r>
            <a:r>
              <a:rPr lang="zh-CN" altLang="en-US">
                <a:solidFill>
                  <a:srgbClr val="C00000"/>
                </a:solidFill>
                <a:sym typeface="+mn-ea"/>
              </a:rPr>
              <a:t>：</a:t>
            </a:r>
            <a:r>
              <a:rPr lang="zh-CN" altLang="en-US">
                <a:solidFill>
                  <a:srgbClr val="C00000"/>
                </a:solidFill>
                <a:sym typeface="+mn-ea"/>
              </a:rPr>
              <a:t>死循环</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t>循环没有循环条件或者循环条件不合理，导致循环条件求值永远为</a:t>
            </a:r>
            <a:r>
              <a:rPr lang="en-US" altLang="zh-CN"/>
              <a:t>true</a:t>
            </a:r>
            <a:r>
              <a:rPr lang="zh-CN" altLang="en-US"/>
              <a:t>，成为</a:t>
            </a:r>
            <a:r>
              <a:rPr lang="zh-CN" altLang="en-US"/>
              <a:t>死循环。</a:t>
            </a:r>
            <a:endParaRPr lang="zh-CN" altLang="en-US"/>
          </a:p>
          <a:p>
            <a:r>
              <a:rPr lang="zh-CN" altLang="en-US"/>
              <a:t>直接递归或者间接递归无终止条件，成为</a:t>
            </a:r>
            <a:r>
              <a:rPr lang="zh-CN" altLang="en-US"/>
              <a:t>死循环。</a:t>
            </a:r>
            <a:endParaRPr lang="zh-CN" altLang="en-US"/>
          </a:p>
        </p:txBody>
      </p:sp>
      <p:sp>
        <p:nvSpPr>
          <p:cNvPr id="4" name="云形标注 3"/>
          <p:cNvSpPr/>
          <p:nvPr/>
        </p:nvSpPr>
        <p:spPr>
          <a:xfrm>
            <a:off x="6405880" y="4472940"/>
            <a:ext cx="4520565" cy="1141730"/>
          </a:xfrm>
          <a:prstGeom prst="cloudCallout">
            <a:avLst>
              <a:gd name="adj1" fmla="val -59004"/>
              <a:gd name="adj2" fmla="val -77753"/>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solidFill>
                  <a:srgbClr val="FFFF00"/>
                </a:solidFill>
                <a:latin typeface="微软雅黑" panose="020B0503020204020204" charset="-122"/>
                <a:ea typeface="微软雅黑" panose="020B0503020204020204" charset="-122"/>
              </a:rPr>
              <a:t>思考：如何规避？</a:t>
            </a:r>
            <a:endParaRPr lang="zh-CN" altLang="en-US" sz="2800">
              <a:solidFill>
                <a:srgbClr val="FFFF0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2.3 </a:t>
            </a:r>
            <a:r>
              <a:rPr lang="zh-CN" altLang="en-US">
                <a:solidFill>
                  <a:srgbClr val="C00000"/>
                </a:solidFill>
                <a:sym typeface="+mn-ea"/>
              </a:rPr>
              <a:t>程序语义缺陷</a:t>
            </a:r>
            <a:r>
              <a:rPr lang="zh-CN" altLang="en-US">
                <a:solidFill>
                  <a:srgbClr val="C00000"/>
                </a:solidFill>
                <a:sym typeface="+mn-ea"/>
              </a:rPr>
              <a:t>：强制类型</a:t>
            </a:r>
            <a:r>
              <a:rPr lang="zh-CN" altLang="en-US">
                <a:solidFill>
                  <a:srgbClr val="C00000"/>
                </a:solidFill>
                <a:sym typeface="+mn-ea"/>
              </a:rPr>
              <a:t>转换</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t>高精度数值数据转换为低精度数值数据时精度</a:t>
            </a:r>
            <a:r>
              <a:rPr lang="zh-CN" altLang="en-US"/>
              <a:t>丢失</a:t>
            </a:r>
            <a:endParaRPr lang="zh-CN" altLang="en-US"/>
          </a:p>
          <a:p>
            <a:r>
              <a:rPr lang="zh-CN" altLang="en-US"/>
              <a:t>高精度数值数据转换为低精度数值数据时可能</a:t>
            </a:r>
            <a:r>
              <a:rPr lang="zh-CN" altLang="en-US"/>
              <a:t>溢出</a:t>
            </a:r>
            <a:endParaRPr lang="zh-CN" altLang="en-US"/>
          </a:p>
          <a:p>
            <a:r>
              <a:rPr lang="zh-CN" altLang="en-US"/>
              <a:t>父类对象转换为子类对象时，可能</a:t>
            </a:r>
            <a:r>
              <a:rPr lang="zh-CN" altLang="en-US"/>
              <a:t>类型不匹配</a:t>
            </a:r>
            <a:endParaRPr lang="zh-CN" altLang="en-US"/>
          </a:p>
        </p:txBody>
      </p:sp>
      <p:sp>
        <p:nvSpPr>
          <p:cNvPr id="4" name="云形标注 3"/>
          <p:cNvSpPr/>
          <p:nvPr/>
        </p:nvSpPr>
        <p:spPr>
          <a:xfrm>
            <a:off x="6202045" y="4516755"/>
            <a:ext cx="4520565" cy="1141730"/>
          </a:xfrm>
          <a:prstGeom prst="cloudCallout">
            <a:avLst>
              <a:gd name="adj1" fmla="val -59004"/>
              <a:gd name="adj2" fmla="val -77753"/>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solidFill>
                  <a:srgbClr val="FFFF00"/>
                </a:solidFill>
                <a:latin typeface="微软雅黑" panose="020B0503020204020204" charset="-122"/>
                <a:ea typeface="微软雅黑" panose="020B0503020204020204" charset="-122"/>
              </a:rPr>
              <a:t>思考：如何规避？</a:t>
            </a:r>
            <a:endParaRPr lang="zh-CN" altLang="en-US" sz="2800">
              <a:solidFill>
                <a:srgbClr val="FFFF0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2.3 </a:t>
            </a:r>
            <a:r>
              <a:rPr lang="zh-CN" altLang="en-US">
                <a:solidFill>
                  <a:srgbClr val="C00000"/>
                </a:solidFill>
                <a:sym typeface="+mn-ea"/>
              </a:rPr>
              <a:t>程序语义缺陷</a:t>
            </a:r>
            <a:r>
              <a:rPr lang="zh-CN" altLang="en-US">
                <a:solidFill>
                  <a:srgbClr val="C00000"/>
                </a:solidFill>
                <a:sym typeface="+mn-ea"/>
              </a:rPr>
              <a:t>：</a:t>
            </a:r>
            <a:r>
              <a:rPr lang="zh-CN" altLang="en-US">
                <a:solidFill>
                  <a:srgbClr val="C00000"/>
                </a:solidFill>
                <a:sym typeface="+mn-ea"/>
              </a:rPr>
              <a:t>整数溢出</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t>两个整数进行运算的结果超出了上界或者下</a:t>
            </a:r>
            <a:r>
              <a:rPr lang="zh-CN" altLang="en-US">
                <a:sym typeface="+mn-ea"/>
              </a:rPr>
              <a:t>界</a:t>
            </a:r>
            <a:endParaRPr lang="zh-CN" altLang="en-US"/>
          </a:p>
          <a:p>
            <a:r>
              <a:rPr lang="zh-CN" altLang="en-US"/>
              <a:t>高精度浮点数强制类型转化为整数超过了上界或下</a:t>
            </a:r>
            <a:r>
              <a:rPr lang="zh-CN" altLang="en-US">
                <a:sym typeface="+mn-ea"/>
              </a:rPr>
              <a:t>界</a:t>
            </a:r>
            <a:endParaRPr lang="zh-CN" altLang="en-US"/>
          </a:p>
          <a:p>
            <a:pPr lvl="0"/>
            <a:r>
              <a:rPr lang="zh-CN" altLang="en-US"/>
              <a:t>常见</a:t>
            </a:r>
            <a:r>
              <a:rPr lang="zh-CN" altLang="en-US"/>
              <a:t>例子：</a:t>
            </a:r>
            <a:endParaRPr lang="zh-CN" altLang="en-US"/>
          </a:p>
          <a:p>
            <a:pPr lvl="1"/>
            <a:r>
              <a:rPr lang="zh-CN" altLang="en-US"/>
              <a:t>两个过大的正整数相加、</a:t>
            </a:r>
            <a:r>
              <a:rPr lang="zh-CN" altLang="en-US"/>
              <a:t>相乘</a:t>
            </a:r>
            <a:endParaRPr lang="zh-CN" altLang="en-US"/>
          </a:p>
          <a:p>
            <a:pPr lvl="1"/>
            <a:r>
              <a:rPr lang="zh-CN" altLang="en-US"/>
              <a:t>两个过小的负整数</a:t>
            </a:r>
            <a:r>
              <a:rPr lang="zh-CN" altLang="en-US">
                <a:sym typeface="+mn-ea"/>
              </a:rPr>
              <a:t>相加、相乘</a:t>
            </a:r>
            <a:endParaRPr lang="zh-CN" altLang="en-US"/>
          </a:p>
        </p:txBody>
      </p:sp>
      <p:sp>
        <p:nvSpPr>
          <p:cNvPr id="4" name="云形标注 3"/>
          <p:cNvSpPr/>
          <p:nvPr/>
        </p:nvSpPr>
        <p:spPr>
          <a:xfrm>
            <a:off x="7113270" y="4534535"/>
            <a:ext cx="4520565" cy="1141730"/>
          </a:xfrm>
          <a:prstGeom prst="cloudCallout">
            <a:avLst>
              <a:gd name="adj1" fmla="val -59004"/>
              <a:gd name="adj2" fmla="val -77753"/>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solidFill>
                  <a:srgbClr val="FFFF00"/>
                </a:solidFill>
                <a:latin typeface="微软雅黑" panose="020B0503020204020204" charset="-122"/>
                <a:ea typeface="微软雅黑" panose="020B0503020204020204" charset="-122"/>
              </a:rPr>
              <a:t>思考：如何规避？</a:t>
            </a:r>
            <a:endParaRPr lang="zh-CN" altLang="en-US" sz="2800">
              <a:solidFill>
                <a:srgbClr val="FFFF0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2.3 </a:t>
            </a:r>
            <a:r>
              <a:rPr lang="zh-CN" altLang="en-US">
                <a:solidFill>
                  <a:srgbClr val="C00000"/>
                </a:solidFill>
                <a:sym typeface="+mn-ea"/>
              </a:rPr>
              <a:t>程序语义缺陷</a:t>
            </a:r>
            <a:r>
              <a:rPr lang="zh-CN" altLang="en-US">
                <a:solidFill>
                  <a:srgbClr val="C00000"/>
                </a:solidFill>
                <a:sym typeface="+mn-ea"/>
              </a:rPr>
              <a:t>：</a:t>
            </a:r>
            <a:r>
              <a:rPr lang="zh-CN" altLang="en-US">
                <a:solidFill>
                  <a:srgbClr val="C00000"/>
                </a:solidFill>
                <a:sym typeface="+mn-ea"/>
              </a:rPr>
              <a:t>悬挂指针</a:t>
            </a:r>
            <a:endParaRPr lang="zh-CN" altLang="en-US">
              <a:solidFill>
                <a:srgbClr val="C00000"/>
              </a:solidFill>
              <a:sym typeface="+mn-ea"/>
            </a:endParaRPr>
          </a:p>
        </p:txBody>
      </p:sp>
      <p:sp>
        <p:nvSpPr>
          <p:cNvPr id="3" name="内容占位符 2"/>
          <p:cNvSpPr>
            <a:spLocks noGrp="1"/>
          </p:cNvSpPr>
          <p:nvPr>
            <p:ph idx="1"/>
          </p:nvPr>
        </p:nvSpPr>
        <p:spPr/>
        <p:txBody>
          <a:bodyPr/>
          <a:p>
            <a:r>
              <a:rPr lang="en-US" altLang="zh-CN">
                <a:sym typeface="+mn-ea"/>
              </a:rPr>
              <a:t>C/C++</a:t>
            </a:r>
            <a:r>
              <a:rPr lang="zh-CN" altLang="en-US">
                <a:sym typeface="+mn-ea"/>
              </a:rPr>
              <a:t>可以动态分配内存，动态分配的内存由一个指针指向动态分配内存的首地址。</a:t>
            </a:r>
            <a:endParaRPr lang="zh-CN" altLang="en-US">
              <a:sym typeface="+mn-ea"/>
            </a:endParaRPr>
          </a:p>
          <a:p>
            <a:r>
              <a:rPr lang="zh-CN" altLang="en-US">
                <a:sym typeface="+mn-ea"/>
              </a:rPr>
              <a:t>如果动态分配的内存已经被释放，再去引用该指针，将会造成悬挂指针异常，可能会访问脏数据或者导致程序</a:t>
            </a:r>
            <a:r>
              <a:rPr lang="zh-CN" altLang="en-US">
                <a:sym typeface="+mn-ea"/>
              </a:rPr>
              <a:t>异常。</a:t>
            </a:r>
            <a:endParaRPr lang="zh-CN" altLang="en-US"/>
          </a:p>
        </p:txBody>
      </p:sp>
      <p:sp>
        <p:nvSpPr>
          <p:cNvPr id="4" name="云形标注 3"/>
          <p:cNvSpPr/>
          <p:nvPr/>
        </p:nvSpPr>
        <p:spPr>
          <a:xfrm>
            <a:off x="6388100" y="4516755"/>
            <a:ext cx="4520565" cy="1141730"/>
          </a:xfrm>
          <a:prstGeom prst="cloudCallout">
            <a:avLst>
              <a:gd name="adj1" fmla="val -59004"/>
              <a:gd name="adj2" fmla="val -77753"/>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solidFill>
                  <a:srgbClr val="FFFF00"/>
                </a:solidFill>
                <a:latin typeface="微软雅黑" panose="020B0503020204020204" charset="-122"/>
                <a:ea typeface="微软雅黑" panose="020B0503020204020204" charset="-122"/>
              </a:rPr>
              <a:t>思考：如何规避？</a:t>
            </a:r>
            <a:endParaRPr lang="zh-CN" altLang="en-US" sz="2800">
              <a:solidFill>
                <a:srgbClr val="FFFF0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软件功能性故障模式：输入</a:t>
            </a:r>
            <a:r>
              <a:rPr lang="zh-CN" altLang="en-US">
                <a:solidFill>
                  <a:srgbClr val="C00000"/>
                </a:solidFill>
                <a:sym typeface="+mn-ea"/>
              </a:rPr>
              <a:t>非法数据</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开发人员通常采用以下措施</a:t>
            </a:r>
            <a:r>
              <a:rPr lang="zh-CN" altLang="en-US">
                <a:sym typeface="+mn-ea"/>
              </a:rPr>
              <a:t>处理输入非法数据：</a:t>
            </a:r>
            <a:endParaRPr lang="zh-CN" altLang="en-US">
              <a:sym typeface="+mn-ea"/>
            </a:endParaRPr>
          </a:p>
          <a:p>
            <a:pPr lvl="1"/>
            <a:r>
              <a:rPr lang="zh-CN" altLang="en-US" b="1">
                <a:solidFill>
                  <a:srgbClr val="FF0000"/>
                </a:solidFill>
              </a:rPr>
              <a:t>防止不正确的输入进行软件</a:t>
            </a:r>
            <a:r>
              <a:rPr lang="zh-CN" altLang="en-US"/>
              <a:t>。过滤掉非法输入，只接收</a:t>
            </a:r>
            <a:r>
              <a:rPr lang="zh-CN" altLang="en-US"/>
              <a:t>合法输入</a:t>
            </a:r>
            <a:endParaRPr lang="zh-CN" altLang="en-US"/>
          </a:p>
          <a:p>
            <a:pPr lvl="1"/>
            <a:r>
              <a:rPr lang="zh-CN" altLang="en-US"/>
              <a:t>输入非法数据后，软件提示错误信息，拒绝不正确</a:t>
            </a:r>
            <a:r>
              <a:rPr lang="zh-CN" altLang="en-US"/>
              <a:t>输入</a:t>
            </a:r>
            <a:endParaRPr lang="zh-CN" altLang="en-US"/>
          </a:p>
          <a:p>
            <a:pPr lvl="1"/>
            <a:r>
              <a:rPr lang="zh-CN" altLang="en-US"/>
              <a:t>允许非法输入进入系统并进行处理，软件失效时采用</a:t>
            </a:r>
            <a:r>
              <a:rPr lang="zh-CN" altLang="en-US" b="1">
                <a:solidFill>
                  <a:srgbClr val="FF0000"/>
                </a:solidFill>
              </a:rPr>
              <a:t>异常处理机制</a:t>
            </a:r>
            <a:r>
              <a:rPr lang="zh-CN" altLang="en-US"/>
              <a:t>显示</a:t>
            </a:r>
            <a:r>
              <a:rPr lang="zh-CN" altLang="en-US"/>
              <a:t>错误信息</a:t>
            </a:r>
            <a:endParaRPr lang="zh-CN" altLang="en-US"/>
          </a:p>
          <a:p>
            <a:pPr lvl="0"/>
            <a:r>
              <a:rPr lang="zh-CN" altLang="en-US"/>
              <a:t>如果没有采取上述措施，导致非法输入进入系统将可能导致软件</a:t>
            </a:r>
            <a:r>
              <a:rPr lang="zh-CN" altLang="en-US"/>
              <a:t>故障</a:t>
            </a:r>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软件功能性故障模式：输入</a:t>
            </a:r>
            <a:r>
              <a:rPr lang="zh-CN" altLang="en-US">
                <a:solidFill>
                  <a:srgbClr val="C00000"/>
                </a:solidFill>
                <a:sym typeface="+mn-ea"/>
              </a:rPr>
              <a:t>非法数据</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如何发现输入非法数据缺陷？</a:t>
            </a:r>
            <a:endParaRPr lang="zh-CN" altLang="en-US">
              <a:sym typeface="+mn-ea"/>
            </a:endParaRPr>
          </a:p>
          <a:p>
            <a:r>
              <a:rPr lang="zh-CN" altLang="en-US"/>
              <a:t>主要从三点考虑</a:t>
            </a:r>
            <a:r>
              <a:rPr lang="zh-CN" altLang="en-US"/>
              <a:t>输入数据：</a:t>
            </a:r>
            <a:endParaRPr lang="zh-CN" altLang="en-US"/>
          </a:p>
          <a:p>
            <a:pPr lvl="1"/>
            <a:r>
              <a:rPr lang="zh-CN" altLang="en-US" b="1">
                <a:solidFill>
                  <a:srgbClr val="FF0000"/>
                </a:solidFill>
              </a:rPr>
              <a:t>输入类型</a:t>
            </a:r>
            <a:r>
              <a:rPr lang="zh-CN" altLang="en-US"/>
              <a:t>：输入无效的类型会产生</a:t>
            </a:r>
            <a:r>
              <a:rPr lang="zh-CN" altLang="en-US"/>
              <a:t>错误信息</a:t>
            </a:r>
            <a:endParaRPr lang="zh-CN" altLang="en-US"/>
          </a:p>
          <a:p>
            <a:pPr lvl="1"/>
            <a:r>
              <a:rPr lang="zh-CN" altLang="en-US" b="1">
                <a:solidFill>
                  <a:srgbClr val="FF0000"/>
                </a:solidFill>
              </a:rPr>
              <a:t>输入长度</a:t>
            </a:r>
            <a:endParaRPr lang="zh-CN" altLang="en-US"/>
          </a:p>
          <a:p>
            <a:pPr lvl="1"/>
            <a:r>
              <a:rPr lang="zh-CN" altLang="en-US" b="1">
                <a:solidFill>
                  <a:srgbClr val="FF0000"/>
                </a:solidFill>
              </a:rPr>
              <a:t>边界值</a:t>
            </a:r>
            <a:r>
              <a:rPr lang="zh-CN" altLang="en-US"/>
              <a:t>：输入边界值或超过边界值的</a:t>
            </a:r>
            <a:r>
              <a:rPr lang="zh-CN" altLang="en-US"/>
              <a:t>数据</a:t>
            </a:r>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软件功能性故障模式：输入</a:t>
            </a:r>
            <a:r>
              <a:rPr lang="zh-CN" altLang="en-US">
                <a:solidFill>
                  <a:srgbClr val="C00000"/>
                </a:solidFill>
                <a:sym typeface="+mn-ea"/>
              </a:rPr>
              <a:t>非法数据</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输入非法数据缺陷</a:t>
            </a:r>
            <a:r>
              <a:rPr lang="zh-CN" altLang="en-US">
                <a:sym typeface="+mn-ea"/>
              </a:rPr>
              <a:t>的测试方法：</a:t>
            </a:r>
            <a:endParaRPr lang="zh-CN" altLang="en-US"/>
          </a:p>
        </p:txBody>
      </p:sp>
      <p:graphicFrame>
        <p:nvGraphicFramePr>
          <p:cNvPr id="4" name="表格 3"/>
          <p:cNvGraphicFramePr/>
          <p:nvPr>
            <p:custDataLst>
              <p:tags r:id="rId1"/>
            </p:custDataLst>
          </p:nvPr>
        </p:nvGraphicFramePr>
        <p:xfrm>
          <a:off x="1191895" y="2438400"/>
          <a:ext cx="9914255" cy="3068320"/>
        </p:xfrm>
        <a:graphic>
          <a:graphicData uri="http://schemas.openxmlformats.org/drawingml/2006/table">
            <a:tbl>
              <a:tblPr firstRow="1" bandRow="1">
                <a:tableStyleId>{BC89EF96-8CEA-46FF-86C4-4CE0E7609802}</a:tableStyleId>
              </a:tblPr>
              <a:tblGrid>
                <a:gridCol w="2651125"/>
                <a:gridCol w="7263130"/>
              </a:tblGrid>
              <a:tr h="64579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indent="0" fontAlgn="auto">
                        <a:spcBef>
                          <a:spcPts val="600"/>
                        </a:spcBef>
                        <a:spcAft>
                          <a:spcPts val="600"/>
                        </a:spcAft>
                        <a:buNone/>
                      </a:pPr>
                      <a:r>
                        <a:rPr lang="en-US" altLang="zh-CN" sz="2400" b="0">
                          <a:latin typeface="微软雅黑" panose="020B0503020204020204" charset="-122"/>
                          <a:ea typeface="微软雅黑" panose="020B0503020204020204" charset="-122"/>
                          <a:cs typeface="微软雅黑" panose="020B0503020204020204" charset="-122"/>
                        </a:rPr>
                        <a:t>GUI</a:t>
                      </a:r>
                      <a:r>
                        <a:rPr lang="zh-CN" altLang="en-US" sz="2400" b="0">
                          <a:latin typeface="微软雅黑" panose="020B0503020204020204" charset="-122"/>
                          <a:ea typeface="微软雅黑" panose="020B0503020204020204" charset="-122"/>
                          <a:cs typeface="微软雅黑" panose="020B0503020204020204" charset="-122"/>
                        </a:rPr>
                        <a:t>的输入</a:t>
                      </a:r>
                      <a:endParaRPr lang="zh-CN" altLang="en-US" sz="2400" b="0">
                        <a:latin typeface="微软雅黑" panose="020B0503020204020204" charset="-122"/>
                        <a:ea typeface="微软雅黑" panose="020B0503020204020204" charset="-122"/>
                        <a:cs typeface="微软雅黑" panose="020B0503020204020204" charset="-122"/>
                      </a:endParaRPr>
                    </a:p>
                  </a:txBody>
                  <a:tcPr anchor="ctr" anchorCtr="0"/>
                </a:tc>
              </a:tr>
              <a:tr h="11474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从输入数据的类型、长度、边界值等方面考虑设计</a:t>
                      </a:r>
                      <a:endParaRPr lang="zh-CN" altLang="en-US" sz="2400" b="0">
                        <a:latin typeface="微软雅黑" panose="020B0503020204020204" charset="-122"/>
                        <a:ea typeface="微软雅黑" panose="020B0503020204020204" charset="-122"/>
                      </a:endParaRPr>
                    </a:p>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测试用例</a:t>
                      </a:r>
                      <a:endParaRPr lang="zh-CN" altLang="en-US" sz="2400" b="0">
                        <a:latin typeface="微软雅黑" panose="020B0503020204020204" charset="-122"/>
                        <a:ea typeface="微软雅黑" panose="020B0503020204020204" charset="-122"/>
                      </a:endParaRPr>
                    </a:p>
                  </a:txBody>
                  <a:tcPr anchor="ctr" anchorCtr="0"/>
                </a:tc>
              </a:tr>
              <a:tr h="63817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测试信息检查</a:t>
                      </a:r>
                      <a:endParaRPr lang="zh-CN" altLang="en-US" sz="2400" b="0">
                        <a:latin typeface="微软雅黑" panose="020B0503020204020204" charset="-122"/>
                        <a:ea typeface="微软雅黑" panose="020B0503020204020204" charset="-122"/>
                      </a:endParaRPr>
                    </a:p>
                  </a:txBody>
                  <a:tcPr anchor="ctr" anchorCtr="0"/>
                </a:tc>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错误信息和错误要一致</a:t>
                      </a:r>
                      <a:endParaRPr lang="zh-CN" altLang="en-US" sz="2400" b="0">
                        <a:latin typeface="微软雅黑" panose="020B0503020204020204" charset="-122"/>
                        <a:ea typeface="微软雅黑" panose="020B0503020204020204" charset="-122"/>
                      </a:endParaRPr>
                    </a:p>
                  </a:txBody>
                  <a:tcPr anchor="ctr" anchorCtr="0"/>
                </a:tc>
              </a:tr>
              <a:tr h="63690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牢记各输入数据类型的边界值</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软件功能性故障模式：输入</a:t>
            </a:r>
            <a:r>
              <a:rPr lang="zh-CN" altLang="en-US">
                <a:solidFill>
                  <a:srgbClr val="C00000"/>
                </a:solidFill>
                <a:sym typeface="+mn-ea"/>
              </a:rPr>
              <a:t>默认值</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输入</a:t>
            </a:r>
            <a:r>
              <a:rPr lang="zh-CN" altLang="en-US">
                <a:sym typeface="+mn-ea"/>
              </a:rPr>
              <a:t>默认值缺陷产生</a:t>
            </a:r>
            <a:r>
              <a:rPr lang="zh-CN" altLang="en-US">
                <a:sym typeface="+mn-ea"/>
              </a:rPr>
              <a:t>原因：</a:t>
            </a:r>
            <a:endParaRPr lang="zh-CN" altLang="en-US">
              <a:sym typeface="+mn-ea"/>
            </a:endParaRPr>
          </a:p>
          <a:p>
            <a:pPr lvl="1"/>
            <a:r>
              <a:rPr lang="zh-CN" altLang="en-US"/>
              <a:t>软件中的变量必须先赋值</a:t>
            </a:r>
            <a:r>
              <a:rPr lang="zh-CN" altLang="en-US"/>
              <a:t>再使用，如果赋值前使用将导致软件</a:t>
            </a:r>
            <a:r>
              <a:rPr lang="zh-CN" altLang="en-US"/>
              <a:t>失效</a:t>
            </a:r>
            <a:endParaRPr lang="zh-CN" altLang="en-US"/>
          </a:p>
          <a:p>
            <a:pPr lvl="1"/>
            <a:r>
              <a:rPr lang="zh-CN" altLang="en-US"/>
              <a:t>但是开发人员可能忘记赋值，或者有些路径上没有</a:t>
            </a:r>
            <a:r>
              <a:rPr lang="zh-CN" altLang="en-US"/>
              <a:t>赋值</a:t>
            </a:r>
            <a:endParaRPr lang="zh-CN" altLang="en-US"/>
          </a:p>
          <a:p>
            <a:pPr lvl="1"/>
            <a:r>
              <a:rPr lang="zh-CN" altLang="en-US"/>
              <a:t>开发人员有时不确定赋什么样的初值，随便进行赋</a:t>
            </a:r>
            <a:r>
              <a:rPr lang="zh-CN" altLang="en-US"/>
              <a:t>初值</a:t>
            </a: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软件功能性故障模式：输入</a:t>
            </a:r>
            <a:r>
              <a:rPr lang="zh-CN" altLang="en-US">
                <a:solidFill>
                  <a:srgbClr val="C00000"/>
                </a:solidFill>
                <a:sym typeface="+mn-ea"/>
              </a:rPr>
              <a:t>默认值</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如何发现输入默认值缺陷？一些</a:t>
            </a:r>
            <a:r>
              <a:rPr lang="zh-CN" altLang="en-US">
                <a:sym typeface="+mn-ea"/>
              </a:rPr>
              <a:t>原则：</a:t>
            </a:r>
            <a:endParaRPr lang="zh-CN" altLang="en-US">
              <a:sym typeface="+mn-ea"/>
            </a:endParaRPr>
          </a:p>
          <a:p>
            <a:pPr lvl="1"/>
            <a:r>
              <a:rPr lang="zh-CN" altLang="en-US">
                <a:sym typeface="+mn-ea"/>
              </a:rPr>
              <a:t>查找选项按钮、配置面板、安装屏幕</a:t>
            </a:r>
            <a:r>
              <a:rPr lang="zh-CN" altLang="en-US">
                <a:sym typeface="+mn-ea"/>
              </a:rPr>
              <a:t>等</a:t>
            </a:r>
            <a:endParaRPr lang="zh-CN" altLang="en-US">
              <a:sym typeface="+mn-ea"/>
            </a:endParaRPr>
          </a:p>
          <a:p>
            <a:pPr lvl="2"/>
            <a:r>
              <a:rPr lang="zh-CN" altLang="en-US">
                <a:sym typeface="+mn-ea"/>
              </a:rPr>
              <a:t>这种屏幕上显示的数据常常在应用程序的许多地方用到</a:t>
            </a:r>
            <a:endParaRPr lang="zh-CN" altLang="en-US">
              <a:sym typeface="+mn-ea"/>
            </a:endParaRPr>
          </a:p>
          <a:p>
            <a:pPr lvl="1"/>
            <a:r>
              <a:rPr lang="zh-CN" altLang="en-US">
                <a:sym typeface="+mn-ea"/>
              </a:rPr>
              <a:t>查阅源代码的数据声明</a:t>
            </a:r>
            <a:r>
              <a:rPr lang="zh-CN" altLang="en-US">
                <a:sym typeface="+mn-ea"/>
              </a:rPr>
              <a:t>部分</a:t>
            </a:r>
            <a:endParaRPr lang="zh-CN" altLang="en-US">
              <a:sym typeface="+mn-ea"/>
            </a:endParaRPr>
          </a:p>
          <a:p>
            <a:pPr lvl="1"/>
            <a:r>
              <a:rPr lang="zh-CN" altLang="en-US">
                <a:sym typeface="+mn-ea"/>
              </a:rPr>
              <a:t>确定了要测试的数据，可以通过以下操作来强制使用或不适用</a:t>
            </a:r>
            <a:r>
              <a:rPr lang="zh-CN" altLang="en-US">
                <a:sym typeface="+mn-ea"/>
              </a:rPr>
              <a:t>默认值：</a:t>
            </a:r>
            <a:endParaRPr lang="zh-CN" altLang="en-US">
              <a:sym typeface="+mn-ea"/>
            </a:endParaRPr>
          </a:p>
          <a:p>
            <a:pPr lvl="2"/>
            <a:r>
              <a:rPr lang="zh-CN" altLang="en-US">
                <a:sym typeface="+mn-ea"/>
              </a:rPr>
              <a:t>接受软件显示的</a:t>
            </a:r>
            <a:r>
              <a:rPr lang="zh-CN" altLang="en-US">
                <a:sym typeface="+mn-ea"/>
              </a:rPr>
              <a:t>默认值</a:t>
            </a:r>
            <a:endParaRPr lang="zh-CN" altLang="en-US">
              <a:sym typeface="+mn-ea"/>
            </a:endParaRPr>
          </a:p>
          <a:p>
            <a:pPr lvl="2"/>
            <a:r>
              <a:rPr lang="zh-CN" altLang="en-US">
                <a:sym typeface="+mn-ea"/>
              </a:rPr>
              <a:t>键入</a:t>
            </a:r>
            <a:r>
              <a:rPr lang="zh-CN" altLang="en-US">
                <a:sym typeface="+mn-ea"/>
              </a:rPr>
              <a:t>空值</a:t>
            </a:r>
            <a:endParaRPr lang="zh-CN" altLang="en-US">
              <a:sym typeface="+mn-ea"/>
            </a:endParaRPr>
          </a:p>
          <a:p>
            <a:pPr lvl="2"/>
            <a:r>
              <a:rPr lang="zh-CN" altLang="en-US">
                <a:sym typeface="+mn-ea"/>
              </a:rPr>
              <a:t>将默认值改为另一个值，使程序以不同的值</a:t>
            </a:r>
            <a:r>
              <a:rPr lang="zh-CN" altLang="en-US">
                <a:sym typeface="+mn-ea"/>
              </a:rPr>
              <a:t>运行</a:t>
            </a:r>
            <a:endParaRPr lang="zh-CN" altLang="en-US">
              <a:sym typeface="+mn-ea"/>
            </a:endParaRPr>
          </a:p>
          <a:p>
            <a:pPr lvl="2"/>
            <a:r>
              <a:rPr lang="zh-CN" altLang="en-US">
                <a:sym typeface="+mn-ea"/>
              </a:rPr>
              <a:t>将输入值改为另一个值，然后再变为</a:t>
            </a:r>
            <a:r>
              <a:rPr lang="zh-CN" altLang="en-US">
                <a:sym typeface="+mn-ea"/>
              </a:rPr>
              <a:t>空值</a:t>
            </a:r>
            <a:endParaRPr lang="zh-CN" altLang="en-US">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软件功能性故障模式：输入</a:t>
            </a:r>
            <a:r>
              <a:rPr lang="zh-CN" altLang="en-US">
                <a:solidFill>
                  <a:srgbClr val="C00000"/>
                </a:solidFill>
                <a:sym typeface="+mn-ea"/>
              </a:rPr>
              <a:t>默认值</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输入</a:t>
            </a:r>
            <a:r>
              <a:rPr lang="zh-CN" altLang="en-US">
                <a:sym typeface="+mn-ea"/>
              </a:rPr>
              <a:t>默认值缺陷</a:t>
            </a:r>
            <a:r>
              <a:rPr lang="zh-CN" altLang="en-US">
                <a:sym typeface="+mn-ea"/>
              </a:rPr>
              <a:t>的测试方法：</a:t>
            </a:r>
            <a:endParaRPr lang="zh-CN" altLang="en-US"/>
          </a:p>
        </p:txBody>
      </p:sp>
      <p:graphicFrame>
        <p:nvGraphicFramePr>
          <p:cNvPr id="5" name="表格 4"/>
          <p:cNvGraphicFramePr/>
          <p:nvPr>
            <p:custDataLst>
              <p:tags r:id="rId1"/>
            </p:custDataLst>
          </p:nvPr>
        </p:nvGraphicFramePr>
        <p:xfrm>
          <a:off x="1058545" y="2509520"/>
          <a:ext cx="9914255" cy="2881630"/>
        </p:xfrm>
        <a:graphic>
          <a:graphicData uri="http://schemas.openxmlformats.org/drawingml/2006/table">
            <a:tbl>
              <a:tblPr firstRow="1" bandRow="1">
                <a:tableStyleId>{BC89EF96-8CEA-46FF-86C4-4CE0E7609802}</a:tableStyleId>
              </a:tblPr>
              <a:tblGrid>
                <a:gridCol w="2651125"/>
                <a:gridCol w="7263130"/>
              </a:tblGrid>
              <a:tr h="71120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sym typeface="+mn-ea"/>
                        </a:rPr>
                        <a:t>需要有默认值的地方</a:t>
                      </a:r>
                      <a:endParaRPr lang="zh-CN" altLang="en-US" sz="2400" b="0">
                        <a:latin typeface="微软雅黑" panose="020B0503020204020204" charset="-122"/>
                        <a:ea typeface="微软雅黑" panose="020B0503020204020204" charset="-122"/>
                      </a:endParaRPr>
                    </a:p>
                  </a:txBody>
                  <a:tcPr anchor="ctr" anchorCtr="0"/>
                </a:tc>
              </a:tr>
              <a:tr h="126428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indent="0" fontAlgn="auto">
                        <a:spcBef>
                          <a:spcPts val="600"/>
                        </a:spcBef>
                        <a:spcAft>
                          <a:spcPts val="600"/>
                        </a:spcAft>
                        <a:buNone/>
                      </a:pPr>
                      <a:r>
                        <a:rPr lang="zh-CN" altLang="en-US" sz="2400">
                          <a:latin typeface="微软雅黑" panose="020B0503020204020204" charset="-122"/>
                          <a:ea typeface="微软雅黑" panose="020B0503020204020204" charset="-122"/>
                          <a:sym typeface="+mn-ea"/>
                        </a:rPr>
                        <a:t>分别从选项按钮、配置面板、安装配置、初始界面等方面进行考虑，强制使用或不使用默认值等</a:t>
                      </a:r>
                      <a:endParaRPr lang="zh-CN" altLang="en-US" sz="2400" b="0">
                        <a:latin typeface="微软雅黑" panose="020B0503020204020204" charset="-122"/>
                        <a:ea typeface="微软雅黑" panose="020B0503020204020204" charset="-122"/>
                      </a:endParaRPr>
                    </a:p>
                  </a:txBody>
                  <a:tcPr anchor="ctr" anchorCtr="0"/>
                </a:tc>
              </a:tr>
              <a:tr h="9061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indent="0" fontAlgn="auto">
                        <a:spcBef>
                          <a:spcPts val="600"/>
                        </a:spcBef>
                        <a:spcAft>
                          <a:spcPts val="600"/>
                        </a:spcAft>
                        <a:buNone/>
                      </a:pPr>
                      <a:r>
                        <a:rPr lang="zh-CN" altLang="en-US" sz="2400">
                          <a:latin typeface="微软雅黑" panose="020B0503020204020204" charset="-122"/>
                          <a:ea typeface="微软雅黑" panose="020B0503020204020204" charset="-122"/>
                          <a:sym typeface="+mn-ea"/>
                        </a:rPr>
                        <a:t>全面理解需求规格说明书中对默认值的要求，同时深刻理解被测软件的行业背景</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软件功能性故障模式：输入</a:t>
            </a:r>
            <a:r>
              <a:rPr lang="zh-CN" altLang="en-US">
                <a:solidFill>
                  <a:srgbClr val="C00000"/>
                </a:solidFill>
                <a:sym typeface="+mn-ea"/>
              </a:rPr>
              <a:t>特殊字符集</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应用程序接收到字符串的输入，如果程序没有对特殊输入进行特殊编程，则可能导致程序挂起，主要包括以下</a:t>
            </a:r>
            <a:r>
              <a:rPr lang="en-US" altLang="zh-CN">
                <a:sym typeface="+mn-ea"/>
              </a:rPr>
              <a:t>3</a:t>
            </a:r>
            <a:r>
              <a:rPr lang="zh-CN" altLang="en-US">
                <a:sym typeface="+mn-ea"/>
              </a:rPr>
              <a:t>种情况：</a:t>
            </a:r>
            <a:endParaRPr lang="zh-CN" altLang="en-US">
              <a:sym typeface="+mn-ea"/>
            </a:endParaRPr>
          </a:p>
          <a:p>
            <a:pPr lvl="1"/>
            <a:r>
              <a:rPr lang="zh-CN" altLang="en-US">
                <a:sym typeface="+mn-ea"/>
              </a:rPr>
              <a:t>字符集包括普通字符和特殊字符。例如</a:t>
            </a:r>
            <a:r>
              <a:rPr lang="en-US" altLang="zh-CN">
                <a:sym typeface="+mn-ea"/>
              </a:rPr>
              <a:t>ASCII</a:t>
            </a:r>
            <a:r>
              <a:rPr lang="zh-CN" altLang="en-US">
                <a:sym typeface="+mn-ea"/>
              </a:rPr>
              <a:t>码</a:t>
            </a:r>
            <a:endParaRPr lang="zh-CN" altLang="en-US">
              <a:sym typeface="+mn-ea"/>
            </a:endParaRPr>
          </a:p>
          <a:p>
            <a:pPr lvl="1"/>
            <a:r>
              <a:rPr lang="zh-CN" altLang="en-US">
                <a:sym typeface="+mn-ea"/>
              </a:rPr>
              <a:t>某些程序设计语言有特定的处理一些字符和字符串额方法。例如</a:t>
            </a:r>
            <a:r>
              <a:rPr lang="en-US" altLang="zh-CN">
                <a:sym typeface="+mn-ea"/>
              </a:rPr>
              <a:t>C</a:t>
            </a:r>
            <a:r>
              <a:rPr lang="zh-CN" altLang="en-US">
                <a:sym typeface="+mn-ea"/>
              </a:rPr>
              <a:t>语言把</a:t>
            </a:r>
            <a:r>
              <a:rPr lang="en-US" altLang="zh-CN">
                <a:sym typeface="+mn-ea"/>
              </a:rPr>
              <a:t>\n</a:t>
            </a:r>
            <a:r>
              <a:rPr lang="zh-CN" altLang="en-US">
                <a:sym typeface="+mn-ea"/>
              </a:rPr>
              <a:t>、</a:t>
            </a:r>
            <a:r>
              <a:rPr lang="en-US" altLang="zh-CN">
                <a:sym typeface="+mn-ea"/>
              </a:rPr>
              <a:t>++</a:t>
            </a:r>
            <a:r>
              <a:rPr lang="zh-CN" altLang="en-US">
                <a:sym typeface="+mn-ea"/>
              </a:rPr>
              <a:t>这样的字符用于</a:t>
            </a:r>
            <a:r>
              <a:rPr lang="zh-CN" altLang="en-US">
                <a:sym typeface="+mn-ea"/>
              </a:rPr>
              <a:t>特殊目的</a:t>
            </a:r>
            <a:endParaRPr lang="zh-CN" altLang="en-US">
              <a:sym typeface="+mn-ea"/>
            </a:endParaRPr>
          </a:p>
          <a:p>
            <a:pPr lvl="1"/>
            <a:r>
              <a:rPr lang="zh-CN" altLang="en-US">
                <a:sym typeface="+mn-ea"/>
              </a:rPr>
              <a:t>应用程序有时也使用设置名称、系统对象和程序的保存字符串</a:t>
            </a:r>
            <a:r>
              <a:rPr lang="zh-CN" altLang="en-US">
                <a:sym typeface="+mn-ea"/>
              </a:rPr>
              <a:t>集合</a:t>
            </a:r>
            <a:endParaRPr lang="zh-CN" altLang="en-US">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软件功能性故障模式：输入</a:t>
            </a:r>
            <a:r>
              <a:rPr lang="zh-CN" altLang="en-US">
                <a:solidFill>
                  <a:srgbClr val="C00000"/>
                </a:solidFill>
                <a:sym typeface="+mn-ea"/>
              </a:rPr>
              <a:t>特殊字符集</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如何发现输入</a:t>
            </a:r>
            <a:r>
              <a:rPr lang="zh-CN" altLang="en-US">
                <a:sym typeface="+mn-ea"/>
              </a:rPr>
              <a:t>特殊字符集</a:t>
            </a:r>
            <a:r>
              <a:rPr lang="zh-CN" altLang="en-US">
                <a:sym typeface="+mn-ea"/>
              </a:rPr>
              <a:t>缺陷：</a:t>
            </a:r>
            <a:endParaRPr lang="zh-CN" altLang="en-US">
              <a:sym typeface="+mn-ea"/>
            </a:endParaRPr>
          </a:p>
          <a:p>
            <a:pPr lvl="1"/>
            <a:r>
              <a:rPr lang="zh-CN" altLang="en-US"/>
              <a:t>根据被测软件所处的操作系统、使用的程序设计语言、字符集等信息列出表格，通过测试小组的讨论，标明应用表格中的哪些字符和数据类型作为输入来测试。</a:t>
            </a:r>
            <a:endParaRPr lang="zh-CN" altLang="en-US"/>
          </a:p>
          <a:p>
            <a:pPr lvl="1"/>
            <a:r>
              <a:rPr lang="zh-CN" altLang="en-US"/>
              <a:t>根据经历，软件很少会因为这种操作而崩溃，通常它会挂起没有响应。</a:t>
            </a:r>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软件功能性故障模式：输入</a:t>
            </a:r>
            <a:r>
              <a:rPr lang="zh-CN" altLang="en-US">
                <a:solidFill>
                  <a:srgbClr val="C00000"/>
                </a:solidFill>
                <a:sym typeface="+mn-ea"/>
              </a:rPr>
              <a:t>特殊字符集</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输入</a:t>
            </a:r>
            <a:r>
              <a:rPr lang="zh-CN" altLang="en-US">
                <a:sym typeface="+mn-ea"/>
              </a:rPr>
              <a:t>特殊字符集</a:t>
            </a:r>
            <a:r>
              <a:rPr lang="zh-CN" altLang="en-US">
                <a:sym typeface="+mn-ea"/>
              </a:rPr>
              <a:t>缺陷</a:t>
            </a:r>
            <a:r>
              <a:rPr lang="zh-CN" altLang="en-US">
                <a:sym typeface="+mn-ea"/>
              </a:rPr>
              <a:t>的测试方法：</a:t>
            </a:r>
            <a:endParaRPr lang="zh-CN" altLang="en-US"/>
          </a:p>
        </p:txBody>
      </p:sp>
      <p:graphicFrame>
        <p:nvGraphicFramePr>
          <p:cNvPr id="5" name="表格 4"/>
          <p:cNvGraphicFramePr/>
          <p:nvPr>
            <p:custDataLst>
              <p:tags r:id="rId1"/>
            </p:custDataLst>
          </p:nvPr>
        </p:nvGraphicFramePr>
        <p:xfrm>
          <a:off x="1076325" y="2473960"/>
          <a:ext cx="9914255" cy="2748280"/>
        </p:xfrm>
        <a:graphic>
          <a:graphicData uri="http://schemas.openxmlformats.org/drawingml/2006/table">
            <a:tbl>
              <a:tblPr firstRow="1" bandRow="1">
                <a:tableStyleId>{BC89EF96-8CEA-46FF-86C4-4CE0E7609802}</a:tableStyleId>
              </a:tblPr>
              <a:tblGrid>
                <a:gridCol w="2651125"/>
                <a:gridCol w="7263130"/>
              </a:tblGrid>
              <a:tr h="71120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b="0">
                          <a:latin typeface="微软雅黑" panose="020B0503020204020204" charset="-122"/>
                          <a:ea typeface="微软雅黑" panose="020B0503020204020204" charset="-122"/>
                          <a:sym typeface="+mn-ea"/>
                        </a:rPr>
                        <a:t>需要</a:t>
                      </a:r>
                      <a:r>
                        <a:rPr lang="zh-CN" altLang="en-US" sz="2400" b="0">
                          <a:latin typeface="微软雅黑" panose="020B0503020204020204" charset="-122"/>
                          <a:ea typeface="微软雅黑" panose="020B0503020204020204" charset="-122"/>
                          <a:sym typeface="+mn-ea"/>
                        </a:rPr>
                        <a:t>接受字符输入的地方</a:t>
                      </a:r>
                      <a:endParaRPr lang="zh-CN" altLang="en-US" sz="2400" b="0">
                        <a:latin typeface="微软雅黑" panose="020B0503020204020204" charset="-122"/>
                        <a:ea typeface="微软雅黑" panose="020B0503020204020204" charset="-122"/>
                      </a:endParaRPr>
                    </a:p>
                  </a:txBody>
                  <a:tcPr anchor="ctr" anchorCtr="0"/>
                </a:tc>
              </a:tr>
              <a:tr h="8483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根据被测软件的具体情况输入非法字符</a:t>
                      </a:r>
                      <a:endParaRPr lang="zh-CN" altLang="en-US" sz="2400" b="0">
                        <a:latin typeface="微软雅黑" panose="020B0503020204020204" charset="-122"/>
                        <a:ea typeface="微软雅黑" panose="020B0503020204020204" charset="-122"/>
                      </a:endParaRPr>
                    </a:p>
                  </a:txBody>
                  <a:tcPr anchor="ctr" anchorCtr="0"/>
                </a:tc>
              </a:tr>
              <a:tr h="9061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尽可能多地了多地了解字符集、程序设计语言和操作系统中的保存字符串及其特定含义，可以使我们更好地分辨这类缺陷</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3600">
                <a:solidFill>
                  <a:srgbClr val="C00000"/>
                </a:solidFill>
                <a:sym typeface="+mn-ea"/>
              </a:rPr>
              <a:t>2.4 </a:t>
            </a:r>
            <a:r>
              <a:rPr lang="zh-CN" altLang="en-US" sz="3600">
                <a:solidFill>
                  <a:srgbClr val="C00000"/>
                </a:solidFill>
                <a:sym typeface="+mn-ea"/>
              </a:rPr>
              <a:t>软件功能性故障模式：输入使缓冲区溢出</a:t>
            </a:r>
            <a:r>
              <a:rPr lang="zh-CN" altLang="en-US" sz="3600">
                <a:solidFill>
                  <a:srgbClr val="C00000"/>
                </a:solidFill>
                <a:sym typeface="+mn-ea"/>
              </a:rPr>
              <a:t>的数据</a:t>
            </a:r>
            <a:endParaRPr lang="zh-CN" altLang="en-US" sz="3600">
              <a:solidFill>
                <a:srgbClr val="C00000"/>
              </a:solidFill>
              <a:sym typeface="+mn-ea"/>
            </a:endParaRPr>
          </a:p>
        </p:txBody>
      </p:sp>
      <p:sp>
        <p:nvSpPr>
          <p:cNvPr id="3" name="内容占位符 2"/>
          <p:cNvSpPr>
            <a:spLocks noGrp="1"/>
          </p:cNvSpPr>
          <p:nvPr>
            <p:ph idx="1"/>
          </p:nvPr>
        </p:nvSpPr>
        <p:spPr/>
        <p:txBody>
          <a:bodyPr/>
          <a:p>
            <a:r>
              <a:rPr lang="zh-CN" altLang="en-US">
                <a:sym typeface="+mn-ea"/>
              </a:rPr>
              <a:t>输入使缓冲区溢出</a:t>
            </a:r>
            <a:r>
              <a:rPr lang="zh-CN" altLang="en-US">
                <a:sym typeface="+mn-ea"/>
              </a:rPr>
              <a:t>的数据缺陷产生</a:t>
            </a:r>
            <a:r>
              <a:rPr lang="zh-CN" altLang="en-US">
                <a:sym typeface="+mn-ea"/>
              </a:rPr>
              <a:t>原因：</a:t>
            </a:r>
            <a:endParaRPr lang="zh-CN" altLang="en-US">
              <a:sym typeface="+mn-ea"/>
            </a:endParaRPr>
          </a:p>
          <a:p>
            <a:pPr lvl="1"/>
            <a:r>
              <a:rPr lang="zh-CN" altLang="en-US"/>
              <a:t>开发人员没有考虑传送给存缓冲区的字符串的大小。</a:t>
            </a:r>
            <a:endParaRPr lang="zh-CN" altLang="en-US"/>
          </a:p>
          <a:p>
            <a:pPr lvl="1"/>
            <a:r>
              <a:rPr lang="zh-CN" altLang="en-US"/>
              <a:t>如果缓冲区只能保存固定长度的字符串，输入更长的字符串就会改写其他的存存储单元，引起操作系统强制性地终止应用程序。</a:t>
            </a:r>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3600">
                <a:solidFill>
                  <a:srgbClr val="C00000"/>
                </a:solidFill>
                <a:sym typeface="+mn-ea"/>
              </a:rPr>
              <a:t>2.4 </a:t>
            </a:r>
            <a:r>
              <a:rPr lang="zh-CN" altLang="en-US" sz="3600">
                <a:solidFill>
                  <a:srgbClr val="C00000"/>
                </a:solidFill>
                <a:sym typeface="+mn-ea"/>
              </a:rPr>
              <a:t>软件功能性故障模式：输入使缓冲区溢出的数据</a:t>
            </a:r>
            <a:endParaRPr lang="zh-CN" altLang="en-US" sz="3600">
              <a:solidFill>
                <a:srgbClr val="C00000"/>
              </a:solidFill>
              <a:sym typeface="+mn-ea"/>
            </a:endParaRPr>
          </a:p>
        </p:txBody>
      </p:sp>
      <p:sp>
        <p:nvSpPr>
          <p:cNvPr id="3" name="内容占位符 2"/>
          <p:cNvSpPr>
            <a:spLocks noGrp="1"/>
          </p:cNvSpPr>
          <p:nvPr>
            <p:ph idx="1"/>
          </p:nvPr>
        </p:nvSpPr>
        <p:spPr/>
        <p:txBody>
          <a:bodyPr>
            <a:normAutofit lnSpcReduction="20000"/>
          </a:bodyPr>
          <a:p>
            <a:pPr>
              <a:lnSpc>
                <a:spcPts val="3580"/>
              </a:lnSpc>
            </a:pPr>
            <a:r>
              <a:rPr lang="zh-CN" altLang="en-US">
                <a:sym typeface="+mn-ea"/>
              </a:rPr>
              <a:t>如何发现输入</a:t>
            </a:r>
            <a:r>
              <a:rPr lang="zh-CN" altLang="en-US">
                <a:sym typeface="+mn-ea"/>
              </a:rPr>
              <a:t>使缓冲区溢出的</a:t>
            </a:r>
            <a:r>
              <a:rPr lang="zh-CN" altLang="en-US">
                <a:sym typeface="+mn-ea"/>
              </a:rPr>
              <a:t>数据缺陷：</a:t>
            </a:r>
            <a:endParaRPr lang="zh-CN" altLang="en-US">
              <a:sym typeface="+mn-ea"/>
            </a:endParaRPr>
          </a:p>
          <a:p>
            <a:pPr lvl="1">
              <a:lnSpc>
                <a:spcPts val="3580"/>
              </a:lnSpc>
            </a:pPr>
            <a:r>
              <a:rPr lang="zh-CN" altLang="en-US"/>
              <a:t>当应用程序允许输入字母、数字时，通过GUI 控件[如文本框]，或者通过API 调用的参数来进行这种测试。</a:t>
            </a:r>
            <a:endParaRPr lang="zh-CN" altLang="en-US"/>
          </a:p>
          <a:p>
            <a:pPr lvl="1">
              <a:lnSpc>
                <a:spcPts val="3580"/>
              </a:lnSpc>
            </a:pPr>
            <a:r>
              <a:rPr lang="zh-CN" altLang="en-US"/>
              <a:t>首先弄清楚要测试的输入域的长度，输入最大字符串测试。</a:t>
            </a:r>
            <a:endParaRPr lang="zh-CN" altLang="en-US"/>
          </a:p>
          <a:p>
            <a:pPr lvl="1">
              <a:lnSpc>
                <a:spcPts val="3580"/>
              </a:lnSpc>
            </a:pPr>
            <a:r>
              <a:rPr lang="zh-CN" altLang="en-US"/>
              <a:t>输入一个比最大字符串长的字符串，应用程序可能出现错误提示信息，提示不允许输入；或者输入了更长的字符串使应用程序崩溃。</a:t>
            </a: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3600">
                <a:solidFill>
                  <a:srgbClr val="C00000"/>
                </a:solidFill>
                <a:sym typeface="+mn-ea"/>
              </a:rPr>
              <a:t>2.4 </a:t>
            </a:r>
            <a:r>
              <a:rPr lang="zh-CN" altLang="en-US" sz="3600">
                <a:solidFill>
                  <a:srgbClr val="C00000"/>
                </a:solidFill>
                <a:sym typeface="+mn-ea"/>
              </a:rPr>
              <a:t>软件功能性故障模式：输入使缓冲区溢出的数据</a:t>
            </a:r>
            <a:endParaRPr lang="zh-CN" altLang="en-US" sz="3600">
              <a:solidFill>
                <a:srgbClr val="C00000"/>
              </a:solidFill>
              <a:sym typeface="+mn-ea"/>
            </a:endParaRPr>
          </a:p>
        </p:txBody>
      </p:sp>
      <p:sp>
        <p:nvSpPr>
          <p:cNvPr id="3" name="内容占位符 2"/>
          <p:cNvSpPr>
            <a:spLocks noGrp="1"/>
          </p:cNvSpPr>
          <p:nvPr>
            <p:ph idx="1"/>
          </p:nvPr>
        </p:nvSpPr>
        <p:spPr/>
        <p:txBody>
          <a:bodyPr/>
          <a:p>
            <a:r>
              <a:rPr lang="zh-CN" altLang="en-US">
                <a:sym typeface="+mn-ea"/>
              </a:rPr>
              <a:t>输入</a:t>
            </a:r>
            <a:r>
              <a:rPr lang="zh-CN" altLang="en-US">
                <a:sym typeface="+mn-ea"/>
              </a:rPr>
              <a:t>使缓冲区溢出的</a:t>
            </a:r>
            <a:r>
              <a:rPr lang="zh-CN" altLang="en-US">
                <a:sym typeface="+mn-ea"/>
              </a:rPr>
              <a:t>数据缺陷</a:t>
            </a:r>
            <a:r>
              <a:rPr lang="zh-CN" altLang="en-US">
                <a:sym typeface="+mn-ea"/>
              </a:rPr>
              <a:t>的测试方法：</a:t>
            </a:r>
            <a:endParaRPr lang="zh-CN" altLang="en-US"/>
          </a:p>
        </p:txBody>
      </p:sp>
      <p:graphicFrame>
        <p:nvGraphicFramePr>
          <p:cNvPr id="5" name="表格 4"/>
          <p:cNvGraphicFramePr/>
          <p:nvPr>
            <p:custDataLst>
              <p:tags r:id="rId1"/>
            </p:custDataLst>
          </p:nvPr>
        </p:nvGraphicFramePr>
        <p:xfrm>
          <a:off x="1138555" y="2465070"/>
          <a:ext cx="9914255" cy="2748280"/>
        </p:xfrm>
        <a:graphic>
          <a:graphicData uri="http://schemas.openxmlformats.org/drawingml/2006/table">
            <a:tbl>
              <a:tblPr firstRow="1" bandRow="1">
                <a:tableStyleId>{BC89EF96-8CEA-46FF-86C4-4CE0E7609802}</a:tableStyleId>
              </a:tblPr>
              <a:tblGrid>
                <a:gridCol w="2651125"/>
                <a:gridCol w="7263130"/>
              </a:tblGrid>
              <a:tr h="71120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b="0">
                          <a:latin typeface="微软雅黑" panose="020B0503020204020204" charset="-122"/>
                          <a:ea typeface="微软雅黑" panose="020B0503020204020204" charset="-122"/>
                          <a:sym typeface="+mn-ea"/>
                        </a:rPr>
                        <a:t>需要</a:t>
                      </a:r>
                      <a:r>
                        <a:rPr lang="zh-CN" altLang="en-US" sz="2400" b="0">
                          <a:latin typeface="微软雅黑" panose="020B0503020204020204" charset="-122"/>
                          <a:ea typeface="微软雅黑" panose="020B0503020204020204" charset="-122"/>
                          <a:sym typeface="+mn-ea"/>
                        </a:rPr>
                        <a:t>接受字符输入的地方</a:t>
                      </a:r>
                      <a:endParaRPr lang="zh-CN" altLang="en-US" sz="2400" b="0">
                        <a:latin typeface="微软雅黑" panose="020B0503020204020204" charset="-122"/>
                        <a:ea typeface="微软雅黑" panose="020B0503020204020204" charset="-122"/>
                      </a:endParaRPr>
                    </a:p>
                  </a:txBody>
                  <a:tcPr anchor="ctr" anchorCtr="0"/>
                </a:tc>
              </a:tr>
              <a:tr h="8483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根据被测软件的具体情况输入最大字符串或输入一个比最大字符串更长的字符串</a:t>
                      </a:r>
                      <a:endParaRPr lang="zh-CN" altLang="en-US" sz="2400" b="0">
                        <a:latin typeface="微软雅黑" panose="020B0503020204020204" charset="-122"/>
                        <a:ea typeface="微软雅黑" panose="020B0503020204020204" charset="-122"/>
                      </a:endParaRPr>
                    </a:p>
                  </a:txBody>
                  <a:tcPr anchor="ctr" anchorCtr="0"/>
                </a:tc>
              </a:tr>
              <a:tr h="9061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尽可能多地和开发人员讨论，以了解和确定输入域的合理度</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Autofit/>
          </a:bodyPr>
          <a:p>
            <a:r>
              <a:rPr lang="en-US" altLang="zh-CN" sz="3200">
                <a:solidFill>
                  <a:srgbClr val="C00000"/>
                </a:solidFill>
                <a:sym typeface="+mn-ea"/>
              </a:rPr>
              <a:t>2.4 </a:t>
            </a:r>
            <a:r>
              <a:rPr lang="zh-CN" altLang="en-US" sz="3200">
                <a:solidFill>
                  <a:srgbClr val="C00000"/>
                </a:solidFill>
                <a:sym typeface="+mn-ea"/>
              </a:rPr>
              <a:t>软件功能性故障模式：输入产生错误的合法数据组合</a:t>
            </a:r>
            <a:endParaRPr lang="zh-CN" altLang="en-US" sz="3200">
              <a:solidFill>
                <a:srgbClr val="C00000"/>
              </a:solidFill>
              <a:sym typeface="+mn-ea"/>
            </a:endParaRPr>
          </a:p>
        </p:txBody>
      </p:sp>
      <p:sp>
        <p:nvSpPr>
          <p:cNvPr id="3" name="内容占位符 2"/>
          <p:cNvSpPr>
            <a:spLocks noGrp="1"/>
          </p:cNvSpPr>
          <p:nvPr>
            <p:ph idx="1"/>
          </p:nvPr>
        </p:nvSpPr>
        <p:spPr/>
        <p:txBody>
          <a:bodyPr/>
          <a:p>
            <a:r>
              <a:rPr lang="zh-CN" altLang="en-US">
                <a:sym typeface="+mn-ea"/>
              </a:rPr>
              <a:t>输入产生错误的合法数据</a:t>
            </a:r>
            <a:r>
              <a:rPr lang="zh-CN" altLang="en-US">
                <a:sym typeface="+mn-ea"/>
              </a:rPr>
              <a:t>组合缺陷产生</a:t>
            </a:r>
            <a:r>
              <a:rPr lang="zh-CN" altLang="en-US">
                <a:sym typeface="+mn-ea"/>
              </a:rPr>
              <a:t>原因：</a:t>
            </a:r>
            <a:endParaRPr lang="zh-CN" altLang="en-US">
              <a:sym typeface="+mn-ea"/>
            </a:endParaRPr>
          </a:p>
          <a:p>
            <a:pPr lvl="1"/>
            <a:r>
              <a:rPr lang="zh-CN" altLang="en-US"/>
              <a:t>测试多个输入值的组合，每个输入值已被单独测试过，但是这些值的组合可能会互相影响而引起软件失效。</a:t>
            </a:r>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Autofit/>
          </a:bodyPr>
          <a:p>
            <a:r>
              <a:rPr lang="en-US" altLang="zh-CN" sz="3200">
                <a:solidFill>
                  <a:srgbClr val="C00000"/>
                </a:solidFill>
                <a:sym typeface="+mn-ea"/>
              </a:rPr>
              <a:t>2.4 </a:t>
            </a:r>
            <a:r>
              <a:rPr lang="zh-CN" altLang="en-US" sz="3200">
                <a:solidFill>
                  <a:srgbClr val="C00000"/>
                </a:solidFill>
                <a:sym typeface="+mn-ea"/>
              </a:rPr>
              <a:t>软件功能性故障模式：输入产生错误的合法数据组合</a:t>
            </a:r>
            <a:endParaRPr lang="zh-CN" altLang="en-US" sz="3200">
              <a:solidFill>
                <a:srgbClr val="C00000"/>
              </a:solidFill>
              <a:sym typeface="+mn-ea"/>
            </a:endParaRPr>
          </a:p>
        </p:txBody>
      </p:sp>
      <p:sp>
        <p:nvSpPr>
          <p:cNvPr id="3" name="内容占位符 2"/>
          <p:cNvSpPr>
            <a:spLocks noGrp="1"/>
          </p:cNvSpPr>
          <p:nvPr>
            <p:ph idx="1"/>
          </p:nvPr>
        </p:nvSpPr>
        <p:spPr/>
        <p:txBody>
          <a:bodyPr>
            <a:normAutofit/>
          </a:bodyPr>
          <a:p>
            <a:r>
              <a:rPr lang="zh-CN" altLang="en-US">
                <a:sym typeface="+mn-ea"/>
              </a:rPr>
              <a:t>如何发现输入</a:t>
            </a:r>
            <a:r>
              <a:rPr lang="zh-CN" altLang="en-US">
                <a:sym typeface="+mn-ea"/>
              </a:rPr>
              <a:t>产生错误的合法数据组合</a:t>
            </a:r>
            <a:r>
              <a:rPr lang="zh-CN" altLang="en-US">
                <a:sym typeface="+mn-ea"/>
              </a:rPr>
              <a:t>缺陷：</a:t>
            </a:r>
            <a:endParaRPr lang="zh-CN" altLang="en-US">
              <a:sym typeface="+mn-ea"/>
            </a:endParaRPr>
          </a:p>
          <a:p>
            <a:pPr lvl="1"/>
            <a:r>
              <a:rPr lang="zh-CN" altLang="en-US"/>
              <a:t>首先要确定测试哪些输入组合，并弄清楚它们之间的</a:t>
            </a:r>
            <a:r>
              <a:rPr lang="en-US" altLang="zh-CN"/>
              <a:t>“</a:t>
            </a:r>
            <a:r>
              <a:rPr lang="zh-CN" altLang="en-US" b="1">
                <a:solidFill>
                  <a:srgbClr val="FF0000"/>
                </a:solidFill>
              </a:rPr>
              <a:t>关系</a:t>
            </a:r>
            <a:r>
              <a:rPr lang="en-US" altLang="zh-CN"/>
              <a:t>”</a:t>
            </a:r>
            <a:r>
              <a:rPr lang="zh-CN" altLang="en-US"/>
              <a:t>。如果具备以下任一特性，就可以认为这些变量是有"关系</a:t>
            </a:r>
            <a:r>
              <a:rPr lang="en-US" altLang="zh-CN">
                <a:sym typeface="+mn-ea"/>
              </a:rPr>
              <a:t>”</a:t>
            </a:r>
            <a:r>
              <a:rPr lang="zh-CN" altLang="en-US"/>
              <a:t>的。</a:t>
            </a:r>
            <a:endParaRPr lang="zh-CN" altLang="en-US"/>
          </a:p>
          <a:p>
            <a:pPr lvl="2"/>
            <a:r>
              <a:rPr lang="zh-CN" altLang="en-US" sz="2200" b="1">
                <a:solidFill>
                  <a:srgbClr val="FF0000"/>
                </a:solidFill>
              </a:rPr>
              <a:t>描述的是有关单个部数据结构的属性和内容</a:t>
            </a:r>
            <a:r>
              <a:rPr lang="zh-CN" altLang="en-US" sz="2200"/>
              <a:t>。例如，输入面板需要用户输入列表的"行"和"列"，这时测试人员要输入单个内部数据结构"列表</a:t>
            </a:r>
            <a:r>
              <a:rPr lang="en-US" altLang="zh-CN" sz="2200">
                <a:sym typeface="+mn-ea"/>
              </a:rPr>
              <a:t>”</a:t>
            </a:r>
            <a:r>
              <a:rPr lang="zh-CN" altLang="en-US" sz="2200"/>
              <a:t>的属性"行和列”。</a:t>
            </a:r>
            <a:endParaRPr lang="zh-CN" altLang="en-US" sz="2200"/>
          </a:p>
          <a:p>
            <a:pPr lvl="2"/>
            <a:r>
              <a:rPr lang="zh-CN" altLang="en-US" sz="2200" b="1">
                <a:solidFill>
                  <a:srgbClr val="FF0000"/>
                </a:solidFill>
              </a:rPr>
              <a:t>一起用在了一个计算中</a:t>
            </a:r>
            <a:r>
              <a:rPr lang="zh-CN" altLang="en-US" sz="2200"/>
              <a:t>，也就是将多个输入用做一个部计算的操作数，因此这些输入变量具有了相互"关系</a:t>
            </a:r>
            <a:r>
              <a:rPr lang="en-US" altLang="zh-CN" sz="2200"/>
              <a:t>”</a:t>
            </a:r>
            <a:r>
              <a:rPr lang="zh-CN" altLang="en-US" sz="2200"/>
              <a:t>。</a:t>
            </a:r>
            <a:endParaRPr lang="zh-CN" altLang="en-US" sz="22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Autofit/>
          </a:bodyPr>
          <a:p>
            <a:r>
              <a:rPr lang="en-US" altLang="zh-CN" sz="3200">
                <a:solidFill>
                  <a:srgbClr val="C00000"/>
                </a:solidFill>
                <a:sym typeface="+mn-ea"/>
              </a:rPr>
              <a:t>2.4 </a:t>
            </a:r>
            <a:r>
              <a:rPr lang="zh-CN" altLang="en-US" sz="3200">
                <a:solidFill>
                  <a:srgbClr val="C00000"/>
                </a:solidFill>
                <a:sym typeface="+mn-ea"/>
              </a:rPr>
              <a:t>软件功能性故障模式：输入产生错误的合法数据组合</a:t>
            </a:r>
            <a:endParaRPr lang="zh-CN" altLang="en-US" sz="3200">
              <a:solidFill>
                <a:srgbClr val="C00000"/>
              </a:solidFill>
              <a:sym typeface="+mn-ea"/>
            </a:endParaRPr>
          </a:p>
        </p:txBody>
      </p:sp>
      <p:sp>
        <p:nvSpPr>
          <p:cNvPr id="3" name="内容占位符 2"/>
          <p:cNvSpPr>
            <a:spLocks noGrp="1"/>
          </p:cNvSpPr>
          <p:nvPr>
            <p:ph idx="1"/>
          </p:nvPr>
        </p:nvSpPr>
        <p:spPr/>
        <p:txBody>
          <a:bodyPr/>
          <a:p>
            <a:r>
              <a:rPr lang="zh-CN" altLang="en-US">
                <a:sym typeface="+mn-ea"/>
              </a:rPr>
              <a:t>输入</a:t>
            </a:r>
            <a:r>
              <a:rPr lang="zh-CN" altLang="en-US">
                <a:sym typeface="+mn-ea"/>
              </a:rPr>
              <a:t>产生错误的合法数据组合</a:t>
            </a:r>
            <a:r>
              <a:rPr lang="zh-CN" altLang="en-US">
                <a:sym typeface="+mn-ea"/>
              </a:rPr>
              <a:t>缺陷</a:t>
            </a:r>
            <a:r>
              <a:rPr lang="zh-CN" altLang="en-US">
                <a:sym typeface="+mn-ea"/>
              </a:rPr>
              <a:t>的测试方法：</a:t>
            </a:r>
            <a:endParaRPr lang="zh-CN" altLang="en-US"/>
          </a:p>
        </p:txBody>
      </p:sp>
      <p:graphicFrame>
        <p:nvGraphicFramePr>
          <p:cNvPr id="5" name="表格 4"/>
          <p:cNvGraphicFramePr/>
          <p:nvPr>
            <p:custDataLst>
              <p:tags r:id="rId1"/>
            </p:custDataLst>
          </p:nvPr>
        </p:nvGraphicFramePr>
        <p:xfrm>
          <a:off x="1200150" y="2456815"/>
          <a:ext cx="9914255" cy="2748280"/>
        </p:xfrm>
        <a:graphic>
          <a:graphicData uri="http://schemas.openxmlformats.org/drawingml/2006/table">
            <a:tbl>
              <a:tblPr firstRow="1" bandRow="1">
                <a:tableStyleId>{BC89EF96-8CEA-46FF-86C4-4CE0E7609802}</a:tableStyleId>
              </a:tblPr>
              <a:tblGrid>
                <a:gridCol w="2651125"/>
                <a:gridCol w="7263130"/>
              </a:tblGrid>
              <a:tr h="71120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b="0">
                          <a:latin typeface="微软雅黑" panose="020B0503020204020204" charset="-122"/>
                          <a:ea typeface="微软雅黑" panose="020B0503020204020204" charset="-122"/>
                          <a:sym typeface="+mn-ea"/>
                        </a:rPr>
                        <a:t>输入值之间存在依赖关系</a:t>
                      </a:r>
                      <a:endParaRPr lang="zh-CN" altLang="en-US" sz="2400" b="0">
                        <a:latin typeface="微软雅黑" panose="020B0503020204020204" charset="-122"/>
                        <a:ea typeface="微软雅黑" panose="020B0503020204020204" charset="-122"/>
                      </a:endParaRPr>
                    </a:p>
                  </a:txBody>
                  <a:tcPr anchor="ctr" anchorCtr="0"/>
                </a:tc>
              </a:tr>
              <a:tr h="8483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输入可能是存在问题的组合值</a:t>
                      </a:r>
                      <a:endParaRPr lang="zh-CN" altLang="en-US" sz="2400" b="0">
                        <a:latin typeface="微软雅黑" panose="020B0503020204020204" charset="-122"/>
                        <a:ea typeface="微软雅黑" panose="020B0503020204020204" charset="-122"/>
                      </a:endParaRPr>
                    </a:p>
                  </a:txBody>
                  <a:tcPr anchor="ctr" anchorCtr="0"/>
                </a:tc>
              </a:tr>
              <a:tr h="9061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尽可能多的</a:t>
                      </a:r>
                      <a:r>
                        <a:rPr lang="zh-CN" altLang="en-US" sz="2400">
                          <a:latin typeface="微软雅黑" panose="020B0503020204020204" charset="-122"/>
                          <a:ea typeface="微软雅黑" panose="020B0503020204020204" charset="-122"/>
                          <a:sym typeface="+mn-ea"/>
                        </a:rPr>
                        <a:t>内部数据结构的属性和内容，并与开发人员探讨，以确定输入的数据值</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3600">
                <a:solidFill>
                  <a:srgbClr val="C00000"/>
                </a:solidFill>
                <a:sym typeface="+mn-ea"/>
              </a:rPr>
              <a:t>2.4 </a:t>
            </a:r>
            <a:r>
              <a:rPr lang="zh-CN" altLang="en-US" sz="3600">
                <a:solidFill>
                  <a:srgbClr val="C00000"/>
                </a:solidFill>
                <a:sym typeface="+mn-ea"/>
              </a:rPr>
              <a:t>软件功能性故障模式：同一个输入不同输出</a:t>
            </a:r>
            <a:endParaRPr lang="zh-CN" altLang="en-US" sz="3600">
              <a:solidFill>
                <a:srgbClr val="C00000"/>
              </a:solidFill>
              <a:sym typeface="+mn-ea"/>
            </a:endParaRPr>
          </a:p>
        </p:txBody>
      </p:sp>
      <p:sp>
        <p:nvSpPr>
          <p:cNvPr id="3" name="内容占位符 2"/>
          <p:cNvSpPr>
            <a:spLocks noGrp="1"/>
          </p:cNvSpPr>
          <p:nvPr>
            <p:ph idx="1"/>
          </p:nvPr>
        </p:nvSpPr>
        <p:spPr/>
        <p:txBody>
          <a:bodyPr/>
          <a:p>
            <a:r>
              <a:rPr lang="zh-CN" altLang="en-US">
                <a:sym typeface="+mn-ea"/>
              </a:rPr>
              <a:t>同一个输入</a:t>
            </a:r>
            <a:r>
              <a:rPr lang="zh-CN" altLang="en-US">
                <a:sym typeface="+mn-ea"/>
              </a:rPr>
              <a:t>不同输出缺陷产生</a:t>
            </a:r>
            <a:r>
              <a:rPr lang="zh-CN" altLang="en-US">
                <a:sym typeface="+mn-ea"/>
              </a:rPr>
              <a:t>原因：</a:t>
            </a:r>
            <a:endParaRPr lang="zh-CN" altLang="en-US">
              <a:sym typeface="+mn-ea"/>
            </a:endParaRPr>
          </a:p>
          <a:p>
            <a:pPr lvl="1"/>
            <a:r>
              <a:rPr lang="zh-CN" altLang="en-US"/>
              <a:t>单个输入产生多种输出的情况与</a:t>
            </a:r>
            <a:r>
              <a:rPr lang="zh-CN" altLang="en-US" b="1">
                <a:solidFill>
                  <a:srgbClr val="FF0000"/>
                </a:solidFill>
              </a:rPr>
              <a:t>先前的输入和被测系统的状态</a:t>
            </a:r>
            <a:r>
              <a:rPr lang="zh-CN" altLang="en-US"/>
              <a:t>都有关系。</a:t>
            </a:r>
            <a:endParaRPr lang="zh-CN" altLang="en-US"/>
          </a:p>
          <a:p>
            <a:pPr lvl="1"/>
            <a:r>
              <a:rPr lang="zh-CN" altLang="en-US"/>
              <a:t>例如，在文字处理程序中单击"关闭”按钮，如果文件被编辑且未被保存，程序将提示是否保存文件。如果文件已被保存过，则文件直接关闭。</a:t>
            </a:r>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3600">
                <a:solidFill>
                  <a:srgbClr val="C00000"/>
                </a:solidFill>
                <a:sym typeface="+mn-ea"/>
              </a:rPr>
              <a:t>2.4 </a:t>
            </a:r>
            <a:r>
              <a:rPr lang="zh-CN" altLang="en-US" sz="3600">
                <a:solidFill>
                  <a:srgbClr val="C00000"/>
                </a:solidFill>
                <a:sym typeface="+mn-ea"/>
              </a:rPr>
              <a:t>软件功能性故障模式：</a:t>
            </a:r>
            <a:r>
              <a:rPr lang="zh-CN" altLang="en-US" sz="3600">
                <a:solidFill>
                  <a:srgbClr val="C00000"/>
                </a:solidFill>
                <a:sym typeface="+mn-ea"/>
              </a:rPr>
              <a:t>同一个输入不同输出</a:t>
            </a:r>
            <a:endParaRPr lang="zh-CN" altLang="en-US" sz="3600">
              <a:solidFill>
                <a:srgbClr val="C00000"/>
              </a:solidFill>
              <a:sym typeface="+mn-ea"/>
            </a:endParaRPr>
          </a:p>
        </p:txBody>
      </p:sp>
      <p:sp>
        <p:nvSpPr>
          <p:cNvPr id="3" name="内容占位符 2"/>
          <p:cNvSpPr>
            <a:spLocks noGrp="1"/>
          </p:cNvSpPr>
          <p:nvPr>
            <p:ph idx="1"/>
          </p:nvPr>
        </p:nvSpPr>
        <p:spPr/>
        <p:txBody>
          <a:bodyPr/>
          <a:p>
            <a:r>
              <a:rPr lang="zh-CN" altLang="en-US">
                <a:sym typeface="+mn-ea"/>
              </a:rPr>
              <a:t>如何发现</a:t>
            </a:r>
            <a:r>
              <a:rPr lang="zh-CN" altLang="en-US">
                <a:sym typeface="+mn-ea"/>
              </a:rPr>
              <a:t>同一个输入不同输出</a:t>
            </a:r>
            <a:r>
              <a:rPr lang="zh-CN" altLang="en-US">
                <a:sym typeface="+mn-ea"/>
              </a:rPr>
              <a:t>缺陷：</a:t>
            </a:r>
            <a:endParaRPr lang="zh-CN" altLang="en-US">
              <a:sym typeface="+mn-ea"/>
            </a:endParaRPr>
          </a:p>
          <a:p>
            <a:pPr lvl="1"/>
            <a:r>
              <a:rPr lang="zh-CN" altLang="en-US"/>
              <a:t>测试人员必须具有关于被测系统软件的业务方面的知识，具备各种程序文档，明确一个输入可以产生何种输出。我们可以据此列出关于程序输入与输出的一个列表，然后</a:t>
            </a:r>
            <a:r>
              <a:rPr lang="zh-CN" altLang="en-US"/>
              <a:t>进行测试。</a:t>
            </a:r>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3600">
                <a:solidFill>
                  <a:srgbClr val="C00000"/>
                </a:solidFill>
                <a:sym typeface="+mn-ea"/>
              </a:rPr>
              <a:t>2.4 </a:t>
            </a:r>
            <a:r>
              <a:rPr lang="zh-CN" altLang="en-US" sz="3600">
                <a:solidFill>
                  <a:srgbClr val="C00000"/>
                </a:solidFill>
                <a:sym typeface="+mn-ea"/>
              </a:rPr>
              <a:t>软件功能性故障模式：</a:t>
            </a:r>
            <a:r>
              <a:rPr lang="zh-CN" altLang="en-US" sz="3600">
                <a:solidFill>
                  <a:srgbClr val="C00000"/>
                </a:solidFill>
                <a:sym typeface="+mn-ea"/>
              </a:rPr>
              <a:t>同一个输入不同输出</a:t>
            </a:r>
            <a:endParaRPr lang="zh-CN" altLang="en-US" sz="3600">
              <a:solidFill>
                <a:srgbClr val="C00000"/>
              </a:solidFill>
              <a:sym typeface="+mn-ea"/>
            </a:endParaRPr>
          </a:p>
        </p:txBody>
      </p:sp>
      <p:sp>
        <p:nvSpPr>
          <p:cNvPr id="3" name="内容占位符 2"/>
          <p:cNvSpPr>
            <a:spLocks noGrp="1"/>
          </p:cNvSpPr>
          <p:nvPr>
            <p:ph idx="1"/>
          </p:nvPr>
        </p:nvSpPr>
        <p:spPr/>
        <p:txBody>
          <a:bodyPr/>
          <a:p>
            <a:r>
              <a:rPr lang="zh-CN" altLang="en-US">
                <a:sym typeface="+mn-ea"/>
              </a:rPr>
              <a:t>同一个输入不同输出</a:t>
            </a:r>
            <a:r>
              <a:rPr lang="zh-CN" altLang="en-US">
                <a:sym typeface="+mn-ea"/>
              </a:rPr>
              <a:t>缺陷</a:t>
            </a:r>
            <a:r>
              <a:rPr lang="zh-CN" altLang="en-US">
                <a:sym typeface="+mn-ea"/>
              </a:rPr>
              <a:t>的测试方法：</a:t>
            </a:r>
            <a:endParaRPr lang="zh-CN" altLang="en-US"/>
          </a:p>
        </p:txBody>
      </p:sp>
      <p:graphicFrame>
        <p:nvGraphicFramePr>
          <p:cNvPr id="5" name="表格 4"/>
          <p:cNvGraphicFramePr/>
          <p:nvPr>
            <p:custDataLst>
              <p:tags r:id="rId1"/>
            </p:custDataLst>
          </p:nvPr>
        </p:nvGraphicFramePr>
        <p:xfrm>
          <a:off x="1139190" y="2625090"/>
          <a:ext cx="9914255" cy="2748280"/>
        </p:xfrm>
        <a:graphic>
          <a:graphicData uri="http://schemas.openxmlformats.org/drawingml/2006/table">
            <a:tbl>
              <a:tblPr firstRow="1" bandRow="1">
                <a:tableStyleId>{BC89EF96-8CEA-46FF-86C4-4CE0E7609802}</a:tableStyleId>
              </a:tblPr>
              <a:tblGrid>
                <a:gridCol w="2651125"/>
                <a:gridCol w="7263130"/>
              </a:tblGrid>
              <a:tr h="71120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b="0">
                          <a:latin typeface="微软雅黑" panose="020B0503020204020204" charset="-122"/>
                          <a:ea typeface="微软雅黑" panose="020B0503020204020204" charset="-122"/>
                          <a:sym typeface="+mn-ea"/>
                        </a:rPr>
                        <a:t>同一输入对应多个输出的情况</a:t>
                      </a:r>
                      <a:endParaRPr lang="zh-CN" altLang="en-US" sz="2400" b="0">
                        <a:latin typeface="微软雅黑" panose="020B0503020204020204" charset="-122"/>
                        <a:ea typeface="微软雅黑" panose="020B0503020204020204" charset="-122"/>
                      </a:endParaRPr>
                    </a:p>
                  </a:txBody>
                  <a:tcPr anchor="ctr" anchorCtr="0"/>
                </a:tc>
              </a:tr>
              <a:tr h="8483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测试输入对应的每一个输出</a:t>
                      </a:r>
                      <a:endParaRPr lang="zh-CN" altLang="en-US" sz="2400" b="0">
                        <a:latin typeface="微软雅黑" panose="020B0503020204020204" charset="-122"/>
                        <a:ea typeface="微软雅黑" panose="020B0503020204020204" charset="-122"/>
                      </a:endParaRPr>
                    </a:p>
                  </a:txBody>
                  <a:tcPr anchor="ctr" anchorCtr="0"/>
                </a:tc>
              </a:tr>
              <a:tr h="9061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全面理解需求规格说明书中的内容，找出输入与输出之间的关系</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Autofit/>
          </a:bodyPr>
          <a:p>
            <a:r>
              <a:rPr lang="en-US" altLang="zh-CN" sz="2800">
                <a:solidFill>
                  <a:srgbClr val="C00000"/>
                </a:solidFill>
                <a:sym typeface="+mn-ea"/>
              </a:rPr>
              <a:t>2.4 </a:t>
            </a:r>
            <a:r>
              <a:rPr lang="zh-CN" altLang="en-US" sz="2800">
                <a:solidFill>
                  <a:srgbClr val="C00000"/>
                </a:solidFill>
                <a:sym typeface="+mn-ea"/>
              </a:rPr>
              <a:t>软件功能性故障模式：输出不符合业务规则的无效输出</a:t>
            </a:r>
            <a:endParaRPr lang="zh-CN" altLang="en-US" sz="2800">
              <a:solidFill>
                <a:srgbClr val="C00000"/>
              </a:solidFill>
              <a:sym typeface="+mn-ea"/>
            </a:endParaRPr>
          </a:p>
        </p:txBody>
      </p:sp>
      <p:sp>
        <p:nvSpPr>
          <p:cNvPr id="3" name="内容占位符 2"/>
          <p:cNvSpPr>
            <a:spLocks noGrp="1"/>
          </p:cNvSpPr>
          <p:nvPr>
            <p:ph idx="1"/>
          </p:nvPr>
        </p:nvSpPr>
        <p:spPr/>
        <p:txBody>
          <a:bodyPr/>
          <a:p>
            <a:r>
              <a:rPr lang="zh-CN" altLang="en-US">
                <a:sym typeface="+mn-ea"/>
              </a:rPr>
              <a:t>输出不符合业务规则的</a:t>
            </a:r>
            <a:r>
              <a:rPr lang="zh-CN" altLang="en-US">
                <a:sym typeface="+mn-ea"/>
              </a:rPr>
              <a:t>无效输出缺陷产生</a:t>
            </a:r>
            <a:r>
              <a:rPr lang="zh-CN" altLang="en-US">
                <a:sym typeface="+mn-ea"/>
              </a:rPr>
              <a:t>原因：</a:t>
            </a:r>
            <a:endParaRPr lang="zh-CN" altLang="en-US">
              <a:sym typeface="+mn-ea"/>
            </a:endParaRPr>
          </a:p>
          <a:p>
            <a:pPr lvl="1"/>
            <a:r>
              <a:rPr lang="zh-CN" altLang="en-US"/>
              <a:t>有时开发人员也可能对业务了解不深刻，对有些问题也是一知半解，因此编写出的软件就会产生不符合业务逻辑的问题。</a:t>
            </a:r>
            <a:endParaRPr lang="zh-CN" altLang="en-US"/>
          </a:p>
          <a:p>
            <a:pPr lvl="1"/>
            <a:r>
              <a:rPr lang="zh-CN" altLang="en-US"/>
              <a:t>另外在绝大多数情况下开发人员会忽略处理没有遵循一般规则的输入，如果不对这些特殊情况</a:t>
            </a:r>
            <a:r>
              <a:rPr lang="zh-CN" altLang="en-US"/>
              <a:t>进行编程处理，软件就会产生错误的结果。</a:t>
            </a:r>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Autofit/>
          </a:bodyPr>
          <a:p>
            <a:r>
              <a:rPr lang="en-US" altLang="zh-CN" sz="2800">
                <a:solidFill>
                  <a:srgbClr val="C00000"/>
                </a:solidFill>
                <a:sym typeface="+mn-ea"/>
              </a:rPr>
              <a:t>2.4 </a:t>
            </a:r>
            <a:r>
              <a:rPr lang="zh-CN" altLang="en-US" sz="2800">
                <a:solidFill>
                  <a:srgbClr val="C00000"/>
                </a:solidFill>
                <a:sym typeface="+mn-ea"/>
              </a:rPr>
              <a:t>软件功能性故障模式：输出不符合业务规则的无效输出</a:t>
            </a:r>
            <a:endParaRPr lang="zh-CN" altLang="en-US" sz="2800">
              <a:solidFill>
                <a:srgbClr val="C00000"/>
              </a:solidFill>
              <a:sym typeface="+mn-ea"/>
            </a:endParaRPr>
          </a:p>
        </p:txBody>
      </p:sp>
      <p:sp>
        <p:nvSpPr>
          <p:cNvPr id="3" name="内容占位符 2"/>
          <p:cNvSpPr>
            <a:spLocks noGrp="1"/>
          </p:cNvSpPr>
          <p:nvPr>
            <p:ph idx="1"/>
          </p:nvPr>
        </p:nvSpPr>
        <p:spPr/>
        <p:txBody>
          <a:bodyPr>
            <a:normAutofit/>
          </a:bodyPr>
          <a:p>
            <a:r>
              <a:rPr lang="zh-CN" altLang="en-US">
                <a:sym typeface="+mn-ea"/>
              </a:rPr>
              <a:t>如何发现</a:t>
            </a:r>
            <a:r>
              <a:rPr lang="zh-CN" altLang="en-US">
                <a:sym typeface="+mn-ea"/>
              </a:rPr>
              <a:t>输出不符合业务规则的无效输出</a:t>
            </a:r>
            <a:r>
              <a:rPr lang="zh-CN" altLang="en-US">
                <a:sym typeface="+mn-ea"/>
              </a:rPr>
              <a:t>缺陷：</a:t>
            </a:r>
            <a:endParaRPr lang="zh-CN" altLang="en-US">
              <a:sym typeface="+mn-ea"/>
            </a:endParaRPr>
          </a:p>
          <a:p>
            <a:pPr lvl="1"/>
            <a:r>
              <a:rPr lang="zh-CN" altLang="en-US"/>
              <a:t>测试人员应该尽可能地学习涉及问题的领域。</a:t>
            </a:r>
            <a:endParaRPr lang="zh-CN" altLang="en-US"/>
          </a:p>
          <a:p>
            <a:pPr lvl="1"/>
            <a:r>
              <a:rPr lang="zh-CN" altLang="en-US"/>
              <a:t>有时在列举出无效输出后，也很难知道哪些输入组合能强制这些输出产生。这时测试人员必须先要确定哪些输入与输出有关，然后用产生意外结果的输入组合</a:t>
            </a:r>
            <a:r>
              <a:rPr lang="zh-CN" altLang="en-US"/>
              <a:t>进行测试，测试过程中要注意输入执行顺序，用不同的顺序执行可能得到不同的结果。如果不能强制无效的输出产生，就说明软件没有这方面的缺陷。</a:t>
            </a:r>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Autofit/>
          </a:bodyPr>
          <a:p>
            <a:r>
              <a:rPr lang="en-US" altLang="zh-CN" sz="2800">
                <a:solidFill>
                  <a:srgbClr val="C00000"/>
                </a:solidFill>
                <a:sym typeface="+mn-ea"/>
              </a:rPr>
              <a:t>2.4 </a:t>
            </a:r>
            <a:r>
              <a:rPr lang="zh-CN" altLang="en-US" sz="2800">
                <a:solidFill>
                  <a:srgbClr val="C00000"/>
                </a:solidFill>
                <a:sym typeface="+mn-ea"/>
              </a:rPr>
              <a:t>软件功能性故障模式：输出不符合业务规则的无效输出</a:t>
            </a:r>
            <a:endParaRPr lang="zh-CN" altLang="en-US" sz="2800">
              <a:solidFill>
                <a:srgbClr val="C00000"/>
              </a:solidFill>
              <a:sym typeface="+mn-ea"/>
            </a:endParaRPr>
          </a:p>
        </p:txBody>
      </p:sp>
      <p:sp>
        <p:nvSpPr>
          <p:cNvPr id="3" name="内容占位符 2"/>
          <p:cNvSpPr>
            <a:spLocks noGrp="1"/>
          </p:cNvSpPr>
          <p:nvPr>
            <p:ph idx="1"/>
          </p:nvPr>
        </p:nvSpPr>
        <p:spPr/>
        <p:txBody>
          <a:bodyPr/>
          <a:p>
            <a:r>
              <a:rPr lang="zh-CN" altLang="en-US">
                <a:sym typeface="+mn-ea"/>
              </a:rPr>
              <a:t>输出不符合业务规则的无效输出</a:t>
            </a:r>
            <a:r>
              <a:rPr lang="zh-CN" altLang="en-US">
                <a:sym typeface="+mn-ea"/>
              </a:rPr>
              <a:t>缺陷</a:t>
            </a:r>
            <a:r>
              <a:rPr lang="zh-CN" altLang="en-US">
                <a:sym typeface="+mn-ea"/>
              </a:rPr>
              <a:t>的测试方法：</a:t>
            </a:r>
            <a:endParaRPr lang="zh-CN" altLang="en-US"/>
          </a:p>
        </p:txBody>
      </p:sp>
      <p:graphicFrame>
        <p:nvGraphicFramePr>
          <p:cNvPr id="5" name="表格 4"/>
          <p:cNvGraphicFramePr/>
          <p:nvPr>
            <p:custDataLst>
              <p:tags r:id="rId1"/>
            </p:custDataLst>
          </p:nvPr>
        </p:nvGraphicFramePr>
        <p:xfrm>
          <a:off x="1138555" y="2519045"/>
          <a:ext cx="9914255" cy="2465705"/>
        </p:xfrm>
        <a:graphic>
          <a:graphicData uri="http://schemas.openxmlformats.org/drawingml/2006/table">
            <a:tbl>
              <a:tblPr firstRow="1" bandRow="1">
                <a:tableStyleId>{BC89EF96-8CEA-46FF-86C4-4CE0E7609802}</a:tableStyleId>
              </a:tblPr>
              <a:tblGrid>
                <a:gridCol w="2651125"/>
                <a:gridCol w="7263130"/>
              </a:tblGrid>
              <a:tr h="71120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b="0">
                          <a:latin typeface="微软雅黑" panose="020B0503020204020204" charset="-122"/>
                          <a:ea typeface="微软雅黑" panose="020B0503020204020204" charset="-122"/>
                          <a:sym typeface="+mn-ea"/>
                        </a:rPr>
                        <a:t>强制产生不符合业务背景的知识</a:t>
                      </a:r>
                      <a:endParaRPr lang="zh-CN" altLang="en-US" sz="2400" b="0">
                        <a:latin typeface="微软雅黑" panose="020B0503020204020204" charset="-122"/>
                        <a:ea typeface="微软雅黑" panose="020B0503020204020204" charset="-122"/>
                      </a:endParaRPr>
                    </a:p>
                  </a:txBody>
                  <a:tcPr anchor="ctr" anchorCtr="0"/>
                </a:tc>
              </a:tr>
              <a:tr h="8483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列举出所有的无效输出，然后逐一测试</a:t>
                      </a:r>
                      <a:endParaRPr lang="zh-CN" altLang="en-US" sz="2400" b="0">
                        <a:latin typeface="微软雅黑" panose="020B0503020204020204" charset="-122"/>
                        <a:ea typeface="微软雅黑" panose="020B0503020204020204" charset="-122"/>
                      </a:endParaRPr>
                    </a:p>
                  </a:txBody>
                  <a:tcPr anchor="ctr" anchorCtr="0"/>
                </a:tc>
              </a:tr>
              <a:tr h="9061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全面理解需求规格说明书中的内容，熟悉行业背景知识</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3600">
                <a:solidFill>
                  <a:srgbClr val="C00000"/>
                </a:solidFill>
                <a:sym typeface="+mn-ea"/>
              </a:rPr>
              <a:t>2.4 </a:t>
            </a:r>
            <a:r>
              <a:rPr lang="zh-CN" altLang="en-US" sz="3600">
                <a:solidFill>
                  <a:srgbClr val="C00000"/>
                </a:solidFill>
                <a:sym typeface="+mn-ea"/>
              </a:rPr>
              <a:t>软件功能性故障模式：输出属性修改后的结果</a:t>
            </a:r>
            <a:endParaRPr lang="zh-CN" altLang="en-US" sz="3600">
              <a:solidFill>
                <a:srgbClr val="C00000"/>
              </a:solidFill>
              <a:sym typeface="+mn-ea"/>
            </a:endParaRPr>
          </a:p>
        </p:txBody>
      </p:sp>
      <p:sp>
        <p:nvSpPr>
          <p:cNvPr id="3" name="内容占位符 2"/>
          <p:cNvSpPr>
            <a:spLocks noGrp="1"/>
          </p:cNvSpPr>
          <p:nvPr>
            <p:ph idx="1"/>
          </p:nvPr>
        </p:nvSpPr>
        <p:spPr/>
        <p:txBody>
          <a:bodyPr>
            <a:normAutofit/>
          </a:bodyPr>
          <a:p>
            <a:r>
              <a:rPr lang="zh-CN" altLang="en-US">
                <a:sym typeface="+mn-ea"/>
              </a:rPr>
              <a:t>输出属性修改后的</a:t>
            </a:r>
            <a:r>
              <a:rPr lang="zh-CN" altLang="en-US">
                <a:sym typeface="+mn-ea"/>
              </a:rPr>
              <a:t>结果缺陷产生</a:t>
            </a:r>
            <a:r>
              <a:rPr lang="zh-CN" altLang="en-US">
                <a:sym typeface="+mn-ea"/>
              </a:rPr>
              <a:t>原因：</a:t>
            </a:r>
            <a:endParaRPr lang="zh-CN" altLang="en-US">
              <a:sym typeface="+mn-ea"/>
            </a:endParaRPr>
          </a:p>
          <a:p>
            <a:pPr lvl="1"/>
            <a:r>
              <a:rPr lang="zh-CN" altLang="en-US"/>
              <a:t>输出常常具有可修改的属性，如颜色、形状、维数及大小等，用户可以修改这些属性。</a:t>
            </a:r>
            <a:endParaRPr lang="zh-CN" altLang="en-US"/>
          </a:p>
          <a:p>
            <a:pPr lvl="1"/>
            <a:r>
              <a:rPr lang="zh-CN" altLang="en-US"/>
              <a:t>在这种情况下，开发人员必须编码、设立初始或默认属性值，然后编码允许用户编辑这些属性。</a:t>
            </a:r>
            <a:endParaRPr lang="zh-CN" altLang="en-US"/>
          </a:p>
          <a:p>
            <a:pPr lvl="1"/>
            <a:r>
              <a:rPr lang="zh-CN" altLang="en-US"/>
              <a:t>当用户改变了这些属性后，内部的相应变量值也随着变化，再次</a:t>
            </a:r>
            <a:r>
              <a:rPr lang="zh-CN" altLang="en-US"/>
              <a:t>进行处理时，这些值没有被重新恢复为默认值，输出的属性就被强制改变了。</a:t>
            </a:r>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3600">
                <a:solidFill>
                  <a:srgbClr val="C00000"/>
                </a:solidFill>
                <a:sym typeface="+mn-ea"/>
              </a:rPr>
              <a:t>2.4 </a:t>
            </a:r>
            <a:r>
              <a:rPr lang="zh-CN" altLang="en-US" sz="3600">
                <a:solidFill>
                  <a:srgbClr val="C00000"/>
                </a:solidFill>
                <a:sym typeface="+mn-ea"/>
              </a:rPr>
              <a:t>软件功能性故障模式：</a:t>
            </a:r>
            <a:r>
              <a:rPr lang="zh-CN" altLang="en-US" sz="3600">
                <a:solidFill>
                  <a:srgbClr val="C00000"/>
                </a:solidFill>
                <a:sym typeface="+mn-ea"/>
              </a:rPr>
              <a:t>输出属性修改后的结果</a:t>
            </a:r>
            <a:endParaRPr lang="zh-CN" altLang="en-US" sz="3600">
              <a:solidFill>
                <a:srgbClr val="C00000"/>
              </a:solidFill>
              <a:sym typeface="+mn-ea"/>
            </a:endParaRPr>
          </a:p>
        </p:txBody>
      </p:sp>
      <p:sp>
        <p:nvSpPr>
          <p:cNvPr id="3" name="内容占位符 2"/>
          <p:cNvSpPr>
            <a:spLocks noGrp="1"/>
          </p:cNvSpPr>
          <p:nvPr>
            <p:ph idx="1"/>
          </p:nvPr>
        </p:nvSpPr>
        <p:spPr/>
        <p:txBody>
          <a:bodyPr/>
          <a:p>
            <a:r>
              <a:rPr lang="zh-CN" altLang="en-US">
                <a:sym typeface="+mn-ea"/>
              </a:rPr>
              <a:t>如何发现</a:t>
            </a:r>
            <a:r>
              <a:rPr lang="zh-CN" altLang="en-US">
                <a:sym typeface="+mn-ea"/>
              </a:rPr>
              <a:t>输出属性修改后的结果</a:t>
            </a:r>
            <a:r>
              <a:rPr lang="zh-CN" altLang="en-US">
                <a:sym typeface="+mn-ea"/>
              </a:rPr>
              <a:t>缺陷：</a:t>
            </a:r>
            <a:endParaRPr lang="zh-CN" altLang="en-US">
              <a:sym typeface="+mn-ea"/>
            </a:endParaRPr>
          </a:p>
          <a:p>
            <a:pPr lvl="1"/>
            <a:r>
              <a:rPr lang="zh-CN" altLang="en-US"/>
              <a:t>该测试方法可以使用在那些输出具有可编辑性、可修改性的功能中。</a:t>
            </a:r>
            <a:endParaRPr lang="zh-CN" altLang="en-US"/>
          </a:p>
          <a:p>
            <a:pPr lvl="1"/>
            <a:r>
              <a:rPr lang="zh-CN" altLang="en-US"/>
              <a:t>测试人员首先要仔细了解能够产生的输出，特别要注意具有可编辑属性的输出。</a:t>
            </a:r>
            <a:endParaRPr lang="zh-CN" altLang="en-US"/>
          </a:p>
          <a:p>
            <a:pPr lvl="1"/>
            <a:r>
              <a:rPr lang="zh-CN" altLang="en-US"/>
              <a:t>测试人员的任务就是强制每个输出产生，并编辑其属性，然后再次强制输出产生。</a:t>
            </a:r>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3600">
                <a:solidFill>
                  <a:srgbClr val="C00000"/>
                </a:solidFill>
                <a:sym typeface="+mn-ea"/>
              </a:rPr>
              <a:t>2.4 </a:t>
            </a:r>
            <a:r>
              <a:rPr lang="zh-CN" altLang="en-US" sz="3600">
                <a:solidFill>
                  <a:srgbClr val="C00000"/>
                </a:solidFill>
                <a:sym typeface="+mn-ea"/>
              </a:rPr>
              <a:t>软件功能性故障模式：</a:t>
            </a:r>
            <a:r>
              <a:rPr lang="zh-CN" altLang="en-US" sz="3600">
                <a:solidFill>
                  <a:srgbClr val="C00000"/>
                </a:solidFill>
                <a:sym typeface="+mn-ea"/>
              </a:rPr>
              <a:t>输出属性修改后的结果</a:t>
            </a:r>
            <a:endParaRPr lang="zh-CN" altLang="en-US" sz="3600">
              <a:solidFill>
                <a:srgbClr val="C00000"/>
              </a:solidFill>
              <a:sym typeface="+mn-ea"/>
            </a:endParaRPr>
          </a:p>
        </p:txBody>
      </p:sp>
      <p:sp>
        <p:nvSpPr>
          <p:cNvPr id="3" name="内容占位符 2"/>
          <p:cNvSpPr>
            <a:spLocks noGrp="1"/>
          </p:cNvSpPr>
          <p:nvPr>
            <p:ph idx="1"/>
          </p:nvPr>
        </p:nvSpPr>
        <p:spPr/>
        <p:txBody>
          <a:bodyPr/>
          <a:p>
            <a:r>
              <a:rPr lang="zh-CN" altLang="en-US">
                <a:sym typeface="+mn-ea"/>
              </a:rPr>
              <a:t>输出属性修改后的结果</a:t>
            </a:r>
            <a:r>
              <a:rPr lang="zh-CN" altLang="en-US">
                <a:sym typeface="+mn-ea"/>
              </a:rPr>
              <a:t>缺陷</a:t>
            </a:r>
            <a:r>
              <a:rPr lang="zh-CN" altLang="en-US">
                <a:sym typeface="+mn-ea"/>
              </a:rPr>
              <a:t>的测试方法：</a:t>
            </a:r>
            <a:endParaRPr lang="zh-CN" altLang="en-US"/>
          </a:p>
        </p:txBody>
      </p:sp>
      <p:graphicFrame>
        <p:nvGraphicFramePr>
          <p:cNvPr id="5" name="表格 4"/>
          <p:cNvGraphicFramePr/>
          <p:nvPr>
            <p:custDataLst>
              <p:tags r:id="rId1"/>
            </p:custDataLst>
          </p:nvPr>
        </p:nvGraphicFramePr>
        <p:xfrm>
          <a:off x="1068705" y="2562860"/>
          <a:ext cx="9914255" cy="2465705"/>
        </p:xfrm>
        <a:graphic>
          <a:graphicData uri="http://schemas.openxmlformats.org/drawingml/2006/table">
            <a:tbl>
              <a:tblPr firstRow="1" bandRow="1">
                <a:tableStyleId>{BC89EF96-8CEA-46FF-86C4-4CE0E7609802}</a:tableStyleId>
              </a:tblPr>
              <a:tblGrid>
                <a:gridCol w="2651125"/>
                <a:gridCol w="7263130"/>
              </a:tblGrid>
              <a:tr h="71120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b="0">
                          <a:latin typeface="微软雅黑" panose="020B0503020204020204" charset="-122"/>
                          <a:ea typeface="微软雅黑" panose="020B0503020204020204" charset="-122"/>
                          <a:sym typeface="+mn-ea"/>
                        </a:rPr>
                        <a:t>输出的结果，可以由用户修改属性得出</a:t>
                      </a:r>
                      <a:endParaRPr lang="zh-CN" altLang="en-US" sz="2400" b="0">
                        <a:latin typeface="微软雅黑" panose="020B0503020204020204" charset="-122"/>
                        <a:ea typeface="微软雅黑" panose="020B0503020204020204" charset="-122"/>
                      </a:endParaRPr>
                    </a:p>
                  </a:txBody>
                  <a:tcPr anchor="ctr" anchorCtr="0"/>
                </a:tc>
              </a:tr>
              <a:tr h="8483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强制每个输出产生，并编辑其属性，然后再次强制产生输出</a:t>
                      </a:r>
                      <a:endParaRPr lang="zh-CN" altLang="en-US" sz="2400" b="0">
                        <a:latin typeface="微软雅黑" panose="020B0503020204020204" charset="-122"/>
                        <a:ea typeface="微软雅黑" panose="020B0503020204020204" charset="-122"/>
                      </a:endParaRPr>
                    </a:p>
                  </a:txBody>
                  <a:tcPr anchor="ctr" anchorCtr="0"/>
                </a:tc>
              </a:tr>
              <a:tr h="9061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全面理解需求规格说明书中的内容，了解能够产生的输出</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软件功能性故障模式：屏幕刷新</a:t>
            </a:r>
            <a:r>
              <a:rPr lang="zh-CN" altLang="en-US">
                <a:solidFill>
                  <a:srgbClr val="C00000"/>
                </a:solidFill>
                <a:sym typeface="+mn-ea"/>
              </a:rPr>
              <a:t>显示</a:t>
            </a:r>
            <a:endParaRPr lang="zh-CN" altLang="en-US">
              <a:solidFill>
                <a:srgbClr val="C00000"/>
              </a:solidFill>
              <a:sym typeface="+mn-ea"/>
            </a:endParaRPr>
          </a:p>
        </p:txBody>
      </p:sp>
      <p:sp>
        <p:nvSpPr>
          <p:cNvPr id="3" name="内容占位符 2"/>
          <p:cNvSpPr>
            <a:spLocks noGrp="1"/>
          </p:cNvSpPr>
          <p:nvPr>
            <p:ph idx="1"/>
          </p:nvPr>
        </p:nvSpPr>
        <p:spPr>
          <a:xfrm>
            <a:off x="838200" y="1538605"/>
            <a:ext cx="5464810" cy="5053330"/>
          </a:xfrm>
        </p:spPr>
        <p:txBody>
          <a:bodyPr>
            <a:normAutofit fontScale="80000"/>
          </a:bodyPr>
          <a:p>
            <a:pPr>
              <a:lnSpc>
                <a:spcPct val="130000"/>
              </a:lnSpc>
            </a:pPr>
            <a:r>
              <a:rPr lang="zh-CN" altLang="en-US">
                <a:sym typeface="+mn-ea"/>
              </a:rPr>
              <a:t>屏幕刷新显示</a:t>
            </a:r>
            <a:r>
              <a:rPr lang="zh-CN" altLang="en-US"/>
              <a:t>缺陷产生原因</a:t>
            </a:r>
            <a:r>
              <a:rPr lang="zh-CN" altLang="en-US">
                <a:sym typeface="+mn-ea"/>
              </a:rPr>
              <a:t>：</a:t>
            </a:r>
            <a:endParaRPr lang="zh-CN" altLang="en-US">
              <a:sym typeface="+mn-ea"/>
            </a:endParaRPr>
          </a:p>
          <a:p>
            <a:pPr lvl="1">
              <a:lnSpc>
                <a:spcPct val="130000"/>
              </a:lnSpc>
            </a:pPr>
            <a:r>
              <a:rPr lang="zh-CN" altLang="en-US"/>
              <a:t>通常GUI软件会产生刷新问题，因为GUI在对窗口进行覆盖、移动和调整大小时，必须刷新屏幕才能使对象重新显示。</a:t>
            </a:r>
            <a:endParaRPr lang="zh-CN" altLang="en-US"/>
          </a:p>
          <a:p>
            <a:pPr lvl="1">
              <a:lnSpc>
                <a:spcPct val="130000"/>
              </a:lnSpc>
            </a:pPr>
            <a:r>
              <a:rPr lang="zh-CN" altLang="en-US"/>
              <a:t>但是如果经常刷新，容易减慢应用程序的运行速度；如果不刷新，又会影响用户对程序的使用，使用户必须停顿工作，去寻找刷新的方法才可以继续工作。</a:t>
            </a:r>
            <a:endParaRPr lang="zh-CN" altLang="en-US"/>
          </a:p>
          <a:p>
            <a:pPr lvl="1">
              <a:lnSpc>
                <a:spcPct val="130000"/>
              </a:lnSpc>
            </a:pPr>
            <a:r>
              <a:rPr lang="zh-CN" altLang="en-US"/>
              <a:t>所以开发人员有时候不能很好地确定什么时候需要刷新，需要刷新多大</a:t>
            </a:r>
            <a:r>
              <a:rPr lang="zh-CN" altLang="en-US"/>
              <a:t>范围的区域，这就发生了令人烦恼的刷新问题。</a:t>
            </a:r>
            <a:endParaRPr lang="zh-CN" altLang="en-US"/>
          </a:p>
        </p:txBody>
      </p:sp>
      <p:pic>
        <p:nvPicPr>
          <p:cNvPr id="4" name="图片 3"/>
          <p:cNvPicPr>
            <a:picLocks noChangeAspect="1"/>
          </p:cNvPicPr>
          <p:nvPr/>
        </p:nvPicPr>
        <p:blipFill>
          <a:blip r:embed="rId1"/>
          <a:stretch>
            <a:fillRect/>
          </a:stretch>
        </p:blipFill>
        <p:spPr>
          <a:xfrm>
            <a:off x="7152640" y="1300480"/>
            <a:ext cx="4447540" cy="499554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a:t>
            </a:r>
            <a:r>
              <a:rPr lang="zh-CN" altLang="en-US">
                <a:solidFill>
                  <a:srgbClr val="C00000"/>
                </a:solidFill>
                <a:sym typeface="+mn-ea"/>
              </a:rPr>
              <a:t>屏幕刷新显示</a:t>
            </a:r>
            <a:endParaRPr lang="zh-CN" altLang="en-US">
              <a:solidFill>
                <a:srgbClr val="C00000"/>
              </a:solidFill>
              <a:sym typeface="+mn-ea"/>
            </a:endParaRPr>
          </a:p>
        </p:txBody>
      </p:sp>
      <p:sp>
        <p:nvSpPr>
          <p:cNvPr id="3" name="内容占位符 2"/>
          <p:cNvSpPr>
            <a:spLocks noGrp="1"/>
          </p:cNvSpPr>
          <p:nvPr>
            <p:ph idx="1"/>
          </p:nvPr>
        </p:nvSpPr>
        <p:spPr>
          <a:xfrm>
            <a:off x="312420" y="1300480"/>
            <a:ext cx="6642100" cy="5796280"/>
          </a:xfrm>
        </p:spPr>
        <p:txBody>
          <a:bodyPr/>
          <a:p>
            <a:r>
              <a:rPr lang="zh-CN" altLang="en-US" sz="2400">
                <a:sym typeface="+mn-ea"/>
              </a:rPr>
              <a:t>如何发现屏幕刷新显示缺陷：</a:t>
            </a:r>
            <a:endParaRPr lang="zh-CN" altLang="en-US" sz="2400">
              <a:sym typeface="+mn-ea"/>
            </a:endParaRPr>
          </a:p>
          <a:p>
            <a:pPr lvl="1"/>
            <a:r>
              <a:rPr lang="zh-CN" altLang="en-US" sz="2000"/>
              <a:t>测试刷新问题的方法是增加、删除称移动屏幕上的对象，这样会使这些对象重新显示。如果不能正确、及时地进行重新显示，就产生了软件缺陷。</a:t>
            </a:r>
            <a:endParaRPr lang="zh-CN" altLang="en-US" sz="2000"/>
          </a:p>
          <a:p>
            <a:pPr lvl="1"/>
            <a:r>
              <a:rPr lang="zh-CN" altLang="en-US" sz="2000"/>
              <a:t>我们可以通过以下几个方法来检查刷新:</a:t>
            </a:r>
            <a:endParaRPr lang="zh-CN" altLang="en-US" sz="2000"/>
          </a:p>
          <a:p>
            <a:pPr lvl="2"/>
            <a:r>
              <a:rPr lang="zh-CN" altLang="en-US" sz="1800"/>
              <a:t>从起始位置移动对象。先移动一点，然后增加移动幅度；先移动一次或两次，然后屡次移动，确保覆盖了所有区域。</a:t>
            </a:r>
            <a:endParaRPr lang="zh-CN" altLang="en-US" sz="1800"/>
          </a:p>
          <a:p>
            <a:pPr lvl="2"/>
            <a:r>
              <a:rPr lang="zh-CN" altLang="en-US" sz="1800"/>
              <a:t>从覆盖对象的边界开始一点点覆盖，使其中一个对象遮住另外一个对象。</a:t>
            </a:r>
            <a:endParaRPr lang="zh-CN" altLang="en-US" sz="1800"/>
          </a:p>
          <a:p>
            <a:pPr lvl="2"/>
            <a:r>
              <a:rPr lang="zh-CN" altLang="en-US" sz="1800"/>
              <a:t>使用不同类型的对象。如果应用程序支持多种类型的对象，如文本对象、图形对象等，就把这些不同对象混在一起使用。</a:t>
            </a:r>
            <a:endParaRPr lang="zh-CN" altLang="en-US" sz="1800"/>
          </a:p>
        </p:txBody>
      </p:sp>
      <p:pic>
        <p:nvPicPr>
          <p:cNvPr id="5" name="图片 4"/>
          <p:cNvPicPr>
            <a:picLocks noChangeAspect="1"/>
          </p:cNvPicPr>
          <p:nvPr/>
        </p:nvPicPr>
        <p:blipFill>
          <a:blip r:embed="rId1"/>
          <a:stretch>
            <a:fillRect/>
          </a:stretch>
        </p:blipFill>
        <p:spPr>
          <a:xfrm>
            <a:off x="7152640" y="1300480"/>
            <a:ext cx="4447540" cy="499554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a:t>
            </a:r>
            <a:r>
              <a:rPr lang="zh-CN" altLang="en-US">
                <a:solidFill>
                  <a:srgbClr val="C00000"/>
                </a:solidFill>
                <a:sym typeface="+mn-ea"/>
              </a:rPr>
              <a:t>屏幕刷新显示</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屏幕刷新显示</a:t>
            </a:r>
            <a:r>
              <a:rPr lang="zh-CN" altLang="en-US">
                <a:sym typeface="+mn-ea"/>
              </a:rPr>
              <a:t>缺陷</a:t>
            </a:r>
            <a:r>
              <a:rPr lang="zh-CN" altLang="en-US">
                <a:sym typeface="+mn-ea"/>
              </a:rPr>
              <a:t>的测试方法：</a:t>
            </a:r>
            <a:endParaRPr lang="zh-CN" altLang="en-US"/>
          </a:p>
        </p:txBody>
      </p:sp>
      <p:graphicFrame>
        <p:nvGraphicFramePr>
          <p:cNvPr id="5" name="表格 4"/>
          <p:cNvGraphicFramePr/>
          <p:nvPr>
            <p:custDataLst>
              <p:tags r:id="rId1"/>
            </p:custDataLst>
          </p:nvPr>
        </p:nvGraphicFramePr>
        <p:xfrm>
          <a:off x="1192530" y="2491740"/>
          <a:ext cx="9914255" cy="2465705"/>
        </p:xfrm>
        <a:graphic>
          <a:graphicData uri="http://schemas.openxmlformats.org/drawingml/2006/table">
            <a:tbl>
              <a:tblPr firstRow="1" bandRow="1">
                <a:tableStyleId>{BC89EF96-8CEA-46FF-86C4-4CE0E7609802}</a:tableStyleId>
              </a:tblPr>
              <a:tblGrid>
                <a:gridCol w="2651125"/>
                <a:gridCol w="7263130"/>
              </a:tblGrid>
              <a:tr h="71120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b="0">
                          <a:latin typeface="微软雅黑" panose="020B0503020204020204" charset="-122"/>
                          <a:ea typeface="微软雅黑" panose="020B0503020204020204" charset="-122"/>
                          <a:sym typeface="+mn-ea"/>
                        </a:rPr>
                        <a:t>一个对象包含在另一个对象中，拖动被包含对象时，可能出现刷新问题</a:t>
                      </a:r>
                      <a:endParaRPr lang="zh-CN" altLang="en-US" sz="2400" b="0">
                        <a:latin typeface="微软雅黑" panose="020B0503020204020204" charset="-122"/>
                        <a:ea typeface="微软雅黑" panose="020B0503020204020204" charset="-122"/>
                      </a:endParaRPr>
                    </a:p>
                  </a:txBody>
                  <a:tcPr anchor="ctr" anchorCtr="0"/>
                </a:tc>
              </a:tr>
              <a:tr h="8483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增加、删除和移动屏幕上的对象</a:t>
                      </a:r>
                      <a:endParaRPr lang="zh-CN" altLang="en-US" sz="2400" b="0">
                        <a:latin typeface="微软雅黑" panose="020B0503020204020204" charset="-122"/>
                        <a:ea typeface="微软雅黑" panose="020B0503020204020204" charset="-122"/>
                      </a:endParaRPr>
                    </a:p>
                  </a:txBody>
                  <a:tcPr anchor="ctr" anchorCtr="0"/>
                </a:tc>
              </a:tr>
              <a:tr h="9061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全面理解需求规格说明书中的内容，了解程序中对象之间的关系</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软件功能性故障模式：数据</a:t>
            </a:r>
            <a:r>
              <a:rPr lang="zh-CN" altLang="en-US">
                <a:solidFill>
                  <a:srgbClr val="C00000"/>
                </a:solidFill>
                <a:sym typeface="+mn-ea"/>
              </a:rPr>
              <a:t>结构溢出</a:t>
            </a:r>
            <a:endParaRPr lang="zh-CN" altLang="en-US">
              <a:solidFill>
                <a:srgbClr val="C00000"/>
              </a:solidFill>
              <a:sym typeface="+mn-ea"/>
            </a:endParaRPr>
          </a:p>
        </p:txBody>
      </p:sp>
      <p:sp>
        <p:nvSpPr>
          <p:cNvPr id="3" name="内容占位符 2"/>
          <p:cNvSpPr>
            <a:spLocks noGrp="1"/>
          </p:cNvSpPr>
          <p:nvPr>
            <p:ph idx="1"/>
          </p:nvPr>
        </p:nvSpPr>
        <p:spPr>
          <a:xfrm>
            <a:off x="838200" y="1538605"/>
            <a:ext cx="5758180" cy="4638675"/>
          </a:xfrm>
        </p:spPr>
        <p:txBody>
          <a:bodyPr/>
          <a:p>
            <a:r>
              <a:rPr lang="zh-CN" altLang="en-US">
                <a:sym typeface="+mn-ea"/>
              </a:rPr>
              <a:t>数据</a:t>
            </a:r>
            <a:r>
              <a:rPr lang="zh-CN" altLang="en-US">
                <a:sym typeface="+mn-ea"/>
              </a:rPr>
              <a:t>结构溢出缺陷产生</a:t>
            </a:r>
            <a:r>
              <a:rPr lang="zh-CN" altLang="en-US">
                <a:sym typeface="+mn-ea"/>
              </a:rPr>
              <a:t>原因：</a:t>
            </a:r>
            <a:endParaRPr lang="zh-CN" altLang="en-US">
              <a:sym typeface="+mn-ea"/>
            </a:endParaRPr>
          </a:p>
          <a:p>
            <a:pPr lvl="1"/>
            <a:r>
              <a:rPr lang="zh-CN" altLang="en-US"/>
              <a:t>所有数据</a:t>
            </a:r>
            <a:r>
              <a:rPr lang="zh-CN" altLang="en-US"/>
              <a:t>结构的大小都有上限。</a:t>
            </a:r>
            <a:endParaRPr lang="zh-CN" altLang="en-US"/>
          </a:p>
          <a:p>
            <a:pPr lvl="1"/>
            <a:r>
              <a:rPr lang="zh-CN" altLang="en-US"/>
              <a:t>一些数据结构会逐步增加长度以充满机器内存容量或磁盘空间，而其它数据结构具有固定的上限。</a:t>
            </a:r>
            <a:endParaRPr lang="zh-CN" altLang="en-US"/>
          </a:p>
          <a:p>
            <a:pPr lvl="1"/>
            <a:r>
              <a:rPr lang="zh-CN" altLang="en-US"/>
              <a:t>开发人员经常对有关数据结构的内容进行编码，忘记</a:t>
            </a:r>
            <a:r>
              <a:rPr lang="zh-CN" altLang="en-US"/>
              <a:t>结构本身的物理局限。</a:t>
            </a:r>
            <a:endParaRPr lang="zh-CN" altLang="en-US"/>
          </a:p>
        </p:txBody>
      </p:sp>
      <p:pic>
        <p:nvPicPr>
          <p:cNvPr id="4" name="图片 3"/>
          <p:cNvPicPr/>
          <p:nvPr/>
        </p:nvPicPr>
        <p:blipFill>
          <a:blip r:embed="rId1"/>
        </p:blipFill>
        <p:spPr>
          <a:xfrm>
            <a:off x="7234555" y="1831340"/>
            <a:ext cx="4724400" cy="330708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软件功能性故障模式：数据</a:t>
            </a:r>
            <a:r>
              <a:rPr lang="zh-CN" altLang="en-US">
                <a:solidFill>
                  <a:srgbClr val="C00000"/>
                </a:solidFill>
                <a:sym typeface="+mn-ea"/>
              </a:rPr>
              <a:t>结构溢出</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如何发现</a:t>
            </a:r>
            <a:r>
              <a:rPr lang="zh-CN" altLang="en-US">
                <a:sym typeface="+mn-ea"/>
              </a:rPr>
              <a:t>数据结构溢出</a:t>
            </a:r>
            <a:r>
              <a:rPr lang="zh-CN" altLang="en-US">
                <a:sym typeface="+mn-ea"/>
              </a:rPr>
              <a:t>缺陷：</a:t>
            </a:r>
            <a:endParaRPr lang="zh-CN" altLang="en-US">
              <a:sym typeface="+mn-ea"/>
            </a:endParaRPr>
          </a:p>
          <a:p>
            <a:pPr lvl="1"/>
            <a:r>
              <a:rPr lang="zh-CN" altLang="en-US"/>
              <a:t>确定数据结构的界限，尝试将过多的值输入数据结构。</a:t>
            </a:r>
            <a:endParaRPr lang="zh-CN" altLang="en-US"/>
          </a:p>
          <a:p>
            <a:pPr lvl="1"/>
            <a:r>
              <a:rPr lang="zh-CN" altLang="en-US"/>
              <a:t>应该特别注意界限为数据类型的边界256、1024、32768 等上溢的测试。</a:t>
            </a:r>
            <a:endParaRPr lang="zh-CN" altLang="en-US"/>
          </a:p>
          <a:p>
            <a:pPr lvl="1"/>
            <a:r>
              <a:rPr lang="zh-CN" altLang="en-US"/>
              <a:t>对于下溢的测试，可以尝试多删除一个数据，例如当结构为空时，尝试再删除，或者添加一个数据，尝试删除两个数据时的情况。</a:t>
            </a:r>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a:t>
            </a:r>
            <a:r>
              <a:rPr lang="zh-CN" altLang="en-US">
                <a:solidFill>
                  <a:srgbClr val="C00000"/>
                </a:solidFill>
                <a:sym typeface="+mn-ea"/>
              </a:rPr>
              <a:t>数据结构溢出</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数据结构溢出</a:t>
            </a:r>
            <a:r>
              <a:rPr lang="zh-CN" altLang="en-US">
                <a:sym typeface="+mn-ea"/>
              </a:rPr>
              <a:t>缺陷</a:t>
            </a:r>
            <a:r>
              <a:rPr lang="zh-CN" altLang="en-US">
                <a:sym typeface="+mn-ea"/>
              </a:rPr>
              <a:t>的测试方法：</a:t>
            </a:r>
            <a:endParaRPr lang="zh-CN" altLang="en-US"/>
          </a:p>
        </p:txBody>
      </p:sp>
      <p:graphicFrame>
        <p:nvGraphicFramePr>
          <p:cNvPr id="5" name="表格 4"/>
          <p:cNvGraphicFramePr/>
          <p:nvPr>
            <p:custDataLst>
              <p:tags r:id="rId1"/>
            </p:custDataLst>
          </p:nvPr>
        </p:nvGraphicFramePr>
        <p:xfrm>
          <a:off x="1139190" y="2527300"/>
          <a:ext cx="9914255" cy="2465705"/>
        </p:xfrm>
        <a:graphic>
          <a:graphicData uri="http://schemas.openxmlformats.org/drawingml/2006/table">
            <a:tbl>
              <a:tblPr firstRow="1" bandRow="1">
                <a:tableStyleId>{BC89EF96-8CEA-46FF-86C4-4CE0E7609802}</a:tableStyleId>
              </a:tblPr>
              <a:tblGrid>
                <a:gridCol w="2651125"/>
                <a:gridCol w="7263130"/>
              </a:tblGrid>
              <a:tr h="71120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b="0">
                          <a:latin typeface="微软雅黑" panose="020B0503020204020204" charset="-122"/>
                          <a:ea typeface="微软雅黑" panose="020B0503020204020204" charset="-122"/>
                          <a:sym typeface="+mn-ea"/>
                        </a:rPr>
                        <a:t>程序中存在数组</a:t>
                      </a:r>
                      <a:endParaRPr lang="zh-CN" altLang="en-US" sz="2400" b="0">
                        <a:latin typeface="微软雅黑" panose="020B0503020204020204" charset="-122"/>
                        <a:ea typeface="微软雅黑" panose="020B0503020204020204" charset="-122"/>
                      </a:endParaRPr>
                    </a:p>
                  </a:txBody>
                  <a:tcPr anchor="ctr" anchorCtr="0"/>
                </a:tc>
              </a:tr>
              <a:tr h="8483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尝试将过多的值输入数据结构，测试上溢；</a:t>
                      </a:r>
                      <a:endParaRPr lang="zh-CN" altLang="en-US" sz="2400">
                        <a:latin typeface="微软雅黑" panose="020B0503020204020204" charset="-122"/>
                        <a:ea typeface="微软雅黑" panose="020B0503020204020204" charset="-122"/>
                        <a:sym typeface="+mn-ea"/>
                      </a:endParaRPr>
                    </a:p>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对于下溢的测试，可以尝试多删除一个数据</a:t>
                      </a:r>
                      <a:endParaRPr lang="zh-CN" altLang="en-US" sz="2400" b="0">
                        <a:latin typeface="微软雅黑" panose="020B0503020204020204" charset="-122"/>
                        <a:ea typeface="微软雅黑" panose="020B0503020204020204" charset="-122"/>
                      </a:endParaRPr>
                    </a:p>
                  </a:txBody>
                  <a:tcPr anchor="ctr" anchorCtr="0"/>
                </a:tc>
              </a:tr>
              <a:tr h="9061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全面理解需求规格说明书中的内容，确定数据结构的界限</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3600">
                <a:solidFill>
                  <a:srgbClr val="C00000"/>
                </a:solidFill>
                <a:sym typeface="+mn-ea"/>
              </a:rPr>
              <a:t>2.4 </a:t>
            </a:r>
            <a:r>
              <a:rPr lang="zh-CN" altLang="en-US" sz="3600">
                <a:solidFill>
                  <a:srgbClr val="C00000"/>
                </a:solidFill>
                <a:sym typeface="+mn-ea"/>
              </a:rPr>
              <a:t>软件功能性故障模式：数据结构不符合约束</a:t>
            </a:r>
            <a:endParaRPr lang="zh-CN" altLang="en-US" sz="3600">
              <a:solidFill>
                <a:srgbClr val="C00000"/>
              </a:solidFill>
              <a:sym typeface="+mn-ea"/>
            </a:endParaRPr>
          </a:p>
        </p:txBody>
      </p:sp>
      <p:sp>
        <p:nvSpPr>
          <p:cNvPr id="3" name="内容占位符 2"/>
          <p:cNvSpPr>
            <a:spLocks noGrp="1"/>
          </p:cNvSpPr>
          <p:nvPr>
            <p:ph idx="1"/>
          </p:nvPr>
        </p:nvSpPr>
        <p:spPr>
          <a:xfrm>
            <a:off x="838200" y="1538605"/>
            <a:ext cx="6044565" cy="4638675"/>
          </a:xfrm>
        </p:spPr>
        <p:txBody>
          <a:bodyPr>
            <a:normAutofit fontScale="90000"/>
          </a:bodyPr>
          <a:p>
            <a:r>
              <a:rPr lang="zh-CN" altLang="en-US">
                <a:sym typeface="+mn-ea"/>
              </a:rPr>
              <a:t>数据结构不符合</a:t>
            </a:r>
            <a:r>
              <a:rPr lang="zh-CN" altLang="en-US">
                <a:sym typeface="+mn-ea"/>
              </a:rPr>
              <a:t>约束缺陷产生</a:t>
            </a:r>
            <a:r>
              <a:rPr lang="zh-CN" altLang="en-US">
                <a:sym typeface="+mn-ea"/>
              </a:rPr>
              <a:t>原因：</a:t>
            </a:r>
            <a:endParaRPr lang="zh-CN" altLang="en-US">
              <a:sym typeface="+mn-ea"/>
            </a:endParaRPr>
          </a:p>
          <a:p>
            <a:pPr lvl="1"/>
            <a:r>
              <a:rPr lang="zh-CN" altLang="en-US"/>
              <a:t>在编程过程中对部数据结构都有所约束，包括大小、维数、类型、形状、屏幕上的位置等。</a:t>
            </a:r>
            <a:endParaRPr lang="zh-CN" altLang="en-US"/>
          </a:p>
          <a:p>
            <a:pPr lvl="1"/>
            <a:r>
              <a:rPr lang="zh-CN" altLang="en-US"/>
              <a:t>我们测试的重点就是用户能够设置的属性，这些属性使用了一组参数来约束。</a:t>
            </a:r>
            <a:endParaRPr lang="zh-CN" altLang="en-US"/>
          </a:p>
          <a:p>
            <a:pPr lvl="1"/>
            <a:r>
              <a:rPr lang="zh-CN" altLang="en-US">
                <a:sym typeface="+mn-ea"/>
              </a:rPr>
              <a:t>如果数据约束遭到破坏，可能导致系统崩溃，或者表现为响应时间延迟，错误信息不正确以及使用错误数据产生的无效输出</a:t>
            </a:r>
            <a:endParaRPr lang="zh-CN" altLang="en-US"/>
          </a:p>
        </p:txBody>
      </p:sp>
      <p:pic>
        <p:nvPicPr>
          <p:cNvPr id="4" name="图片 3"/>
          <p:cNvPicPr>
            <a:picLocks noChangeAspect="1"/>
          </p:cNvPicPr>
          <p:nvPr/>
        </p:nvPicPr>
        <p:blipFill>
          <a:blip r:embed="rId1"/>
          <a:stretch>
            <a:fillRect/>
          </a:stretch>
        </p:blipFill>
        <p:spPr>
          <a:xfrm>
            <a:off x="7331710" y="1250315"/>
            <a:ext cx="4318635" cy="53721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3600">
                <a:solidFill>
                  <a:srgbClr val="C00000"/>
                </a:solidFill>
                <a:sym typeface="+mn-ea"/>
              </a:rPr>
              <a:t>2.4 </a:t>
            </a:r>
            <a:r>
              <a:rPr lang="zh-CN" altLang="en-US" sz="3600">
                <a:solidFill>
                  <a:srgbClr val="C00000"/>
                </a:solidFill>
                <a:sym typeface="+mn-ea"/>
              </a:rPr>
              <a:t>软件功能性故障模式：数据结构不符合约束</a:t>
            </a:r>
            <a:endParaRPr lang="zh-CN" altLang="en-US" sz="3600">
              <a:solidFill>
                <a:srgbClr val="C00000"/>
              </a:solidFill>
              <a:sym typeface="+mn-ea"/>
            </a:endParaRPr>
          </a:p>
        </p:txBody>
      </p:sp>
      <p:sp>
        <p:nvSpPr>
          <p:cNvPr id="3" name="内容占位符 2"/>
          <p:cNvSpPr>
            <a:spLocks noGrp="1"/>
          </p:cNvSpPr>
          <p:nvPr>
            <p:ph idx="1"/>
          </p:nvPr>
        </p:nvSpPr>
        <p:spPr/>
        <p:txBody>
          <a:bodyPr>
            <a:normAutofit/>
          </a:bodyPr>
          <a:p>
            <a:r>
              <a:rPr lang="zh-CN" altLang="en-US">
                <a:sym typeface="+mn-ea"/>
              </a:rPr>
              <a:t>如何发现</a:t>
            </a:r>
            <a:r>
              <a:rPr lang="zh-CN" altLang="en-US">
                <a:sym typeface="+mn-ea"/>
              </a:rPr>
              <a:t>数据结构不符合约束</a:t>
            </a:r>
            <a:r>
              <a:rPr lang="zh-CN" altLang="en-US">
                <a:sym typeface="+mn-ea"/>
              </a:rPr>
              <a:t>缺陷：</a:t>
            </a:r>
            <a:endParaRPr lang="zh-CN" altLang="en-US">
              <a:sym typeface="+mn-ea"/>
            </a:endParaRPr>
          </a:p>
          <a:p>
            <a:pPr lvl="1"/>
            <a:r>
              <a:rPr lang="zh-CN" altLang="en-US"/>
              <a:t>确认候选数据，并列出其可修改的属性。对每个属性列出有效值的允许围、约束的条件等。</a:t>
            </a:r>
            <a:endParaRPr lang="zh-CN" altLang="en-US"/>
          </a:p>
          <a:p>
            <a:pPr lvl="1"/>
            <a:r>
              <a:rPr lang="zh-CN" altLang="en-US"/>
              <a:t>确定所有可修改属性的功能位置。</a:t>
            </a:r>
            <a:endParaRPr lang="zh-CN" altLang="en-US"/>
          </a:p>
          <a:p>
            <a:pPr lvl="1"/>
            <a:r>
              <a:rPr lang="zh-CN" altLang="en-US"/>
              <a:t>对数据进行初始化，改变每个属性以确定是否正确进行了约束。</a:t>
            </a:r>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3600">
                <a:solidFill>
                  <a:srgbClr val="C00000"/>
                </a:solidFill>
                <a:sym typeface="+mn-ea"/>
              </a:rPr>
              <a:t>2.4 </a:t>
            </a:r>
            <a:r>
              <a:rPr lang="zh-CN" altLang="en-US" sz="3600">
                <a:solidFill>
                  <a:srgbClr val="C00000"/>
                </a:solidFill>
                <a:sym typeface="+mn-ea"/>
              </a:rPr>
              <a:t>软件功能性故障模式：数据结构不符合约束</a:t>
            </a:r>
            <a:endParaRPr lang="zh-CN" altLang="en-US" sz="3600">
              <a:solidFill>
                <a:srgbClr val="C00000"/>
              </a:solidFill>
              <a:sym typeface="+mn-ea"/>
            </a:endParaRPr>
          </a:p>
        </p:txBody>
      </p:sp>
      <p:sp>
        <p:nvSpPr>
          <p:cNvPr id="3" name="内容占位符 2"/>
          <p:cNvSpPr>
            <a:spLocks noGrp="1"/>
          </p:cNvSpPr>
          <p:nvPr>
            <p:ph idx="1"/>
          </p:nvPr>
        </p:nvSpPr>
        <p:spPr/>
        <p:txBody>
          <a:bodyPr/>
          <a:p>
            <a:r>
              <a:rPr lang="zh-CN" altLang="en-US">
                <a:sym typeface="+mn-ea"/>
              </a:rPr>
              <a:t>数据结构不符合约束</a:t>
            </a:r>
            <a:r>
              <a:rPr lang="zh-CN" altLang="en-US">
                <a:sym typeface="+mn-ea"/>
              </a:rPr>
              <a:t>缺陷</a:t>
            </a:r>
            <a:r>
              <a:rPr lang="zh-CN" altLang="en-US">
                <a:sym typeface="+mn-ea"/>
              </a:rPr>
              <a:t>的测试方法：</a:t>
            </a:r>
            <a:endParaRPr lang="zh-CN" altLang="en-US"/>
          </a:p>
        </p:txBody>
      </p:sp>
      <p:graphicFrame>
        <p:nvGraphicFramePr>
          <p:cNvPr id="5" name="表格 4"/>
          <p:cNvGraphicFramePr/>
          <p:nvPr>
            <p:custDataLst>
              <p:tags r:id="rId1"/>
            </p:custDataLst>
          </p:nvPr>
        </p:nvGraphicFramePr>
        <p:xfrm>
          <a:off x="1139190" y="2456815"/>
          <a:ext cx="9914255" cy="2592705"/>
        </p:xfrm>
        <a:graphic>
          <a:graphicData uri="http://schemas.openxmlformats.org/drawingml/2006/table">
            <a:tbl>
              <a:tblPr firstRow="1" bandRow="1">
                <a:tableStyleId>{BC89EF96-8CEA-46FF-86C4-4CE0E7609802}</a:tableStyleId>
              </a:tblPr>
              <a:tblGrid>
                <a:gridCol w="2651125"/>
                <a:gridCol w="7263130"/>
              </a:tblGrid>
              <a:tr h="71120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b="0">
                          <a:latin typeface="微软雅黑" panose="020B0503020204020204" charset="-122"/>
                          <a:ea typeface="微软雅黑" panose="020B0503020204020204" charset="-122"/>
                          <a:sym typeface="+mn-ea"/>
                        </a:rPr>
                        <a:t>应用程序</a:t>
                      </a:r>
                      <a:r>
                        <a:rPr lang="zh-CN" altLang="en-US" sz="2400" b="0">
                          <a:latin typeface="微软雅黑" panose="020B0503020204020204" charset="-122"/>
                          <a:ea typeface="微软雅黑" panose="020B0503020204020204" charset="-122"/>
                          <a:sym typeface="+mn-ea"/>
                        </a:rPr>
                        <a:t>内部的数据结构存在约束</a:t>
                      </a:r>
                      <a:endParaRPr lang="zh-CN" altLang="en-US" sz="2400" b="0">
                        <a:latin typeface="微软雅黑" panose="020B0503020204020204" charset="-122"/>
                        <a:ea typeface="微软雅黑" panose="020B0503020204020204" charset="-122"/>
                      </a:endParaRPr>
                    </a:p>
                  </a:txBody>
                  <a:tcPr anchor="ctr" anchorCtr="0"/>
                </a:tc>
              </a:tr>
              <a:tr h="8483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破坏</a:t>
                      </a:r>
                      <a:r>
                        <a:rPr lang="zh-CN" altLang="en-US" sz="2400">
                          <a:latin typeface="微软雅黑" panose="020B0503020204020204" charset="-122"/>
                          <a:ea typeface="微软雅黑" panose="020B0503020204020204" charset="-122"/>
                          <a:sym typeface="+mn-ea"/>
                        </a:rPr>
                        <a:t>内部数据结构的约束</a:t>
                      </a:r>
                      <a:endParaRPr lang="zh-CN" altLang="en-US" sz="2400" b="0">
                        <a:latin typeface="微软雅黑" panose="020B0503020204020204" charset="-122"/>
                        <a:ea typeface="微软雅黑" panose="020B0503020204020204" charset="-122"/>
                      </a:endParaRPr>
                    </a:p>
                  </a:txBody>
                  <a:tcPr anchor="ctr" anchorCtr="0"/>
                </a:tc>
              </a:tr>
              <a:tr h="9061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全面理解需求规格说明书中的内容，确定</a:t>
                      </a:r>
                      <a:r>
                        <a:rPr lang="zh-CN" altLang="en-US" sz="2400">
                          <a:latin typeface="微软雅黑" panose="020B0503020204020204" charset="-122"/>
                          <a:ea typeface="微软雅黑" panose="020B0503020204020204" charset="-122"/>
                          <a:sym typeface="+mn-ea"/>
                        </a:rPr>
                        <a:t>内部数据结构的所有约束</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3600">
                <a:solidFill>
                  <a:srgbClr val="C00000"/>
                </a:solidFill>
                <a:sym typeface="+mn-ea"/>
              </a:rPr>
              <a:t>2.4 </a:t>
            </a:r>
            <a:r>
              <a:rPr lang="zh-CN" altLang="en-US" sz="3600">
                <a:solidFill>
                  <a:srgbClr val="C00000"/>
                </a:solidFill>
                <a:sym typeface="+mn-ea"/>
              </a:rPr>
              <a:t>软件功能性故障模式：操作数与操作符不符</a:t>
            </a:r>
            <a:endParaRPr lang="zh-CN" altLang="en-US" sz="3600">
              <a:solidFill>
                <a:srgbClr val="C00000"/>
              </a:solidFill>
              <a:sym typeface="+mn-ea"/>
            </a:endParaRPr>
          </a:p>
        </p:txBody>
      </p:sp>
      <p:sp>
        <p:nvSpPr>
          <p:cNvPr id="3" name="内容占位符 2"/>
          <p:cNvSpPr>
            <a:spLocks noGrp="1"/>
          </p:cNvSpPr>
          <p:nvPr>
            <p:ph idx="1"/>
          </p:nvPr>
        </p:nvSpPr>
        <p:spPr/>
        <p:txBody>
          <a:bodyPr/>
          <a:p>
            <a:r>
              <a:rPr lang="zh-CN" altLang="en-US">
                <a:sym typeface="+mn-ea"/>
              </a:rPr>
              <a:t>操作数与操作符</a:t>
            </a:r>
            <a:r>
              <a:rPr lang="zh-CN" altLang="en-US">
                <a:sym typeface="+mn-ea"/>
              </a:rPr>
              <a:t>不符缺陷产生</a:t>
            </a:r>
            <a:r>
              <a:rPr lang="zh-CN" altLang="en-US">
                <a:sym typeface="+mn-ea"/>
              </a:rPr>
              <a:t>原因：</a:t>
            </a:r>
            <a:endParaRPr lang="zh-CN" altLang="en-US">
              <a:sym typeface="+mn-ea"/>
            </a:endParaRPr>
          </a:p>
          <a:p>
            <a:pPr lvl="1"/>
            <a:r>
              <a:rPr lang="zh-CN" altLang="en-US"/>
              <a:t>几乎每个运算符都有它无效的操作数，对于具体的操作符，开发人员在使用它们时，必须编写错误检查代码。</a:t>
            </a:r>
            <a:endParaRPr lang="zh-CN" altLang="en-US"/>
          </a:p>
          <a:p>
            <a:pPr lvl="1"/>
            <a:r>
              <a:rPr lang="zh-CN" altLang="en-US"/>
              <a:t>例如:</a:t>
            </a:r>
            <a:r>
              <a:rPr lang="en-US" altLang="zh-CN"/>
              <a:t> </a:t>
            </a:r>
            <a:r>
              <a:rPr lang="zh-CN" altLang="en-US"/>
              <a:t>除以零的问题。</a:t>
            </a:r>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3600">
                <a:solidFill>
                  <a:srgbClr val="C00000"/>
                </a:solidFill>
                <a:sym typeface="+mn-ea"/>
              </a:rPr>
              <a:t>2.4 </a:t>
            </a:r>
            <a:r>
              <a:rPr lang="zh-CN" altLang="en-US" sz="3600">
                <a:solidFill>
                  <a:srgbClr val="C00000"/>
                </a:solidFill>
                <a:sym typeface="+mn-ea"/>
              </a:rPr>
              <a:t>软件功能性故障模式：操作数与操作符不符</a:t>
            </a:r>
            <a:endParaRPr lang="zh-CN" altLang="en-US" sz="3600">
              <a:solidFill>
                <a:srgbClr val="C00000"/>
              </a:solidFill>
              <a:sym typeface="+mn-ea"/>
            </a:endParaRPr>
          </a:p>
        </p:txBody>
      </p:sp>
      <p:sp>
        <p:nvSpPr>
          <p:cNvPr id="3" name="内容占位符 2"/>
          <p:cNvSpPr>
            <a:spLocks noGrp="1"/>
          </p:cNvSpPr>
          <p:nvPr>
            <p:ph idx="1"/>
          </p:nvPr>
        </p:nvSpPr>
        <p:spPr/>
        <p:txBody>
          <a:bodyPr>
            <a:normAutofit/>
          </a:bodyPr>
          <a:p>
            <a:r>
              <a:rPr lang="zh-CN" altLang="en-US">
                <a:sym typeface="+mn-ea"/>
              </a:rPr>
              <a:t>如何发现</a:t>
            </a:r>
            <a:r>
              <a:rPr lang="zh-CN" altLang="en-US">
                <a:sym typeface="+mn-ea"/>
              </a:rPr>
              <a:t>操作数与操作符不符</a:t>
            </a:r>
            <a:r>
              <a:rPr lang="zh-CN" altLang="en-US">
                <a:sym typeface="+mn-ea"/>
              </a:rPr>
              <a:t>缺陷：</a:t>
            </a:r>
            <a:endParaRPr lang="zh-CN" altLang="en-US">
              <a:sym typeface="+mn-ea"/>
            </a:endParaRPr>
          </a:p>
          <a:p>
            <a:pPr lvl="1"/>
            <a:r>
              <a:rPr lang="zh-CN" altLang="en-US"/>
              <a:t>找到程序中包含的数据或输入</a:t>
            </a:r>
            <a:r>
              <a:rPr lang="zh-CN" altLang="en-US">
                <a:solidFill>
                  <a:srgbClr val="0000FF"/>
                </a:solidFill>
              </a:rPr>
              <a:t>[即操作数]</a:t>
            </a:r>
            <a:r>
              <a:rPr lang="zh-CN" altLang="en-US"/>
              <a:t>的计算</a:t>
            </a:r>
            <a:r>
              <a:rPr lang="zh-CN" altLang="en-US">
                <a:solidFill>
                  <a:srgbClr val="0000FF"/>
                </a:solidFill>
              </a:rPr>
              <a:t>[即操作符]</a:t>
            </a:r>
            <a:r>
              <a:rPr lang="zh-CN" altLang="en-US"/>
              <a:t>、数学表达式</a:t>
            </a:r>
            <a:r>
              <a:rPr lang="zh-CN" altLang="en-US">
                <a:solidFill>
                  <a:srgbClr val="0000FF"/>
                </a:solidFill>
              </a:rPr>
              <a:t>[即操作符和操作数的组合]</a:t>
            </a:r>
            <a:r>
              <a:rPr lang="zh-CN" altLang="en-US"/>
              <a:t>及对图形的操作。</a:t>
            </a:r>
            <a:endParaRPr lang="zh-CN" altLang="en-US"/>
          </a:p>
          <a:p>
            <a:pPr lvl="1"/>
            <a:r>
              <a:rPr lang="zh-CN" altLang="en-US"/>
              <a:t>另外，对多个操作数进行组合也更容易发生错误。</a:t>
            </a:r>
            <a:endParaRPr lang="zh-CN" altLang="en-US"/>
          </a:p>
          <a:p>
            <a:pPr lvl="2"/>
            <a:r>
              <a:rPr lang="zh-CN" altLang="en-US" sz="2200"/>
              <a:t>例如，字符和数字都可以使用"+”操作符。对字符通过"+"把它们连成一串；对数字通过"+”来进行加法运算。</a:t>
            </a:r>
            <a:endParaRPr lang="zh-CN" altLang="en-US" sz="2200"/>
          </a:p>
          <a:p>
            <a:pPr lvl="2"/>
            <a:r>
              <a:rPr lang="zh-CN" altLang="en-US" sz="2200"/>
              <a:t>如果系统尝试把字符和数字相加，即进行相互矛盾的操作，就会引起软件失效。</a:t>
            </a:r>
            <a:endParaRPr lang="zh-CN" altLang="en-US" sz="22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3600">
                <a:solidFill>
                  <a:srgbClr val="C00000"/>
                </a:solidFill>
                <a:sym typeface="+mn-ea"/>
              </a:rPr>
              <a:t>2.4 </a:t>
            </a:r>
            <a:r>
              <a:rPr lang="zh-CN" altLang="en-US" sz="3600">
                <a:solidFill>
                  <a:srgbClr val="C00000"/>
                </a:solidFill>
                <a:sym typeface="+mn-ea"/>
              </a:rPr>
              <a:t>软件功能性故障模式：操作数与操作符不符</a:t>
            </a:r>
            <a:endParaRPr lang="zh-CN" altLang="en-US" sz="3600">
              <a:solidFill>
                <a:srgbClr val="C00000"/>
              </a:solidFill>
              <a:sym typeface="+mn-ea"/>
            </a:endParaRPr>
          </a:p>
        </p:txBody>
      </p:sp>
      <p:sp>
        <p:nvSpPr>
          <p:cNvPr id="3" name="内容占位符 2"/>
          <p:cNvSpPr>
            <a:spLocks noGrp="1"/>
          </p:cNvSpPr>
          <p:nvPr>
            <p:ph idx="1"/>
          </p:nvPr>
        </p:nvSpPr>
        <p:spPr/>
        <p:txBody>
          <a:bodyPr/>
          <a:p>
            <a:r>
              <a:rPr lang="zh-CN" altLang="en-US">
                <a:sym typeface="+mn-ea"/>
              </a:rPr>
              <a:t>操作数与操作符不符</a:t>
            </a:r>
            <a:r>
              <a:rPr lang="zh-CN" altLang="en-US">
                <a:sym typeface="+mn-ea"/>
              </a:rPr>
              <a:t>缺陷</a:t>
            </a:r>
            <a:r>
              <a:rPr lang="zh-CN" altLang="en-US">
                <a:sym typeface="+mn-ea"/>
              </a:rPr>
              <a:t>的测试方法：</a:t>
            </a:r>
            <a:endParaRPr lang="zh-CN" altLang="en-US"/>
          </a:p>
        </p:txBody>
      </p:sp>
      <p:graphicFrame>
        <p:nvGraphicFramePr>
          <p:cNvPr id="5" name="表格 4"/>
          <p:cNvGraphicFramePr/>
          <p:nvPr>
            <p:custDataLst>
              <p:tags r:id="rId1"/>
            </p:custDataLst>
          </p:nvPr>
        </p:nvGraphicFramePr>
        <p:xfrm>
          <a:off x="1139190" y="2483485"/>
          <a:ext cx="9914255" cy="2592705"/>
        </p:xfrm>
        <a:graphic>
          <a:graphicData uri="http://schemas.openxmlformats.org/drawingml/2006/table">
            <a:tbl>
              <a:tblPr firstRow="1" bandRow="1">
                <a:tableStyleId>{BC89EF96-8CEA-46FF-86C4-4CE0E7609802}</a:tableStyleId>
              </a:tblPr>
              <a:tblGrid>
                <a:gridCol w="2651125"/>
                <a:gridCol w="7263130"/>
              </a:tblGrid>
              <a:tr h="71120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indent="0" algn="l" fontAlgn="auto">
                        <a:lnSpc>
                          <a:spcPts val="3580"/>
                        </a:lnSpc>
                        <a:spcBef>
                          <a:spcPts val="600"/>
                        </a:spcBef>
                        <a:spcAft>
                          <a:spcPts val="600"/>
                        </a:spcAft>
                        <a:buClrTx/>
                        <a:buSzTx/>
                        <a:buFontTx/>
                        <a:buNone/>
                      </a:pPr>
                      <a:r>
                        <a:rPr lang="zh-CN" altLang="en-US" sz="2400" b="0">
                          <a:latin typeface="微软雅黑" panose="020B0503020204020204" charset="-122"/>
                          <a:ea typeface="微软雅黑" panose="020B0503020204020204" charset="-122"/>
                          <a:sym typeface="+mn-ea"/>
                        </a:rPr>
                        <a:t>需要进行数值计算的程序或图形操作的程序</a:t>
                      </a:r>
                      <a:endParaRPr lang="zh-CN" altLang="en-US" sz="2400" b="0">
                        <a:latin typeface="微软雅黑" panose="020B0503020204020204" charset="-122"/>
                        <a:ea typeface="微软雅黑" panose="020B0503020204020204" charset="-122"/>
                      </a:endParaRPr>
                    </a:p>
                  </a:txBody>
                  <a:tcPr anchor="ctr" anchorCtr="0"/>
                </a:tc>
              </a:tr>
              <a:tr h="8483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indent="0" algn="l" fontAlgn="auto">
                        <a:lnSpc>
                          <a:spcPts val="3580"/>
                        </a:lnSpc>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对于数值计算考虑操作数和操作符之间的限定关系，对于图形计算还要考虑各种输入数据之间的组合关系</a:t>
                      </a:r>
                      <a:endParaRPr lang="zh-CN" altLang="en-US" sz="2400" b="0">
                        <a:latin typeface="微软雅黑" panose="020B0503020204020204" charset="-122"/>
                        <a:ea typeface="微软雅黑" panose="020B0503020204020204" charset="-122"/>
                      </a:endParaRPr>
                    </a:p>
                  </a:txBody>
                  <a:tcPr anchor="ctr" anchorCtr="0"/>
                </a:tc>
              </a:tr>
              <a:tr h="9061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indent="0" algn="l" fontAlgn="auto">
                        <a:lnSpc>
                          <a:spcPts val="3580"/>
                        </a:lnSpc>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全面掌握被测软件中操作符对操作数的要求。掌握不同的操作符和操作数具有的不同的有效和无效的取值围</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软件功能性故障模式：递归调用</a:t>
            </a:r>
            <a:r>
              <a:rPr lang="zh-CN" altLang="en-US">
                <a:solidFill>
                  <a:srgbClr val="C00000"/>
                </a:solidFill>
                <a:sym typeface="+mn-ea"/>
              </a:rPr>
              <a:t>自身</a:t>
            </a:r>
            <a:endParaRPr lang="zh-CN" altLang="en-US">
              <a:solidFill>
                <a:srgbClr val="C00000"/>
              </a:solidFill>
              <a:sym typeface="+mn-ea"/>
            </a:endParaRPr>
          </a:p>
        </p:txBody>
      </p:sp>
      <p:sp>
        <p:nvSpPr>
          <p:cNvPr id="3" name="内容占位符 2"/>
          <p:cNvSpPr>
            <a:spLocks noGrp="1"/>
          </p:cNvSpPr>
          <p:nvPr>
            <p:ph idx="1"/>
          </p:nvPr>
        </p:nvSpPr>
        <p:spPr>
          <a:xfrm>
            <a:off x="838200" y="1538605"/>
            <a:ext cx="5538470" cy="4638675"/>
          </a:xfrm>
        </p:spPr>
        <p:txBody>
          <a:bodyPr>
            <a:normAutofit lnSpcReduction="20000"/>
          </a:bodyPr>
          <a:p>
            <a:r>
              <a:rPr lang="zh-CN" altLang="en-US">
                <a:sym typeface="+mn-ea"/>
              </a:rPr>
              <a:t>递归调用自身</a:t>
            </a:r>
            <a:r>
              <a:rPr lang="zh-CN" altLang="en-US">
                <a:sym typeface="+mn-ea"/>
              </a:rPr>
              <a:t>缺陷产生</a:t>
            </a:r>
            <a:r>
              <a:rPr lang="zh-CN" altLang="en-US">
                <a:sym typeface="+mn-ea"/>
              </a:rPr>
              <a:t>原因：</a:t>
            </a:r>
            <a:endParaRPr lang="zh-CN" altLang="en-US">
              <a:sym typeface="+mn-ea"/>
            </a:endParaRPr>
          </a:p>
          <a:p>
            <a:pPr lvl="1">
              <a:lnSpc>
                <a:spcPts val="3380"/>
              </a:lnSpc>
            </a:pPr>
            <a:r>
              <a:rPr lang="zh-CN" altLang="en-US"/>
              <a:t>函数有时会递归调用自身，如果不限制执行次数，递归就会出现问题，它不断地调用自身，很快地占用机器资源，最终产生溢出，使程序崩溃或挂起。</a:t>
            </a:r>
            <a:endParaRPr lang="zh-CN" altLang="en-US"/>
          </a:p>
          <a:p>
            <a:pPr lvl="1">
              <a:lnSpc>
                <a:spcPts val="3380"/>
              </a:lnSpc>
            </a:pPr>
            <a:r>
              <a:rPr lang="zh-CN" altLang="en-US"/>
              <a:t>产生这类问题的主要原因是开发人员没有编码来保证循环和递归调用的终止，通常是在循环的开场或完毕时缺少检查条件。</a:t>
            </a:r>
            <a:endParaRPr lang="zh-CN" altLang="en-US"/>
          </a:p>
        </p:txBody>
      </p:sp>
      <p:pic>
        <p:nvPicPr>
          <p:cNvPr id="4" name="图片 3"/>
          <p:cNvPicPr/>
          <p:nvPr/>
        </p:nvPicPr>
        <p:blipFill>
          <a:blip r:embed="rId1"/>
        </p:blipFill>
        <p:spPr>
          <a:xfrm>
            <a:off x="6513195" y="2132330"/>
            <a:ext cx="5501640" cy="306324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a:t>
            </a:r>
            <a:r>
              <a:rPr lang="zh-CN" altLang="en-US">
                <a:solidFill>
                  <a:srgbClr val="C00000"/>
                </a:solidFill>
                <a:sym typeface="+mn-ea"/>
              </a:rPr>
              <a:t>递归调用自身</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如何发现</a:t>
            </a:r>
            <a:r>
              <a:rPr lang="zh-CN" altLang="en-US">
                <a:sym typeface="+mn-ea"/>
              </a:rPr>
              <a:t>递归调用自身</a:t>
            </a:r>
            <a:r>
              <a:rPr lang="zh-CN" altLang="en-US">
                <a:sym typeface="+mn-ea"/>
              </a:rPr>
              <a:t>缺陷：</a:t>
            </a:r>
            <a:endParaRPr lang="zh-CN" altLang="en-US">
              <a:sym typeface="+mn-ea"/>
            </a:endParaRPr>
          </a:p>
          <a:p>
            <a:pPr lvl="1"/>
            <a:r>
              <a:rPr lang="zh-CN" altLang="en-US"/>
              <a:t>在软件中寻找可以使用递归调用的功能。</a:t>
            </a:r>
            <a:endParaRPr lang="zh-CN" altLang="en-US"/>
          </a:p>
          <a:p>
            <a:pPr lvl="1"/>
            <a:r>
              <a:rPr lang="zh-CN" altLang="en-US"/>
              <a:t>这时可以制作一个列表，标明软件中可能嵌入递归的功能的列表，然后自己引用自己来检查程序是否能正确处理。</a:t>
            </a:r>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a:t>
            </a:r>
            <a:r>
              <a:rPr lang="zh-CN" altLang="en-US">
                <a:solidFill>
                  <a:srgbClr val="C00000"/>
                </a:solidFill>
                <a:sym typeface="+mn-ea"/>
              </a:rPr>
              <a:t>递归调用自身</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递归调用自身</a:t>
            </a:r>
            <a:r>
              <a:rPr lang="zh-CN" altLang="en-US">
                <a:sym typeface="+mn-ea"/>
              </a:rPr>
              <a:t>缺陷的测试方法：</a:t>
            </a:r>
            <a:endParaRPr lang="zh-CN" altLang="en-US"/>
          </a:p>
        </p:txBody>
      </p:sp>
      <p:graphicFrame>
        <p:nvGraphicFramePr>
          <p:cNvPr id="5" name="表格 4"/>
          <p:cNvGraphicFramePr/>
          <p:nvPr>
            <p:custDataLst>
              <p:tags r:id="rId1"/>
            </p:custDataLst>
          </p:nvPr>
        </p:nvGraphicFramePr>
        <p:xfrm>
          <a:off x="1138555" y="2447925"/>
          <a:ext cx="9914255" cy="2748280"/>
        </p:xfrm>
        <a:graphic>
          <a:graphicData uri="http://schemas.openxmlformats.org/drawingml/2006/table">
            <a:tbl>
              <a:tblPr firstRow="1" bandRow="1">
                <a:tableStyleId>{BC89EF96-8CEA-46FF-86C4-4CE0E7609802}</a:tableStyleId>
              </a:tblPr>
              <a:tblGrid>
                <a:gridCol w="2651125"/>
                <a:gridCol w="7263130"/>
              </a:tblGrid>
              <a:tr h="71120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b="0">
                          <a:latin typeface="微软雅黑" panose="020B0503020204020204" charset="-122"/>
                          <a:ea typeface="微软雅黑" panose="020B0503020204020204" charset="-122"/>
                          <a:sym typeface="+mn-ea"/>
                        </a:rPr>
                        <a:t>需要和其它对象进行交互的地方</a:t>
                      </a:r>
                      <a:endParaRPr lang="zh-CN" altLang="en-US" sz="2400" b="0">
                        <a:latin typeface="微软雅黑" panose="020B0503020204020204" charset="-122"/>
                        <a:ea typeface="微软雅黑" panose="020B0503020204020204" charset="-122"/>
                      </a:endParaRPr>
                    </a:p>
                  </a:txBody>
                  <a:tcPr anchor="ctr" anchorCtr="0"/>
                </a:tc>
              </a:tr>
              <a:tr h="8483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考虑对象的自我交互或复制</a:t>
                      </a:r>
                      <a:endParaRPr lang="zh-CN" altLang="en-US" sz="2400" b="0">
                        <a:latin typeface="微软雅黑" panose="020B0503020204020204" charset="-122"/>
                        <a:ea typeface="微软雅黑" panose="020B0503020204020204" charset="-122"/>
                      </a:endParaRPr>
                    </a:p>
                  </a:txBody>
                  <a:tcPr anchor="ctr" anchorCtr="0"/>
                </a:tc>
              </a:tr>
              <a:tr h="9061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全面掌握被测软件的需求</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软件功能性故障模式：计算结果</a:t>
            </a:r>
            <a:r>
              <a:rPr lang="zh-CN" altLang="en-US">
                <a:solidFill>
                  <a:srgbClr val="C00000"/>
                </a:solidFill>
                <a:sym typeface="+mn-ea"/>
              </a:rPr>
              <a:t>溢出</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计算结果溢出</a:t>
            </a:r>
            <a:r>
              <a:rPr lang="zh-CN" altLang="en-US">
                <a:sym typeface="+mn-ea"/>
              </a:rPr>
              <a:t>缺陷产生</a:t>
            </a:r>
            <a:r>
              <a:rPr lang="zh-CN" altLang="en-US">
                <a:sym typeface="+mn-ea"/>
              </a:rPr>
              <a:t>原因：</a:t>
            </a:r>
            <a:endParaRPr lang="zh-CN" altLang="en-US">
              <a:sym typeface="+mn-ea"/>
            </a:endParaRPr>
          </a:p>
          <a:p>
            <a:pPr lvl="1"/>
            <a:r>
              <a:rPr lang="zh-CN" altLang="en-US"/>
              <a:t>当所有的输入和数据都有效时，计算的最终结果也可以是无效的。</a:t>
            </a:r>
            <a:endParaRPr lang="zh-CN" altLang="en-US"/>
          </a:p>
          <a:p>
            <a:pPr lvl="1"/>
            <a:r>
              <a:rPr lang="zh-CN" altLang="en-US"/>
              <a:t>所有变量都有值域</a:t>
            </a:r>
            <a:r>
              <a:rPr lang="zh-CN" altLang="en-US"/>
              <a:t>范围，有时开发人员在执行计算时会忘记检查这些上限。</a:t>
            </a:r>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a:t>
            </a:r>
            <a:r>
              <a:rPr lang="zh-CN" altLang="en-US">
                <a:solidFill>
                  <a:srgbClr val="C00000"/>
                </a:solidFill>
                <a:sym typeface="+mn-ea"/>
              </a:rPr>
              <a:t>计算结果溢出</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如何发现</a:t>
            </a:r>
            <a:r>
              <a:rPr lang="zh-CN" altLang="en-US">
                <a:sym typeface="+mn-ea"/>
              </a:rPr>
              <a:t>计算结果溢出</a:t>
            </a:r>
            <a:r>
              <a:rPr lang="zh-CN" altLang="en-US">
                <a:sym typeface="+mn-ea"/>
              </a:rPr>
              <a:t>缺陷：</a:t>
            </a:r>
            <a:endParaRPr lang="zh-CN" altLang="en-US">
              <a:sym typeface="+mn-ea"/>
            </a:endParaRPr>
          </a:p>
          <a:p>
            <a:pPr lvl="1"/>
            <a:r>
              <a:rPr lang="zh-CN" altLang="en-US"/>
              <a:t>一次又一次地执行计算或使用很大或很小的输入和数据进行计算</a:t>
            </a:r>
            <a:endParaRPr lang="zh-CN" altLang="en-US"/>
          </a:p>
          <a:p>
            <a:pPr lvl="1"/>
            <a:r>
              <a:rPr lang="zh-CN" altLang="en-US"/>
              <a:t>重点测试数据类型的初始值或边界值附近的值。</a:t>
            </a:r>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a:t>
            </a:r>
            <a:r>
              <a:rPr lang="zh-CN" altLang="en-US">
                <a:solidFill>
                  <a:srgbClr val="C00000"/>
                </a:solidFill>
                <a:sym typeface="+mn-ea"/>
              </a:rPr>
              <a:t>计算结果溢出</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计算结果溢出</a:t>
            </a:r>
            <a:r>
              <a:rPr lang="zh-CN" altLang="en-US">
                <a:sym typeface="+mn-ea"/>
              </a:rPr>
              <a:t>缺陷</a:t>
            </a:r>
            <a:r>
              <a:rPr lang="zh-CN" altLang="en-US">
                <a:sym typeface="+mn-ea"/>
              </a:rPr>
              <a:t>的测试方法：</a:t>
            </a:r>
            <a:endParaRPr lang="zh-CN" altLang="en-US"/>
          </a:p>
        </p:txBody>
      </p:sp>
      <p:graphicFrame>
        <p:nvGraphicFramePr>
          <p:cNvPr id="5" name="表格 4"/>
          <p:cNvGraphicFramePr/>
          <p:nvPr>
            <p:custDataLst>
              <p:tags r:id="rId1"/>
            </p:custDataLst>
          </p:nvPr>
        </p:nvGraphicFramePr>
        <p:xfrm>
          <a:off x="1138555" y="2394585"/>
          <a:ext cx="9914255" cy="2577465"/>
        </p:xfrm>
        <a:graphic>
          <a:graphicData uri="http://schemas.openxmlformats.org/drawingml/2006/table">
            <a:tbl>
              <a:tblPr firstRow="1" bandRow="1">
                <a:tableStyleId>{BC89EF96-8CEA-46FF-86C4-4CE0E7609802}</a:tableStyleId>
              </a:tblPr>
              <a:tblGrid>
                <a:gridCol w="2297430"/>
                <a:gridCol w="7616825"/>
              </a:tblGrid>
              <a:tr h="8229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b="0">
                          <a:latin typeface="微软雅黑" panose="020B0503020204020204" charset="-122"/>
                          <a:ea typeface="微软雅黑" panose="020B0503020204020204" charset="-122"/>
                          <a:sym typeface="+mn-ea"/>
                        </a:rPr>
                        <a:t>应用程序执行能够导出待产生结果并进行部存储的计算</a:t>
                      </a:r>
                      <a:endParaRPr lang="zh-CN" altLang="en-US" sz="2400" b="0">
                        <a:latin typeface="微软雅黑" panose="020B0503020204020204" charset="-122"/>
                        <a:ea typeface="微软雅黑" panose="020B0503020204020204" charset="-122"/>
                      </a:endParaRPr>
                    </a:p>
                  </a:txBody>
                  <a:tcPr anchor="ctr" anchorCtr="0"/>
                </a:tc>
              </a:tr>
              <a:tr h="8483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强制数据产生上溢或下溢</a:t>
                      </a:r>
                      <a:endParaRPr lang="zh-CN" altLang="en-US" sz="2400" b="0">
                        <a:latin typeface="微软雅黑" panose="020B0503020204020204" charset="-122"/>
                        <a:ea typeface="微软雅黑" panose="020B0503020204020204" charset="-122"/>
                      </a:endParaRPr>
                    </a:p>
                  </a:txBody>
                  <a:tcPr anchor="ctr" anchorCtr="0"/>
                </a:tc>
              </a:tr>
              <a:tr h="9061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全面掌握被测软件的需求，了解计算变量的上下限</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Autofit/>
          </a:bodyPr>
          <a:p>
            <a:r>
              <a:rPr lang="en-US" altLang="zh-CN" sz="3200">
                <a:solidFill>
                  <a:srgbClr val="C00000"/>
                </a:solidFill>
                <a:sym typeface="+mn-ea"/>
              </a:rPr>
              <a:t>2.4 </a:t>
            </a:r>
            <a:r>
              <a:rPr lang="zh-CN" altLang="en-US" sz="3200">
                <a:solidFill>
                  <a:srgbClr val="C00000"/>
                </a:solidFill>
                <a:sym typeface="+mn-ea"/>
              </a:rPr>
              <a:t>软件功能性故障模式：数据共享或关联功能计算错误</a:t>
            </a:r>
            <a:endParaRPr lang="zh-CN" altLang="en-US" sz="3200">
              <a:solidFill>
                <a:srgbClr val="C00000"/>
              </a:solidFill>
              <a:sym typeface="+mn-ea"/>
            </a:endParaRPr>
          </a:p>
        </p:txBody>
      </p:sp>
      <p:sp>
        <p:nvSpPr>
          <p:cNvPr id="3" name="内容占位符 2"/>
          <p:cNvSpPr>
            <a:spLocks noGrp="1"/>
          </p:cNvSpPr>
          <p:nvPr>
            <p:ph idx="1"/>
          </p:nvPr>
        </p:nvSpPr>
        <p:spPr>
          <a:xfrm>
            <a:off x="838200" y="1538605"/>
            <a:ext cx="6048375" cy="4638675"/>
          </a:xfrm>
        </p:spPr>
        <p:txBody>
          <a:bodyPr>
            <a:normAutofit lnSpcReduction="10000"/>
          </a:bodyPr>
          <a:p>
            <a:r>
              <a:rPr lang="zh-CN" altLang="en-US">
                <a:sym typeface="+mn-ea"/>
              </a:rPr>
              <a:t>数据共享或关联功能计算错误</a:t>
            </a:r>
            <a:r>
              <a:rPr lang="zh-CN" altLang="en-US">
                <a:sym typeface="+mn-ea"/>
              </a:rPr>
              <a:t>缺陷产生</a:t>
            </a:r>
            <a:r>
              <a:rPr lang="zh-CN" altLang="en-US">
                <a:sym typeface="+mn-ea"/>
              </a:rPr>
              <a:t>原因：</a:t>
            </a:r>
            <a:endParaRPr lang="zh-CN" altLang="en-US">
              <a:sym typeface="+mn-ea"/>
            </a:endParaRPr>
          </a:p>
          <a:p>
            <a:pPr lvl="1"/>
            <a:r>
              <a:rPr lang="zh-CN" altLang="en-US"/>
              <a:t>通常对孤立的功能进行测试时不会发生很多缺陷，而当把单独的功能和同一软件中的其它功能结合时，就可能出现很多软件缺陷。</a:t>
            </a:r>
            <a:endParaRPr lang="zh-CN" altLang="en-US"/>
          </a:p>
          <a:p>
            <a:pPr lvl="1"/>
            <a:r>
              <a:rPr lang="zh-CN" altLang="en-US"/>
              <a:t>这种缺陷的产生往往是在两个或更多的功能使用了</a:t>
            </a:r>
            <a:r>
              <a:rPr lang="zh-CN" altLang="en-US" b="1">
                <a:solidFill>
                  <a:srgbClr val="FF0000"/>
                </a:solidFill>
              </a:rPr>
              <a:t>共享数据集</a:t>
            </a:r>
            <a:r>
              <a:rPr lang="zh-CN" altLang="en-US"/>
              <a:t>，而每个功能允许使用的数据围不同引起的。</a:t>
            </a:r>
            <a:endParaRPr lang="zh-CN" altLang="en-US"/>
          </a:p>
        </p:txBody>
      </p:sp>
      <p:pic>
        <p:nvPicPr>
          <p:cNvPr id="4" name="图片 3"/>
          <p:cNvPicPr/>
          <p:nvPr/>
        </p:nvPicPr>
        <p:blipFill>
          <a:blip r:embed="rId1"/>
        </p:blipFill>
        <p:spPr>
          <a:xfrm>
            <a:off x="7136130" y="1539240"/>
            <a:ext cx="5055870" cy="457073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Autofit/>
          </a:bodyPr>
          <a:p>
            <a:r>
              <a:rPr lang="en-US" altLang="zh-CN" sz="3200">
                <a:solidFill>
                  <a:srgbClr val="C00000"/>
                </a:solidFill>
                <a:sym typeface="+mn-ea"/>
              </a:rPr>
              <a:t>2.4 </a:t>
            </a:r>
            <a:r>
              <a:rPr lang="zh-CN" altLang="en-US" sz="3200">
                <a:solidFill>
                  <a:srgbClr val="C00000"/>
                </a:solidFill>
                <a:sym typeface="+mn-ea"/>
              </a:rPr>
              <a:t>软件功能性故障模式：数据共享或关联功能计算错误</a:t>
            </a:r>
            <a:endParaRPr lang="zh-CN" altLang="en-US" sz="3200">
              <a:solidFill>
                <a:srgbClr val="C00000"/>
              </a:solidFill>
              <a:sym typeface="+mn-ea"/>
            </a:endParaRPr>
          </a:p>
        </p:txBody>
      </p:sp>
      <p:sp>
        <p:nvSpPr>
          <p:cNvPr id="3" name="内容占位符 2"/>
          <p:cNvSpPr>
            <a:spLocks noGrp="1"/>
          </p:cNvSpPr>
          <p:nvPr>
            <p:ph idx="1"/>
          </p:nvPr>
        </p:nvSpPr>
        <p:spPr>
          <a:xfrm>
            <a:off x="838200" y="1538605"/>
            <a:ext cx="6153785" cy="4638675"/>
          </a:xfrm>
        </p:spPr>
        <p:txBody>
          <a:bodyPr>
            <a:normAutofit fontScale="90000"/>
          </a:bodyPr>
          <a:p>
            <a:r>
              <a:rPr lang="zh-CN" altLang="en-US">
                <a:sym typeface="+mn-ea"/>
              </a:rPr>
              <a:t>缺陷产生</a:t>
            </a:r>
            <a:r>
              <a:rPr lang="zh-CN" altLang="en-US">
                <a:sym typeface="+mn-ea"/>
              </a:rPr>
              <a:t>原因：</a:t>
            </a:r>
            <a:endParaRPr lang="zh-CN" altLang="en-US">
              <a:sym typeface="+mn-ea"/>
            </a:endParaRPr>
          </a:p>
          <a:p>
            <a:pPr lvl="1"/>
            <a:r>
              <a:rPr lang="zh-CN" altLang="en-US"/>
              <a:t>例如，一个功能可能会将数据项设置为特定大小，然而另一个功能却允许该数据项的大小可以超过第一个功能的处理能力。</a:t>
            </a:r>
            <a:endParaRPr lang="zh-CN" altLang="en-US"/>
          </a:p>
          <a:p>
            <a:pPr lvl="1"/>
            <a:r>
              <a:rPr lang="zh-CN" altLang="en-US"/>
              <a:t>开发人员根本没考虑到该数据项在其它功能处也可以修改，他们只是编码保证在该功能中数据的合法性，而当使用该数据时，没有再编码来检查可以使用的</a:t>
            </a:r>
            <a:r>
              <a:rPr lang="zh-CN" altLang="en-US"/>
              <a:t>范围；而此时，另一个功能修改了共享数据，当再使用这些数据时就产生了缺陷。</a:t>
            </a:r>
            <a:endParaRPr lang="zh-CN" altLang="en-US"/>
          </a:p>
        </p:txBody>
      </p:sp>
      <p:pic>
        <p:nvPicPr>
          <p:cNvPr id="4" name="图片 3"/>
          <p:cNvPicPr/>
          <p:nvPr/>
        </p:nvPicPr>
        <p:blipFill>
          <a:blip r:embed="rId1"/>
        </p:blipFill>
        <p:spPr>
          <a:xfrm>
            <a:off x="7136130" y="1539240"/>
            <a:ext cx="5055870" cy="457073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Autofit/>
          </a:bodyPr>
          <a:p>
            <a:r>
              <a:rPr lang="en-US" altLang="zh-CN" sz="3200">
                <a:solidFill>
                  <a:srgbClr val="C00000"/>
                </a:solidFill>
                <a:sym typeface="+mn-ea"/>
              </a:rPr>
              <a:t>2.4 </a:t>
            </a:r>
            <a:r>
              <a:rPr lang="zh-CN" altLang="en-US" sz="3200">
                <a:solidFill>
                  <a:srgbClr val="C00000"/>
                </a:solidFill>
                <a:sym typeface="+mn-ea"/>
              </a:rPr>
              <a:t>软件功能性故障模式：</a:t>
            </a:r>
            <a:r>
              <a:rPr lang="zh-CN" altLang="en-US" sz="3200">
                <a:solidFill>
                  <a:srgbClr val="C00000"/>
                </a:solidFill>
                <a:sym typeface="+mn-ea"/>
              </a:rPr>
              <a:t>数据共享或关联功能计算错误</a:t>
            </a:r>
            <a:endParaRPr lang="zh-CN" altLang="en-US" sz="3200">
              <a:solidFill>
                <a:srgbClr val="C00000"/>
              </a:solidFill>
              <a:sym typeface="+mn-ea"/>
            </a:endParaRPr>
          </a:p>
        </p:txBody>
      </p:sp>
      <p:sp>
        <p:nvSpPr>
          <p:cNvPr id="3" name="内容占位符 2"/>
          <p:cNvSpPr>
            <a:spLocks noGrp="1"/>
          </p:cNvSpPr>
          <p:nvPr>
            <p:ph idx="1"/>
          </p:nvPr>
        </p:nvSpPr>
        <p:spPr>
          <a:xfrm>
            <a:off x="838200" y="1538605"/>
            <a:ext cx="10515600" cy="5186045"/>
          </a:xfrm>
        </p:spPr>
        <p:txBody>
          <a:bodyPr>
            <a:normAutofit fontScale="90000"/>
          </a:bodyPr>
          <a:p>
            <a:r>
              <a:rPr lang="zh-CN" altLang="en-US">
                <a:sym typeface="+mn-ea"/>
              </a:rPr>
              <a:t>如何发现</a:t>
            </a:r>
            <a:r>
              <a:rPr lang="zh-CN" altLang="en-US">
                <a:sym typeface="+mn-ea"/>
              </a:rPr>
              <a:t>数据共享或关联功能计算错误</a:t>
            </a:r>
            <a:r>
              <a:rPr lang="zh-CN" altLang="en-US">
                <a:sym typeface="+mn-ea"/>
              </a:rPr>
              <a:t>缺陷：</a:t>
            </a:r>
            <a:endParaRPr lang="zh-CN" altLang="en-US">
              <a:sym typeface="+mn-ea"/>
            </a:endParaRPr>
          </a:p>
          <a:p>
            <a:pPr lvl="1"/>
            <a:r>
              <a:rPr lang="zh-CN" altLang="en-US"/>
              <a:t>当应用程序在同一时间完成一个以上的功能或当一个以上的功能在同一时间处于运行状态时，就可以使用该方法进行测试。</a:t>
            </a:r>
            <a:endParaRPr lang="zh-CN" altLang="en-US"/>
          </a:p>
          <a:p>
            <a:pPr lvl="1"/>
            <a:r>
              <a:rPr lang="zh-CN" altLang="en-US"/>
              <a:t>利用一个功能影响输入、输入数据或另一个功能的计算。在测试前要确定哪些功能是相互依赖或共享数据的:</a:t>
            </a:r>
            <a:endParaRPr lang="zh-CN" altLang="en-US"/>
          </a:p>
          <a:p>
            <a:pPr lvl="2"/>
            <a:r>
              <a:rPr lang="zh-CN" altLang="en-US" b="1">
                <a:solidFill>
                  <a:srgbClr val="FF0000"/>
                </a:solidFill>
              </a:rPr>
              <a:t>能应用同样输入的每个功能</a:t>
            </a:r>
            <a:r>
              <a:rPr lang="zh-CN" altLang="en-US"/>
              <a:t>。如果这些功能有相互重叠的输入域，就可能存在交互问题。</a:t>
            </a:r>
            <a:endParaRPr lang="zh-CN" altLang="en-US"/>
          </a:p>
          <a:p>
            <a:pPr lvl="2"/>
            <a:r>
              <a:rPr lang="zh-CN" altLang="en-US" b="1">
                <a:solidFill>
                  <a:srgbClr val="FF0000"/>
                </a:solidFill>
              </a:rPr>
              <a:t>有类似的输出产生功能</a:t>
            </a:r>
            <a:r>
              <a:rPr lang="zh-CN" altLang="en-US"/>
              <a:t>。如果</a:t>
            </a:r>
            <a:r>
              <a:rPr lang="zh-CN" altLang="en-US"/>
              <a:t>这些功能结合起来产生单个输出，就说明这些部件之间存在关系，应该被一起测试。</a:t>
            </a:r>
            <a:endParaRPr lang="zh-CN" altLang="en-US"/>
          </a:p>
          <a:p>
            <a:pPr lvl="2"/>
            <a:r>
              <a:rPr lang="zh-CN" altLang="en-US" b="1">
                <a:solidFill>
                  <a:srgbClr val="FF0000"/>
                </a:solidFill>
              </a:rPr>
              <a:t>一个功能被包含在另一个功能的计算中</a:t>
            </a:r>
            <a:r>
              <a:rPr lang="zh-CN" altLang="en-US"/>
              <a:t>。例如要测试鼠标选取对象的功能，不仅要测度鼠标选取屏幕上的文本的功能，还可以把包含超文本、粗体、斜体、符号及图形元素放在一起，测试鼠标选取这些元素的功能。</a:t>
            </a:r>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Autofit/>
          </a:bodyPr>
          <a:p>
            <a:r>
              <a:rPr lang="en-US" altLang="zh-CN" sz="3200">
                <a:solidFill>
                  <a:srgbClr val="C00000"/>
                </a:solidFill>
                <a:sym typeface="+mn-ea"/>
              </a:rPr>
              <a:t>2.4 </a:t>
            </a:r>
            <a:r>
              <a:rPr lang="zh-CN" altLang="en-US" sz="3200">
                <a:solidFill>
                  <a:srgbClr val="C00000"/>
                </a:solidFill>
                <a:sym typeface="+mn-ea"/>
              </a:rPr>
              <a:t>软件功能性故障模式：</a:t>
            </a:r>
            <a:r>
              <a:rPr lang="zh-CN" altLang="en-US" sz="3200">
                <a:solidFill>
                  <a:srgbClr val="C00000"/>
                </a:solidFill>
                <a:sym typeface="+mn-ea"/>
              </a:rPr>
              <a:t>数据共享或关联功能计算错误</a:t>
            </a:r>
            <a:endParaRPr lang="zh-CN" altLang="en-US" sz="3200">
              <a:solidFill>
                <a:srgbClr val="C00000"/>
              </a:solidFill>
              <a:sym typeface="+mn-ea"/>
            </a:endParaRPr>
          </a:p>
        </p:txBody>
      </p:sp>
      <p:sp>
        <p:nvSpPr>
          <p:cNvPr id="3" name="内容占位符 2"/>
          <p:cNvSpPr>
            <a:spLocks noGrp="1"/>
          </p:cNvSpPr>
          <p:nvPr>
            <p:ph idx="1"/>
          </p:nvPr>
        </p:nvSpPr>
        <p:spPr/>
        <p:txBody>
          <a:bodyPr/>
          <a:p>
            <a:r>
              <a:rPr lang="zh-CN" altLang="en-US">
                <a:sym typeface="+mn-ea"/>
              </a:rPr>
              <a:t>数据共享或关联功能计算错误</a:t>
            </a:r>
            <a:r>
              <a:rPr lang="zh-CN" altLang="en-US">
                <a:sym typeface="+mn-ea"/>
              </a:rPr>
              <a:t>缺陷</a:t>
            </a:r>
            <a:r>
              <a:rPr lang="zh-CN" altLang="en-US">
                <a:sym typeface="+mn-ea"/>
              </a:rPr>
              <a:t>的测试方法：</a:t>
            </a:r>
            <a:endParaRPr lang="zh-CN" altLang="en-US"/>
          </a:p>
        </p:txBody>
      </p:sp>
      <p:graphicFrame>
        <p:nvGraphicFramePr>
          <p:cNvPr id="5" name="表格 4"/>
          <p:cNvGraphicFramePr/>
          <p:nvPr>
            <p:custDataLst>
              <p:tags r:id="rId1"/>
            </p:custDataLst>
          </p:nvPr>
        </p:nvGraphicFramePr>
        <p:xfrm>
          <a:off x="1112520" y="2427605"/>
          <a:ext cx="9914255" cy="2577465"/>
        </p:xfrm>
        <a:graphic>
          <a:graphicData uri="http://schemas.openxmlformats.org/drawingml/2006/table">
            <a:tbl>
              <a:tblPr firstRow="1" bandRow="1">
                <a:tableStyleId>{BC89EF96-8CEA-46FF-86C4-4CE0E7609802}</a:tableStyleId>
              </a:tblPr>
              <a:tblGrid>
                <a:gridCol w="2651125"/>
                <a:gridCol w="7263130"/>
              </a:tblGrid>
              <a:tr h="8229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b="0">
                          <a:latin typeface="微软雅黑" panose="020B0503020204020204" charset="-122"/>
                          <a:ea typeface="微软雅黑" panose="020B0503020204020204" charset="-122"/>
                          <a:sym typeface="+mn-ea"/>
                        </a:rPr>
                        <a:t>一个以上的功能在同一时间处于运行状态</a:t>
                      </a:r>
                      <a:endParaRPr lang="zh-CN" altLang="en-US" sz="2400" b="0">
                        <a:latin typeface="微软雅黑" panose="020B0503020204020204" charset="-122"/>
                        <a:ea typeface="微软雅黑" panose="020B0503020204020204" charset="-122"/>
                      </a:endParaRPr>
                    </a:p>
                  </a:txBody>
                  <a:tcPr anchor="ctr" anchorCtr="0"/>
                </a:tc>
              </a:tr>
              <a:tr h="8483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以点代面，重点测试这一功能，对可能与这个功能相连的其它功能附带测试</a:t>
                      </a:r>
                      <a:endParaRPr lang="zh-CN" altLang="en-US" sz="2400" b="0">
                        <a:latin typeface="微软雅黑" panose="020B0503020204020204" charset="-122"/>
                        <a:ea typeface="微软雅黑" panose="020B0503020204020204" charset="-122"/>
                      </a:endParaRPr>
                    </a:p>
                  </a:txBody>
                  <a:tcPr anchor="ctr" anchorCtr="0"/>
                </a:tc>
              </a:tr>
              <a:tr h="9061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全面掌握被测软件的需求，在测试之前对被测功能之间的依赖关联有所掌握，另外还需要对共享数据有所掌握</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软件功能性故障模式：文件系统超载</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文件系统超载缺陷产生</a:t>
            </a:r>
            <a:r>
              <a:rPr lang="zh-CN" altLang="en-US">
                <a:sym typeface="+mn-ea"/>
              </a:rPr>
              <a:t>原因：</a:t>
            </a:r>
            <a:endParaRPr lang="zh-CN" altLang="en-US">
              <a:sym typeface="+mn-ea"/>
            </a:endParaRPr>
          </a:p>
          <a:p>
            <a:pPr lvl="1"/>
            <a:r>
              <a:rPr lang="zh-CN" altLang="en-US"/>
              <a:t>开发人员可能会忘记编写代码处理满状态的文件系统，忽略了诸如CreateFile，WriteFile 等操作系统 API 的错误检查代码，没有这样的代码，当显示满状态的文件系统时，API 调用就会失败，软件就会在没有任何警告的情况下崩溃。</a:t>
            </a:r>
            <a:endParaRPr lang="zh-C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软件功能性故障模式：文件系统超载</a:t>
            </a:r>
            <a:endParaRPr lang="zh-CN" altLang="en-US">
              <a:solidFill>
                <a:srgbClr val="C00000"/>
              </a:solidFill>
              <a:sym typeface="+mn-ea"/>
            </a:endParaRPr>
          </a:p>
        </p:txBody>
      </p:sp>
      <p:sp>
        <p:nvSpPr>
          <p:cNvPr id="3" name="内容占位符 2"/>
          <p:cNvSpPr>
            <a:spLocks noGrp="1"/>
          </p:cNvSpPr>
          <p:nvPr>
            <p:ph idx="1"/>
          </p:nvPr>
        </p:nvSpPr>
        <p:spPr/>
        <p:txBody>
          <a:bodyPr>
            <a:normAutofit lnSpcReduction="10000"/>
          </a:bodyPr>
          <a:p>
            <a:r>
              <a:rPr lang="zh-CN" altLang="en-US">
                <a:sym typeface="+mn-ea"/>
              </a:rPr>
              <a:t>如何发现文件系统超载缺陷：</a:t>
            </a:r>
            <a:endParaRPr lang="zh-CN" altLang="en-US">
              <a:sym typeface="+mn-ea"/>
            </a:endParaRPr>
          </a:p>
          <a:p>
            <a:pPr lvl="1"/>
            <a:r>
              <a:rPr lang="zh-CN" altLang="en-US"/>
              <a:t>创立满容量或近乎满容量的文件系统，然后强制执行各种通过输入或输出访问文件系统的操作</a:t>
            </a:r>
            <a:endParaRPr lang="zh-CN" altLang="en-US"/>
          </a:p>
          <a:p>
            <a:pPr lvl="1"/>
            <a:r>
              <a:rPr lang="zh-CN" altLang="en-US"/>
              <a:t>或者打开足够多的文件，打开文件时会强制备份创立的副本，从而占用双倍的存储空间，这种操作到达一定程度时，会到达该系统的容量，于是就能测试应用程序处理超载状态的文件系统的能力。</a:t>
            </a:r>
            <a:endParaRPr lang="zh-CN" altLang="en-US"/>
          </a:p>
          <a:p>
            <a:pPr lvl="1"/>
            <a:r>
              <a:rPr lang="zh-CN" altLang="en-US"/>
              <a:t>通常通过磁盘配额实现</a:t>
            </a:r>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软件功能性故障模式：文件系统超载</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文件系统超载缺陷</a:t>
            </a:r>
            <a:r>
              <a:rPr lang="zh-CN" altLang="en-US">
                <a:sym typeface="+mn-ea"/>
              </a:rPr>
              <a:t>的测试方法：</a:t>
            </a:r>
            <a:endParaRPr lang="zh-CN" altLang="en-US"/>
          </a:p>
        </p:txBody>
      </p:sp>
      <p:graphicFrame>
        <p:nvGraphicFramePr>
          <p:cNvPr id="5" name="表格 4"/>
          <p:cNvGraphicFramePr/>
          <p:nvPr>
            <p:custDataLst>
              <p:tags r:id="rId1"/>
            </p:custDataLst>
          </p:nvPr>
        </p:nvGraphicFramePr>
        <p:xfrm>
          <a:off x="1139190" y="2399030"/>
          <a:ext cx="9914255" cy="2577465"/>
        </p:xfrm>
        <a:graphic>
          <a:graphicData uri="http://schemas.openxmlformats.org/drawingml/2006/table">
            <a:tbl>
              <a:tblPr firstRow="1" bandRow="1">
                <a:tableStyleId>{BC89EF96-8CEA-46FF-86C4-4CE0E7609802}</a:tableStyleId>
              </a:tblPr>
              <a:tblGrid>
                <a:gridCol w="2651125"/>
                <a:gridCol w="7263130"/>
              </a:tblGrid>
              <a:tr h="8229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b="0">
                          <a:latin typeface="微软雅黑" panose="020B0503020204020204" charset="-122"/>
                          <a:ea typeface="微软雅黑" panose="020B0503020204020204" charset="-122"/>
                          <a:sym typeface="+mn-ea"/>
                        </a:rPr>
                        <a:t>系统较大，运行时需要较大的空间</a:t>
                      </a:r>
                      <a:endParaRPr lang="zh-CN" altLang="en-US" sz="2400" b="0">
                        <a:latin typeface="微软雅黑" panose="020B0503020204020204" charset="-122"/>
                        <a:ea typeface="微软雅黑" panose="020B0503020204020204" charset="-122"/>
                      </a:endParaRPr>
                    </a:p>
                  </a:txBody>
                  <a:tcPr anchor="ctr" anchorCtr="0"/>
                </a:tc>
              </a:tr>
              <a:tr h="8483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强制磁盘系统满容量或容量小于等于被测软件运行时所需容量后，运行被测软件或利用测试工具模拟磁盘状况</a:t>
                      </a:r>
                      <a:endParaRPr lang="zh-CN" altLang="en-US" sz="2400" b="0">
                        <a:latin typeface="微软雅黑" panose="020B0503020204020204" charset="-122"/>
                        <a:ea typeface="微软雅黑" panose="020B0503020204020204" charset="-122"/>
                      </a:endParaRPr>
                    </a:p>
                  </a:txBody>
                  <a:tcPr anchor="ctr" anchorCtr="0"/>
                </a:tc>
              </a:tr>
              <a:tr h="9061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全面掌握被测软件的需求，了解被测软件处理超载状态的文件系统的能力</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软件功能性故障模式：介质忙或不可用</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介质忙或不可用缺陷产生</a:t>
            </a:r>
            <a:r>
              <a:rPr lang="zh-CN" altLang="en-US">
                <a:sym typeface="+mn-ea"/>
              </a:rPr>
              <a:t>原因：</a:t>
            </a:r>
            <a:endParaRPr lang="zh-CN" altLang="en-US">
              <a:sym typeface="+mn-ea"/>
            </a:endParaRPr>
          </a:p>
          <a:p>
            <a:pPr lvl="1"/>
            <a:r>
              <a:rPr lang="zh-CN" altLang="en-US"/>
              <a:t>当多个应用程序同时访问硬盘或其它存储器，操作系统为提供多请求</a:t>
            </a:r>
            <a:r>
              <a:rPr lang="zh-CN" altLang="en-US"/>
              <a:t>效率会慢下来，并且必须对应用程序进行编程以处理这些延迟，当延迟变得很长时，没有对这些错误进行响应的应用程序就会出现错误。</a:t>
            </a:r>
            <a:endParaRPr lang="zh-CN"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软件功能性故障模式：介质忙或不可用</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如何发现介质忙或不可用缺陷：</a:t>
            </a:r>
            <a:endParaRPr lang="zh-CN" altLang="en-US">
              <a:sym typeface="+mn-ea"/>
            </a:endParaRPr>
          </a:p>
          <a:p>
            <a:pPr lvl="1"/>
            <a:r>
              <a:rPr lang="zh-CN" altLang="en-US"/>
              <a:t>通过启动大量应用程序，强制它们都打开并保存文件使文件系统处理繁忙状态；</a:t>
            </a:r>
            <a:endParaRPr lang="zh-CN" altLang="en-US"/>
          </a:p>
          <a:p>
            <a:pPr lvl="1"/>
            <a:r>
              <a:rPr lang="zh-CN" altLang="en-US"/>
              <a:t>或者同时下载大量文件也可以使后台拥挤；</a:t>
            </a:r>
            <a:endParaRPr lang="zh-CN" altLang="en-US"/>
          </a:p>
          <a:p>
            <a:pPr lvl="1"/>
            <a:r>
              <a:rPr lang="zh-CN" altLang="en-US"/>
              <a:t>检查被测软件能否正确处理这种情况，应用程序应该给出错误信息或等待批示，提示用户正在处理。</a:t>
            </a:r>
            <a:endParaRPr lang="zh-CN"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软件功能性故障模式：介质忙或不可用</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介质忙或不可用缺陷</a:t>
            </a:r>
            <a:r>
              <a:rPr lang="zh-CN" altLang="en-US">
                <a:sym typeface="+mn-ea"/>
              </a:rPr>
              <a:t>的测试方法：</a:t>
            </a:r>
            <a:endParaRPr lang="zh-CN" altLang="en-US"/>
          </a:p>
        </p:txBody>
      </p:sp>
      <p:graphicFrame>
        <p:nvGraphicFramePr>
          <p:cNvPr id="5" name="表格 4"/>
          <p:cNvGraphicFramePr/>
          <p:nvPr>
            <p:custDataLst>
              <p:tags r:id="rId1"/>
            </p:custDataLst>
          </p:nvPr>
        </p:nvGraphicFramePr>
        <p:xfrm>
          <a:off x="1139190" y="2434590"/>
          <a:ext cx="9914255" cy="2577465"/>
        </p:xfrm>
        <a:graphic>
          <a:graphicData uri="http://schemas.openxmlformats.org/drawingml/2006/table">
            <a:tbl>
              <a:tblPr firstRow="1" bandRow="1">
                <a:tableStyleId>{BC89EF96-8CEA-46FF-86C4-4CE0E7609802}</a:tableStyleId>
              </a:tblPr>
              <a:tblGrid>
                <a:gridCol w="2651125"/>
                <a:gridCol w="7263130"/>
              </a:tblGrid>
              <a:tr h="8229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b="0">
                          <a:latin typeface="微软雅黑" panose="020B0503020204020204" charset="-122"/>
                          <a:ea typeface="微软雅黑" panose="020B0503020204020204" charset="-122"/>
                          <a:sym typeface="+mn-ea"/>
                        </a:rPr>
                        <a:t>应用程序的运行需要消耗大量</a:t>
                      </a:r>
                      <a:r>
                        <a:rPr lang="zh-CN" altLang="en-US" sz="2400" b="0">
                          <a:latin typeface="微软雅黑" panose="020B0503020204020204" charset="-122"/>
                          <a:ea typeface="微软雅黑" panose="020B0503020204020204" charset="-122"/>
                          <a:sym typeface="+mn-ea"/>
                        </a:rPr>
                        <a:t>内存或运行时需要其它相关软件同时运行</a:t>
                      </a:r>
                      <a:endParaRPr lang="zh-CN" altLang="en-US" sz="2400" b="0">
                        <a:latin typeface="微软雅黑" panose="020B0503020204020204" charset="-122"/>
                        <a:ea typeface="微软雅黑" panose="020B0503020204020204" charset="-122"/>
                      </a:endParaRPr>
                    </a:p>
                  </a:txBody>
                  <a:tcPr anchor="ctr" anchorCtr="0"/>
                </a:tc>
              </a:tr>
              <a:tr h="8483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启动大量程序或利用测试工具模拟磁盘状况</a:t>
                      </a:r>
                      <a:endParaRPr lang="zh-CN" altLang="en-US" sz="2400" b="0">
                        <a:latin typeface="微软雅黑" panose="020B0503020204020204" charset="-122"/>
                        <a:ea typeface="微软雅黑" panose="020B0503020204020204" charset="-122"/>
                      </a:endParaRPr>
                    </a:p>
                  </a:txBody>
                  <a:tcPr anchor="ctr" anchorCtr="0"/>
                </a:tc>
              </a:tr>
              <a:tr h="9061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全面掌握被测软件的需求，了解被测软件运行时对系统的要求</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a:t>
            </a:r>
            <a:r>
              <a:rPr lang="zh-CN" altLang="en-US">
                <a:solidFill>
                  <a:srgbClr val="C00000"/>
                </a:solidFill>
                <a:sym typeface="+mn-ea"/>
              </a:rPr>
              <a:t>介质损坏</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介质损坏</a:t>
            </a:r>
            <a:r>
              <a:rPr lang="zh-CN" altLang="en-US">
                <a:sym typeface="+mn-ea"/>
              </a:rPr>
              <a:t>缺陷产生</a:t>
            </a:r>
            <a:r>
              <a:rPr lang="zh-CN" altLang="en-US">
                <a:sym typeface="+mn-ea"/>
              </a:rPr>
              <a:t>原因：</a:t>
            </a:r>
            <a:endParaRPr lang="zh-CN" altLang="en-US">
              <a:sym typeface="+mn-ea"/>
            </a:endParaRPr>
          </a:p>
          <a:p>
            <a:pPr lvl="1"/>
            <a:r>
              <a:rPr lang="zh-CN" altLang="en-US"/>
              <a:t>损坏的介质可能会使操作系统传回错误代码，这些错误代码没有在应用程序中编程处理。</a:t>
            </a:r>
            <a:endParaRPr lang="zh-CN" altLang="en-US"/>
          </a:p>
          <a:p>
            <a:pPr lvl="1"/>
            <a:r>
              <a:rPr lang="zh-CN" altLang="en-US"/>
              <a:t>操作系统不能检测出所有这样的错误，操作系统自己也有错误或者损坏的介质损坏了局部操作系统。</a:t>
            </a:r>
            <a:endParaRPr lang="zh-CN"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a:t>
            </a:r>
            <a:r>
              <a:rPr lang="zh-CN" altLang="en-US">
                <a:solidFill>
                  <a:srgbClr val="C00000"/>
                </a:solidFill>
                <a:sym typeface="+mn-ea"/>
              </a:rPr>
              <a:t>介质损坏</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如何发现</a:t>
            </a:r>
            <a:r>
              <a:rPr lang="zh-CN" altLang="en-US">
                <a:sym typeface="+mn-ea"/>
              </a:rPr>
              <a:t>介质损坏</a:t>
            </a:r>
            <a:r>
              <a:rPr lang="zh-CN" altLang="en-US">
                <a:sym typeface="+mn-ea"/>
              </a:rPr>
              <a:t>缺陷：</a:t>
            </a:r>
            <a:endParaRPr lang="zh-CN" altLang="en-US">
              <a:sym typeface="+mn-ea"/>
            </a:endParaRPr>
          </a:p>
          <a:p>
            <a:pPr lvl="1"/>
            <a:r>
              <a:rPr lang="zh-CN" altLang="en-US"/>
              <a:t>使用损坏了的介质，例如，刮伤、灰尘、磁干扰等。</a:t>
            </a:r>
            <a:endParaRPr lang="zh-CN" altLang="en-US"/>
          </a:p>
          <a:p>
            <a:pPr lvl="1"/>
            <a:r>
              <a:rPr lang="zh-CN" altLang="en-US"/>
              <a:t>检查应用程序对错误的处理能力，应用程序可以对错误进行处理或者将问题告诉用户，并要确保用户数据文件不丧失、</a:t>
            </a:r>
            <a:r>
              <a:rPr lang="zh-CN" altLang="en-US"/>
              <a:t>不损坏。</a:t>
            </a:r>
            <a:endParaRPr lang="zh-CN"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a:t>
            </a:r>
            <a:r>
              <a:rPr lang="zh-CN" altLang="en-US">
                <a:solidFill>
                  <a:srgbClr val="C00000"/>
                </a:solidFill>
                <a:sym typeface="+mn-ea"/>
              </a:rPr>
              <a:t>介质损坏</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介质损坏</a:t>
            </a:r>
            <a:r>
              <a:rPr lang="zh-CN" altLang="en-US">
                <a:sym typeface="+mn-ea"/>
              </a:rPr>
              <a:t>缺陷</a:t>
            </a:r>
            <a:r>
              <a:rPr lang="zh-CN" altLang="en-US">
                <a:sym typeface="+mn-ea"/>
              </a:rPr>
              <a:t>的测试方法：</a:t>
            </a:r>
            <a:endParaRPr lang="zh-CN" altLang="en-US"/>
          </a:p>
        </p:txBody>
      </p:sp>
      <p:graphicFrame>
        <p:nvGraphicFramePr>
          <p:cNvPr id="5" name="表格 4"/>
          <p:cNvGraphicFramePr/>
          <p:nvPr>
            <p:custDataLst>
              <p:tags r:id="rId1"/>
            </p:custDataLst>
          </p:nvPr>
        </p:nvGraphicFramePr>
        <p:xfrm>
          <a:off x="1139190" y="2434590"/>
          <a:ext cx="9914255" cy="2577465"/>
        </p:xfrm>
        <a:graphic>
          <a:graphicData uri="http://schemas.openxmlformats.org/drawingml/2006/table">
            <a:tbl>
              <a:tblPr firstRow="1" bandRow="1">
                <a:tableStyleId>{BC89EF96-8CEA-46FF-86C4-4CE0E7609802}</a:tableStyleId>
              </a:tblPr>
              <a:tblGrid>
                <a:gridCol w="2651125"/>
                <a:gridCol w="7263130"/>
              </a:tblGrid>
              <a:tr h="8229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b="0">
                          <a:latin typeface="微软雅黑" panose="020B0503020204020204" charset="-122"/>
                          <a:ea typeface="微软雅黑" panose="020B0503020204020204" charset="-122"/>
                          <a:sym typeface="+mn-ea"/>
                        </a:rPr>
                        <a:t>应用程序对</a:t>
                      </a:r>
                      <a:r>
                        <a:rPr lang="zh-CN" altLang="en-US" sz="2400" b="0">
                          <a:latin typeface="微软雅黑" panose="020B0503020204020204" charset="-122"/>
                          <a:ea typeface="微软雅黑" panose="020B0503020204020204" charset="-122"/>
                          <a:sym typeface="+mn-ea"/>
                        </a:rPr>
                        <a:t>安全的要求较高，对灾难恢复的要求较高</a:t>
                      </a:r>
                      <a:endParaRPr lang="zh-CN" altLang="en-US" sz="2400" b="0">
                        <a:latin typeface="微软雅黑" panose="020B0503020204020204" charset="-122"/>
                        <a:ea typeface="微软雅黑" panose="020B0503020204020204" charset="-122"/>
                      </a:endParaRPr>
                    </a:p>
                  </a:txBody>
                  <a:tcPr anchor="ctr" anchorCtr="0"/>
                </a:tc>
              </a:tr>
              <a:tr h="8483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用实际损坏介质的方法测试应用程序</a:t>
                      </a:r>
                      <a:endParaRPr lang="zh-CN" altLang="en-US" sz="2400" b="0">
                        <a:latin typeface="微软雅黑" panose="020B0503020204020204" charset="-122"/>
                        <a:ea typeface="微软雅黑" panose="020B0503020204020204" charset="-122"/>
                      </a:endParaRPr>
                    </a:p>
                  </a:txBody>
                  <a:tcPr anchor="ctr" anchorCtr="0"/>
                </a:tc>
              </a:tr>
              <a:tr h="9061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全面掌握被测软件的需求，了解被测软件运行时对系统的要求</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软件功能性故障模式：文件名</a:t>
            </a:r>
            <a:r>
              <a:rPr lang="zh-CN" altLang="en-US">
                <a:solidFill>
                  <a:srgbClr val="C00000"/>
                </a:solidFill>
                <a:sym typeface="+mn-ea"/>
              </a:rPr>
              <a:t>不合法</a:t>
            </a:r>
            <a:endParaRPr lang="zh-CN" altLang="en-US">
              <a:solidFill>
                <a:srgbClr val="C00000"/>
              </a:solidFill>
              <a:sym typeface="+mn-ea"/>
            </a:endParaRPr>
          </a:p>
        </p:txBody>
      </p:sp>
      <p:sp>
        <p:nvSpPr>
          <p:cNvPr id="3" name="内容占位符 2"/>
          <p:cNvSpPr>
            <a:spLocks noGrp="1"/>
          </p:cNvSpPr>
          <p:nvPr>
            <p:ph idx="1"/>
          </p:nvPr>
        </p:nvSpPr>
        <p:spPr/>
        <p:txBody>
          <a:bodyPr>
            <a:normAutofit lnSpcReduction="10000"/>
          </a:bodyPr>
          <a:p>
            <a:r>
              <a:rPr lang="zh-CN" altLang="en-US">
                <a:sym typeface="+mn-ea"/>
              </a:rPr>
              <a:t>文件名不合法</a:t>
            </a:r>
            <a:r>
              <a:rPr lang="zh-CN" altLang="en-US">
                <a:sym typeface="+mn-ea"/>
              </a:rPr>
              <a:t>缺陷产生</a:t>
            </a:r>
            <a:r>
              <a:rPr lang="zh-CN" altLang="en-US">
                <a:sym typeface="+mn-ea"/>
              </a:rPr>
              <a:t>原因：</a:t>
            </a:r>
            <a:endParaRPr lang="zh-CN" altLang="en-US">
              <a:sym typeface="+mn-ea"/>
            </a:endParaRPr>
          </a:p>
          <a:p>
            <a:pPr lvl="1"/>
            <a:r>
              <a:rPr lang="zh-CN" altLang="en-US"/>
              <a:t>操作系统本身具有自己的文件命名</a:t>
            </a:r>
            <a:r>
              <a:rPr lang="zh-CN" altLang="en-US"/>
              <a:t>规则，例如,Dos 的8.3 格式。</a:t>
            </a:r>
            <a:endParaRPr lang="zh-CN" altLang="en-US"/>
          </a:p>
          <a:p>
            <a:pPr lvl="1"/>
            <a:r>
              <a:rPr lang="zh-CN" altLang="en-US"/>
              <a:t>在Windows中，文件名不能超过 255个字符，并且文件名不可以含有</a:t>
            </a:r>
            <a:r>
              <a:rPr lang="zh-CN" altLang="en-US">
                <a:solidFill>
                  <a:srgbClr val="FF0000"/>
                </a:solidFill>
              </a:rPr>
              <a:t>/\:&lt;&gt;"*|</a:t>
            </a:r>
            <a:r>
              <a:rPr lang="zh-CN" altLang="en-US"/>
              <a:t>这8个字符，以及</a:t>
            </a:r>
            <a:r>
              <a:rPr lang="zh-CN" altLang="en-US">
                <a:solidFill>
                  <a:srgbClr val="FF0000"/>
                </a:solidFill>
              </a:rPr>
              <a:t>AU*、1、2、3、4、CON、LPT1、LPT2、LPT3、LPT4、NUL及PRN </a:t>
            </a:r>
            <a:r>
              <a:rPr lang="zh-CN" altLang="en-US"/>
              <a:t>这些操作系统保存字。</a:t>
            </a:r>
            <a:endParaRPr lang="zh-CN" altLang="en-US"/>
          </a:p>
          <a:p>
            <a:pPr lvl="1"/>
            <a:r>
              <a:rPr lang="zh-CN" altLang="en-US"/>
              <a:t>开发人员在应用程序中使用不一样的规则管理文件名，当应用程序和操作系统使用的文件名命名规则不一致的时候，就会发生问题。</a:t>
            </a:r>
            <a:endParaRPr lang="zh-CN"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a:t>
            </a:r>
            <a:r>
              <a:rPr lang="zh-CN" altLang="en-US">
                <a:solidFill>
                  <a:srgbClr val="C00000"/>
                </a:solidFill>
                <a:sym typeface="+mn-ea"/>
              </a:rPr>
              <a:t>文件名不合法</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如何发现</a:t>
            </a:r>
            <a:r>
              <a:rPr lang="zh-CN" altLang="en-US">
                <a:sym typeface="+mn-ea"/>
              </a:rPr>
              <a:t>文件名不合法</a:t>
            </a:r>
            <a:r>
              <a:rPr lang="zh-CN" altLang="en-US">
                <a:sym typeface="+mn-ea"/>
              </a:rPr>
              <a:t>缺陷：</a:t>
            </a:r>
            <a:endParaRPr lang="zh-CN" altLang="en-US">
              <a:sym typeface="+mn-ea"/>
            </a:endParaRPr>
          </a:p>
          <a:p>
            <a:pPr lvl="1"/>
            <a:r>
              <a:rPr lang="zh-CN" altLang="en-US"/>
              <a:t>保存文件为操作系统不允许的文件名，例如，文件名中含有</a:t>
            </a:r>
            <a:r>
              <a:rPr lang="zh-CN" altLang="en-US">
                <a:solidFill>
                  <a:srgbClr val="FF0000"/>
                </a:solidFill>
              </a:rPr>
              <a:t>/\:&lt;&gt;\ " * |</a:t>
            </a:r>
            <a:r>
              <a:rPr lang="zh-CN" altLang="en-US"/>
              <a:t>这8个字符，测试应用程序是否不允许输入包含这些字符的文件名。</a:t>
            </a:r>
            <a:endParaRPr lang="zh-CN" altLang="en-US"/>
          </a:p>
          <a:p>
            <a:pPr lvl="1"/>
            <a:r>
              <a:rPr lang="zh-CN" altLang="en-US"/>
              <a:t>输入一些应用程序不允许使用的文件名，例如，使用过长的、含有特殊字符的、可能相互作用的字符作为文件名，检查应用程序能否识别该文件。</a:t>
            </a:r>
            <a:endParaRPr lang="zh-CN"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a:t>
            </a:r>
            <a:r>
              <a:rPr lang="zh-CN" altLang="en-US">
                <a:solidFill>
                  <a:srgbClr val="C00000"/>
                </a:solidFill>
                <a:sym typeface="+mn-ea"/>
              </a:rPr>
              <a:t>文件名不合法</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olidFill>
                  <a:schemeClr val="tx1"/>
                </a:solidFill>
                <a:sym typeface="+mn-ea"/>
              </a:rPr>
              <a:t>文件名不合法</a:t>
            </a:r>
            <a:r>
              <a:rPr lang="zh-CN" altLang="en-US">
                <a:sym typeface="+mn-ea"/>
              </a:rPr>
              <a:t>缺陷</a:t>
            </a:r>
            <a:r>
              <a:rPr lang="zh-CN" altLang="en-US">
                <a:sym typeface="+mn-ea"/>
              </a:rPr>
              <a:t>的测试方法：</a:t>
            </a:r>
            <a:endParaRPr lang="zh-CN" altLang="en-US"/>
          </a:p>
        </p:txBody>
      </p:sp>
      <p:graphicFrame>
        <p:nvGraphicFramePr>
          <p:cNvPr id="5" name="表格 4"/>
          <p:cNvGraphicFramePr/>
          <p:nvPr>
            <p:custDataLst>
              <p:tags r:id="rId1"/>
            </p:custDataLst>
          </p:nvPr>
        </p:nvGraphicFramePr>
        <p:xfrm>
          <a:off x="1174750" y="2416810"/>
          <a:ext cx="9914255" cy="2577465"/>
        </p:xfrm>
        <a:graphic>
          <a:graphicData uri="http://schemas.openxmlformats.org/drawingml/2006/table">
            <a:tbl>
              <a:tblPr firstRow="1" bandRow="1">
                <a:tableStyleId>{BC89EF96-8CEA-46FF-86C4-4CE0E7609802}</a:tableStyleId>
              </a:tblPr>
              <a:tblGrid>
                <a:gridCol w="2651125"/>
                <a:gridCol w="7263130"/>
              </a:tblGrid>
              <a:tr h="8229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b="0">
                          <a:latin typeface="微软雅黑" panose="020B0503020204020204" charset="-122"/>
                          <a:ea typeface="微软雅黑" panose="020B0503020204020204" charset="-122"/>
                          <a:sym typeface="+mn-ea"/>
                        </a:rPr>
                        <a:t>几乎所有涉及需要输入文件名功能的应用程序</a:t>
                      </a:r>
                      <a:endParaRPr lang="zh-CN" altLang="en-US" sz="2400" b="0">
                        <a:latin typeface="微软雅黑" panose="020B0503020204020204" charset="-122"/>
                        <a:ea typeface="微软雅黑" panose="020B0503020204020204" charset="-122"/>
                      </a:endParaRPr>
                    </a:p>
                  </a:txBody>
                  <a:tcPr anchor="ctr" anchorCtr="0"/>
                </a:tc>
              </a:tr>
              <a:tr h="8483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输入操作系统不允许的文件名和应用程序不允许使用的文件名</a:t>
                      </a:r>
                      <a:endParaRPr lang="zh-CN" altLang="en-US" sz="2400" b="0">
                        <a:latin typeface="微软雅黑" panose="020B0503020204020204" charset="-122"/>
                        <a:ea typeface="微软雅黑" panose="020B0503020204020204" charset="-122"/>
                      </a:endParaRPr>
                    </a:p>
                  </a:txBody>
                  <a:tcPr anchor="ctr" anchorCtr="0"/>
                </a:tc>
              </a:tr>
              <a:tr h="9061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全面掌握被测软件的需求，了解操作系统和应用程序对文件名的要求</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solidFill>
                  <a:srgbClr val="C00000"/>
                </a:solidFill>
                <a:sym typeface="+mn-ea"/>
              </a:rPr>
              <a:t>2.4 </a:t>
            </a:r>
            <a:r>
              <a:rPr lang="zh-CN" altLang="en-US">
                <a:solidFill>
                  <a:srgbClr val="C00000"/>
                </a:solidFill>
                <a:sym typeface="+mn-ea"/>
              </a:rPr>
              <a:t>软件功能性故障模式：更改文件访问权限</a:t>
            </a:r>
            <a:endParaRPr lang="zh-CN" altLang="en-US">
              <a:solidFill>
                <a:srgbClr val="C00000"/>
              </a:solidFill>
              <a:sym typeface="+mn-ea"/>
            </a:endParaRPr>
          </a:p>
        </p:txBody>
      </p:sp>
      <p:sp>
        <p:nvSpPr>
          <p:cNvPr id="3" name="内容占位符 2"/>
          <p:cNvSpPr>
            <a:spLocks noGrp="1"/>
          </p:cNvSpPr>
          <p:nvPr>
            <p:ph idx="1"/>
          </p:nvPr>
        </p:nvSpPr>
        <p:spPr/>
        <p:txBody>
          <a:bodyPr>
            <a:normAutofit lnSpcReduction="20000"/>
          </a:bodyPr>
          <a:p>
            <a:r>
              <a:rPr lang="zh-CN" altLang="en-US">
                <a:sym typeface="+mn-ea"/>
              </a:rPr>
              <a:t>更改文件访问权限缺陷产生</a:t>
            </a:r>
            <a:r>
              <a:rPr lang="zh-CN" altLang="en-US">
                <a:sym typeface="+mn-ea"/>
              </a:rPr>
              <a:t>原因：</a:t>
            </a:r>
            <a:endParaRPr lang="zh-CN" altLang="en-US">
              <a:sym typeface="+mn-ea"/>
            </a:endParaRPr>
          </a:p>
          <a:p>
            <a:pPr lvl="1">
              <a:lnSpc>
                <a:spcPts val="3580"/>
              </a:lnSpc>
            </a:pPr>
            <a:r>
              <a:rPr lang="zh-CN" altLang="en-US"/>
              <a:t>在操作系统中，可以设置不同用户对不同的文件具有不同的访问权限（如读写、只读等）。</a:t>
            </a:r>
            <a:endParaRPr lang="zh-CN" altLang="en-US"/>
          </a:p>
          <a:p>
            <a:pPr lvl="1">
              <a:lnSpc>
                <a:spcPts val="3580"/>
              </a:lnSpc>
            </a:pPr>
            <a:r>
              <a:rPr lang="zh-CN" altLang="en-US"/>
              <a:t>程序员必须在访问文件的函数中考虑文件的访问权限，例如在每个文件写入之前检查文件的访问权限。如果没有进行检查，就会导致程序出错。</a:t>
            </a:r>
            <a:endParaRPr lang="zh-CN" altLang="en-US"/>
          </a:p>
          <a:p>
            <a:pPr lvl="1">
              <a:lnSpc>
                <a:spcPts val="3580"/>
              </a:lnSpc>
            </a:pPr>
            <a:r>
              <a:rPr lang="zh-CN" altLang="en-US"/>
              <a:t>另外，如果文件访问失败，程序员必须要有正确的错误的代码，以保证程序可以正确捕获所产生的错误。</a:t>
            </a:r>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solidFill>
                  <a:srgbClr val="C00000"/>
                </a:solidFill>
                <a:sym typeface="+mn-ea"/>
              </a:rPr>
              <a:t>2.4 </a:t>
            </a:r>
            <a:r>
              <a:rPr lang="zh-CN" altLang="en-US">
                <a:solidFill>
                  <a:srgbClr val="C00000"/>
                </a:solidFill>
                <a:sym typeface="+mn-ea"/>
              </a:rPr>
              <a:t>软件功能性故障模式：更改文件访问权限</a:t>
            </a:r>
            <a:endParaRPr lang="zh-CN" altLang="en-US">
              <a:solidFill>
                <a:srgbClr val="C00000"/>
              </a:solidFill>
              <a:sym typeface="+mn-ea"/>
            </a:endParaRPr>
          </a:p>
        </p:txBody>
      </p:sp>
      <p:sp>
        <p:nvSpPr>
          <p:cNvPr id="3" name="内容占位符 2"/>
          <p:cNvSpPr>
            <a:spLocks noGrp="1"/>
          </p:cNvSpPr>
          <p:nvPr>
            <p:ph idx="1"/>
          </p:nvPr>
        </p:nvSpPr>
        <p:spPr/>
        <p:txBody>
          <a:bodyPr>
            <a:normAutofit/>
          </a:bodyPr>
          <a:p>
            <a:r>
              <a:rPr lang="zh-CN" altLang="en-US">
                <a:sym typeface="+mn-ea"/>
              </a:rPr>
              <a:t>如何发现更改文件访问权限缺陷：</a:t>
            </a:r>
            <a:endParaRPr lang="zh-CN" altLang="en-US">
              <a:sym typeface="+mn-ea"/>
            </a:endParaRPr>
          </a:p>
          <a:p>
            <a:pPr lvl="1"/>
            <a:r>
              <a:rPr lang="zh-CN" altLang="en-US"/>
              <a:t>打开两个应用程序，关闭同一个文件。</a:t>
            </a:r>
            <a:endParaRPr lang="zh-CN" altLang="en-US"/>
          </a:p>
          <a:p>
            <a:pPr lvl="1"/>
            <a:r>
              <a:rPr lang="zh-CN" altLang="en-US"/>
              <a:t>例如，把同一个应用程序的不同版本安装在同一机器上，在不同版本的应用程序中打开和关闭同一文件，或试着在</a:t>
            </a:r>
            <a:r>
              <a:rPr lang="zh-CN" altLang="en-US"/>
              <a:t>这个应用程序中打开在另一个程序中已打开的文件,这可能导致文件访问权限的冲突。</a:t>
            </a:r>
            <a:endParaRPr lang="zh-CN" altLang="en-US"/>
          </a:p>
          <a:p>
            <a:pPr lvl="1"/>
            <a:r>
              <a:rPr lang="zh-CN" altLang="en-US"/>
              <a:t>打开一个文件，在操作系统中修改文件的访问权限。有些操作系统允许权限高的用户控制一般用户已经打开的文件。</a:t>
            </a:r>
            <a:endParaRPr lang="zh-CN" alt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solidFill>
                  <a:srgbClr val="C00000"/>
                </a:solidFill>
                <a:sym typeface="+mn-ea"/>
              </a:rPr>
              <a:t>2.4 </a:t>
            </a:r>
            <a:r>
              <a:rPr lang="zh-CN" altLang="en-US">
                <a:solidFill>
                  <a:srgbClr val="C00000"/>
                </a:solidFill>
                <a:sym typeface="+mn-ea"/>
              </a:rPr>
              <a:t>软件功能性故障模式：更改文件访问权限</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更改文件访问权限缺陷</a:t>
            </a:r>
            <a:r>
              <a:rPr lang="zh-CN" altLang="en-US">
                <a:sym typeface="+mn-ea"/>
              </a:rPr>
              <a:t>的测试方法：</a:t>
            </a:r>
            <a:endParaRPr lang="zh-CN" altLang="en-US"/>
          </a:p>
        </p:txBody>
      </p:sp>
      <p:graphicFrame>
        <p:nvGraphicFramePr>
          <p:cNvPr id="5" name="表格 4"/>
          <p:cNvGraphicFramePr/>
          <p:nvPr>
            <p:custDataLst>
              <p:tags r:id="rId1"/>
            </p:custDataLst>
          </p:nvPr>
        </p:nvGraphicFramePr>
        <p:xfrm>
          <a:off x="1174750" y="2416175"/>
          <a:ext cx="9914255" cy="2577465"/>
        </p:xfrm>
        <a:graphic>
          <a:graphicData uri="http://schemas.openxmlformats.org/drawingml/2006/table">
            <a:tbl>
              <a:tblPr firstRow="1" bandRow="1">
                <a:tableStyleId>{BC89EF96-8CEA-46FF-86C4-4CE0E7609802}</a:tableStyleId>
              </a:tblPr>
              <a:tblGrid>
                <a:gridCol w="2651125"/>
                <a:gridCol w="7263130"/>
              </a:tblGrid>
              <a:tr h="8229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b="0">
                          <a:latin typeface="微软雅黑" panose="020B0503020204020204" charset="-122"/>
                          <a:ea typeface="微软雅黑" panose="020B0503020204020204" charset="-122"/>
                          <a:sym typeface="+mn-ea"/>
                        </a:rPr>
                        <a:t>需要对文件进行读写操作的应用程序</a:t>
                      </a:r>
                      <a:endParaRPr lang="zh-CN" altLang="en-US" sz="2400" b="0">
                        <a:latin typeface="微软雅黑" panose="020B0503020204020204" charset="-122"/>
                        <a:ea typeface="微软雅黑" panose="020B0503020204020204" charset="-122"/>
                      </a:endParaRPr>
                    </a:p>
                  </a:txBody>
                  <a:tcPr anchor="ctr" anchorCtr="0"/>
                </a:tc>
              </a:tr>
              <a:tr h="8483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修改文件访问权限或使用低权限的用户访问文件</a:t>
                      </a:r>
                      <a:endParaRPr lang="zh-CN" altLang="en-US" sz="2400" b="0">
                        <a:latin typeface="微软雅黑" panose="020B0503020204020204" charset="-122"/>
                        <a:ea typeface="微软雅黑" panose="020B0503020204020204" charset="-122"/>
                      </a:endParaRPr>
                    </a:p>
                  </a:txBody>
                  <a:tcPr anchor="ctr" anchorCtr="0"/>
                </a:tc>
              </a:tr>
              <a:tr h="9061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全面掌握被测软件的需求，了解读写文件所需的权限</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软件功能性故障模式：文件</a:t>
            </a:r>
            <a:r>
              <a:rPr lang="zh-CN" altLang="en-US">
                <a:solidFill>
                  <a:srgbClr val="C00000"/>
                </a:solidFill>
                <a:sym typeface="+mn-ea"/>
              </a:rPr>
              <a:t>内容受损</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文件</a:t>
            </a:r>
            <a:r>
              <a:rPr lang="zh-CN" altLang="en-US">
                <a:sym typeface="+mn-ea"/>
              </a:rPr>
              <a:t>内容受损缺陷产生</a:t>
            </a:r>
            <a:r>
              <a:rPr lang="zh-CN" altLang="en-US">
                <a:sym typeface="+mn-ea"/>
              </a:rPr>
              <a:t>原因：</a:t>
            </a:r>
            <a:endParaRPr lang="zh-CN" altLang="en-US">
              <a:sym typeface="+mn-ea"/>
            </a:endParaRPr>
          </a:p>
          <a:p>
            <a:pPr lvl="1"/>
            <a:r>
              <a:rPr lang="zh-CN" altLang="en-US"/>
              <a:t>开发人员编写代码来读取和写入文件，他们也编写代码来调用系统API得到文件指针，并打开和关闭文件。</a:t>
            </a:r>
            <a:endParaRPr lang="zh-CN" altLang="en-US"/>
          </a:p>
          <a:p>
            <a:pPr lvl="1"/>
            <a:r>
              <a:rPr lang="zh-CN" altLang="en-US"/>
              <a:t>由于</a:t>
            </a:r>
            <a:r>
              <a:rPr lang="zh-CN" altLang="en-US"/>
              <a:t>这些原因，这些系统API会失败或传回异常返回值。</a:t>
            </a:r>
            <a:endParaRPr lang="zh-CN" altLang="en-US"/>
          </a:p>
          <a:p>
            <a:pPr lvl="1"/>
            <a:r>
              <a:rPr lang="zh-CN" altLang="en-US"/>
              <a:t>如果开发人员没有编写代码来验证传回的预期返回值，则应用程序会由于无法处理异常而失败。</a:t>
            </a:r>
            <a:endParaRPr lang="zh-CN"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软件功能性故障模式：文件</a:t>
            </a:r>
            <a:r>
              <a:rPr lang="zh-CN" altLang="en-US">
                <a:solidFill>
                  <a:srgbClr val="C00000"/>
                </a:solidFill>
                <a:sym typeface="+mn-ea"/>
              </a:rPr>
              <a:t>内容受损</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如何发现文件</a:t>
            </a:r>
            <a:r>
              <a:rPr lang="zh-CN" altLang="en-US">
                <a:sym typeface="+mn-ea"/>
              </a:rPr>
              <a:t>内容受损缺陷：</a:t>
            </a:r>
            <a:endParaRPr lang="zh-CN" altLang="en-US">
              <a:sym typeface="+mn-ea"/>
            </a:endParaRPr>
          </a:p>
          <a:p>
            <a:pPr lvl="1"/>
            <a:r>
              <a:rPr lang="zh-CN" altLang="en-US"/>
              <a:t>手工损坏文件。从应用程序已创立的这个完整文件开场对其进行编辑，改变文件格式和</a:t>
            </a:r>
            <a:r>
              <a:rPr lang="zh-CN" altLang="en-US"/>
              <a:t>内容。</a:t>
            </a:r>
            <a:endParaRPr lang="zh-CN" altLang="en-US"/>
          </a:p>
          <a:p>
            <a:pPr lvl="1"/>
            <a:r>
              <a:rPr lang="zh-CN" altLang="en-US"/>
              <a:t>使用测试工具。模拟 CRC（循环冗余校验）错误，或强制文件 API返回无效的返回码。</a:t>
            </a:r>
            <a:endParaRPr lang="zh-CN"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2.4 </a:t>
            </a:r>
            <a:r>
              <a:rPr lang="zh-CN" altLang="en-US">
                <a:solidFill>
                  <a:srgbClr val="C00000"/>
                </a:solidFill>
                <a:sym typeface="+mn-ea"/>
              </a:rPr>
              <a:t>软件功能性故障模式：文件</a:t>
            </a:r>
            <a:r>
              <a:rPr lang="zh-CN" altLang="en-US">
                <a:solidFill>
                  <a:srgbClr val="C00000"/>
                </a:solidFill>
                <a:sym typeface="+mn-ea"/>
              </a:rPr>
              <a:t>内容受损</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sym typeface="+mn-ea"/>
              </a:rPr>
              <a:t>文件</a:t>
            </a:r>
            <a:r>
              <a:rPr lang="zh-CN" altLang="en-US">
                <a:sym typeface="+mn-ea"/>
              </a:rPr>
              <a:t>内容受损缺陷</a:t>
            </a:r>
            <a:r>
              <a:rPr lang="zh-CN" altLang="en-US">
                <a:sym typeface="+mn-ea"/>
              </a:rPr>
              <a:t>的测试方法：</a:t>
            </a:r>
            <a:endParaRPr lang="zh-CN" altLang="en-US"/>
          </a:p>
        </p:txBody>
      </p:sp>
      <p:graphicFrame>
        <p:nvGraphicFramePr>
          <p:cNvPr id="5" name="表格 4"/>
          <p:cNvGraphicFramePr/>
          <p:nvPr>
            <p:custDataLst>
              <p:tags r:id="rId1"/>
            </p:custDataLst>
          </p:nvPr>
        </p:nvGraphicFramePr>
        <p:xfrm>
          <a:off x="1139190" y="2433320"/>
          <a:ext cx="9914255" cy="2577465"/>
        </p:xfrm>
        <a:graphic>
          <a:graphicData uri="http://schemas.openxmlformats.org/drawingml/2006/table">
            <a:tbl>
              <a:tblPr firstRow="1" bandRow="1">
                <a:tableStyleId>{BC89EF96-8CEA-46FF-86C4-4CE0E7609802}</a:tableStyleId>
              </a:tblPr>
              <a:tblGrid>
                <a:gridCol w="2651125"/>
                <a:gridCol w="7263130"/>
              </a:tblGrid>
              <a:tr h="8229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应用场合</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b="0">
                          <a:latin typeface="微软雅黑" panose="020B0503020204020204" charset="-122"/>
                          <a:ea typeface="微软雅黑" panose="020B0503020204020204" charset="-122"/>
                          <a:sym typeface="+mn-ea"/>
                        </a:rPr>
                        <a:t>需要对文件格式和</a:t>
                      </a:r>
                      <a:r>
                        <a:rPr lang="zh-CN" altLang="en-US" sz="2400" b="0">
                          <a:latin typeface="微软雅黑" panose="020B0503020204020204" charset="-122"/>
                          <a:ea typeface="微软雅黑" panose="020B0503020204020204" charset="-122"/>
                          <a:sym typeface="+mn-ea"/>
                        </a:rPr>
                        <a:t>内容进行校验的应用程序</a:t>
                      </a:r>
                      <a:endParaRPr lang="zh-CN" altLang="en-US" sz="2400" b="0">
                        <a:latin typeface="微软雅黑" panose="020B0503020204020204" charset="-122"/>
                        <a:ea typeface="微软雅黑" panose="020B0503020204020204" charset="-122"/>
                      </a:endParaRPr>
                    </a:p>
                  </a:txBody>
                  <a:tcPr anchor="ctr" anchorCtr="0"/>
                </a:tc>
              </a:tr>
              <a:tr h="848360">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测试方法</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手工损坏文件或利用测试工具模拟 CRC 错误</a:t>
                      </a:r>
                      <a:endParaRPr lang="zh-CN" altLang="en-US" sz="2400" b="0">
                        <a:latin typeface="微软雅黑" panose="020B0503020204020204" charset="-122"/>
                        <a:ea typeface="微软雅黑" panose="020B0503020204020204" charset="-122"/>
                      </a:endParaRPr>
                    </a:p>
                  </a:txBody>
                  <a:tcPr anchor="ctr" anchorCtr="0"/>
                </a:tc>
              </a:tr>
              <a:tr h="906145">
                <a:tc>
                  <a:txBody>
                    <a:bodyPr/>
                    <a:p>
                      <a:pPr indent="0" fontAlgn="auto">
                        <a:spcBef>
                          <a:spcPts val="600"/>
                        </a:spcBef>
                        <a:spcAft>
                          <a:spcPts val="600"/>
                        </a:spcAft>
                        <a:buNone/>
                      </a:pPr>
                      <a:r>
                        <a:rPr lang="zh-CN" altLang="en-US" sz="2400" b="0">
                          <a:latin typeface="微软雅黑" panose="020B0503020204020204" charset="-122"/>
                          <a:ea typeface="微软雅黑" panose="020B0503020204020204" charset="-122"/>
                        </a:rPr>
                        <a:t>测试知识储藏</a:t>
                      </a:r>
                      <a:endParaRPr lang="zh-CN" altLang="en-US" sz="2400" b="0">
                        <a:latin typeface="微软雅黑" panose="020B0503020204020204" charset="-122"/>
                        <a:ea typeface="微软雅黑" panose="020B0503020204020204" charset="-122"/>
                      </a:endParaRPr>
                    </a:p>
                  </a:txBody>
                  <a:tcPr anchor="ctr" anchorCtr="0"/>
                </a:tc>
                <a:tc>
                  <a:txBody>
                    <a:bodyPr/>
                    <a:p>
                      <a:pPr algn="l" fontAlgn="auto">
                        <a:spcBef>
                          <a:spcPts val="600"/>
                        </a:spcBef>
                        <a:spcAft>
                          <a:spcPts val="600"/>
                        </a:spcAft>
                        <a:buClrTx/>
                        <a:buSzTx/>
                        <a:buFontTx/>
                        <a:buNone/>
                      </a:pPr>
                      <a:r>
                        <a:rPr lang="zh-CN" altLang="en-US" sz="2400">
                          <a:latin typeface="微软雅黑" panose="020B0503020204020204" charset="-122"/>
                          <a:ea typeface="微软雅黑" panose="020B0503020204020204" charset="-122"/>
                          <a:sym typeface="+mn-ea"/>
                        </a:rPr>
                        <a:t>全面掌握被测软件的需求，了解文件读写需要的权限</a:t>
                      </a:r>
                      <a:endParaRPr lang="zh-CN" altLang="en-US" sz="2400" b="0">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本章</a:t>
            </a:r>
            <a:r>
              <a:rPr lang="zh-CN" altLang="en-US"/>
              <a:t>作业</a:t>
            </a:r>
            <a:endParaRPr lang="zh-CN" altLang="en-US"/>
          </a:p>
        </p:txBody>
      </p:sp>
      <p:sp>
        <p:nvSpPr>
          <p:cNvPr id="3" name="内容占位符 2"/>
          <p:cNvSpPr>
            <a:spLocks noGrp="1"/>
          </p:cNvSpPr>
          <p:nvPr>
            <p:ph idx="1"/>
          </p:nvPr>
        </p:nvSpPr>
        <p:spPr/>
        <p:txBody>
          <a:bodyPr>
            <a:normAutofit/>
          </a:bodyPr>
          <a:p>
            <a:r>
              <a:rPr lang="zh-CN" altLang="en-US">
                <a:sym typeface="+mn-ea"/>
              </a:rPr>
              <a:t>设计程序语义缺陷的例子（</a:t>
            </a:r>
            <a:r>
              <a:rPr lang="en-US" altLang="zh-CN" dirty="0">
                <a:latin typeface="楷体" panose="02010609060101010101" pitchFamily="49" charset="-122"/>
                <a:ea typeface="楷体" panose="02010609060101010101" pitchFamily="49" charset="-122"/>
                <a:cs typeface="楷体_GB2312"/>
                <a:sym typeface="+mn-ea"/>
              </a:rPr>
              <a:t>10</a:t>
            </a:r>
            <a:r>
              <a:rPr lang="zh-CN" altLang="en-US" dirty="0">
                <a:latin typeface="楷体" panose="02010609060101010101" pitchFamily="49" charset="-122"/>
                <a:ea typeface="楷体" panose="02010609060101010101" pitchFamily="49" charset="-122"/>
                <a:cs typeface="楷体_GB2312"/>
                <a:sym typeface="+mn-ea"/>
              </a:rPr>
              <a:t>种类型每种一个</a:t>
            </a:r>
            <a:r>
              <a:rPr lang="zh-CN" altLang="en-US">
                <a:sym typeface="+mn-ea"/>
              </a:rPr>
              <a:t>），给出程序运行故障或异常结果，再给出规避措施的</a:t>
            </a:r>
            <a:r>
              <a:rPr lang="zh-CN" altLang="en-US">
                <a:sym typeface="+mn-ea"/>
              </a:rPr>
              <a:t>代码。</a:t>
            </a:r>
            <a:endParaRPr lang="zh-CN" altLang="en-US">
              <a:sym typeface="+mn-ea"/>
            </a:endParaRPr>
          </a:p>
          <a:p>
            <a:r>
              <a:rPr lang="zh-CN" altLang="en-US">
                <a:sym typeface="+mn-ea"/>
              </a:rPr>
              <a:t>针对一个需求规格说明书</a:t>
            </a:r>
            <a:r>
              <a:rPr lang="zh-CN" altLang="en-US">
                <a:sym typeface="+mn-ea"/>
              </a:rPr>
              <a:t>，识别出每种软件功能故障模式至少一个例子，并给出</a:t>
            </a:r>
            <a:r>
              <a:rPr lang="zh-CN" altLang="en-US">
                <a:sym typeface="+mn-ea"/>
              </a:rPr>
              <a:t>规避措施。</a:t>
            </a:r>
            <a:endParaRPr lang="zh-CN" altLang="en-US">
              <a:sym typeface="+mn-ea"/>
            </a:endParaRPr>
          </a:p>
          <a:p>
            <a:endParaRPr lang="zh-CN" altLang="en-US">
              <a:sym typeface="+mn-ea"/>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TABLE_ENDDRAG_ORIGIN_RECT" val="780*241"/>
  <p:tag name="TABLE_ENDDRAG_RECT" val="93*192*780*241"/>
</p:tagLst>
</file>

<file path=ppt/tags/tag34.xml><?xml version="1.0" encoding="utf-8"?>
<p:tagLst xmlns:p="http://schemas.openxmlformats.org/presentationml/2006/main">
  <p:tag name="TABLE_ENDDRAG_ORIGIN_RECT" val="780*226"/>
  <p:tag name="TABLE_ENDDRAG_RECT" val="83*197*780*226"/>
  <p:tag name="KSO_WM_BEAUTIFY_FLAG" val=""/>
</p:tagLst>
</file>

<file path=ppt/tags/tag35.xml><?xml version="1.0" encoding="utf-8"?>
<p:tagLst xmlns:p="http://schemas.openxmlformats.org/presentationml/2006/main">
  <p:tag name="TABLE_ENDDRAG_ORIGIN_RECT" val="780*226"/>
  <p:tag name="TABLE_ENDDRAG_RECT" val="83*197*780*226"/>
  <p:tag name="KSO_WM_BEAUTIFY_FLAG" val=""/>
</p:tagLst>
</file>

<file path=ppt/tags/tag36.xml><?xml version="1.0" encoding="utf-8"?>
<p:tagLst xmlns:p="http://schemas.openxmlformats.org/presentationml/2006/main">
  <p:tag name="TABLE_ENDDRAG_ORIGIN_RECT" val="780*226"/>
  <p:tag name="TABLE_ENDDRAG_RECT" val="83*197*780*226"/>
  <p:tag name="KSO_WM_BEAUTIFY_FLAG" val=""/>
</p:tagLst>
</file>

<file path=ppt/tags/tag37.xml><?xml version="1.0" encoding="utf-8"?>
<p:tagLst xmlns:p="http://schemas.openxmlformats.org/presentationml/2006/main">
  <p:tag name="TABLE_ENDDRAG_ORIGIN_RECT" val="780*226"/>
  <p:tag name="TABLE_ENDDRAG_RECT" val="83*197*780*226"/>
  <p:tag name="KSO_WM_BEAUTIFY_FLAG" val=""/>
</p:tagLst>
</file>

<file path=ppt/tags/tag38.xml><?xml version="1.0" encoding="utf-8"?>
<p:tagLst xmlns:p="http://schemas.openxmlformats.org/presentationml/2006/main">
  <p:tag name="TABLE_ENDDRAG_ORIGIN_RECT" val="780*226"/>
  <p:tag name="TABLE_ENDDRAG_RECT" val="83*197*780*226"/>
  <p:tag name="KSO_WM_BEAUTIFY_FLAG" val=""/>
</p:tagLst>
</file>

<file path=ppt/tags/tag39.xml><?xml version="1.0" encoding="utf-8"?>
<p:tagLst xmlns:p="http://schemas.openxmlformats.org/presentationml/2006/main">
  <p:tag name="TABLE_ENDDRAG_ORIGIN_RECT" val="780*226"/>
  <p:tag name="TABLE_ENDDRAG_RECT" val="83*197*780*226"/>
  <p:tag name="KSO_WM_BEAUTIFY_FLAG" val=""/>
</p:tagLst>
</file>

<file path=ppt/tags/tag40.xml><?xml version="1.0" encoding="utf-8"?>
<p:tagLst xmlns:p="http://schemas.openxmlformats.org/presentationml/2006/main">
  <p:tag name="TABLE_ENDDRAG_ORIGIN_RECT" val="780*226"/>
  <p:tag name="TABLE_ENDDRAG_RECT" val="83*197*780*226"/>
  <p:tag name="KSO_WM_BEAUTIFY_FLAG" val=""/>
</p:tagLst>
</file>

<file path=ppt/tags/tag41.xml><?xml version="1.0" encoding="utf-8"?>
<p:tagLst xmlns:p="http://schemas.openxmlformats.org/presentationml/2006/main">
  <p:tag name="TABLE_ENDDRAG_ORIGIN_RECT" val="780*226"/>
  <p:tag name="TABLE_ENDDRAG_RECT" val="83*197*780*226"/>
  <p:tag name="KSO_WM_BEAUTIFY_FLAG" val=""/>
</p:tagLst>
</file>

<file path=ppt/tags/tag42.xml><?xml version="1.0" encoding="utf-8"?>
<p:tagLst xmlns:p="http://schemas.openxmlformats.org/presentationml/2006/main">
  <p:tag name="TABLE_ENDDRAG_ORIGIN_RECT" val="780*226"/>
  <p:tag name="TABLE_ENDDRAG_RECT" val="83*197*780*226"/>
  <p:tag name="KSO_WM_BEAUTIFY_FLAG" val=""/>
</p:tagLst>
</file>

<file path=ppt/tags/tag43.xml><?xml version="1.0" encoding="utf-8"?>
<p:tagLst xmlns:p="http://schemas.openxmlformats.org/presentationml/2006/main">
  <p:tag name="TABLE_ENDDRAG_ORIGIN_RECT" val="780*226"/>
  <p:tag name="TABLE_ENDDRAG_RECT" val="83*197*780*226"/>
  <p:tag name="KSO_WM_BEAUTIFY_FLAG" val=""/>
</p:tagLst>
</file>

<file path=ppt/tags/tag44.xml><?xml version="1.0" encoding="utf-8"?>
<p:tagLst xmlns:p="http://schemas.openxmlformats.org/presentationml/2006/main">
  <p:tag name="TABLE_ENDDRAG_ORIGIN_RECT" val="780*226"/>
  <p:tag name="TABLE_ENDDRAG_RECT" val="83*197*780*226"/>
  <p:tag name="KSO_WM_BEAUTIFY_FLAG" val=""/>
</p:tagLst>
</file>

<file path=ppt/tags/tag45.xml><?xml version="1.0" encoding="utf-8"?>
<p:tagLst xmlns:p="http://schemas.openxmlformats.org/presentationml/2006/main">
  <p:tag name="TABLE_ENDDRAG_ORIGIN_RECT" val="780*226"/>
  <p:tag name="TABLE_ENDDRAG_RECT" val="83*197*780*226"/>
  <p:tag name="KSO_WM_BEAUTIFY_FLAG" val=""/>
</p:tagLst>
</file>

<file path=ppt/tags/tag46.xml><?xml version="1.0" encoding="utf-8"?>
<p:tagLst xmlns:p="http://schemas.openxmlformats.org/presentationml/2006/main">
  <p:tag name="TABLE_ENDDRAG_ORIGIN_RECT" val="780*226"/>
  <p:tag name="TABLE_ENDDRAG_RECT" val="83*197*780*226"/>
  <p:tag name="KSO_WM_BEAUTIFY_FLAG" val=""/>
</p:tagLst>
</file>

<file path=ppt/tags/tag47.xml><?xml version="1.0" encoding="utf-8"?>
<p:tagLst xmlns:p="http://schemas.openxmlformats.org/presentationml/2006/main">
  <p:tag name="TABLE_ENDDRAG_ORIGIN_RECT" val="780*226"/>
  <p:tag name="TABLE_ENDDRAG_RECT" val="83*197*780*226"/>
  <p:tag name="KSO_WM_BEAUTIFY_FLAG" val=""/>
</p:tagLst>
</file>

<file path=ppt/tags/tag48.xml><?xml version="1.0" encoding="utf-8"?>
<p:tagLst xmlns:p="http://schemas.openxmlformats.org/presentationml/2006/main">
  <p:tag name="TABLE_ENDDRAG_ORIGIN_RECT" val="780*226"/>
  <p:tag name="TABLE_ENDDRAG_RECT" val="83*197*780*226"/>
  <p:tag name="KSO_WM_BEAUTIFY_FLAG" val=""/>
</p:tagLst>
</file>

<file path=ppt/tags/tag49.xml><?xml version="1.0" encoding="utf-8"?>
<p:tagLst xmlns:p="http://schemas.openxmlformats.org/presentationml/2006/main">
  <p:tag name="TABLE_ENDDRAG_ORIGIN_RECT" val="780*226"/>
  <p:tag name="TABLE_ENDDRAG_RECT" val="83*197*780*226"/>
  <p:tag name="KSO_WM_BEAUTIFY_FLAG" val=""/>
</p:tagLst>
</file>

<file path=ppt/tags/tag50.xml><?xml version="1.0" encoding="utf-8"?>
<p:tagLst xmlns:p="http://schemas.openxmlformats.org/presentationml/2006/main">
  <p:tag name="TABLE_ENDDRAG_ORIGIN_RECT" val="780*226"/>
  <p:tag name="TABLE_ENDDRAG_RECT" val="83*197*780*226"/>
  <p:tag name="KSO_WM_BEAUTIFY_FLAG" val=""/>
</p:tagLst>
</file>

<file path=ppt/tags/tag51.xml><?xml version="1.0" encoding="utf-8"?>
<p:tagLst xmlns:p="http://schemas.openxmlformats.org/presentationml/2006/main">
  <p:tag name="TABLE_ENDDRAG_ORIGIN_RECT" val="780*226"/>
  <p:tag name="TABLE_ENDDRAG_RECT" val="83*197*780*226"/>
  <p:tag name="KSO_WM_BEAUTIFY_FLAG" val=""/>
</p:tagLst>
</file>

<file path=ppt/tags/tag52.xml><?xml version="1.0" encoding="utf-8"?>
<p:tagLst xmlns:p="http://schemas.openxmlformats.org/presentationml/2006/main">
  <p:tag name="TABLE_ENDDRAG_ORIGIN_RECT" val="780*226"/>
  <p:tag name="TABLE_ENDDRAG_RECT" val="83*197*780*226"/>
  <p:tag name="KSO_WM_BEAUTIFY_FLAG" val=""/>
</p:tagLst>
</file>

<file path=ppt/tags/tag53.xml><?xml version="1.0" encoding="utf-8"?>
<p:tagLst xmlns:p="http://schemas.openxmlformats.org/presentationml/2006/main">
  <p:tag name="TABLE_ENDDRAG_ORIGIN_RECT" val="780*226"/>
  <p:tag name="TABLE_ENDDRAG_RECT" val="83*197*780*226"/>
  <p:tag name="KSO_WM_BEAUTIFY_FLAG" val=""/>
</p:tagLst>
</file>

<file path=ppt/tags/tag54.xml><?xml version="1.0" encoding="utf-8"?>
<p:tagLst xmlns:p="http://schemas.openxmlformats.org/presentationml/2006/main">
  <p:tag name="KSO_WPP_MARK_KEY" val="7bd29f46-b8e6-4582-857c-02eb3b47549f"/>
  <p:tag name="COMMONDATA" val="eyJoZGlkIjoiY2IxYTc3NzQxYzYwYWY3YzFjZDE3YmJmMWE0OTZjMWUifQ=="/>
  <p:tag name="commondata" val="eyJoZGlkIjoiZDlmYmZlNjU0NDY4OWU0NzAyMDE4YmM1Yjk4MjJkYzA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lang="zh-CN" altLang="en-US" sz="2000"/>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11664</Words>
  <Application>WPS 演示</Application>
  <PresentationFormat>宽屏</PresentationFormat>
  <Paragraphs>926</Paragraphs>
  <Slides>95</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95</vt:i4>
      </vt:variant>
    </vt:vector>
  </HeadingPairs>
  <TitlesOfParts>
    <vt:vector size="111" baseType="lpstr">
      <vt:lpstr>Arial</vt:lpstr>
      <vt:lpstr>宋体</vt:lpstr>
      <vt:lpstr>Wingdings</vt:lpstr>
      <vt:lpstr>黑体</vt:lpstr>
      <vt:lpstr>Corbel</vt:lpstr>
      <vt:lpstr>楷体_GB2312</vt:lpstr>
      <vt:lpstr>新宋体</vt:lpstr>
      <vt:lpstr>华文中宋</vt:lpstr>
      <vt:lpstr>Calibri Light</vt:lpstr>
      <vt:lpstr>Calibri</vt:lpstr>
      <vt:lpstr>微软雅黑</vt:lpstr>
      <vt:lpstr>Arial Unicode MS</vt:lpstr>
      <vt:lpstr>楷体</vt:lpstr>
      <vt:lpstr>楷体_GB2312</vt:lpstr>
      <vt:lpstr>Office 主题</vt:lpstr>
      <vt:lpstr>Excel.Sheet.8</vt:lpstr>
      <vt:lpstr>第2章 软件缺陷</vt:lpstr>
      <vt:lpstr>内容</vt:lpstr>
      <vt:lpstr>2.1 软件缺陷概述</vt:lpstr>
      <vt:lpstr>2.1 软件缺陷概述</vt:lpstr>
      <vt:lpstr>2.1 软件缺陷概述</vt:lpstr>
      <vt:lpstr>2.1 软件缺陷概述</vt:lpstr>
      <vt:lpstr>2.1 软件缺陷概述</vt:lpstr>
      <vt:lpstr>软件缺陷在开发周期不同阶段的分布</vt:lpstr>
      <vt:lpstr>软件缺陷构成</vt:lpstr>
      <vt:lpstr>修复软件缺陷的代价</vt:lpstr>
      <vt:lpstr>2.2 软件缺陷分类</vt:lpstr>
      <vt:lpstr>2.2 软件缺陷分类</vt:lpstr>
      <vt:lpstr>2.2 软件缺陷分类</vt:lpstr>
      <vt:lpstr>2.2 软件缺陷分类</vt:lpstr>
      <vt:lpstr>2.2 软件缺陷分类</vt:lpstr>
      <vt:lpstr>2.2 软件缺陷分类</vt:lpstr>
      <vt:lpstr>2.2 软件缺陷分类</vt:lpstr>
      <vt:lpstr>2.2 软件缺陷分类</vt:lpstr>
      <vt:lpstr>2.2 软件缺陷分类</vt:lpstr>
      <vt:lpstr>2.3 程序语义缺陷</vt:lpstr>
      <vt:lpstr>2.3 程序语义缺陷：空指针引用</vt:lpstr>
      <vt:lpstr>2.3 程序语义缺陷：数组越界</vt:lpstr>
      <vt:lpstr>2.3 程序语义缺陷：非法计算</vt:lpstr>
      <vt:lpstr>2.3 程序语义缺陷：变量未初始化使用</vt:lpstr>
      <vt:lpstr>2.3 程序语义缺陷：内存泄漏</vt:lpstr>
      <vt:lpstr>2.3 程序语义缺陷：资源泄漏</vt:lpstr>
      <vt:lpstr>2.3 程序语义缺陷：死循环</vt:lpstr>
      <vt:lpstr>2.3 程序语义缺陷：强制类型转换</vt:lpstr>
      <vt:lpstr>2.3 程序语义缺陷：整数溢出</vt:lpstr>
      <vt:lpstr>2.3 程序语义缺陷：悬挂指针</vt:lpstr>
      <vt:lpstr>2.4 软件功能性故障模式：输入非法数据</vt:lpstr>
      <vt:lpstr>2.4 软件功能性故障模式：输入非法数据</vt:lpstr>
      <vt:lpstr>2.4 软件功能性故障模式：输入非法数据</vt:lpstr>
      <vt:lpstr>2.4 软件功能性故障模式：输入默认值</vt:lpstr>
      <vt:lpstr>2.4 软件功能性故障模式：输入默认值</vt:lpstr>
      <vt:lpstr>2.4 软件功能性故障模式：输入默认值</vt:lpstr>
      <vt:lpstr>2.4 软件功能性故障模式：输入特殊字符集</vt:lpstr>
      <vt:lpstr>2.4 软件功能性故障模式：输入特殊字符集</vt:lpstr>
      <vt:lpstr>2.4 软件功能性故障模式：输入特殊字符集</vt:lpstr>
      <vt:lpstr>2.4 软件功能性故障模式：输入使缓冲区溢出的数据</vt:lpstr>
      <vt:lpstr>2.4 软件功能性故障模式：输入使缓冲区溢出的数据</vt:lpstr>
      <vt:lpstr>2.4 软件功能性故障模式：输入使缓冲区溢出的数据</vt:lpstr>
      <vt:lpstr>2.4 软件功能性故障模式：输入产生错误的合法数据组合</vt:lpstr>
      <vt:lpstr>2.4 软件功能性故障模式：输入产生错误的合法数据组合</vt:lpstr>
      <vt:lpstr>2.4 软件功能性故障模式：输入产生错误的合法数据组合</vt:lpstr>
      <vt:lpstr>2.4 软件功能性故障模式：同一个输入不同输出</vt:lpstr>
      <vt:lpstr>2.4 软件功能性故障模式：同一个输入不同输出</vt:lpstr>
      <vt:lpstr>2.4 软件功能性故障模式：同一个输入不同输出</vt:lpstr>
      <vt:lpstr>2.4 软件功能性故障模式：输出不符合业务规则的无效输出</vt:lpstr>
      <vt:lpstr>2.4 软件功能性故障模式：输出不符合业务规则的无效输出</vt:lpstr>
      <vt:lpstr>2.4 软件功能性故障模式：输出不符合业务规则的无效输出</vt:lpstr>
      <vt:lpstr>2.4 软件功能性故障模式：输出属性修改后的结果</vt:lpstr>
      <vt:lpstr>2.4 软件功能性故障模式：输出属性修改后的结果</vt:lpstr>
      <vt:lpstr>2.4 软件功能性故障模式：输出属性修改后的结果</vt:lpstr>
      <vt:lpstr>2.4 软件功能性故障模式：屏幕刷新显示</vt:lpstr>
      <vt:lpstr>2.4 软件功能性故障模式：屏幕刷新显示</vt:lpstr>
      <vt:lpstr>2.4 软件功能性故障模式：屏幕刷新显示</vt:lpstr>
      <vt:lpstr>2.4 软件功能性故障模式：数据结构溢出</vt:lpstr>
      <vt:lpstr>2.4 软件功能性故障模式：数据结构溢出</vt:lpstr>
      <vt:lpstr>2.4 软件功能性故障模式：数据结构溢出</vt:lpstr>
      <vt:lpstr>2.4 软件功能性故障模式：数据结构不符合约束</vt:lpstr>
      <vt:lpstr>2.4 软件功能性故障模式：数据结构不符合约束</vt:lpstr>
      <vt:lpstr>2.4 软件功能性故障模式：数据结构不符合约束</vt:lpstr>
      <vt:lpstr>2.4 软件功能性故障模式：操作数与操作符不符</vt:lpstr>
      <vt:lpstr>2.4 软件功能性故障模式：操作数与操作符不符</vt:lpstr>
      <vt:lpstr>2.4 软件功能性故障模式：操作数与操作符不符</vt:lpstr>
      <vt:lpstr>2.4 软件功能性故障模式：递归调用自身</vt:lpstr>
      <vt:lpstr>2.4 软件功能性故障模式：递归调用自身</vt:lpstr>
      <vt:lpstr>2.4 软件功能性故障模式：递归调用自身</vt:lpstr>
      <vt:lpstr>2.4 软件功能性故障模式：计算结果溢出</vt:lpstr>
      <vt:lpstr>2.4 软件功能性故障模式：计算结果溢出</vt:lpstr>
      <vt:lpstr>2.4 软件功能性故障模式：计算结果溢出</vt:lpstr>
      <vt:lpstr>2.4 软件功能性故障模式：数据共享或关联功能计算错误</vt:lpstr>
      <vt:lpstr>2.4 软件功能性故障模式：数据共享或关联功能计算错误</vt:lpstr>
      <vt:lpstr>2.4 软件功能性故障模式：数据共享或关联功能计算错误</vt:lpstr>
      <vt:lpstr>2.4 软件功能性故障模式：数据共享或关联功能计算错误</vt:lpstr>
      <vt:lpstr>2.4 软件功能性故障模式：文件系统超载</vt:lpstr>
      <vt:lpstr>2.4 软件功能性故障模式：文件系统超载</vt:lpstr>
      <vt:lpstr>2.4 软件功能性故障模式：文件系统超载</vt:lpstr>
      <vt:lpstr>2.4 软件功能性故障模式：介质忙或不可用</vt:lpstr>
      <vt:lpstr>2.4 软件功能性故障模式：介质忙或不可用</vt:lpstr>
      <vt:lpstr>2.4 软件功能性故障模式：介质忙或不可用</vt:lpstr>
      <vt:lpstr>2.4 软件功能性故障模式：介质损坏</vt:lpstr>
      <vt:lpstr>2.4 软件功能性故障模式：介质损坏</vt:lpstr>
      <vt:lpstr>2.4 软件功能性故障模式：介质损坏</vt:lpstr>
      <vt:lpstr>2.4 软件功能性故障模式：文件名不合法</vt:lpstr>
      <vt:lpstr>2.4 软件功能性故障模式：文件名不合法</vt:lpstr>
      <vt:lpstr>2.4 软件功能性故障模式：文件名不合法</vt:lpstr>
      <vt:lpstr>2.4 软件功能性故障模式：更改文件访问权限</vt:lpstr>
      <vt:lpstr>2.4 软件功能性故障模式：更改文件访问权限</vt:lpstr>
      <vt:lpstr>2.4 软件功能性故障模式：更改文件访问权限</vt:lpstr>
      <vt:lpstr>2.4 软件功能性故障模式：文件内容受损</vt:lpstr>
      <vt:lpstr>2.4 软件功能性故障模式：文件内容受损</vt:lpstr>
      <vt:lpstr>2.4 软件功能性故障模式：文件内容受损</vt:lpstr>
      <vt:lpstr>本章作业</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软件分析概要</dc:title>
  <dc:creator>Microsoft</dc:creator>
  <cp:lastModifiedBy>董玉坤</cp:lastModifiedBy>
  <cp:revision>250</cp:revision>
  <dcterms:created xsi:type="dcterms:W3CDTF">2022-08-08T01:51:00Z</dcterms:created>
  <dcterms:modified xsi:type="dcterms:W3CDTF">2024-10-13T10:27:09Z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E9266E9539684B88B8E38D15771F6DA7_12</vt:lpwstr>
  </property>
  <property fmtid="{D5CDD505-2E9C-101B-9397-08002B2CF9AE}" pid="3" name="KSOProductBuildVer">
    <vt:lpwstr>2052-12.1.0.17827</vt:lpwstr>
  </property>
</Properties>
</file>