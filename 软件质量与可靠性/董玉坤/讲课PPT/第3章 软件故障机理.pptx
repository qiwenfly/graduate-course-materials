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3"/>
    <p:sldId id="257" r:id="rId4"/>
    <p:sldId id="658" r:id="rId5"/>
    <p:sldId id="703" r:id="rId6"/>
    <p:sldId id="704" r:id="rId7"/>
    <p:sldId id="705" r:id="rId8"/>
    <p:sldId id="706" r:id="rId9"/>
    <p:sldId id="709" r:id="rId10"/>
    <p:sldId id="707" r:id="rId11"/>
    <p:sldId id="708" r:id="rId12"/>
    <p:sldId id="710" r:id="rId13"/>
    <p:sldId id="711" r:id="rId14"/>
    <p:sldId id="626" r:id="rId15"/>
    <p:sldId id="627" r:id="rId16"/>
    <p:sldId id="631" r:id="rId17"/>
    <p:sldId id="632" r:id="rId18"/>
    <p:sldId id="633" r:id="rId19"/>
    <p:sldId id="634" r:id="rId20"/>
    <p:sldId id="635" r:id="rId21"/>
    <p:sldId id="636" r:id="rId22"/>
    <p:sldId id="637" r:id="rId23"/>
    <p:sldId id="638" r:id="rId24"/>
    <p:sldId id="639" r:id="rId25"/>
    <p:sldId id="640" r:id="rId26"/>
    <p:sldId id="641" r:id="rId27"/>
    <p:sldId id="642" r:id="rId28"/>
    <p:sldId id="643" r:id="rId29"/>
    <p:sldId id="644" r:id="rId30"/>
    <p:sldId id="686" r:id="rId31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gs" Target="tags/tag100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notesMaster" Target="notesMasters/notesMaster1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FBB9-8D04-43DE-A59C-D9D9C885B1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D90DF-7CA0-4224-96EF-983A14E14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535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8605"/>
            <a:ext cx="10515600" cy="4638675"/>
          </a:xfrm>
        </p:spPr>
        <p:txBody>
          <a:bodyPr/>
          <a:lstStyle>
            <a:lvl1pPr eaLnBrk="1" fontAlgn="auto" latinLnBrk="0" hangingPunct="1">
              <a:lnSpc>
                <a:spcPct val="130000"/>
              </a:lnSpc>
              <a:defRPr/>
            </a:lvl1pPr>
            <a:lvl2pPr eaLnBrk="1" fontAlgn="auto" latinLnBrk="0" hangingPunct="1">
              <a:lnSpc>
                <a:spcPct val="130000"/>
              </a:lnSpc>
              <a:defRPr/>
            </a:lvl2pPr>
            <a:lvl3pPr eaLnBrk="1" fontAlgn="auto" latinLnBrk="0" hangingPunct="1">
              <a:lnSpc>
                <a:spcPct val="130000"/>
              </a:lnSpc>
              <a:defRPr/>
            </a:lvl3pPr>
            <a:lvl4pPr eaLnBrk="1" fontAlgn="auto" latinLnBrk="0" hangingPunct="1">
              <a:lnSpc>
                <a:spcPct val="130000"/>
              </a:lnSpc>
              <a:defRPr/>
            </a:lvl4pPr>
            <a:lvl5pPr eaLnBrk="1" fontAlgn="auto" latinLnBrk="0" hangingPunct="1">
              <a:lnSpc>
                <a:spcPct val="130000"/>
              </a:lnSpc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FBB9-8D04-43DE-A59C-D9D9C885B1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D90DF-7CA0-4224-96EF-983A14E14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FBB9-8D04-43DE-A59C-D9D9C885B1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D90DF-7CA0-4224-96EF-983A14E14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FBB9-8D04-43DE-A59C-D9D9C885B1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D90DF-7CA0-4224-96EF-983A14E14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FBB9-8D04-43DE-A59C-D9D9C885B1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D90DF-7CA0-4224-96EF-983A14E14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FBB9-8D04-43DE-A59C-D9D9C885B1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D90DF-7CA0-4224-96EF-983A14E14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FBB9-8D04-43DE-A59C-D9D9C885B1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D90DF-7CA0-4224-96EF-983A14E14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FBB9-8D04-43DE-A59C-D9D9C885B1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D90DF-7CA0-4224-96EF-983A14E14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FBB9-8D04-43DE-A59C-D9D9C885B1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D90DF-7CA0-4224-96EF-983A14E14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FBB9-8D04-43DE-A59C-D9D9C885B1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D90DF-7CA0-4224-96EF-983A14E14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FBB9-8D04-43DE-A59C-D9D9C885B1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D90DF-7CA0-4224-96EF-983A14E14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EFBB9-8D04-43DE-A59C-D9D9C885B1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D90DF-7CA0-4224-96EF-983A14E1413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5" Type="http://schemas.openxmlformats.org/officeDocument/2006/relationships/slideLayout" Target="../slideLayouts/slideLayout2.xml"/><Relationship Id="rId34" Type="http://schemas.openxmlformats.org/officeDocument/2006/relationships/tags" Target="../tags/tag29.xml"/><Relationship Id="rId33" Type="http://schemas.openxmlformats.org/officeDocument/2006/relationships/tags" Target="../tags/tag28.xml"/><Relationship Id="rId32" Type="http://schemas.openxmlformats.org/officeDocument/2006/relationships/tags" Target="../tags/tag27.xml"/><Relationship Id="rId31" Type="http://schemas.openxmlformats.org/officeDocument/2006/relationships/tags" Target="../tags/tag26.xml"/><Relationship Id="rId30" Type="http://schemas.openxmlformats.org/officeDocument/2006/relationships/tags" Target="../tags/tag25.xml"/><Relationship Id="rId3" Type="http://schemas.openxmlformats.org/officeDocument/2006/relationships/tags" Target="../tags/tag2.xml"/><Relationship Id="rId29" Type="http://schemas.openxmlformats.org/officeDocument/2006/relationships/tags" Target="../tags/tag24.xml"/><Relationship Id="rId28" Type="http://schemas.openxmlformats.org/officeDocument/2006/relationships/image" Target="../media/image5.png"/><Relationship Id="rId27" Type="http://schemas.openxmlformats.org/officeDocument/2006/relationships/tags" Target="../tags/tag23.xml"/><Relationship Id="rId26" Type="http://schemas.openxmlformats.org/officeDocument/2006/relationships/tags" Target="../tags/tag22.xml"/><Relationship Id="rId25" Type="http://schemas.openxmlformats.org/officeDocument/2006/relationships/tags" Target="../tags/tag21.xml"/><Relationship Id="rId24" Type="http://schemas.openxmlformats.org/officeDocument/2006/relationships/tags" Target="../tags/tag20.xml"/><Relationship Id="rId23" Type="http://schemas.openxmlformats.org/officeDocument/2006/relationships/image" Target="../media/image4.png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image" Target="../media/image1.png"/><Relationship Id="rId19" Type="http://schemas.openxmlformats.org/officeDocument/2006/relationships/image" Target="../media/image3.png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image" Target="../media/image2.png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image" Target="../media/image7.png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image" Target="../media/image6.png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37.xml"/><Relationship Id="rId1" Type="http://schemas.openxmlformats.org/officeDocument/2006/relationships/tags" Target="../tags/tag3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tags" Target="../tags/tag3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image" Target="../media/image11.png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image" Target="../media/image10.png"/><Relationship Id="rId1" Type="http://schemas.openxmlformats.org/officeDocument/2006/relationships/tags" Target="../tags/tag5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tags" Target="../tags/tag6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73.xml"/><Relationship Id="rId1" Type="http://schemas.openxmlformats.org/officeDocument/2006/relationships/tags" Target="../tags/tag64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7" Type="http://schemas.openxmlformats.org/officeDocument/2006/relationships/slideLayout" Target="../slideLayouts/slideLayout2.xml"/><Relationship Id="rId26" Type="http://schemas.openxmlformats.org/officeDocument/2006/relationships/tags" Target="../tags/tag99.xml"/><Relationship Id="rId25" Type="http://schemas.openxmlformats.org/officeDocument/2006/relationships/tags" Target="../tags/tag98.xml"/><Relationship Id="rId24" Type="http://schemas.openxmlformats.org/officeDocument/2006/relationships/tags" Target="../tags/tag97.xml"/><Relationship Id="rId23" Type="http://schemas.openxmlformats.org/officeDocument/2006/relationships/tags" Target="../tags/tag96.xml"/><Relationship Id="rId22" Type="http://schemas.openxmlformats.org/officeDocument/2006/relationships/tags" Target="../tags/tag95.xml"/><Relationship Id="rId21" Type="http://schemas.openxmlformats.org/officeDocument/2006/relationships/tags" Target="../tags/tag94.xml"/><Relationship Id="rId20" Type="http://schemas.openxmlformats.org/officeDocument/2006/relationships/tags" Target="../tags/tag93.xml"/><Relationship Id="rId2" Type="http://schemas.openxmlformats.org/officeDocument/2006/relationships/tags" Target="../tags/tag75.xml"/><Relationship Id="rId19" Type="http://schemas.openxmlformats.org/officeDocument/2006/relationships/tags" Target="../tags/tag92.xml"/><Relationship Id="rId18" Type="http://schemas.openxmlformats.org/officeDocument/2006/relationships/tags" Target="../tags/tag91.xml"/><Relationship Id="rId17" Type="http://schemas.openxmlformats.org/officeDocument/2006/relationships/tags" Target="../tags/tag90.xml"/><Relationship Id="rId16" Type="http://schemas.openxmlformats.org/officeDocument/2006/relationships/tags" Target="../tags/tag89.xml"/><Relationship Id="rId15" Type="http://schemas.openxmlformats.org/officeDocument/2006/relationships/tags" Target="../tags/tag88.xml"/><Relationship Id="rId14" Type="http://schemas.openxmlformats.org/officeDocument/2006/relationships/tags" Target="../tags/tag87.xml"/><Relationship Id="rId13" Type="http://schemas.openxmlformats.org/officeDocument/2006/relationships/tags" Target="../tags/tag86.xml"/><Relationship Id="rId12" Type="http://schemas.openxmlformats.org/officeDocument/2006/relationships/tags" Target="../tags/tag85.xml"/><Relationship Id="rId11" Type="http://schemas.openxmlformats.org/officeDocument/2006/relationships/tags" Target="../tags/tag84.xml"/><Relationship Id="rId10" Type="http://schemas.openxmlformats.org/officeDocument/2006/relationships/tags" Target="../tags/tag83.xml"/><Relationship Id="rId1" Type="http://schemas.openxmlformats.org/officeDocument/2006/relationships/tags" Target="../tags/tag7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3</a:t>
            </a:r>
            <a:r>
              <a:rPr lang="zh-CN" altLang="en-US" dirty="0" smtClean="0"/>
              <a:t>章 软件故障</a:t>
            </a:r>
            <a:r>
              <a:rPr lang="zh-CN" altLang="en-US" dirty="0" smtClean="0"/>
              <a:t>机理</a:t>
            </a:r>
            <a:endParaRPr lang="zh-CN" altLang="en-US" dirty="0"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667000" y="3934558"/>
            <a:ext cx="6858000" cy="866042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/>
              <a:t>中国石油大学（华东）</a:t>
            </a:r>
            <a:endParaRPr lang="zh-CN" altLang="en-US" dirty="0" smtClean="0"/>
          </a:p>
          <a:p>
            <a:r>
              <a:rPr lang="zh-CN" altLang="en-US" dirty="0"/>
              <a:t>青岛软件学院、计算机科学与技术</a:t>
            </a:r>
            <a:r>
              <a:rPr lang="zh-CN" altLang="en-US" dirty="0"/>
              <a:t>学院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C00000"/>
                </a:solidFill>
              </a:rPr>
              <a:t>内容</a:t>
            </a:r>
            <a:endParaRPr lang="zh-CN" altLang="en-US" dirty="0" smtClean="0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软件</a:t>
            </a:r>
            <a:r>
              <a:rPr lang="zh-CN" altLang="en-US" dirty="0"/>
              <a:t>失效</a:t>
            </a:r>
            <a:endParaRPr lang="zh-CN" altLang="en-US" dirty="0"/>
          </a:p>
          <a:p>
            <a:r>
              <a:rPr lang="en-US" altLang="zh-CN" dirty="0"/>
              <a:t>2. </a:t>
            </a:r>
            <a:r>
              <a:rPr lang="zh-CN" altLang="en-US" dirty="0"/>
              <a:t>软件系统的故障机理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zh-CN" altLang="en-US">
                <a:solidFill>
                  <a:srgbClr val="C00000"/>
                </a:solidFill>
                <a:sym typeface="+mn-ea"/>
              </a:rPr>
              <a:t>引言</a:t>
            </a:r>
            <a:endParaRPr lang="zh-CN" altLang="en-US">
              <a:solidFill>
                <a:srgbClr val="C00000"/>
              </a:solidFill>
              <a:sym typeface="+mn-ea"/>
            </a:endParaRPr>
          </a:p>
        </p:txBody>
      </p:sp>
      <p:grpSp>
        <p:nvGrpSpPr>
          <p:cNvPr id="48132" name="Group 3"/>
          <p:cNvGrpSpPr/>
          <p:nvPr/>
        </p:nvGrpSpPr>
        <p:grpSpPr bwMode="auto">
          <a:xfrm>
            <a:off x="1282065" y="3163570"/>
            <a:ext cx="1316038" cy="1169988"/>
            <a:chOff x="0" y="0"/>
            <a:chExt cx="829" cy="737"/>
          </a:xfrm>
        </p:grpSpPr>
        <p:pic>
          <p:nvPicPr>
            <p:cNvPr id="48172" name="菱形 3"/>
            <p:cNvPicPr>
              <a:picLocks noChangeArrowheads="1"/>
            </p:cNvPicPr>
            <p:nvPr>
              <p:custDataLst>
                <p:tags r:id="rId1"/>
              </p:custDataLst>
            </p:nvPr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0" y="0"/>
              <a:ext cx="829" cy="7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8173" name="Text Box 5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34" y="212"/>
              <a:ext cx="360" cy="31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p>
              <a:r>
                <a:rPr lang="zh-CN" altLang="en-US" b="1" i="0">
                  <a:solidFill>
                    <a:srgbClr val="000000"/>
                  </a:solidFill>
                  <a:latin typeface="Corbel" panose="020B0503020204020204" pitchFamily="34" charset="0"/>
                </a:rPr>
                <a:t>错误</a:t>
              </a:r>
              <a:endParaRPr lang="zh-CN" altLang="en-US" b="1" i="0">
                <a:solidFill>
                  <a:srgbClr val="000000"/>
                </a:solidFill>
                <a:latin typeface="Corbel" panose="020B0503020204020204" pitchFamily="34" charset="0"/>
              </a:endParaRPr>
            </a:p>
          </p:txBody>
        </p:sp>
      </p:grpSp>
      <p:sp>
        <p:nvSpPr>
          <p:cNvPr id="48133" name="饼形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082290" y="2677795"/>
            <a:ext cx="571500" cy="571500"/>
          </a:xfrm>
          <a:custGeom>
            <a:avLst/>
            <a:gdLst>
              <a:gd name="T0" fmla="*/ 571500 w 571500"/>
              <a:gd name="T1" fmla="*/ 285750 h 571500"/>
              <a:gd name="T2" fmla="*/ 285750 w 571500"/>
              <a:gd name="T3" fmla="*/ 571500 h 571500"/>
              <a:gd name="T4" fmla="*/ 0 w 571500"/>
              <a:gd name="T5" fmla="*/ 285750 h 571500"/>
              <a:gd name="T6" fmla="*/ 285750 w 571500"/>
              <a:gd name="T7" fmla="*/ 0 h 5715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83694 w 571500"/>
              <a:gd name="T13" fmla="*/ 83694 h 571500"/>
              <a:gd name="T14" fmla="*/ 487806 w 571500"/>
              <a:gd name="T15" fmla="*/ 487806 h 5715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1500" h="571500">
                <a:moveTo>
                  <a:pt x="571500" y="285750"/>
                </a:moveTo>
                <a:lnTo>
                  <a:pt x="571500" y="285750"/>
                </a:lnTo>
                <a:cubicBezTo>
                  <a:pt x="571500" y="443565"/>
                  <a:pt x="443565" y="571500"/>
                  <a:pt x="285750" y="571500"/>
                </a:cubicBezTo>
                <a:cubicBezTo>
                  <a:pt x="127934" y="571500"/>
                  <a:pt x="0" y="443565"/>
                  <a:pt x="0" y="285750"/>
                </a:cubicBezTo>
                <a:cubicBezTo>
                  <a:pt x="-1" y="127934"/>
                  <a:pt x="127934" y="0"/>
                  <a:pt x="285749" y="0"/>
                </a:cubicBezTo>
                <a:lnTo>
                  <a:pt x="285750" y="285750"/>
                </a:lnTo>
                <a:lnTo>
                  <a:pt x="571500" y="285750"/>
                </a:lnTo>
                <a:close/>
              </a:path>
            </a:pathLst>
          </a:custGeom>
          <a:solidFill>
            <a:schemeClr val="accent1"/>
          </a:solidFill>
          <a:ln w="19050">
            <a:solidFill>
              <a:srgbClr val="5C9929"/>
            </a:solidFill>
            <a:miter lim="800000"/>
          </a:ln>
        </p:spPr>
        <p:txBody>
          <a:bodyPr anchor="ctr"/>
          <a:p>
            <a:endParaRPr lang="zh-CN" altLang="en-US" i="0"/>
          </a:p>
        </p:txBody>
      </p:sp>
      <p:sp>
        <p:nvSpPr>
          <p:cNvPr id="48134" name="TextBox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439478" y="2534921"/>
            <a:ext cx="85725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p>
            <a:r>
              <a:rPr lang="zh-CN" altLang="en-US" sz="2000" b="1" i="0"/>
              <a:t>缺陷</a:t>
            </a:r>
            <a:endParaRPr lang="zh-CN" altLang="en-US" sz="2000" b="1" i="0"/>
          </a:p>
        </p:txBody>
      </p:sp>
      <p:sp>
        <p:nvSpPr>
          <p:cNvPr id="48135" name="饼形 6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225165" y="3606483"/>
            <a:ext cx="571500" cy="571500"/>
          </a:xfrm>
          <a:custGeom>
            <a:avLst/>
            <a:gdLst>
              <a:gd name="T0" fmla="*/ 571500 w 571500"/>
              <a:gd name="T1" fmla="*/ 285750 h 571500"/>
              <a:gd name="T2" fmla="*/ 285750 w 571500"/>
              <a:gd name="T3" fmla="*/ 571500 h 571500"/>
              <a:gd name="T4" fmla="*/ 0 w 571500"/>
              <a:gd name="T5" fmla="*/ 285750 h 571500"/>
              <a:gd name="T6" fmla="*/ 285750 w 571500"/>
              <a:gd name="T7" fmla="*/ 0 h 5715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83694 w 571500"/>
              <a:gd name="T13" fmla="*/ 83694 h 571500"/>
              <a:gd name="T14" fmla="*/ 487806 w 571500"/>
              <a:gd name="T15" fmla="*/ 487806 h 5715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1500" h="571500">
                <a:moveTo>
                  <a:pt x="571500" y="285750"/>
                </a:moveTo>
                <a:lnTo>
                  <a:pt x="571500" y="285750"/>
                </a:lnTo>
                <a:cubicBezTo>
                  <a:pt x="571500" y="443565"/>
                  <a:pt x="443565" y="571500"/>
                  <a:pt x="285750" y="571500"/>
                </a:cubicBezTo>
                <a:cubicBezTo>
                  <a:pt x="127934" y="571500"/>
                  <a:pt x="0" y="443565"/>
                  <a:pt x="0" y="285750"/>
                </a:cubicBezTo>
                <a:cubicBezTo>
                  <a:pt x="-1" y="127934"/>
                  <a:pt x="127934" y="0"/>
                  <a:pt x="285749" y="0"/>
                </a:cubicBezTo>
                <a:lnTo>
                  <a:pt x="285750" y="285750"/>
                </a:lnTo>
                <a:lnTo>
                  <a:pt x="571500" y="285750"/>
                </a:lnTo>
                <a:close/>
              </a:path>
            </a:pathLst>
          </a:custGeom>
          <a:solidFill>
            <a:schemeClr val="accent1"/>
          </a:solidFill>
          <a:ln w="19050">
            <a:solidFill>
              <a:srgbClr val="5C9929"/>
            </a:solidFill>
            <a:miter lim="800000"/>
          </a:ln>
        </p:spPr>
        <p:txBody>
          <a:bodyPr anchor="ctr"/>
          <a:p>
            <a:endParaRPr lang="zh-CN" altLang="en-US" i="0"/>
          </a:p>
        </p:txBody>
      </p:sp>
      <p:sp>
        <p:nvSpPr>
          <p:cNvPr id="48136" name="TextBox 9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582353" y="3463609"/>
            <a:ext cx="85725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p>
            <a:r>
              <a:rPr lang="zh-CN" altLang="en-US" sz="2000" b="1" i="0"/>
              <a:t>缺陷</a:t>
            </a:r>
            <a:endParaRPr lang="zh-CN" altLang="en-US" sz="2000" b="1" i="0"/>
          </a:p>
        </p:txBody>
      </p:sp>
      <p:sp>
        <p:nvSpPr>
          <p:cNvPr id="48137" name="饼形 8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225165" y="4463733"/>
            <a:ext cx="571500" cy="571500"/>
          </a:xfrm>
          <a:custGeom>
            <a:avLst/>
            <a:gdLst>
              <a:gd name="T0" fmla="*/ 571500 w 571500"/>
              <a:gd name="T1" fmla="*/ 285750 h 571500"/>
              <a:gd name="T2" fmla="*/ 285750 w 571500"/>
              <a:gd name="T3" fmla="*/ 571500 h 571500"/>
              <a:gd name="T4" fmla="*/ 0 w 571500"/>
              <a:gd name="T5" fmla="*/ 285750 h 571500"/>
              <a:gd name="T6" fmla="*/ 285750 w 571500"/>
              <a:gd name="T7" fmla="*/ 0 h 5715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83694 w 571500"/>
              <a:gd name="T13" fmla="*/ 83694 h 571500"/>
              <a:gd name="T14" fmla="*/ 487806 w 571500"/>
              <a:gd name="T15" fmla="*/ 487806 h 5715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1500" h="571500">
                <a:moveTo>
                  <a:pt x="571500" y="285750"/>
                </a:moveTo>
                <a:lnTo>
                  <a:pt x="571500" y="285750"/>
                </a:lnTo>
                <a:cubicBezTo>
                  <a:pt x="571500" y="443565"/>
                  <a:pt x="443565" y="571500"/>
                  <a:pt x="285750" y="571500"/>
                </a:cubicBezTo>
                <a:cubicBezTo>
                  <a:pt x="127934" y="571500"/>
                  <a:pt x="0" y="443565"/>
                  <a:pt x="0" y="285750"/>
                </a:cubicBezTo>
                <a:cubicBezTo>
                  <a:pt x="-1" y="127934"/>
                  <a:pt x="127934" y="0"/>
                  <a:pt x="285749" y="0"/>
                </a:cubicBezTo>
                <a:lnTo>
                  <a:pt x="285750" y="285750"/>
                </a:lnTo>
                <a:lnTo>
                  <a:pt x="571500" y="285750"/>
                </a:lnTo>
                <a:close/>
              </a:path>
            </a:pathLst>
          </a:custGeom>
          <a:solidFill>
            <a:schemeClr val="accent1"/>
          </a:solidFill>
          <a:ln w="19050">
            <a:solidFill>
              <a:srgbClr val="5C9929"/>
            </a:solidFill>
            <a:miter lim="800000"/>
          </a:ln>
        </p:spPr>
        <p:txBody>
          <a:bodyPr anchor="ctr"/>
          <a:p>
            <a:endParaRPr lang="zh-CN" altLang="en-US" i="0"/>
          </a:p>
        </p:txBody>
      </p:sp>
      <p:sp>
        <p:nvSpPr>
          <p:cNvPr id="48138" name="TextBox 11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582353" y="4320859"/>
            <a:ext cx="85725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p>
            <a:r>
              <a:rPr lang="zh-CN" altLang="en-US" sz="2000" b="1" i="0"/>
              <a:t>缺陷</a:t>
            </a:r>
            <a:endParaRPr lang="zh-CN" altLang="en-US" sz="2000" b="1" i="0"/>
          </a:p>
        </p:txBody>
      </p:sp>
      <p:cxnSp>
        <p:nvCxnSpPr>
          <p:cNvPr id="48139" name="直接箭头连接符 10"/>
          <p:cNvCxnSpPr>
            <a:cxnSpLocks noChangeShapeType="1"/>
          </p:cNvCxnSpPr>
          <p:nvPr>
            <p:custDataLst>
              <p:tags r:id="rId10"/>
            </p:custDataLst>
          </p:nvPr>
        </p:nvCxnSpPr>
        <p:spPr bwMode="auto">
          <a:xfrm flipV="1">
            <a:off x="2510791" y="3106420"/>
            <a:ext cx="785813" cy="642938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tailEnd type="arrow" w="med" len="med"/>
          </a:ln>
        </p:spPr>
      </p:cxnSp>
      <p:cxnSp>
        <p:nvCxnSpPr>
          <p:cNvPr id="48140" name="直接箭头连接符 11"/>
          <p:cNvCxnSpPr>
            <a:cxnSpLocks noChangeShapeType="1"/>
          </p:cNvCxnSpPr>
          <p:nvPr>
            <p:custDataLst>
              <p:tags r:id="rId11"/>
            </p:custDataLst>
          </p:nvPr>
        </p:nvCxnSpPr>
        <p:spPr bwMode="auto">
          <a:xfrm>
            <a:off x="2510791" y="3749358"/>
            <a:ext cx="714375" cy="214312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tailEnd type="arrow" w="med" len="med"/>
          </a:ln>
        </p:spPr>
      </p:cxnSp>
      <p:cxnSp>
        <p:nvCxnSpPr>
          <p:cNvPr id="48141" name="直接箭头连接符 12"/>
          <p:cNvCxnSpPr>
            <a:cxnSpLocks noChangeShapeType="1"/>
            <a:endCxn id="48137" idx="2"/>
          </p:cNvCxnSpPr>
          <p:nvPr>
            <p:custDataLst>
              <p:tags r:id="rId12"/>
            </p:custDataLst>
          </p:nvPr>
        </p:nvCxnSpPr>
        <p:spPr bwMode="auto">
          <a:xfrm>
            <a:off x="2501266" y="3749359"/>
            <a:ext cx="714375" cy="1000125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tailEnd type="arrow" w="med" len="med"/>
          </a:ln>
        </p:spPr>
      </p:cxnSp>
      <p:grpSp>
        <p:nvGrpSpPr>
          <p:cNvPr id="48142" name="Group 15"/>
          <p:cNvGrpSpPr/>
          <p:nvPr/>
        </p:nvGrpSpPr>
        <p:grpSpPr bwMode="auto">
          <a:xfrm>
            <a:off x="5196840" y="3096895"/>
            <a:ext cx="1717675" cy="1243330"/>
            <a:chOff x="0" y="0"/>
            <a:chExt cx="1455" cy="783"/>
          </a:xfrm>
        </p:grpSpPr>
        <p:pic>
          <p:nvPicPr>
            <p:cNvPr id="48170" name="云形 13"/>
            <p:cNvPicPr>
              <a:picLocks noChangeArrowheads="1"/>
            </p:cNvPicPr>
            <p:nvPr>
              <p:custDataLst>
                <p:tags r:id="rId13"/>
              </p:custDataLst>
            </p:nvPr>
          </p:nvPicPr>
          <p:blipFill>
            <a:blip r:embed="rId14"/>
            <a:srcRect/>
            <a:stretch>
              <a:fillRect/>
            </a:stretch>
          </p:blipFill>
          <p:spPr bwMode="auto">
            <a:xfrm>
              <a:off x="0" y="0"/>
              <a:ext cx="1455" cy="7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8171" name="Text Box 17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38" y="153"/>
              <a:ext cx="994" cy="4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p>
              <a:pPr algn="ctr"/>
              <a:r>
                <a:rPr lang="zh-CN" altLang="en-US" b="1" i="0">
                  <a:solidFill>
                    <a:srgbClr val="000000"/>
                  </a:solidFill>
                  <a:latin typeface="Corbel" panose="020B0503020204020204" pitchFamily="34" charset="0"/>
                </a:rPr>
                <a:t>软硬件环境与操作条件</a:t>
              </a:r>
              <a:endParaRPr lang="zh-CN" altLang="en-US" b="1" i="0">
                <a:solidFill>
                  <a:srgbClr val="000000"/>
                </a:solidFill>
                <a:latin typeface="Corbel" panose="020B0503020204020204" pitchFamily="34" charset="0"/>
              </a:endParaRPr>
            </a:p>
          </p:txBody>
        </p:sp>
      </p:grpSp>
      <p:sp>
        <p:nvSpPr>
          <p:cNvPr id="48143" name="右大括号 14"/>
          <p:cNvSpPr/>
          <p:nvPr>
            <p:custDataLst>
              <p:tags r:id="rId16"/>
            </p:custDataLst>
          </p:nvPr>
        </p:nvSpPr>
        <p:spPr bwMode="auto">
          <a:xfrm>
            <a:off x="4153853" y="2534921"/>
            <a:ext cx="571500" cy="2500313"/>
          </a:xfrm>
          <a:prstGeom prst="rightBrace">
            <a:avLst>
              <a:gd name="adj1" fmla="val 46667"/>
              <a:gd name="adj2" fmla="val 50000"/>
            </a:avLst>
          </a:prstGeom>
          <a:noFill/>
          <a:ln w="28575">
            <a:solidFill>
              <a:schemeClr val="accent1"/>
            </a:solidFill>
            <a:round/>
          </a:ln>
        </p:spPr>
        <p:txBody>
          <a:bodyPr anchor="ctr"/>
          <a:p>
            <a:endParaRPr lang="zh-CN" altLang="en-US" i="0">
              <a:latin typeface="Corbel" panose="020B0503020204020204" pitchFamily="34" charset="0"/>
            </a:endParaRPr>
          </a:p>
        </p:txBody>
      </p:sp>
      <p:sp>
        <p:nvSpPr>
          <p:cNvPr id="48144" name="右箭头 15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796791" y="3606484"/>
            <a:ext cx="428625" cy="3571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>
            <a:solidFill>
              <a:srgbClr val="5C9929"/>
            </a:solidFill>
            <a:miter lim="800000"/>
          </a:ln>
        </p:spPr>
        <p:txBody>
          <a:bodyPr anchor="ctr"/>
          <a:p>
            <a:endParaRPr lang="zh-CN" altLang="en-US" i="0">
              <a:solidFill>
                <a:srgbClr val="FFFFFF"/>
              </a:solidFill>
              <a:latin typeface="Corbel" panose="020B0503020204020204" pitchFamily="34" charset="0"/>
            </a:endParaRPr>
          </a:p>
        </p:txBody>
      </p:sp>
      <p:grpSp>
        <p:nvGrpSpPr>
          <p:cNvPr id="48145" name="Group 20"/>
          <p:cNvGrpSpPr/>
          <p:nvPr/>
        </p:nvGrpSpPr>
        <p:grpSpPr bwMode="auto">
          <a:xfrm>
            <a:off x="7446329" y="2614614"/>
            <a:ext cx="1457325" cy="2382837"/>
            <a:chOff x="0" y="0"/>
            <a:chExt cx="918" cy="1501"/>
          </a:xfrm>
        </p:grpSpPr>
        <p:pic>
          <p:nvPicPr>
            <p:cNvPr id="48168" name="爆炸形 1 16"/>
            <p:cNvPicPr>
              <a:picLocks noChangeArrowheads="1"/>
            </p:cNvPicPr>
            <p:nvPr>
              <p:custDataLst>
                <p:tags r:id="rId18"/>
              </p:custDataLst>
            </p:nvPr>
          </p:nvPicPr>
          <p:blipFill>
            <a:blip r:embed="rId19"/>
            <a:srcRect/>
            <a:stretch>
              <a:fillRect/>
            </a:stretch>
          </p:blipFill>
          <p:spPr bwMode="auto">
            <a:xfrm>
              <a:off x="0" y="0"/>
              <a:ext cx="918" cy="15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8169" name="Text Box 22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230" y="460"/>
              <a:ext cx="452" cy="49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p>
              <a:r>
                <a:rPr lang="zh-CN" altLang="en-US" sz="2800" b="1" i="0">
                  <a:solidFill>
                    <a:srgbClr val="000000"/>
                  </a:solidFill>
                  <a:latin typeface="Corbel" panose="020B0503020204020204" pitchFamily="34" charset="0"/>
                </a:rPr>
                <a:t>故障</a:t>
              </a:r>
              <a:endParaRPr lang="zh-CN" altLang="en-US" sz="2800" b="1" i="0">
                <a:solidFill>
                  <a:srgbClr val="000000"/>
                </a:solidFill>
                <a:latin typeface="Corbel" panose="020B0503020204020204" pitchFamily="34" charset="0"/>
              </a:endParaRPr>
            </a:p>
          </p:txBody>
        </p:sp>
      </p:grpSp>
      <p:sp>
        <p:nvSpPr>
          <p:cNvPr id="48146" name="右箭头 17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6963729" y="3554414"/>
            <a:ext cx="428625" cy="3571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>
            <a:solidFill>
              <a:srgbClr val="5C9929"/>
            </a:solidFill>
            <a:miter lim="800000"/>
          </a:ln>
        </p:spPr>
        <p:txBody>
          <a:bodyPr anchor="ctr"/>
          <a:p>
            <a:endParaRPr lang="zh-CN" altLang="en-US" i="0">
              <a:solidFill>
                <a:srgbClr val="FFFFFF"/>
              </a:solidFill>
              <a:latin typeface="Corbel" panose="020B0503020204020204" pitchFamily="34" charset="0"/>
            </a:endParaRPr>
          </a:p>
        </p:txBody>
      </p:sp>
      <p:grpSp>
        <p:nvGrpSpPr>
          <p:cNvPr id="48148" name="Group 25"/>
          <p:cNvGrpSpPr/>
          <p:nvPr/>
        </p:nvGrpSpPr>
        <p:grpSpPr bwMode="auto">
          <a:xfrm>
            <a:off x="762953" y="3144520"/>
            <a:ext cx="927100" cy="927100"/>
            <a:chOff x="0" y="0"/>
            <a:chExt cx="584" cy="584"/>
          </a:xfrm>
        </p:grpSpPr>
        <p:pic>
          <p:nvPicPr>
            <p:cNvPr id="48166" name="笑脸 19"/>
            <p:cNvPicPr>
              <a:picLocks noChangeArrowheads="1"/>
            </p:cNvPicPr>
            <p:nvPr>
              <p:custDataLst>
                <p:tags r:id="rId22"/>
              </p:custDataLst>
            </p:nvPr>
          </p:nvPicPr>
          <p:blipFill>
            <a:blip r:embed="rId23"/>
            <a:srcRect/>
            <a:stretch>
              <a:fillRect/>
            </a:stretch>
          </p:blipFill>
          <p:spPr bwMode="auto">
            <a:xfrm>
              <a:off x="0" y="0"/>
              <a:ext cx="584" cy="5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8167" name="Text Box 27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32" y="132"/>
              <a:ext cx="318" cy="31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p>
              <a:endParaRPr lang="zh-CN" altLang="en-US" i="0">
                <a:solidFill>
                  <a:srgbClr val="000000"/>
                </a:solidFill>
                <a:latin typeface="Corbel" panose="020B0503020204020204" pitchFamily="34" charset="0"/>
              </a:endParaRPr>
            </a:p>
          </p:txBody>
        </p:sp>
      </p:grpSp>
      <p:grpSp>
        <p:nvGrpSpPr>
          <p:cNvPr id="48149" name="Group 28"/>
          <p:cNvGrpSpPr/>
          <p:nvPr/>
        </p:nvGrpSpPr>
        <p:grpSpPr bwMode="auto">
          <a:xfrm>
            <a:off x="762953" y="3931920"/>
            <a:ext cx="927100" cy="927100"/>
            <a:chOff x="0" y="0"/>
            <a:chExt cx="584" cy="584"/>
          </a:xfrm>
        </p:grpSpPr>
        <p:pic>
          <p:nvPicPr>
            <p:cNvPr id="48164" name="笑脸 20"/>
            <p:cNvPicPr>
              <a:picLocks noChangeArrowheads="1"/>
            </p:cNvPicPr>
            <p:nvPr>
              <p:custDataLst>
                <p:tags r:id="rId25"/>
              </p:custDataLst>
            </p:nvPr>
          </p:nvPicPr>
          <p:blipFill>
            <a:blip r:embed="rId23"/>
            <a:srcRect/>
            <a:stretch>
              <a:fillRect/>
            </a:stretch>
          </p:blipFill>
          <p:spPr bwMode="auto">
            <a:xfrm>
              <a:off x="0" y="0"/>
              <a:ext cx="584" cy="5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8165" name="Text Box 30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132" y="131"/>
              <a:ext cx="318" cy="31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p>
              <a:endParaRPr lang="zh-CN" altLang="en-US" i="0">
                <a:solidFill>
                  <a:srgbClr val="000000"/>
                </a:solidFill>
                <a:latin typeface="Corbel" panose="020B0503020204020204" pitchFamily="34" charset="0"/>
              </a:endParaRPr>
            </a:p>
          </p:txBody>
        </p:sp>
      </p:grpSp>
      <p:grpSp>
        <p:nvGrpSpPr>
          <p:cNvPr id="48150" name="Group 31"/>
          <p:cNvGrpSpPr/>
          <p:nvPr/>
        </p:nvGrpSpPr>
        <p:grpSpPr bwMode="auto">
          <a:xfrm>
            <a:off x="1189991" y="4144645"/>
            <a:ext cx="931863" cy="927100"/>
            <a:chOff x="0" y="0"/>
            <a:chExt cx="587" cy="584"/>
          </a:xfrm>
        </p:grpSpPr>
        <p:pic>
          <p:nvPicPr>
            <p:cNvPr id="48162" name="笑脸 21"/>
            <p:cNvPicPr>
              <a:picLocks noChangeArrowheads="1"/>
            </p:cNvPicPr>
            <p:nvPr>
              <p:custDataLst>
                <p:tags r:id="rId27"/>
              </p:custDataLst>
            </p:nvPr>
          </p:nvPicPr>
          <p:blipFill>
            <a:blip r:embed="rId28"/>
            <a:srcRect/>
            <a:stretch>
              <a:fillRect/>
            </a:stretch>
          </p:blipFill>
          <p:spPr bwMode="auto">
            <a:xfrm>
              <a:off x="0" y="0"/>
              <a:ext cx="587" cy="5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8163" name="Text Box 33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133" y="132"/>
              <a:ext cx="318" cy="31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p>
              <a:endParaRPr lang="zh-CN" altLang="en-US" i="0">
                <a:solidFill>
                  <a:srgbClr val="000000"/>
                </a:solidFill>
                <a:latin typeface="Corbel" panose="020B0503020204020204" pitchFamily="34" charset="0"/>
              </a:endParaRPr>
            </a:p>
          </p:txBody>
        </p:sp>
      </p:grpSp>
      <p:grpSp>
        <p:nvGrpSpPr>
          <p:cNvPr id="48151" name="Group 34"/>
          <p:cNvGrpSpPr/>
          <p:nvPr/>
        </p:nvGrpSpPr>
        <p:grpSpPr bwMode="auto">
          <a:xfrm>
            <a:off x="1123316" y="2646046"/>
            <a:ext cx="925513" cy="925513"/>
            <a:chOff x="0" y="0"/>
            <a:chExt cx="583" cy="583"/>
          </a:xfrm>
        </p:grpSpPr>
        <p:pic>
          <p:nvPicPr>
            <p:cNvPr id="48160" name="笑脸 22"/>
            <p:cNvPicPr>
              <a:picLocks noChangeArrowheads="1"/>
            </p:cNvPicPr>
            <p:nvPr>
              <p:custDataLst>
                <p:tags r:id="rId30"/>
              </p:custDataLst>
            </p:nvPr>
          </p:nvPicPr>
          <p:blipFill>
            <a:blip r:embed="rId23"/>
            <a:srcRect/>
            <a:stretch>
              <a:fillRect/>
            </a:stretch>
          </p:blipFill>
          <p:spPr bwMode="auto">
            <a:xfrm>
              <a:off x="0" y="0"/>
              <a:ext cx="583" cy="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8161" name="Text Box 36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130" y="131"/>
              <a:ext cx="318" cy="31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p>
              <a:endParaRPr lang="zh-CN" altLang="en-US" i="0">
                <a:solidFill>
                  <a:srgbClr val="000000"/>
                </a:solidFill>
                <a:latin typeface="Corbel" panose="020B0503020204020204" pitchFamily="34" charset="0"/>
              </a:endParaRPr>
            </a:p>
          </p:txBody>
        </p:sp>
      </p:grpSp>
      <p:grpSp>
        <p:nvGrpSpPr>
          <p:cNvPr id="48152" name="Group 37"/>
          <p:cNvGrpSpPr/>
          <p:nvPr/>
        </p:nvGrpSpPr>
        <p:grpSpPr bwMode="auto">
          <a:xfrm>
            <a:off x="689928" y="2145983"/>
            <a:ext cx="933450" cy="925512"/>
            <a:chOff x="0" y="0"/>
            <a:chExt cx="588" cy="583"/>
          </a:xfrm>
        </p:grpSpPr>
        <p:pic>
          <p:nvPicPr>
            <p:cNvPr id="48158" name="笑脸 23"/>
            <p:cNvPicPr>
              <a:picLocks noChangeArrowheads="1"/>
            </p:cNvPicPr>
            <p:nvPr>
              <p:custDataLst>
                <p:tags r:id="rId32"/>
              </p:custDataLst>
            </p:nvPr>
          </p:nvPicPr>
          <p:blipFill>
            <a:blip r:embed="rId28"/>
            <a:srcRect/>
            <a:stretch>
              <a:fillRect/>
            </a:stretch>
          </p:blipFill>
          <p:spPr bwMode="auto">
            <a:xfrm>
              <a:off x="0" y="0"/>
              <a:ext cx="588" cy="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8159" name="Text Box 39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133" y="131"/>
              <a:ext cx="318" cy="31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p>
              <a:endParaRPr lang="zh-CN" altLang="en-US" i="0">
                <a:solidFill>
                  <a:srgbClr val="000000"/>
                </a:solidFill>
                <a:latin typeface="Corbel" panose="020B0503020204020204" pitchFamily="34" charset="0"/>
              </a:endParaRPr>
            </a:p>
          </p:txBody>
        </p:sp>
      </p:grpSp>
      <p:sp>
        <p:nvSpPr>
          <p:cNvPr id="5" name="右箭头 17"/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9130984" y="3554414"/>
            <a:ext cx="428625" cy="3571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>
            <a:solidFill>
              <a:srgbClr val="5C9929"/>
            </a:solidFill>
            <a:miter lim="800000"/>
          </a:ln>
        </p:spPr>
        <p:txBody>
          <a:bodyPr anchor="ctr"/>
          <a:p>
            <a:endParaRPr lang="zh-CN" altLang="en-US" i="0">
              <a:solidFill>
                <a:srgbClr val="FFFFFF"/>
              </a:solidFill>
              <a:latin typeface="Corbel" panose="020B0503020204020204" pitchFamily="34" charset="0"/>
            </a:endParaRPr>
          </a:p>
        </p:txBody>
      </p:sp>
      <p:sp>
        <p:nvSpPr>
          <p:cNvPr id="6" name="爆炸形 2 5"/>
          <p:cNvSpPr/>
          <p:nvPr/>
        </p:nvSpPr>
        <p:spPr>
          <a:xfrm>
            <a:off x="9916795" y="2750820"/>
            <a:ext cx="1866900" cy="1966595"/>
          </a:xfrm>
          <a:prstGeom prst="irregularSeal2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b="1"/>
              <a:t>失效</a:t>
            </a:r>
            <a:endParaRPr lang="zh-CN" altLang="en-US" sz="28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rgbClr val="C00000"/>
                </a:solidFill>
              </a:rPr>
              <a:t>3.1 </a:t>
            </a:r>
            <a:r>
              <a:rPr lang="zh-CN" altLang="en-US">
                <a:solidFill>
                  <a:srgbClr val="C00000"/>
                </a:solidFill>
              </a:rPr>
              <a:t>软件</a:t>
            </a:r>
            <a:r>
              <a:rPr lang="zh-CN" altLang="en-US">
                <a:solidFill>
                  <a:srgbClr val="C00000"/>
                </a:solidFill>
              </a:rPr>
              <a:t>失效</a:t>
            </a:r>
            <a:endParaRPr lang="zh-CN" altLang="en-US">
              <a:solidFill>
                <a:srgbClr val="C00000"/>
              </a:solidFill>
            </a:endParaRPr>
          </a:p>
        </p:txBody>
      </p:sp>
      <p:pic>
        <p:nvPicPr>
          <p:cNvPr id="21507" name="Picture 16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75055" y="2849880"/>
            <a:ext cx="4500563" cy="3000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28" name="Text Box 168"/>
          <p:cNvSpPr txBox="1"/>
          <p:nvPr>
            <p:custDataLst>
              <p:tags r:id="rId3"/>
            </p:custDataLst>
          </p:nvPr>
        </p:nvSpPr>
        <p:spPr>
          <a:xfrm>
            <a:off x="2408555" y="1549718"/>
            <a:ext cx="3600450" cy="27463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spcBef>
                <a:spcPct val="50000"/>
              </a:spcBef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1509" name="Text Box 169"/>
          <p:cNvSpPr txBox="1"/>
          <p:nvPr>
            <p:custDataLst>
              <p:tags r:id="rId4"/>
            </p:custDataLst>
          </p:nvPr>
        </p:nvSpPr>
        <p:spPr>
          <a:xfrm>
            <a:off x="1963420" y="5993130"/>
            <a:ext cx="3671888" cy="3048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2000" b="1" dirty="0">
                <a:latin typeface="Arial" panose="020B0604020202020204" pitchFamily="34" charset="0"/>
              </a:rPr>
              <a:t>硬件系统故障率与可靠性</a:t>
            </a:r>
            <a:r>
              <a:rPr lang="zh-CN" altLang="en-US" b="1" dirty="0">
                <a:latin typeface="Arial" panose="020B0604020202020204" pitchFamily="34" charset="0"/>
              </a:rPr>
              <a:t> </a:t>
            </a:r>
            <a:endParaRPr lang="zh-CN" altLang="en-US" b="1" dirty="0">
              <a:latin typeface="Arial" panose="020B0604020202020204" pitchFamily="34" charset="0"/>
            </a:endParaRPr>
          </a:p>
        </p:txBody>
      </p:sp>
      <p:pic>
        <p:nvPicPr>
          <p:cNvPr id="21510" name="Picture 24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503035" y="2778443"/>
            <a:ext cx="4071938" cy="2998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11" name="Text Box 247"/>
          <p:cNvSpPr txBox="1"/>
          <p:nvPr>
            <p:custDataLst>
              <p:tags r:id="rId7"/>
            </p:custDataLst>
          </p:nvPr>
        </p:nvSpPr>
        <p:spPr>
          <a:xfrm>
            <a:off x="7270115" y="5993130"/>
            <a:ext cx="3671888" cy="3048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2000" b="1" dirty="0">
                <a:latin typeface="Arial" panose="020B0604020202020204" pitchFamily="34" charset="0"/>
              </a:rPr>
              <a:t>软件系统故障率与可靠性</a:t>
            </a:r>
            <a:r>
              <a:rPr lang="zh-CN" altLang="en-US" b="1" dirty="0">
                <a:latin typeface="Arial" panose="020B0604020202020204" pitchFamily="34" charset="0"/>
              </a:rPr>
              <a:t> </a:t>
            </a:r>
            <a:endParaRPr lang="zh-CN" altLang="en-US" b="1" dirty="0">
              <a:latin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>
            <p:custDataLst>
              <p:tags r:id="rId8"/>
            </p:custDataLst>
          </p:nvPr>
        </p:nvSpPr>
        <p:spPr>
          <a:xfrm>
            <a:off x="1074738" y="1349693"/>
            <a:ext cx="5364480" cy="4603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软件可靠的生命周期有别于硬件系统。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圆角矩形标注 12"/>
          <p:cNvSpPr/>
          <p:nvPr>
            <p:custDataLst>
              <p:tags r:id="rId9"/>
            </p:custDataLst>
          </p:nvPr>
        </p:nvSpPr>
        <p:spPr>
          <a:xfrm>
            <a:off x="4003993" y="2278380"/>
            <a:ext cx="1785938" cy="571500"/>
          </a:xfrm>
          <a:prstGeom prst="wedgeRoundRectCallout">
            <a:avLst>
              <a:gd name="adj1" fmla="val -26522"/>
              <a:gd name="adj2" fmla="val 231504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硬件的老化特性的体现</a:t>
            </a:r>
            <a:endParaRPr kumimoji="0" lang="zh-CN" altLang="en-US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圆角矩形标注 13"/>
          <p:cNvSpPr/>
          <p:nvPr>
            <p:custDataLst>
              <p:tags r:id="rId10"/>
            </p:custDataLst>
          </p:nvPr>
        </p:nvSpPr>
        <p:spPr>
          <a:xfrm>
            <a:off x="9646285" y="3921443"/>
            <a:ext cx="1285875" cy="1000125"/>
          </a:xfrm>
          <a:prstGeom prst="wedgeRoundRectCallout">
            <a:avLst>
              <a:gd name="adj1" fmla="val -90651"/>
              <a:gd name="adj2" fmla="val 67250"/>
              <a:gd name="adj3" fmla="val 16667"/>
            </a:avLst>
          </a:prstGeom>
          <a:solidFill>
            <a:srgbClr val="E40CC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软件无磨损性的体现</a:t>
            </a:r>
            <a:endParaRPr kumimoji="0" lang="zh-CN" altLang="en-US" sz="1800" b="1" i="0" u="none" strike="noStrike" kern="120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9" grpId="0"/>
      <p:bldP spid="21511" grpId="0"/>
      <p:bldP spid="13" grpId="0" bldLvl="0" animBg="1"/>
      <p:bldP spid="14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rgbClr val="C00000"/>
                </a:solidFill>
                <a:sym typeface="+mn-ea"/>
              </a:rPr>
              <a:t>3.1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 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软件失效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algn="l">
              <a:buClrTx/>
              <a:buSzTx/>
            </a:pPr>
            <a:r>
              <a:rPr lang="en-US" altLang="zh-CN" b="1">
                <a:solidFill>
                  <a:srgbClr val="C00000"/>
                </a:solidFill>
                <a:sym typeface="+mn-ea"/>
              </a:rPr>
              <a:t>软件失效过程</a:t>
            </a:r>
            <a:endParaRPr lang="en-US" altLang="zh-CN" b="1">
              <a:solidFill>
                <a:srgbClr val="C00000"/>
              </a:solidFill>
              <a:latin typeface="+mn-lt"/>
              <a:cs typeface="+mn-cs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  <a:sym typeface="+mn-ea"/>
              </a:rPr>
              <a:t>软件不能完成规定的功能即“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软件失效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”（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failure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）或称“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软件故障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”。如果软件存在缺陷，它将永远的潜伏在软件中，直到它被发现并得到正确修正。</a:t>
            </a:r>
            <a:endParaRPr lang="zh-CN" altLang="en-US" dirty="0">
              <a:ea typeface="宋体" panose="02010600030101010101" pitchFamily="2" charset="-122"/>
              <a:sym typeface="+mn-ea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  <a:sym typeface="+mn-ea"/>
              </a:rPr>
              <a:t>反过来如果软件在一定的环境下运行正确，它也将继续保持这种正确性，除非环境发生变化。</a:t>
            </a:r>
            <a:endParaRPr lang="zh-CN" altLang="en-US" b="1" dirty="0">
              <a:solidFill>
                <a:srgbClr val="3366FF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rgbClr val="C00000"/>
                </a:solidFill>
                <a:sym typeface="+mn-ea"/>
              </a:rPr>
              <a:t>3.1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 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软件失效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algn="l">
              <a:buClrTx/>
              <a:buSzTx/>
            </a:pPr>
            <a:r>
              <a:rPr lang="en-US" altLang="zh-CN" b="1">
                <a:solidFill>
                  <a:srgbClr val="C00000"/>
                </a:solidFill>
                <a:sym typeface="+mn-ea"/>
              </a:rPr>
              <a:t>软件失效</a:t>
            </a:r>
            <a:r>
              <a:rPr lang="zh-CN" altLang="en-US" b="1">
                <a:solidFill>
                  <a:srgbClr val="C00000"/>
                </a:solidFill>
                <a:sym typeface="+mn-ea"/>
              </a:rPr>
              <a:t>类别</a:t>
            </a:r>
            <a:endParaRPr lang="zh-CN" altLang="en-US" b="1">
              <a:solidFill>
                <a:srgbClr val="C00000"/>
              </a:solidFill>
              <a:sym typeface="+mn-ea"/>
            </a:endParaRPr>
          </a:p>
          <a:p>
            <a:pPr marR="0" lvl="1" algn="l" defTabSz="914400" rtl="0" latinLnBrk="0">
              <a:lnSpc>
                <a:spcPct val="130000"/>
              </a:lnSpc>
              <a:spcBef>
                <a:spcPts val="1000"/>
              </a:spcBef>
              <a:buClrTx/>
              <a:buSzTx/>
              <a:buChar char="•"/>
            </a:pPr>
            <a:r>
              <a:rPr lang="zh-CN" altLang="en-US" sz="2400" b="1" dirty="0">
                <a:solidFill>
                  <a:srgbClr val="0000FF"/>
                </a:solidFill>
                <a:ea typeface="宋体" panose="02010600030101010101" pitchFamily="2" charset="-122"/>
                <a:sym typeface="+mn-ea"/>
              </a:rPr>
              <a:t>系统失效</a:t>
            </a:r>
            <a:r>
              <a:rPr lang="zh-CN" altLang="en-US" sz="2400" dirty="0">
                <a:ea typeface="宋体" panose="02010600030101010101" pitchFamily="2" charset="-122"/>
                <a:sym typeface="+mn-ea"/>
              </a:rPr>
              <a:t>，主要是指由于软件故障的发生而导致系统死机、系统无法启动、系统挂起及系统运行完全失去应有运行轨迹等。</a:t>
            </a:r>
            <a:endParaRPr kumimoji="0" lang="zh-CN" altLang="en-US" sz="2400" b="0" i="0" u="none" strike="noStrike" cap="none" spc="0" normalizeH="0" baseline="0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R="0" lvl="2" algn="l" defTabSz="914400" rtl="0" latinLnBrk="0">
              <a:lnSpc>
                <a:spcPct val="130000"/>
              </a:lnSpc>
              <a:spcBef>
                <a:spcPts val="1000"/>
              </a:spcBef>
              <a:buClrTx/>
              <a:buSzTx/>
              <a:buChar char="•"/>
            </a:pPr>
            <a:r>
              <a:rPr lang="zh-CN" altLang="en-US" sz="2330" dirty="0">
                <a:ea typeface="宋体" panose="02010600030101010101" pitchFamily="2" charset="-122"/>
                <a:sym typeface="+mn-ea"/>
              </a:rPr>
              <a:t>比如：计算器无法正确的计算了或只要执行计算系统就出错等。</a:t>
            </a:r>
            <a:endParaRPr kumimoji="0" lang="zh-CN" altLang="en-US" sz="2330" b="0" i="0" u="none" strike="noStrike" cap="none" spc="0" normalizeH="0" baseline="0" dirty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  <a:p>
            <a:pPr marR="0" lvl="1" algn="l" defTabSz="914400" rtl="0" latinLnBrk="0">
              <a:lnSpc>
                <a:spcPct val="130000"/>
              </a:lnSpc>
              <a:spcBef>
                <a:spcPts val="1000"/>
              </a:spcBef>
              <a:buClrTx/>
              <a:buSzTx/>
              <a:buChar char="•"/>
            </a:pPr>
            <a:r>
              <a:rPr lang="zh-CN" altLang="en-US" sz="2400" b="1" dirty="0">
                <a:solidFill>
                  <a:srgbClr val="0000FF"/>
                </a:solidFill>
                <a:ea typeface="宋体" panose="02010600030101010101" pitchFamily="2" charset="-122"/>
                <a:sym typeface="+mn-ea"/>
              </a:rPr>
              <a:t>局部失效</a:t>
            </a:r>
            <a:r>
              <a:rPr lang="zh-CN" altLang="en-US" sz="2400" dirty="0">
                <a:ea typeface="宋体" panose="02010600030101010101" pitchFamily="2" charset="-122"/>
                <a:sym typeface="+mn-ea"/>
              </a:rPr>
              <a:t>，主要是指系统当中的某一个或几个模块的功能失效，但并不影响其它模块的正常使用。</a:t>
            </a:r>
            <a:endParaRPr kumimoji="0" lang="zh-CN" altLang="en-US" sz="2400" b="0" i="0" u="none" strike="noStrike" cap="none" spc="0" normalizeH="0" baseline="0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R="0" lvl="2" algn="l" defTabSz="914400" rtl="0" latinLnBrk="0">
              <a:lnSpc>
                <a:spcPct val="130000"/>
              </a:lnSpc>
              <a:spcBef>
                <a:spcPts val="1000"/>
              </a:spcBef>
              <a:buClrTx/>
              <a:buSzTx/>
              <a:buChar char="•"/>
            </a:pPr>
            <a:r>
              <a:rPr lang="zh-CN" altLang="en-US" sz="2330" dirty="0">
                <a:ea typeface="宋体" panose="02010600030101010101" pitchFamily="2" charset="-122"/>
                <a:sym typeface="+mn-ea"/>
              </a:rPr>
              <a:t>比如：一个基于网络的分布式软件，由于网络连接模块的功能失效使得系统无法与服务器进行数据同步，但由于该系统支持离线工作，一旦网络连接故障排除便可与服务器进行数据同步，这种情形我们可以视之为软件系统的局部失效。</a:t>
            </a:r>
            <a:endParaRPr kumimoji="0" lang="zh-CN" altLang="en-US" sz="2330" i="0" u="none" strike="noStrike" cap="none" spc="0" normalizeH="0" baseline="0" dirty="0">
              <a:latin typeface="+mn-lt"/>
              <a:ea typeface="宋体" panose="02010600030101010101" pitchFamily="2" charset="-122"/>
            </a:endParaRPr>
          </a:p>
          <a:p>
            <a:pPr algn="l">
              <a:buClrTx/>
              <a:buSzTx/>
            </a:pPr>
            <a:endParaRPr lang="zh-CN" altLang="en-US" b="1" dirty="0">
              <a:solidFill>
                <a:srgbClr val="3366FF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rgbClr val="C00000"/>
                </a:solidFill>
                <a:sym typeface="+mn-ea"/>
              </a:rPr>
              <a:t>3.1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 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软件失效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algn="l">
              <a:buClrTx/>
              <a:buSzTx/>
            </a:pPr>
            <a:r>
              <a:rPr lang="en-US" altLang="zh-CN" b="1">
                <a:solidFill>
                  <a:srgbClr val="C00000"/>
                </a:solidFill>
                <a:sym typeface="+mn-ea"/>
              </a:rPr>
              <a:t>软件失效</a:t>
            </a:r>
            <a:r>
              <a:rPr lang="zh-CN" altLang="en-US" b="1">
                <a:solidFill>
                  <a:srgbClr val="C00000"/>
                </a:solidFill>
                <a:sym typeface="+mn-ea"/>
              </a:rPr>
              <a:t>与软件故障的区别</a:t>
            </a:r>
            <a:endParaRPr lang="en-US" altLang="zh-CN"/>
          </a:p>
        </p:txBody>
      </p:sp>
      <p:graphicFrame>
        <p:nvGraphicFramePr>
          <p:cNvPr id="109654" name="Group 8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533843" y="2484120"/>
          <a:ext cx="8328025" cy="3384551"/>
        </p:xfrm>
        <a:graphic>
          <a:graphicData uri="http://schemas.openxmlformats.org/drawingml/2006/table">
            <a:tbl>
              <a:tblPr/>
              <a:tblGrid>
                <a:gridCol w="4286280"/>
                <a:gridCol w="4041503"/>
              </a:tblGrid>
              <a:tr h="677863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3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mic Sans MS" panose="030F0702030302020204" pitchFamily="66" charset="0"/>
                          <a:ea typeface="黑体" panose="02010609060101010101" pitchFamily="2" charset="-122"/>
                        </a:rPr>
                        <a:t>失  效</a:t>
                      </a:r>
                      <a:endParaRPr kumimoji="0" lang="zh-CN" alt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mic Sans MS" panose="030F0702030302020204" pitchFamily="66" charset="0"/>
                        <a:ea typeface="黑体" panose="02010609060101010101" pitchFamily="2" charset="-122"/>
                      </a:endParaRPr>
                    </a:p>
                  </a:txBody>
                  <a:tcPr marL="83077" marR="83077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3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mic Sans MS" panose="030F0702030302020204" pitchFamily="66" charset="0"/>
                          <a:ea typeface="黑体" panose="02010609060101010101" pitchFamily="2" charset="-122"/>
                        </a:rPr>
                        <a:t>故  障</a:t>
                      </a:r>
                      <a:endParaRPr kumimoji="0" lang="zh-CN" alt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mic Sans MS" panose="030F0702030302020204" pitchFamily="66" charset="0"/>
                        <a:ea typeface="黑体" panose="02010609060101010101" pitchFamily="2" charset="-122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676275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黑体" panose="02010609060101010101" pitchFamily="2" charset="-122"/>
                        </a:rPr>
                        <a:t>面向用户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黑体" panose="02010609060101010101" pitchFamily="2" charset="-122"/>
                      </a:endParaRPr>
                    </a:p>
                  </a:txBody>
                  <a:tcPr marL="83077" marR="83077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黑体" panose="02010609060101010101" pitchFamily="2" charset="-122"/>
                        </a:rPr>
                        <a:t>面向开发者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黑体" panose="02010609060101010101" pitchFamily="2" charset="-122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黑体" panose="02010609060101010101" pitchFamily="2" charset="-122"/>
                        </a:rPr>
                        <a:t>软件运行偏离用户需求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黑体" panose="02010609060101010101" pitchFamily="2" charset="-122"/>
                      </a:endParaRPr>
                    </a:p>
                  </a:txBody>
                  <a:tcPr marL="83077" marR="83077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黑体" panose="02010609060101010101" pitchFamily="2" charset="-122"/>
                        </a:rPr>
                        <a:t>程序执行输出错误结果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黑体" panose="02010609060101010101" pitchFamily="2" charset="-122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黑体" panose="02010609060101010101" pitchFamily="2" charset="-122"/>
                        </a:rPr>
                        <a:t>可根据对用户应用的严重性等级分类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黑体" panose="02010609060101010101" pitchFamily="2" charset="-122"/>
                      </a:endParaRPr>
                    </a:p>
                  </a:txBody>
                  <a:tcPr marL="83077" marR="83077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黑体" panose="02010609060101010101" pitchFamily="2" charset="-122"/>
                        </a:rPr>
                        <a:t>可根据定位和排除故障的难度分类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黑体" panose="02010609060101010101" pitchFamily="2" charset="-122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3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黑体" panose="02010609060101010101" pitchFamily="2" charset="-122"/>
                        </a:rPr>
                        <a:t>如，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黑体" panose="02010609060101010101" pitchFamily="2" charset="-122"/>
                        </a:rPr>
                        <a:t>3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黑体" panose="02010609060101010101" pitchFamily="2" charset="-122"/>
                        </a:rPr>
                        <a:t>次失效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黑体" panose="02010609060101010101" pitchFamily="2" charset="-122"/>
                        </a:rPr>
                        <a:t>/1000 CPU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黑体" panose="02010609060101010101" pitchFamily="2" charset="-122"/>
                        </a:rPr>
                        <a:t>小时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黑体" panose="02010609060101010101" pitchFamily="2" charset="-122"/>
                      </a:endParaRPr>
                    </a:p>
                  </a:txBody>
                  <a:tcPr marL="83077" marR="83077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黑体" panose="02010609060101010101" pitchFamily="2" charset="-122"/>
                        </a:rPr>
                        <a:t>如，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黑体" panose="02010609060101010101" pitchFamily="2" charset="-122"/>
                        </a:rPr>
                        <a:t>6</a:t>
                      </a: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黑体" panose="02010609060101010101" pitchFamily="2" charset="-122"/>
                        </a:rPr>
                        <a:t>个故障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黑体" panose="02010609060101010101" pitchFamily="2" charset="-122"/>
                        </a:rPr>
                        <a:t>/1KLOC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黑体" panose="02010609060101010101" pitchFamily="2" charset="-122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rgbClr val="C00000"/>
                </a:solidFill>
                <a:sym typeface="+mn-ea"/>
              </a:rPr>
              <a:t>3.1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 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软件失效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Bef>
                <a:spcPct val="25000"/>
              </a:spcBef>
            </a:pPr>
            <a:r>
              <a:rPr lang="en-US" altLang="zh-CN" b="1">
                <a:solidFill>
                  <a:srgbClr val="C00000"/>
                </a:solidFill>
                <a:sym typeface="+mn-ea"/>
              </a:rPr>
              <a:t>软件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故障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产生的原因是软件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缺陷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，但缺陷并不一定导致故障的产生，高缺陷率的软件的可靠性不一定就差。</a:t>
            </a:r>
            <a:endParaRPr lang="zh-CN" altLang="en-US" dirty="0">
              <a:latin typeface="+mn-lt"/>
              <a:ea typeface="宋体" panose="02010600030101010101" pitchFamily="2" charset="-122"/>
              <a:cs typeface="+mn-cs"/>
            </a:endParaRPr>
          </a:p>
          <a:p>
            <a:pPr>
              <a:spcBef>
                <a:spcPct val="25000"/>
              </a:spcBef>
            </a:pPr>
            <a:r>
              <a:rPr lang="zh-CN" altLang="en-US" dirty="0">
                <a:ea typeface="宋体" panose="02010600030101010101" pitchFamily="2" charset="-122"/>
                <a:sym typeface="+mn-ea"/>
              </a:rPr>
              <a:t>软件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失效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意味着软件运行中断或者无法完成所规定的任务。</a:t>
            </a:r>
            <a:endParaRPr lang="zh-CN" altLang="en-US" dirty="0">
              <a:ea typeface="宋体" panose="02010600030101010101" pitchFamily="2" charset="-122"/>
              <a:sym typeface="+mn-ea"/>
            </a:endParaRPr>
          </a:p>
          <a:p>
            <a:pPr>
              <a:spcBef>
                <a:spcPct val="25000"/>
              </a:spcBef>
            </a:pPr>
            <a:endParaRPr lang="en-US" altLang="zh-CN" dirty="0">
              <a:latin typeface="+mn-lt"/>
              <a:ea typeface="宋体" panose="02010600030101010101" pitchFamily="2" charset="-122"/>
              <a:cs typeface="+mn-cs"/>
            </a:endParaRPr>
          </a:p>
          <a:p>
            <a:pPr>
              <a:spcBef>
                <a:spcPct val="25000"/>
              </a:spcBef>
            </a:pPr>
            <a:r>
              <a:rPr lang="zh-CN" altLang="en-US" b="1" dirty="0">
                <a:solidFill>
                  <a:srgbClr val="FF3300"/>
                </a:solidFill>
                <a:ea typeface="宋体" panose="02010600030101010101" pitchFamily="2" charset="-122"/>
                <a:sym typeface="+mn-ea"/>
              </a:rPr>
              <a:t>软件可靠性是指在规定时间和条件下软件无故障运行的概率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，是系统功能或软件产品中存在的缺陷的函数。</a:t>
            </a:r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rgbClr val="C00000"/>
                </a:solidFill>
                <a:sym typeface="+mn-ea"/>
              </a:rPr>
              <a:t>3.1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 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软件失效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228600" lvl="1" algn="l">
              <a:spcBef>
                <a:spcPts val="1000"/>
              </a:spcBef>
              <a:buClrTx/>
              <a:buSzTx/>
              <a:buChar char="•"/>
            </a:pPr>
            <a:r>
              <a:rPr lang="en-US" altLang="zh-CN" sz="2800" b="1">
                <a:solidFill>
                  <a:schemeClr val="tx1"/>
                </a:solidFill>
                <a:sym typeface="+mn-ea"/>
              </a:rPr>
              <a:t>可靠性是产品在规定的条件下和规定的时间内完成规定功能的能力，对其无故障的概率度量称为</a:t>
            </a:r>
            <a:r>
              <a:rPr lang="en-US" altLang="zh-CN" sz="2800" b="1">
                <a:solidFill>
                  <a:srgbClr val="FF0000"/>
                </a:solidFill>
                <a:sym typeface="+mn-ea"/>
              </a:rPr>
              <a:t>可靠度</a:t>
            </a:r>
            <a:r>
              <a:rPr lang="en-US" altLang="zh-CN" sz="2800" b="1">
                <a:solidFill>
                  <a:schemeClr val="tx1"/>
                </a:solidFill>
                <a:sym typeface="+mn-ea"/>
              </a:rPr>
              <a:t>。</a:t>
            </a:r>
            <a:endParaRPr lang="en-US" altLang="zh-CN" sz="2800" b="1">
              <a:solidFill>
                <a:schemeClr val="tx1"/>
              </a:solidFill>
              <a:sym typeface="+mn-ea"/>
            </a:endParaRPr>
          </a:p>
          <a:p>
            <a:pPr lvl="2" algn="l">
              <a:spcBef>
                <a:spcPts val="1000"/>
              </a:spcBef>
              <a:buClrTx/>
              <a:buSzTx/>
              <a:buChar char="•"/>
            </a:pPr>
            <a:r>
              <a:rPr lang="en-US" altLang="zh-CN" sz="2400" b="1">
                <a:solidFill>
                  <a:srgbClr val="0000FF"/>
                </a:solidFill>
                <a:sym typeface="+mn-ea"/>
              </a:rPr>
              <a:t>规定的时间</a:t>
            </a:r>
            <a:r>
              <a:rPr lang="zh-CN" altLang="en-US" sz="2400" b="1">
                <a:solidFill>
                  <a:schemeClr val="tx1"/>
                </a:solidFill>
                <a:sym typeface="+mn-ea"/>
              </a:rPr>
              <a:t>：</a:t>
            </a:r>
            <a:r>
              <a:rPr lang="en-US" altLang="zh-CN" sz="2400" b="1">
                <a:solidFill>
                  <a:schemeClr val="tx1"/>
                </a:solidFill>
                <a:sym typeface="+mn-ea"/>
              </a:rPr>
              <a:t> “运行时间”包括软件系统运行后工作与挂起（开启但空闲）的累计时间。</a:t>
            </a:r>
            <a:endParaRPr lang="en-US" altLang="zh-CN" sz="2400" b="1">
              <a:solidFill>
                <a:schemeClr val="tx1"/>
              </a:solidFill>
            </a:endParaRPr>
          </a:p>
          <a:p>
            <a:pPr lvl="2" algn="l">
              <a:spcBef>
                <a:spcPts val="1000"/>
              </a:spcBef>
              <a:buClrTx/>
              <a:buSzTx/>
            </a:pPr>
            <a:r>
              <a:rPr lang="en-US" altLang="zh-CN" sz="2400" b="1">
                <a:solidFill>
                  <a:srgbClr val="0000FF"/>
                </a:solidFill>
                <a:sym typeface="+mn-ea"/>
              </a:rPr>
              <a:t>规定的环境条件</a:t>
            </a:r>
            <a:r>
              <a:rPr lang="en-US" altLang="zh-CN" sz="2400" b="1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2400" b="1">
                <a:solidFill>
                  <a:schemeClr val="tx1"/>
                </a:solidFill>
                <a:sym typeface="+mn-ea"/>
              </a:rPr>
              <a:t>：</a:t>
            </a:r>
            <a:r>
              <a:rPr lang="en-US" altLang="zh-CN" sz="2400" b="1">
                <a:solidFill>
                  <a:schemeClr val="tx1"/>
                </a:solidFill>
                <a:sym typeface="+mn-ea"/>
              </a:rPr>
              <a:t>环境条件指软件的运行环境。</a:t>
            </a:r>
            <a:endParaRPr lang="en-US" altLang="zh-CN" sz="2400" b="1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10245" name="组合 6"/>
          <p:cNvGrpSpPr/>
          <p:nvPr/>
        </p:nvGrpSpPr>
        <p:grpSpPr bwMode="auto">
          <a:xfrm>
            <a:off x="1981200" y="4619625"/>
            <a:ext cx="7772400" cy="1300163"/>
            <a:chOff x="609600" y="1219200"/>
            <a:chExt cx="7772400" cy="1299865"/>
          </a:xfrm>
        </p:grpSpPr>
        <p:pic>
          <p:nvPicPr>
            <p:cNvPr id="5" name="图片 4" descr="Q0D}NA0J7[I8IILECTQ6Z38"/>
            <p:cNvPicPr/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609600" y="1219200"/>
              <a:ext cx="7772400" cy="761825"/>
            </a:xfrm>
            <a:prstGeom prst="rect">
              <a:avLst/>
            </a:prstGeom>
            <a:noFill/>
            <a:ln w="9525">
              <a:solidFill>
                <a:schemeClr val="accent2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</p:pic>
        <p:sp>
          <p:nvSpPr>
            <p:cNvPr id="10248" name="矩形 5"/>
            <p:cNvSpPr>
              <a:spLocks noChangeArrowheads="1"/>
            </p:cNvSpPr>
            <p:nvPr/>
          </p:nvSpPr>
          <p:spPr bwMode="auto">
            <a:xfrm>
              <a:off x="838200" y="2057400"/>
              <a:ext cx="7391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006600"/>
                </a:buClr>
                <a:buSzPct val="75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8000"/>
                </a:buClr>
                <a:buSzPct val="70000"/>
                <a:buFont typeface="Wingdings" panose="05000000000000000000" pitchFamily="2" charset="2"/>
                <a:buChar char="Ø"/>
                <a:defRPr sz="2400" b="1">
                  <a:solidFill>
                    <a:schemeClr val="accent2"/>
                  </a:solidFill>
                  <a:latin typeface="Arial" panose="020B0604020202020204" pitchFamily="34" charset="0"/>
                  <a:ea typeface="楷体_GB2312" pitchFamily="49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8000"/>
                </a:buClr>
                <a:buFont typeface="Wingdings" panose="05000000000000000000" pitchFamily="2" charset="2"/>
                <a:buChar char="ü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8000"/>
                </a:buClr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i="0">
                  <a:ea typeface="宋体" panose="02010600030101010101" pitchFamily="2" charset="-122"/>
                </a:rPr>
                <a:t>系统工作状态图    </a:t>
              </a:r>
              <a:r>
                <a:rPr lang="en-US" altLang="zh-CN" sz="2400" i="0">
                  <a:solidFill>
                    <a:srgbClr val="FF0000"/>
                  </a:solidFill>
                  <a:ea typeface="宋体" panose="02010600030101010101" pitchFamily="2" charset="-122"/>
                </a:rPr>
                <a:t>t</a:t>
              </a:r>
              <a:r>
                <a:rPr lang="en-US" altLang="zh-CN" sz="2400" i="0" baseline="-25000">
                  <a:solidFill>
                    <a:srgbClr val="FF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i="0">
                  <a:ea typeface="宋体" panose="02010600030101010101" pitchFamily="2" charset="-122"/>
                </a:rPr>
                <a:t>:</a:t>
              </a:r>
              <a:r>
                <a:rPr lang="zh-CN" altLang="en-US" sz="2400" i="0">
                  <a:ea typeface="宋体" panose="02010600030101010101" pitchFamily="2" charset="-122"/>
                </a:rPr>
                <a:t>系统正常工作时间    </a:t>
              </a:r>
              <a:r>
                <a:rPr lang="en-US" altLang="zh-CN" sz="2400" i="0">
                  <a:solidFill>
                    <a:srgbClr val="FF0000"/>
                  </a:solidFill>
                  <a:ea typeface="宋体" panose="02010600030101010101" pitchFamily="2" charset="-122"/>
                </a:rPr>
                <a:t>T</a:t>
              </a:r>
              <a:r>
                <a:rPr lang="en-US" altLang="zh-CN" sz="2400" i="0" baseline="-25000">
                  <a:solidFill>
                    <a:srgbClr val="FF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i="0">
                  <a:ea typeface="宋体" panose="02010600030101010101" pitchFamily="2" charset="-122"/>
                </a:rPr>
                <a:t>:</a:t>
              </a:r>
              <a:r>
                <a:rPr lang="zh-CN" altLang="en-US" sz="2400" i="0">
                  <a:ea typeface="宋体" panose="02010600030101010101" pitchFamily="2" charset="-122"/>
                </a:rPr>
                <a:t>维护时间</a:t>
              </a:r>
              <a:endParaRPr lang="zh-CN" altLang="en-US" sz="2400" i="0"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rgbClr val="C00000"/>
                </a:solidFill>
                <a:sym typeface="+mn-ea"/>
              </a:rPr>
              <a:t>3.1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 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软件失效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>
              <a:spcBef>
                <a:spcPct val="25000"/>
              </a:spcBef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软件的运行环境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：软件可靠性与运行环境密切相关</a:t>
            </a:r>
            <a:endParaRPr lang="zh-CN" altLang="en-US" dirty="0">
              <a:latin typeface="+mn-lt"/>
              <a:ea typeface="宋体" panose="02010600030101010101" pitchFamily="2" charset="-122"/>
              <a:cs typeface="+mn-cs"/>
            </a:endParaRPr>
          </a:p>
          <a:p>
            <a:pPr>
              <a:spcBef>
                <a:spcPct val="25000"/>
              </a:spcBef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软件运行的时间间隔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：商业软件需要较高的运行时间间隔（较长的运行寿命），而</a:t>
            </a:r>
            <a:r>
              <a:rPr lang="zh-CN" altLang="en-US" b="1" dirty="0">
                <a:solidFill>
                  <a:schemeClr val="accent2"/>
                </a:solidFill>
                <a:ea typeface="宋体" panose="02010600030101010101" pitchFamily="2" charset="-122"/>
                <a:sym typeface="+mn-ea"/>
              </a:rPr>
              <a:t>任务关键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软件则需要在短时间内高效运行</a:t>
            </a:r>
            <a:endParaRPr lang="zh-CN" altLang="en-US" dirty="0">
              <a:latin typeface="+mn-lt"/>
              <a:ea typeface="宋体" panose="02010600030101010101" pitchFamily="2" charset="-122"/>
              <a:cs typeface="+mn-cs"/>
            </a:endParaRPr>
          </a:p>
          <a:p>
            <a:pPr>
              <a:spcBef>
                <a:spcPct val="25000"/>
              </a:spcBef>
            </a:pPr>
            <a:r>
              <a:rPr lang="zh-CN" altLang="en-US" dirty="0">
                <a:ea typeface="宋体" panose="02010600030101010101" pitchFamily="2" charset="-122"/>
                <a:sym typeface="+mn-ea"/>
              </a:rPr>
              <a:t>不同于软件的正确性，对于持续运行的软件其可靠性最终将归于零（以失效结束）；但正确性是软件的特定的某次运行结果，要么为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，要么为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0</a:t>
            </a:r>
            <a:endParaRPr lang="en-US" altLang="zh-CN" dirty="0">
              <a:latin typeface="+mn-lt"/>
              <a:ea typeface="宋体" panose="02010600030101010101" pitchFamily="2" charset="-122"/>
              <a:cs typeface="+mn-cs"/>
            </a:endParaRPr>
          </a:p>
          <a:p>
            <a:pPr>
              <a:spcBef>
                <a:spcPct val="25000"/>
              </a:spcBef>
            </a:pPr>
            <a:r>
              <a:rPr lang="zh-CN" altLang="en-US" dirty="0">
                <a:ea typeface="宋体" panose="02010600030101010101" pitchFamily="2" charset="-122"/>
                <a:sym typeface="+mn-ea"/>
              </a:rPr>
              <a:t>软件失效的时机是</a:t>
            </a:r>
            <a:r>
              <a:rPr lang="zh-CN" altLang="en-US" b="1" dirty="0">
                <a:solidFill>
                  <a:schemeClr val="tx2"/>
                </a:solidFill>
                <a:ea typeface="宋体" panose="02010600030101010101" pitchFamily="2" charset="-122"/>
                <a:sym typeface="+mn-ea"/>
                <a:hlinkClick r:id="rId1" action="ppaction://hlinksldjump"/>
              </a:rPr>
              <a:t>随机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的，与硬件失效类似</a:t>
            </a:r>
            <a:endParaRPr lang="zh-CN" altLang="en-US" dirty="0">
              <a:latin typeface="+mn-lt"/>
              <a:ea typeface="宋体" panose="02010600030101010101" pitchFamily="2" charset="-122"/>
              <a:cs typeface="+mn-cs"/>
            </a:endParaRPr>
          </a:p>
          <a:p>
            <a:pPr lvl="0"/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rgbClr val="C00000"/>
                </a:solidFill>
                <a:sym typeface="+mn-ea"/>
              </a:rPr>
              <a:t>3.1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 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软件失效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>
              <a:spcBef>
                <a:spcPct val="25000"/>
              </a:spcBef>
            </a:pPr>
            <a:r>
              <a:rPr lang="zh-CN" altLang="en-US" sz="2800" dirty="0">
                <a:ea typeface="宋体" panose="02010600030101010101" pitchFamily="2" charset="-122"/>
                <a:sym typeface="+mn-ea"/>
              </a:rPr>
              <a:t>软件失效是随机发生的</a:t>
            </a:r>
            <a:endParaRPr lang="zh-CN" altLang="en-US" sz="2800" dirty="0">
              <a:latin typeface="+mn-lt"/>
              <a:ea typeface="宋体" panose="02010600030101010101" pitchFamily="2" charset="-122"/>
              <a:cs typeface="+mn-cs"/>
            </a:endParaRPr>
          </a:p>
          <a:p>
            <a:pPr>
              <a:spcBef>
                <a:spcPct val="25000"/>
              </a:spcBef>
            </a:pPr>
            <a:r>
              <a:rPr lang="zh-CN" altLang="en-US" sz="2800" dirty="0">
                <a:ea typeface="宋体" panose="02010600030101010101" pitchFamily="2" charset="-122"/>
                <a:sym typeface="+mn-ea"/>
              </a:rPr>
              <a:t>描述失效的方法有三个：</a:t>
            </a:r>
            <a:endParaRPr lang="zh-CN" altLang="en-US" sz="2800" dirty="0">
              <a:latin typeface="+mn-lt"/>
              <a:ea typeface="宋体" panose="02010600030101010101" pitchFamily="2" charset="-122"/>
              <a:cs typeface="+mn-cs"/>
            </a:endParaRPr>
          </a:p>
          <a:p>
            <a:pPr lvl="1">
              <a:spcBef>
                <a:spcPct val="25000"/>
              </a:spcBef>
              <a:buSzPct val="80000"/>
            </a:pPr>
            <a:r>
              <a:rPr lang="zh-CN" altLang="en-US" sz="2800" b="1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累计失效函数</a:t>
            </a:r>
            <a:r>
              <a:rPr lang="zh-CN" altLang="en-US" sz="2800" dirty="0">
                <a:ea typeface="宋体" panose="02010600030101010101" pitchFamily="2" charset="-122"/>
                <a:sym typeface="+mn-ea"/>
              </a:rPr>
              <a:t>：即与某时间点相关的平均累计失效数</a:t>
            </a:r>
            <a:endParaRPr lang="zh-CN" altLang="en-US" sz="2800" dirty="0">
              <a:latin typeface="+mn-lt"/>
              <a:ea typeface="宋体" panose="02010600030101010101" pitchFamily="2" charset="-122"/>
            </a:endParaRPr>
          </a:p>
          <a:p>
            <a:pPr lvl="1">
              <a:spcBef>
                <a:spcPct val="25000"/>
              </a:spcBef>
              <a:buSzPct val="80000"/>
            </a:pPr>
            <a:r>
              <a:rPr lang="zh-CN" altLang="en-US" sz="2800" b="1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失效率函数</a:t>
            </a:r>
            <a:r>
              <a:rPr lang="zh-CN" altLang="en-US" sz="2800" dirty="0">
                <a:ea typeface="宋体" panose="02010600030101010101" pitchFamily="2" charset="-122"/>
                <a:sym typeface="+mn-ea"/>
              </a:rPr>
              <a:t>：用累计失效函数的变化率表示</a:t>
            </a:r>
            <a:endParaRPr lang="zh-CN" altLang="en-US" sz="2800" dirty="0">
              <a:latin typeface="+mn-lt"/>
              <a:ea typeface="宋体" panose="02010600030101010101" pitchFamily="2" charset="-122"/>
            </a:endParaRPr>
          </a:p>
          <a:p>
            <a:pPr lvl="1">
              <a:spcBef>
                <a:spcPct val="25000"/>
              </a:spcBef>
              <a:buSzPct val="80000"/>
            </a:pPr>
            <a:r>
              <a:rPr lang="zh-CN" altLang="en-US" sz="2800" b="1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平均失效时间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MTTF</a:t>
            </a:r>
            <a:r>
              <a:rPr lang="zh-CN" altLang="en-US" sz="2800" b="1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函数</a:t>
            </a:r>
            <a:r>
              <a:rPr lang="zh-CN" altLang="en-US" sz="2800" dirty="0">
                <a:ea typeface="宋体" panose="02010600030101010101" pitchFamily="2" charset="-122"/>
                <a:sym typeface="+mn-ea"/>
              </a:rPr>
              <a:t>：对于一个时间段，表示若干相邻失效时间间隔的平均值；对某个时间点，表示到下次失效的期望时间</a:t>
            </a:r>
            <a:endParaRPr lang="en-US" altLang="zh-CN" sz="2800" dirty="0">
              <a:latin typeface="+mn-lt"/>
              <a:ea typeface="宋体" panose="02010600030101010101" pitchFamily="2" charset="-122"/>
            </a:endParaRPr>
          </a:p>
          <a:p>
            <a:pPr lvl="0"/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rgbClr val="C00000"/>
                </a:solidFill>
                <a:sym typeface="+mn-ea"/>
              </a:rPr>
              <a:t>3.1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 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软件失效</a:t>
            </a:r>
            <a:endParaRPr lang="zh-CN" altLang="en-US"/>
          </a:p>
        </p:txBody>
      </p:sp>
      <p:grpSp>
        <p:nvGrpSpPr>
          <p:cNvPr id="35844" name="组合 16"/>
          <p:cNvGrpSpPr/>
          <p:nvPr/>
        </p:nvGrpSpPr>
        <p:grpSpPr>
          <a:xfrm>
            <a:off x="5280343" y="1957705"/>
            <a:ext cx="4932362" cy="3149600"/>
            <a:chOff x="1667527" y="2565400"/>
            <a:chExt cx="5337012" cy="3773190"/>
          </a:xfrm>
        </p:grpSpPr>
        <p:sp>
          <p:nvSpPr>
            <p:cNvPr id="35846" name="Line 4"/>
            <p:cNvSpPr/>
            <p:nvPr>
              <p:custDataLst>
                <p:tags r:id="rId1"/>
              </p:custDataLst>
            </p:nvPr>
          </p:nvSpPr>
          <p:spPr>
            <a:xfrm>
              <a:off x="2113085" y="5734050"/>
              <a:ext cx="471853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5847" name="Line 5"/>
            <p:cNvSpPr/>
            <p:nvPr>
              <p:custDataLst>
                <p:tags r:id="rId2"/>
              </p:custDataLst>
            </p:nvPr>
          </p:nvSpPr>
          <p:spPr>
            <a:xfrm flipV="1">
              <a:off x="2113085" y="2565400"/>
              <a:ext cx="0" cy="316865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5848" name="Text Box 6"/>
            <p:cNvSpPr txBox="1"/>
            <p:nvPr>
              <p:custDataLst>
                <p:tags r:id="rId3"/>
              </p:custDataLst>
            </p:nvPr>
          </p:nvSpPr>
          <p:spPr>
            <a:xfrm>
              <a:off x="3622312" y="5876925"/>
              <a:ext cx="800219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dirty="0">
                  <a:latin typeface="Arial" panose="020B0604020202020204" pitchFamily="34" charset="0"/>
                </a:rPr>
                <a:t>时间</a:t>
              </a:r>
              <a:endParaRPr lang="zh-CN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35849" name="Text Box 7"/>
            <p:cNvSpPr txBox="1"/>
            <p:nvPr>
              <p:custDataLst>
                <p:tags r:id="rId4"/>
              </p:custDataLst>
            </p:nvPr>
          </p:nvSpPr>
          <p:spPr>
            <a:xfrm>
              <a:off x="1667527" y="3022601"/>
              <a:ext cx="553998" cy="10156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zh-CN" altLang="en-US" sz="2400" dirty="0">
                  <a:latin typeface="Arial" panose="020B0604020202020204" pitchFamily="34" charset="0"/>
                </a:rPr>
                <a:t>失效率</a:t>
              </a:r>
              <a:endParaRPr lang="zh-CN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35850" name="Freeform 8"/>
            <p:cNvSpPr/>
            <p:nvPr>
              <p:custDataLst>
                <p:tags r:id="rId5"/>
              </p:custDataLst>
            </p:nvPr>
          </p:nvSpPr>
          <p:spPr>
            <a:xfrm>
              <a:off x="2511669" y="3357563"/>
              <a:ext cx="3522785" cy="2087562"/>
            </a:xfrm>
            <a:custGeom>
              <a:avLst/>
              <a:gdLst>
                <a:gd name="txL" fmla="*/ 0 w 2994"/>
                <a:gd name="txT" fmla="*/ 0 h 1323"/>
                <a:gd name="txR" fmla="*/ 2994 w 2994"/>
                <a:gd name="txB" fmla="*/ 1323 h 1323"/>
              </a:gdLst>
              <a:ahLst/>
              <a:cxnLst>
                <a:cxn ang="0">
                  <a:pos x="0" y="0"/>
                </a:cxn>
                <a:cxn ang="0">
                  <a:pos x="181" y="816"/>
                </a:cxn>
                <a:cxn ang="0">
                  <a:pos x="952" y="1179"/>
                </a:cxn>
                <a:cxn ang="0">
                  <a:pos x="2449" y="1134"/>
                </a:cxn>
                <a:cxn ang="0">
                  <a:pos x="2994" y="45"/>
                </a:cxn>
              </a:cxnLst>
              <a:rect l="txL" t="txT" r="txR" b="txB"/>
              <a:pathLst>
                <a:path w="2994" h="1323">
                  <a:moveTo>
                    <a:pt x="0" y="0"/>
                  </a:moveTo>
                  <a:cubicBezTo>
                    <a:pt x="11" y="309"/>
                    <a:pt x="22" y="619"/>
                    <a:pt x="181" y="816"/>
                  </a:cubicBezTo>
                  <a:cubicBezTo>
                    <a:pt x="340" y="1013"/>
                    <a:pt x="574" y="1126"/>
                    <a:pt x="952" y="1179"/>
                  </a:cubicBezTo>
                  <a:cubicBezTo>
                    <a:pt x="1330" y="1232"/>
                    <a:pt x="2109" y="1323"/>
                    <a:pt x="2449" y="1134"/>
                  </a:cubicBezTo>
                  <a:cubicBezTo>
                    <a:pt x="2789" y="945"/>
                    <a:pt x="2891" y="495"/>
                    <a:pt x="2994" y="45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851" name="Freeform 9"/>
            <p:cNvSpPr/>
            <p:nvPr>
              <p:custDataLst>
                <p:tags r:id="rId6"/>
              </p:custDataLst>
            </p:nvPr>
          </p:nvSpPr>
          <p:spPr>
            <a:xfrm>
              <a:off x="2511669" y="2924175"/>
              <a:ext cx="4120662" cy="2520950"/>
            </a:xfrm>
            <a:custGeom>
              <a:avLst/>
              <a:gdLst>
                <a:gd name="txL" fmla="*/ 0 w 2812"/>
                <a:gd name="txT" fmla="*/ 0 h 1588"/>
                <a:gd name="txR" fmla="*/ 2812 w 2812"/>
                <a:gd name="txB" fmla="*/ 1588 h 1588"/>
              </a:gdLst>
              <a:ahLst/>
              <a:cxnLst>
                <a:cxn ang="0">
                  <a:pos x="0" y="0"/>
                </a:cxn>
                <a:cxn ang="0">
                  <a:pos x="272" y="1044"/>
                </a:cxn>
                <a:cxn ang="0">
                  <a:pos x="1270" y="1452"/>
                </a:cxn>
                <a:cxn ang="0">
                  <a:pos x="2812" y="1588"/>
                </a:cxn>
              </a:cxnLst>
              <a:rect l="txL" t="txT" r="txR" b="txB"/>
              <a:pathLst>
                <a:path w="2812" h="1588">
                  <a:moveTo>
                    <a:pt x="0" y="0"/>
                  </a:moveTo>
                  <a:cubicBezTo>
                    <a:pt x="30" y="401"/>
                    <a:pt x="60" y="802"/>
                    <a:pt x="272" y="1044"/>
                  </a:cubicBezTo>
                  <a:cubicBezTo>
                    <a:pt x="484" y="1286"/>
                    <a:pt x="847" y="1361"/>
                    <a:pt x="1270" y="1452"/>
                  </a:cubicBezTo>
                  <a:cubicBezTo>
                    <a:pt x="1693" y="1543"/>
                    <a:pt x="2252" y="1565"/>
                    <a:pt x="2812" y="1588"/>
                  </a:cubicBezTo>
                </a:path>
              </a:pathLst>
            </a:custGeom>
            <a:noFill/>
            <a:ln w="38100" cap="rnd" cmpd="sng">
              <a:solidFill>
                <a:srgbClr val="800000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852" name="Freeform 11"/>
            <p:cNvSpPr/>
            <p:nvPr>
              <p:custDataLst>
                <p:tags r:id="rId7"/>
              </p:custDataLst>
            </p:nvPr>
          </p:nvSpPr>
          <p:spPr>
            <a:xfrm>
              <a:off x="2511669" y="2924175"/>
              <a:ext cx="4120662" cy="2071688"/>
            </a:xfrm>
            <a:custGeom>
              <a:avLst/>
              <a:gdLst>
                <a:gd name="txL" fmla="*/ 0 w 2812"/>
                <a:gd name="txT" fmla="*/ 0 h 1305"/>
                <a:gd name="txR" fmla="*/ 2812 w 2812"/>
                <a:gd name="txB" fmla="*/ 1305 h 1305"/>
              </a:gdLst>
              <a:ahLst/>
              <a:cxnLst>
                <a:cxn ang="0">
                  <a:pos x="0" y="0"/>
                </a:cxn>
                <a:cxn ang="0">
                  <a:pos x="295" y="971"/>
                </a:cxn>
                <a:cxn ang="0">
                  <a:pos x="1224" y="1264"/>
                </a:cxn>
                <a:cxn ang="0">
                  <a:pos x="2812" y="724"/>
                </a:cxn>
              </a:cxnLst>
              <a:rect l="txL" t="txT" r="txR" b="txB"/>
              <a:pathLst>
                <a:path w="2812" h="1305">
                  <a:moveTo>
                    <a:pt x="0" y="0"/>
                  </a:moveTo>
                  <a:cubicBezTo>
                    <a:pt x="49" y="162"/>
                    <a:pt x="91" y="760"/>
                    <a:pt x="295" y="971"/>
                  </a:cubicBezTo>
                  <a:cubicBezTo>
                    <a:pt x="499" y="1182"/>
                    <a:pt x="805" y="1305"/>
                    <a:pt x="1224" y="1264"/>
                  </a:cubicBezTo>
                  <a:cubicBezTo>
                    <a:pt x="1643" y="1223"/>
                    <a:pt x="2547" y="814"/>
                    <a:pt x="2812" y="724"/>
                  </a:cubicBezTo>
                </a:path>
              </a:pathLst>
            </a:custGeom>
            <a:noFill/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853" name="Text Box 12"/>
            <p:cNvSpPr txBox="1"/>
            <p:nvPr>
              <p:custDataLst>
                <p:tags r:id="rId8"/>
              </p:custDataLst>
            </p:nvPr>
          </p:nvSpPr>
          <p:spPr>
            <a:xfrm>
              <a:off x="5713439" y="3068638"/>
              <a:ext cx="646331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Arial" panose="020B0604020202020204" pitchFamily="34" charset="0"/>
                </a:rPr>
                <a:t>硬件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854" name="Text Box 13"/>
            <p:cNvSpPr txBox="1"/>
            <p:nvPr>
              <p:custDataLst>
                <p:tags r:id="rId9"/>
              </p:custDataLst>
            </p:nvPr>
          </p:nvSpPr>
          <p:spPr>
            <a:xfrm>
              <a:off x="2643321" y="3716338"/>
              <a:ext cx="156966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Arial" panose="020B0604020202020204" pitchFamily="34" charset="0"/>
                </a:rPr>
                <a:t>软件（实际）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35855" name="Text Box 14"/>
            <p:cNvSpPr txBox="1"/>
            <p:nvPr>
              <p:custDataLst>
                <p:tags r:id="rId10"/>
              </p:custDataLst>
            </p:nvPr>
          </p:nvSpPr>
          <p:spPr>
            <a:xfrm>
              <a:off x="5434879" y="5084763"/>
              <a:ext cx="156966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Arial" panose="020B0604020202020204" pitchFamily="34" charset="0"/>
                </a:rPr>
                <a:t>软件（理想）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</p:grpSp>
      <p:sp>
        <p:nvSpPr>
          <p:cNvPr id="18" name="矩形 17"/>
          <p:cNvSpPr/>
          <p:nvPr>
            <p:custDataLst>
              <p:tags r:id="rId11"/>
            </p:custDataLst>
          </p:nvPr>
        </p:nvSpPr>
        <p:spPr>
          <a:xfrm>
            <a:off x="621665" y="1500505"/>
            <a:ext cx="4062095" cy="4677410"/>
          </a:xfrm>
          <a:prstGeom prst="rect">
            <a:avLst/>
          </a:prstGeom>
          <a:solidFill>
            <a:schemeClr val="accent2">
              <a:lumMod val="20000"/>
              <a:lumOff val="80000"/>
              <a:alpha val="36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p>
            <a:pPr marR="0" lvl="0" indent="0" algn="l" defTabSz="914400" rtl="0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如果没有缺陷，软件失效率为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indent="0" algn="l" defTabSz="914400" rtl="0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如果发现的缺陷能被及时、完全修复，失效率会趋向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indent="0" algn="l" defTabSz="914400" rtl="0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实际上，发现的缺陷数会递增，而纠正一个缺陷会引入更多的缺陷，因而失效率会增加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rgbClr val="C00000"/>
                </a:solidFill>
              </a:rPr>
              <a:t>3.2 </a:t>
            </a:r>
            <a:r>
              <a:rPr lang="zh-CN" altLang="en-US">
                <a:solidFill>
                  <a:srgbClr val="C00000"/>
                </a:solidFill>
              </a:rPr>
              <a:t>软件</a:t>
            </a:r>
            <a:r>
              <a:rPr lang="zh-CN" altLang="en-US">
                <a:solidFill>
                  <a:srgbClr val="C00000"/>
                </a:solidFill>
              </a:rPr>
              <a:t>故障的复杂性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fontAlgn="auto">
              <a:lnSpc>
                <a:spcPct val="130000"/>
              </a:lnSpc>
            </a:pPr>
            <a:r>
              <a:rPr lang="zh-CN" altLang="en-US"/>
              <a:t>简单软件系统通常基于</a:t>
            </a:r>
            <a:r>
              <a:rPr lang="en-US" altLang="zh-CN"/>
              <a:t>“</a:t>
            </a:r>
            <a:r>
              <a:rPr lang="zh-CN" altLang="en-US" b="1">
                <a:solidFill>
                  <a:srgbClr val="0000FF"/>
                </a:solidFill>
              </a:rPr>
              <a:t>单点故障假设</a:t>
            </a:r>
            <a:r>
              <a:rPr lang="en-US" altLang="zh-CN"/>
              <a:t>”</a:t>
            </a:r>
            <a:endParaRPr lang="en-US" altLang="zh-CN"/>
          </a:p>
          <a:p>
            <a:pPr lvl="1" fontAlgn="auto">
              <a:lnSpc>
                <a:spcPct val="130000"/>
              </a:lnSpc>
            </a:pPr>
            <a:r>
              <a:rPr lang="zh-CN" altLang="en-US"/>
              <a:t>一个缺陷一旦被激活，将导致软件运行时出现行为缺失或</a:t>
            </a:r>
            <a:r>
              <a:rPr lang="zh-CN" altLang="en-US"/>
              <a:t>失效</a:t>
            </a:r>
            <a:endParaRPr lang="zh-CN" altLang="en-US"/>
          </a:p>
          <a:p>
            <a:pPr fontAlgn="auto">
              <a:lnSpc>
                <a:spcPct val="130000"/>
              </a:lnSpc>
            </a:pPr>
            <a:r>
              <a:rPr lang="zh-CN" altLang="en-US"/>
              <a:t>复杂软件系统的故障通常发生在系统与系统的互联部分，导致一个系统的故障可能触发并引发与其交联的其他系统</a:t>
            </a:r>
            <a:r>
              <a:rPr lang="zh-CN" altLang="en-US"/>
              <a:t>故障。</a:t>
            </a:r>
            <a:endParaRPr lang="zh-CN" altLang="en-US"/>
          </a:p>
          <a:p>
            <a:pPr fontAlgn="auto">
              <a:lnSpc>
                <a:spcPct val="130000"/>
              </a:lnSpc>
            </a:pPr>
            <a:r>
              <a:rPr lang="zh-CN" altLang="en-US"/>
              <a:t>复杂</a:t>
            </a:r>
            <a:r>
              <a:rPr lang="zh-CN" altLang="en-US"/>
              <a:t>软件系统故障的</a:t>
            </a:r>
            <a:r>
              <a:rPr lang="zh-CN" altLang="en-US"/>
              <a:t>关注点：</a:t>
            </a:r>
            <a:endParaRPr lang="zh-CN" altLang="en-US"/>
          </a:p>
          <a:p>
            <a:pPr lvl="1" fontAlgn="auto">
              <a:lnSpc>
                <a:spcPct val="130000"/>
              </a:lnSpc>
            </a:pPr>
            <a:r>
              <a:rPr lang="zh-CN" altLang="en-US"/>
              <a:t>故障在各模块间如何</a:t>
            </a:r>
            <a:r>
              <a:rPr lang="zh-CN" altLang="en-US"/>
              <a:t>传播</a:t>
            </a:r>
            <a:endParaRPr lang="zh-CN" altLang="en-US"/>
          </a:p>
          <a:p>
            <a:pPr lvl="1" fontAlgn="auto">
              <a:lnSpc>
                <a:spcPct val="130000"/>
              </a:lnSpc>
            </a:pPr>
            <a:r>
              <a:rPr lang="zh-CN" altLang="en-US"/>
              <a:t>不同故障类型在不同类型软件的传播</a:t>
            </a:r>
            <a:r>
              <a:rPr lang="zh-CN" altLang="en-US"/>
              <a:t>规律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rgbClr val="C00000"/>
                </a:solidFill>
                <a:sym typeface="+mn-ea"/>
              </a:rPr>
              <a:t>3.2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 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故障传播</a:t>
            </a:r>
            <a:endParaRPr lang="zh-CN" altLang="en-US">
              <a:solidFill>
                <a:srgbClr val="C00000"/>
              </a:solidFill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43050"/>
            <a:ext cx="10713085" cy="4634230"/>
          </a:xfrm>
        </p:spPr>
        <p:txBody>
          <a:bodyPr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两个维度关注故障的传播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机制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软件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演化维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软件运行维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zh-CN" altLang="en-US">
                <a:solidFill>
                  <a:srgbClr val="C00000"/>
                </a:solidFill>
              </a:rPr>
              <a:t>基于体系结构的故障传播</a:t>
            </a:r>
            <a:r>
              <a:rPr lang="zh-CN" altLang="en-US">
                <a:solidFill>
                  <a:srgbClr val="C00000"/>
                </a:solidFill>
              </a:rPr>
              <a:t>模型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b="1">
                <a:solidFill>
                  <a:srgbClr val="0070C0"/>
                </a:solidFill>
              </a:rPr>
              <a:t>故障传播概率</a:t>
            </a:r>
            <a:endParaRPr lang="zh-CN" altLang="en-US" b="1">
              <a:solidFill>
                <a:srgbClr val="0070C0"/>
              </a:solidFill>
            </a:endParaRPr>
          </a:p>
          <a:p>
            <a:r>
              <a:rPr lang="zh-CN" altLang="en-US"/>
              <a:t>软件运行时，存在于组件</a:t>
            </a:r>
            <a:r>
              <a:rPr lang="en-US" altLang="zh-CN" i="1"/>
              <a:t>A</a:t>
            </a:r>
            <a:r>
              <a:rPr lang="zh-CN" altLang="en-US"/>
              <a:t>内的错误传播到组件</a:t>
            </a:r>
            <a:r>
              <a:rPr lang="en-US" altLang="zh-CN" i="1"/>
              <a:t>B</a:t>
            </a:r>
            <a:r>
              <a:rPr lang="zh-CN" altLang="en-US"/>
              <a:t>的概率</a:t>
            </a:r>
            <a:r>
              <a:rPr lang="en-US" altLang="zh-CN"/>
              <a:t>:</a:t>
            </a:r>
            <a:endParaRPr lang="en-US" altLang="zh-CN"/>
          </a:p>
          <a:p>
            <a:pPr marL="0" indent="0" algn="ctr"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EP(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) = Prob([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](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) ≠ [B](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’) |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≠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’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zh-CN" altLang="en-US"/>
              <a:t>上述概率是假定组件</a:t>
            </a:r>
            <a:r>
              <a:rPr lang="en-US" altLang="zh-CN" i="1"/>
              <a:t>A</a:t>
            </a:r>
            <a:r>
              <a:rPr lang="zh-CN" altLang="en-US"/>
              <a:t>以概率</a:t>
            </a:r>
            <a:r>
              <a:rPr lang="en-US" altLang="zh-CN"/>
              <a:t>1</a:t>
            </a:r>
            <a:r>
              <a:rPr lang="zh-CN" altLang="en-US"/>
              <a:t>调用组件</a:t>
            </a:r>
            <a:r>
              <a:rPr lang="en-US" altLang="zh-CN" i="1"/>
              <a:t>B</a:t>
            </a:r>
            <a:r>
              <a:rPr lang="zh-CN" altLang="en-US"/>
              <a:t>条件下错误传播的概率。假定概率转移矩阵</a:t>
            </a:r>
            <a:r>
              <a:rPr lang="en-US" altLang="zh-CN" i="1"/>
              <a:t>T</a:t>
            </a:r>
            <a:r>
              <a:rPr lang="en-US" altLang="zh-CN"/>
              <a:t>(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B</a:t>
            </a:r>
            <a:r>
              <a:rPr lang="en-US" altLang="zh-CN"/>
              <a:t>)</a:t>
            </a:r>
            <a:r>
              <a:rPr lang="zh-CN" altLang="en-US"/>
              <a:t>，则无条件错误传播概率</a:t>
            </a:r>
            <a:r>
              <a:rPr lang="zh-CN" altLang="en-US"/>
              <a:t>表示为：</a:t>
            </a:r>
            <a:endParaRPr lang="zh-CN" altLang="en-US"/>
          </a:p>
          <a:p>
            <a:pPr marL="0" lvl="0" indent="0" algn="ctr">
              <a:buNone/>
            </a:pPr>
            <a:r>
              <a:rPr lang="en-US" altLang="zh-CN" i="1"/>
              <a:t>E</a:t>
            </a:r>
            <a:r>
              <a:rPr lang="en-US" altLang="zh-CN"/>
              <a:t>(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B</a:t>
            </a:r>
            <a:r>
              <a:rPr lang="en-US" altLang="zh-CN"/>
              <a:t>) = EP(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B</a:t>
            </a:r>
            <a:r>
              <a:rPr lang="en-US" altLang="zh-CN"/>
              <a:t>) </a:t>
            </a:r>
            <a:r>
              <a:rPr lang="en-US" altLang="zh-CN">
                <a:latin typeface="Arial" panose="020B0604020202020204" pitchFamily="34" charset="0"/>
              </a:rPr>
              <a:t>×</a:t>
            </a:r>
            <a:r>
              <a:rPr lang="en-US" altLang="zh-CN" i="1">
                <a:sym typeface="+mn-ea"/>
              </a:rPr>
              <a:t>T</a:t>
            </a:r>
            <a:r>
              <a:rPr lang="en-US" altLang="zh-CN">
                <a:sym typeface="+mn-ea"/>
              </a:rPr>
              <a:t>(</a:t>
            </a:r>
            <a:r>
              <a:rPr lang="en-US" altLang="zh-CN" i="1">
                <a:sym typeface="+mn-ea"/>
              </a:rPr>
              <a:t>A</a:t>
            </a:r>
            <a:r>
              <a:rPr lang="en-US" altLang="zh-CN">
                <a:sym typeface="+mn-ea"/>
              </a:rPr>
              <a:t>, </a:t>
            </a:r>
            <a:r>
              <a:rPr lang="en-US" altLang="zh-CN" i="1">
                <a:sym typeface="+mn-ea"/>
              </a:rPr>
              <a:t>B</a:t>
            </a:r>
            <a:r>
              <a:rPr lang="en-US" altLang="zh-CN">
                <a:sym typeface="+mn-ea"/>
              </a:rPr>
              <a:t>)</a:t>
            </a:r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C00000"/>
                </a:solidFill>
                <a:sym typeface="+mn-ea"/>
              </a:rPr>
              <a:t>基于体系结构的故障传播模型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r>
                  <a:rPr lang="zh-CN" altLang="en-US" b="1">
                    <a:solidFill>
                      <a:srgbClr val="FF0000"/>
                    </a:solidFill>
                  </a:rPr>
                  <a:t>错误渗透率</a:t>
                </a:r>
                <a:r>
                  <a:rPr lang="zh-CN" altLang="en-US"/>
                  <a:t>：输入信号中一个错误渗透到输出信号中的概率，即输入存在错误时输出出现错误的条件概率，表达式</a:t>
                </a:r>
                <a:r>
                  <a:rPr lang="zh-CN" altLang="en-US"/>
                  <a:t>为：</a:t>
                </a:r>
                <a:endParaRPr lang="zh-CN" altLang="en-US"/>
              </a:p>
              <a:p>
                <a:pPr marL="0" indent="0" algn="ctr">
                  <a:buNone/>
                </a:pP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</a:t>
                </a:r>
                <a:r>
                  <a:rPr lang="en-US" altLang="zh-CN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≤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𝑘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𝑀</m:t>
                        </m:r>
                      </m:sup>
                    </m:sSubSup>
                  </m:oMath>
                </a14:m>
                <a:r>
                  <a:rPr lang="en-US" altLang="zh-CN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={err in o/</a:t>
                </a:r>
                <a:r>
                  <a:rPr lang="en-US" altLang="zh-CN" i="1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p</a:t>
                </a:r>
                <a:r>
                  <a:rPr lang="en-US" altLang="zh-CN" i="1" baseline="-25000">
                    <a:solidFill>
                      <a:schemeClr val="tx1"/>
                    </a:solidFill>
                    <a:uFillTx/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k</a:t>
                </a:r>
                <a:r>
                  <a:rPr lang="en-US" altLang="zh-CN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 | err in o/</a:t>
                </a:r>
                <a:r>
                  <a:rPr lang="en-US" altLang="zh-CN" i="1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p</a:t>
                </a:r>
                <a:r>
                  <a:rPr lang="en-US" altLang="zh-CN" i="1" baseline="-25000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} </a:t>
                </a:r>
                <a:r>
                  <a:rPr lang="en-US" altLang="zh-CN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≤1</a:t>
                </a:r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b="1">
                    <a:solidFill>
                      <a:srgbClr val="FF0000"/>
                    </a:solidFill>
                  </a:rPr>
                  <a:t>相对渗透率</a:t>
                </a:r>
                <a:r>
                  <a:rPr lang="zh-CN" altLang="en-US"/>
                  <a:t>：针对一个模块错误由输入传播到输出的概率，</a:t>
                </a:r>
                <a:r>
                  <a:rPr lang="zh-CN" altLang="en-US"/>
                  <a:t>即：</a:t>
                </a:r>
                <a:endParaRPr lang="zh-CN" altLang="en-US"/>
              </a:p>
              <a:p>
                <a:pPr marL="0" indent="0" algn="ctr">
                  <a:buNone/>
                </a:pP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0 </a:t>
                </a:r>
                <a:r>
                  <a:rPr lang="en-US" altLang="zh-CN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≤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𝑃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en-US" altLang="zh-CN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  <m:t>𝑚</m:t>
                            </m:r>
                          </m:den>
                        </m:f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×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naryPr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  <m:t>𝑘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𝑖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ea typeface="MS Mincho" charset="0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altLang="zh-CN" i="1">
                                    <a:latin typeface="Cambria Math" panose="02040503050406030204" charset="0"/>
                                    <a:ea typeface="微软雅黑" panose="020B0503020204020204" charset="-122"/>
                                    <a:cs typeface="Cambria Math" panose="02040503050406030204" charset="0"/>
                                  </a:rPr>
                                  <m:t>𝑀</m:t>
                                </m:r>
                              </m:sup>
                            </m:sSubSup>
                          </m:e>
                        </m:nary>
                      </m:e>
                    </m:nary>
                  </m:oMath>
                </a14:m>
                <a:r>
                  <a:rPr lang="en-US" altLang="zh-CN"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≤1</a:t>
                </a:r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zh-CN" altLang="en-US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C00000"/>
                </a:solidFill>
                <a:sym typeface="+mn-ea"/>
              </a:rPr>
              <a:t>基于体系结构的故障传播模型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38605"/>
            <a:ext cx="10515600" cy="3921760"/>
          </a:xfrm>
        </p:spPr>
        <p:txBody>
          <a:bodyPr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2400"/>
              <a:t>ECM</a:t>
            </a:r>
            <a:r>
              <a:rPr lang="zh-CN" altLang="en-US" sz="2400"/>
              <a:t>：错误控制模块</a:t>
            </a:r>
            <a:endParaRPr lang="zh-CN" altLang="en-US" sz="2400"/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2400" b="1">
                <a:solidFill>
                  <a:srgbClr val="FF0000"/>
                </a:solidFill>
              </a:rPr>
              <a:t>错误传送概率</a:t>
            </a:r>
            <a:r>
              <a:rPr lang="zh-CN" altLang="en-US" sz="2400"/>
              <a:t>：源</a:t>
            </a:r>
            <a:r>
              <a:rPr lang="en-US" altLang="zh-CN" sz="2400"/>
              <a:t>ECM</a:t>
            </a:r>
            <a:r>
              <a:rPr lang="en-US" altLang="zh-CN" sz="2400" baseline="-25000"/>
              <a:t>S</a:t>
            </a:r>
            <a:r>
              <a:rPr lang="zh-CN" altLang="en-US" sz="2400"/>
              <a:t>的输入发生了一个瞬时错误，通过</a:t>
            </a:r>
            <a:r>
              <a:rPr lang="en-US" altLang="zh-CN" sz="2400"/>
              <a:t>ECM</a:t>
            </a:r>
            <a:r>
              <a:rPr lang="en-US" altLang="zh-CN" sz="2400" baseline="-25000"/>
              <a:t>S</a:t>
            </a:r>
            <a:r>
              <a:rPr lang="zh-CN" altLang="en-US" sz="2400"/>
              <a:t>的输出</a:t>
            </a:r>
            <a:r>
              <a:rPr lang="en-US" altLang="zh-CN" sz="2400" i="1"/>
              <a:t>M</a:t>
            </a:r>
            <a:r>
              <a:rPr lang="en-US" altLang="zh-CN" sz="2400" i="1" baseline="-25000"/>
              <a:t>j</a:t>
            </a:r>
            <a:r>
              <a:rPr lang="zh-CN" altLang="en-US" sz="2400"/>
              <a:t>传播至</a:t>
            </a:r>
            <a:r>
              <a:rPr lang="en-US" altLang="zh-CN" sz="2400"/>
              <a:t>ECM</a:t>
            </a:r>
            <a:r>
              <a:rPr lang="en-US" altLang="zh-CN" sz="2400" baseline="-25000"/>
              <a:t>T</a:t>
            </a:r>
            <a:r>
              <a:rPr lang="zh-CN" altLang="en-US" sz="2400"/>
              <a:t>的输入集。</a:t>
            </a:r>
            <a:endParaRPr lang="zh-CN" altLang="en-US" sz="2400"/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2400" b="1">
                <a:solidFill>
                  <a:srgbClr val="FF0000"/>
                </a:solidFill>
              </a:rPr>
              <a:t>错误透明度</a:t>
            </a:r>
            <a:r>
              <a:rPr lang="zh-CN" altLang="en-US" sz="2400"/>
              <a:t>：接受了错误</a:t>
            </a:r>
            <a:r>
              <a:rPr lang="en-US" altLang="zh-CN" sz="2400" i="1">
                <a:sym typeface="+mn-ea"/>
              </a:rPr>
              <a:t>M</a:t>
            </a:r>
            <a:r>
              <a:rPr lang="en-US" altLang="zh-CN" sz="2400" i="1" baseline="-25000">
                <a:sym typeface="+mn-ea"/>
              </a:rPr>
              <a:t>j</a:t>
            </a:r>
            <a:r>
              <a:rPr lang="zh-CN" altLang="en-US" sz="2400"/>
              <a:t>后，</a:t>
            </a:r>
            <a:r>
              <a:rPr lang="en-US" altLang="zh-CN" sz="2400">
                <a:sym typeface="+mn-ea"/>
              </a:rPr>
              <a:t>ECM</a:t>
            </a:r>
            <a:r>
              <a:rPr lang="en-US" altLang="zh-CN" sz="2400" baseline="-25000">
                <a:sym typeface="+mn-ea"/>
              </a:rPr>
              <a:t>T</a:t>
            </a:r>
            <a:r>
              <a:rPr lang="zh-CN" altLang="en-US" sz="2400"/>
              <a:t>发生错误的</a:t>
            </a:r>
            <a:r>
              <a:rPr lang="zh-CN" altLang="en-US" sz="2400"/>
              <a:t>概率。</a:t>
            </a:r>
            <a:endParaRPr lang="zh-CN" altLang="en-US" sz="2400"/>
          </a:p>
        </p:txBody>
      </p:sp>
      <p:grpSp>
        <p:nvGrpSpPr>
          <p:cNvPr id="25" name="组合 24"/>
          <p:cNvGrpSpPr/>
          <p:nvPr/>
        </p:nvGrpSpPr>
        <p:grpSpPr>
          <a:xfrm>
            <a:off x="1583055" y="3742690"/>
            <a:ext cx="8512810" cy="2414905"/>
            <a:chOff x="1320" y="5734"/>
            <a:chExt cx="13406" cy="3803"/>
          </a:xfrm>
        </p:grpSpPr>
        <p:sp>
          <p:nvSpPr>
            <p:cNvPr id="4" name="圆角矩形 3"/>
            <p:cNvSpPr/>
            <p:nvPr/>
          </p:nvSpPr>
          <p:spPr>
            <a:xfrm>
              <a:off x="4912" y="6946"/>
              <a:ext cx="2467" cy="1143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000">
                  <a:solidFill>
                    <a:schemeClr val="tx1"/>
                  </a:solidFill>
                </a:rPr>
                <a:t>ECM</a:t>
              </a:r>
              <a:r>
                <a:rPr lang="en-US" altLang="zh-CN" sz="2000" baseline="-25000">
                  <a:solidFill>
                    <a:schemeClr val="tx1"/>
                  </a:solidFill>
                </a:rPr>
                <a:t>S</a:t>
              </a:r>
              <a:endParaRPr lang="en-US" altLang="zh-CN" sz="2000" baseline="-25000">
                <a:solidFill>
                  <a:schemeClr val="tx1"/>
                </a:solidFill>
              </a:endParaRPr>
            </a:p>
          </p:txBody>
        </p:sp>
        <p:sp>
          <p:nvSpPr>
            <p:cNvPr id="5" name="圆角矩形 4"/>
            <p:cNvSpPr/>
            <p:nvPr>
              <p:custDataLst>
                <p:tags r:id="rId1"/>
              </p:custDataLst>
            </p:nvPr>
          </p:nvSpPr>
          <p:spPr>
            <a:xfrm>
              <a:off x="10649" y="6946"/>
              <a:ext cx="2467" cy="1143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000">
                  <a:solidFill>
                    <a:schemeClr val="tx1"/>
                  </a:solidFill>
                  <a:sym typeface="+mn-ea"/>
                </a:rPr>
                <a:t>ECM</a:t>
              </a:r>
              <a:r>
                <a:rPr lang="en-US" altLang="zh-CN" sz="2000" baseline="-25000">
                  <a:solidFill>
                    <a:schemeClr val="tx1"/>
                  </a:solidFill>
                  <a:sym typeface="+mn-ea"/>
                </a:rPr>
                <a:t>T</a:t>
              </a:r>
              <a:endParaRPr lang="zh-CN" altLang="en-US" sz="2000"/>
            </a:p>
          </p:txBody>
        </p:sp>
        <p:cxnSp>
          <p:nvCxnSpPr>
            <p:cNvPr id="6" name="直接箭头连接符 5"/>
            <p:cNvCxnSpPr>
              <a:stCxn id="4" idx="3"/>
              <a:endCxn id="5" idx="1"/>
            </p:cNvCxnSpPr>
            <p:nvPr/>
          </p:nvCxnSpPr>
          <p:spPr>
            <a:xfrm>
              <a:off x="7379" y="7518"/>
              <a:ext cx="327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箭头连接符 6"/>
            <p:cNvCxnSpPr>
              <a:endCxn id="4" idx="1"/>
            </p:cNvCxnSpPr>
            <p:nvPr/>
          </p:nvCxnSpPr>
          <p:spPr>
            <a:xfrm>
              <a:off x="3844" y="7517"/>
              <a:ext cx="1068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" name="文本框 7"/>
            <p:cNvSpPr txBox="1"/>
            <p:nvPr/>
          </p:nvSpPr>
          <p:spPr>
            <a:xfrm>
              <a:off x="1359" y="7131"/>
              <a:ext cx="2424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r"/>
              <a:r>
                <a:rPr lang="zh-CN" altLang="en-US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输入信号集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I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1320" y="8292"/>
              <a:ext cx="2424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r"/>
              <a:r>
                <a:rPr lang="en-US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N</a:t>
              </a:r>
              <a:r>
                <a:rPr lang="zh-CN" altLang="en-US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个输入信号</a:t>
              </a:r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cxnSp>
          <p:nvCxnSpPr>
            <p:cNvPr id="10" name="直接箭头连接符 9"/>
            <p:cNvCxnSpPr/>
            <p:nvPr/>
          </p:nvCxnSpPr>
          <p:spPr>
            <a:xfrm flipV="1">
              <a:off x="2911" y="7657"/>
              <a:ext cx="0" cy="55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>
              <p:custDataLst>
                <p:tags r:id="rId3"/>
              </p:custDataLst>
            </p:nvPr>
          </p:nvCxnSpPr>
          <p:spPr>
            <a:xfrm flipV="1">
              <a:off x="4583" y="7711"/>
              <a:ext cx="0" cy="104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" name="文本框 11"/>
            <p:cNvSpPr txBox="1"/>
            <p:nvPr>
              <p:custDataLst>
                <p:tags r:id="rId4"/>
              </p:custDataLst>
            </p:nvPr>
          </p:nvSpPr>
          <p:spPr>
            <a:xfrm>
              <a:off x="3669" y="8950"/>
              <a:ext cx="1853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r"/>
              <a:r>
                <a:rPr lang="zh-CN" altLang="en-US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输入</a:t>
              </a:r>
              <a:r>
                <a:rPr lang="zh-CN" altLang="en-US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错误</a:t>
              </a:r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cxnSp>
          <p:nvCxnSpPr>
            <p:cNvPr id="13" name="直接箭头连接符 12"/>
            <p:cNvCxnSpPr/>
            <p:nvPr>
              <p:custDataLst>
                <p:tags r:id="rId5"/>
              </p:custDataLst>
            </p:nvPr>
          </p:nvCxnSpPr>
          <p:spPr>
            <a:xfrm>
              <a:off x="13116" y="7516"/>
              <a:ext cx="1068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>
              <p:custDataLst>
                <p:tags r:id="rId6"/>
              </p:custDataLst>
            </p:nvPr>
          </p:nvCxnSpPr>
          <p:spPr>
            <a:xfrm flipV="1">
              <a:off x="13245" y="7718"/>
              <a:ext cx="0" cy="104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5" name="文本框 14"/>
            <p:cNvSpPr txBox="1"/>
            <p:nvPr>
              <p:custDataLst>
                <p:tags r:id="rId7"/>
              </p:custDataLst>
            </p:nvPr>
          </p:nvSpPr>
          <p:spPr>
            <a:xfrm>
              <a:off x="11746" y="8957"/>
              <a:ext cx="2980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r"/>
              <a:r>
                <a:rPr lang="zh-CN" altLang="en-US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错误传播至</a:t>
              </a:r>
              <a:r>
                <a:rPr lang="zh-CN" altLang="en-US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输出</a:t>
              </a:r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cxnSp>
          <p:nvCxnSpPr>
            <p:cNvPr id="16" name="直接连接符 15"/>
            <p:cNvCxnSpPr/>
            <p:nvPr/>
          </p:nvCxnSpPr>
          <p:spPr>
            <a:xfrm>
              <a:off x="4903" y="6035"/>
              <a:ext cx="0" cy="55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>
              <p:custDataLst>
                <p:tags r:id="rId8"/>
              </p:custDataLst>
            </p:nvPr>
          </p:nvCxnSpPr>
          <p:spPr>
            <a:xfrm>
              <a:off x="10649" y="6035"/>
              <a:ext cx="0" cy="55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>
              <p:custDataLst>
                <p:tags r:id="rId9"/>
              </p:custDataLst>
            </p:nvPr>
          </p:nvCxnSpPr>
          <p:spPr>
            <a:xfrm>
              <a:off x="13245" y="6035"/>
              <a:ext cx="0" cy="55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/>
            <p:nvPr/>
          </p:nvCxnSpPr>
          <p:spPr>
            <a:xfrm flipV="1">
              <a:off x="4917" y="6314"/>
              <a:ext cx="5741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/>
            <p:nvPr/>
          </p:nvCxnSpPr>
          <p:spPr>
            <a:xfrm flipV="1">
              <a:off x="10658" y="6314"/>
              <a:ext cx="2605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文本框 20"/>
                <p:cNvSpPr txBox="1"/>
                <p:nvPr/>
              </p:nvSpPr>
              <p:spPr>
                <a:xfrm>
                  <a:off x="7708" y="6314"/>
                  <a:ext cx="947" cy="641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US" altLang="zh-CN" i="1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1" name="文本框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8" y="6314"/>
                  <a:ext cx="947" cy="641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文本框 21"/>
                <p:cNvSpPr txBox="1"/>
                <p:nvPr>
                  <p:custDataLst>
                    <p:tags r:id="rId11"/>
                  </p:custDataLst>
                </p:nvPr>
              </p:nvSpPr>
              <p:spPr>
                <a:xfrm>
                  <a:off x="11405" y="6314"/>
                  <a:ext cx="947" cy="642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altLang="zh-CN" i="1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2" name="文本框 21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2"/>
                  </p:custDataLst>
                </p:nvPr>
              </p:nvSpPr>
              <p:spPr>
                <a:xfrm>
                  <a:off x="11405" y="6314"/>
                  <a:ext cx="947" cy="642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文本框 22"/>
            <p:cNvSpPr txBox="1"/>
            <p:nvPr>
              <p:custDataLst>
                <p:tags r:id="rId14"/>
              </p:custDataLst>
            </p:nvPr>
          </p:nvSpPr>
          <p:spPr>
            <a:xfrm>
              <a:off x="6465" y="5734"/>
              <a:ext cx="2632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r"/>
              <a:r>
                <a:rPr lang="zh-CN" altLang="en-US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错误传送</a:t>
              </a:r>
              <a:r>
                <a:rPr lang="zh-CN" altLang="en-US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概率</a:t>
              </a:r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24" name="文本框 23"/>
            <p:cNvSpPr txBox="1"/>
            <p:nvPr>
              <p:custDataLst>
                <p:tags r:id="rId15"/>
              </p:custDataLst>
            </p:nvPr>
          </p:nvSpPr>
          <p:spPr>
            <a:xfrm>
              <a:off x="10659" y="5734"/>
              <a:ext cx="2312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r"/>
              <a:r>
                <a:rPr lang="zh-CN" altLang="en-US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错误</a:t>
              </a:r>
              <a:r>
                <a:rPr lang="zh-CN" altLang="en-US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透明度</a:t>
              </a:r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C00000"/>
                </a:solidFill>
                <a:sym typeface="+mn-ea"/>
              </a:rPr>
              <a:t>基于体系结构的故障传播模型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zh-CN" altLang="en-US" b="1">
                <a:solidFill>
                  <a:srgbClr val="FF0000"/>
                </a:solidFill>
              </a:rPr>
              <a:t>故障传播函数</a:t>
            </a:r>
            <a:endParaRPr lang="zh-CN" altLang="en-US" b="1">
              <a:solidFill>
                <a:srgbClr val="FF0000"/>
              </a:solidFill>
            </a:endParaRPr>
          </a:p>
          <a:p>
            <a:r>
              <a:rPr lang="zh-CN" altLang="en-US"/>
              <a:t>故障传播模型用</a:t>
            </a:r>
            <a:r>
              <a:rPr lang="en-US" altLang="zh-CN"/>
              <a:t> </a:t>
            </a:r>
            <a:r>
              <a:rPr lang="en-US" altLang="zh-CN" b="1" i="1">
                <a:solidFill>
                  <a:srgbClr val="0000FF"/>
                </a:solidFill>
              </a:rPr>
              <a:t>y </a:t>
            </a:r>
            <a:r>
              <a:rPr lang="en-US" altLang="zh-CN" b="1">
                <a:solidFill>
                  <a:srgbClr val="0000FF"/>
                </a:solidFill>
              </a:rPr>
              <a:t>= </a:t>
            </a:r>
            <a:r>
              <a:rPr lang="en-US" altLang="zh-CN" b="1" i="1">
                <a:solidFill>
                  <a:srgbClr val="0000FF"/>
                </a:solidFill>
              </a:rPr>
              <a:t>f</a:t>
            </a:r>
            <a:r>
              <a:rPr lang="en-US" altLang="zh-CN" b="1">
                <a:solidFill>
                  <a:srgbClr val="0000FF"/>
                </a:solidFill>
              </a:rPr>
              <a:t>( </a:t>
            </a:r>
            <a:r>
              <a:rPr lang="en-US" altLang="zh-CN" b="1" i="1">
                <a:solidFill>
                  <a:srgbClr val="0000FF"/>
                </a:solidFill>
              </a:rPr>
              <a:t>X</a:t>
            </a:r>
            <a:r>
              <a:rPr lang="en-US" altLang="zh-CN" b="1">
                <a:solidFill>
                  <a:srgbClr val="0000FF"/>
                </a:solidFill>
              </a:rPr>
              <a:t>+</a:t>
            </a:r>
            <a:r>
              <a:rPr lang="en-US" altLang="zh-CN" b="1" i="1">
                <a:solidFill>
                  <a:srgbClr val="0000FF"/>
                </a:solidFill>
              </a:rPr>
              <a:t>Z </a:t>
            </a:r>
            <a:r>
              <a:rPr lang="en-US" altLang="zh-CN" b="1">
                <a:solidFill>
                  <a:srgbClr val="0000FF"/>
                </a:solidFill>
              </a:rPr>
              <a:t>)</a:t>
            </a:r>
            <a:r>
              <a:rPr lang="zh-CN" altLang="en-US"/>
              <a:t>表示</a:t>
            </a:r>
            <a:endParaRPr lang="zh-CN" altLang="en-US"/>
          </a:p>
          <a:p>
            <a:pPr lvl="1"/>
            <a:r>
              <a:rPr lang="en-US" altLang="zh-CN" b="1" i="1">
                <a:solidFill>
                  <a:srgbClr val="0000FF"/>
                </a:solidFill>
              </a:rPr>
              <a:t>f </a:t>
            </a:r>
            <a:r>
              <a:rPr lang="zh-CN" altLang="en-US"/>
              <a:t>代表系统函数或传播函数</a:t>
            </a:r>
            <a:endParaRPr lang="zh-CN" altLang="en-US"/>
          </a:p>
          <a:p>
            <a:pPr lvl="1"/>
            <a:r>
              <a:rPr lang="en-US" altLang="zh-CN" b="1" i="1">
                <a:solidFill>
                  <a:srgbClr val="0000FF"/>
                </a:solidFill>
              </a:rPr>
              <a:t>X </a:t>
            </a:r>
            <a:r>
              <a:rPr lang="zh-CN" altLang="en-US"/>
              <a:t>是系统的输入向量</a:t>
            </a:r>
            <a:endParaRPr lang="zh-CN" altLang="en-US"/>
          </a:p>
          <a:p>
            <a:pPr lvl="1"/>
            <a:r>
              <a:rPr lang="en-US" altLang="zh-CN" b="1" i="1">
                <a:solidFill>
                  <a:srgbClr val="0000FF"/>
                </a:solidFill>
              </a:rPr>
              <a:t>Z </a:t>
            </a:r>
            <a:r>
              <a:rPr lang="zh-CN" altLang="en-US"/>
              <a:t>是</a:t>
            </a:r>
            <a:r>
              <a:rPr lang="en-US" altLang="zh-CN"/>
              <a:t> </a:t>
            </a:r>
            <a:r>
              <a:rPr lang="en-US" altLang="zh-CN" i="1"/>
              <a:t>X </a:t>
            </a:r>
            <a:r>
              <a:rPr lang="zh-CN" altLang="en-US"/>
              <a:t>向量的错误向量</a:t>
            </a:r>
            <a:endParaRPr lang="zh-CN" altLang="en-US"/>
          </a:p>
          <a:p>
            <a:pPr lvl="1"/>
            <a:r>
              <a:rPr lang="en-US" altLang="zh-CN" b="1" i="1">
                <a:solidFill>
                  <a:srgbClr val="0000FF"/>
                </a:solidFill>
              </a:rPr>
              <a:t>y </a:t>
            </a:r>
            <a:r>
              <a:rPr lang="zh-CN" altLang="en-US"/>
              <a:t>是系统的</a:t>
            </a:r>
            <a:r>
              <a:rPr lang="zh-CN" altLang="en-US"/>
              <a:t>输出</a:t>
            </a:r>
            <a:endParaRPr lang="zh-CN" altLang="en-US"/>
          </a:p>
          <a:p>
            <a:r>
              <a:rPr lang="zh-CN" altLang="en-US"/>
              <a:t>可采用数理统计的方法，将</a:t>
            </a:r>
            <a:r>
              <a:rPr lang="en-US" altLang="zh-CN" b="1" i="1">
                <a:solidFill>
                  <a:srgbClr val="0000FF"/>
                </a:solidFill>
              </a:rPr>
              <a:t>f</a:t>
            </a:r>
            <a:r>
              <a:rPr lang="en-US" altLang="zh-CN" b="1">
                <a:solidFill>
                  <a:srgbClr val="0000FF"/>
                </a:solidFill>
              </a:rPr>
              <a:t>(</a:t>
            </a:r>
            <a:r>
              <a:rPr lang="en-US" altLang="zh-CN" b="1" i="1">
                <a:solidFill>
                  <a:srgbClr val="0000FF"/>
                </a:solidFill>
              </a:rPr>
              <a:t>X</a:t>
            </a:r>
            <a:r>
              <a:rPr lang="en-US" altLang="zh-CN" b="1">
                <a:solidFill>
                  <a:srgbClr val="0000FF"/>
                </a:solidFill>
              </a:rPr>
              <a:t>)</a:t>
            </a:r>
            <a:r>
              <a:rPr lang="zh-CN" altLang="en-US"/>
              <a:t>用泰勒公式展开并推导计算或估计错误</a:t>
            </a:r>
            <a:r>
              <a:rPr lang="en-US" altLang="zh-CN" b="1" i="1">
                <a:solidFill>
                  <a:srgbClr val="0000FF"/>
                </a:solidFill>
              </a:rPr>
              <a:t>Z</a:t>
            </a:r>
            <a:r>
              <a:rPr lang="zh-CN" altLang="en-US"/>
              <a:t>分散分布时</a:t>
            </a:r>
            <a:r>
              <a:rPr lang="en-US" altLang="zh-CN" b="1" i="1">
                <a:solidFill>
                  <a:srgbClr val="0000FF"/>
                </a:solidFill>
              </a:rPr>
              <a:t>y</a:t>
            </a:r>
            <a:r>
              <a:rPr lang="zh-CN" altLang="en-US"/>
              <a:t>的均值</a:t>
            </a:r>
            <a:r>
              <a:rPr lang="zh-CN" altLang="en-US"/>
              <a:t>和方差。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C00000"/>
                </a:solidFill>
              </a:rPr>
              <a:t>基于类型的故障传播模型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b="1">
                <a:solidFill>
                  <a:srgbClr val="FF0000"/>
                </a:solidFill>
              </a:rPr>
              <a:t>数据类故障传播模型</a:t>
            </a:r>
            <a:endParaRPr lang="zh-CN" altLang="en-US" b="1">
              <a:solidFill>
                <a:srgbClr val="FF0000"/>
              </a:solidFill>
            </a:endParaRPr>
          </a:p>
          <a:p>
            <a:r>
              <a:rPr lang="zh-CN" altLang="en-US"/>
              <a:t>数据类故障主要依靠</a:t>
            </a:r>
            <a:r>
              <a:rPr lang="zh-CN" altLang="en-US" b="1">
                <a:solidFill>
                  <a:srgbClr val="0000FF"/>
                </a:solidFill>
              </a:rPr>
              <a:t>数据流</a:t>
            </a:r>
            <a:r>
              <a:rPr lang="zh-CN" altLang="en-US"/>
              <a:t>进行传播，尤其是共享数据方式的</a:t>
            </a:r>
            <a:r>
              <a:rPr lang="zh-CN" altLang="en-US"/>
              <a:t>传播</a:t>
            </a:r>
            <a:endParaRPr lang="zh-CN" altLang="en-US"/>
          </a:p>
          <a:p>
            <a:r>
              <a:rPr lang="zh-CN" altLang="en-US"/>
              <a:t>相关研究主要采用</a:t>
            </a:r>
            <a:r>
              <a:rPr lang="zh-CN" altLang="en-US" b="1">
                <a:solidFill>
                  <a:srgbClr val="0000FF"/>
                </a:solidFill>
              </a:rPr>
              <a:t>故障注入</a:t>
            </a:r>
            <a:r>
              <a:rPr lang="zh-CN" altLang="en-US"/>
              <a:t>技术，在模块输入信号注入一个故障，记录该模块的输出，比较有无故障注入时软件运行情况，追踪故障传播路径，可通过脆弱性</a:t>
            </a:r>
            <a:r>
              <a:rPr lang="zh-CN" altLang="en-US"/>
              <a:t>分析寻找系统中最容易传播错误的脆弱点。</a:t>
            </a:r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C00000"/>
                </a:solidFill>
              </a:rPr>
              <a:t>基于类型的故障传播模型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b="1">
                <a:solidFill>
                  <a:srgbClr val="FF0000"/>
                </a:solidFill>
              </a:rPr>
              <a:t>操作系统内核故障传播模型</a:t>
            </a:r>
            <a:endParaRPr lang="zh-CN" altLang="en-US"/>
          </a:p>
          <a:p>
            <a:r>
              <a:rPr lang="zh-CN" altLang="en-US"/>
              <a:t>操作系统内故障的传播主要依靠程序组件之间的交互和调用，可从两个层次进行</a:t>
            </a:r>
            <a:r>
              <a:rPr lang="zh-CN" altLang="en-US"/>
              <a:t>考虑：</a:t>
            </a:r>
            <a:endParaRPr lang="zh-CN" altLang="en-US"/>
          </a:p>
          <a:p>
            <a:pPr lvl="1"/>
            <a:r>
              <a:rPr lang="zh-CN" altLang="en-US"/>
              <a:t>将设备驱动程序看作原子单元，构建</a:t>
            </a:r>
            <a:r>
              <a:rPr lang="zh-CN" altLang="en-US" b="1">
                <a:solidFill>
                  <a:srgbClr val="0000FF"/>
                </a:solidFill>
              </a:rPr>
              <a:t>故障传播模型</a:t>
            </a:r>
            <a:r>
              <a:rPr lang="zh-CN" altLang="en-US"/>
              <a:t>表示硬件故障如何传播到软件</a:t>
            </a:r>
            <a:r>
              <a:rPr lang="zh-CN" altLang="en-US"/>
              <a:t>层面</a:t>
            </a:r>
            <a:endParaRPr lang="zh-CN" altLang="en-US"/>
          </a:p>
          <a:p>
            <a:pPr lvl="1"/>
            <a:r>
              <a:rPr lang="zh-CN" altLang="en-US"/>
              <a:t>针对操作系统提供的各种服务，构建</a:t>
            </a:r>
            <a:r>
              <a:rPr lang="zh-CN" altLang="en-US" b="1">
                <a:solidFill>
                  <a:srgbClr val="0000FF"/>
                </a:solidFill>
              </a:rPr>
              <a:t>调用关系图</a:t>
            </a:r>
            <a:endParaRPr lang="zh-CN" altLang="en-US"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C00000"/>
                </a:solidFill>
              </a:rPr>
              <a:t>基于类型的故障传播模型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r>
              <a:rPr lang="zh-CN" altLang="en-US" b="1">
                <a:solidFill>
                  <a:srgbClr val="0000FF"/>
                </a:solidFill>
              </a:rPr>
              <a:t>硬件故障</a:t>
            </a:r>
            <a:r>
              <a:rPr lang="zh-CN" altLang="en-US"/>
              <a:t>在软件内的传播</a:t>
            </a:r>
            <a:r>
              <a:rPr lang="zh-CN" altLang="en-US"/>
              <a:t>模型</a:t>
            </a:r>
            <a:endParaRPr lang="zh-CN" altLang="en-US"/>
          </a:p>
          <a:p>
            <a:r>
              <a:rPr lang="zh-CN" altLang="en-US"/>
              <a:t>复杂软件系统的软件与硬件边界模糊，硬件故障也是复杂软件系统的一类</a:t>
            </a:r>
            <a:r>
              <a:rPr lang="zh-CN" altLang="en-US"/>
              <a:t>故障。</a:t>
            </a:r>
            <a:endParaRPr lang="zh-CN" altLang="en-US"/>
          </a:p>
          <a:p>
            <a:r>
              <a:rPr lang="zh-CN" altLang="en-US"/>
              <a:t>硬件故障分为两类：</a:t>
            </a:r>
            <a:endParaRPr lang="zh-CN" altLang="en-US"/>
          </a:p>
          <a:p>
            <a:pPr lvl="1"/>
            <a:r>
              <a:rPr lang="zh-CN" altLang="en-US"/>
              <a:t>板上硬件故障</a:t>
            </a:r>
            <a:endParaRPr lang="zh-CN" altLang="en-US"/>
          </a:p>
          <a:p>
            <a:pPr lvl="1"/>
            <a:r>
              <a:rPr lang="zh-CN" altLang="en-US"/>
              <a:t>设备级硬件</a:t>
            </a:r>
            <a:r>
              <a:rPr lang="zh-CN" altLang="en-US"/>
              <a:t>故障</a:t>
            </a:r>
            <a:endParaRPr lang="zh-CN" altLang="en-US"/>
          </a:p>
          <a:p>
            <a:r>
              <a:rPr lang="zh-CN" altLang="en-US"/>
              <a:t>按照故障发生频率分为两类：</a:t>
            </a:r>
            <a:endParaRPr lang="zh-CN" altLang="en-US"/>
          </a:p>
          <a:p>
            <a:pPr lvl="1"/>
            <a:r>
              <a:rPr lang="zh-CN" altLang="en-US"/>
              <a:t>瞬时故障</a:t>
            </a:r>
            <a:endParaRPr lang="zh-CN" altLang="en-US"/>
          </a:p>
          <a:p>
            <a:pPr lvl="1"/>
            <a:r>
              <a:rPr lang="zh-CN" altLang="en-US"/>
              <a:t>间歇性硬件</a:t>
            </a:r>
            <a:r>
              <a:rPr lang="zh-CN" altLang="en-US"/>
              <a:t>故障</a:t>
            </a:r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6370955" y="3866515"/>
            <a:ext cx="4808220" cy="203771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C00000"/>
                </a:solidFill>
              </a:rPr>
              <a:t>基于类型的故障传播模型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关联</a:t>
            </a:r>
            <a:r>
              <a:rPr lang="zh-CN" altLang="en-US"/>
              <a:t>缺陷</a:t>
            </a:r>
            <a:endParaRPr lang="zh-CN" altLang="en-US"/>
          </a:p>
          <a:p>
            <a:r>
              <a:rPr lang="zh-CN" altLang="en-US"/>
              <a:t>各类故障通常呈现一种复杂的相关关系，称为关联</a:t>
            </a:r>
            <a:r>
              <a:rPr lang="zh-CN" altLang="en-US"/>
              <a:t>缺陷。</a:t>
            </a:r>
            <a:endParaRPr lang="zh-CN" altLang="en-US"/>
          </a:p>
          <a:p>
            <a:r>
              <a:rPr lang="zh-CN" altLang="en-US"/>
              <a:t>关联缺陷分文正关联缺陷与负关联</a:t>
            </a:r>
            <a:r>
              <a:rPr lang="zh-CN" altLang="en-US"/>
              <a:t>缺陷。</a:t>
            </a:r>
            <a:endParaRPr lang="zh-CN" altLang="en-US"/>
          </a:p>
          <a:p>
            <a:r>
              <a:rPr lang="zh-CN" altLang="en-US"/>
              <a:t>关联缺陷是导致软件级联故障、关联失效的根本</a:t>
            </a:r>
            <a:r>
              <a:rPr lang="zh-CN" altLang="en-US"/>
              <a:t>原因。</a:t>
            </a:r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C00000"/>
                </a:solidFill>
                <a:sym typeface="+mn-ea"/>
              </a:rPr>
              <a:t>基于体系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结构的故障传播模型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38605"/>
            <a:ext cx="4126230" cy="4638675"/>
          </a:xfrm>
        </p:spPr>
        <p:txBody>
          <a:bodyPr>
            <a:normAutofit lnSpcReduction="10000"/>
          </a:bodyPr>
          <a:p>
            <a:r>
              <a:rPr lang="en-US" altLang="zh-CN">
                <a:sym typeface="+mn-ea"/>
              </a:rPr>
              <a:t>体系结构（Architecture）一词在英文里是“建筑”的意思。任何建筑都是通过一些组件通过一定的方式组合起来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r>
              <a:rPr lang="zh-CN" altLang="zh-CN" dirty="0">
                <a:sym typeface="+mn-ea"/>
              </a:rPr>
              <a:t>软件也是有体系结构的，不存在没有体系结构的软件</a:t>
            </a:r>
            <a:endParaRPr lang="zh-CN" altLang="en-US">
              <a:sym typeface="+mn-ea"/>
            </a:endParaRPr>
          </a:p>
        </p:txBody>
      </p:sp>
      <p:pic>
        <p:nvPicPr>
          <p:cNvPr id="17412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277485" y="1828800"/>
            <a:ext cx="6510020" cy="37852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C00000"/>
                </a:solidFill>
                <a:sym typeface="+mn-ea"/>
              </a:rPr>
              <a:t>基于体系结构的故障传播模型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目前没有软件体系结构的统一</a:t>
            </a:r>
            <a:r>
              <a:rPr lang="zh-CN" altLang="en-US"/>
              <a:t>定义</a:t>
            </a:r>
            <a:endParaRPr lang="zh-CN" altLang="en-US"/>
          </a:p>
          <a:p>
            <a:r>
              <a:rPr lang="zh-CN" altLang="en-US"/>
              <a:t>体系结构涉及组件、连接器、以及描述它们如何相互作用的</a:t>
            </a:r>
            <a:r>
              <a:rPr lang="zh-CN" altLang="en-US"/>
              <a:t>限制</a:t>
            </a:r>
            <a:endParaRPr lang="zh-CN" altLang="en-US"/>
          </a:p>
          <a:p>
            <a:r>
              <a:rPr lang="en-US" altLang="zh-CN" dirty="0">
                <a:sym typeface="+mn-ea"/>
              </a:rPr>
              <a:t>Mary Shaw</a:t>
            </a:r>
            <a:r>
              <a:rPr lang="zh-CN" altLang="zh-CN" dirty="0">
                <a:sym typeface="+mn-ea"/>
              </a:rPr>
              <a:t>和</a:t>
            </a:r>
            <a:r>
              <a:rPr lang="en-US" altLang="zh-CN" dirty="0">
                <a:sym typeface="+mn-ea"/>
              </a:rPr>
              <a:t>David Garlan</a:t>
            </a:r>
            <a:r>
              <a:rPr lang="zh-CN" altLang="en-US" dirty="0">
                <a:sym typeface="+mn-ea"/>
              </a:rPr>
              <a:t>的定义：</a:t>
            </a:r>
            <a:r>
              <a:rPr lang="en-US" altLang="zh-CN" dirty="0">
                <a:sym typeface="+mn-ea"/>
              </a:rPr>
              <a:t>SA = {components, connectors, constrains}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本节采用的定义：</a:t>
            </a:r>
            <a:r>
              <a:rPr lang="en-US" altLang="zh-CN" dirty="0">
                <a:sym typeface="+mn-ea"/>
              </a:rPr>
              <a:t>SA={components, signals}</a:t>
            </a:r>
            <a:endParaRPr lang="en-US" altLang="zh-CN" dirty="0">
              <a:sym typeface="+mn-ea"/>
            </a:endParaRPr>
          </a:p>
          <a:p>
            <a:pPr lvl="1"/>
            <a:r>
              <a:rPr lang="en-US" altLang="zh-CN" dirty="0">
                <a:sym typeface="+mn-ea"/>
              </a:rPr>
              <a:t>signal</a:t>
            </a:r>
            <a:r>
              <a:rPr lang="zh-CN" altLang="en-US" dirty="0">
                <a:sym typeface="+mn-ea"/>
              </a:rPr>
              <a:t>代表组件输入和输出的信息，包括控制信号、调用信号、数据信号</a:t>
            </a:r>
            <a:r>
              <a:rPr lang="zh-CN" altLang="en-US" dirty="0">
                <a:sym typeface="+mn-ea"/>
              </a:rPr>
              <a:t>等。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C00000"/>
                </a:solidFill>
                <a:sym typeface="+mn-ea"/>
              </a:rPr>
              <a:t>基于体系结构的故障传播模型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故障信号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：当一个信号的取值在正常范围（需求规定）之外时称为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故障信号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，反之称为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正常信号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信号</a:t>
            </a:r>
            <a:r>
              <a:rPr lang="zh-CN" altLang="en-US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的相关组件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：如果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信号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可以影响组件的行为，或者影响组件产生的信号值，那么被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信号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影响的组件称为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信号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的关联组件。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可达信号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：在软件单次运行的过程中，如果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信号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可以通过影响由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的关联组件产生的信号最终影响到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信号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，称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信号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信号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是可达的，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信号</a:t>
            </a:r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信号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的可达信号。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C00000"/>
                </a:solidFill>
                <a:sym typeface="+mn-ea"/>
              </a:rPr>
              <a:t>基于体系结构的故障传播模型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信号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与信号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之间的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传播路径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i="1" baseline="-25000">
                <a:solidFill>
                  <a:srgbClr val="0000FF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：如果信号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到信号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是可达的，那么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</a:t>
            </a:r>
            <a:r>
              <a:rPr lang="en-US" altLang="zh-CN" b="1" i="1" baseline="-25000">
                <a:solidFill>
                  <a:srgbClr val="0000FF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ij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可以由一条定向路径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表示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：信号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和信号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之间信号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的关联组件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：组件之间传递的信号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：一组定向边的集合，表示组件间信号传递的方向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传播路径集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i="1" baseline="-25000">
                <a:solidFill>
                  <a:srgbClr val="0000FF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ijn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信号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和信号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之间不同传播路径的集合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：传播路径的个数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C00000"/>
                </a:solidFill>
                <a:sym typeface="+mn-ea"/>
              </a:rPr>
              <a:t>基于体系结构的故障传播模型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38605"/>
            <a:ext cx="10515600" cy="2470785"/>
          </a:xfrm>
        </p:spPr>
        <p:txBody>
          <a:bodyPr/>
          <a:p>
            <a:r>
              <a:rPr lang="zh-CN" altLang="en-US"/>
              <a:t>可使用网络</a:t>
            </a:r>
            <a:r>
              <a:rPr lang="en-US" altLang="zh-CN" b="1" i="1">
                <a:solidFill>
                  <a:srgbClr val="0000FF"/>
                </a:solidFill>
              </a:rPr>
              <a:t>G</a:t>
            </a:r>
            <a:r>
              <a:rPr lang="en-US" altLang="zh-CN" b="1">
                <a:solidFill>
                  <a:srgbClr val="0000FF"/>
                </a:solidFill>
              </a:rPr>
              <a:t>(</a:t>
            </a:r>
            <a:r>
              <a:rPr lang="en-US" altLang="zh-CN" b="1" i="1">
                <a:solidFill>
                  <a:srgbClr val="0000FF"/>
                </a:solidFill>
              </a:rPr>
              <a:t>S</a:t>
            </a:r>
            <a:r>
              <a:rPr lang="en-US" altLang="zh-CN" b="1">
                <a:solidFill>
                  <a:srgbClr val="0000FF"/>
                </a:solidFill>
              </a:rPr>
              <a:t>, </a:t>
            </a:r>
            <a:r>
              <a:rPr lang="en-US" altLang="zh-CN" b="1" i="1">
                <a:solidFill>
                  <a:srgbClr val="0000FF"/>
                </a:solidFill>
              </a:rPr>
              <a:t>C</a:t>
            </a:r>
            <a:r>
              <a:rPr lang="en-US" altLang="zh-CN" b="1">
                <a:solidFill>
                  <a:srgbClr val="0000FF"/>
                </a:solidFill>
              </a:rPr>
              <a:t>, </a:t>
            </a:r>
            <a:r>
              <a:rPr lang="en-US" altLang="zh-CN" b="1" i="1">
                <a:solidFill>
                  <a:srgbClr val="0000FF"/>
                </a:solidFill>
              </a:rPr>
              <a:t>P</a:t>
            </a:r>
            <a:r>
              <a:rPr lang="en-US" altLang="zh-CN" b="1">
                <a:solidFill>
                  <a:srgbClr val="0000FF"/>
                </a:solidFill>
              </a:rPr>
              <a:t>)</a:t>
            </a:r>
            <a:r>
              <a:rPr lang="zh-CN" altLang="en-US"/>
              <a:t>描述软件</a:t>
            </a:r>
            <a:r>
              <a:rPr lang="zh-CN" altLang="en-US"/>
              <a:t>系统</a:t>
            </a:r>
            <a:endParaRPr lang="zh-CN" altLang="en-US"/>
          </a:p>
          <a:p>
            <a:pPr lvl="1"/>
            <a:r>
              <a:rPr lang="en-US" altLang="zh-CN" i="1"/>
              <a:t>S</a:t>
            </a:r>
            <a:r>
              <a:rPr lang="zh-CN" altLang="en-US"/>
              <a:t>：</a:t>
            </a:r>
            <a:r>
              <a:rPr lang="zh-CN" altLang="en-US"/>
              <a:t>网络中所有的信号</a:t>
            </a:r>
            <a:endParaRPr lang="zh-CN" altLang="en-US"/>
          </a:p>
          <a:p>
            <a:pPr lvl="1"/>
            <a:r>
              <a:rPr lang="en-US" altLang="zh-CN" i="1"/>
              <a:t>C</a:t>
            </a:r>
            <a:r>
              <a:rPr lang="zh-CN" altLang="en-US"/>
              <a:t>：网络中所有的</a:t>
            </a:r>
            <a:r>
              <a:rPr lang="zh-CN" altLang="en-US"/>
              <a:t>组件</a:t>
            </a:r>
            <a:endParaRPr lang="zh-CN" altLang="en-US"/>
          </a:p>
          <a:p>
            <a:pPr lvl="1"/>
            <a:r>
              <a:rPr lang="en-US" altLang="zh-CN" i="1"/>
              <a:t>P</a:t>
            </a:r>
            <a:r>
              <a:rPr lang="zh-CN" altLang="en-US"/>
              <a:t>：软件中的传播</a:t>
            </a:r>
            <a:r>
              <a:rPr lang="zh-CN" altLang="en-US"/>
              <a:t>路径</a:t>
            </a:r>
            <a:endParaRPr lang="zh-CN" altLang="en-US"/>
          </a:p>
        </p:txBody>
      </p:sp>
      <p:grpSp>
        <p:nvGrpSpPr>
          <p:cNvPr id="15" name="组合 14"/>
          <p:cNvGrpSpPr/>
          <p:nvPr>
            <p:custDataLst>
              <p:tags r:id="rId1"/>
            </p:custDataLst>
          </p:nvPr>
        </p:nvGrpSpPr>
        <p:grpSpPr>
          <a:xfrm>
            <a:off x="1264285" y="4410075"/>
            <a:ext cx="9516745" cy="721360"/>
            <a:chOff x="1587" y="6945"/>
            <a:chExt cx="14987" cy="1136"/>
          </a:xfrm>
        </p:grpSpPr>
        <p:sp>
          <p:nvSpPr>
            <p:cNvPr id="4" name="矩形 3"/>
            <p:cNvSpPr/>
            <p:nvPr>
              <p:custDataLst>
                <p:tags r:id="rId2"/>
              </p:custDataLst>
            </p:nvPr>
          </p:nvSpPr>
          <p:spPr>
            <a:xfrm>
              <a:off x="4088" y="7145"/>
              <a:ext cx="1702" cy="93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000" b="1">
                  <a:solidFill>
                    <a:schemeClr val="tx1"/>
                  </a:solidFill>
                </a:rPr>
                <a:t>组件</a:t>
              </a:r>
              <a:r>
                <a:rPr lang="en-US" altLang="zh-CN" sz="2000" b="1">
                  <a:solidFill>
                    <a:schemeClr val="tx1"/>
                  </a:solidFill>
                </a:rPr>
                <a:t>A</a:t>
              </a:r>
              <a:endParaRPr lang="en-US" altLang="zh-CN" sz="2000" b="1">
                <a:solidFill>
                  <a:schemeClr val="tx1"/>
                </a:solidFill>
              </a:endParaRPr>
            </a:p>
          </p:txBody>
        </p:sp>
        <p:sp>
          <p:nvSpPr>
            <p:cNvPr id="5" name="矩形 4"/>
            <p:cNvSpPr/>
            <p:nvPr>
              <p:custDataLst>
                <p:tags r:id="rId3"/>
              </p:custDataLst>
            </p:nvPr>
          </p:nvSpPr>
          <p:spPr>
            <a:xfrm>
              <a:off x="8187" y="7145"/>
              <a:ext cx="1702" cy="93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000" b="1">
                  <a:solidFill>
                    <a:schemeClr val="tx1"/>
                  </a:solidFill>
                </a:rPr>
                <a:t>组件</a:t>
              </a:r>
              <a:r>
                <a:rPr lang="en-US" altLang="zh-CN" sz="2000" b="1">
                  <a:solidFill>
                    <a:schemeClr val="tx1"/>
                  </a:solidFill>
                </a:rPr>
                <a:t>B</a:t>
              </a:r>
              <a:endParaRPr lang="en-US" altLang="zh-CN" sz="2000" b="1">
                <a:solidFill>
                  <a:schemeClr val="tx1"/>
                </a:solidFill>
              </a:endParaRPr>
            </a:p>
          </p:txBody>
        </p:sp>
        <p:sp>
          <p:nvSpPr>
            <p:cNvPr id="6" name="矩形 5"/>
            <p:cNvSpPr/>
            <p:nvPr>
              <p:custDataLst>
                <p:tags r:id="rId4"/>
              </p:custDataLst>
            </p:nvPr>
          </p:nvSpPr>
          <p:spPr>
            <a:xfrm>
              <a:off x="12286" y="7145"/>
              <a:ext cx="1702" cy="93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000" b="1">
                  <a:solidFill>
                    <a:schemeClr val="tx1"/>
                  </a:solidFill>
                </a:rPr>
                <a:t>组件</a:t>
              </a:r>
              <a:r>
                <a:rPr lang="en-US" altLang="zh-CN" sz="2000" b="1">
                  <a:solidFill>
                    <a:schemeClr val="tx1"/>
                  </a:solidFill>
                </a:rPr>
                <a:t>C</a:t>
              </a:r>
              <a:endParaRPr lang="en-US" altLang="zh-CN" sz="2000" b="1">
                <a:solidFill>
                  <a:schemeClr val="tx1"/>
                </a:solidFill>
              </a:endParaRPr>
            </a:p>
          </p:txBody>
        </p:sp>
        <p:cxnSp>
          <p:nvCxnSpPr>
            <p:cNvPr id="7" name="直接箭头连接符 6"/>
            <p:cNvCxnSpPr>
              <a:stCxn id="4" idx="3"/>
              <a:endCxn id="5" idx="1"/>
            </p:cNvCxnSpPr>
            <p:nvPr>
              <p:custDataLst>
                <p:tags r:id="rId5"/>
              </p:custDataLst>
            </p:nvPr>
          </p:nvCxnSpPr>
          <p:spPr>
            <a:xfrm>
              <a:off x="5790" y="7613"/>
              <a:ext cx="239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" name="直接箭头连接符 7"/>
            <p:cNvCxnSpPr>
              <a:stCxn id="5" idx="3"/>
              <a:endCxn id="6" idx="1"/>
            </p:cNvCxnSpPr>
            <p:nvPr>
              <p:custDataLst>
                <p:tags r:id="rId6"/>
              </p:custDataLst>
            </p:nvPr>
          </p:nvCxnSpPr>
          <p:spPr>
            <a:xfrm>
              <a:off x="9889" y="7613"/>
              <a:ext cx="239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>
              <a:endCxn id="4" idx="1"/>
            </p:cNvCxnSpPr>
            <p:nvPr/>
          </p:nvCxnSpPr>
          <p:spPr>
            <a:xfrm>
              <a:off x="2827" y="7601"/>
              <a:ext cx="1261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" name="直接箭头连接符 9"/>
            <p:cNvCxnSpPr>
              <a:stCxn id="6" idx="3"/>
            </p:cNvCxnSpPr>
            <p:nvPr>
              <p:custDataLst>
                <p:tags r:id="rId7"/>
              </p:custDataLst>
            </p:nvPr>
          </p:nvCxnSpPr>
          <p:spPr>
            <a:xfrm flipV="1">
              <a:off x="13988" y="7573"/>
              <a:ext cx="118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/>
          </p:nvSpPr>
          <p:spPr>
            <a:xfrm>
              <a:off x="1587" y="7299"/>
              <a:ext cx="1402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信号</a:t>
              </a:r>
              <a:r>
                <a:rPr lang="en-US" altLang="zh-CN" sz="2000" b="1" i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i</a:t>
              </a:r>
              <a:endParaRPr lang="en-US" altLang="zh-CN" sz="20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8"/>
              </p:custDataLst>
            </p:nvPr>
          </p:nvSpPr>
          <p:spPr>
            <a:xfrm>
              <a:off x="6287" y="6945"/>
              <a:ext cx="1402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信号</a:t>
              </a:r>
              <a:r>
                <a:rPr lang="en-US" altLang="zh-CN" sz="2000" i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a</a:t>
              </a:r>
              <a:endPara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9"/>
              </p:custDataLst>
            </p:nvPr>
          </p:nvSpPr>
          <p:spPr>
            <a:xfrm>
              <a:off x="10387" y="6945"/>
              <a:ext cx="1402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信号</a:t>
              </a:r>
              <a:r>
                <a:rPr lang="en-US" altLang="zh-CN" sz="2000" i="1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b</a:t>
              </a:r>
              <a:endPara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10"/>
              </p:custDataLst>
            </p:nvPr>
          </p:nvSpPr>
          <p:spPr>
            <a:xfrm>
              <a:off x="15172" y="7145"/>
              <a:ext cx="1402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信号</a:t>
              </a:r>
              <a:r>
                <a:rPr lang="en-US" altLang="zh-CN" sz="2000" b="1" i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j</a:t>
              </a:r>
              <a:endParaRPr lang="en-US" altLang="zh-CN" sz="20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4985385" y="5659120"/>
            <a:ext cx="24282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ym typeface="+mn-ea"/>
              </a:rPr>
              <a:t>软件体系结构</a:t>
            </a:r>
            <a:endParaRPr lang="zh-CN" altLang="en-US" sz="2400"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基于体系结构的故障传播模型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870585" y="1753870"/>
            <a:ext cx="9546590" cy="27425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348105" y="2402205"/>
            <a:ext cx="4060825" cy="184023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圆角矩形 5"/>
          <p:cNvSpPr/>
          <p:nvPr>
            <p:custDataLst>
              <p:tags r:id="rId1"/>
            </p:custDataLst>
          </p:nvPr>
        </p:nvSpPr>
        <p:spPr>
          <a:xfrm>
            <a:off x="6659880" y="2402205"/>
            <a:ext cx="3203575" cy="184023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478915" y="2974340"/>
            <a:ext cx="1000125" cy="9112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Times New Roman" panose="02020603050405020304" pitchFamily="18" charset="0"/>
              </a:rPr>
              <a:t>内部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pitchFamily="18" charset="0"/>
              </a:rPr>
              <a:t>缺陷</a:t>
            </a:r>
            <a:endParaRPr lang="zh-CN" altLang="en-US" sz="20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椭圆 7"/>
          <p:cNvSpPr/>
          <p:nvPr>
            <p:custDataLst>
              <p:tags r:id="rId2"/>
            </p:custDataLst>
          </p:nvPr>
        </p:nvSpPr>
        <p:spPr>
          <a:xfrm>
            <a:off x="3112135" y="2974340"/>
            <a:ext cx="1000125" cy="9112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Times New Roman" panose="02020603050405020304" pitchFamily="18" charset="0"/>
              </a:rPr>
              <a:t>故障</a:t>
            </a:r>
            <a:endParaRPr lang="zh-CN" altLang="en-US" sz="20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弦形 9"/>
          <p:cNvSpPr/>
          <p:nvPr/>
        </p:nvSpPr>
        <p:spPr>
          <a:xfrm>
            <a:off x="4692650" y="2974340"/>
            <a:ext cx="1426210" cy="911225"/>
          </a:xfrm>
          <a:prstGeom prst="chord">
            <a:avLst>
              <a:gd name="adj1" fmla="val 5357941"/>
              <a:gd name="adj2" fmla="val 16200000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rtlCol="0" anchor="ctr"/>
          <a:p>
            <a:pPr algn="l"/>
            <a:r>
              <a:rPr lang="zh-CN" altLang="en-US" sz="2000" b="1">
                <a:solidFill>
                  <a:schemeClr val="tx1"/>
                </a:solidFill>
                <a:latin typeface="Times New Roman" panose="02020603050405020304" pitchFamily="18" charset="0"/>
              </a:rPr>
              <a:t>故障</a:t>
            </a:r>
            <a:endParaRPr lang="zh-CN" altLang="en-US" sz="20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椭圆 11"/>
          <p:cNvSpPr/>
          <p:nvPr>
            <p:custDataLst>
              <p:tags r:id="rId3"/>
            </p:custDataLst>
          </p:nvPr>
        </p:nvSpPr>
        <p:spPr>
          <a:xfrm>
            <a:off x="7175500" y="2974340"/>
            <a:ext cx="1000125" cy="91122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Times New Roman" panose="02020603050405020304" pitchFamily="18" charset="0"/>
              </a:rPr>
              <a:t>输入故障</a:t>
            </a:r>
            <a:endParaRPr lang="zh-CN" altLang="en-US" sz="20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48105" y="1829435"/>
            <a:ext cx="12293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Times New Roman" panose="02020603050405020304" pitchFamily="18" charset="0"/>
                <a:sym typeface="+mn-ea"/>
              </a:rPr>
              <a:t>系统</a:t>
            </a:r>
            <a:endParaRPr lang="zh-CN" altLang="en-US" sz="2400" b="1"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8580120" y="1260475"/>
            <a:ext cx="1458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Times New Roman" panose="02020603050405020304" pitchFamily="18" charset="0"/>
                <a:sym typeface="+mn-ea"/>
              </a:rPr>
              <a:t>系统接口</a:t>
            </a:r>
            <a:endParaRPr lang="zh-CN" altLang="en-US" sz="2400" b="1"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5"/>
            </p:custDataLst>
          </p:nvPr>
        </p:nvSpPr>
        <p:spPr>
          <a:xfrm>
            <a:off x="1475105" y="2416175"/>
            <a:ext cx="12293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组件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endParaRPr lang="en-US" altLang="zh-CN" sz="2400" b="1" i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6"/>
            </p:custDataLst>
          </p:nvPr>
        </p:nvSpPr>
        <p:spPr>
          <a:xfrm>
            <a:off x="6884035" y="2402205"/>
            <a:ext cx="12293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组件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</a:t>
            </a:r>
            <a:endParaRPr lang="en-US" altLang="zh-CN" sz="2400" b="1" i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17" name="直接箭头连接符 16"/>
          <p:cNvCxnSpPr>
            <a:stCxn id="7" idx="6"/>
            <a:endCxn id="8" idx="2"/>
          </p:cNvCxnSpPr>
          <p:nvPr/>
        </p:nvCxnSpPr>
        <p:spPr>
          <a:xfrm>
            <a:off x="2479040" y="3430270"/>
            <a:ext cx="633095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8" idx="6"/>
          </p:cNvCxnSpPr>
          <p:nvPr/>
        </p:nvCxnSpPr>
        <p:spPr>
          <a:xfrm>
            <a:off x="4112260" y="3430270"/>
            <a:ext cx="28800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12" idx="6"/>
          </p:cNvCxnSpPr>
          <p:nvPr/>
        </p:nvCxnSpPr>
        <p:spPr>
          <a:xfrm flipV="1">
            <a:off x="8175625" y="3411220"/>
            <a:ext cx="241935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8390890" y="3401695"/>
            <a:ext cx="756000" cy="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弦形 21"/>
          <p:cNvSpPr/>
          <p:nvPr>
            <p:custDataLst>
              <p:tags r:id="rId7"/>
            </p:custDataLst>
          </p:nvPr>
        </p:nvSpPr>
        <p:spPr>
          <a:xfrm>
            <a:off x="9146540" y="2967355"/>
            <a:ext cx="1426210" cy="911225"/>
          </a:xfrm>
          <a:prstGeom prst="chord">
            <a:avLst>
              <a:gd name="adj1" fmla="val 5357941"/>
              <a:gd name="adj2" fmla="val 16200000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rtlCol="0" anchor="ctr"/>
          <a:p>
            <a:pPr algn="l"/>
            <a:r>
              <a:rPr lang="zh-CN" altLang="en-US" sz="2000" b="1">
                <a:solidFill>
                  <a:schemeClr val="tx1"/>
                </a:solidFill>
                <a:latin typeface="Times New Roman" panose="02020603050405020304" pitchFamily="18" charset="0"/>
              </a:rPr>
              <a:t>故障</a:t>
            </a:r>
            <a:endParaRPr lang="zh-CN" altLang="en-US" sz="20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23" name="直接箭头连接符 22"/>
          <p:cNvCxnSpPr>
            <a:stCxn id="10" idx="2"/>
            <a:endCxn id="12" idx="2"/>
          </p:cNvCxnSpPr>
          <p:nvPr>
            <p:custDataLst>
              <p:tags r:id="rId8"/>
            </p:custDataLst>
          </p:nvPr>
        </p:nvCxnSpPr>
        <p:spPr>
          <a:xfrm>
            <a:off x="5408295" y="3429635"/>
            <a:ext cx="1767205" cy="63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>
            <p:custDataLst>
              <p:tags r:id="rId9"/>
            </p:custDataLst>
          </p:nvPr>
        </p:nvSpPr>
        <p:spPr>
          <a:xfrm>
            <a:off x="5716905" y="2967355"/>
            <a:ext cx="1458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Times New Roman" panose="02020603050405020304" pitchFamily="18" charset="0"/>
                <a:sym typeface="+mn-ea"/>
              </a:rPr>
              <a:t>信号</a:t>
            </a:r>
            <a:endParaRPr lang="zh-CN" altLang="en-US" sz="2400" b="1">
              <a:latin typeface="Times New Roman" panose="02020603050405020304" pitchFamily="18" charset="0"/>
              <a:sym typeface="+mn-ea"/>
            </a:endParaRPr>
          </a:p>
        </p:txBody>
      </p:sp>
      <p:cxnSp>
        <p:nvCxnSpPr>
          <p:cNvPr id="25" name="直接箭头连接符 24"/>
          <p:cNvCxnSpPr/>
          <p:nvPr>
            <p:custDataLst>
              <p:tags r:id="rId10"/>
            </p:custDataLst>
          </p:nvPr>
        </p:nvCxnSpPr>
        <p:spPr>
          <a:xfrm>
            <a:off x="4208780" y="3427730"/>
            <a:ext cx="468000" cy="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>
            <p:custDataLst>
              <p:tags r:id="rId11"/>
            </p:custDataLst>
          </p:nvPr>
        </p:nvCxnSpPr>
        <p:spPr>
          <a:xfrm>
            <a:off x="10429875" y="3401695"/>
            <a:ext cx="64800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12"/>
            </p:custDataLst>
          </p:nvPr>
        </p:nvSpPr>
        <p:spPr>
          <a:xfrm>
            <a:off x="10515600" y="2862580"/>
            <a:ext cx="82994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Times New Roman" panose="02020603050405020304" pitchFamily="18" charset="0"/>
                <a:sym typeface="+mn-ea"/>
              </a:rPr>
              <a:t>信号</a:t>
            </a:r>
            <a:endParaRPr lang="zh-CN" altLang="en-US" sz="2400" b="1"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28" name="文本框 27"/>
          <p:cNvSpPr txBox="1"/>
          <p:nvPr>
            <p:custDataLst>
              <p:tags r:id="rId13"/>
            </p:custDataLst>
          </p:nvPr>
        </p:nvSpPr>
        <p:spPr>
          <a:xfrm>
            <a:off x="747395" y="4622800"/>
            <a:ext cx="208724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组件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的状态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0" name="文本框 29"/>
          <p:cNvSpPr txBox="1"/>
          <p:nvPr>
            <p:custDataLst>
              <p:tags r:id="rId14"/>
            </p:custDataLst>
          </p:nvPr>
        </p:nvSpPr>
        <p:spPr>
          <a:xfrm>
            <a:off x="747395" y="5720080"/>
            <a:ext cx="208724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组件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的状态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1" name="文本框 30"/>
          <p:cNvSpPr txBox="1"/>
          <p:nvPr>
            <p:custDataLst>
              <p:tags r:id="rId15"/>
            </p:custDataLst>
          </p:nvPr>
        </p:nvSpPr>
        <p:spPr>
          <a:xfrm>
            <a:off x="2430145" y="2971800"/>
            <a:ext cx="12293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Times New Roman" panose="02020603050405020304" pitchFamily="18" charset="0"/>
                <a:sym typeface="+mn-ea"/>
              </a:rPr>
              <a:t>激活</a:t>
            </a:r>
            <a:endParaRPr lang="zh-CN" altLang="en-US" sz="2400" b="1"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16"/>
            </p:custDataLst>
          </p:nvPr>
        </p:nvSpPr>
        <p:spPr>
          <a:xfrm>
            <a:off x="8230870" y="2931795"/>
            <a:ext cx="12293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Times New Roman" panose="02020603050405020304" pitchFamily="18" charset="0"/>
                <a:sym typeface="+mn-ea"/>
              </a:rPr>
              <a:t>传播</a:t>
            </a:r>
            <a:endParaRPr lang="zh-CN" altLang="en-US" sz="2400" b="1">
              <a:latin typeface="Times New Roman" panose="02020603050405020304" pitchFamily="18" charset="0"/>
              <a:sym typeface="+mn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 flipV="1">
            <a:off x="2553970" y="4855845"/>
            <a:ext cx="28136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5367655" y="4845685"/>
            <a:ext cx="0" cy="43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5369560" y="5277485"/>
            <a:ext cx="151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 flipH="1">
            <a:off x="5366385" y="4869815"/>
            <a:ext cx="0" cy="2387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>
            <p:custDataLst>
              <p:tags r:id="rId17"/>
            </p:custDataLst>
          </p:nvPr>
        </p:nvSpPr>
        <p:spPr>
          <a:xfrm>
            <a:off x="2772410" y="4827905"/>
            <a:ext cx="148018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正确的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服务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9" name="文本框 38"/>
          <p:cNvSpPr txBox="1"/>
          <p:nvPr>
            <p:custDataLst>
              <p:tags r:id="rId18"/>
            </p:custDataLst>
          </p:nvPr>
        </p:nvSpPr>
        <p:spPr>
          <a:xfrm>
            <a:off x="4752340" y="4796155"/>
            <a:ext cx="80264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组件</a:t>
            </a:r>
            <a:r>
              <a:rPr lang="en-US" altLang="zh-CN" sz="1600" i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endParaRPr lang="en-US" altLang="zh-CN" sz="1600" i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失效</a:t>
            </a:r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0" name="文本框 39"/>
          <p:cNvSpPr txBox="1"/>
          <p:nvPr>
            <p:custDataLst>
              <p:tags r:id="rId19"/>
            </p:custDataLst>
          </p:nvPr>
        </p:nvSpPr>
        <p:spPr>
          <a:xfrm>
            <a:off x="5408930" y="5277485"/>
            <a:ext cx="148018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错误的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服务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41" name="直接连接符 40"/>
          <p:cNvCxnSpPr/>
          <p:nvPr>
            <p:custDataLst>
              <p:tags r:id="rId20"/>
            </p:custDataLst>
          </p:nvPr>
        </p:nvCxnSpPr>
        <p:spPr>
          <a:xfrm flipV="1">
            <a:off x="6818630" y="5793740"/>
            <a:ext cx="35401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>
            <p:custDataLst>
              <p:tags r:id="rId21"/>
            </p:custDataLst>
          </p:nvPr>
        </p:nvCxnSpPr>
        <p:spPr>
          <a:xfrm>
            <a:off x="10358755" y="5783580"/>
            <a:ext cx="0" cy="43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>
            <p:custDataLst>
              <p:tags r:id="rId22"/>
            </p:custDataLst>
          </p:nvPr>
        </p:nvCxnSpPr>
        <p:spPr>
          <a:xfrm>
            <a:off x="10360660" y="6215380"/>
            <a:ext cx="11150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>
            <p:custDataLst>
              <p:tags r:id="rId23"/>
            </p:custDataLst>
          </p:nvPr>
        </p:nvCxnSpPr>
        <p:spPr>
          <a:xfrm flipH="1">
            <a:off x="10357485" y="5807710"/>
            <a:ext cx="0" cy="2387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>
            <p:custDataLst>
              <p:tags r:id="rId24"/>
            </p:custDataLst>
          </p:nvPr>
        </p:nvSpPr>
        <p:spPr>
          <a:xfrm>
            <a:off x="7763510" y="5765800"/>
            <a:ext cx="148018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正确的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服务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6" name="文本框 45"/>
          <p:cNvSpPr txBox="1"/>
          <p:nvPr>
            <p:custDataLst>
              <p:tags r:id="rId25"/>
            </p:custDataLst>
          </p:nvPr>
        </p:nvSpPr>
        <p:spPr>
          <a:xfrm>
            <a:off x="9644380" y="5734050"/>
            <a:ext cx="80264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（</a:t>
            </a:r>
            <a:r>
              <a:rPr 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系统）</a:t>
            </a:r>
            <a:endParaRPr lang="en-US" altLang="zh-CN" sz="1600" i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ctr"/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失效</a:t>
            </a:r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7" name="文本框 46"/>
          <p:cNvSpPr txBox="1"/>
          <p:nvPr>
            <p:custDataLst>
              <p:tags r:id="rId26"/>
            </p:custDataLst>
          </p:nvPr>
        </p:nvSpPr>
        <p:spPr>
          <a:xfrm>
            <a:off x="10360660" y="6215380"/>
            <a:ext cx="148018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错误的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服务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本章</a:t>
            </a:r>
            <a:r>
              <a:rPr lang="zh-CN" altLang="en-US"/>
              <a:t>作业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/>
              <a:t>针对所选的一个项目的</a:t>
            </a:r>
            <a:r>
              <a:rPr lang="zh-CN" altLang="en-US"/>
              <a:t>场景：</a:t>
            </a:r>
            <a:endParaRPr lang="zh-CN" altLang="en-US"/>
          </a:p>
          <a:p>
            <a:pPr marL="914400" lvl="1" indent="-457200">
              <a:buFont typeface="+mj-ea"/>
              <a:buAutoNum type="circleNumDbPlain"/>
            </a:pPr>
            <a:r>
              <a:rPr lang="zh-CN" altLang="en-US">
                <a:sym typeface="+mn-ea"/>
              </a:rPr>
              <a:t>选择一种场景，代码实现一个关联缺陷（可以</a:t>
            </a:r>
            <a:r>
              <a:rPr lang="zh-CN" altLang="en-US">
                <a:sym typeface="+mn-ea"/>
              </a:rPr>
              <a:t>简化）</a:t>
            </a:r>
            <a:endParaRPr lang="zh-CN" altLang="en-US">
              <a:sym typeface="+mn-ea"/>
            </a:endParaRPr>
          </a:p>
          <a:p>
            <a:pPr marL="914400" lvl="1" indent="-457200">
              <a:buFont typeface="+mj-ea"/>
              <a:buAutoNum type="circleNumDbPlain"/>
            </a:pPr>
            <a:r>
              <a:rPr lang="zh-CN" altLang="en-US">
                <a:sym typeface="+mn-ea"/>
              </a:rPr>
              <a:t>可通过多个简单的方法调用进行模拟</a:t>
            </a:r>
            <a:endParaRPr lang="zh-CN" altLang="en-US">
              <a:sym typeface="+mn-ea"/>
            </a:endParaRPr>
          </a:p>
          <a:p>
            <a:pPr marL="914400" lvl="1" indent="-457200">
              <a:buFont typeface="+mj-ea"/>
              <a:buAutoNum type="circleNumDbPlain"/>
            </a:pPr>
            <a:r>
              <a:rPr lang="zh-CN" altLang="en-US">
                <a:sym typeface="+mn-ea"/>
              </a:rPr>
              <a:t>设计多个测试用例，给出有无故障产生的输出结果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DIAGRAM_VIRTUALLY_FRAME" val="{&quot;height&quot;:56.8,&quot;left&quot;:99.55,&quot;top&quot;:347.25,&quot;width&quot;:749.35}"/>
</p:tagLst>
</file>

<file path=ppt/tags/tag65.xml><?xml version="1.0" encoding="utf-8"?>
<p:tagLst xmlns:p="http://schemas.openxmlformats.org/presentationml/2006/main">
  <p:tag name="KSO_WM_DIAGRAM_VIRTUALLY_FRAME" val="{&quot;height&quot;:56.8,&quot;left&quot;:99.55,&quot;top&quot;:347.25,&quot;width&quot;:749.35}"/>
</p:tagLst>
</file>

<file path=ppt/tags/tag66.xml><?xml version="1.0" encoding="utf-8"?>
<p:tagLst xmlns:p="http://schemas.openxmlformats.org/presentationml/2006/main">
  <p:tag name="KSO_WM_BEAUTIFY_FLAG" val=""/>
  <p:tag name="KSO_WM_DIAGRAM_VIRTUALLY_FRAME" val="{&quot;height&quot;:56.8,&quot;left&quot;:99.55,&quot;top&quot;:347.25,&quot;width&quot;:749.35}"/>
</p:tagLst>
</file>

<file path=ppt/tags/tag67.xml><?xml version="1.0" encoding="utf-8"?>
<p:tagLst xmlns:p="http://schemas.openxmlformats.org/presentationml/2006/main">
  <p:tag name="KSO_WM_BEAUTIFY_FLAG" val=""/>
  <p:tag name="KSO_WM_DIAGRAM_VIRTUALLY_FRAME" val="{&quot;height&quot;:56.8,&quot;left&quot;:99.55,&quot;top&quot;:347.25,&quot;width&quot;:749.35}"/>
</p:tagLst>
</file>

<file path=ppt/tags/tag68.xml><?xml version="1.0" encoding="utf-8"?>
<p:tagLst xmlns:p="http://schemas.openxmlformats.org/presentationml/2006/main">
  <p:tag name="KSO_WM_DIAGRAM_VIRTUALLY_FRAME" val="{&quot;height&quot;:56.8,&quot;left&quot;:99.55,&quot;top&quot;:347.25,&quot;width&quot;:749.35}"/>
</p:tagLst>
</file>

<file path=ppt/tags/tag69.xml><?xml version="1.0" encoding="utf-8"?>
<p:tagLst xmlns:p="http://schemas.openxmlformats.org/presentationml/2006/main">
  <p:tag name="KSO_WM_DIAGRAM_VIRTUALLY_FRAME" val="{&quot;height&quot;:56.8,&quot;left&quot;:99.55,&quot;top&quot;:347.25,&quot;width&quot;:749.35}"/>
</p:tagLst>
</file>

<file path=ppt/tags/tag70.xml><?xml version="1.0" encoding="utf-8"?>
<p:tagLst xmlns:p="http://schemas.openxmlformats.org/presentationml/2006/main">
  <p:tag name="KSO_WM_DIAGRAM_VIRTUALLY_FRAME" val="{&quot;height&quot;:56.8,&quot;left&quot;:99.55,&quot;top&quot;:347.25,&quot;width&quot;:749.35}"/>
</p:tagLst>
</file>

<file path=ppt/tags/tag71.xml><?xml version="1.0" encoding="utf-8"?>
<p:tagLst xmlns:p="http://schemas.openxmlformats.org/presentationml/2006/main">
  <p:tag name="KSO_WM_BEAUTIFY_FLAG" val=""/>
  <p:tag name="KSO_WM_DIAGRAM_VIRTUALLY_FRAME" val="{&quot;height&quot;:56.8,&quot;left&quot;:99.55,&quot;top&quot;:347.25,&quot;width&quot;:749.35}"/>
</p:tagLst>
</file>

<file path=ppt/tags/tag72.xml><?xml version="1.0" encoding="utf-8"?>
<p:tagLst xmlns:p="http://schemas.openxmlformats.org/presentationml/2006/main">
  <p:tag name="KSO_WM_BEAUTIFY_FLAG" val=""/>
  <p:tag name="KSO_WM_DIAGRAM_VIRTUALLY_FRAME" val="{&quot;height&quot;:56.8,&quot;left&quot;:99.55,&quot;top&quot;:347.25,&quot;width&quot;:749.35}"/>
</p:tagLst>
</file>

<file path=ppt/tags/tag73.xml><?xml version="1.0" encoding="utf-8"?>
<p:tagLst xmlns:p="http://schemas.openxmlformats.org/presentationml/2006/main">
  <p:tag name="KSO_WM_BEAUTIFY_FLAG" val=""/>
  <p:tag name="KSO_WM_DIAGRAM_VIRTUALLY_FRAME" val="{&quot;height&quot;:56.8,&quot;left&quot;:99.55,&quot;top&quot;:347.25,&quot;width&quot;:749.35}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PP_MARK_KEY" val="7bd29f46-b8e6-4582-857c-02eb3b47549f"/>
  <p:tag name="COMMONDATA" val="eyJoZGlkIjoiY2IxYTc3NzQxYzYwYWY3YzFjZDE3YmJmMWE0OTZjMWUifQ=="/>
  <p:tag name="commondata" val="eyJoZGlkIjoiNGVhMGEzMzFmYzE0NDk3ZTNmMGYzOThhM2NhOTZlNTgifQ==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lang="zh-CN" altLang="en-US" sz="2000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3497</Words>
  <Application>WPS 演示</Application>
  <PresentationFormat>宽屏</PresentationFormat>
  <Paragraphs>332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6" baseType="lpstr">
      <vt:lpstr>Arial</vt:lpstr>
      <vt:lpstr>宋体</vt:lpstr>
      <vt:lpstr>Wingdings</vt:lpstr>
      <vt:lpstr>Corbel</vt:lpstr>
      <vt:lpstr>Comic Sans MS</vt:lpstr>
      <vt:lpstr>黑体</vt:lpstr>
      <vt:lpstr>Calibri Light</vt:lpstr>
      <vt:lpstr>Calibri</vt:lpstr>
      <vt:lpstr>微软雅黑</vt:lpstr>
      <vt:lpstr>Arial Unicode MS</vt:lpstr>
      <vt:lpstr>Times New Roman</vt:lpstr>
      <vt:lpstr>Cambria Math</vt:lpstr>
      <vt:lpstr>MS Mincho</vt:lpstr>
      <vt:lpstr>ksdb</vt:lpstr>
      <vt:lpstr>楷体_GB2312</vt:lpstr>
      <vt:lpstr>新宋体</vt:lpstr>
      <vt:lpstr>Office 主题</vt:lpstr>
      <vt:lpstr>第3章 软件故障机理</vt:lpstr>
      <vt:lpstr>内容</vt:lpstr>
      <vt:lpstr>引言</vt:lpstr>
      <vt:lpstr>3.1 软件失效</vt:lpstr>
      <vt:lpstr>3.1 软件失效</vt:lpstr>
      <vt:lpstr>3.1 软件失效</vt:lpstr>
      <vt:lpstr>3.1 软件失效</vt:lpstr>
      <vt:lpstr>3.1 软件失效</vt:lpstr>
      <vt:lpstr>3.1 软件失效</vt:lpstr>
      <vt:lpstr>3.1 软件失效</vt:lpstr>
      <vt:lpstr>3.1 软件失效</vt:lpstr>
      <vt:lpstr>3.1 软件失效</vt:lpstr>
      <vt:lpstr>3.2 软件故障的复杂性</vt:lpstr>
      <vt:lpstr>3.2 故障传播</vt:lpstr>
      <vt:lpstr>基于体系结构的故障传播模型</vt:lpstr>
      <vt:lpstr>基于体系结构的故障传播模型</vt:lpstr>
      <vt:lpstr>基于体系结构的故障传播模型</vt:lpstr>
      <vt:lpstr>基于体系结构的故障传播模型</vt:lpstr>
      <vt:lpstr>基于类型的故障传播模型</vt:lpstr>
      <vt:lpstr>基于类型的故障传播模型</vt:lpstr>
      <vt:lpstr>基于类型的故障传播模型</vt:lpstr>
      <vt:lpstr>基于类型的故障传播模型</vt:lpstr>
      <vt:lpstr>基于体系结构的故障传播模型</vt:lpstr>
      <vt:lpstr>基于体系结构的故障传播模型</vt:lpstr>
      <vt:lpstr>基于体系结构的故障传播模型</vt:lpstr>
      <vt:lpstr>基于体系结构的故障传播模型</vt:lpstr>
      <vt:lpstr>基于体系结构的故障传播模型</vt:lpstr>
      <vt:lpstr>基于体系结构的故障传播模型</vt:lpstr>
      <vt:lpstr>本章作业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软件分析概要</dc:title>
  <dc:creator>Microsoft</dc:creator>
  <cp:lastModifiedBy>董玉坤</cp:lastModifiedBy>
  <cp:revision>159</cp:revision>
  <dcterms:created xsi:type="dcterms:W3CDTF">2022-08-08T01:51:00Z</dcterms:created>
  <dcterms:modified xsi:type="dcterms:W3CDTF">2024-10-16T03:22:01Z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E9266E9539684B88B8E38D15771F6DA7_12</vt:lpwstr>
  </property>
  <property fmtid="{D5CDD505-2E9C-101B-9397-08002B2CF9AE}" pid="3" name="KSOProductBuildVer">
    <vt:lpwstr>2052-12.1.0.18276</vt:lpwstr>
  </property>
</Properties>
</file>