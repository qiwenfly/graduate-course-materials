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6" r:id="rId3"/>
    <p:sldId id="257" r:id="rId4"/>
    <p:sldId id="688" r:id="rId5"/>
    <p:sldId id="585" r:id="rId6"/>
    <p:sldId id="584" r:id="rId7"/>
    <p:sldId id="586" r:id="rId8"/>
    <p:sldId id="587" r:id="rId9"/>
    <p:sldId id="588" r:id="rId10"/>
    <p:sldId id="604" r:id="rId11"/>
    <p:sldId id="605" r:id="rId12"/>
    <p:sldId id="606" r:id="rId13"/>
    <p:sldId id="607" r:id="rId14"/>
    <p:sldId id="608" r:id="rId15"/>
    <p:sldId id="590" r:id="rId16"/>
    <p:sldId id="589" r:id="rId17"/>
    <p:sldId id="592" r:id="rId18"/>
    <p:sldId id="594" r:id="rId19"/>
    <p:sldId id="593" r:id="rId20"/>
    <p:sldId id="595" r:id="rId21"/>
    <p:sldId id="731" r:id="rId22"/>
    <p:sldId id="591" r:id="rId23"/>
    <p:sldId id="730" r:id="rId24"/>
    <p:sldId id="598" r:id="rId25"/>
    <p:sldId id="691" r:id="rId26"/>
    <p:sldId id="600" r:id="rId27"/>
    <p:sldId id="597" r:id="rId28"/>
    <p:sldId id="689" r:id="rId29"/>
    <p:sldId id="733" r:id="rId30"/>
    <p:sldId id="734" r:id="rId31"/>
    <p:sldId id="735" r:id="rId32"/>
    <p:sldId id="599" r:id="rId33"/>
    <p:sldId id="692" r:id="rId34"/>
    <p:sldId id="609" r:id="rId35"/>
    <p:sldId id="610" r:id="rId36"/>
    <p:sldId id="611" r:id="rId37"/>
    <p:sldId id="737" r:id="rId38"/>
    <p:sldId id="613" r:id="rId39"/>
    <p:sldId id="614" r:id="rId40"/>
    <p:sldId id="615" r:id="rId41"/>
    <p:sldId id="616" r:id="rId42"/>
    <p:sldId id="617" r:id="rId43"/>
    <p:sldId id="618" r:id="rId44"/>
    <p:sldId id="619" r:id="rId45"/>
    <p:sldId id="620" r:id="rId46"/>
    <p:sldId id="738" r:id="rId47"/>
    <p:sldId id="739" r:id="rId48"/>
    <p:sldId id="621" r:id="rId49"/>
    <p:sldId id="623" r:id="rId50"/>
    <p:sldId id="624" r:id="rId51"/>
    <p:sldId id="625" r:id="rId52"/>
    <p:sldId id="686" r:id="rId53"/>
  </p:sldIdLst>
  <p:sldSz cx="12192000" cy="6858000"/>
  <p:notesSz cx="6858000" cy="9144000"/>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83" autoAdjust="0"/>
    <p:restoredTop sz="94660"/>
  </p:normalViewPr>
  <p:slideViewPr>
    <p:cSldViewPr snapToGrid="0">
      <p:cViewPr varScale="1">
        <p:scale>
          <a:sx n="100" d="100"/>
          <a:sy n="100" d="100"/>
        </p:scale>
        <p:origin x="96"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tags" Target="tags/tag73.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notesMaster" Target="notesMasters/notesMaster1.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38200" y="1538605"/>
            <a:ext cx="10515600" cy="4638675"/>
          </a:xfrm>
        </p:spPr>
        <p:txBody>
          <a:bodyPr/>
          <a:lstStyle>
            <a:lvl1pPr eaLnBrk="1" fontAlgn="auto" latinLnBrk="0" hangingPunct="1">
              <a:lnSpc>
                <a:spcPct val="130000"/>
              </a:lnSpc>
              <a:defRPr/>
            </a:lvl1pPr>
            <a:lvl2pPr eaLnBrk="1" fontAlgn="auto" latinLnBrk="0" hangingPunct="1">
              <a:lnSpc>
                <a:spcPct val="130000"/>
              </a:lnSpc>
              <a:defRPr/>
            </a:lvl2pPr>
            <a:lvl3pPr eaLnBrk="1" fontAlgn="auto" latinLnBrk="0" hangingPunct="1">
              <a:lnSpc>
                <a:spcPct val="130000"/>
              </a:lnSpc>
              <a:defRPr/>
            </a:lvl3pPr>
            <a:lvl4pPr eaLnBrk="1" fontAlgn="auto" latinLnBrk="0" hangingPunct="1">
              <a:lnSpc>
                <a:spcPct val="130000"/>
              </a:lnSpc>
              <a:defRPr/>
            </a:lvl4pPr>
            <a:lvl5pPr eaLnBrk="1" fontAlgn="auto" latinLnBrk="0" hangingPunct="1">
              <a:lnSpc>
                <a:spcPct val="130000"/>
              </a:lnSpc>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D90DF-7CA0-4224-96EF-983A14E1413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image" Target="../media/image2.jpeg"/><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jpeg"/><Relationship Id="rId2" Type="http://schemas.openxmlformats.org/officeDocument/2006/relationships/tags" Target="../tags/tag6.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jpeg"/><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xml"/><Relationship Id="rId3" Type="http://schemas.openxmlformats.org/officeDocument/2006/relationships/image" Target="../media/image5.jpeg"/><Relationship Id="rId2" Type="http://schemas.openxmlformats.org/officeDocument/2006/relationships/tags" Target="../tags/tag11.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xml"/><Relationship Id="rId3" Type="http://schemas.openxmlformats.org/officeDocument/2006/relationships/image" Target="../media/image6.jpeg"/><Relationship Id="rId2" Type="http://schemas.openxmlformats.org/officeDocument/2006/relationships/tags" Target="../tags/tag1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tags" Target="../tags/tag17.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tags" Target="../tags/tag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0" Type="http://schemas.openxmlformats.org/officeDocument/2006/relationships/slideLayout" Target="../slideLayouts/slideLayout2.xml"/><Relationship Id="rId1" Type="http://schemas.openxmlformats.org/officeDocument/2006/relationships/tags" Target="../tags/tag19.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0.xml"/><Relationship Id="rId2" Type="http://schemas.openxmlformats.org/officeDocument/2006/relationships/image" Target="../media/image15.png"/><Relationship Id="rId1" Type="http://schemas.openxmlformats.org/officeDocument/2006/relationships/tags" Target="../tags/tag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6" Type="http://schemas.openxmlformats.org/officeDocument/2006/relationships/slideLayout" Target="../slideLayouts/slideLayout2.xml"/><Relationship Id="rId25" Type="http://schemas.openxmlformats.org/officeDocument/2006/relationships/tags" Target="../tags/tag55.xml"/><Relationship Id="rId24" Type="http://schemas.openxmlformats.org/officeDocument/2006/relationships/tags" Target="../tags/tag54.xml"/><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2.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8" Type="http://schemas.openxmlformats.org/officeDocument/2006/relationships/slideLayout" Target="../slideLayouts/slideLayout2.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a:t>
            </a:r>
            <a:r>
              <a:rPr lang="en-US" altLang="zh-CN" dirty="0"/>
              <a:t>1</a:t>
            </a:r>
            <a:r>
              <a:rPr lang="zh-CN" altLang="en-US" dirty="0"/>
              <a:t>章 软件质量模型</a:t>
            </a:r>
            <a:endParaRPr lang="zh-CN" altLang="en-US" dirty="0"/>
          </a:p>
        </p:txBody>
      </p:sp>
      <p:sp>
        <p:nvSpPr>
          <p:cNvPr id="3" name="副标题 2"/>
          <p:cNvSpPr>
            <a:spLocks noGrp="1"/>
          </p:cNvSpPr>
          <p:nvPr>
            <p:ph type="subTitle" idx="1"/>
          </p:nvPr>
        </p:nvSpPr>
        <p:spPr>
          <a:xfrm>
            <a:off x="2667000" y="3934558"/>
            <a:ext cx="6858000" cy="866042"/>
          </a:xfrm>
        </p:spPr>
        <p:txBody>
          <a:bodyPr>
            <a:normAutofit lnSpcReduction="10000"/>
          </a:bodyPr>
          <a:lstStyle/>
          <a:p>
            <a:r>
              <a:rPr lang="zh-CN" altLang="en-US" dirty="0"/>
              <a:t>中国石油大学（华东）</a:t>
            </a:r>
            <a:endParaRPr lang="zh-CN" altLang="en-US" dirty="0"/>
          </a:p>
          <a:p>
            <a:r>
              <a:rPr lang="zh-CN" altLang="en-US" dirty="0"/>
              <a:t>青岛软件学院、计算机科学与技术学院</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00000"/>
                </a:solidFill>
              </a:rPr>
              <a:t>内容</a:t>
            </a:r>
            <a:endParaRPr lang="zh-CN" altLang="en-US" dirty="0">
              <a:solidFill>
                <a:srgbClr val="C00000"/>
              </a:solidFill>
            </a:endParaRPr>
          </a:p>
        </p:txBody>
      </p:sp>
      <p:sp>
        <p:nvSpPr>
          <p:cNvPr id="3" name="内容占位符 2"/>
          <p:cNvSpPr>
            <a:spLocks noGrp="1"/>
          </p:cNvSpPr>
          <p:nvPr>
            <p:ph idx="1"/>
          </p:nvPr>
        </p:nvSpPr>
        <p:spPr/>
        <p:txBody>
          <a:bodyPr>
            <a:normAutofit/>
          </a:bodyPr>
          <a:lstStyle/>
          <a:p>
            <a:r>
              <a:rPr lang="en-US" altLang="zh-CN" dirty="0"/>
              <a:t>1. </a:t>
            </a:r>
            <a:r>
              <a:rPr lang="zh-CN" altLang="en-US" dirty="0"/>
              <a:t>软件的复杂性</a:t>
            </a:r>
            <a:endParaRPr lang="en-US" altLang="zh-CN" dirty="0"/>
          </a:p>
          <a:p>
            <a:r>
              <a:rPr lang="en-US" altLang="zh-CN" dirty="0"/>
              <a:t>2. </a:t>
            </a:r>
            <a:r>
              <a:rPr lang="zh-CN" altLang="en-US" dirty="0"/>
              <a:t>复杂软件系统</a:t>
            </a:r>
            <a:endParaRPr lang="en-US" altLang="zh-CN" dirty="0"/>
          </a:p>
          <a:p>
            <a:r>
              <a:rPr lang="en-US" altLang="zh-CN" dirty="0"/>
              <a:t>3. </a:t>
            </a:r>
            <a:r>
              <a:rPr lang="zh-CN" altLang="en-US" dirty="0"/>
              <a:t>典型的复杂软件系统</a:t>
            </a:r>
            <a:endParaRPr lang="en-US" altLang="zh-CN" dirty="0"/>
          </a:p>
          <a:p>
            <a:r>
              <a:rPr lang="en-US" altLang="zh-CN" dirty="0"/>
              <a:t>4. </a:t>
            </a:r>
            <a:r>
              <a:rPr lang="zh-CN" altLang="en-US" dirty="0">
                <a:sym typeface="+mn-ea"/>
              </a:rPr>
              <a:t>软件的质量模型</a:t>
            </a:r>
            <a:endParaRPr lang="zh-CN" altLang="en-US" dirty="0">
              <a:sym typeface="+mn-ea"/>
            </a:endParaRPr>
          </a:p>
          <a:p>
            <a:r>
              <a:rPr lang="en-US" altLang="zh-CN" dirty="0"/>
              <a:t>5. </a:t>
            </a:r>
            <a:r>
              <a:rPr lang="zh-CN" altLang="en-US" dirty="0"/>
              <a:t>复杂软件系统的质量</a:t>
            </a:r>
            <a:endParaRPr lang="zh-CN" altLang="en-US"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课程介绍</a:t>
            </a:r>
            <a:endParaRPr lang="zh-CN" altLang="en-US"/>
          </a:p>
        </p:txBody>
      </p:sp>
      <p:sp>
        <p:nvSpPr>
          <p:cNvPr id="3" name="内容占位符 2"/>
          <p:cNvSpPr>
            <a:spLocks noGrp="1"/>
          </p:cNvSpPr>
          <p:nvPr>
            <p:ph idx="1"/>
          </p:nvPr>
        </p:nvSpPr>
        <p:spPr/>
        <p:txBody>
          <a:bodyPr>
            <a:normAutofit lnSpcReduction="10000"/>
          </a:bodyPr>
          <a:lstStyle/>
          <a:p>
            <a:r>
              <a:rPr lang="zh-CN" altLang="en-US"/>
              <a:t>软件可靠性</a:t>
            </a:r>
            <a:r>
              <a:rPr lang="en-US" altLang="zh-CN"/>
              <a:t> 16</a:t>
            </a:r>
            <a:r>
              <a:rPr lang="zh-CN" altLang="en-US"/>
              <a:t>课时，软件质量</a:t>
            </a:r>
            <a:r>
              <a:rPr lang="en-US" altLang="zh-CN"/>
              <a:t>16</a:t>
            </a:r>
            <a:r>
              <a:rPr lang="zh-CN" altLang="en-US"/>
              <a:t>课时</a:t>
            </a:r>
            <a:endParaRPr lang="zh-CN" altLang="en-US"/>
          </a:p>
          <a:p>
            <a:r>
              <a:rPr lang="zh-CN" altLang="en-US">
                <a:sym typeface="+mn-ea"/>
              </a:rPr>
              <a:t>软件可靠性任课教师：董玉坤，</a:t>
            </a:r>
            <a:r>
              <a:rPr lang="en-US" altLang="zh-CN">
                <a:sym typeface="+mn-ea"/>
              </a:rPr>
              <a:t>dongyk@upc.edu.cn</a:t>
            </a:r>
            <a:endParaRPr lang="en-US" altLang="zh-CN">
              <a:sym typeface="+mn-ea"/>
            </a:endParaRPr>
          </a:p>
          <a:p>
            <a:pPr lvl="1"/>
            <a:r>
              <a:rPr lang="zh-CN" altLang="en-US">
                <a:sym typeface="+mn-ea"/>
              </a:rPr>
              <a:t>研究方向：</a:t>
            </a:r>
            <a:r>
              <a:rPr lang="zh-CN" altLang="en-US" b="1">
                <a:solidFill>
                  <a:srgbClr val="0070C0"/>
                </a:solidFill>
                <a:sym typeface="+mn-ea"/>
              </a:rPr>
              <a:t>程序分析、软件测试、智能化软件工程、智慧油田</a:t>
            </a:r>
            <a:endParaRPr lang="zh-CN" altLang="en-US">
              <a:sym typeface="+mn-ea"/>
            </a:endParaRPr>
          </a:p>
          <a:p>
            <a:r>
              <a:rPr lang="zh-CN" altLang="en-US">
                <a:sym typeface="+mn-ea"/>
              </a:rPr>
              <a:t>考核方式：软件可靠性</a:t>
            </a:r>
            <a:r>
              <a:rPr lang="en-US" altLang="zh-CN">
                <a:sym typeface="+mn-ea"/>
              </a:rPr>
              <a:t>50%</a:t>
            </a:r>
            <a:r>
              <a:rPr lang="zh-CN" altLang="en-US">
                <a:sym typeface="+mn-ea"/>
              </a:rPr>
              <a:t>，软件质量</a:t>
            </a:r>
            <a:r>
              <a:rPr lang="en-US" altLang="zh-CN">
                <a:sym typeface="+mn-ea"/>
              </a:rPr>
              <a:t>50%</a:t>
            </a:r>
            <a:endParaRPr lang="en-US" altLang="zh-CN">
              <a:sym typeface="+mn-ea"/>
            </a:endParaRPr>
          </a:p>
          <a:p>
            <a:r>
              <a:rPr lang="zh-CN" altLang="en-US">
                <a:sym typeface="+mn-ea"/>
              </a:rPr>
              <a:t>软件可靠性成绩构成：</a:t>
            </a:r>
            <a:endParaRPr lang="zh-CN" altLang="en-US">
              <a:sym typeface="+mn-ea"/>
            </a:endParaRPr>
          </a:p>
          <a:p>
            <a:pPr lvl="1"/>
            <a:r>
              <a:rPr lang="zh-CN" altLang="en-US">
                <a:sym typeface="+mn-ea"/>
              </a:rPr>
              <a:t>平时作业：</a:t>
            </a:r>
            <a:r>
              <a:rPr lang="en-US" altLang="zh-CN">
                <a:sym typeface="+mn-ea"/>
              </a:rPr>
              <a:t>70%</a:t>
            </a:r>
            <a:endParaRPr lang="en-US" altLang="zh-CN">
              <a:sym typeface="+mn-ea"/>
            </a:endParaRPr>
          </a:p>
          <a:p>
            <a:pPr lvl="1"/>
            <a:r>
              <a:rPr lang="zh-CN" altLang="en-US">
                <a:sym typeface="+mn-ea"/>
              </a:rPr>
              <a:t>平时表现：</a:t>
            </a:r>
            <a:r>
              <a:rPr lang="en-US" altLang="zh-CN">
                <a:sym typeface="+mn-ea"/>
              </a:rPr>
              <a:t>10%</a:t>
            </a:r>
            <a:endParaRPr lang="en-US" altLang="zh-CN">
              <a:sym typeface="+mn-ea"/>
            </a:endParaRPr>
          </a:p>
          <a:p>
            <a:pPr lvl="1"/>
            <a:r>
              <a:rPr lang="zh-CN" altLang="en-US">
                <a:sym typeface="+mn-ea"/>
              </a:rPr>
              <a:t>论文讲解：</a:t>
            </a:r>
            <a:r>
              <a:rPr lang="en-US" altLang="zh-CN">
                <a:sym typeface="+mn-ea"/>
              </a:rPr>
              <a:t>20%</a:t>
            </a:r>
            <a:endParaRPr lang="en-US" altLang="zh-CN">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rPr>
              <a:t>前言</a:t>
            </a:r>
            <a:endParaRPr lang="zh-CN" altLang="en-US">
              <a:solidFill>
                <a:srgbClr val="C00000"/>
              </a:solidFill>
            </a:endParaRPr>
          </a:p>
        </p:txBody>
      </p:sp>
      <p:sp>
        <p:nvSpPr>
          <p:cNvPr id="3" name="内容占位符 2"/>
          <p:cNvSpPr>
            <a:spLocks noGrp="1"/>
          </p:cNvSpPr>
          <p:nvPr>
            <p:ph idx="1"/>
          </p:nvPr>
        </p:nvSpPr>
        <p:spPr/>
        <p:txBody>
          <a:bodyPr/>
          <a:lstStyle/>
          <a:p>
            <a:r>
              <a:rPr lang="zh-CN" altLang="en-US" b="1">
                <a:solidFill>
                  <a:srgbClr val="C00000"/>
                </a:solidFill>
              </a:rPr>
              <a:t>软件高可靠性是所有软件从业者追求的目标</a:t>
            </a:r>
            <a:endParaRPr lang="zh-CN" altLang="en-US" b="1">
              <a:solidFill>
                <a:srgbClr val="C00000"/>
              </a:solidFill>
            </a:endParaRPr>
          </a:p>
          <a:p>
            <a:endParaRPr lang="zh-CN" altLang="en-US" b="1">
              <a:solidFill>
                <a:srgbClr val="C00000"/>
              </a:solidFill>
            </a:endParaRPr>
          </a:p>
          <a:p>
            <a:r>
              <a:rPr lang="zh-CN" altLang="en-US" b="1">
                <a:solidFill>
                  <a:srgbClr val="C00000"/>
                </a:solidFill>
              </a:rPr>
              <a:t>人脑是宇宙中最复杂的结构</a:t>
            </a:r>
            <a:endParaRPr lang="zh-CN" altLang="en-US" b="1">
              <a:solidFill>
                <a:srgbClr val="C00000"/>
              </a:solidFill>
            </a:endParaRPr>
          </a:p>
          <a:p>
            <a:r>
              <a:rPr lang="zh-CN" altLang="en-US"/>
              <a:t>软件是人脑最复杂的产物之一，复杂性是软件与生俱来的特征</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rPr>
              <a:t>1.1 </a:t>
            </a:r>
            <a:r>
              <a:rPr lang="zh-CN" altLang="en-US">
                <a:solidFill>
                  <a:srgbClr val="C00000"/>
                </a:solidFill>
              </a:rPr>
              <a:t>软件的复杂性</a:t>
            </a:r>
            <a:endParaRPr lang="zh-CN" altLang="en-US">
              <a:solidFill>
                <a:srgbClr val="C00000"/>
              </a:solidFill>
            </a:endParaRPr>
          </a:p>
        </p:txBody>
      </p:sp>
      <p:sp>
        <p:nvSpPr>
          <p:cNvPr id="3" name="内容占位符 2"/>
          <p:cNvSpPr>
            <a:spLocks noGrp="1"/>
          </p:cNvSpPr>
          <p:nvPr>
            <p:ph idx="1"/>
          </p:nvPr>
        </p:nvSpPr>
        <p:spPr/>
        <p:txBody>
          <a:bodyPr/>
          <a:lstStyle/>
          <a:p>
            <a:pPr fontAlgn="auto">
              <a:lnSpc>
                <a:spcPct val="130000"/>
              </a:lnSpc>
            </a:pPr>
            <a:r>
              <a:rPr lang="zh-CN" altLang="en-US"/>
              <a:t>软件复杂性的主要三个方面：</a:t>
            </a:r>
            <a:endParaRPr lang="zh-CN" altLang="en-US"/>
          </a:p>
          <a:p>
            <a:pPr lvl="1" fontAlgn="auto">
              <a:lnSpc>
                <a:spcPct val="130000"/>
              </a:lnSpc>
            </a:pPr>
            <a:r>
              <a:rPr lang="zh-CN" altLang="en-US"/>
              <a:t>软件规模无限膨胀</a:t>
            </a:r>
            <a:endParaRPr lang="zh-CN" altLang="en-US"/>
          </a:p>
          <a:p>
            <a:pPr lvl="1" fontAlgn="auto">
              <a:lnSpc>
                <a:spcPct val="130000"/>
              </a:lnSpc>
            </a:pPr>
            <a:r>
              <a:rPr lang="zh-CN" altLang="en-US"/>
              <a:t>软件失效行为的复杂</a:t>
            </a:r>
            <a:endParaRPr lang="zh-CN" altLang="en-US"/>
          </a:p>
          <a:p>
            <a:pPr lvl="1" fontAlgn="auto">
              <a:lnSpc>
                <a:spcPct val="130000"/>
              </a:lnSpc>
            </a:pPr>
            <a:r>
              <a:rPr lang="zh-CN" altLang="en-US"/>
              <a:t>软件工程过程的复杂</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rPr>
              <a:t>1.1.1 </a:t>
            </a:r>
            <a:r>
              <a:rPr lang="zh-CN" altLang="en-US">
                <a:solidFill>
                  <a:srgbClr val="C00000"/>
                </a:solidFill>
              </a:rPr>
              <a:t>软件规模无限膨胀</a:t>
            </a:r>
            <a:endParaRPr lang="zh-CN" altLang="en-US">
              <a:solidFill>
                <a:srgbClr val="C00000"/>
              </a:solidFill>
            </a:endParaRPr>
          </a:p>
        </p:txBody>
      </p:sp>
      <p:graphicFrame>
        <p:nvGraphicFramePr>
          <p:cNvPr id="4" name="表格 3"/>
          <p:cNvGraphicFramePr/>
          <p:nvPr>
            <p:custDataLst>
              <p:tags r:id="rId1"/>
            </p:custDataLst>
          </p:nvPr>
        </p:nvGraphicFramePr>
        <p:xfrm>
          <a:off x="1044575" y="1691005"/>
          <a:ext cx="9909175" cy="4307840"/>
        </p:xfrm>
        <a:graphic>
          <a:graphicData uri="http://schemas.openxmlformats.org/drawingml/2006/table">
            <a:tbl>
              <a:tblPr firstRow="1" bandRow="1">
                <a:tableStyleId>{5C22544A-7EE6-4342-B048-85BDC9FD1C3A}</a:tableStyleId>
              </a:tblPr>
              <a:tblGrid>
                <a:gridCol w="2383155"/>
                <a:gridCol w="5015865"/>
                <a:gridCol w="2510155"/>
              </a:tblGrid>
              <a:tr h="612775">
                <a:tc>
                  <a:txBody>
                    <a:bodyPr/>
                    <a:lstStyle/>
                    <a:p>
                      <a:pPr algn="ctr">
                        <a:buNone/>
                      </a:pPr>
                      <a:r>
                        <a:rPr lang="zh-CN" altLang="en-US" sz="2400"/>
                        <a:t>大致时间</a:t>
                      </a:r>
                      <a:endParaRPr lang="zh-CN" altLang="en-US" sz="2400"/>
                    </a:p>
                  </a:txBody>
                  <a:tcPr anchor="ctr" anchorCtr="1"/>
                </a:tc>
                <a:tc>
                  <a:txBody>
                    <a:bodyPr/>
                    <a:lstStyle/>
                    <a:p>
                      <a:pPr algn="ctr">
                        <a:buNone/>
                      </a:pPr>
                      <a:r>
                        <a:rPr lang="zh-CN" altLang="en-US" sz="2400"/>
                        <a:t>软件名称</a:t>
                      </a:r>
                      <a:endParaRPr lang="zh-CN" altLang="en-US" sz="2400"/>
                    </a:p>
                  </a:txBody>
                  <a:tcPr anchor="ctr" anchorCtr="1"/>
                </a:tc>
                <a:tc>
                  <a:txBody>
                    <a:bodyPr/>
                    <a:lstStyle/>
                    <a:p>
                      <a:pPr algn="ctr">
                        <a:buNone/>
                      </a:pPr>
                      <a:r>
                        <a:rPr lang="zh-CN" altLang="en-US" sz="2400"/>
                        <a:t>代码规模</a:t>
                      </a:r>
                      <a:r>
                        <a:rPr lang="en-US" altLang="zh-CN" sz="2400"/>
                        <a:t>/</a:t>
                      </a:r>
                      <a:r>
                        <a:rPr lang="zh-CN" altLang="en-US" sz="2400"/>
                        <a:t>行</a:t>
                      </a:r>
                      <a:endParaRPr lang="zh-CN" altLang="en-US" sz="2400"/>
                    </a:p>
                  </a:txBody>
                  <a:tcPr anchor="ctr" anchorCtr="1"/>
                </a:tc>
              </a:tr>
              <a:tr h="614680">
                <a:tc>
                  <a:txBody>
                    <a:bodyPr/>
                    <a:lstStyle/>
                    <a:p>
                      <a:pPr>
                        <a:buNone/>
                      </a:pPr>
                      <a:r>
                        <a:rPr lang="en-US" altLang="zh-CN" sz="2200"/>
                        <a:t>20</a:t>
                      </a:r>
                      <a:r>
                        <a:rPr lang="zh-CN" altLang="en-US" sz="2200"/>
                        <a:t>世纪</a:t>
                      </a:r>
                      <a:r>
                        <a:rPr lang="en-US" altLang="zh-CN" sz="2200"/>
                        <a:t>90</a:t>
                      </a:r>
                      <a:r>
                        <a:rPr lang="zh-CN" altLang="en-US" sz="2200"/>
                        <a:t>年代</a:t>
                      </a:r>
                      <a:endParaRPr lang="zh-CN" altLang="en-US" sz="2200"/>
                    </a:p>
                  </a:txBody>
                  <a:tcPr anchor="ctr">
                    <a:solidFill>
                      <a:schemeClr val="accent5">
                        <a:lumMod val="20000"/>
                        <a:lumOff val="80000"/>
                      </a:schemeClr>
                    </a:solidFill>
                  </a:tcPr>
                </a:tc>
                <a:tc>
                  <a:txBody>
                    <a:bodyPr/>
                    <a:lstStyle/>
                    <a:p>
                      <a:pPr>
                        <a:buNone/>
                      </a:pPr>
                      <a:r>
                        <a:rPr lang="zh-CN" altLang="en-US" sz="2200"/>
                        <a:t>天基红外系统卫星软件</a:t>
                      </a:r>
                      <a:endParaRPr lang="zh-CN" altLang="en-US" sz="2200"/>
                    </a:p>
                  </a:txBody>
                  <a:tcPr anchor="ctr">
                    <a:solidFill>
                      <a:schemeClr val="accent5">
                        <a:lumMod val="20000"/>
                        <a:lumOff val="80000"/>
                      </a:schemeClr>
                    </a:solidFill>
                  </a:tcPr>
                </a:tc>
                <a:tc>
                  <a:txBody>
                    <a:bodyPr/>
                    <a:lstStyle/>
                    <a:p>
                      <a:pPr>
                        <a:buNone/>
                      </a:pPr>
                      <a:r>
                        <a:rPr lang="en-US" altLang="zh-CN" sz="2200"/>
                        <a:t>2.5</a:t>
                      </a:r>
                      <a:r>
                        <a:rPr lang="zh-CN" altLang="en-US" sz="2200"/>
                        <a:t>万</a:t>
                      </a:r>
                      <a:endParaRPr lang="zh-CN" altLang="en-US" sz="2200"/>
                    </a:p>
                  </a:txBody>
                  <a:tcPr anchor="ctr">
                    <a:solidFill>
                      <a:schemeClr val="accent5">
                        <a:lumMod val="20000"/>
                        <a:lumOff val="80000"/>
                      </a:schemeClr>
                    </a:solidFill>
                  </a:tcPr>
                </a:tc>
              </a:tr>
              <a:tr h="612775">
                <a:tc>
                  <a:txBody>
                    <a:bodyPr/>
                    <a:lstStyle/>
                    <a:p>
                      <a:pPr>
                        <a:buNone/>
                      </a:pPr>
                      <a:r>
                        <a:rPr lang="en-US" altLang="zh-CN" sz="2200"/>
                        <a:t>2009</a:t>
                      </a:r>
                      <a:r>
                        <a:rPr lang="zh-CN" altLang="en-US" sz="2200"/>
                        <a:t>年</a:t>
                      </a:r>
                      <a:endParaRPr lang="zh-CN" altLang="en-US" sz="2200"/>
                    </a:p>
                  </a:txBody>
                  <a:tcPr anchor="ctr">
                    <a:solidFill>
                      <a:schemeClr val="accent5">
                        <a:lumMod val="20000"/>
                        <a:lumOff val="80000"/>
                      </a:schemeClr>
                    </a:solidFill>
                  </a:tcPr>
                </a:tc>
                <a:tc>
                  <a:txBody>
                    <a:bodyPr/>
                    <a:lstStyle/>
                    <a:p>
                      <a:pPr>
                        <a:buNone/>
                      </a:pPr>
                      <a:r>
                        <a:rPr lang="zh-CN" altLang="en-US" sz="2200"/>
                        <a:t>波音</a:t>
                      </a:r>
                      <a:r>
                        <a:rPr lang="en-US" altLang="zh-CN" sz="2200"/>
                        <a:t>787</a:t>
                      </a:r>
                      <a:r>
                        <a:rPr lang="zh-CN" altLang="en-US" sz="2200"/>
                        <a:t>飞机航空电控系统</a:t>
                      </a:r>
                      <a:endParaRPr lang="zh-CN" altLang="en-US" sz="2200"/>
                    </a:p>
                  </a:txBody>
                  <a:tcPr anchor="ctr">
                    <a:solidFill>
                      <a:schemeClr val="accent5">
                        <a:lumMod val="20000"/>
                        <a:lumOff val="80000"/>
                      </a:schemeClr>
                    </a:solidFill>
                  </a:tcPr>
                </a:tc>
                <a:tc>
                  <a:txBody>
                    <a:bodyPr/>
                    <a:lstStyle/>
                    <a:p>
                      <a:pPr>
                        <a:buNone/>
                      </a:pPr>
                      <a:r>
                        <a:rPr lang="en-US" altLang="zh-CN" sz="2200"/>
                        <a:t>650</a:t>
                      </a:r>
                      <a:r>
                        <a:rPr lang="zh-CN" altLang="en-US" sz="2200"/>
                        <a:t>万</a:t>
                      </a:r>
                      <a:endParaRPr lang="zh-CN" altLang="en-US" sz="2200"/>
                    </a:p>
                  </a:txBody>
                  <a:tcPr anchor="ctr">
                    <a:solidFill>
                      <a:schemeClr val="accent5">
                        <a:lumMod val="20000"/>
                        <a:lumOff val="80000"/>
                      </a:schemeClr>
                    </a:solidFill>
                  </a:tcPr>
                </a:tc>
              </a:tr>
              <a:tr h="627380">
                <a:tc>
                  <a:txBody>
                    <a:bodyPr/>
                    <a:lstStyle/>
                    <a:p>
                      <a:pPr>
                        <a:buNone/>
                      </a:pPr>
                      <a:r>
                        <a:rPr lang="en-US" altLang="zh-CN" sz="2200"/>
                        <a:t>2010</a:t>
                      </a:r>
                      <a:r>
                        <a:rPr lang="zh-CN" altLang="en-US" sz="2200"/>
                        <a:t>年</a:t>
                      </a:r>
                      <a:endParaRPr lang="zh-CN" altLang="en-US" sz="2200"/>
                    </a:p>
                  </a:txBody>
                  <a:tcPr anchor="ctr">
                    <a:solidFill>
                      <a:schemeClr val="accent5">
                        <a:lumMod val="20000"/>
                        <a:lumOff val="80000"/>
                      </a:schemeClr>
                    </a:solidFill>
                  </a:tcPr>
                </a:tc>
                <a:tc>
                  <a:txBody>
                    <a:bodyPr/>
                    <a:lstStyle/>
                    <a:p>
                      <a:pPr>
                        <a:buNone/>
                      </a:pPr>
                      <a:r>
                        <a:rPr lang="zh-CN" altLang="en-US" sz="2200"/>
                        <a:t>通用公司的福特汽车车载计算软件</a:t>
                      </a:r>
                      <a:endParaRPr lang="zh-CN" altLang="en-US" sz="2200"/>
                    </a:p>
                  </a:txBody>
                  <a:tcPr anchor="ctr">
                    <a:solidFill>
                      <a:schemeClr val="accent5">
                        <a:lumMod val="20000"/>
                        <a:lumOff val="80000"/>
                      </a:schemeClr>
                    </a:solidFill>
                  </a:tcPr>
                </a:tc>
                <a:tc>
                  <a:txBody>
                    <a:bodyPr/>
                    <a:lstStyle/>
                    <a:p>
                      <a:pPr>
                        <a:buNone/>
                      </a:pPr>
                      <a:r>
                        <a:rPr lang="en-US" altLang="zh-CN" sz="2200"/>
                        <a:t>1000</a:t>
                      </a:r>
                      <a:r>
                        <a:rPr lang="zh-CN" altLang="en-US" sz="2200"/>
                        <a:t>万</a:t>
                      </a:r>
                      <a:endParaRPr lang="zh-CN" altLang="en-US" sz="2200"/>
                    </a:p>
                  </a:txBody>
                  <a:tcPr anchor="ctr">
                    <a:solidFill>
                      <a:schemeClr val="accent5">
                        <a:lumMod val="20000"/>
                        <a:lumOff val="80000"/>
                      </a:schemeClr>
                    </a:solidFill>
                  </a:tcPr>
                </a:tc>
              </a:tr>
              <a:tr h="614680">
                <a:tc>
                  <a:txBody>
                    <a:bodyPr/>
                    <a:lstStyle/>
                    <a:p>
                      <a:pPr>
                        <a:buNone/>
                      </a:pPr>
                      <a:r>
                        <a:rPr lang="en-US" altLang="zh-CN" sz="2200"/>
                        <a:t>2015</a:t>
                      </a:r>
                      <a:r>
                        <a:rPr lang="zh-CN" altLang="en-US" sz="2200"/>
                        <a:t>年</a:t>
                      </a:r>
                      <a:endParaRPr lang="zh-CN" altLang="en-US" sz="2200"/>
                    </a:p>
                  </a:txBody>
                  <a:tcPr anchor="ctr">
                    <a:solidFill>
                      <a:schemeClr val="accent5">
                        <a:lumMod val="20000"/>
                        <a:lumOff val="80000"/>
                      </a:schemeClr>
                    </a:solidFill>
                  </a:tcPr>
                </a:tc>
                <a:tc>
                  <a:txBody>
                    <a:bodyPr/>
                    <a:lstStyle/>
                    <a:p>
                      <a:pPr>
                        <a:buNone/>
                      </a:pPr>
                      <a:r>
                        <a:rPr lang="en-US" altLang="zh-CN" sz="2200"/>
                        <a:t>F-35</a:t>
                      </a:r>
                      <a:r>
                        <a:rPr lang="zh-CN" altLang="en-US" sz="2200"/>
                        <a:t>机载软件</a:t>
                      </a:r>
                      <a:endParaRPr lang="zh-CN" altLang="en-US" sz="2200"/>
                    </a:p>
                  </a:txBody>
                  <a:tcPr anchor="ctr">
                    <a:solidFill>
                      <a:schemeClr val="accent5">
                        <a:lumMod val="20000"/>
                        <a:lumOff val="80000"/>
                      </a:schemeClr>
                    </a:solidFill>
                  </a:tcPr>
                </a:tc>
                <a:tc>
                  <a:txBody>
                    <a:bodyPr/>
                    <a:lstStyle/>
                    <a:p>
                      <a:pPr>
                        <a:buNone/>
                      </a:pPr>
                      <a:r>
                        <a:rPr lang="en-US" altLang="zh-CN" sz="2200"/>
                        <a:t>1200</a:t>
                      </a:r>
                      <a:r>
                        <a:rPr lang="zh-CN" altLang="en-US" sz="2200"/>
                        <a:t>万</a:t>
                      </a:r>
                      <a:endParaRPr lang="zh-CN" altLang="en-US" sz="2200"/>
                    </a:p>
                  </a:txBody>
                  <a:tcPr anchor="ctr">
                    <a:solidFill>
                      <a:schemeClr val="accent5">
                        <a:lumMod val="20000"/>
                        <a:lumOff val="80000"/>
                      </a:schemeClr>
                    </a:solidFill>
                  </a:tcPr>
                </a:tc>
              </a:tr>
              <a:tr h="612775">
                <a:tc>
                  <a:txBody>
                    <a:bodyPr/>
                    <a:lstStyle/>
                    <a:p>
                      <a:pPr>
                        <a:buNone/>
                      </a:pPr>
                      <a:r>
                        <a:rPr lang="en-US" altLang="zh-CN" sz="2200"/>
                        <a:t>2020</a:t>
                      </a:r>
                      <a:r>
                        <a:rPr lang="zh-CN" altLang="en-US" sz="2200"/>
                        <a:t>年</a:t>
                      </a:r>
                      <a:endParaRPr lang="zh-CN" altLang="en-US" sz="2200"/>
                    </a:p>
                  </a:txBody>
                  <a:tcPr anchor="ctr">
                    <a:solidFill>
                      <a:schemeClr val="accent5">
                        <a:lumMod val="20000"/>
                        <a:lumOff val="80000"/>
                      </a:schemeClr>
                    </a:solidFill>
                  </a:tcPr>
                </a:tc>
                <a:tc>
                  <a:txBody>
                    <a:bodyPr/>
                    <a:lstStyle/>
                    <a:p>
                      <a:pPr>
                        <a:buNone/>
                      </a:pPr>
                      <a:r>
                        <a:rPr lang="en-US" altLang="zh-CN" sz="2200"/>
                        <a:t>Linux</a:t>
                      </a:r>
                      <a:r>
                        <a:rPr lang="zh-CN" altLang="en-US" sz="2200"/>
                        <a:t>内核代码</a:t>
                      </a:r>
                      <a:endParaRPr lang="zh-CN" altLang="en-US" sz="2200"/>
                    </a:p>
                  </a:txBody>
                  <a:tcPr anchor="ctr">
                    <a:solidFill>
                      <a:schemeClr val="accent5">
                        <a:lumMod val="20000"/>
                        <a:lumOff val="80000"/>
                      </a:schemeClr>
                    </a:solidFill>
                  </a:tcPr>
                </a:tc>
                <a:tc>
                  <a:txBody>
                    <a:bodyPr/>
                    <a:lstStyle/>
                    <a:p>
                      <a:pPr>
                        <a:buNone/>
                      </a:pPr>
                      <a:r>
                        <a:rPr lang="en-US" altLang="zh-CN" sz="2200"/>
                        <a:t>2700</a:t>
                      </a:r>
                      <a:r>
                        <a:rPr lang="zh-CN" altLang="en-US" sz="2200"/>
                        <a:t>万</a:t>
                      </a:r>
                      <a:endParaRPr lang="zh-CN" altLang="en-US" sz="2200"/>
                    </a:p>
                  </a:txBody>
                  <a:tcPr anchor="ctr">
                    <a:solidFill>
                      <a:schemeClr val="accent5">
                        <a:lumMod val="20000"/>
                        <a:lumOff val="80000"/>
                      </a:schemeClr>
                    </a:solidFill>
                  </a:tcPr>
                </a:tc>
              </a:tr>
              <a:tr h="612775">
                <a:tc>
                  <a:txBody>
                    <a:bodyPr/>
                    <a:p>
                      <a:pPr>
                        <a:buNone/>
                      </a:pPr>
                      <a:r>
                        <a:rPr lang="en-US" altLang="zh-CN" sz="2200"/>
                        <a:t>2025</a:t>
                      </a:r>
                      <a:r>
                        <a:rPr lang="zh-CN" altLang="en-US" sz="2200"/>
                        <a:t>年</a:t>
                      </a:r>
                      <a:endParaRPr lang="zh-CN" altLang="en-US" sz="2200"/>
                    </a:p>
                  </a:txBody>
                  <a:tcPr anchor="ctr">
                    <a:solidFill>
                      <a:schemeClr val="accent5">
                        <a:lumMod val="20000"/>
                        <a:lumOff val="80000"/>
                      </a:schemeClr>
                    </a:solidFill>
                  </a:tcPr>
                </a:tc>
                <a:tc>
                  <a:txBody>
                    <a:bodyPr/>
                    <a:p>
                      <a:pPr>
                        <a:buNone/>
                      </a:pPr>
                      <a:r>
                        <a:rPr lang="zh-CN" altLang="en-US" sz="2200"/>
                        <a:t>比亚迪电动汽车车载</a:t>
                      </a:r>
                      <a:r>
                        <a:rPr lang="zh-CN" altLang="en-US" sz="2200"/>
                        <a:t>软件</a:t>
                      </a:r>
                      <a:endParaRPr lang="zh-CN" altLang="en-US" sz="2200"/>
                    </a:p>
                  </a:txBody>
                  <a:tcPr anchor="ctr">
                    <a:solidFill>
                      <a:schemeClr val="accent5">
                        <a:lumMod val="20000"/>
                        <a:lumOff val="80000"/>
                      </a:schemeClr>
                    </a:solidFill>
                  </a:tcPr>
                </a:tc>
                <a:tc>
                  <a:txBody>
                    <a:bodyPr/>
                    <a:p>
                      <a:pPr>
                        <a:buNone/>
                      </a:pPr>
                      <a:r>
                        <a:rPr lang="en-US" altLang="zh-CN" sz="2200"/>
                        <a:t>1</a:t>
                      </a:r>
                      <a:r>
                        <a:rPr lang="zh-CN" altLang="en-US" sz="2200"/>
                        <a:t>亿行</a:t>
                      </a:r>
                      <a:endParaRPr lang="zh-CN" altLang="en-US" sz="2200"/>
                    </a:p>
                  </a:txBody>
                  <a:tcPr anchor="ctr">
                    <a:solidFill>
                      <a:schemeClr val="accent5">
                        <a:lumMod val="20000"/>
                        <a:lumOff val="80000"/>
                      </a:schemeClr>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solidFill>
                <a:srgbClr val="C00000"/>
              </a:solidFill>
              <a:sym typeface="+mn-ea"/>
            </a:endParaRPr>
          </a:p>
        </p:txBody>
      </p:sp>
      <p:sp>
        <p:nvSpPr>
          <p:cNvPr id="3" name="内容占位符 2"/>
          <p:cNvSpPr>
            <a:spLocks noGrp="1"/>
          </p:cNvSpPr>
          <p:nvPr>
            <p:ph idx="1"/>
          </p:nvPr>
        </p:nvSpPr>
        <p:spPr>
          <a:xfrm>
            <a:off x="838200" y="1543050"/>
            <a:ext cx="10713085" cy="4634230"/>
          </a:xfrm>
        </p:spPr>
        <p:txBody>
          <a:bodyPr/>
          <a:lstStyle/>
          <a:p>
            <a:r>
              <a:rPr lang="zh-CN" altLang="en-US" b="1" dirty="0">
                <a:latin typeface="Times New Roman" panose="02020603050405020304" pitchFamily="18" charset="0"/>
                <a:cs typeface="Times New Roman" panose="02020603050405020304" pitchFamily="18" charset="0"/>
                <a:sym typeface="+mn-ea"/>
              </a:rPr>
              <a:t>阿丽亚娜</a:t>
            </a:r>
            <a:r>
              <a:rPr lang="en-US" altLang="zh-CN" b="1" dirty="0">
                <a:latin typeface="Times New Roman" panose="02020603050405020304" pitchFamily="18" charset="0"/>
                <a:cs typeface="Times New Roman" panose="02020603050405020304" pitchFamily="18" charset="0"/>
                <a:sym typeface="+mn-ea"/>
              </a:rPr>
              <a:t>5</a:t>
            </a:r>
            <a:r>
              <a:rPr lang="zh-CN" altLang="en-US" b="1" dirty="0">
                <a:latin typeface="Times New Roman" panose="02020603050405020304" pitchFamily="18" charset="0"/>
                <a:cs typeface="Times New Roman" panose="02020603050405020304" pitchFamily="18" charset="0"/>
                <a:sym typeface="+mn-ea"/>
              </a:rPr>
              <a:t>火箭</a:t>
            </a:r>
            <a:endParaRPr lang="zh-CN" altLang="en-US" b="1" dirty="0">
              <a:latin typeface="Times New Roman" panose="02020603050405020304" pitchFamily="18" charset="0"/>
              <a:cs typeface="Times New Roman" panose="02020603050405020304" pitchFamily="18" charset="0"/>
              <a:sym typeface="+mn-ea"/>
            </a:endParaRPr>
          </a:p>
          <a:p>
            <a:pPr lvl="1"/>
            <a:r>
              <a:rPr lang="en-US" altLang="zh-CN" dirty="0">
                <a:latin typeface="Times New Roman" panose="02020603050405020304" pitchFamily="18" charset="0"/>
                <a:cs typeface="Times New Roman" panose="02020603050405020304" pitchFamily="18" charset="0"/>
                <a:sym typeface="+mn-ea"/>
              </a:rPr>
              <a:t>1996</a:t>
            </a:r>
            <a:r>
              <a:rPr lang="zh-CN" altLang="en-US" dirty="0">
                <a:latin typeface="Times New Roman" panose="02020603050405020304" pitchFamily="18" charset="0"/>
                <a:cs typeface="Times New Roman" panose="02020603050405020304" pitchFamily="18" charset="0"/>
                <a:sym typeface="+mn-ea"/>
              </a:rPr>
              <a:t>年</a:t>
            </a:r>
            <a:r>
              <a:rPr lang="en-US" altLang="zh-CN" dirty="0">
                <a:latin typeface="Times New Roman" panose="02020603050405020304" pitchFamily="18" charset="0"/>
                <a:cs typeface="Times New Roman" panose="02020603050405020304" pitchFamily="18" charset="0"/>
                <a:sym typeface="+mn-ea"/>
              </a:rPr>
              <a:t>6</a:t>
            </a:r>
            <a:r>
              <a:rPr lang="zh-CN" altLang="en-US" dirty="0">
                <a:latin typeface="Times New Roman" panose="02020603050405020304" pitchFamily="18" charset="0"/>
                <a:cs typeface="Times New Roman" panose="02020603050405020304" pitchFamily="18" charset="0"/>
                <a:sym typeface="+mn-ea"/>
              </a:rPr>
              <a:t>月，阿丽亚娜</a:t>
            </a:r>
            <a:r>
              <a:rPr lang="en-US" altLang="zh-CN" dirty="0">
                <a:latin typeface="Times New Roman" panose="02020603050405020304" pitchFamily="18" charset="0"/>
                <a:cs typeface="Times New Roman" panose="02020603050405020304" pitchFamily="18" charset="0"/>
                <a:sym typeface="+mn-ea"/>
              </a:rPr>
              <a:t>5</a:t>
            </a:r>
            <a:r>
              <a:rPr lang="zh-CN" altLang="en-US" dirty="0">
                <a:latin typeface="Times New Roman" panose="02020603050405020304" pitchFamily="18" charset="0"/>
                <a:cs typeface="Times New Roman" panose="02020603050405020304" pitchFamily="18" charset="0"/>
                <a:sym typeface="+mn-ea"/>
              </a:rPr>
              <a:t>号火箭进行了首次飞行，称为</a:t>
            </a:r>
            <a:r>
              <a:rPr lang="en-US" altLang="zh-CN" dirty="0">
                <a:latin typeface="Times New Roman" panose="02020603050405020304" pitchFamily="18" charset="0"/>
                <a:cs typeface="Times New Roman" panose="02020603050405020304" pitchFamily="18" charset="0"/>
                <a:sym typeface="+mn-ea"/>
              </a:rPr>
              <a:t>501</a:t>
            </a:r>
            <a:r>
              <a:rPr lang="zh-CN" altLang="en-US" dirty="0">
                <a:latin typeface="Times New Roman" panose="02020603050405020304" pitchFamily="18" charset="0"/>
                <a:cs typeface="Times New Roman" panose="02020603050405020304" pitchFamily="18" charset="0"/>
                <a:sym typeface="+mn-ea"/>
              </a:rPr>
              <a:t>航班。火箭发射后</a:t>
            </a:r>
            <a:r>
              <a:rPr lang="en-US" altLang="zh-CN" dirty="0">
                <a:latin typeface="Times New Roman" panose="02020603050405020304" pitchFamily="18" charset="0"/>
                <a:cs typeface="Times New Roman" panose="02020603050405020304" pitchFamily="18" charset="0"/>
                <a:sym typeface="+mn-ea"/>
              </a:rPr>
              <a:t>37</a:t>
            </a:r>
            <a:r>
              <a:rPr lang="zh-CN" altLang="en-US" dirty="0">
                <a:latin typeface="Times New Roman" panose="02020603050405020304" pitchFamily="18" charset="0"/>
                <a:cs typeface="Times New Roman" panose="02020603050405020304" pitchFamily="18" charset="0"/>
                <a:sym typeface="+mn-ea"/>
              </a:rPr>
              <a:t>秒自毁，导致任务失败，损失约</a:t>
            </a:r>
            <a:r>
              <a:rPr lang="en-US" altLang="zh-CN" dirty="0">
                <a:latin typeface="Times New Roman" panose="02020603050405020304" pitchFamily="18" charset="0"/>
                <a:cs typeface="Times New Roman" panose="02020603050405020304" pitchFamily="18" charset="0"/>
                <a:sym typeface="+mn-ea"/>
              </a:rPr>
              <a:t>3.7</a:t>
            </a:r>
            <a:r>
              <a:rPr lang="zh-CN" altLang="en-US" dirty="0">
                <a:latin typeface="Times New Roman" panose="02020603050405020304" pitchFamily="18" charset="0"/>
                <a:cs typeface="Times New Roman" panose="02020603050405020304" pitchFamily="18" charset="0"/>
                <a:sym typeface="+mn-ea"/>
              </a:rPr>
              <a:t>亿美元。</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sym typeface="+mn-ea"/>
              </a:rPr>
              <a:t>失败是由于数据从</a:t>
            </a:r>
            <a:r>
              <a:rPr lang="en-US" altLang="zh-CN" dirty="0">
                <a:solidFill>
                  <a:srgbClr val="FF0000"/>
                </a:solidFill>
                <a:latin typeface="Times New Roman" panose="02020603050405020304" pitchFamily="18" charset="0"/>
                <a:cs typeface="Times New Roman" panose="02020603050405020304" pitchFamily="18" charset="0"/>
                <a:sym typeface="+mn-ea"/>
              </a:rPr>
              <a:t>64</a:t>
            </a:r>
            <a:r>
              <a:rPr lang="zh-CN" altLang="en-US" dirty="0">
                <a:solidFill>
                  <a:srgbClr val="FF0000"/>
                </a:solidFill>
                <a:latin typeface="Times New Roman" panose="02020603050405020304" pitchFamily="18" charset="0"/>
                <a:cs typeface="Times New Roman" panose="02020603050405020304" pitchFamily="18" charset="0"/>
                <a:sym typeface="+mn-ea"/>
              </a:rPr>
              <a:t>位浮点值转换为</a:t>
            </a:r>
            <a:r>
              <a:rPr lang="en-US" altLang="zh-CN" dirty="0">
                <a:solidFill>
                  <a:srgbClr val="FF0000"/>
                </a:solidFill>
                <a:latin typeface="Times New Roman" panose="02020603050405020304" pitchFamily="18" charset="0"/>
                <a:cs typeface="Times New Roman" panose="02020603050405020304" pitchFamily="18" charset="0"/>
                <a:sym typeface="+mn-ea"/>
              </a:rPr>
              <a:t>16</a:t>
            </a:r>
            <a:r>
              <a:rPr lang="zh-CN" altLang="en-US" dirty="0">
                <a:solidFill>
                  <a:srgbClr val="FF0000"/>
                </a:solidFill>
                <a:latin typeface="Times New Roman" panose="02020603050405020304" pitchFamily="18" charset="0"/>
                <a:cs typeface="Times New Roman" panose="02020603050405020304" pitchFamily="18" charset="0"/>
                <a:sym typeface="+mn-ea"/>
              </a:rPr>
              <a:t>位带符号整数值而导致整数溢出</a:t>
            </a:r>
            <a:r>
              <a:rPr lang="zh-CN" altLang="en-US" dirty="0">
                <a:latin typeface="Times New Roman" panose="02020603050405020304" pitchFamily="18" charset="0"/>
                <a:cs typeface="Times New Roman" panose="02020603050405020304" pitchFamily="18" charset="0"/>
                <a:sym typeface="+mn-ea"/>
              </a:rPr>
              <a:t>。</a:t>
            </a:r>
            <a:endParaRPr lang="zh-CN" altLang="en-US" dirty="0">
              <a:latin typeface="Times New Roman" panose="02020603050405020304" pitchFamily="18" charset="0"/>
              <a:cs typeface="Times New Roman" panose="02020603050405020304" pitchFamily="18" charset="0"/>
            </a:endParaRPr>
          </a:p>
          <a:p>
            <a:endParaRPr lang="zh-CN" altLang="en-US"/>
          </a:p>
        </p:txBody>
      </p:sp>
      <p:pic>
        <p:nvPicPr>
          <p:cNvPr id="5" name="图片 4"/>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3277235" y="4133368"/>
            <a:ext cx="5834836" cy="2362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p>
        </p:txBody>
      </p:sp>
      <p:sp>
        <p:nvSpPr>
          <p:cNvPr id="3" name="内容占位符 2"/>
          <p:cNvSpPr>
            <a:spLocks noGrp="1"/>
          </p:cNvSpPr>
          <p:nvPr>
            <p:ph idx="1"/>
          </p:nvPr>
        </p:nvSpPr>
        <p:spPr>
          <a:xfrm>
            <a:off x="838200" y="1498600"/>
            <a:ext cx="10515600" cy="2892425"/>
          </a:xfrm>
        </p:spPr>
        <p:txBody>
          <a:bodyPr/>
          <a:lstStyle/>
          <a:p>
            <a:r>
              <a:rPr lang="zh-CN" altLang="en-US" b="1" dirty="0">
                <a:latin typeface="Times New Roman" panose="02020603050405020304" pitchFamily="18" charset="0"/>
                <a:cs typeface="Times New Roman" panose="02020603050405020304" pitchFamily="18" charset="0"/>
                <a:sym typeface="+mn-ea"/>
              </a:rPr>
              <a:t>爱国者导弹系统</a:t>
            </a:r>
            <a:endParaRPr lang="zh-CN" altLang="en-US" b="1"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爱国者导弹系统是旨在击落敌机的地对空导弹系统。</a:t>
            </a:r>
            <a:r>
              <a:rPr lang="en-US" altLang="zh-CN" dirty="0">
                <a:latin typeface="Times New Roman" panose="02020603050405020304" pitchFamily="18" charset="0"/>
                <a:cs typeface="Times New Roman" panose="02020603050405020304" pitchFamily="18" charset="0"/>
                <a:sym typeface="+mn-ea"/>
              </a:rPr>
              <a:t>1991</a:t>
            </a:r>
            <a:r>
              <a:rPr lang="zh-CN" altLang="en-US" dirty="0">
                <a:latin typeface="Times New Roman" panose="02020603050405020304" pitchFamily="18" charset="0"/>
                <a:cs typeface="Times New Roman" panose="02020603050405020304" pitchFamily="18" charset="0"/>
                <a:sym typeface="+mn-ea"/>
              </a:rPr>
              <a:t>年</a:t>
            </a:r>
            <a:r>
              <a:rPr lang="en-US" altLang="zh-CN" dirty="0">
                <a:latin typeface="Times New Roman" panose="02020603050405020304" pitchFamily="18" charset="0"/>
                <a:cs typeface="Times New Roman" panose="02020603050405020304" pitchFamily="18" charset="0"/>
                <a:sym typeface="+mn-ea"/>
              </a:rPr>
              <a:t>2</a:t>
            </a:r>
            <a:r>
              <a:rPr lang="zh-CN" altLang="en-US" dirty="0">
                <a:latin typeface="Times New Roman" panose="02020603050405020304" pitchFamily="18" charset="0"/>
                <a:cs typeface="Times New Roman" panose="02020603050405020304" pitchFamily="18" charset="0"/>
                <a:sym typeface="+mn-ea"/>
              </a:rPr>
              <a:t>月，一枚敌方导弹袭击了沙特阿拉伯的美国部队兵营，当时一连串爱国者导弹未能拦截进来的飞毛腿导弹。结果是有</a:t>
            </a:r>
            <a:r>
              <a:rPr lang="en-US" altLang="zh-CN" dirty="0">
                <a:latin typeface="Times New Roman" panose="02020603050405020304" pitchFamily="18" charset="0"/>
                <a:cs typeface="Times New Roman" panose="02020603050405020304" pitchFamily="18" charset="0"/>
                <a:sym typeface="+mn-ea"/>
              </a:rPr>
              <a:t>28</a:t>
            </a:r>
            <a:r>
              <a:rPr lang="zh-CN" altLang="en-US" dirty="0">
                <a:latin typeface="Times New Roman" panose="02020603050405020304" pitchFamily="18" charset="0"/>
                <a:cs typeface="Times New Roman" panose="02020603050405020304" pitchFamily="18" charset="0"/>
                <a:sym typeface="+mn-ea"/>
              </a:rPr>
              <a:t>名死亡士兵和</a:t>
            </a:r>
            <a:r>
              <a:rPr lang="en-US" altLang="zh-CN" dirty="0">
                <a:latin typeface="Times New Roman" panose="02020603050405020304" pitchFamily="18" charset="0"/>
                <a:cs typeface="Times New Roman" panose="02020603050405020304" pitchFamily="18" charset="0"/>
                <a:sym typeface="+mn-ea"/>
              </a:rPr>
              <a:t>100</a:t>
            </a:r>
            <a:r>
              <a:rPr lang="zh-CN" altLang="en-US" dirty="0">
                <a:latin typeface="Times New Roman" panose="02020603050405020304" pitchFamily="18" charset="0"/>
                <a:cs typeface="Times New Roman" panose="02020603050405020304" pitchFamily="18" charset="0"/>
                <a:sym typeface="+mn-ea"/>
              </a:rPr>
              <a:t>多名其他人员伤亡。</a:t>
            </a:r>
            <a:endParaRPr lang="zh-CN" altLang="en-US" dirty="0">
              <a:latin typeface="Times New Roman" panose="02020603050405020304" pitchFamily="18" charset="0"/>
              <a:cs typeface="Times New Roman" panose="02020603050405020304" pitchFamily="18" charset="0"/>
            </a:endParaRPr>
          </a:p>
          <a:p>
            <a:pPr lvl="1"/>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7340600" y="4133215"/>
            <a:ext cx="4848225" cy="2723515"/>
          </a:xfrm>
          <a:prstGeom prst="rect">
            <a:avLst/>
          </a:prstGeom>
        </p:spPr>
      </p:pic>
      <p:sp>
        <p:nvSpPr>
          <p:cNvPr id="6" name="内容占位符 2"/>
          <p:cNvSpPr txBox="1"/>
          <p:nvPr>
            <p:custDataLst>
              <p:tags r:id="rId3"/>
            </p:custDataLst>
          </p:nvPr>
        </p:nvSpPr>
        <p:spPr bwMode="auto">
          <a:xfrm>
            <a:off x="1166495" y="4009390"/>
            <a:ext cx="4932045" cy="2981960"/>
          </a:xfrm>
          <a:prstGeom prst="rect">
            <a:avLst/>
          </a:prstGeom>
          <a:noFill/>
          <a:ln w="9525">
            <a:noFill/>
            <a:miter lim="800000"/>
          </a:ln>
        </p:spPr>
        <p:txBody>
          <a:bodyPr vert="horz" wrap="square" lIns="91440" tIns="45720" rIns="91440" bIns="45720" numCol="1" anchor="t" anchorCtr="0" compatLnSpc="1"/>
          <a:lstStyle>
            <a:lvl1pPr marL="360045" indent="-342900" algn="l" rtl="0" eaLnBrk="0" fontAlgn="base" hangingPunct="0">
              <a:spcBef>
                <a:spcPts val="600"/>
              </a:spcBef>
              <a:spcAft>
                <a:spcPts val="600"/>
              </a:spcAft>
              <a:buClr>
                <a:srgbClr val="006600"/>
              </a:buClr>
              <a:buSzPct val="75000"/>
              <a:buFont typeface="Wingdings" panose="05000000000000000000" pitchFamily="2" charset="2"/>
              <a:buChar char="l"/>
              <a:defRPr sz="2800">
                <a:solidFill>
                  <a:schemeClr val="tx1"/>
                </a:solidFill>
                <a:latin typeface="黑体" panose="02010609060101010101" pitchFamily="2" charset="-122"/>
                <a:ea typeface="黑体" panose="02010609060101010101" pitchFamily="2" charset="-122"/>
                <a:cs typeface="+mn-cs"/>
              </a:defRPr>
            </a:lvl1pPr>
            <a:lvl2pPr marL="742950" indent="-285750" algn="l" rtl="0" eaLnBrk="0" fontAlgn="base" hangingPunct="0">
              <a:spcBef>
                <a:spcPts val="600"/>
              </a:spcBef>
              <a:spcAft>
                <a:spcPts val="600"/>
              </a:spcAft>
              <a:buClr>
                <a:srgbClr val="008000"/>
              </a:buClr>
              <a:buSzPct val="70000"/>
              <a:buFont typeface="Wingdings" panose="05000000000000000000" pitchFamily="2" charset="2"/>
              <a:buChar char="Ø"/>
              <a:defRPr sz="2400" b="0">
                <a:solidFill>
                  <a:schemeClr val="tx1"/>
                </a:solidFill>
                <a:latin typeface="楷体" panose="02010609060101010101" pitchFamily="49" charset="-122"/>
                <a:ea typeface="楷体" panose="02010609060101010101" pitchFamily="49" charset="-122"/>
                <a:cs typeface="楷体_GB2312"/>
              </a:defRPr>
            </a:lvl2pPr>
            <a:lvl3pPr marL="1143000" indent="-228600" algn="l" rtl="0" eaLnBrk="0" fontAlgn="base" hangingPunct="0">
              <a:spcBef>
                <a:spcPct val="20000"/>
              </a:spcBef>
              <a:spcAft>
                <a:spcPct val="0"/>
              </a:spcAft>
              <a:buClr>
                <a:srgbClr val="008000"/>
              </a:buClr>
              <a:buFont typeface="Wingdings" panose="05000000000000000000" pitchFamily="2" charset="2"/>
              <a:buChar char="ü"/>
              <a:defRPr sz="2200" b="0">
                <a:solidFill>
                  <a:schemeClr val="tx1"/>
                </a:solidFill>
                <a:latin typeface="宋体" panose="02010600030101010101" pitchFamily="2" charset="-122"/>
                <a:ea typeface="宋体" panose="02010600030101010101" pitchFamily="2" charset="-122"/>
                <a:cs typeface="楷体_GB2312"/>
              </a:defRPr>
            </a:lvl3pPr>
            <a:lvl4pPr marL="1600200" indent="-228600" algn="l" rtl="0" eaLnBrk="0" fontAlgn="base" hangingPunct="0">
              <a:spcBef>
                <a:spcPct val="20000"/>
              </a:spcBef>
              <a:spcAft>
                <a:spcPct val="0"/>
              </a:spcAft>
              <a:buClr>
                <a:srgbClr val="008000"/>
              </a:buClr>
              <a:buFont typeface="Arial" panose="020B0604020202020204" pitchFamily="34" charset="0"/>
              <a:buChar char="–"/>
              <a:defRPr sz="2000">
                <a:solidFill>
                  <a:schemeClr val="tx1"/>
                </a:solidFill>
                <a:latin typeface="+mn-lt"/>
                <a:ea typeface="+mj-ea"/>
                <a:cs typeface="楷体_GB2312"/>
              </a:defRPr>
            </a:lvl4pPr>
            <a:lvl5pPr marL="2057400" indent="-228600" algn="l" rtl="0" eaLnBrk="0" fontAlgn="base" hangingPunct="0">
              <a:spcBef>
                <a:spcPct val="20000"/>
              </a:spcBef>
              <a:spcAft>
                <a:spcPct val="0"/>
              </a:spcAft>
              <a:buChar char="»"/>
              <a:defRPr sz="2000">
                <a:solidFill>
                  <a:schemeClr val="tx1"/>
                </a:solidFill>
                <a:latin typeface="+mn-lt"/>
                <a:ea typeface="+mj-ea"/>
                <a:cs typeface="楷体_GB2312"/>
              </a:defRPr>
            </a:lvl5pPr>
            <a:lvl6pPr marL="2514600" indent="-228600" algn="l" rtl="0" fontAlgn="base">
              <a:spcBef>
                <a:spcPct val="20000"/>
              </a:spcBef>
              <a:spcAft>
                <a:spcPct val="0"/>
              </a:spcAft>
              <a:buChar char="»"/>
              <a:defRPr sz="2000">
                <a:solidFill>
                  <a:schemeClr val="tx1"/>
                </a:solidFill>
                <a:latin typeface="+mn-lt"/>
                <a:ea typeface="+mj-ea"/>
              </a:defRPr>
            </a:lvl6pPr>
            <a:lvl7pPr marL="2971800" indent="-228600" algn="l" rtl="0" fontAlgn="base">
              <a:spcBef>
                <a:spcPct val="20000"/>
              </a:spcBef>
              <a:spcAft>
                <a:spcPct val="0"/>
              </a:spcAft>
              <a:buChar char="»"/>
              <a:defRPr sz="2000">
                <a:solidFill>
                  <a:schemeClr val="tx1"/>
                </a:solidFill>
                <a:latin typeface="+mn-lt"/>
                <a:ea typeface="+mj-ea"/>
              </a:defRPr>
            </a:lvl7pPr>
            <a:lvl8pPr marL="3429000" indent="-228600" algn="l" rtl="0" fontAlgn="base">
              <a:spcBef>
                <a:spcPct val="20000"/>
              </a:spcBef>
              <a:spcAft>
                <a:spcPct val="0"/>
              </a:spcAft>
              <a:buChar char="»"/>
              <a:defRPr sz="2000">
                <a:solidFill>
                  <a:schemeClr val="tx1"/>
                </a:solidFill>
                <a:latin typeface="+mn-lt"/>
                <a:ea typeface="+mj-ea"/>
              </a:defRPr>
            </a:lvl8pPr>
            <a:lvl9pPr marL="3886200" indent="-228600" algn="l" rtl="0" fontAlgn="base">
              <a:spcBef>
                <a:spcPct val="20000"/>
              </a:spcBef>
              <a:spcAft>
                <a:spcPct val="0"/>
              </a:spcAft>
              <a:buChar char="»"/>
              <a:defRPr sz="2000">
                <a:solidFill>
                  <a:schemeClr val="tx1"/>
                </a:solidFill>
                <a:latin typeface="+mn-lt"/>
                <a:ea typeface="+mj-ea"/>
              </a:defRPr>
            </a:lvl9pPr>
          </a:lstStyle>
          <a:p>
            <a:pPr>
              <a:buFont typeface="Arial" panose="020B0604020202020204" pitchFamily="34" charset="0"/>
              <a:buChar char="•"/>
            </a:pPr>
            <a:r>
              <a:rPr lang="zh-CN" altLang="en-US" sz="2400" i="0" dirty="0">
                <a:latin typeface="Times New Roman" panose="02020603050405020304" pitchFamily="18" charset="0"/>
                <a:ea typeface="+mn-ea"/>
                <a:cs typeface="Times New Roman" panose="02020603050405020304" pitchFamily="18" charset="0"/>
              </a:rPr>
              <a:t>确定的原因是系统时钟中的软件错误——</a:t>
            </a:r>
            <a:r>
              <a:rPr lang="zh-CN" altLang="en-US" sz="2400" b="1" i="0" dirty="0">
                <a:solidFill>
                  <a:srgbClr val="FF0000"/>
                </a:solidFill>
                <a:latin typeface="Times New Roman" panose="02020603050405020304" pitchFamily="18" charset="0"/>
                <a:ea typeface="+mn-ea"/>
                <a:cs typeface="Times New Roman" panose="02020603050405020304" pitchFamily="18" charset="0"/>
              </a:rPr>
              <a:t>累积的时钟漂移</a:t>
            </a:r>
            <a:r>
              <a:rPr lang="zh-CN" altLang="en-US" sz="2400" i="0" dirty="0">
                <a:latin typeface="Times New Roman" panose="02020603050405020304" pitchFamily="18" charset="0"/>
                <a:ea typeface="+mn-ea"/>
                <a:cs typeface="Times New Roman" panose="02020603050405020304" pitchFamily="18" charset="0"/>
              </a:rPr>
              <a:t>使系统运行的时间越长，恶化的情况就越多。</a:t>
            </a:r>
            <a:endParaRPr lang="zh-CN" altLang="en-US" sz="2400" i="0" dirty="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p>
        </p:txBody>
      </p:sp>
      <p:sp>
        <p:nvSpPr>
          <p:cNvPr id="4" name="内容占位符 3"/>
          <p:cNvSpPr>
            <a:spLocks noGrp="1"/>
          </p:cNvSpPr>
          <p:nvPr>
            <p:ph idx="1"/>
            <p:custDataLst>
              <p:tags r:id="rId1"/>
            </p:custDataLst>
          </p:nvPr>
        </p:nvSpPr>
        <p:spPr>
          <a:xfrm>
            <a:off x="478369" y="1593215"/>
            <a:ext cx="6455832" cy="5105400"/>
          </a:xfrm>
        </p:spPr>
        <p:txBody>
          <a:bodyPr>
            <a:normAutofit fontScale="90000"/>
          </a:bodyPr>
          <a:lstStyle/>
          <a:p>
            <a:r>
              <a:rPr lang="zh-CN" altLang="en-US" b="1" dirty="0">
                <a:latin typeface="Times New Roman" panose="02020603050405020304" pitchFamily="18" charset="0"/>
                <a:cs typeface="Times New Roman" panose="02020603050405020304" pitchFamily="18" charset="0"/>
              </a:rPr>
              <a:t>丰田（</a:t>
            </a:r>
            <a:r>
              <a:rPr lang="en-US" altLang="zh-CN" b="1" dirty="0">
                <a:latin typeface="Times New Roman" panose="02020603050405020304" pitchFamily="18" charset="0"/>
                <a:cs typeface="Times New Roman" panose="02020603050405020304" pitchFamily="18" charset="0"/>
              </a:rPr>
              <a:t>Toyota</a:t>
            </a:r>
            <a:r>
              <a:rPr lang="zh-CN" altLang="en-US" b="1" dirty="0">
                <a:latin typeface="Times New Roman" panose="02020603050405020304" pitchFamily="18" charset="0"/>
                <a:cs typeface="Times New Roman" panose="02020603050405020304" pitchFamily="18" charset="0"/>
              </a:rPr>
              <a:t>）的意外加速问题</a:t>
            </a:r>
            <a:endParaRPr lang="en-US" altLang="zh-CN" b="1"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早在</a:t>
            </a:r>
            <a:r>
              <a:rPr lang="en-US" altLang="zh-CN" dirty="0">
                <a:latin typeface="Times New Roman" panose="02020603050405020304" pitchFamily="18" charset="0"/>
                <a:cs typeface="Times New Roman" panose="02020603050405020304" pitchFamily="18" charset="0"/>
              </a:rPr>
              <a:t>1992</a:t>
            </a:r>
            <a:r>
              <a:rPr lang="zh-CN" altLang="en-US" dirty="0">
                <a:latin typeface="Times New Roman" panose="02020603050405020304" pitchFamily="18" charset="0"/>
                <a:cs typeface="Times New Roman" panose="02020603050405020304" pitchFamily="18" charset="0"/>
              </a:rPr>
              <a:t>年，驾驶员就报告他们的丰田汽车出现意外的加速（</a:t>
            </a:r>
            <a:r>
              <a:rPr lang="en-US" altLang="zh-CN" dirty="0">
                <a:latin typeface="Times New Roman" panose="02020603050405020304" pitchFamily="18" charset="0"/>
                <a:cs typeface="Times New Roman" panose="02020603050405020304" pitchFamily="18" charset="0"/>
              </a:rPr>
              <a:t>UA</a:t>
            </a:r>
            <a:r>
              <a:rPr lang="zh-CN" altLang="en-US" dirty="0">
                <a:latin typeface="Times New Roman" panose="02020603050405020304" pitchFamily="18" charset="0"/>
                <a:cs typeface="Times New Roman" panose="02020603050405020304" pitchFamily="18" charset="0"/>
              </a:rPr>
              <a:t>）问题。从那时起，由于导致</a:t>
            </a:r>
            <a:r>
              <a:rPr lang="en-US" altLang="zh-CN" dirty="0">
                <a:latin typeface="Times New Roman" panose="02020603050405020304" pitchFamily="18" charset="0"/>
                <a:cs typeface="Times New Roman" panose="02020603050405020304" pitchFamily="18" charset="0"/>
              </a:rPr>
              <a:t>UA</a:t>
            </a:r>
            <a:r>
              <a:rPr lang="zh-CN" altLang="en-US" dirty="0">
                <a:latin typeface="Times New Roman" panose="02020603050405020304" pitchFamily="18" charset="0"/>
                <a:cs typeface="Times New Roman" panose="02020603050405020304" pitchFamily="18" charset="0"/>
              </a:rPr>
              <a:t>的硬件和软件问题的结合，最终有</a:t>
            </a:r>
            <a:r>
              <a:rPr lang="en-US" altLang="zh-CN" dirty="0">
                <a:latin typeface="Times New Roman" panose="02020603050405020304" pitchFamily="18" charset="0"/>
                <a:cs typeface="Times New Roman" panose="02020603050405020304" pitchFamily="18" charset="0"/>
              </a:rPr>
              <a:t>52</a:t>
            </a:r>
            <a:r>
              <a:rPr lang="zh-CN" altLang="en-US" dirty="0">
                <a:latin typeface="Times New Roman" panose="02020603050405020304" pitchFamily="18" charset="0"/>
                <a:cs typeface="Times New Roman" panose="02020603050405020304" pitchFamily="18" charset="0"/>
              </a:rPr>
              <a:t>人在丰田车祸中丧生。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Michael Barr</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Philip </a:t>
            </a:r>
            <a:r>
              <a:rPr lang="en-US" altLang="zh-CN" dirty="0" err="1">
                <a:latin typeface="Times New Roman" panose="02020603050405020304" pitchFamily="18" charset="0"/>
                <a:cs typeface="Times New Roman" panose="02020603050405020304" pitchFamily="18" charset="0"/>
              </a:rPr>
              <a:t>Koopman</a:t>
            </a:r>
            <a:r>
              <a:rPr lang="zh-CN" altLang="en-US" dirty="0">
                <a:latin typeface="Times New Roman" panose="02020603050405020304" pitchFamily="18" charset="0"/>
                <a:cs typeface="Times New Roman" panose="02020603050405020304" pitchFamily="18" charset="0"/>
              </a:rPr>
              <a:t>教授在</a:t>
            </a:r>
            <a:r>
              <a:rPr lang="en-US" altLang="zh-CN" dirty="0">
                <a:latin typeface="Times New Roman" panose="02020603050405020304" pitchFamily="18" charset="0"/>
                <a:cs typeface="Times New Roman" panose="02020603050405020304" pitchFamily="18" charset="0"/>
              </a:rPr>
              <a:t>2013</a:t>
            </a:r>
            <a:r>
              <a:rPr lang="zh-CN" altLang="en-US" dirty="0">
                <a:latin typeface="Times New Roman" panose="02020603050405020304" pitchFamily="18" charset="0"/>
                <a:cs typeface="Times New Roman" panose="02020603050405020304" pitchFamily="18" charset="0"/>
              </a:rPr>
              <a:t>年</a:t>
            </a:r>
            <a:r>
              <a:rPr lang="en-US" altLang="zh-CN" dirty="0" err="1">
                <a:latin typeface="Times New Roman" panose="02020603050405020304" pitchFamily="18" charset="0"/>
                <a:cs typeface="Times New Roman" panose="02020603050405020304" pitchFamily="18" charset="0"/>
              </a:rPr>
              <a:t>Bookout</a:t>
            </a:r>
            <a:r>
              <a:rPr lang="zh-CN" altLang="en-US" dirty="0">
                <a:latin typeface="Times New Roman" panose="02020603050405020304" pitchFamily="18" charset="0"/>
                <a:cs typeface="Times New Roman" panose="02020603050405020304" pitchFamily="18" charset="0"/>
              </a:rPr>
              <a:t>与</a:t>
            </a:r>
            <a:r>
              <a:rPr lang="en-US" altLang="zh-CN" dirty="0">
                <a:latin typeface="Times New Roman" panose="02020603050405020304" pitchFamily="18" charset="0"/>
                <a:cs typeface="Times New Roman" panose="02020603050405020304" pitchFamily="18" charset="0"/>
              </a:rPr>
              <a:t>Toyota</a:t>
            </a:r>
            <a:r>
              <a:rPr lang="zh-CN" altLang="en-US" dirty="0">
                <a:latin typeface="Times New Roman" panose="02020603050405020304" pitchFamily="18" charset="0"/>
                <a:cs typeface="Times New Roman" panose="02020603050405020304" pitchFamily="18" charset="0"/>
              </a:rPr>
              <a:t>的诉讼中担任专家证人。他们发现的软件问题包括</a:t>
            </a:r>
            <a:r>
              <a:rPr lang="zh-CN" altLang="en-US" dirty="0">
                <a:solidFill>
                  <a:srgbClr val="FF0000"/>
                </a:solidFill>
                <a:latin typeface="Times New Roman" panose="02020603050405020304" pitchFamily="18" charset="0"/>
                <a:cs typeface="Times New Roman" panose="02020603050405020304" pitchFamily="18" charset="0"/>
              </a:rPr>
              <a:t>缓冲区溢出、无效指针、竞争条件和堆栈溢出</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086600" y="1752600"/>
            <a:ext cx="4752975" cy="31813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p>
        </p:txBody>
      </p:sp>
      <p:sp>
        <p:nvSpPr>
          <p:cNvPr id="4" name="内容占位符 3"/>
          <p:cNvSpPr>
            <a:spLocks noGrp="1"/>
          </p:cNvSpPr>
          <p:nvPr>
            <p:ph idx="1"/>
            <p:custDataLst>
              <p:tags r:id="rId1"/>
            </p:custDataLst>
          </p:nvPr>
        </p:nvSpPr>
        <p:spPr/>
        <p:txBody>
          <a:bodyPr/>
          <a:lstStyle/>
          <a:p>
            <a:r>
              <a:rPr lang="zh-CN" altLang="en-US" b="1" dirty="0">
                <a:latin typeface="Times New Roman" panose="02020603050405020304" pitchFamily="18" charset="0"/>
                <a:cs typeface="Times New Roman" panose="02020603050405020304" pitchFamily="18" charset="0"/>
              </a:rPr>
              <a:t>苹果的“</a:t>
            </a:r>
            <a:r>
              <a:rPr lang="en-US" altLang="zh-CN" b="1" dirty="0" err="1">
                <a:latin typeface="Times New Roman" panose="02020603050405020304" pitchFamily="18" charset="0"/>
                <a:cs typeface="Times New Roman" panose="02020603050405020304" pitchFamily="18" charset="0"/>
              </a:rPr>
              <a:t>goto</a:t>
            </a:r>
            <a:r>
              <a:rPr lang="en-US" altLang="zh-CN" b="1" dirty="0">
                <a:latin typeface="Times New Roman" panose="02020603050405020304" pitchFamily="18" charset="0"/>
                <a:cs typeface="Times New Roman" panose="02020603050405020304" pitchFamily="18" charset="0"/>
              </a:rPr>
              <a:t> fail”</a:t>
            </a:r>
            <a:r>
              <a:rPr lang="zh-CN" altLang="en-US" b="1" dirty="0">
                <a:latin typeface="Times New Roman" panose="02020603050405020304" pitchFamily="18" charset="0"/>
                <a:cs typeface="Times New Roman" panose="02020603050405020304" pitchFamily="18" charset="0"/>
              </a:rPr>
              <a:t>漏洞</a:t>
            </a:r>
            <a:endParaRPr lang="en-US" altLang="zh-CN" b="1"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2014</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月，</a:t>
            </a:r>
            <a:r>
              <a:rPr lang="en-US" altLang="zh-CN" dirty="0">
                <a:latin typeface="Times New Roman" panose="02020603050405020304" pitchFamily="18" charset="0"/>
                <a:cs typeface="Times New Roman" panose="02020603050405020304" pitchFamily="18" charset="0"/>
              </a:rPr>
              <a:t>Apple</a:t>
            </a:r>
            <a:r>
              <a:rPr lang="zh-CN" altLang="en-US" dirty="0">
                <a:latin typeface="Times New Roman" panose="02020603050405020304" pitchFamily="18" charset="0"/>
                <a:cs typeface="Times New Roman" panose="02020603050405020304" pitchFamily="18" charset="0"/>
              </a:rPr>
              <a:t>发布了有关</a:t>
            </a:r>
            <a:r>
              <a:rPr lang="en-US" altLang="zh-CN" dirty="0">
                <a:latin typeface="Times New Roman" panose="02020603050405020304" pitchFamily="18" charset="0"/>
                <a:cs typeface="Times New Roman" panose="02020603050405020304" pitchFamily="18" charset="0"/>
              </a:rPr>
              <a:t>SSL/TLS</a:t>
            </a:r>
            <a:r>
              <a:rPr lang="zh-CN" altLang="en-US" dirty="0">
                <a:latin typeface="Times New Roman" panose="02020603050405020304" pitchFamily="18" charset="0"/>
                <a:cs typeface="Times New Roman" panose="02020603050405020304" pitchFamily="18" charset="0"/>
              </a:rPr>
              <a:t>的安全更新。</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罪魁祸首是“</a:t>
            </a:r>
            <a:r>
              <a:rPr lang="en-US" altLang="zh-CN" dirty="0" err="1">
                <a:solidFill>
                  <a:srgbClr val="FF0000"/>
                </a:solidFill>
                <a:latin typeface="Times New Roman" panose="02020603050405020304" pitchFamily="18" charset="0"/>
                <a:cs typeface="Times New Roman" panose="02020603050405020304" pitchFamily="18" charset="0"/>
              </a:rPr>
              <a:t>goto</a:t>
            </a:r>
            <a:r>
              <a:rPr lang="en-US" altLang="zh-CN" dirty="0">
                <a:solidFill>
                  <a:srgbClr val="FF0000"/>
                </a:solidFill>
                <a:latin typeface="Times New Roman" panose="02020603050405020304" pitchFamily="18" charset="0"/>
                <a:cs typeface="Times New Roman" panose="02020603050405020304" pitchFamily="18" charset="0"/>
              </a:rPr>
              <a:t> fail</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导致后面的语句无法访问的语句</a:t>
            </a:r>
            <a:endParaRPr lang="zh-CN" altLang="en-US" dirty="0">
              <a:latin typeface="Times New Roman" panose="02020603050405020304" pitchFamily="18" charset="0"/>
              <a:cs typeface="Times New Roman" panose="02020603050405020304" pitchFamily="18" charset="0"/>
            </a:endParaRPr>
          </a:p>
        </p:txBody>
      </p:sp>
      <p:sp>
        <p:nvSpPr>
          <p:cNvPr id="5" name="页脚占位符 4"/>
          <p:cNvSpPr>
            <a:spLocks noGrp="1"/>
          </p:cNvSpPr>
          <p:nvPr>
            <p:ph type="ftr" sz="quarter" idx="10"/>
            <p:custDataLst>
              <p:tags r:id="rId2"/>
            </p:custDataLst>
          </p:nvPr>
        </p:nvSpPr>
        <p:spPr/>
        <p:txBody>
          <a:bodyPr/>
          <a:lstStyle/>
          <a:p>
            <a:pPr>
              <a:defRPr/>
            </a:pPr>
            <a:fld id="{C4AC8BA3-7413-4A42-9C4A-71E816FB9B13}" type="slidenum">
              <a:rPr lang="en-US" altLang="zh-CN" smtClean="0"/>
            </a:fld>
            <a:endParaRPr lang="en-US" altLang="zh-CN"/>
          </a:p>
        </p:txBody>
      </p:sp>
      <p:pic>
        <p:nvPicPr>
          <p:cNvPr id="6" name="图片 5"/>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6965950" y="4079875"/>
            <a:ext cx="5226050" cy="27901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p>
        </p:txBody>
      </p:sp>
      <p:sp>
        <p:nvSpPr>
          <p:cNvPr id="4" name="内容占位符 3"/>
          <p:cNvSpPr>
            <a:spLocks noGrp="1"/>
          </p:cNvSpPr>
          <p:nvPr>
            <p:ph idx="1"/>
            <p:custDataLst>
              <p:tags r:id="rId1"/>
            </p:custDataLst>
          </p:nvPr>
        </p:nvSpPr>
        <p:spPr>
          <a:xfrm>
            <a:off x="478368" y="1593215"/>
            <a:ext cx="11408833" cy="2133600"/>
          </a:xfrm>
        </p:spPr>
        <p:txBody>
          <a:bodyPr>
            <a:normAutofit fontScale="92500"/>
          </a:bodyPr>
          <a:lstStyle/>
          <a:p>
            <a:r>
              <a:rPr lang="zh-CN" altLang="en-US" b="1" dirty="0">
                <a:latin typeface="Times New Roman" panose="02020603050405020304" pitchFamily="18" charset="0"/>
                <a:cs typeface="Times New Roman" panose="02020603050405020304" pitchFamily="18" charset="0"/>
              </a:rPr>
              <a:t>火星气候轨道器（</a:t>
            </a:r>
            <a:r>
              <a:rPr lang="en-US" altLang="zh-CN" b="1" dirty="0">
                <a:latin typeface="Times New Roman" panose="02020603050405020304" pitchFamily="18" charset="0"/>
                <a:cs typeface="Times New Roman" panose="02020603050405020304" pitchFamily="18" charset="0"/>
              </a:rPr>
              <a:t>Mars Climate Orbiter</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早在</a:t>
            </a:r>
            <a:r>
              <a:rPr lang="en-US" altLang="zh-CN" dirty="0">
                <a:latin typeface="Times New Roman" panose="02020603050405020304" pitchFamily="18" charset="0"/>
                <a:cs typeface="Times New Roman" panose="02020603050405020304" pitchFamily="18" charset="0"/>
              </a:rPr>
              <a:t>1999</a:t>
            </a:r>
            <a:r>
              <a:rPr lang="zh-CN" altLang="en-US" dirty="0">
                <a:latin typeface="Times New Roman" panose="02020603050405020304" pitchFamily="18" charset="0"/>
                <a:cs typeface="Times New Roman" panose="02020603050405020304" pitchFamily="18" charset="0"/>
              </a:rPr>
              <a:t>年，由美国国家航空航天局喷气推进实验室建造的耗资</a:t>
            </a:r>
            <a:r>
              <a:rPr lang="en-US" altLang="zh-CN" dirty="0">
                <a:latin typeface="Times New Roman" panose="02020603050405020304" pitchFamily="18" charset="0"/>
                <a:cs typeface="Times New Roman" panose="02020603050405020304" pitchFamily="18" charset="0"/>
              </a:rPr>
              <a:t>3.276</a:t>
            </a:r>
            <a:r>
              <a:rPr lang="zh-CN" altLang="en-US" dirty="0">
                <a:latin typeface="Times New Roman" panose="02020603050405020304" pitchFamily="18" charset="0"/>
                <a:cs typeface="Times New Roman" panose="02020603050405020304" pitchFamily="18" charset="0"/>
              </a:rPr>
              <a:t>亿美元的火星气候轨道器项目以错误的角度接近了红色星球，导致了航天器的灭亡。</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6802583" y="3350895"/>
            <a:ext cx="5084618" cy="3146107"/>
          </a:xfrm>
          <a:prstGeom prst="rect">
            <a:avLst/>
          </a:prstGeom>
        </p:spPr>
      </p:pic>
      <p:sp>
        <p:nvSpPr>
          <p:cNvPr id="6" name="矩形 5"/>
          <p:cNvSpPr/>
          <p:nvPr>
            <p:custDataLst>
              <p:tags r:id="rId4"/>
            </p:custDataLst>
          </p:nvPr>
        </p:nvSpPr>
        <p:spPr>
          <a:xfrm>
            <a:off x="478368" y="3242391"/>
            <a:ext cx="5998632" cy="2754600"/>
          </a:xfrm>
          <a:prstGeom prst="rect">
            <a:avLst/>
          </a:prstGeom>
        </p:spPr>
        <p:txBody>
          <a:bodyPr wrap="square">
            <a:spAutoFit/>
          </a:bodyPr>
          <a:lstStyle/>
          <a:p>
            <a:endParaRPr lang="en-US" altLang="zh-CN" dirty="0"/>
          </a:p>
          <a:p>
            <a:pPr marL="360045" indent="-342900" eaLnBrk="0" hangingPunct="0">
              <a:spcBef>
                <a:spcPts val="600"/>
              </a:spcBef>
              <a:spcAft>
                <a:spcPts val="600"/>
              </a:spcAft>
              <a:buClr>
                <a:srgbClr val="006600"/>
              </a:buClr>
              <a:buSzPct val="75000"/>
              <a:buFont typeface="Wingdings" panose="05000000000000000000" pitchFamily="2" charset="2"/>
              <a:buChar char="l"/>
            </a:pPr>
            <a:r>
              <a:rPr lang="zh-CN" altLang="en-US" sz="2800" i="0" dirty="0">
                <a:latin typeface="黑体" panose="02010609060101010101" pitchFamily="2" charset="-122"/>
                <a:ea typeface="黑体" panose="02010609060101010101" pitchFamily="2" charset="-122"/>
              </a:rPr>
              <a:t>什么地方出了错？</a:t>
            </a:r>
            <a:endParaRPr lang="en-US" altLang="zh-CN" sz="2800" i="0" dirty="0">
              <a:latin typeface="黑体" panose="02010609060101010101" pitchFamily="2" charset="-122"/>
              <a:ea typeface="黑体" panose="02010609060101010101" pitchFamily="2" charset="-122"/>
            </a:endParaRPr>
          </a:p>
          <a:p>
            <a:pPr marL="360045" indent="-342900" eaLnBrk="0" hangingPunct="0">
              <a:spcBef>
                <a:spcPts val="600"/>
              </a:spcBef>
              <a:spcAft>
                <a:spcPts val="600"/>
              </a:spcAft>
              <a:buClr>
                <a:srgbClr val="006600"/>
              </a:buClr>
              <a:buSzPct val="75000"/>
              <a:buFont typeface="Wingdings" panose="05000000000000000000" pitchFamily="2" charset="2"/>
              <a:buChar char="l"/>
            </a:pPr>
            <a:r>
              <a:rPr lang="zh-CN" altLang="en-US" sz="2800" i="0" dirty="0">
                <a:latin typeface="黑体" panose="02010609060101010101" pitchFamily="2" charset="-122"/>
                <a:ea typeface="黑体" panose="02010609060101010101" pitchFamily="2" charset="-122"/>
              </a:rPr>
              <a:t>发现工程团队的不同部分正在使用不同的度量单位。</a:t>
            </a:r>
            <a:r>
              <a:rPr lang="zh-CN" altLang="en-US" sz="2800" i="0" dirty="0">
                <a:solidFill>
                  <a:srgbClr val="FF0000"/>
                </a:solidFill>
                <a:latin typeface="黑体" panose="02010609060101010101" pitchFamily="2" charset="-122"/>
                <a:ea typeface="黑体" panose="02010609060101010101" pitchFamily="2" charset="-122"/>
              </a:rPr>
              <a:t>一组研究推进器的单位是英制磅秒；另一个使用公制牛顿秒</a:t>
            </a:r>
            <a:r>
              <a:rPr lang="zh-CN" altLang="en-US" sz="2800" i="0" dirty="0">
                <a:latin typeface="黑体" panose="02010609060101010101" pitchFamily="2" charset="-122"/>
                <a:ea typeface="黑体" panose="02010609060101010101" pitchFamily="2" charset="-122"/>
              </a:rPr>
              <a:t>。</a:t>
            </a:r>
            <a:endParaRPr lang="zh-CN" altLang="en-US" sz="2800" i="0" dirty="0">
              <a:latin typeface="黑体" panose="02010609060101010101" pitchFamily="2" charset="-122"/>
              <a:ea typeface="黑体" panose="0201060906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p>
        </p:txBody>
      </p:sp>
      <p:sp>
        <p:nvSpPr>
          <p:cNvPr id="4" name="内容占位符 3"/>
          <p:cNvSpPr>
            <a:spLocks noGrp="1"/>
          </p:cNvSpPr>
          <p:nvPr>
            <p:ph idx="1"/>
            <p:custDataLst>
              <p:tags r:id="rId1"/>
            </p:custDataLst>
          </p:nvPr>
        </p:nvSpPr>
        <p:spPr>
          <a:xfrm>
            <a:off x="478369" y="1411605"/>
            <a:ext cx="11104032" cy="1981200"/>
          </a:xfrm>
        </p:spPr>
        <p:txBody>
          <a:bodyPr/>
          <a:lstStyle/>
          <a:p>
            <a:r>
              <a:rPr lang="zh-CN" altLang="en-US" b="1" dirty="0">
                <a:latin typeface="Times New Roman" panose="02020603050405020304" pitchFamily="18" charset="0"/>
                <a:cs typeface="Times New Roman" panose="02020603050405020304" pitchFamily="18" charset="0"/>
              </a:rPr>
              <a:t>约克城号航空母舰（</a:t>
            </a:r>
            <a:r>
              <a:rPr lang="en-US" altLang="zh-CN" b="1" dirty="0">
                <a:latin typeface="Times New Roman" panose="02020603050405020304" pitchFamily="18" charset="0"/>
                <a:cs typeface="Times New Roman" panose="02020603050405020304" pitchFamily="18" charset="0"/>
              </a:rPr>
              <a:t>USS Yorktown</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1997</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9</a:t>
            </a:r>
            <a:r>
              <a:rPr lang="zh-CN" altLang="en-US" dirty="0">
                <a:latin typeface="Times New Roman" panose="02020603050405020304" pitchFamily="18" charset="0"/>
                <a:cs typeface="Times New Roman" panose="02020603050405020304" pitchFamily="18" charset="0"/>
              </a:rPr>
              <a:t>月</a:t>
            </a:r>
            <a:r>
              <a:rPr lang="en-US" altLang="zh-CN" dirty="0">
                <a:latin typeface="Times New Roman" panose="02020603050405020304" pitchFamily="18" charset="0"/>
                <a:cs typeface="Times New Roman" panose="02020603050405020304" pitchFamily="18" charset="0"/>
              </a:rPr>
              <a:t>21</a:t>
            </a:r>
            <a:r>
              <a:rPr lang="zh-CN" altLang="en-US" dirty="0">
                <a:latin typeface="Times New Roman" panose="02020603050405020304" pitchFamily="18" charset="0"/>
                <a:cs typeface="Times New Roman" panose="02020603050405020304" pitchFamily="18" charset="0"/>
              </a:rPr>
              <a:t>日，</a:t>
            </a:r>
            <a:r>
              <a:rPr lang="en-US" altLang="zh-CN" dirty="0">
                <a:latin typeface="Times New Roman" panose="02020603050405020304" pitchFamily="18" charset="0"/>
                <a:cs typeface="Times New Roman" panose="02020603050405020304" pitchFamily="18" charset="0"/>
              </a:rPr>
              <a:t>Yorktown</a:t>
            </a:r>
            <a:r>
              <a:rPr lang="zh-CN" altLang="en-US" dirty="0">
                <a:latin typeface="Times New Roman" panose="02020603050405020304" pitchFamily="18" charset="0"/>
                <a:cs typeface="Times New Roman" panose="02020603050405020304" pitchFamily="18" charset="0"/>
              </a:rPr>
              <a:t>号上的“远程数据库管理器”中的零除错误使网络上的所有计算机瘫痪，导致船舶的推进系统出现故障。</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6781800" y="3300095"/>
            <a:ext cx="5234086" cy="3153537"/>
          </a:xfrm>
          <a:prstGeom prst="rect">
            <a:avLst/>
          </a:prstGeom>
        </p:spPr>
      </p:pic>
      <p:sp>
        <p:nvSpPr>
          <p:cNvPr id="6" name="内容占位符 2"/>
          <p:cNvSpPr txBox="1"/>
          <p:nvPr>
            <p:custDataLst>
              <p:tags r:id="rId4"/>
            </p:custDataLst>
          </p:nvPr>
        </p:nvSpPr>
        <p:spPr bwMode="auto">
          <a:xfrm>
            <a:off x="473114" y="3601720"/>
            <a:ext cx="5851486" cy="3305937"/>
          </a:xfrm>
          <a:prstGeom prst="rect">
            <a:avLst/>
          </a:prstGeom>
          <a:noFill/>
          <a:ln w="9525">
            <a:noFill/>
            <a:miter lim="800000"/>
          </a:ln>
        </p:spPr>
        <p:txBody>
          <a:bodyPr vert="horz" wrap="square" lIns="91440" tIns="45720" rIns="91440" bIns="45720" numCol="1" anchor="t" anchorCtr="0" compatLnSpc="1"/>
          <a:lstStyle>
            <a:lvl1pPr marL="360045" indent="-342900" algn="l" rtl="0" eaLnBrk="0" fontAlgn="base" hangingPunct="0">
              <a:spcBef>
                <a:spcPts val="600"/>
              </a:spcBef>
              <a:spcAft>
                <a:spcPts val="600"/>
              </a:spcAft>
              <a:buClr>
                <a:srgbClr val="006600"/>
              </a:buClr>
              <a:buSzPct val="75000"/>
              <a:buFont typeface="Wingdings" panose="05000000000000000000" pitchFamily="2" charset="2"/>
              <a:buChar char="l"/>
              <a:defRPr sz="2800">
                <a:solidFill>
                  <a:schemeClr val="tx1"/>
                </a:solidFill>
                <a:latin typeface="黑体" panose="02010609060101010101" pitchFamily="2" charset="-122"/>
                <a:ea typeface="黑体" panose="02010609060101010101" pitchFamily="2" charset="-122"/>
                <a:cs typeface="+mn-cs"/>
              </a:defRPr>
            </a:lvl1pPr>
            <a:lvl2pPr marL="742950" indent="-285750" algn="l" rtl="0" eaLnBrk="0" fontAlgn="base" hangingPunct="0">
              <a:spcBef>
                <a:spcPts val="600"/>
              </a:spcBef>
              <a:spcAft>
                <a:spcPts val="600"/>
              </a:spcAft>
              <a:buClr>
                <a:srgbClr val="008000"/>
              </a:buClr>
              <a:buSzPct val="70000"/>
              <a:buFont typeface="Wingdings" panose="05000000000000000000" pitchFamily="2" charset="2"/>
              <a:buChar char="Ø"/>
              <a:defRPr sz="2400" b="0">
                <a:solidFill>
                  <a:schemeClr val="tx1"/>
                </a:solidFill>
                <a:latin typeface="楷体" panose="02010609060101010101" pitchFamily="49" charset="-122"/>
                <a:ea typeface="楷体" panose="02010609060101010101" pitchFamily="49" charset="-122"/>
                <a:cs typeface="楷体_GB2312"/>
              </a:defRPr>
            </a:lvl2pPr>
            <a:lvl3pPr marL="1143000" indent="-228600" algn="l" rtl="0" eaLnBrk="0" fontAlgn="base" hangingPunct="0">
              <a:spcBef>
                <a:spcPct val="20000"/>
              </a:spcBef>
              <a:spcAft>
                <a:spcPct val="0"/>
              </a:spcAft>
              <a:buClr>
                <a:srgbClr val="008000"/>
              </a:buClr>
              <a:buFont typeface="Wingdings" panose="05000000000000000000" pitchFamily="2" charset="2"/>
              <a:buChar char="ü"/>
              <a:defRPr sz="2200" b="0">
                <a:solidFill>
                  <a:schemeClr val="tx1"/>
                </a:solidFill>
                <a:latin typeface="宋体" panose="02010600030101010101" pitchFamily="2" charset="-122"/>
                <a:ea typeface="宋体" panose="02010600030101010101" pitchFamily="2" charset="-122"/>
                <a:cs typeface="楷体_GB2312"/>
              </a:defRPr>
            </a:lvl3pPr>
            <a:lvl4pPr marL="1600200" indent="-228600" algn="l" rtl="0" eaLnBrk="0" fontAlgn="base" hangingPunct="0">
              <a:spcBef>
                <a:spcPct val="20000"/>
              </a:spcBef>
              <a:spcAft>
                <a:spcPct val="0"/>
              </a:spcAft>
              <a:buClr>
                <a:srgbClr val="008000"/>
              </a:buClr>
              <a:buFont typeface="Arial" panose="020B0604020202020204" pitchFamily="34" charset="0"/>
              <a:buChar char="–"/>
              <a:defRPr sz="2000">
                <a:solidFill>
                  <a:schemeClr val="tx1"/>
                </a:solidFill>
                <a:latin typeface="+mn-lt"/>
                <a:ea typeface="+mj-ea"/>
                <a:cs typeface="楷体_GB2312"/>
              </a:defRPr>
            </a:lvl4pPr>
            <a:lvl5pPr marL="2057400" indent="-228600" algn="l" rtl="0" eaLnBrk="0" fontAlgn="base" hangingPunct="0">
              <a:spcBef>
                <a:spcPct val="20000"/>
              </a:spcBef>
              <a:spcAft>
                <a:spcPct val="0"/>
              </a:spcAft>
              <a:buChar char="»"/>
              <a:defRPr sz="2000">
                <a:solidFill>
                  <a:schemeClr val="tx1"/>
                </a:solidFill>
                <a:latin typeface="+mn-lt"/>
                <a:ea typeface="+mj-ea"/>
                <a:cs typeface="楷体_GB2312"/>
              </a:defRPr>
            </a:lvl5pPr>
            <a:lvl6pPr marL="2514600" indent="-228600" algn="l" rtl="0" fontAlgn="base">
              <a:spcBef>
                <a:spcPct val="20000"/>
              </a:spcBef>
              <a:spcAft>
                <a:spcPct val="0"/>
              </a:spcAft>
              <a:buChar char="»"/>
              <a:defRPr sz="2000">
                <a:solidFill>
                  <a:schemeClr val="tx1"/>
                </a:solidFill>
                <a:latin typeface="+mn-lt"/>
                <a:ea typeface="+mj-ea"/>
              </a:defRPr>
            </a:lvl6pPr>
            <a:lvl7pPr marL="2971800" indent="-228600" algn="l" rtl="0" fontAlgn="base">
              <a:spcBef>
                <a:spcPct val="20000"/>
              </a:spcBef>
              <a:spcAft>
                <a:spcPct val="0"/>
              </a:spcAft>
              <a:buChar char="»"/>
              <a:defRPr sz="2000">
                <a:solidFill>
                  <a:schemeClr val="tx1"/>
                </a:solidFill>
                <a:latin typeface="+mn-lt"/>
                <a:ea typeface="+mj-ea"/>
              </a:defRPr>
            </a:lvl7pPr>
            <a:lvl8pPr marL="3429000" indent="-228600" algn="l" rtl="0" fontAlgn="base">
              <a:spcBef>
                <a:spcPct val="20000"/>
              </a:spcBef>
              <a:spcAft>
                <a:spcPct val="0"/>
              </a:spcAft>
              <a:buChar char="»"/>
              <a:defRPr sz="2000">
                <a:solidFill>
                  <a:schemeClr val="tx1"/>
                </a:solidFill>
                <a:latin typeface="+mn-lt"/>
                <a:ea typeface="+mj-ea"/>
              </a:defRPr>
            </a:lvl8pPr>
            <a:lvl9pPr marL="3886200" indent="-228600" algn="l" rtl="0" fontAlgn="base">
              <a:spcBef>
                <a:spcPct val="20000"/>
              </a:spcBef>
              <a:spcAft>
                <a:spcPct val="0"/>
              </a:spcAft>
              <a:buChar char="»"/>
              <a:defRPr sz="2000">
                <a:solidFill>
                  <a:schemeClr val="tx1"/>
                </a:solidFill>
                <a:latin typeface="+mn-lt"/>
                <a:ea typeface="+mj-ea"/>
              </a:defRPr>
            </a:lvl9pPr>
          </a:lstStyle>
          <a:p>
            <a:r>
              <a:rPr lang="zh-CN" altLang="en-US" sz="2400" i="0" kern="0" dirty="0">
                <a:latin typeface="Times New Roman" panose="02020603050405020304" pitchFamily="18" charset="0"/>
                <a:cs typeface="Times New Roman" panose="02020603050405020304" pitchFamily="18" charset="0"/>
              </a:rPr>
              <a:t>一名乘务员在数据库中输入一个空白字段。空白被视为零，并导致数据库程序无法处理的“</a:t>
            </a:r>
            <a:r>
              <a:rPr lang="zh-CN" altLang="en-US" sz="2400" i="0" kern="0" dirty="0">
                <a:solidFill>
                  <a:srgbClr val="FF0000"/>
                </a:solidFill>
                <a:latin typeface="Times New Roman" panose="02020603050405020304" pitchFamily="18" charset="0"/>
                <a:cs typeface="Times New Roman" panose="02020603050405020304" pitchFamily="18" charset="0"/>
              </a:rPr>
              <a:t>除以零</a:t>
            </a:r>
            <a:r>
              <a:rPr lang="zh-CN" altLang="en-US" sz="2400" i="0" kern="0" dirty="0">
                <a:latin typeface="Times New Roman" panose="02020603050405020304" pitchFamily="18" charset="0"/>
                <a:cs typeface="Times New Roman" panose="02020603050405020304" pitchFamily="18" charset="0"/>
              </a:rPr>
              <a:t>”异常。它中止了</a:t>
            </a:r>
            <a:r>
              <a:rPr lang="en-US" altLang="zh-CN" sz="2400" i="0" kern="0" dirty="0">
                <a:latin typeface="Times New Roman" panose="02020603050405020304" pitchFamily="18" charset="0"/>
                <a:cs typeface="Times New Roman" panose="02020603050405020304" pitchFamily="18" charset="0"/>
              </a:rPr>
              <a:t>Microsoft Windows NT 4.0</a:t>
            </a:r>
            <a:r>
              <a:rPr lang="zh-CN" altLang="en-US" sz="2400" i="0" kern="0" dirty="0">
                <a:latin typeface="Times New Roman" panose="02020603050405020304" pitchFamily="18" charset="0"/>
                <a:cs typeface="Times New Roman" panose="02020603050405020304" pitchFamily="18" charset="0"/>
              </a:rPr>
              <a:t>操作系统，该系统崩溃了，所有舰船的</a:t>
            </a:r>
            <a:r>
              <a:rPr lang="en-US" altLang="zh-CN" sz="2400" i="0" kern="0" dirty="0">
                <a:latin typeface="Times New Roman" panose="02020603050405020304" pitchFamily="18" charset="0"/>
                <a:cs typeface="Times New Roman" panose="02020603050405020304" pitchFamily="18" charset="0"/>
              </a:rPr>
              <a:t>LAN</a:t>
            </a:r>
            <a:r>
              <a:rPr lang="zh-CN" altLang="en-US" sz="2400" i="0" kern="0" dirty="0">
                <a:latin typeface="Times New Roman" panose="02020603050405020304" pitchFamily="18" charset="0"/>
                <a:cs typeface="Times New Roman" panose="02020603050405020304" pitchFamily="18" charset="0"/>
              </a:rPr>
              <a:t>控制台和远程终端都崩溃了。</a:t>
            </a:r>
            <a:endParaRPr lang="zh-CN" altLang="en-US" sz="2400" i="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p>
        </p:txBody>
      </p:sp>
      <p:sp>
        <p:nvSpPr>
          <p:cNvPr id="4" name="内容占位符 3"/>
          <p:cNvSpPr>
            <a:spLocks noGrp="1"/>
          </p:cNvSpPr>
          <p:nvPr>
            <p:ph idx="1"/>
            <p:custDataLst>
              <p:tags r:id="rId1"/>
            </p:custDataLst>
          </p:nvPr>
        </p:nvSpPr>
        <p:spPr>
          <a:xfrm>
            <a:off x="838200" y="1825625"/>
            <a:ext cx="6242685" cy="4351655"/>
          </a:xfrm>
        </p:spPr>
        <p:txBody>
          <a:bodyPr/>
          <a:lstStyle/>
          <a:p>
            <a:pPr>
              <a:spcBef>
                <a:spcPts val="400"/>
              </a:spcBef>
            </a:pPr>
            <a:r>
              <a:rPr lang="zh-CN" altLang="en-US" b="1" dirty="0">
                <a:latin typeface="Times New Roman" panose="02020603050405020304" pitchFamily="18" charset="0"/>
                <a:cs typeface="Times New Roman" panose="02020603050405020304" pitchFamily="18" charset="0"/>
              </a:rPr>
              <a:t>放疗事故（</a:t>
            </a:r>
            <a:r>
              <a:rPr lang="en-US" altLang="zh-CN" b="1" dirty="0">
                <a:latin typeface="Times New Roman" panose="02020603050405020304" pitchFamily="18" charset="0"/>
                <a:cs typeface="Times New Roman" panose="02020603050405020304" pitchFamily="18" charset="0"/>
              </a:rPr>
              <a:t>Therac-25</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a:spcBef>
                <a:spcPts val="400"/>
              </a:spcBef>
            </a:pPr>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1985</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6</a:t>
            </a:r>
            <a:r>
              <a:rPr lang="zh-CN" altLang="en-US" dirty="0">
                <a:latin typeface="Times New Roman" panose="02020603050405020304" pitchFamily="18" charset="0"/>
                <a:cs typeface="Times New Roman" panose="02020603050405020304" pitchFamily="18" charset="0"/>
              </a:rPr>
              <a:t>月至</a:t>
            </a:r>
            <a:r>
              <a:rPr lang="en-US" altLang="zh-CN" dirty="0">
                <a:latin typeface="Times New Roman" panose="02020603050405020304" pitchFamily="18" charset="0"/>
                <a:cs typeface="Times New Roman" panose="02020603050405020304" pitchFamily="18" charset="0"/>
              </a:rPr>
              <a:t>1987</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月之间，有六名患者因计算机控制的放射治疗机</a:t>
            </a:r>
            <a:r>
              <a:rPr lang="en-US" altLang="zh-CN" dirty="0" err="1">
                <a:latin typeface="Times New Roman" panose="02020603050405020304" pitchFamily="18" charset="0"/>
                <a:cs typeface="Times New Roman" panose="02020603050405020304" pitchFamily="18" charset="0"/>
              </a:rPr>
              <a:t>Therac</a:t>
            </a:r>
            <a:r>
              <a:rPr lang="en-US" altLang="zh-CN" dirty="0">
                <a:latin typeface="Times New Roman" panose="02020603050405020304" pitchFamily="18" charset="0"/>
                <a:cs typeface="Times New Roman" panose="02020603050405020304" pitchFamily="18" charset="0"/>
              </a:rPr>
              <a:t> 25</a:t>
            </a:r>
            <a:r>
              <a:rPr lang="zh-CN" altLang="en-US" dirty="0">
                <a:latin typeface="Times New Roman" panose="02020603050405020304" pitchFamily="18" charset="0"/>
                <a:cs typeface="Times New Roman" panose="02020603050405020304" pitchFamily="18" charset="0"/>
              </a:rPr>
              <a:t>的大量过量辐射而严重受伤或丧生。</a:t>
            </a:r>
            <a:endParaRPr lang="en-US" altLang="zh-CN" dirty="0">
              <a:latin typeface="Times New Roman" panose="02020603050405020304" pitchFamily="18" charset="0"/>
              <a:cs typeface="Times New Roman" panose="02020603050405020304" pitchFamily="18" charset="0"/>
            </a:endParaRPr>
          </a:p>
          <a:p>
            <a:pPr>
              <a:spcBef>
                <a:spcPts val="400"/>
              </a:spcBef>
            </a:pPr>
            <a:r>
              <a:rPr lang="zh-CN" altLang="en-US" dirty="0">
                <a:latin typeface="Times New Roman" panose="02020603050405020304" pitchFamily="18" charset="0"/>
                <a:cs typeface="Times New Roman" panose="02020603050405020304" pitchFamily="18" charset="0"/>
              </a:rPr>
              <a:t>检测到的软件问题包括</a:t>
            </a:r>
            <a:r>
              <a:rPr lang="zh-CN" altLang="en-US" dirty="0">
                <a:solidFill>
                  <a:srgbClr val="FF0000"/>
                </a:solidFill>
                <a:latin typeface="Times New Roman" panose="02020603050405020304" pitchFamily="18" charset="0"/>
                <a:cs typeface="Times New Roman" panose="02020603050405020304" pitchFamily="18" charset="0"/>
              </a:rPr>
              <a:t>竞争条件和算术溢出</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400290" y="1825431"/>
            <a:ext cx="4493173" cy="37289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p>
        </p:txBody>
      </p:sp>
      <p:sp>
        <p:nvSpPr>
          <p:cNvPr id="3" name="内容占位符 2"/>
          <p:cNvSpPr>
            <a:spLocks noGrp="1"/>
          </p:cNvSpPr>
          <p:nvPr>
            <p:ph idx="1"/>
          </p:nvPr>
        </p:nvSpPr>
        <p:spPr/>
        <p:txBody>
          <a:bodyPr/>
          <a:lstStyle/>
          <a:p>
            <a:r>
              <a:rPr lang="zh-CN" altLang="en-US"/>
              <a:t>北京机场信息系统瘫痪</a:t>
            </a:r>
            <a:endParaRPr lang="zh-CN" altLang="en-US"/>
          </a:p>
          <a:p>
            <a:pPr lvl="1"/>
            <a:r>
              <a:rPr lang="en-US" altLang="zh-CN" sz="2400"/>
              <a:t>2007</a:t>
            </a:r>
            <a:r>
              <a:rPr lang="zh-CN" altLang="en-US" sz="2400"/>
              <a:t>年</a:t>
            </a:r>
            <a:r>
              <a:rPr lang="en-US" altLang="zh-CN" sz="2400"/>
              <a:t>10</a:t>
            </a:r>
            <a:r>
              <a:rPr lang="zh-CN" altLang="en-US" sz="2400"/>
              <a:t>月，北京首都国际机场的离港系统发生故障，短短</a:t>
            </a:r>
            <a:r>
              <a:rPr lang="en-US" altLang="zh-CN" sz="2400"/>
              <a:t>50</a:t>
            </a:r>
            <a:r>
              <a:rPr lang="zh-CN" altLang="en-US" sz="2400"/>
              <a:t>分钟内，至少</a:t>
            </a:r>
            <a:r>
              <a:rPr lang="en-US" altLang="zh-CN" sz="2400"/>
              <a:t>84</a:t>
            </a:r>
            <a:r>
              <a:rPr lang="zh-CN" altLang="en-US" sz="2400"/>
              <a:t>个离港航班发生延误。</a:t>
            </a:r>
            <a:endParaRPr lang="zh-CN" altLang="en-US" sz="2400"/>
          </a:p>
          <a:p>
            <a:pPr lvl="1"/>
            <a:r>
              <a:rPr lang="zh-CN" altLang="en-US" sz="2400"/>
              <a:t>事后分析，该系统由美国某家公司研发，其</a:t>
            </a:r>
            <a:r>
              <a:rPr lang="zh-CN" altLang="en-US" sz="2400" b="1">
                <a:solidFill>
                  <a:srgbClr val="FF0000"/>
                </a:solidFill>
              </a:rPr>
              <a:t>软件缺陷引发有关信息系统安全方面的问题</a:t>
            </a:r>
            <a:r>
              <a:rPr lang="zh-CN" altLang="en-US" sz="2400"/>
              <a:t>。</a:t>
            </a:r>
            <a:endParaRPr lang="zh-CN" altLang="en-US"/>
          </a:p>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1.1.2 </a:t>
            </a:r>
            <a:r>
              <a:rPr lang="zh-CN" altLang="en-US">
                <a:solidFill>
                  <a:srgbClr val="C00000"/>
                </a:solidFill>
                <a:sym typeface="+mn-ea"/>
              </a:rPr>
              <a:t>软件失效行为的复杂</a:t>
            </a:r>
            <a:endParaRPr lang="zh-CN" altLang="en-US"/>
          </a:p>
        </p:txBody>
      </p:sp>
      <p:sp>
        <p:nvSpPr>
          <p:cNvPr id="3" name="内容占位符 2"/>
          <p:cNvSpPr>
            <a:spLocks noGrp="1"/>
          </p:cNvSpPr>
          <p:nvPr>
            <p:ph idx="1"/>
          </p:nvPr>
        </p:nvSpPr>
        <p:spPr/>
        <p:txBody>
          <a:bodyPr/>
          <a:lstStyle/>
          <a:p>
            <a:r>
              <a:rPr lang="en-US" altLang="zh-CN"/>
              <a:t>F-22</a:t>
            </a:r>
            <a:r>
              <a:rPr lang="zh-CN" altLang="en-US"/>
              <a:t>战机的故障</a:t>
            </a:r>
            <a:endParaRPr lang="zh-CN" altLang="en-US"/>
          </a:p>
          <a:p>
            <a:pPr lvl="1"/>
            <a:r>
              <a:rPr lang="en-US" altLang="zh-CN"/>
              <a:t>2007</a:t>
            </a:r>
            <a:r>
              <a:rPr lang="zh-CN" altLang="en-US"/>
              <a:t>年</a:t>
            </a:r>
            <a:r>
              <a:rPr lang="en-US" altLang="zh-CN"/>
              <a:t>2</a:t>
            </a:r>
            <a:r>
              <a:rPr lang="zh-CN" altLang="en-US"/>
              <a:t>月，美军</a:t>
            </a:r>
            <a:r>
              <a:rPr lang="en-US" altLang="zh-CN"/>
              <a:t>F-22</a:t>
            </a:r>
            <a:r>
              <a:rPr lang="zh-CN" altLang="en-US"/>
              <a:t>战机从夏威夷飞往日本，</a:t>
            </a:r>
            <a:r>
              <a:rPr lang="zh-CN" altLang="en-US" b="1">
                <a:solidFill>
                  <a:srgbClr val="FF0000"/>
                </a:solidFill>
              </a:rPr>
              <a:t>软件设计时没有考虑地理边界问题，途径日期变更线时，触发软件缺陷</a:t>
            </a:r>
            <a:r>
              <a:rPr lang="zh-CN" altLang="en-US"/>
              <a:t>，飞机上全球定位系统失误，计算机系统崩溃。</a:t>
            </a:r>
            <a:endParaRPr lang="zh-CN" altLang="en-US"/>
          </a:p>
          <a:p>
            <a:pPr lvl="1"/>
            <a:r>
              <a:rPr lang="zh-CN" altLang="en-US"/>
              <a:t>洛克希德</a:t>
            </a:r>
            <a:r>
              <a:rPr lang="en-US" altLang="zh-CN"/>
              <a:t>.</a:t>
            </a:r>
            <a:r>
              <a:rPr lang="zh-CN" altLang="en-US"/>
              <a:t>马丁公司对该系统进行了维护，</a:t>
            </a:r>
            <a:r>
              <a:rPr lang="en-US" altLang="zh-CN"/>
              <a:t>48</a:t>
            </a:r>
            <a:r>
              <a:rPr lang="zh-CN" altLang="en-US"/>
              <a:t>小时后提供了新的软件版本。</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sym typeface="+mn-ea"/>
              </a:rPr>
              <a:t>1.1.3 </a:t>
            </a:r>
            <a:r>
              <a:rPr lang="zh-CN" altLang="en-US">
                <a:solidFill>
                  <a:srgbClr val="C00000"/>
                </a:solidFill>
                <a:sym typeface="+mn-ea"/>
              </a:rPr>
              <a:t>软件工程过程的复杂</a:t>
            </a:r>
            <a:endParaRPr lang="zh-CN" altLang="en-US">
              <a:solidFill>
                <a:srgbClr val="C00000"/>
              </a:solidFill>
              <a:sym typeface="+mn-ea"/>
            </a:endParaRPr>
          </a:p>
        </p:txBody>
      </p:sp>
      <p:sp>
        <p:nvSpPr>
          <p:cNvPr id="3" name="内容占位符 2"/>
          <p:cNvSpPr>
            <a:spLocks noGrp="1"/>
          </p:cNvSpPr>
          <p:nvPr>
            <p:ph idx="1"/>
          </p:nvPr>
        </p:nvSpPr>
        <p:spPr/>
        <p:txBody>
          <a:bodyPr>
            <a:normAutofit/>
          </a:bodyPr>
          <a:lstStyle/>
          <a:p>
            <a:r>
              <a:rPr lang="zh-CN" altLang="en-US" sz="2400" b="1">
                <a:solidFill>
                  <a:srgbClr val="FF0000"/>
                </a:solidFill>
              </a:rPr>
              <a:t>复杂软件系统通常由相当数量的局部自治的软件系统相互耦合关联而成</a:t>
            </a:r>
            <a:r>
              <a:rPr lang="zh-CN" altLang="en-US" sz="2400"/>
              <a:t>，具有</a:t>
            </a:r>
            <a:r>
              <a:rPr lang="en-US" altLang="zh-CN" sz="2400"/>
              <a:t>“</a:t>
            </a:r>
            <a:r>
              <a:rPr lang="zh-CN" altLang="en-US" sz="2400"/>
              <a:t>系统之系统</a:t>
            </a:r>
            <a:r>
              <a:rPr lang="en-US" altLang="zh-CN" sz="2400"/>
              <a:t>”</a:t>
            </a:r>
            <a:r>
              <a:rPr lang="zh-CN" altLang="en-US" sz="2400"/>
              <a:t>、</a:t>
            </a:r>
            <a:r>
              <a:rPr lang="en-US" altLang="zh-CN" sz="2400"/>
              <a:t>“</a:t>
            </a:r>
            <a:r>
              <a:rPr lang="zh-CN" altLang="en-US" sz="2400"/>
              <a:t>信息</a:t>
            </a:r>
            <a:r>
              <a:rPr lang="en-US" altLang="zh-CN" sz="2400"/>
              <a:t>-</a:t>
            </a:r>
            <a:r>
              <a:rPr lang="zh-CN" altLang="en-US" sz="2400"/>
              <a:t>物理</a:t>
            </a:r>
            <a:r>
              <a:rPr lang="en-US" altLang="zh-CN" sz="2400"/>
              <a:t>”</a:t>
            </a:r>
            <a:r>
              <a:rPr lang="zh-CN" altLang="en-US" sz="2400"/>
              <a:t>融合系统和</a:t>
            </a:r>
            <a:r>
              <a:rPr lang="en-US" altLang="zh-CN" sz="2400"/>
              <a:t>“</a:t>
            </a:r>
            <a:r>
              <a:rPr lang="zh-CN" altLang="en-US" sz="2400"/>
              <a:t>社会</a:t>
            </a:r>
            <a:r>
              <a:rPr lang="en-US" altLang="zh-CN" sz="2400"/>
              <a:t>-</a:t>
            </a:r>
            <a:r>
              <a:rPr lang="zh-CN" altLang="en-US" sz="2400"/>
              <a:t>技术</a:t>
            </a:r>
            <a:r>
              <a:rPr lang="en-US" altLang="zh-CN" sz="2400"/>
              <a:t>”</a:t>
            </a:r>
            <a:r>
              <a:rPr lang="zh-CN" altLang="en-US" sz="2400"/>
              <a:t>交融系统的特点。</a:t>
            </a:r>
            <a:endParaRPr lang="zh-CN" altLang="en-US" sz="2400"/>
          </a:p>
          <a:p>
            <a:r>
              <a:rPr lang="zh-CN" altLang="en-US" sz="2400"/>
              <a:t>复杂软件开发过程涉及大量不同目标的投资者，以及不同类型的开发者、维护者和使用者等大量利益相关者。</a:t>
            </a:r>
            <a:endParaRPr lang="zh-CN" altLang="en-US" sz="2400"/>
          </a:p>
          <a:p>
            <a:r>
              <a:rPr lang="zh-CN" altLang="en-US" sz="2400"/>
              <a:t>经典的软件开发方法很难有效支撑复杂系统的构造。</a:t>
            </a:r>
            <a:endParaRPr lang="zh-CN" altLang="en-US" sz="2400"/>
          </a:p>
          <a:p>
            <a:r>
              <a:rPr lang="zh-CN" altLang="en-US" sz="2400"/>
              <a:t>复杂软件系统的持续开发、部署、更新和调整的过程长达数年或几十年。</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rPr>
              <a:t>1.2 复杂软件系统</a:t>
            </a:r>
            <a:endParaRPr lang="zh-CN" altLang="en-US">
              <a:solidFill>
                <a:srgbClr val="C00000"/>
              </a:solidFill>
            </a:endParaRPr>
          </a:p>
        </p:txBody>
      </p:sp>
      <p:sp>
        <p:nvSpPr>
          <p:cNvPr id="3" name="内容占位符 2"/>
          <p:cNvSpPr>
            <a:spLocks noGrp="1"/>
          </p:cNvSpPr>
          <p:nvPr>
            <p:ph idx="1"/>
          </p:nvPr>
        </p:nvSpPr>
        <p:spPr/>
        <p:txBody>
          <a:bodyPr/>
          <a:lstStyle/>
          <a:p>
            <a:r>
              <a:rPr lang="zh-CN" altLang="en-US"/>
              <a:t>复杂软件系统的定义</a:t>
            </a:r>
            <a:endParaRPr lang="zh-CN" altLang="en-US"/>
          </a:p>
          <a:p>
            <a:pPr lvl="1"/>
            <a:r>
              <a:rPr lang="zh-CN" altLang="en-US"/>
              <a:t>复杂软件系统是指由大量局部自治软件系统持续集成、相互耦合关联而成的大型软件系统。</a:t>
            </a:r>
            <a:endParaRPr lang="zh-CN" altLang="en-US"/>
          </a:p>
          <a:p>
            <a:pPr lvl="1"/>
            <a:r>
              <a:rPr lang="zh-CN" altLang="en-US"/>
              <a:t>复杂软件系统与其所作用的社会系统和物理系统密切相关，系统要素之间的耦合关系动态复杂而且日趋复杂，整个系统的行为难以通过各自自治系统特征的简单叠加予以刻画。</a:t>
            </a:r>
            <a:endParaRPr lang="zh-CN" altLang="en-US"/>
          </a:p>
          <a:p>
            <a:r>
              <a:rPr lang="zh-CN" altLang="en-US"/>
              <a:t>最大特征：</a:t>
            </a:r>
            <a:r>
              <a:rPr lang="zh-CN" altLang="en-US" b="1">
                <a:solidFill>
                  <a:srgbClr val="FF0000"/>
                </a:solidFill>
              </a:rPr>
              <a:t>涌现性（Emergent properties）</a:t>
            </a:r>
            <a:endParaRPr lang="zh-CN" altLang="en-US" b="1">
              <a:solidFill>
                <a:srgbClr val="FF0000"/>
              </a:solidFill>
            </a:endParaRPr>
          </a:p>
          <a:p>
            <a:pPr lvl="1"/>
            <a:r>
              <a:rPr lang="zh-CN" altLang="en-US"/>
              <a:t>多个要素组成系统后，出现了系统组成前单个要素所不具有的性质。</a:t>
            </a:r>
            <a:endParaRPr lang="zh-CN" altLang="en-US"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1.2 复杂软件系统</a:t>
            </a:r>
            <a:endParaRPr lang="zh-CN" altLang="en-US"/>
          </a:p>
        </p:txBody>
      </p:sp>
      <p:sp>
        <p:nvSpPr>
          <p:cNvPr id="3" name="内容占位符 2"/>
          <p:cNvSpPr>
            <a:spLocks noGrp="1"/>
          </p:cNvSpPr>
          <p:nvPr>
            <p:ph idx="1"/>
          </p:nvPr>
        </p:nvSpPr>
        <p:spPr/>
        <p:txBody>
          <a:bodyPr/>
          <a:lstStyle/>
          <a:p>
            <a:r>
              <a:rPr lang="zh-CN" altLang="en-US"/>
              <a:t>复杂软件系统的形成机理</a:t>
            </a:r>
            <a:endParaRPr lang="zh-CN" altLang="en-US"/>
          </a:p>
          <a:p>
            <a:pPr lvl="1"/>
            <a:r>
              <a:rPr lang="zh-CN" altLang="en-US" b="1">
                <a:solidFill>
                  <a:srgbClr val="0070C0"/>
                </a:solidFill>
              </a:rPr>
              <a:t>关联性</a:t>
            </a:r>
            <a:endParaRPr lang="zh-CN" altLang="en-US" b="1">
              <a:solidFill>
                <a:srgbClr val="0070C0"/>
              </a:solidFill>
            </a:endParaRPr>
          </a:p>
          <a:p>
            <a:pPr lvl="2"/>
            <a:r>
              <a:rPr lang="zh-CN" altLang="en-US" sz="2000"/>
              <a:t>复杂软件系统基于单个主体间的长程关联，导致呈现非线性和系统效应</a:t>
            </a:r>
            <a:endParaRPr lang="zh-CN" altLang="en-US"/>
          </a:p>
          <a:p>
            <a:pPr lvl="1" algn="l">
              <a:buClrTx/>
              <a:buSzTx/>
            </a:pPr>
            <a:r>
              <a:rPr lang="zh-CN" altLang="en-US" b="1">
                <a:solidFill>
                  <a:srgbClr val="0070C0"/>
                </a:solidFill>
              </a:rPr>
              <a:t>时间性</a:t>
            </a:r>
            <a:endParaRPr lang="zh-CN" altLang="en-US" b="1">
              <a:solidFill>
                <a:srgbClr val="0070C0"/>
              </a:solidFill>
            </a:endParaRPr>
          </a:p>
          <a:p>
            <a:pPr lvl="2"/>
            <a:r>
              <a:rPr lang="zh-CN" altLang="en-US" sz="2000"/>
              <a:t>离散的计算机系统</a:t>
            </a:r>
            <a:r>
              <a:rPr lang="en-US" altLang="zh-CN" sz="2000"/>
              <a:t> </a:t>
            </a:r>
            <a:r>
              <a:rPr lang="zh-CN" altLang="en-US" sz="2000"/>
              <a:t>需要刻画</a:t>
            </a:r>
            <a:r>
              <a:rPr lang="en-US" altLang="zh-CN" sz="2000"/>
              <a:t> </a:t>
            </a:r>
            <a:r>
              <a:rPr lang="zh-CN" altLang="en-US" sz="2000"/>
              <a:t>续时间变化过程</a:t>
            </a:r>
            <a:endParaRPr lang="zh-CN" altLang="en-US"/>
          </a:p>
          <a:p>
            <a:pPr lvl="1" algn="l">
              <a:buClrTx/>
              <a:buSzTx/>
            </a:pPr>
            <a:r>
              <a:rPr lang="zh-CN" altLang="en-US" b="1">
                <a:solidFill>
                  <a:srgbClr val="0070C0"/>
                </a:solidFill>
              </a:rPr>
              <a:t>使用性</a:t>
            </a:r>
            <a:endParaRPr lang="zh-CN" altLang="en-US" b="1">
              <a:solidFill>
                <a:srgbClr val="0070C0"/>
              </a:solidFill>
            </a:endParaRPr>
          </a:p>
          <a:p>
            <a:pPr lvl="2"/>
            <a:r>
              <a:rPr lang="zh-CN" altLang="en-US"/>
              <a:t>各个自治个体具有不同的使用剖面，造成软件系统运行状态空间剧增</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1.2 复杂软件系统</a:t>
            </a:r>
            <a:endParaRPr lang="zh-CN" altLang="en-US"/>
          </a:p>
        </p:txBody>
      </p:sp>
      <p:sp>
        <p:nvSpPr>
          <p:cNvPr id="3" name="内容占位符 2"/>
          <p:cNvSpPr>
            <a:spLocks noGrp="1"/>
          </p:cNvSpPr>
          <p:nvPr>
            <p:ph idx="1"/>
          </p:nvPr>
        </p:nvSpPr>
        <p:spPr/>
        <p:txBody>
          <a:bodyPr/>
          <a:lstStyle/>
          <a:p>
            <a:r>
              <a:rPr lang="zh-CN" altLang="en-US"/>
              <a:t>根据软件构型不同，复杂软件系统分为两类：</a:t>
            </a:r>
            <a:endParaRPr lang="zh-CN" altLang="en-US"/>
          </a:p>
          <a:p>
            <a:pPr lvl="1"/>
            <a:r>
              <a:rPr lang="zh-CN" altLang="en-US" b="1">
                <a:solidFill>
                  <a:srgbClr val="0070C0"/>
                </a:solidFill>
              </a:rPr>
              <a:t>集成型复杂软件系统</a:t>
            </a:r>
            <a:endParaRPr lang="zh-CN" altLang="en-US" b="1">
              <a:solidFill>
                <a:srgbClr val="0070C0"/>
              </a:solidFill>
            </a:endParaRPr>
          </a:p>
          <a:p>
            <a:pPr lvl="2"/>
            <a:r>
              <a:rPr lang="zh-CN" altLang="en-US" sz="2000"/>
              <a:t>代码规模、模块数量、模块间交互复杂度较高</a:t>
            </a:r>
            <a:endParaRPr lang="zh-CN" altLang="en-US" sz="2000"/>
          </a:p>
          <a:p>
            <a:pPr lvl="2"/>
            <a:r>
              <a:rPr lang="zh-CN" altLang="en-US" sz="2000"/>
              <a:t>各模块复杂独立，但是为统一任务而协作</a:t>
            </a:r>
            <a:endParaRPr lang="zh-CN" altLang="en-US" sz="2000"/>
          </a:p>
          <a:p>
            <a:pPr lvl="1" algn="l">
              <a:buClrTx/>
              <a:buSzTx/>
            </a:pPr>
            <a:r>
              <a:rPr lang="zh-CN" altLang="en-US" b="1">
                <a:solidFill>
                  <a:srgbClr val="0070C0"/>
                </a:solidFill>
              </a:rPr>
              <a:t>分布型复杂软件系统</a:t>
            </a:r>
            <a:endParaRPr lang="zh-CN" altLang="en-US" b="1">
              <a:solidFill>
                <a:srgbClr val="0070C0"/>
              </a:solidFill>
            </a:endParaRPr>
          </a:p>
          <a:p>
            <a:pPr lvl="2"/>
            <a:r>
              <a:rPr lang="zh-CN" altLang="en-US"/>
              <a:t>空间或地理上分布</a:t>
            </a:r>
            <a:endParaRPr lang="zh-CN" altLang="en-US"/>
          </a:p>
          <a:p>
            <a:pPr lvl="2"/>
            <a:r>
              <a:rPr lang="zh-CN" altLang="en-US"/>
              <a:t>各软件系统执行各自独立的任务</a:t>
            </a:r>
            <a:endParaRPr lang="zh-CN" altLang="en-US"/>
          </a:p>
          <a:p>
            <a:pPr lvl="2"/>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1.2 复杂软件系统</a:t>
            </a:r>
            <a:endParaRPr lang="zh-CN" altLang="en-US"/>
          </a:p>
        </p:txBody>
      </p:sp>
      <p:sp>
        <p:nvSpPr>
          <p:cNvPr id="3" name="内容占位符 2"/>
          <p:cNvSpPr>
            <a:spLocks noGrp="1"/>
          </p:cNvSpPr>
          <p:nvPr>
            <p:ph idx="1"/>
          </p:nvPr>
        </p:nvSpPr>
        <p:spPr/>
        <p:txBody>
          <a:bodyPr/>
          <a:lstStyle/>
          <a:p>
            <a:pPr lvl="1"/>
            <a:r>
              <a:rPr lang="zh-CN" altLang="en-US" b="1">
                <a:solidFill>
                  <a:srgbClr val="0070C0"/>
                </a:solidFill>
              </a:rPr>
              <a:t>集成型复杂软件系统</a:t>
            </a:r>
            <a:endParaRPr lang="zh-CN" altLang="en-US" b="1">
              <a:solidFill>
                <a:srgbClr val="0070C0"/>
              </a:solidFill>
            </a:endParaRPr>
          </a:p>
          <a:p>
            <a:pPr lvl="2"/>
            <a:endParaRPr lang="zh-CN" altLang="en-US"/>
          </a:p>
        </p:txBody>
      </p:sp>
      <p:pic>
        <p:nvPicPr>
          <p:cNvPr id="4" name="图片 3"/>
          <p:cNvPicPr/>
          <p:nvPr/>
        </p:nvPicPr>
        <p:blipFill>
          <a:blip r:embed="rId1"/>
          <a:stretch>
            <a:fillRect/>
          </a:stretch>
        </p:blipFill>
        <p:spPr>
          <a:xfrm>
            <a:off x="4711700" y="1768475"/>
            <a:ext cx="6854190" cy="4536440"/>
          </a:xfrm>
          <a:prstGeom prst="rect">
            <a:avLst/>
          </a:prstGeom>
        </p:spPr>
      </p:pic>
      <p:sp>
        <p:nvSpPr>
          <p:cNvPr id="5" name="文本框 4"/>
          <p:cNvSpPr txBox="1"/>
          <p:nvPr/>
        </p:nvSpPr>
        <p:spPr>
          <a:xfrm>
            <a:off x="1511300" y="2150745"/>
            <a:ext cx="2734310" cy="3815080"/>
          </a:xfrm>
          <a:prstGeom prst="rect">
            <a:avLst/>
          </a:prstGeom>
        </p:spPr>
        <p:txBody>
          <a:bodyPr wrap="square">
            <a:spAutoFit/>
          </a:bodyPr>
          <a:lstStyle/>
          <a:p>
            <a:pPr marL="0" indent="0"/>
            <a:r>
              <a:rPr lang="zh-CN" altLang="en-US" sz="2200" b="0" i="0"/>
              <a:t>GeoEast V1.0系统是一款创新的地震数据处理和解释一体化软件，它作为一款统一的平台，集数据处理、显示和开发于一体。该系统的核心优势在于其灵活性，能够动态地进行系统配置和组装，满足协同工作的需求。</a:t>
            </a:r>
            <a:endParaRPr lang="zh-CN" altLang="en-US" sz="2200" b="0" i="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1.2 复杂软件系统</a:t>
            </a:r>
            <a:endParaRPr lang="zh-CN" altLang="en-US"/>
          </a:p>
        </p:txBody>
      </p:sp>
      <p:sp>
        <p:nvSpPr>
          <p:cNvPr id="3" name="内容占位符 2"/>
          <p:cNvSpPr>
            <a:spLocks noGrp="1"/>
          </p:cNvSpPr>
          <p:nvPr>
            <p:ph idx="1"/>
          </p:nvPr>
        </p:nvSpPr>
        <p:spPr/>
        <p:txBody>
          <a:bodyPr/>
          <a:lstStyle/>
          <a:p>
            <a:r>
              <a:rPr lang="zh-CN" altLang="en-US"/>
              <a:t>复杂软件系统特征</a:t>
            </a:r>
            <a:endParaRPr lang="zh-CN" altLang="en-US"/>
          </a:p>
          <a:p>
            <a:pPr lvl="1"/>
            <a:r>
              <a:rPr lang="zh-CN" altLang="en-US"/>
              <a:t>由各种系统组合而成，结构可以分解</a:t>
            </a:r>
            <a:endParaRPr lang="zh-CN" altLang="en-US"/>
          </a:p>
          <a:p>
            <a:pPr lvl="1"/>
            <a:r>
              <a:rPr lang="zh-CN" altLang="en-US"/>
              <a:t>各个组成部分不仅结构有差异，开发者与开发过程也不相同</a:t>
            </a:r>
            <a:endParaRPr lang="zh-CN" altLang="en-US"/>
          </a:p>
          <a:p>
            <a:pPr lvl="1"/>
            <a:r>
              <a:rPr lang="zh-CN" altLang="en-US"/>
              <a:t>系统结构的网络化程度剧增</a:t>
            </a:r>
            <a:endParaRPr lang="zh-CN" altLang="en-US"/>
          </a:p>
          <a:p>
            <a:pPr lvl="1"/>
            <a:r>
              <a:rPr lang="zh-CN" altLang="en-US"/>
              <a:t>通常没有一个主控中心控制系统中的所有部件</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1.2 复杂软件系统</a:t>
            </a:r>
            <a:endParaRPr lang="zh-CN" altLang="en-US"/>
          </a:p>
        </p:txBody>
      </p:sp>
      <p:sp>
        <p:nvSpPr>
          <p:cNvPr id="3" name="内容占位符 2"/>
          <p:cNvSpPr>
            <a:spLocks noGrp="1"/>
          </p:cNvSpPr>
          <p:nvPr>
            <p:ph idx="1"/>
          </p:nvPr>
        </p:nvSpPr>
        <p:spPr/>
        <p:txBody>
          <a:bodyPr/>
          <a:lstStyle/>
          <a:p>
            <a:r>
              <a:rPr lang="zh-CN" altLang="en-US"/>
              <a:t>复杂软件系统</a:t>
            </a:r>
            <a:endParaRPr lang="zh-CN" altLang="en-US"/>
          </a:p>
          <a:p>
            <a:pPr lvl="1"/>
            <a:endParaRPr lang="zh-CN" altLang="en-US"/>
          </a:p>
        </p:txBody>
      </p:sp>
      <p:pic>
        <p:nvPicPr>
          <p:cNvPr id="18" name="图片 17"/>
          <p:cNvPicPr>
            <a:picLocks noChangeAspect="1"/>
          </p:cNvPicPr>
          <p:nvPr/>
        </p:nvPicPr>
        <p:blipFill>
          <a:blip r:embed="rId1"/>
          <a:stretch>
            <a:fillRect/>
          </a:stretch>
        </p:blipFill>
        <p:spPr>
          <a:xfrm>
            <a:off x="1146810" y="2337435"/>
            <a:ext cx="9969500" cy="40017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sp>
        <p:nvSpPr>
          <p:cNvPr id="3" name="内容占位符 2"/>
          <p:cNvSpPr>
            <a:spLocks noGrp="1"/>
          </p:cNvSpPr>
          <p:nvPr>
            <p:ph idx="1"/>
          </p:nvPr>
        </p:nvSpPr>
        <p:spPr/>
        <p:txBody>
          <a:bodyPr>
            <a:normAutofit lnSpcReduction="10000"/>
          </a:bodyPr>
          <a:lstStyle/>
          <a:p>
            <a:r>
              <a:rPr lang="zh-CN" altLang="en-US" b="1">
                <a:solidFill>
                  <a:srgbClr val="0070C0"/>
                </a:solidFill>
              </a:rPr>
              <a:t>超大规模系统</a:t>
            </a:r>
            <a:r>
              <a:rPr lang="zh-CN" altLang="en-US"/>
              <a:t>（</a:t>
            </a:r>
            <a:r>
              <a:rPr lang="en-US" altLang="zh-CN"/>
              <a:t>ultra-large-scale systems, ULS</a:t>
            </a:r>
            <a:r>
              <a:rPr lang="zh-CN" altLang="en-US"/>
              <a:t>）</a:t>
            </a:r>
            <a:endParaRPr lang="zh-CN" altLang="en-US"/>
          </a:p>
          <a:p>
            <a:pPr lvl="1"/>
            <a:r>
              <a:rPr lang="zh-CN" altLang="en-US"/>
              <a:t>由大量硬件、软件源代码和众多用户及大量数据组成的一类软件密集型系统</a:t>
            </a:r>
            <a:endParaRPr lang="zh-CN" altLang="en-US"/>
          </a:p>
          <a:p>
            <a:pPr lvl="1"/>
            <a:r>
              <a:rPr lang="zh-CN" altLang="en-US"/>
              <a:t>具有如下特征：</a:t>
            </a:r>
            <a:endParaRPr lang="zh-CN" altLang="en-US"/>
          </a:p>
          <a:p>
            <a:pPr lvl="2"/>
            <a:r>
              <a:rPr lang="zh-CN" altLang="en-US"/>
              <a:t>过程分散性</a:t>
            </a:r>
            <a:endParaRPr lang="zh-CN" altLang="en-US"/>
          </a:p>
          <a:p>
            <a:pPr lvl="2"/>
            <a:r>
              <a:rPr lang="zh-CN" altLang="en-US"/>
              <a:t>需求多样性、矛盾性和不可知性</a:t>
            </a:r>
            <a:endParaRPr lang="zh-CN" altLang="en-US"/>
          </a:p>
          <a:p>
            <a:pPr lvl="2"/>
            <a:r>
              <a:rPr lang="zh-CN" altLang="en-US"/>
              <a:t>持续演化</a:t>
            </a:r>
            <a:endParaRPr lang="zh-CN" altLang="en-US"/>
          </a:p>
          <a:p>
            <a:pPr lvl="2"/>
            <a:r>
              <a:rPr lang="zh-CN" altLang="en-US"/>
              <a:t>异构性和动态变化性</a:t>
            </a:r>
            <a:endParaRPr lang="zh-CN" altLang="en-US"/>
          </a:p>
          <a:p>
            <a:pPr lvl="2"/>
            <a:r>
              <a:rPr lang="zh-CN" altLang="en-US"/>
              <a:t>边界模糊性</a:t>
            </a:r>
            <a:endParaRPr lang="zh-CN" altLang="en-US"/>
          </a:p>
          <a:p>
            <a:pPr lvl="2"/>
            <a:r>
              <a:rPr lang="zh-CN" altLang="en-US"/>
              <a:t>失效常态性</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pic>
        <p:nvPicPr>
          <p:cNvPr id="100" name="图片 99"/>
          <p:cNvPicPr/>
          <p:nvPr>
            <p:custDataLst>
              <p:tags r:id="rId1"/>
            </p:custDataLst>
          </p:nvPr>
        </p:nvPicPr>
        <p:blipFill>
          <a:blip r:embed="rId2"/>
          <a:stretch>
            <a:fillRect/>
          </a:stretch>
        </p:blipFill>
        <p:spPr>
          <a:xfrm>
            <a:off x="2324100" y="1300480"/>
            <a:ext cx="7816850" cy="531495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sp>
        <p:nvSpPr>
          <p:cNvPr id="3" name="内容占位符 2"/>
          <p:cNvSpPr>
            <a:spLocks noGrp="1"/>
          </p:cNvSpPr>
          <p:nvPr>
            <p:ph idx="1"/>
          </p:nvPr>
        </p:nvSpPr>
        <p:spPr/>
        <p:txBody>
          <a:bodyPr/>
          <a:lstStyle/>
          <a:p>
            <a:r>
              <a:rPr lang="zh-CN" altLang="en-US"/>
              <a:t>信息物理系统（</a:t>
            </a:r>
            <a:r>
              <a:rPr lang="en-US" altLang="zh-CN"/>
              <a:t>cyber-physical systems, CPS</a:t>
            </a:r>
            <a:r>
              <a:rPr lang="zh-CN" altLang="en-US"/>
              <a:t>）</a:t>
            </a:r>
            <a:endParaRPr lang="zh-CN" altLang="en-US"/>
          </a:p>
          <a:p>
            <a:pPr lvl="1"/>
            <a:r>
              <a:rPr lang="zh-CN" altLang="en-US"/>
              <a:t>多维异构的计算单元和物理对象在网络环境中高度集成交互的新型智能复杂系统。</a:t>
            </a:r>
            <a:endParaRPr lang="zh-CN" altLang="en-US"/>
          </a:p>
          <a:p>
            <a:pPr lvl="1"/>
            <a:r>
              <a:rPr lang="zh-CN" altLang="en-US"/>
              <a:t>特点：实时、鲁棒、自治、高效、高性能</a:t>
            </a:r>
            <a:r>
              <a:rPr lang="en-US" altLang="zh-CN"/>
              <a:t>...</a:t>
            </a:r>
            <a:endParaRPr lang="en-US" altLang="zh-CN"/>
          </a:p>
          <a:p>
            <a:pPr lvl="1"/>
            <a:r>
              <a:rPr lang="zh-CN" altLang="en-US"/>
              <a:t>首要目标：安全、可靠</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sp>
        <p:nvSpPr>
          <p:cNvPr id="3" name="内容占位符 2"/>
          <p:cNvSpPr>
            <a:spLocks noGrp="1"/>
          </p:cNvSpPr>
          <p:nvPr>
            <p:ph idx="1"/>
          </p:nvPr>
        </p:nvSpPr>
        <p:spPr>
          <a:xfrm>
            <a:off x="838200" y="1538605"/>
            <a:ext cx="10515600" cy="2143760"/>
          </a:xfrm>
        </p:spPr>
        <p:txBody>
          <a:bodyPr/>
          <a:lstStyle/>
          <a:p>
            <a:r>
              <a:rPr lang="zh-CN" altLang="en-US"/>
              <a:t>物联网系统</a:t>
            </a:r>
            <a:endParaRPr lang="zh-CN" altLang="en-US"/>
          </a:p>
          <a:p>
            <a:r>
              <a:rPr lang="zh-CN" altLang="en-US"/>
              <a:t>物联网的特征：全面感知、可靠传递、智能处理</a:t>
            </a:r>
            <a:endParaRPr lang="zh-CN" altLang="en-US"/>
          </a:p>
          <a:p>
            <a:r>
              <a:rPr lang="zh-CN" altLang="en-US"/>
              <a:t>物联网的信息功能模型：</a:t>
            </a:r>
            <a:endParaRPr lang="zh-CN" altLang="en-US"/>
          </a:p>
        </p:txBody>
      </p:sp>
      <p:sp>
        <p:nvSpPr>
          <p:cNvPr id="4" name="矩形 3"/>
          <p:cNvSpPr/>
          <p:nvPr/>
        </p:nvSpPr>
        <p:spPr>
          <a:xfrm>
            <a:off x="2626995" y="3800475"/>
            <a:ext cx="1221105" cy="592455"/>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rgbClr val="002060"/>
                </a:solidFill>
              </a:rPr>
              <a:t>信息传输</a:t>
            </a:r>
            <a:endParaRPr lang="zh-CN" altLang="en-US" sz="2000" b="1">
              <a:solidFill>
                <a:srgbClr val="002060"/>
              </a:solidFill>
            </a:endParaRPr>
          </a:p>
        </p:txBody>
      </p:sp>
      <p:sp>
        <p:nvSpPr>
          <p:cNvPr id="5" name="矩形 4"/>
          <p:cNvSpPr/>
          <p:nvPr>
            <p:custDataLst>
              <p:tags r:id="rId1"/>
            </p:custDataLst>
          </p:nvPr>
        </p:nvSpPr>
        <p:spPr>
          <a:xfrm>
            <a:off x="5106035" y="3800475"/>
            <a:ext cx="1221105" cy="592455"/>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rgbClr val="002060"/>
                </a:solidFill>
              </a:rPr>
              <a:t>信息处理</a:t>
            </a:r>
            <a:endParaRPr lang="zh-CN" altLang="en-US" sz="2000" b="1">
              <a:solidFill>
                <a:srgbClr val="002060"/>
              </a:solidFill>
            </a:endParaRPr>
          </a:p>
        </p:txBody>
      </p:sp>
      <p:sp>
        <p:nvSpPr>
          <p:cNvPr id="6" name="矩形 5"/>
          <p:cNvSpPr/>
          <p:nvPr>
            <p:custDataLst>
              <p:tags r:id="rId2"/>
            </p:custDataLst>
          </p:nvPr>
        </p:nvSpPr>
        <p:spPr>
          <a:xfrm>
            <a:off x="7584758" y="3800475"/>
            <a:ext cx="1221105" cy="592455"/>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rgbClr val="002060"/>
                </a:solidFill>
              </a:rPr>
              <a:t>信息传输</a:t>
            </a:r>
            <a:endParaRPr lang="zh-CN" altLang="en-US" sz="2000" b="1">
              <a:solidFill>
                <a:srgbClr val="002060"/>
              </a:solidFill>
            </a:endParaRPr>
          </a:p>
        </p:txBody>
      </p:sp>
      <p:sp>
        <p:nvSpPr>
          <p:cNvPr id="7" name="矩形 6"/>
          <p:cNvSpPr/>
          <p:nvPr>
            <p:custDataLst>
              <p:tags r:id="rId3"/>
            </p:custDataLst>
          </p:nvPr>
        </p:nvSpPr>
        <p:spPr>
          <a:xfrm>
            <a:off x="2626995" y="5337175"/>
            <a:ext cx="1221105" cy="592455"/>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rgbClr val="002060"/>
                </a:solidFill>
              </a:rPr>
              <a:t>信息获取</a:t>
            </a:r>
            <a:endParaRPr lang="zh-CN" altLang="en-US" sz="2000" b="1">
              <a:solidFill>
                <a:srgbClr val="002060"/>
              </a:solidFill>
            </a:endParaRPr>
          </a:p>
        </p:txBody>
      </p:sp>
      <p:sp>
        <p:nvSpPr>
          <p:cNvPr id="8" name="矩形 7"/>
          <p:cNvSpPr/>
          <p:nvPr>
            <p:custDataLst>
              <p:tags r:id="rId4"/>
            </p:custDataLst>
          </p:nvPr>
        </p:nvSpPr>
        <p:spPr>
          <a:xfrm>
            <a:off x="7584758" y="5337175"/>
            <a:ext cx="1221105" cy="592455"/>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rgbClr val="002060"/>
                </a:solidFill>
              </a:rPr>
              <a:t>信息施效</a:t>
            </a:r>
            <a:endParaRPr lang="zh-CN" altLang="en-US" sz="2000" b="1">
              <a:solidFill>
                <a:srgbClr val="002060"/>
              </a:solidFill>
            </a:endParaRPr>
          </a:p>
        </p:txBody>
      </p:sp>
      <p:sp>
        <p:nvSpPr>
          <p:cNvPr id="9" name="椭圆 8"/>
          <p:cNvSpPr/>
          <p:nvPr/>
        </p:nvSpPr>
        <p:spPr>
          <a:xfrm>
            <a:off x="4794885" y="5137785"/>
            <a:ext cx="1813560" cy="991235"/>
          </a:xfrm>
          <a:prstGeom prst="ellipse">
            <a:avLst/>
          </a:prstGeom>
          <a:solidFill>
            <a:schemeClr val="accent6">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rgbClr val="002060"/>
                </a:solidFill>
              </a:rPr>
              <a:t>物理世界</a:t>
            </a:r>
            <a:endParaRPr lang="zh-CN" altLang="en-US" sz="2000" b="1">
              <a:solidFill>
                <a:srgbClr val="002060"/>
              </a:solidFill>
            </a:endParaRPr>
          </a:p>
        </p:txBody>
      </p:sp>
      <p:cxnSp>
        <p:nvCxnSpPr>
          <p:cNvPr id="10" name="直接箭头连接符 9"/>
          <p:cNvCxnSpPr>
            <a:stCxn id="4" idx="3"/>
            <a:endCxn id="5" idx="1"/>
          </p:cNvCxnSpPr>
          <p:nvPr/>
        </p:nvCxnSpPr>
        <p:spPr>
          <a:xfrm>
            <a:off x="3848100" y="4097020"/>
            <a:ext cx="12579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5" idx="3"/>
          </p:cNvCxnSpPr>
          <p:nvPr/>
        </p:nvCxnSpPr>
        <p:spPr>
          <a:xfrm>
            <a:off x="6327140" y="4097020"/>
            <a:ext cx="1263650"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6" idx="2"/>
            <a:endCxn id="8" idx="0"/>
          </p:cNvCxnSpPr>
          <p:nvPr/>
        </p:nvCxnSpPr>
        <p:spPr>
          <a:xfrm>
            <a:off x="8195310" y="4392930"/>
            <a:ext cx="0" cy="9442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8" idx="1"/>
            <a:endCxn id="9" idx="6"/>
          </p:cNvCxnSpPr>
          <p:nvPr/>
        </p:nvCxnSpPr>
        <p:spPr>
          <a:xfrm flipH="1">
            <a:off x="6608445" y="5633720"/>
            <a:ext cx="97663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a:stCxn id="9" idx="2"/>
            <a:endCxn id="7" idx="3"/>
          </p:cNvCxnSpPr>
          <p:nvPr/>
        </p:nvCxnSpPr>
        <p:spPr>
          <a:xfrm flipH="1">
            <a:off x="3848100" y="5633720"/>
            <a:ext cx="94678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7" idx="0"/>
            <a:endCxn id="4" idx="2"/>
          </p:cNvCxnSpPr>
          <p:nvPr/>
        </p:nvCxnSpPr>
        <p:spPr>
          <a:xfrm flipV="1">
            <a:off x="3237865" y="4392930"/>
            <a:ext cx="0" cy="9442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4159885" y="3681730"/>
            <a:ext cx="1221740" cy="398780"/>
          </a:xfrm>
          <a:prstGeom prst="rect">
            <a:avLst/>
          </a:prstGeom>
          <a:noFill/>
        </p:spPr>
        <p:txBody>
          <a:bodyPr wrap="square" rtlCol="0" anchor="t">
            <a:spAutoFit/>
          </a:bodyPr>
          <a:lstStyle/>
          <a:p>
            <a:r>
              <a:rPr lang="zh-CN" altLang="en-US" sz="2000">
                <a:sym typeface="+mn-ea"/>
              </a:rPr>
              <a:t>信息</a:t>
            </a:r>
            <a:endParaRPr lang="zh-CN" altLang="en-US" sz="2000">
              <a:sym typeface="+mn-ea"/>
            </a:endParaRPr>
          </a:p>
        </p:txBody>
      </p:sp>
      <p:sp>
        <p:nvSpPr>
          <p:cNvPr id="17" name="文本框 16"/>
          <p:cNvSpPr txBox="1"/>
          <p:nvPr>
            <p:custDataLst>
              <p:tags r:id="rId5"/>
            </p:custDataLst>
          </p:nvPr>
        </p:nvSpPr>
        <p:spPr>
          <a:xfrm>
            <a:off x="6584950" y="3702050"/>
            <a:ext cx="1221740" cy="398780"/>
          </a:xfrm>
          <a:prstGeom prst="rect">
            <a:avLst/>
          </a:prstGeom>
          <a:noFill/>
        </p:spPr>
        <p:txBody>
          <a:bodyPr wrap="square" rtlCol="0" anchor="t">
            <a:spAutoFit/>
          </a:bodyPr>
          <a:lstStyle/>
          <a:p>
            <a:r>
              <a:rPr lang="zh-CN" altLang="en-US" sz="2000">
                <a:sym typeface="+mn-ea"/>
              </a:rPr>
              <a:t>策略</a:t>
            </a:r>
            <a:endParaRPr lang="zh-CN" altLang="en-US" sz="2000">
              <a:sym typeface="+mn-ea"/>
            </a:endParaRPr>
          </a:p>
        </p:txBody>
      </p:sp>
      <p:sp>
        <p:nvSpPr>
          <p:cNvPr id="18" name="文本框 17"/>
          <p:cNvSpPr txBox="1"/>
          <p:nvPr>
            <p:custDataLst>
              <p:tags r:id="rId6"/>
            </p:custDataLst>
          </p:nvPr>
        </p:nvSpPr>
        <p:spPr>
          <a:xfrm>
            <a:off x="7549515" y="4569460"/>
            <a:ext cx="1221740" cy="398780"/>
          </a:xfrm>
          <a:prstGeom prst="rect">
            <a:avLst/>
          </a:prstGeom>
          <a:noFill/>
        </p:spPr>
        <p:txBody>
          <a:bodyPr wrap="square" rtlCol="0" anchor="t">
            <a:spAutoFit/>
          </a:bodyPr>
          <a:lstStyle/>
          <a:p>
            <a:r>
              <a:rPr lang="zh-CN" altLang="en-US" sz="2000">
                <a:sym typeface="+mn-ea"/>
              </a:rPr>
              <a:t>策略</a:t>
            </a:r>
            <a:endParaRPr lang="zh-CN" altLang="en-US" sz="2000">
              <a:sym typeface="+mn-ea"/>
            </a:endParaRPr>
          </a:p>
        </p:txBody>
      </p:sp>
      <p:sp>
        <p:nvSpPr>
          <p:cNvPr id="19" name="文本框 18"/>
          <p:cNvSpPr txBox="1"/>
          <p:nvPr>
            <p:custDataLst>
              <p:tags r:id="rId7"/>
            </p:custDataLst>
          </p:nvPr>
        </p:nvSpPr>
        <p:spPr>
          <a:xfrm>
            <a:off x="6819265" y="5234940"/>
            <a:ext cx="1221740" cy="398780"/>
          </a:xfrm>
          <a:prstGeom prst="rect">
            <a:avLst/>
          </a:prstGeom>
          <a:noFill/>
        </p:spPr>
        <p:txBody>
          <a:bodyPr wrap="square" rtlCol="0" anchor="t">
            <a:spAutoFit/>
          </a:bodyPr>
          <a:lstStyle/>
          <a:p>
            <a:r>
              <a:rPr lang="zh-CN" altLang="en-US" sz="2000">
                <a:sym typeface="+mn-ea"/>
              </a:rPr>
              <a:t>行为</a:t>
            </a:r>
            <a:endParaRPr lang="zh-CN" altLang="en-US" sz="2000">
              <a:sym typeface="+mn-ea"/>
            </a:endParaRPr>
          </a:p>
        </p:txBody>
      </p:sp>
      <p:sp>
        <p:nvSpPr>
          <p:cNvPr id="20" name="文本框 19"/>
          <p:cNvSpPr txBox="1"/>
          <p:nvPr>
            <p:custDataLst>
              <p:tags r:id="rId8"/>
            </p:custDataLst>
          </p:nvPr>
        </p:nvSpPr>
        <p:spPr>
          <a:xfrm>
            <a:off x="3237865" y="4569460"/>
            <a:ext cx="1221740" cy="398780"/>
          </a:xfrm>
          <a:prstGeom prst="rect">
            <a:avLst/>
          </a:prstGeom>
          <a:noFill/>
        </p:spPr>
        <p:txBody>
          <a:bodyPr wrap="square" rtlCol="0" anchor="t">
            <a:spAutoFit/>
          </a:bodyPr>
          <a:lstStyle/>
          <a:p>
            <a:r>
              <a:rPr lang="zh-CN" altLang="en-US" sz="2000">
                <a:sym typeface="+mn-ea"/>
              </a:rPr>
              <a:t>信息</a:t>
            </a:r>
            <a:endParaRPr lang="zh-CN" altLang="en-US" sz="2000">
              <a:sym typeface="+mn-ea"/>
            </a:endParaRPr>
          </a:p>
        </p:txBody>
      </p:sp>
      <p:sp>
        <p:nvSpPr>
          <p:cNvPr id="21" name="文本框 20"/>
          <p:cNvSpPr txBox="1"/>
          <p:nvPr>
            <p:custDataLst>
              <p:tags r:id="rId9"/>
            </p:custDataLst>
          </p:nvPr>
        </p:nvSpPr>
        <p:spPr>
          <a:xfrm>
            <a:off x="4093845" y="5234940"/>
            <a:ext cx="1221740" cy="398780"/>
          </a:xfrm>
          <a:prstGeom prst="rect">
            <a:avLst/>
          </a:prstGeom>
          <a:noFill/>
        </p:spPr>
        <p:txBody>
          <a:bodyPr wrap="square" rtlCol="0" anchor="t">
            <a:spAutoFit/>
          </a:bodyPr>
          <a:lstStyle/>
          <a:p>
            <a:r>
              <a:rPr lang="zh-CN" altLang="en-US" sz="2000">
                <a:sym typeface="+mn-ea"/>
              </a:rPr>
              <a:t>数据</a:t>
            </a:r>
            <a:endParaRPr lang="zh-CN" altLang="en-US" sz="200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543799" y="1532016"/>
            <a:ext cx="11085496" cy="4167559"/>
          </a:xfrm>
          <a:prstGeom prst="rect">
            <a:avLst/>
          </a:prstGeom>
        </p:spPr>
      </p:pic>
      <p:sp>
        <p:nvSpPr>
          <p:cNvPr id="6" name="文本框 5"/>
          <p:cNvSpPr txBox="1"/>
          <p:nvPr/>
        </p:nvSpPr>
        <p:spPr>
          <a:xfrm>
            <a:off x="4020820" y="5931535"/>
            <a:ext cx="6096000" cy="460375"/>
          </a:xfrm>
          <a:prstGeom prst="rect">
            <a:avLst/>
          </a:prstGeom>
          <a:noFill/>
        </p:spPr>
        <p:txBody>
          <a:bodyPr wrap="square" rtlCol="0" anchor="t">
            <a:spAutoFit/>
          </a:bodyPr>
          <a:lstStyle/>
          <a:p>
            <a:r>
              <a:rPr lang="zh-CN" altLang="en-US" sz="2400"/>
              <a:t>XiUOS矽璓工业物联操作系统</a:t>
            </a:r>
            <a:endParaRPr lang="zh-CN" altLang="en-US"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pic>
        <p:nvPicPr>
          <p:cNvPr id="3" name="图片 2"/>
          <p:cNvPicPr/>
          <p:nvPr/>
        </p:nvPicPr>
        <p:blipFill>
          <a:blip r:embed="rId1"/>
          <a:stretch>
            <a:fillRect/>
          </a:stretch>
        </p:blipFill>
        <p:spPr>
          <a:xfrm>
            <a:off x="398780" y="1300480"/>
            <a:ext cx="11393805" cy="5273040"/>
          </a:xfrm>
          <a:prstGeom prst="rect">
            <a:avLst/>
          </a:prstGeom>
        </p:spPr>
      </p:pic>
      <p:sp>
        <p:nvSpPr>
          <p:cNvPr id="4" name="文本框 3"/>
          <p:cNvSpPr txBox="1"/>
          <p:nvPr/>
        </p:nvSpPr>
        <p:spPr>
          <a:xfrm>
            <a:off x="7544435" y="535940"/>
            <a:ext cx="3286125" cy="460375"/>
          </a:xfrm>
          <a:prstGeom prst="rect">
            <a:avLst/>
          </a:prstGeom>
          <a:noFill/>
        </p:spPr>
        <p:txBody>
          <a:bodyPr wrap="square" rtlCol="0" anchor="t">
            <a:spAutoFit/>
          </a:bodyPr>
          <a:lstStyle/>
          <a:p>
            <a:r>
              <a:rPr lang="zh-CN" altLang="en-US" sz="2400" b="1" dirty="0">
                <a:solidFill>
                  <a:srgbClr val="0070C0"/>
                </a:solidFill>
                <a:sym typeface="+mn-ea"/>
              </a:rPr>
              <a:t>智能油田</a:t>
            </a:r>
            <a:r>
              <a:rPr lang="en-US" altLang="zh-CN" sz="2400" b="1" dirty="0">
                <a:solidFill>
                  <a:srgbClr val="0070C0"/>
                </a:solidFill>
                <a:sym typeface="+mn-ea"/>
              </a:rPr>
              <a:t> -</a:t>
            </a:r>
            <a:r>
              <a:rPr lang="zh-CN" altLang="en-US" sz="2400" b="1" dirty="0">
                <a:solidFill>
                  <a:srgbClr val="0070C0"/>
                </a:solidFill>
                <a:sym typeface="+mn-ea"/>
              </a:rPr>
              <a:t>总体架构</a:t>
            </a:r>
            <a:endParaRPr lang="zh-CN" altLang="en-US" sz="2400" b="1" dirty="0">
              <a:solidFill>
                <a:srgbClr val="0070C0"/>
              </a:solidFill>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pic>
        <p:nvPicPr>
          <p:cNvPr id="6" name="图片 5"/>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43660" y="1124585"/>
            <a:ext cx="9505315" cy="5607050"/>
          </a:xfrm>
          <a:prstGeom prst="rect">
            <a:avLst/>
          </a:prstGeom>
          <a:noFill/>
        </p:spPr>
      </p:pic>
      <p:sp>
        <p:nvSpPr>
          <p:cNvPr id="4" name="文本框 3"/>
          <p:cNvSpPr txBox="1"/>
          <p:nvPr/>
        </p:nvSpPr>
        <p:spPr>
          <a:xfrm>
            <a:off x="7544435" y="535940"/>
            <a:ext cx="3286125" cy="460375"/>
          </a:xfrm>
          <a:prstGeom prst="rect">
            <a:avLst/>
          </a:prstGeom>
          <a:noFill/>
        </p:spPr>
        <p:txBody>
          <a:bodyPr wrap="square" rtlCol="0" anchor="t">
            <a:spAutoFit/>
          </a:bodyPr>
          <a:lstStyle/>
          <a:p>
            <a:r>
              <a:rPr lang="zh-CN" altLang="en-US" sz="2400" b="1" dirty="0">
                <a:solidFill>
                  <a:srgbClr val="0070C0"/>
                </a:solidFill>
                <a:sym typeface="+mn-ea"/>
              </a:rPr>
              <a:t>智能油田</a:t>
            </a:r>
            <a:r>
              <a:rPr lang="en-US" altLang="zh-CN" sz="2400" b="1" dirty="0">
                <a:solidFill>
                  <a:srgbClr val="0070C0"/>
                </a:solidFill>
                <a:sym typeface="+mn-ea"/>
              </a:rPr>
              <a:t> -</a:t>
            </a:r>
            <a:r>
              <a:rPr lang="zh-CN" altLang="en-US" sz="2400" b="1" dirty="0">
                <a:solidFill>
                  <a:srgbClr val="0070C0"/>
                </a:solidFill>
                <a:sym typeface="+mn-ea"/>
              </a:rPr>
              <a:t>应用架构</a:t>
            </a:r>
            <a:endParaRPr lang="zh-CN" altLang="en-US" sz="2400" b="1" dirty="0">
              <a:solidFill>
                <a:srgbClr val="0070C0"/>
              </a:solidFill>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sp>
        <p:nvSpPr>
          <p:cNvPr id="4" name="文本框 3"/>
          <p:cNvSpPr txBox="1"/>
          <p:nvPr/>
        </p:nvSpPr>
        <p:spPr>
          <a:xfrm>
            <a:off x="7544435" y="535940"/>
            <a:ext cx="3286125" cy="460375"/>
          </a:xfrm>
          <a:prstGeom prst="rect">
            <a:avLst/>
          </a:prstGeom>
          <a:noFill/>
        </p:spPr>
        <p:txBody>
          <a:bodyPr wrap="square" rtlCol="0" anchor="t">
            <a:spAutoFit/>
          </a:bodyPr>
          <a:lstStyle/>
          <a:p>
            <a:r>
              <a:rPr lang="zh-CN" altLang="en-US" sz="2400" b="1" dirty="0">
                <a:solidFill>
                  <a:srgbClr val="0070C0"/>
                </a:solidFill>
                <a:sym typeface="+mn-ea"/>
              </a:rPr>
              <a:t>智能油田</a:t>
            </a:r>
            <a:r>
              <a:rPr lang="en-US" altLang="zh-CN" sz="2400" b="1" dirty="0">
                <a:solidFill>
                  <a:srgbClr val="0070C0"/>
                </a:solidFill>
                <a:sym typeface="+mn-ea"/>
              </a:rPr>
              <a:t> -</a:t>
            </a:r>
            <a:r>
              <a:rPr lang="zh-CN" altLang="en-US" sz="2400" b="1" dirty="0">
                <a:solidFill>
                  <a:srgbClr val="0070C0"/>
                </a:solidFill>
                <a:sym typeface="+mn-ea"/>
              </a:rPr>
              <a:t>数据架构</a:t>
            </a:r>
            <a:endParaRPr lang="zh-CN" altLang="en-US" sz="2400" b="1" dirty="0">
              <a:solidFill>
                <a:srgbClr val="0070C0"/>
              </a:solidFill>
              <a:sym typeface="+mn-ea"/>
            </a:endParaRPr>
          </a:p>
        </p:txBody>
      </p:sp>
      <p:pic>
        <p:nvPicPr>
          <p:cNvPr id="3" name="图片 2"/>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27719" y="1300543"/>
            <a:ext cx="8136904" cy="4981089"/>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sp>
        <p:nvSpPr>
          <p:cNvPr id="3" name="内容占位符 2"/>
          <p:cNvSpPr>
            <a:spLocks noGrp="1"/>
          </p:cNvSpPr>
          <p:nvPr>
            <p:ph idx="1"/>
          </p:nvPr>
        </p:nvSpPr>
        <p:spPr/>
        <p:txBody>
          <a:bodyPr>
            <a:normAutofit fontScale="87500" lnSpcReduction="20000"/>
          </a:bodyPr>
          <a:lstStyle/>
          <a:p>
            <a:r>
              <a:rPr lang="zh-CN" altLang="en-US"/>
              <a:t>软件密集系统（</a:t>
            </a:r>
            <a:r>
              <a:rPr lang="en-US" altLang="zh-CN"/>
              <a:t>software intensive systems, SIS</a:t>
            </a:r>
            <a:r>
              <a:rPr lang="zh-CN" altLang="en-US"/>
              <a:t>）</a:t>
            </a:r>
            <a:endParaRPr lang="zh-CN" altLang="en-US"/>
          </a:p>
          <a:p>
            <a:r>
              <a:rPr lang="zh-CN" altLang="en-US"/>
              <a:t>软件能够与其它软件、系统、设备、传感器和人进行交互。具有如下性质：</a:t>
            </a:r>
            <a:endParaRPr lang="zh-CN" altLang="en-US"/>
          </a:p>
          <a:p>
            <a:pPr lvl="1"/>
            <a:r>
              <a:rPr lang="zh-CN" altLang="en-US"/>
              <a:t>所处环境具有更大开放性与不确定性</a:t>
            </a:r>
            <a:endParaRPr lang="zh-CN" altLang="en-US"/>
          </a:p>
          <a:p>
            <a:pPr lvl="1"/>
            <a:r>
              <a:rPr lang="zh-CN" altLang="en-US"/>
              <a:t>组件间、系统与环境间交互急剧增加</a:t>
            </a:r>
            <a:endParaRPr lang="zh-CN" altLang="en-US"/>
          </a:p>
          <a:p>
            <a:pPr lvl="1"/>
            <a:r>
              <a:rPr lang="zh-CN" altLang="en-US"/>
              <a:t>需求不完整与频繁变更加剧了复杂性</a:t>
            </a:r>
            <a:endParaRPr lang="zh-CN" altLang="en-US"/>
          </a:p>
          <a:p>
            <a:r>
              <a:rPr lang="zh-CN" altLang="en-US"/>
              <a:t>对可靠性的挑战：</a:t>
            </a:r>
            <a:endParaRPr lang="zh-CN" altLang="en-US"/>
          </a:p>
          <a:p>
            <a:pPr lvl="1"/>
            <a:r>
              <a:rPr lang="zh-CN" altLang="en-US"/>
              <a:t>系统内部逻辑的复杂度有着前所未有的提升</a:t>
            </a:r>
            <a:endParaRPr lang="zh-CN" altLang="en-US"/>
          </a:p>
          <a:p>
            <a:pPr lvl="1"/>
            <a:r>
              <a:rPr lang="zh-CN" altLang="en-US"/>
              <a:t>系统的外部环境复杂度急剧提升，使得其系统边界被腐蚀</a:t>
            </a:r>
            <a:endParaRPr lang="zh-CN" altLang="en-US"/>
          </a:p>
          <a:p>
            <a:pPr lvl="1"/>
            <a:r>
              <a:rPr lang="zh-CN" altLang="en-US"/>
              <a:t>系统具有较长的生命周期</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1.</a:t>
            </a:r>
            <a:r>
              <a:rPr lang="en-US" altLang="zh-CN">
                <a:solidFill>
                  <a:srgbClr val="C00000"/>
                </a:solidFill>
                <a:sym typeface="+mn-ea"/>
              </a:rPr>
              <a:t>3</a:t>
            </a:r>
            <a:r>
              <a:rPr lang="zh-CN" altLang="en-US">
                <a:solidFill>
                  <a:srgbClr val="C00000"/>
                </a:solidFill>
                <a:sym typeface="+mn-ea"/>
              </a:rPr>
              <a:t> 典型的复杂软件系统</a:t>
            </a:r>
            <a:endParaRPr lang="zh-CN" altLang="en-US"/>
          </a:p>
        </p:txBody>
      </p:sp>
      <p:pic>
        <p:nvPicPr>
          <p:cNvPr id="101" name="图片 100"/>
          <p:cNvPicPr/>
          <p:nvPr>
            <p:custDataLst>
              <p:tags r:id="rId1"/>
            </p:custDataLst>
          </p:nvPr>
        </p:nvPicPr>
        <p:blipFill>
          <a:blip r:embed="rId2"/>
          <a:stretch>
            <a:fillRect/>
          </a:stretch>
        </p:blipFill>
        <p:spPr>
          <a:xfrm>
            <a:off x="2268855" y="1300480"/>
            <a:ext cx="6797040" cy="4455795"/>
          </a:xfrm>
          <a:prstGeom prst="rect">
            <a:avLst/>
          </a:prstGeom>
          <a:noFill/>
          <a:ln w="9525">
            <a:noFill/>
          </a:ln>
        </p:spPr>
      </p:pic>
      <p:sp>
        <p:nvSpPr>
          <p:cNvPr id="6" name="文本框 5"/>
          <p:cNvSpPr txBox="1"/>
          <p:nvPr>
            <p:custDataLst>
              <p:tags r:id="rId3"/>
            </p:custDataLst>
          </p:nvPr>
        </p:nvSpPr>
        <p:spPr>
          <a:xfrm>
            <a:off x="4020820" y="5948045"/>
            <a:ext cx="6096000" cy="460375"/>
          </a:xfrm>
          <a:prstGeom prst="rect">
            <a:avLst/>
          </a:prstGeom>
          <a:noFill/>
        </p:spPr>
        <p:txBody>
          <a:bodyPr wrap="square" rtlCol="0" anchor="t">
            <a:spAutoFit/>
          </a:bodyPr>
          <a:lstStyle/>
          <a:p>
            <a:r>
              <a:rPr lang="zh-CN" altLang="en-US" sz="2400"/>
              <a:t>飞行控制系统(FCS: Flight Control System)</a:t>
            </a:r>
            <a:endParaRPr lang="zh-CN" alt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rPr>
              <a:t>1.4 </a:t>
            </a:r>
            <a:r>
              <a:rPr lang="zh-CN" altLang="en-US">
                <a:solidFill>
                  <a:srgbClr val="C00000"/>
                </a:solidFill>
              </a:rPr>
              <a:t>软件的质量模型</a:t>
            </a:r>
            <a:endParaRPr lang="zh-CN" altLang="en-US">
              <a:solidFill>
                <a:srgbClr val="C00000"/>
              </a:solidFill>
            </a:endParaRPr>
          </a:p>
        </p:txBody>
      </p:sp>
      <p:sp>
        <p:nvSpPr>
          <p:cNvPr id="3" name="内容占位符 2"/>
          <p:cNvSpPr>
            <a:spLocks noGrp="1"/>
          </p:cNvSpPr>
          <p:nvPr>
            <p:ph idx="1"/>
          </p:nvPr>
        </p:nvSpPr>
        <p:spPr/>
        <p:txBody>
          <a:bodyPr/>
          <a:lstStyle/>
          <a:p>
            <a:pPr fontAlgn="auto">
              <a:lnSpc>
                <a:spcPct val="130000"/>
              </a:lnSpc>
            </a:pPr>
            <a:r>
              <a:rPr lang="en-US" altLang="zh-CN"/>
              <a:t>GB/T25000.10-2016</a:t>
            </a:r>
            <a:r>
              <a:rPr lang="zh-CN" altLang="en-US"/>
              <a:t>对软件质量模型的定义：</a:t>
            </a:r>
            <a:endParaRPr lang="zh-CN" altLang="en-US"/>
          </a:p>
          <a:p>
            <a:pPr fontAlgn="auto">
              <a:lnSpc>
                <a:spcPct val="130000"/>
              </a:lnSpc>
            </a:pPr>
            <a:r>
              <a:rPr lang="zh-CN" altLang="en-US"/>
              <a:t>软件质量模型是一个包含一组已定义的特性以及这些特性之间关系的框架，用来确定软件的需求以及对软件质量进行评价。</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rPr>
              <a:t>1.4 </a:t>
            </a:r>
            <a:r>
              <a:rPr lang="zh-CN" altLang="en-US">
                <a:solidFill>
                  <a:srgbClr val="C00000"/>
                </a:solidFill>
              </a:rPr>
              <a:t>软件的质量模型</a:t>
            </a:r>
            <a:endParaRPr lang="zh-CN" altLang="en-US">
              <a:solidFill>
                <a:srgbClr val="C00000"/>
              </a:solidFill>
            </a:endParaRPr>
          </a:p>
        </p:txBody>
      </p:sp>
      <p:sp>
        <p:nvSpPr>
          <p:cNvPr id="3" name="内容占位符 2"/>
          <p:cNvSpPr>
            <a:spLocks noGrp="1"/>
          </p:cNvSpPr>
          <p:nvPr>
            <p:ph idx="1"/>
          </p:nvPr>
        </p:nvSpPr>
        <p:spPr/>
        <p:txBody>
          <a:bodyPr/>
          <a:lstStyle/>
          <a:p>
            <a:pPr fontAlgn="auto">
              <a:lnSpc>
                <a:spcPct val="130000"/>
              </a:lnSpc>
            </a:pPr>
            <a:r>
              <a:rPr lang="zh-CN" altLang="en-US"/>
              <a:t>典型软件质量模型：</a:t>
            </a:r>
            <a:endParaRPr lang="zh-CN" altLang="en-US"/>
          </a:p>
          <a:p>
            <a:pPr lvl="1" fontAlgn="auto">
              <a:lnSpc>
                <a:spcPct val="130000"/>
              </a:lnSpc>
            </a:pPr>
            <a:r>
              <a:rPr lang="zh-CN" altLang="en-US" b="1">
                <a:solidFill>
                  <a:srgbClr val="0070C0"/>
                </a:solidFill>
              </a:rPr>
              <a:t>层次化质量模型</a:t>
            </a:r>
            <a:endParaRPr lang="zh-CN" altLang="en-US" b="1">
              <a:solidFill>
                <a:srgbClr val="0070C0"/>
              </a:solidFill>
            </a:endParaRPr>
          </a:p>
          <a:p>
            <a:pPr lvl="2" fontAlgn="auto">
              <a:lnSpc>
                <a:spcPct val="130000"/>
              </a:lnSpc>
            </a:pPr>
            <a:r>
              <a:rPr lang="zh-CN" altLang="en-US" sz="2000"/>
              <a:t>将质量进行分解</a:t>
            </a:r>
            <a:endParaRPr lang="en-US" altLang="zh-CN" sz="2000"/>
          </a:p>
          <a:p>
            <a:pPr lvl="2" fontAlgn="auto">
              <a:lnSpc>
                <a:spcPct val="130000"/>
              </a:lnSpc>
            </a:pPr>
            <a:r>
              <a:rPr lang="zh-CN" altLang="en-US" sz="2000"/>
              <a:t>典型模型有</a:t>
            </a:r>
            <a:r>
              <a:rPr lang="en-US" altLang="zh-CN" sz="2000"/>
              <a:t>McCall</a:t>
            </a:r>
            <a:r>
              <a:rPr lang="zh-CN" altLang="en-US" sz="2000"/>
              <a:t>、</a:t>
            </a:r>
            <a:r>
              <a:rPr lang="en-US" altLang="zh-CN" sz="2000"/>
              <a:t>ISO/IEC25010</a:t>
            </a:r>
            <a:endParaRPr lang="zh-CN" altLang="en-US"/>
          </a:p>
          <a:p>
            <a:pPr lvl="1" algn="l" fontAlgn="auto">
              <a:lnSpc>
                <a:spcPct val="130000"/>
              </a:lnSpc>
              <a:buClrTx/>
              <a:buSzTx/>
            </a:pPr>
            <a:r>
              <a:rPr lang="zh-CN" altLang="en-US" b="1">
                <a:solidFill>
                  <a:srgbClr val="0070C0"/>
                </a:solidFill>
              </a:rPr>
              <a:t>基于元模型的质量模型</a:t>
            </a:r>
            <a:endParaRPr lang="zh-CN" altLang="en-US" b="1">
              <a:solidFill>
                <a:srgbClr val="0070C0"/>
              </a:solidFill>
            </a:endParaRPr>
          </a:p>
          <a:p>
            <a:pPr lvl="2" fontAlgn="auto">
              <a:lnSpc>
                <a:spcPct val="130000"/>
              </a:lnSpc>
            </a:pPr>
            <a:r>
              <a:rPr lang="zh-CN" altLang="en-US" sz="2000"/>
              <a:t>类似于</a:t>
            </a:r>
            <a:r>
              <a:rPr lang="en-US" altLang="zh-CN" sz="2000"/>
              <a:t>UML</a:t>
            </a:r>
            <a:r>
              <a:rPr lang="zh-CN" altLang="en-US" sz="2000"/>
              <a:t>中元模型的思想</a:t>
            </a:r>
            <a:endParaRPr lang="zh-CN" altLang="en-US" sz="2000"/>
          </a:p>
          <a:p>
            <a:pPr lvl="2" fontAlgn="auto">
              <a:lnSpc>
                <a:spcPct val="130000"/>
              </a:lnSpc>
            </a:pPr>
            <a:r>
              <a:rPr lang="zh-CN" altLang="en-US" sz="2000"/>
              <a:t>典型模型有：</a:t>
            </a:r>
            <a:r>
              <a:rPr lang="en-US" altLang="zh-CN" sz="2000"/>
              <a:t>COQUAMO</a:t>
            </a:r>
            <a:r>
              <a:rPr lang="zh-CN" altLang="en-US" sz="2000"/>
              <a:t>、</a:t>
            </a:r>
            <a:r>
              <a:rPr lang="en-US" altLang="zh-CN" sz="2000"/>
              <a:t>COQUALMO</a:t>
            </a:r>
            <a:r>
              <a:rPr lang="zh-CN" altLang="en-US" sz="2000"/>
              <a:t>、</a:t>
            </a:r>
            <a:r>
              <a:rPr lang="en-US" altLang="zh-CN" sz="2000"/>
              <a:t>QMOOD</a:t>
            </a:r>
            <a:endParaRPr lang="zh-CN" altLang="en-US"/>
          </a:p>
          <a:p>
            <a:pPr lvl="1" algn="l" fontAlgn="auto">
              <a:lnSpc>
                <a:spcPct val="130000"/>
              </a:lnSpc>
              <a:buClrTx/>
              <a:buSzTx/>
            </a:pPr>
            <a:r>
              <a:rPr lang="zh-CN" altLang="en-US" b="1">
                <a:solidFill>
                  <a:srgbClr val="0070C0"/>
                </a:solidFill>
              </a:rPr>
              <a:t>隐形质量模型</a:t>
            </a:r>
            <a:endParaRPr lang="zh-CN" altLang="en-US" b="1">
              <a:solidFill>
                <a:srgbClr val="0070C0"/>
              </a:solidFill>
            </a:endParaRPr>
          </a:p>
          <a:p>
            <a:pPr lvl="2" fontAlgn="auto">
              <a:lnSpc>
                <a:spcPct val="130000"/>
              </a:lnSpc>
            </a:pPr>
            <a:r>
              <a:rPr lang="zh-CN" altLang="en-US"/>
              <a:t>统计模型，例如可靠性增长模型</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rPr>
              <a:t>ISO/IEC 25010:2010</a:t>
            </a:r>
            <a:endParaRPr lang="zh-CN" altLang="en-US">
              <a:solidFill>
                <a:srgbClr val="C00000"/>
              </a:solidFill>
            </a:endParaRPr>
          </a:p>
        </p:txBody>
      </p:sp>
      <p:grpSp>
        <p:nvGrpSpPr>
          <p:cNvPr id="39" name="组合 38"/>
          <p:cNvGrpSpPr/>
          <p:nvPr/>
        </p:nvGrpSpPr>
        <p:grpSpPr>
          <a:xfrm>
            <a:off x="2249805" y="1459865"/>
            <a:ext cx="7225030" cy="3669030"/>
            <a:chOff x="4010" y="3005"/>
            <a:chExt cx="11378" cy="5778"/>
          </a:xfrm>
        </p:grpSpPr>
        <p:sp>
          <p:nvSpPr>
            <p:cNvPr id="4" name="矩形 3"/>
            <p:cNvSpPr/>
            <p:nvPr/>
          </p:nvSpPr>
          <p:spPr>
            <a:xfrm>
              <a:off x="4010" y="7781"/>
              <a:ext cx="2882" cy="1002"/>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子特性中的</a:t>
              </a:r>
              <a:endParaRPr lang="zh-CN" altLang="en-US" sz="2000">
                <a:solidFill>
                  <a:schemeClr val="tx1"/>
                </a:solidFill>
              </a:endParaRPr>
            </a:p>
            <a:p>
              <a:pPr algn="ctr"/>
              <a:r>
                <a:rPr lang="zh-CN" altLang="en-US" sz="2000">
                  <a:solidFill>
                    <a:schemeClr val="tx1"/>
                  </a:solidFill>
                </a:rPr>
                <a:t>子特性</a:t>
              </a:r>
              <a:endParaRPr lang="zh-CN" altLang="en-US" sz="2000">
                <a:solidFill>
                  <a:schemeClr val="tx1"/>
                </a:solidFill>
              </a:endParaRPr>
            </a:p>
          </p:txBody>
        </p:sp>
        <p:sp>
          <p:nvSpPr>
            <p:cNvPr id="5" name="矩形 4"/>
            <p:cNvSpPr/>
            <p:nvPr>
              <p:custDataLst>
                <p:tags r:id="rId1"/>
              </p:custDataLst>
            </p:nvPr>
          </p:nvSpPr>
          <p:spPr>
            <a:xfrm>
              <a:off x="4010" y="6189"/>
              <a:ext cx="2882" cy="1002"/>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子特性</a:t>
              </a:r>
              <a:endParaRPr lang="zh-CN" altLang="en-US" sz="2000">
                <a:solidFill>
                  <a:schemeClr val="tx1"/>
                </a:solidFill>
              </a:endParaRPr>
            </a:p>
          </p:txBody>
        </p:sp>
        <p:sp>
          <p:nvSpPr>
            <p:cNvPr id="6" name="矩形 5"/>
            <p:cNvSpPr/>
            <p:nvPr>
              <p:custDataLst>
                <p:tags r:id="rId2"/>
              </p:custDataLst>
            </p:nvPr>
          </p:nvSpPr>
          <p:spPr>
            <a:xfrm>
              <a:off x="4010" y="4597"/>
              <a:ext cx="2882" cy="1002"/>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特性</a:t>
              </a:r>
              <a:endParaRPr lang="zh-CN" altLang="en-US" sz="2000">
                <a:solidFill>
                  <a:schemeClr val="tx1"/>
                </a:solidFill>
              </a:endParaRPr>
            </a:p>
          </p:txBody>
        </p:sp>
        <p:sp>
          <p:nvSpPr>
            <p:cNvPr id="7" name="矩形 6"/>
            <p:cNvSpPr/>
            <p:nvPr>
              <p:custDataLst>
                <p:tags r:id="rId3"/>
              </p:custDataLst>
            </p:nvPr>
          </p:nvSpPr>
          <p:spPr>
            <a:xfrm>
              <a:off x="4010" y="3005"/>
              <a:ext cx="2882" cy="1002"/>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质量</a:t>
              </a:r>
              <a:endParaRPr lang="zh-CN" altLang="en-US" sz="2000">
                <a:solidFill>
                  <a:schemeClr val="tx1"/>
                </a:solidFill>
              </a:endParaRPr>
            </a:p>
          </p:txBody>
        </p:sp>
        <p:sp>
          <p:nvSpPr>
            <p:cNvPr id="8" name="矩形 7"/>
            <p:cNvSpPr/>
            <p:nvPr>
              <p:custDataLst>
                <p:tags r:id="rId4"/>
              </p:custDataLst>
            </p:nvPr>
          </p:nvSpPr>
          <p:spPr>
            <a:xfrm>
              <a:off x="8766" y="4715"/>
              <a:ext cx="2551" cy="737"/>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质量属性</a:t>
              </a:r>
              <a:endParaRPr lang="zh-CN" altLang="en-US" sz="2000">
                <a:solidFill>
                  <a:schemeClr val="tx1"/>
                </a:solidFill>
              </a:endParaRPr>
            </a:p>
          </p:txBody>
        </p:sp>
        <p:sp>
          <p:nvSpPr>
            <p:cNvPr id="9" name="矩形 8"/>
            <p:cNvSpPr/>
            <p:nvPr>
              <p:custDataLst>
                <p:tags r:id="rId5"/>
              </p:custDataLst>
            </p:nvPr>
          </p:nvSpPr>
          <p:spPr>
            <a:xfrm>
              <a:off x="8766" y="6285"/>
              <a:ext cx="2551" cy="737"/>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质量因素</a:t>
              </a:r>
              <a:endParaRPr lang="zh-CN" altLang="en-US" sz="2000">
                <a:solidFill>
                  <a:schemeClr val="tx1"/>
                </a:solidFill>
              </a:endParaRPr>
            </a:p>
          </p:txBody>
        </p:sp>
        <p:sp>
          <p:nvSpPr>
            <p:cNvPr id="10" name="矩形 9"/>
            <p:cNvSpPr/>
            <p:nvPr>
              <p:custDataLst>
                <p:tags r:id="rId6"/>
              </p:custDataLst>
            </p:nvPr>
          </p:nvSpPr>
          <p:spPr>
            <a:xfrm>
              <a:off x="13508" y="5430"/>
              <a:ext cx="1880" cy="737"/>
            </a:xfrm>
            <a:prstGeom prst="rect">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可测</a:t>
              </a:r>
              <a:endParaRPr lang="zh-CN" altLang="en-US" sz="2000">
                <a:solidFill>
                  <a:schemeClr val="tx1"/>
                </a:solidFill>
              </a:endParaRPr>
            </a:p>
          </p:txBody>
        </p:sp>
        <p:sp>
          <p:nvSpPr>
            <p:cNvPr id="11" name="矩形 10"/>
            <p:cNvSpPr/>
            <p:nvPr>
              <p:custDataLst>
                <p:tags r:id="rId7"/>
              </p:custDataLst>
            </p:nvPr>
          </p:nvSpPr>
          <p:spPr>
            <a:xfrm>
              <a:off x="13508" y="7191"/>
              <a:ext cx="1880" cy="737"/>
            </a:xfrm>
            <a:prstGeom prst="rect">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测量</a:t>
              </a:r>
              <a:endParaRPr lang="zh-CN" altLang="en-US" sz="2000">
                <a:solidFill>
                  <a:schemeClr val="tx1"/>
                </a:solidFill>
              </a:endParaRPr>
            </a:p>
          </p:txBody>
        </p:sp>
        <p:grpSp>
          <p:nvGrpSpPr>
            <p:cNvPr id="15" name="组合 14"/>
            <p:cNvGrpSpPr/>
            <p:nvPr/>
          </p:nvGrpSpPr>
          <p:grpSpPr>
            <a:xfrm>
              <a:off x="4998" y="3838"/>
              <a:ext cx="1023" cy="954"/>
              <a:chOff x="4998" y="3838"/>
              <a:chExt cx="1023" cy="954"/>
            </a:xfrm>
          </p:grpSpPr>
          <p:cxnSp>
            <p:nvCxnSpPr>
              <p:cNvPr id="12" name="直接连接符 11"/>
              <p:cNvCxnSpPr>
                <a:stCxn id="7" idx="2"/>
                <a:endCxn id="6" idx="0"/>
              </p:cNvCxnSpPr>
              <p:nvPr/>
            </p:nvCxnSpPr>
            <p:spPr>
              <a:xfrm>
                <a:off x="5451" y="4007"/>
                <a:ext cx="0" cy="590"/>
              </a:xfrm>
              <a:prstGeom prst="line">
                <a:avLst/>
              </a:prstGeom>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451" y="3838"/>
                <a:ext cx="570" cy="580"/>
              </a:xfrm>
              <a:prstGeom prst="rect">
                <a:avLst/>
              </a:prstGeom>
              <a:noFill/>
            </p:spPr>
            <p:txBody>
              <a:bodyPr wrap="square" rtlCol="0" anchor="t">
                <a:spAutoFit/>
              </a:bodyPr>
              <a:lstStyle/>
              <a:p>
                <a:r>
                  <a:rPr lang="en-US" altLang="zh-CN">
                    <a:sym typeface="+mn-ea"/>
                  </a:rPr>
                  <a:t>1</a:t>
                </a:r>
                <a:endParaRPr lang="en-US" altLang="zh-CN">
                  <a:sym typeface="+mn-ea"/>
                </a:endParaRPr>
              </a:p>
            </p:txBody>
          </p:sp>
          <p:sp>
            <p:nvSpPr>
              <p:cNvPr id="14" name="文本框 13"/>
              <p:cNvSpPr txBox="1"/>
              <p:nvPr>
                <p:custDataLst>
                  <p:tags r:id="rId8"/>
                </p:custDataLst>
              </p:nvPr>
            </p:nvSpPr>
            <p:spPr>
              <a:xfrm>
                <a:off x="4998" y="4212"/>
                <a:ext cx="570" cy="580"/>
              </a:xfrm>
              <a:prstGeom prst="rect">
                <a:avLst/>
              </a:prstGeom>
              <a:noFill/>
            </p:spPr>
            <p:txBody>
              <a:bodyPr wrap="square" rtlCol="0" anchor="t">
                <a:spAutoFit/>
              </a:bodyPr>
              <a:lstStyle/>
              <a:p>
                <a:r>
                  <a:rPr lang="en-US" altLang="zh-CN">
                    <a:sym typeface="+mn-ea"/>
                  </a:rPr>
                  <a:t>*</a:t>
                </a:r>
                <a:endParaRPr lang="en-US" altLang="zh-CN">
                  <a:sym typeface="+mn-ea"/>
                </a:endParaRPr>
              </a:p>
            </p:txBody>
          </p:sp>
        </p:grpSp>
        <p:grpSp>
          <p:nvGrpSpPr>
            <p:cNvPr id="16" name="组合 15"/>
            <p:cNvGrpSpPr/>
            <p:nvPr/>
          </p:nvGrpSpPr>
          <p:grpSpPr>
            <a:xfrm>
              <a:off x="4985" y="5430"/>
              <a:ext cx="1023" cy="954"/>
              <a:chOff x="4998" y="3838"/>
              <a:chExt cx="1023" cy="954"/>
            </a:xfrm>
          </p:grpSpPr>
          <p:cxnSp>
            <p:nvCxnSpPr>
              <p:cNvPr id="17" name="直接连接符 16"/>
              <p:cNvCxnSpPr/>
              <p:nvPr>
                <p:custDataLst>
                  <p:tags r:id="rId9"/>
                </p:custDataLst>
              </p:nvPr>
            </p:nvCxnSpPr>
            <p:spPr>
              <a:xfrm>
                <a:off x="5451" y="4007"/>
                <a:ext cx="0" cy="590"/>
              </a:xfrm>
              <a:prstGeom prst="line">
                <a:avLst/>
              </a:prstGeom>
            </p:spPr>
            <p:style>
              <a:lnRef idx="2">
                <a:schemeClr val="accent1"/>
              </a:lnRef>
              <a:fillRef idx="0">
                <a:srgbClr val="FFFFFF"/>
              </a:fillRef>
              <a:effectRef idx="0">
                <a:srgbClr val="FFFFFF"/>
              </a:effectRef>
              <a:fontRef idx="minor">
                <a:schemeClr val="tx1"/>
              </a:fontRef>
            </p:style>
          </p:cxnSp>
          <p:sp>
            <p:nvSpPr>
              <p:cNvPr id="18" name="文本框 17"/>
              <p:cNvSpPr txBox="1"/>
              <p:nvPr>
                <p:custDataLst>
                  <p:tags r:id="rId10"/>
                </p:custDataLst>
              </p:nvPr>
            </p:nvSpPr>
            <p:spPr>
              <a:xfrm>
                <a:off x="5451" y="3838"/>
                <a:ext cx="570" cy="580"/>
              </a:xfrm>
              <a:prstGeom prst="rect">
                <a:avLst/>
              </a:prstGeom>
              <a:noFill/>
            </p:spPr>
            <p:txBody>
              <a:bodyPr wrap="square" rtlCol="0" anchor="t">
                <a:spAutoFit/>
              </a:bodyPr>
              <a:lstStyle/>
              <a:p>
                <a:r>
                  <a:rPr lang="en-US" altLang="zh-CN">
                    <a:sym typeface="+mn-ea"/>
                  </a:rPr>
                  <a:t>1</a:t>
                </a:r>
                <a:endParaRPr lang="en-US" altLang="zh-CN">
                  <a:sym typeface="+mn-ea"/>
                </a:endParaRPr>
              </a:p>
            </p:txBody>
          </p:sp>
          <p:sp>
            <p:nvSpPr>
              <p:cNvPr id="19" name="文本框 18"/>
              <p:cNvSpPr txBox="1"/>
              <p:nvPr>
                <p:custDataLst>
                  <p:tags r:id="rId11"/>
                </p:custDataLst>
              </p:nvPr>
            </p:nvSpPr>
            <p:spPr>
              <a:xfrm>
                <a:off x="4998" y="4212"/>
                <a:ext cx="570" cy="580"/>
              </a:xfrm>
              <a:prstGeom prst="rect">
                <a:avLst/>
              </a:prstGeom>
              <a:noFill/>
            </p:spPr>
            <p:txBody>
              <a:bodyPr wrap="square" rtlCol="0" anchor="t">
                <a:spAutoFit/>
              </a:bodyPr>
              <a:lstStyle/>
              <a:p>
                <a:r>
                  <a:rPr lang="en-US" altLang="zh-CN">
                    <a:sym typeface="+mn-ea"/>
                  </a:rPr>
                  <a:t>*</a:t>
                </a:r>
                <a:endParaRPr lang="en-US" altLang="zh-CN">
                  <a:sym typeface="+mn-ea"/>
                </a:endParaRPr>
              </a:p>
            </p:txBody>
          </p:sp>
        </p:grpSp>
        <p:grpSp>
          <p:nvGrpSpPr>
            <p:cNvPr id="20" name="组合 19"/>
            <p:cNvGrpSpPr/>
            <p:nvPr/>
          </p:nvGrpSpPr>
          <p:grpSpPr>
            <a:xfrm>
              <a:off x="4985" y="7022"/>
              <a:ext cx="1023" cy="954"/>
              <a:chOff x="4998" y="3838"/>
              <a:chExt cx="1023" cy="954"/>
            </a:xfrm>
          </p:grpSpPr>
          <p:cxnSp>
            <p:nvCxnSpPr>
              <p:cNvPr id="21" name="直接连接符 20"/>
              <p:cNvCxnSpPr/>
              <p:nvPr>
                <p:custDataLst>
                  <p:tags r:id="rId12"/>
                </p:custDataLst>
              </p:nvPr>
            </p:nvCxnSpPr>
            <p:spPr>
              <a:xfrm>
                <a:off x="5451" y="4007"/>
                <a:ext cx="0" cy="590"/>
              </a:xfrm>
              <a:prstGeom prst="line">
                <a:avLst/>
              </a:prstGeom>
            </p:spPr>
            <p:style>
              <a:lnRef idx="2">
                <a:schemeClr val="accent1"/>
              </a:lnRef>
              <a:fillRef idx="0">
                <a:srgbClr val="FFFFFF"/>
              </a:fillRef>
              <a:effectRef idx="0">
                <a:srgbClr val="FFFFFF"/>
              </a:effectRef>
              <a:fontRef idx="minor">
                <a:schemeClr val="tx1"/>
              </a:fontRef>
            </p:style>
          </p:cxnSp>
          <p:sp>
            <p:nvSpPr>
              <p:cNvPr id="22" name="文本框 21"/>
              <p:cNvSpPr txBox="1"/>
              <p:nvPr>
                <p:custDataLst>
                  <p:tags r:id="rId13"/>
                </p:custDataLst>
              </p:nvPr>
            </p:nvSpPr>
            <p:spPr>
              <a:xfrm>
                <a:off x="5451" y="3838"/>
                <a:ext cx="570" cy="580"/>
              </a:xfrm>
              <a:prstGeom prst="rect">
                <a:avLst/>
              </a:prstGeom>
              <a:noFill/>
            </p:spPr>
            <p:txBody>
              <a:bodyPr wrap="square" rtlCol="0" anchor="t">
                <a:spAutoFit/>
              </a:bodyPr>
              <a:lstStyle/>
              <a:p>
                <a:r>
                  <a:rPr lang="en-US" altLang="zh-CN">
                    <a:sym typeface="+mn-ea"/>
                  </a:rPr>
                  <a:t>1</a:t>
                </a:r>
                <a:endParaRPr lang="en-US" altLang="zh-CN">
                  <a:sym typeface="+mn-ea"/>
                </a:endParaRPr>
              </a:p>
            </p:txBody>
          </p:sp>
          <p:sp>
            <p:nvSpPr>
              <p:cNvPr id="23" name="文本框 22"/>
              <p:cNvSpPr txBox="1"/>
              <p:nvPr>
                <p:custDataLst>
                  <p:tags r:id="rId14"/>
                </p:custDataLst>
              </p:nvPr>
            </p:nvSpPr>
            <p:spPr>
              <a:xfrm>
                <a:off x="4998" y="4212"/>
                <a:ext cx="570" cy="580"/>
              </a:xfrm>
              <a:prstGeom prst="rect">
                <a:avLst/>
              </a:prstGeom>
              <a:noFill/>
            </p:spPr>
            <p:txBody>
              <a:bodyPr wrap="square" rtlCol="0" anchor="t">
                <a:spAutoFit/>
              </a:bodyPr>
              <a:lstStyle/>
              <a:p>
                <a:r>
                  <a:rPr lang="en-US" altLang="zh-CN">
                    <a:sym typeface="+mn-ea"/>
                  </a:rPr>
                  <a:t>*</a:t>
                </a:r>
                <a:endParaRPr lang="en-US" altLang="zh-CN">
                  <a:sym typeface="+mn-ea"/>
                </a:endParaRPr>
              </a:p>
            </p:txBody>
          </p:sp>
        </p:grpSp>
        <p:cxnSp>
          <p:nvCxnSpPr>
            <p:cNvPr id="24" name="直接箭头连接符 23"/>
            <p:cNvCxnSpPr>
              <a:stCxn id="5" idx="3"/>
              <a:endCxn id="9" idx="1"/>
            </p:cNvCxnSpPr>
            <p:nvPr/>
          </p:nvCxnSpPr>
          <p:spPr>
            <a:xfrm flipV="1">
              <a:off x="6892" y="6654"/>
              <a:ext cx="1874"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直接连接符 24"/>
            <p:cNvCxnSpPr>
              <a:stCxn id="6" idx="3"/>
            </p:cNvCxnSpPr>
            <p:nvPr/>
          </p:nvCxnSpPr>
          <p:spPr>
            <a:xfrm flipV="1">
              <a:off x="6892" y="5097"/>
              <a:ext cx="490" cy="1"/>
            </a:xfrm>
            <a:prstGeom prst="line">
              <a:avLst/>
            </a:prstGeom>
          </p:spPr>
          <p:style>
            <a:lnRef idx="2">
              <a:schemeClr val="accent1"/>
            </a:lnRef>
            <a:fillRef idx="0">
              <a:srgbClr val="FFFFFF"/>
            </a:fillRef>
            <a:effectRef idx="0">
              <a:srgbClr val="FFFFFF"/>
            </a:effectRef>
            <a:fontRef idx="minor">
              <a:schemeClr val="tx1"/>
            </a:fontRef>
          </p:style>
        </p:cxnSp>
        <p:cxnSp>
          <p:nvCxnSpPr>
            <p:cNvPr id="26" name="直接连接符 25"/>
            <p:cNvCxnSpPr/>
            <p:nvPr>
              <p:custDataLst>
                <p:tags r:id="rId15"/>
              </p:custDataLst>
            </p:nvPr>
          </p:nvCxnSpPr>
          <p:spPr>
            <a:xfrm flipV="1">
              <a:off x="6892" y="8282"/>
              <a:ext cx="490" cy="1"/>
            </a:xfrm>
            <a:prstGeom prst="line">
              <a:avLst/>
            </a:prstGeom>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a:off x="7381" y="5082"/>
              <a:ext cx="0" cy="3226"/>
            </a:xfrm>
            <a:prstGeom prst="line">
              <a:avLst/>
            </a:prstGeom>
          </p:spPr>
          <p:style>
            <a:lnRef idx="2">
              <a:schemeClr val="accent1"/>
            </a:lnRef>
            <a:fillRef idx="0">
              <a:srgbClr val="FFFFFF"/>
            </a:fillRef>
            <a:effectRef idx="0">
              <a:srgbClr val="FFFFFF"/>
            </a:effectRef>
            <a:fontRef idx="minor">
              <a:schemeClr val="tx1"/>
            </a:fontRef>
          </p:style>
        </p:cxnSp>
        <p:cxnSp>
          <p:nvCxnSpPr>
            <p:cNvPr id="29" name="直接连接符 28"/>
            <p:cNvCxnSpPr>
              <a:stCxn id="8" idx="2"/>
              <a:endCxn id="9" idx="0"/>
            </p:cNvCxnSpPr>
            <p:nvPr>
              <p:custDataLst>
                <p:tags r:id="rId16"/>
              </p:custDataLst>
            </p:nvPr>
          </p:nvCxnSpPr>
          <p:spPr>
            <a:xfrm>
              <a:off x="10030" y="5452"/>
              <a:ext cx="0" cy="833"/>
            </a:xfrm>
            <a:prstGeom prst="line">
              <a:avLst/>
            </a:prstGeom>
          </p:spPr>
          <p:style>
            <a:lnRef idx="2">
              <a:schemeClr val="accent1"/>
            </a:lnRef>
            <a:fillRef idx="0">
              <a:srgbClr val="FFFFFF"/>
            </a:fillRef>
            <a:effectRef idx="0">
              <a:srgbClr val="FFFFFF"/>
            </a:effectRef>
            <a:fontRef idx="minor">
              <a:schemeClr val="tx1"/>
            </a:fontRef>
          </p:style>
        </p:cxnSp>
        <p:sp>
          <p:nvSpPr>
            <p:cNvPr id="30" name="文本框 29"/>
            <p:cNvSpPr txBox="1"/>
            <p:nvPr>
              <p:custDataLst>
                <p:tags r:id="rId17"/>
              </p:custDataLst>
            </p:nvPr>
          </p:nvSpPr>
          <p:spPr>
            <a:xfrm>
              <a:off x="9473" y="5757"/>
              <a:ext cx="570" cy="580"/>
            </a:xfrm>
            <a:prstGeom prst="rect">
              <a:avLst/>
            </a:prstGeom>
            <a:noFill/>
          </p:spPr>
          <p:txBody>
            <a:bodyPr wrap="square" rtlCol="0" anchor="t">
              <a:spAutoFit/>
            </a:bodyPr>
            <a:lstStyle/>
            <a:p>
              <a:r>
                <a:rPr lang="en-US" altLang="zh-CN">
                  <a:sym typeface="+mn-ea"/>
                </a:rPr>
                <a:t>1</a:t>
              </a:r>
              <a:endParaRPr lang="en-US" altLang="zh-CN">
                <a:sym typeface="+mn-ea"/>
              </a:endParaRPr>
            </a:p>
          </p:txBody>
        </p:sp>
        <p:sp>
          <p:nvSpPr>
            <p:cNvPr id="31" name="文本框 30"/>
            <p:cNvSpPr txBox="1"/>
            <p:nvPr>
              <p:custDataLst>
                <p:tags r:id="rId18"/>
              </p:custDataLst>
            </p:nvPr>
          </p:nvSpPr>
          <p:spPr>
            <a:xfrm>
              <a:off x="10030" y="5430"/>
              <a:ext cx="570" cy="580"/>
            </a:xfrm>
            <a:prstGeom prst="rect">
              <a:avLst/>
            </a:prstGeom>
            <a:noFill/>
          </p:spPr>
          <p:txBody>
            <a:bodyPr wrap="square" rtlCol="0" anchor="t">
              <a:spAutoFit/>
            </a:bodyPr>
            <a:lstStyle/>
            <a:p>
              <a:r>
                <a:rPr lang="en-US" altLang="zh-CN">
                  <a:sym typeface="+mn-ea"/>
                </a:rPr>
                <a:t>*</a:t>
              </a:r>
              <a:endParaRPr lang="en-US" altLang="zh-CN">
                <a:sym typeface="+mn-ea"/>
              </a:endParaRPr>
            </a:p>
          </p:txBody>
        </p:sp>
        <p:cxnSp>
          <p:nvCxnSpPr>
            <p:cNvPr id="32" name="直接连接符 31"/>
            <p:cNvCxnSpPr/>
            <p:nvPr>
              <p:custDataLst>
                <p:tags r:id="rId19"/>
              </p:custDataLst>
            </p:nvPr>
          </p:nvCxnSpPr>
          <p:spPr>
            <a:xfrm flipV="1">
              <a:off x="11317" y="5096"/>
              <a:ext cx="490" cy="1"/>
            </a:xfrm>
            <a:prstGeom prst="line">
              <a:avLst/>
            </a:prstGeom>
          </p:spPr>
          <p:style>
            <a:lnRef idx="2">
              <a:schemeClr val="accent1"/>
            </a:lnRef>
            <a:fillRef idx="0">
              <a:srgbClr val="FFFFFF"/>
            </a:fillRef>
            <a:effectRef idx="0">
              <a:srgbClr val="FFFFFF"/>
            </a:effectRef>
            <a:fontRef idx="minor">
              <a:schemeClr val="tx1"/>
            </a:fontRef>
          </p:style>
        </p:cxnSp>
        <p:cxnSp>
          <p:nvCxnSpPr>
            <p:cNvPr id="33" name="直接连接符 32"/>
            <p:cNvCxnSpPr/>
            <p:nvPr>
              <p:custDataLst>
                <p:tags r:id="rId20"/>
              </p:custDataLst>
            </p:nvPr>
          </p:nvCxnSpPr>
          <p:spPr>
            <a:xfrm flipV="1">
              <a:off x="11317" y="6653"/>
              <a:ext cx="490" cy="1"/>
            </a:xfrm>
            <a:prstGeom prst="line">
              <a:avLst/>
            </a:prstGeom>
          </p:spPr>
          <p:style>
            <a:lnRef idx="2">
              <a:schemeClr val="accent1"/>
            </a:lnRef>
            <a:fillRef idx="0">
              <a:srgbClr val="FFFFFF"/>
            </a:fillRef>
            <a:effectRef idx="0">
              <a:srgbClr val="FFFFFF"/>
            </a:effectRef>
            <a:fontRef idx="minor">
              <a:schemeClr val="tx1"/>
            </a:fontRef>
          </p:style>
        </p:cxnSp>
        <p:cxnSp>
          <p:nvCxnSpPr>
            <p:cNvPr id="34" name="直接连接符 33"/>
            <p:cNvCxnSpPr/>
            <p:nvPr>
              <p:custDataLst>
                <p:tags r:id="rId21"/>
              </p:custDataLst>
            </p:nvPr>
          </p:nvCxnSpPr>
          <p:spPr>
            <a:xfrm flipH="1">
              <a:off x="11802" y="5098"/>
              <a:ext cx="0" cy="1550"/>
            </a:xfrm>
            <a:prstGeom prst="line">
              <a:avLst/>
            </a:prstGeom>
          </p:spPr>
          <p:style>
            <a:lnRef idx="2">
              <a:schemeClr val="accent1"/>
            </a:lnRef>
            <a:fillRef idx="0">
              <a:srgbClr val="FFFFFF"/>
            </a:fillRef>
            <a:effectRef idx="0">
              <a:srgbClr val="FFFFFF"/>
            </a:effectRef>
            <a:fontRef idx="minor">
              <a:schemeClr val="tx1"/>
            </a:fontRef>
          </p:style>
        </p:cxnSp>
        <p:cxnSp>
          <p:nvCxnSpPr>
            <p:cNvPr id="35" name="直接箭头连接符 34"/>
            <p:cNvCxnSpPr/>
            <p:nvPr>
              <p:custDataLst>
                <p:tags r:id="rId22"/>
              </p:custDataLst>
            </p:nvPr>
          </p:nvCxnSpPr>
          <p:spPr>
            <a:xfrm flipV="1">
              <a:off x="11784" y="5804"/>
              <a:ext cx="1701"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23"/>
              </p:custDataLst>
            </p:nvPr>
          </p:nvSpPr>
          <p:spPr>
            <a:xfrm>
              <a:off x="13935" y="6769"/>
              <a:ext cx="570" cy="580"/>
            </a:xfrm>
            <a:prstGeom prst="rect">
              <a:avLst/>
            </a:prstGeom>
            <a:noFill/>
          </p:spPr>
          <p:txBody>
            <a:bodyPr wrap="square" rtlCol="0" anchor="t">
              <a:spAutoFit/>
            </a:bodyPr>
            <a:lstStyle/>
            <a:p>
              <a:r>
                <a:rPr lang="en-US" altLang="zh-CN">
                  <a:sym typeface="+mn-ea"/>
                </a:rPr>
                <a:t>*</a:t>
              </a:r>
              <a:endParaRPr lang="en-US" altLang="zh-CN">
                <a:sym typeface="+mn-ea"/>
              </a:endParaRPr>
            </a:p>
          </p:txBody>
        </p:sp>
        <p:sp>
          <p:nvSpPr>
            <p:cNvPr id="37" name="文本框 36"/>
            <p:cNvSpPr txBox="1"/>
            <p:nvPr>
              <p:custDataLst>
                <p:tags r:id="rId24"/>
              </p:custDataLst>
            </p:nvPr>
          </p:nvSpPr>
          <p:spPr>
            <a:xfrm>
              <a:off x="14505" y="6189"/>
              <a:ext cx="570" cy="580"/>
            </a:xfrm>
            <a:prstGeom prst="rect">
              <a:avLst/>
            </a:prstGeom>
            <a:noFill/>
          </p:spPr>
          <p:txBody>
            <a:bodyPr wrap="square" rtlCol="0" anchor="t">
              <a:spAutoFit/>
            </a:bodyPr>
            <a:lstStyle/>
            <a:p>
              <a:r>
                <a:rPr lang="en-US" altLang="zh-CN">
                  <a:sym typeface="+mn-ea"/>
                </a:rPr>
                <a:t>1</a:t>
              </a:r>
              <a:endParaRPr lang="en-US" altLang="zh-CN">
                <a:sym typeface="+mn-ea"/>
              </a:endParaRPr>
            </a:p>
          </p:txBody>
        </p:sp>
        <p:cxnSp>
          <p:nvCxnSpPr>
            <p:cNvPr id="38" name="直接连接符 37"/>
            <p:cNvCxnSpPr>
              <a:stCxn id="10" idx="2"/>
              <a:endCxn id="11" idx="0"/>
            </p:cNvCxnSpPr>
            <p:nvPr>
              <p:custDataLst>
                <p:tags r:id="rId25"/>
              </p:custDataLst>
            </p:nvPr>
          </p:nvCxnSpPr>
          <p:spPr>
            <a:xfrm>
              <a:off x="14448" y="6167"/>
              <a:ext cx="0" cy="1024"/>
            </a:xfrm>
            <a:prstGeom prst="line">
              <a:avLst/>
            </a:prstGeom>
          </p:spPr>
          <p:style>
            <a:lnRef idx="2">
              <a:schemeClr val="accent1"/>
            </a:lnRef>
            <a:fillRef idx="0">
              <a:srgbClr val="FFFFFF"/>
            </a:fillRef>
            <a:effectRef idx="0">
              <a:srgbClr val="FFFFFF"/>
            </a:effectRef>
            <a:fontRef idx="minor">
              <a:schemeClr val="tx1"/>
            </a:fontRef>
          </p:style>
        </p:cxnSp>
      </p:grpSp>
      <p:sp>
        <p:nvSpPr>
          <p:cNvPr id="40" name="文本框 39"/>
          <p:cNvSpPr txBox="1"/>
          <p:nvPr/>
        </p:nvSpPr>
        <p:spPr>
          <a:xfrm>
            <a:off x="5044440" y="5557520"/>
            <a:ext cx="2056130" cy="460375"/>
          </a:xfrm>
          <a:prstGeom prst="rect">
            <a:avLst/>
          </a:prstGeom>
          <a:noFill/>
        </p:spPr>
        <p:txBody>
          <a:bodyPr wrap="square" rtlCol="0" anchor="t">
            <a:spAutoFit/>
          </a:bodyPr>
          <a:lstStyle/>
          <a:p>
            <a:r>
              <a:rPr lang="zh-CN" altLang="en-US" sz="2400">
                <a:sym typeface="+mn-ea"/>
              </a:rPr>
              <a:t>概念元模型</a:t>
            </a:r>
            <a:endParaRPr lang="zh-CN" altLang="en-US" sz="240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00000"/>
                </a:solidFill>
                <a:sym typeface="+mn-ea"/>
              </a:rPr>
              <a:t>ISO/IEC 25010:20</a:t>
            </a:r>
            <a:r>
              <a:rPr lang="en-US" altLang="zh-CN" dirty="0">
                <a:solidFill>
                  <a:srgbClr val="C00000"/>
                </a:solidFill>
                <a:sym typeface="+mn-ea"/>
              </a:rPr>
              <a:t>23</a:t>
            </a:r>
            <a:endParaRPr lang="zh-CN" altLang="en-US" dirty="0"/>
          </a:p>
        </p:txBody>
      </p:sp>
      <p:sp>
        <p:nvSpPr>
          <p:cNvPr id="3" name="矩形 2"/>
          <p:cNvSpPr/>
          <p:nvPr/>
        </p:nvSpPr>
        <p:spPr>
          <a:xfrm>
            <a:off x="4487920" y="1457960"/>
            <a:ext cx="3133725" cy="666750"/>
          </a:xfrm>
          <a:prstGeom prst="rect">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dirty="0"/>
              <a:t>软件产品质量</a:t>
            </a:r>
            <a:endParaRPr lang="zh-CN" altLang="en-US" sz="2000" dirty="0"/>
          </a:p>
        </p:txBody>
      </p:sp>
      <p:sp>
        <p:nvSpPr>
          <p:cNvPr id="5" name="矩形 4"/>
          <p:cNvSpPr/>
          <p:nvPr/>
        </p:nvSpPr>
        <p:spPr>
          <a:xfrm>
            <a:off x="361951"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dirty="0"/>
              <a:t>功能</a:t>
            </a:r>
            <a:endParaRPr lang="en-US" altLang="zh-CN" dirty="0"/>
          </a:p>
          <a:p>
            <a:pPr algn="ctr"/>
            <a:r>
              <a:rPr lang="zh-CN" altLang="en-US" dirty="0"/>
              <a:t>适应性</a:t>
            </a:r>
            <a:endParaRPr lang="zh-CN" altLang="en-US" sz="2000" dirty="0"/>
          </a:p>
        </p:txBody>
      </p:sp>
      <p:sp>
        <p:nvSpPr>
          <p:cNvPr id="7" name="矩形 6"/>
          <p:cNvSpPr/>
          <p:nvPr/>
        </p:nvSpPr>
        <p:spPr>
          <a:xfrm>
            <a:off x="6757991"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sz="2000" dirty="0"/>
              <a:t>安全性</a:t>
            </a:r>
            <a:endParaRPr lang="zh-CN" altLang="en-US" sz="2000" dirty="0"/>
          </a:p>
        </p:txBody>
      </p:sp>
      <p:sp>
        <p:nvSpPr>
          <p:cNvPr id="8" name="矩形 7"/>
          <p:cNvSpPr/>
          <p:nvPr/>
        </p:nvSpPr>
        <p:spPr>
          <a:xfrm>
            <a:off x="8037199"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dirty="0"/>
              <a:t>可维护性</a:t>
            </a:r>
            <a:endParaRPr lang="zh-CN" altLang="en-US" sz="2000" dirty="0"/>
          </a:p>
        </p:txBody>
      </p:sp>
      <p:sp>
        <p:nvSpPr>
          <p:cNvPr id="9" name="矩形 8"/>
          <p:cNvSpPr/>
          <p:nvPr/>
        </p:nvSpPr>
        <p:spPr>
          <a:xfrm>
            <a:off x="9316407"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dirty="0"/>
              <a:t>灵活性</a:t>
            </a:r>
            <a:endParaRPr lang="zh-CN" altLang="en-US" sz="2000" dirty="0"/>
          </a:p>
        </p:txBody>
      </p:sp>
      <p:sp>
        <p:nvSpPr>
          <p:cNvPr id="10" name="矩形 9"/>
          <p:cNvSpPr/>
          <p:nvPr/>
        </p:nvSpPr>
        <p:spPr>
          <a:xfrm>
            <a:off x="10595611"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sz="2000"/>
              <a:t>保护性</a:t>
            </a:r>
            <a:endParaRPr lang="zh-CN" altLang="en-US" sz="2000" dirty="0"/>
          </a:p>
        </p:txBody>
      </p:sp>
      <p:sp>
        <p:nvSpPr>
          <p:cNvPr id="11" name="矩形 10"/>
          <p:cNvSpPr/>
          <p:nvPr/>
        </p:nvSpPr>
        <p:spPr>
          <a:xfrm>
            <a:off x="1641159"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dirty="0"/>
              <a:t>性能效率</a:t>
            </a:r>
            <a:endParaRPr lang="zh-CN" altLang="en-US" sz="2000" dirty="0"/>
          </a:p>
        </p:txBody>
      </p:sp>
      <p:sp>
        <p:nvSpPr>
          <p:cNvPr id="12" name="矩形 11"/>
          <p:cNvSpPr/>
          <p:nvPr/>
        </p:nvSpPr>
        <p:spPr>
          <a:xfrm>
            <a:off x="2920367"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dirty="0"/>
              <a:t>兼容性</a:t>
            </a:r>
            <a:endParaRPr lang="zh-CN" altLang="en-US" sz="2000" dirty="0"/>
          </a:p>
        </p:txBody>
      </p:sp>
      <p:sp>
        <p:nvSpPr>
          <p:cNvPr id="13" name="矩形 12"/>
          <p:cNvSpPr/>
          <p:nvPr/>
        </p:nvSpPr>
        <p:spPr>
          <a:xfrm>
            <a:off x="4199575"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dirty="0"/>
              <a:t>交互能力</a:t>
            </a:r>
            <a:endParaRPr lang="zh-CN" altLang="en-US" sz="2000" dirty="0"/>
          </a:p>
        </p:txBody>
      </p:sp>
      <p:sp>
        <p:nvSpPr>
          <p:cNvPr id="14" name="矩形 13"/>
          <p:cNvSpPr/>
          <p:nvPr/>
        </p:nvSpPr>
        <p:spPr>
          <a:xfrm>
            <a:off x="5478783" y="2914650"/>
            <a:ext cx="1152000" cy="612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lIns="36000" rIns="36000" rtlCol="0" anchor="ctr"/>
          <a:lstStyle/>
          <a:p>
            <a:pPr algn="ctr"/>
            <a:r>
              <a:rPr lang="zh-CN" altLang="en-US" dirty="0"/>
              <a:t>可靠性</a:t>
            </a:r>
            <a:endParaRPr lang="zh-CN" altLang="en-US" sz="2000" dirty="0"/>
          </a:p>
        </p:txBody>
      </p:sp>
      <p:sp>
        <p:nvSpPr>
          <p:cNvPr id="17" name="矩形 16"/>
          <p:cNvSpPr/>
          <p:nvPr/>
        </p:nvSpPr>
        <p:spPr>
          <a:xfrm>
            <a:off x="361951"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dirty="0"/>
              <a:t>功能完</a:t>
            </a:r>
            <a:endParaRPr lang="en-US" altLang="zh-CN" dirty="0"/>
          </a:p>
          <a:p>
            <a:pPr algn="ctr"/>
            <a:r>
              <a:rPr lang="zh-CN" altLang="en-US" dirty="0"/>
              <a:t>整性</a:t>
            </a:r>
            <a:endParaRPr lang="en-US" altLang="zh-CN" dirty="0"/>
          </a:p>
          <a:p>
            <a:pPr algn="ctr"/>
            <a:r>
              <a:rPr lang="zh-CN" altLang="en-US" dirty="0"/>
              <a:t>功能正确性</a:t>
            </a:r>
            <a:endParaRPr lang="en-US" altLang="zh-CN" dirty="0"/>
          </a:p>
          <a:p>
            <a:pPr algn="ctr"/>
            <a:r>
              <a:rPr lang="zh-CN" altLang="en-US" dirty="0"/>
              <a:t>功能适合性</a:t>
            </a:r>
            <a:endParaRPr lang="zh-CN" altLang="en-US" sz="2000" dirty="0"/>
          </a:p>
        </p:txBody>
      </p:sp>
      <p:sp>
        <p:nvSpPr>
          <p:cNvPr id="18" name="矩形 17"/>
          <p:cNvSpPr/>
          <p:nvPr/>
        </p:nvSpPr>
        <p:spPr>
          <a:xfrm>
            <a:off x="6757991"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sz="2000" dirty="0"/>
              <a:t>保密性</a:t>
            </a:r>
            <a:endParaRPr lang="en-US" altLang="zh-CN" sz="2000" dirty="0"/>
          </a:p>
          <a:p>
            <a:pPr algn="ctr"/>
            <a:r>
              <a:rPr lang="zh-CN" altLang="en-US" sz="2000" dirty="0"/>
              <a:t>完整性</a:t>
            </a:r>
            <a:endParaRPr lang="en-US" altLang="zh-CN" sz="2000" dirty="0"/>
          </a:p>
          <a:p>
            <a:pPr algn="ctr"/>
            <a:r>
              <a:rPr lang="zh-CN" altLang="en-US" sz="2000" dirty="0"/>
              <a:t>不可否认性</a:t>
            </a:r>
            <a:endParaRPr lang="en-US" altLang="zh-CN" sz="2000" dirty="0"/>
          </a:p>
          <a:p>
            <a:pPr algn="ctr"/>
            <a:r>
              <a:rPr lang="zh-CN" altLang="en-US" sz="2000" dirty="0"/>
              <a:t>可追踪性</a:t>
            </a:r>
            <a:endParaRPr lang="en-US" altLang="zh-CN" sz="2000" dirty="0"/>
          </a:p>
          <a:p>
            <a:pPr algn="ctr"/>
            <a:r>
              <a:rPr lang="zh-CN" altLang="en-US" sz="2000" dirty="0"/>
              <a:t>真实性</a:t>
            </a:r>
            <a:endParaRPr lang="en-US" altLang="zh-CN" sz="2000" dirty="0"/>
          </a:p>
          <a:p>
            <a:pPr algn="ctr"/>
            <a:r>
              <a:rPr lang="zh-CN" altLang="en-US" sz="2000" dirty="0"/>
              <a:t>防御性</a:t>
            </a:r>
            <a:endParaRPr lang="zh-CN" altLang="en-US" sz="2000" dirty="0"/>
          </a:p>
        </p:txBody>
      </p:sp>
      <p:sp>
        <p:nvSpPr>
          <p:cNvPr id="19" name="矩形 18"/>
          <p:cNvSpPr/>
          <p:nvPr/>
        </p:nvSpPr>
        <p:spPr>
          <a:xfrm>
            <a:off x="8037199"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sz="2000" dirty="0"/>
              <a:t>模块化</a:t>
            </a:r>
            <a:endParaRPr lang="en-US" altLang="zh-CN" sz="2000" dirty="0"/>
          </a:p>
          <a:p>
            <a:pPr algn="ctr"/>
            <a:r>
              <a:rPr lang="zh-CN" altLang="en-US" sz="2000" dirty="0"/>
              <a:t>易重用性</a:t>
            </a:r>
            <a:endParaRPr lang="en-US" altLang="zh-CN" sz="2000" dirty="0"/>
          </a:p>
          <a:p>
            <a:pPr algn="ctr"/>
            <a:r>
              <a:rPr lang="zh-CN" altLang="en-US" sz="2000" dirty="0"/>
              <a:t>易分析性</a:t>
            </a:r>
            <a:endParaRPr lang="en-US" altLang="zh-CN" sz="2000" dirty="0"/>
          </a:p>
          <a:p>
            <a:pPr algn="ctr"/>
            <a:r>
              <a:rPr lang="zh-CN" altLang="en-US" sz="2000" dirty="0"/>
              <a:t>易修改性</a:t>
            </a:r>
            <a:endParaRPr lang="en-US" altLang="zh-CN" sz="2000" dirty="0"/>
          </a:p>
          <a:p>
            <a:pPr algn="ctr"/>
            <a:r>
              <a:rPr lang="zh-CN" altLang="en-US" sz="2000" dirty="0"/>
              <a:t>易测试性</a:t>
            </a:r>
            <a:endParaRPr lang="zh-CN" altLang="en-US" sz="2000" dirty="0"/>
          </a:p>
        </p:txBody>
      </p:sp>
      <p:sp>
        <p:nvSpPr>
          <p:cNvPr id="20" name="矩形 19"/>
          <p:cNvSpPr/>
          <p:nvPr/>
        </p:nvSpPr>
        <p:spPr>
          <a:xfrm>
            <a:off x="9316407"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sz="2000" dirty="0"/>
              <a:t>适应性</a:t>
            </a:r>
            <a:endParaRPr lang="en-US" altLang="zh-CN" sz="2000" dirty="0"/>
          </a:p>
          <a:p>
            <a:pPr algn="ctr"/>
            <a:r>
              <a:rPr lang="zh-CN" altLang="en-US" sz="2000" dirty="0"/>
              <a:t>可扩展性</a:t>
            </a:r>
            <a:endParaRPr lang="en-US" altLang="zh-CN" sz="2000" dirty="0"/>
          </a:p>
          <a:p>
            <a:pPr algn="ctr"/>
            <a:r>
              <a:rPr lang="zh-CN" altLang="en-US" sz="2000" dirty="0"/>
              <a:t>易安装性</a:t>
            </a:r>
            <a:endParaRPr lang="en-US" altLang="zh-CN" sz="2000" dirty="0"/>
          </a:p>
          <a:p>
            <a:pPr algn="ctr"/>
            <a:r>
              <a:rPr lang="zh-CN" altLang="en-US" sz="2000" dirty="0"/>
              <a:t>易替换性</a:t>
            </a:r>
            <a:endParaRPr lang="en-US" altLang="zh-CN" sz="2000" dirty="0"/>
          </a:p>
        </p:txBody>
      </p:sp>
      <p:sp>
        <p:nvSpPr>
          <p:cNvPr id="21" name="矩形 20"/>
          <p:cNvSpPr/>
          <p:nvPr/>
        </p:nvSpPr>
        <p:spPr>
          <a:xfrm>
            <a:off x="10595611"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sz="2000" dirty="0"/>
              <a:t>操作限制</a:t>
            </a:r>
            <a:endParaRPr lang="en-US" altLang="zh-CN" sz="2000" dirty="0"/>
          </a:p>
          <a:p>
            <a:pPr algn="ctr"/>
            <a:r>
              <a:rPr lang="zh-CN" altLang="en-US" sz="2000" dirty="0"/>
              <a:t>风险识别</a:t>
            </a:r>
            <a:endParaRPr lang="en-US" altLang="zh-CN" sz="2000" dirty="0"/>
          </a:p>
          <a:p>
            <a:pPr algn="ctr"/>
            <a:r>
              <a:rPr lang="zh-CN" altLang="en-US" sz="2000" dirty="0"/>
              <a:t>安全失效</a:t>
            </a:r>
            <a:endParaRPr lang="en-US" altLang="zh-CN" sz="2000" dirty="0"/>
          </a:p>
          <a:p>
            <a:pPr algn="ctr"/>
            <a:r>
              <a:rPr lang="zh-CN" altLang="en-US" sz="2000" dirty="0"/>
              <a:t>危险警告</a:t>
            </a:r>
            <a:endParaRPr lang="en-US" altLang="zh-CN" sz="2000" dirty="0"/>
          </a:p>
          <a:p>
            <a:pPr algn="ctr"/>
            <a:r>
              <a:rPr lang="zh-CN" altLang="en-US" sz="2000" dirty="0"/>
              <a:t>安全集成</a:t>
            </a:r>
            <a:endParaRPr lang="zh-CN" altLang="en-US" sz="2000" dirty="0"/>
          </a:p>
        </p:txBody>
      </p:sp>
      <p:sp>
        <p:nvSpPr>
          <p:cNvPr id="22" name="矩形 21"/>
          <p:cNvSpPr/>
          <p:nvPr/>
        </p:nvSpPr>
        <p:spPr>
          <a:xfrm>
            <a:off x="1641159"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dirty="0"/>
              <a:t>时间特性</a:t>
            </a:r>
            <a:endParaRPr lang="en-US" altLang="zh-CN" dirty="0"/>
          </a:p>
          <a:p>
            <a:pPr algn="ctr"/>
            <a:r>
              <a:rPr lang="zh-CN" altLang="en-US" dirty="0"/>
              <a:t>资源利用</a:t>
            </a:r>
            <a:endParaRPr lang="en-US" altLang="zh-CN" dirty="0"/>
          </a:p>
          <a:p>
            <a:pPr algn="ctr"/>
            <a:r>
              <a:rPr lang="zh-CN" altLang="en-US" sz="2000" dirty="0"/>
              <a:t>容量</a:t>
            </a:r>
            <a:endParaRPr lang="zh-CN" altLang="en-US" sz="2000" dirty="0"/>
          </a:p>
        </p:txBody>
      </p:sp>
      <p:sp>
        <p:nvSpPr>
          <p:cNvPr id="23" name="矩形 22"/>
          <p:cNvSpPr/>
          <p:nvPr/>
        </p:nvSpPr>
        <p:spPr>
          <a:xfrm>
            <a:off x="2920367"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sz="2000" dirty="0"/>
              <a:t>共存性</a:t>
            </a:r>
            <a:endParaRPr lang="en-US" altLang="zh-CN" sz="2000" dirty="0"/>
          </a:p>
          <a:p>
            <a:pPr algn="ctr"/>
            <a:r>
              <a:rPr lang="zh-CN" altLang="en-US" sz="2000" dirty="0"/>
              <a:t>互操作性</a:t>
            </a:r>
            <a:endParaRPr lang="zh-CN" altLang="en-US" sz="2000" dirty="0"/>
          </a:p>
        </p:txBody>
      </p:sp>
      <p:sp>
        <p:nvSpPr>
          <p:cNvPr id="24" name="矩形 23"/>
          <p:cNvSpPr/>
          <p:nvPr/>
        </p:nvSpPr>
        <p:spPr>
          <a:xfrm>
            <a:off x="4199575"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sz="1600" dirty="0"/>
              <a:t>易认知性</a:t>
            </a:r>
            <a:endParaRPr lang="en-US" altLang="zh-CN" sz="1600" dirty="0"/>
          </a:p>
          <a:p>
            <a:pPr algn="ctr"/>
            <a:r>
              <a:rPr lang="zh-CN" altLang="en-US" sz="1600" dirty="0"/>
              <a:t>易学习性</a:t>
            </a:r>
            <a:endParaRPr lang="en-US" altLang="zh-CN" sz="1600" dirty="0"/>
          </a:p>
          <a:p>
            <a:pPr algn="ctr"/>
            <a:r>
              <a:rPr lang="zh-CN" altLang="en-US" sz="1600" dirty="0"/>
              <a:t>易操作性</a:t>
            </a:r>
            <a:endParaRPr lang="en-US" altLang="zh-CN" sz="1600" dirty="0"/>
          </a:p>
          <a:p>
            <a:pPr algn="ctr"/>
            <a:r>
              <a:rPr lang="zh-CN" altLang="en-US" sz="1600" dirty="0"/>
              <a:t>用户错误防止</a:t>
            </a:r>
            <a:endParaRPr lang="en-US" altLang="zh-CN" sz="1600" dirty="0"/>
          </a:p>
          <a:p>
            <a:pPr algn="ctr"/>
            <a:r>
              <a:rPr lang="zh-CN" altLang="en-US" sz="1600" dirty="0"/>
              <a:t>用户参与度</a:t>
            </a:r>
            <a:endParaRPr lang="en-US" altLang="zh-CN" sz="1600" dirty="0"/>
          </a:p>
          <a:p>
            <a:pPr algn="ctr"/>
            <a:r>
              <a:rPr lang="zh-CN" altLang="en-US" sz="1600" dirty="0"/>
              <a:t>包容性</a:t>
            </a:r>
            <a:endParaRPr lang="en-US" altLang="zh-CN" sz="1600" dirty="0"/>
          </a:p>
          <a:p>
            <a:pPr algn="ctr"/>
            <a:r>
              <a:rPr lang="zh-CN" altLang="en-US" sz="1600" dirty="0"/>
              <a:t>用户协助</a:t>
            </a:r>
            <a:endParaRPr lang="en-US" altLang="zh-CN" sz="1600" dirty="0"/>
          </a:p>
          <a:p>
            <a:pPr algn="ctr"/>
            <a:r>
              <a:rPr lang="zh-CN" altLang="en-US" sz="1600" dirty="0"/>
              <a:t>自描述</a:t>
            </a:r>
            <a:endParaRPr lang="en-US" altLang="zh-CN" sz="1600" dirty="0"/>
          </a:p>
          <a:p>
            <a:pPr algn="ctr"/>
            <a:endParaRPr lang="en-US" altLang="zh-CN" sz="1600" dirty="0"/>
          </a:p>
          <a:p>
            <a:pPr algn="ctr"/>
            <a:endParaRPr lang="zh-CN" altLang="en-US" sz="1600" dirty="0"/>
          </a:p>
        </p:txBody>
      </p:sp>
      <p:sp>
        <p:nvSpPr>
          <p:cNvPr id="25" name="矩形 24"/>
          <p:cNvSpPr/>
          <p:nvPr/>
        </p:nvSpPr>
        <p:spPr>
          <a:xfrm>
            <a:off x="5478783" y="3615690"/>
            <a:ext cx="1152000" cy="2808000"/>
          </a:xfrm>
          <a:prstGeom prst="rect">
            <a:avLst/>
          </a:prstGeom>
          <a:solidFill>
            <a:schemeClr val="accent6">
              <a:lumMod val="75000"/>
              <a:alpha val="73000"/>
            </a:schemeClr>
          </a:solidFill>
        </p:spPr>
        <p:style>
          <a:lnRef idx="2">
            <a:schemeClr val="accent1">
              <a:lumMod val="75000"/>
            </a:schemeClr>
          </a:lnRef>
          <a:fillRef idx="1">
            <a:schemeClr val="accent1"/>
          </a:fillRef>
          <a:effectRef idx="0">
            <a:srgbClr val="FFFFFF"/>
          </a:effectRef>
          <a:fontRef idx="minor">
            <a:schemeClr val="lt1"/>
          </a:fontRef>
        </p:style>
        <p:txBody>
          <a:bodyPr lIns="36000" rIns="36000" rtlCol="0" anchor="t" anchorCtr="0"/>
          <a:lstStyle/>
          <a:p>
            <a:pPr algn="ctr"/>
            <a:r>
              <a:rPr lang="zh-CN" altLang="en-US" sz="2000" dirty="0"/>
              <a:t>无故障性</a:t>
            </a:r>
            <a:endParaRPr lang="en-US" altLang="zh-CN" sz="2000" dirty="0"/>
          </a:p>
          <a:p>
            <a:pPr algn="ctr"/>
            <a:r>
              <a:rPr lang="zh-CN" altLang="en-US" sz="2000" dirty="0"/>
              <a:t>可用性</a:t>
            </a:r>
            <a:endParaRPr lang="en-US" altLang="zh-CN" sz="2000" dirty="0"/>
          </a:p>
          <a:p>
            <a:pPr algn="ctr"/>
            <a:r>
              <a:rPr lang="zh-CN" altLang="en-US" sz="2000" dirty="0"/>
              <a:t>容错性</a:t>
            </a:r>
            <a:endParaRPr lang="en-US" altLang="zh-CN" sz="2000" dirty="0"/>
          </a:p>
          <a:p>
            <a:pPr algn="ctr"/>
            <a:r>
              <a:rPr lang="zh-CN" altLang="en-US" sz="2000" dirty="0"/>
              <a:t>易恢复性</a:t>
            </a:r>
            <a:endParaRPr lang="zh-CN" altLang="en-US" sz="2000" dirty="0"/>
          </a:p>
        </p:txBody>
      </p:sp>
      <p:cxnSp>
        <p:nvCxnSpPr>
          <p:cNvPr id="33" name="直接连接符 32"/>
          <p:cNvCxnSpPr/>
          <p:nvPr/>
        </p:nvCxnSpPr>
        <p:spPr>
          <a:xfrm>
            <a:off x="937951" y="2491740"/>
            <a:ext cx="1023366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37951" y="2476500"/>
            <a:ext cx="0" cy="422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1171611" y="2476500"/>
            <a:ext cx="0" cy="422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217159" y="2476500"/>
            <a:ext cx="0" cy="422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3496367" y="2476500"/>
            <a:ext cx="0" cy="422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775574" y="2476500"/>
            <a:ext cx="0" cy="422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 idx="2"/>
          </p:cNvCxnSpPr>
          <p:nvPr/>
        </p:nvCxnSpPr>
        <p:spPr>
          <a:xfrm flipH="1">
            <a:off x="6054781" y="2124710"/>
            <a:ext cx="2" cy="7747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7333988" y="2476500"/>
            <a:ext cx="0" cy="422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8613196" y="2476500"/>
            <a:ext cx="0" cy="422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9892403" y="2476500"/>
            <a:ext cx="0" cy="42291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lstStyle/>
          <a:p>
            <a:pPr algn="l">
              <a:lnSpc>
                <a:spcPct val="130000"/>
              </a:lnSpc>
              <a:buClrTx/>
              <a:buSzTx/>
            </a:pPr>
            <a:r>
              <a:rPr lang="en-US" altLang="zh-CN">
                <a:sym typeface="+mn-ea"/>
              </a:rPr>
              <a:t>功能适应性表示软件产品在规定条件下满足指定的或隐含的需求的程度：</a:t>
            </a:r>
            <a:endParaRPr lang="en-US" altLang="zh-CN"/>
          </a:p>
          <a:p>
            <a:pPr lvl="1" algn="l">
              <a:lnSpc>
                <a:spcPct val="130000"/>
              </a:lnSpc>
              <a:spcBef>
                <a:spcPts val="1000"/>
              </a:spcBef>
              <a:buClrTx/>
              <a:buSzTx/>
            </a:pPr>
            <a:r>
              <a:rPr lang="en-US" altLang="zh-CN" b="1">
                <a:solidFill>
                  <a:srgbClr val="0070C0"/>
                </a:solidFill>
                <a:sym typeface="+mn-ea"/>
              </a:rPr>
              <a:t>功能</a:t>
            </a:r>
            <a:r>
              <a:rPr lang="zh-CN" altLang="en-US" b="1">
                <a:solidFill>
                  <a:srgbClr val="0070C0"/>
                </a:solidFill>
                <a:sym typeface="+mn-ea"/>
              </a:rPr>
              <a:t>完整</a:t>
            </a:r>
            <a:r>
              <a:rPr lang="en-US" altLang="zh-CN" b="1">
                <a:solidFill>
                  <a:srgbClr val="0070C0"/>
                </a:solidFill>
                <a:sym typeface="+mn-ea"/>
              </a:rPr>
              <a:t>性</a:t>
            </a:r>
            <a:r>
              <a:rPr lang="en-US" altLang="zh-CN">
                <a:sym typeface="+mn-ea"/>
              </a:rPr>
              <a:t>（functional completeness）：与软件功能覆盖所指定任务和用户目标</a:t>
            </a:r>
            <a:r>
              <a:rPr lang="zh-CN" altLang="en-US">
                <a:sym typeface="+mn-ea"/>
              </a:rPr>
              <a:t>的程度</a:t>
            </a:r>
            <a:r>
              <a:rPr lang="en-US" altLang="zh-CN">
                <a:sym typeface="+mn-ea"/>
              </a:rPr>
              <a:t>。</a:t>
            </a:r>
            <a:endParaRPr lang="en-US" altLang="zh-CN"/>
          </a:p>
          <a:p>
            <a:pPr lvl="1" algn="l">
              <a:lnSpc>
                <a:spcPct val="130000"/>
              </a:lnSpc>
              <a:spcBef>
                <a:spcPts val="1000"/>
              </a:spcBef>
              <a:buClrTx/>
              <a:buSzTx/>
            </a:pPr>
            <a:r>
              <a:rPr lang="en-US" altLang="zh-CN" b="1">
                <a:solidFill>
                  <a:srgbClr val="0070C0"/>
                </a:solidFill>
                <a:sym typeface="+mn-ea"/>
              </a:rPr>
              <a:t>功能正确性</a:t>
            </a:r>
            <a:r>
              <a:rPr lang="en-US" altLang="zh-CN">
                <a:sym typeface="+mn-ea"/>
              </a:rPr>
              <a:t>（functional correctness）：与软件按照所要求精度的提供正确结果</a:t>
            </a:r>
            <a:r>
              <a:rPr lang="zh-CN" altLang="en-US">
                <a:sym typeface="+mn-ea"/>
              </a:rPr>
              <a:t>的程度</a:t>
            </a:r>
            <a:r>
              <a:rPr lang="en-US" altLang="zh-CN">
                <a:sym typeface="+mn-ea"/>
              </a:rPr>
              <a:t>。</a:t>
            </a:r>
            <a:endParaRPr lang="en-US" altLang="zh-CN"/>
          </a:p>
          <a:p>
            <a:pPr lvl="1" algn="l">
              <a:lnSpc>
                <a:spcPct val="130000"/>
              </a:lnSpc>
              <a:spcBef>
                <a:spcPts val="1000"/>
              </a:spcBef>
              <a:buClrTx/>
              <a:buSzTx/>
            </a:pPr>
            <a:r>
              <a:rPr lang="en-US" altLang="zh-CN" b="1">
                <a:solidFill>
                  <a:srgbClr val="0070C0"/>
                </a:solidFill>
                <a:sym typeface="+mn-ea"/>
              </a:rPr>
              <a:t>功能适合性</a:t>
            </a:r>
            <a:r>
              <a:rPr lang="en-US" altLang="zh-CN">
                <a:sym typeface="+mn-ea"/>
              </a:rPr>
              <a:t>（appropriateness）：与软件提供的功能有助于完成指定的任务和目标</a:t>
            </a:r>
            <a:r>
              <a:rPr lang="zh-CN" altLang="en-US">
                <a:sym typeface="+mn-ea"/>
              </a:rPr>
              <a:t>的程度</a:t>
            </a:r>
            <a:r>
              <a:rPr lang="en-US" altLang="zh-CN">
                <a:sym typeface="+mn-ea"/>
              </a:rPr>
              <a:t>。</a:t>
            </a:r>
            <a:endParaRPr lang="en-US" altLang="zh-CN"/>
          </a:p>
          <a:p>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lstStyle/>
          <a:p>
            <a:pPr algn="l">
              <a:lnSpc>
                <a:spcPct val="130000"/>
              </a:lnSpc>
              <a:buClrTx/>
              <a:buSzTx/>
            </a:pPr>
            <a:r>
              <a:rPr lang="en-US" altLang="zh-CN" dirty="0" err="1">
                <a:sym typeface="+mn-ea"/>
              </a:rPr>
              <a:t>性能效率表示在规定条件下使用资源数量的程度</a:t>
            </a:r>
            <a:r>
              <a:rPr lang="en-US" altLang="zh-CN" dirty="0">
                <a:sym typeface="+mn-ea"/>
              </a:rPr>
              <a:t>：</a:t>
            </a:r>
            <a:endParaRPr lang="en-US" altLang="zh-CN" dirty="0"/>
          </a:p>
          <a:p>
            <a:pPr lvl="1" algn="l">
              <a:lnSpc>
                <a:spcPct val="130000"/>
              </a:lnSpc>
              <a:spcBef>
                <a:spcPts val="1000"/>
              </a:spcBef>
              <a:buClrTx/>
              <a:buSzTx/>
            </a:pPr>
            <a:r>
              <a:rPr lang="zh-CN" altLang="en-US" b="1" dirty="0">
                <a:solidFill>
                  <a:srgbClr val="0070C0"/>
                </a:solidFill>
                <a:sym typeface="+mn-ea"/>
              </a:rPr>
              <a:t>时间特性</a:t>
            </a:r>
            <a:r>
              <a:rPr lang="en-US" altLang="zh-CN" dirty="0">
                <a:sym typeface="+mn-ea"/>
              </a:rPr>
              <a:t>（time </a:t>
            </a:r>
            <a:r>
              <a:rPr lang="en-US" altLang="zh-CN" dirty="0" err="1">
                <a:sym typeface="+mn-ea"/>
              </a:rPr>
              <a:t>behaviour</a:t>
            </a:r>
            <a:r>
              <a:rPr lang="en-US" altLang="zh-CN" dirty="0">
                <a:sym typeface="+mn-ea"/>
              </a:rPr>
              <a:t>）：</a:t>
            </a:r>
            <a:r>
              <a:rPr lang="en-US" altLang="zh-CN" dirty="0" err="1">
                <a:sym typeface="+mn-ea"/>
              </a:rPr>
              <a:t>与软件执行其功能时响应和处理时间以及吞吐量</a:t>
            </a:r>
            <a:r>
              <a:rPr lang="zh-CN" altLang="en-US" dirty="0">
                <a:sym typeface="+mn-ea"/>
              </a:rPr>
              <a:t>满足要求的程度</a:t>
            </a:r>
            <a:r>
              <a:rPr lang="en-US" altLang="zh-CN" dirty="0">
                <a:sym typeface="+mn-ea"/>
              </a:rPr>
              <a:t>。</a:t>
            </a:r>
            <a:endParaRPr lang="en-US" altLang="zh-CN" dirty="0"/>
          </a:p>
          <a:p>
            <a:pPr lvl="1" algn="l">
              <a:lnSpc>
                <a:spcPct val="130000"/>
              </a:lnSpc>
              <a:spcBef>
                <a:spcPts val="1000"/>
              </a:spcBef>
              <a:buClrTx/>
              <a:buSzTx/>
            </a:pPr>
            <a:r>
              <a:rPr lang="zh-CN" altLang="en-US" b="1" dirty="0">
                <a:solidFill>
                  <a:srgbClr val="0070C0"/>
                </a:solidFill>
                <a:sym typeface="+mn-ea"/>
              </a:rPr>
              <a:t>资源利用</a:t>
            </a:r>
            <a:r>
              <a:rPr lang="en-US" altLang="zh-CN" dirty="0">
                <a:sym typeface="+mn-ea"/>
              </a:rPr>
              <a:t>（resource utilization）：</a:t>
            </a:r>
            <a:r>
              <a:rPr lang="en-US" altLang="zh-CN" dirty="0" err="1">
                <a:sym typeface="+mn-ea"/>
              </a:rPr>
              <a:t>与在软件执行其功能时所使用的资源数量</a:t>
            </a:r>
            <a:r>
              <a:rPr lang="zh-CN" altLang="en-US" dirty="0">
                <a:sym typeface="+mn-ea"/>
              </a:rPr>
              <a:t>和种类满足要求的程度</a:t>
            </a:r>
            <a:r>
              <a:rPr lang="en-US" altLang="zh-CN" dirty="0">
                <a:sym typeface="+mn-ea"/>
              </a:rPr>
              <a:t>。</a:t>
            </a:r>
            <a:endParaRPr lang="en-US" altLang="zh-CN" dirty="0"/>
          </a:p>
          <a:p>
            <a:pPr lvl="1" algn="l">
              <a:lnSpc>
                <a:spcPct val="130000"/>
              </a:lnSpc>
              <a:spcBef>
                <a:spcPts val="1000"/>
              </a:spcBef>
              <a:buClrTx/>
              <a:buSzTx/>
            </a:pPr>
            <a:r>
              <a:rPr lang="zh-CN" altLang="en-US" b="1" dirty="0">
                <a:solidFill>
                  <a:srgbClr val="0070C0"/>
                </a:solidFill>
                <a:sym typeface="+mn-ea"/>
              </a:rPr>
              <a:t>容量</a:t>
            </a:r>
            <a:r>
              <a:rPr lang="en-US" altLang="zh-CN" dirty="0">
                <a:sym typeface="+mn-ea"/>
              </a:rPr>
              <a:t>（capacity）：</a:t>
            </a:r>
            <a:r>
              <a:rPr lang="en-US" altLang="zh-CN" dirty="0" err="1">
                <a:sym typeface="+mn-ea"/>
              </a:rPr>
              <a:t>与软件参数最大限度满足需求</a:t>
            </a:r>
            <a:r>
              <a:rPr lang="zh-CN" altLang="en-US" dirty="0">
                <a:sym typeface="+mn-ea"/>
              </a:rPr>
              <a:t>的程度</a:t>
            </a:r>
            <a:r>
              <a:rPr lang="en-US" altLang="zh-CN" dirty="0">
                <a:sym typeface="+mn-ea"/>
              </a:rPr>
              <a:t>。</a:t>
            </a:r>
            <a:endParaRPr lang="en-US" altLang="zh-CN" dirty="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lstStyle/>
          <a:p>
            <a:pPr algn="l">
              <a:lnSpc>
                <a:spcPct val="130000"/>
              </a:lnSpc>
              <a:buClrTx/>
              <a:buSzTx/>
            </a:pPr>
            <a:r>
              <a:rPr lang="en-US" altLang="zh-CN">
                <a:sym typeface="+mn-ea"/>
              </a:rPr>
              <a:t>兼容性表示软件在执行所需功能时，与其它软件、系统或组件共享相同硬件或软件环境，可以交互信息相关的属性。包括2项子特性：</a:t>
            </a:r>
            <a:endParaRPr lang="en-US" altLang="zh-CN"/>
          </a:p>
          <a:p>
            <a:pPr lvl="1" algn="l">
              <a:lnSpc>
                <a:spcPct val="130000"/>
              </a:lnSpc>
              <a:spcBef>
                <a:spcPts val="1000"/>
              </a:spcBef>
              <a:buClrTx/>
              <a:buSzTx/>
            </a:pPr>
            <a:r>
              <a:rPr lang="en-US" altLang="zh-CN" b="1">
                <a:solidFill>
                  <a:srgbClr val="0070C0"/>
                </a:solidFill>
                <a:sym typeface="+mn-ea"/>
              </a:rPr>
              <a:t>共存性</a:t>
            </a:r>
            <a:r>
              <a:rPr lang="en-US" altLang="zh-CN">
                <a:sym typeface="+mn-ea"/>
              </a:rPr>
              <a:t>（co-existence）：软件在与其它软件共享相同的环境与资源时执行所需的功能，而未对其它软件产生不利影响的</a:t>
            </a:r>
            <a:r>
              <a:rPr lang="zh-CN" altLang="en-US">
                <a:sym typeface="+mn-ea"/>
              </a:rPr>
              <a:t>程度</a:t>
            </a:r>
            <a:r>
              <a:rPr lang="en-US" altLang="zh-CN">
                <a:sym typeface="+mn-ea"/>
              </a:rPr>
              <a:t>。</a:t>
            </a:r>
            <a:endParaRPr lang="en-US" altLang="zh-CN"/>
          </a:p>
          <a:p>
            <a:pPr lvl="1" algn="l">
              <a:lnSpc>
                <a:spcPct val="130000"/>
              </a:lnSpc>
              <a:spcBef>
                <a:spcPts val="1000"/>
              </a:spcBef>
              <a:buClrTx/>
              <a:buSzTx/>
            </a:pPr>
            <a:r>
              <a:rPr lang="en-US" altLang="zh-CN" b="1">
                <a:solidFill>
                  <a:srgbClr val="0070C0"/>
                </a:solidFill>
                <a:sym typeface="+mn-ea"/>
              </a:rPr>
              <a:t>互操作性</a:t>
            </a:r>
            <a:r>
              <a:rPr lang="en-US" altLang="zh-CN">
                <a:sym typeface="+mn-ea"/>
              </a:rPr>
              <a:t>（interoperability）：表示两个或多个软件或组件间交换信息与使用已交换信息的</a:t>
            </a:r>
            <a:r>
              <a:rPr lang="zh-CN" altLang="en-US">
                <a:sym typeface="+mn-ea"/>
              </a:rPr>
              <a:t>程度</a:t>
            </a:r>
            <a:r>
              <a:rPr lang="en-US" altLang="zh-CN">
                <a:sym typeface="+mn-ea"/>
              </a:rPr>
              <a:t>。</a:t>
            </a:r>
            <a:endParaRPr lang="en-US" altLang="zh-CN">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a:xfrm>
            <a:off x="838200" y="1538605"/>
            <a:ext cx="10515600" cy="5833745"/>
          </a:xfrm>
        </p:spPr>
        <p:txBody>
          <a:bodyPr>
            <a:normAutofit fontScale="85000" lnSpcReduction="10000"/>
          </a:bodyPr>
          <a:lstStyle/>
          <a:p>
            <a:pPr algn="l">
              <a:lnSpc>
                <a:spcPts val="3400"/>
              </a:lnSpc>
              <a:buClrTx/>
              <a:buSzTx/>
            </a:pPr>
            <a:r>
              <a:rPr lang="zh-CN" altLang="en-US" sz="2400" dirty="0">
                <a:sym typeface="+mn-ea"/>
              </a:rPr>
              <a:t>交互能力</a:t>
            </a:r>
            <a:r>
              <a:rPr lang="en-US" altLang="zh-CN" sz="2400" dirty="0" err="1">
                <a:sym typeface="+mn-ea"/>
              </a:rPr>
              <a:t>表示软件被特定用户使用时，为达到指定目标的有效性、效率与用户满意程度的</a:t>
            </a:r>
            <a:r>
              <a:rPr lang="zh-CN" altLang="en-US" sz="2400" dirty="0">
                <a:sym typeface="+mn-ea"/>
              </a:rPr>
              <a:t>程度</a:t>
            </a:r>
            <a:r>
              <a:rPr lang="en-US" altLang="zh-CN" sz="2400" dirty="0">
                <a:sym typeface="+mn-ea"/>
              </a:rPr>
              <a:t>：</a:t>
            </a:r>
            <a:endParaRPr lang="en-US" altLang="zh-CN" sz="2400" dirty="0"/>
          </a:p>
          <a:p>
            <a:pPr lvl="1" algn="l">
              <a:lnSpc>
                <a:spcPts val="3400"/>
              </a:lnSpc>
              <a:spcBef>
                <a:spcPts val="0"/>
              </a:spcBef>
              <a:buClrTx/>
              <a:buSzTx/>
            </a:pPr>
            <a:r>
              <a:rPr lang="en-US" altLang="zh-CN" sz="2000" b="1" dirty="0" err="1">
                <a:solidFill>
                  <a:srgbClr val="0070C0"/>
                </a:solidFill>
                <a:sym typeface="+mn-ea"/>
              </a:rPr>
              <a:t>易认知性</a:t>
            </a:r>
            <a:r>
              <a:rPr lang="en-US" altLang="zh-CN" sz="2000" dirty="0" err="1">
                <a:sym typeface="+mn-ea"/>
              </a:rPr>
              <a:t>：与用户识别一个软件是否适合其需要</a:t>
            </a:r>
            <a:r>
              <a:rPr lang="zh-CN" altLang="en-US" sz="2000" dirty="0">
                <a:sym typeface="+mn-ea"/>
              </a:rPr>
              <a:t>的程度</a:t>
            </a:r>
            <a:endParaRPr lang="en-US" altLang="zh-CN" sz="2000" dirty="0"/>
          </a:p>
          <a:p>
            <a:pPr lvl="1" algn="l">
              <a:lnSpc>
                <a:spcPts val="3400"/>
              </a:lnSpc>
              <a:spcBef>
                <a:spcPts val="0"/>
              </a:spcBef>
              <a:buClrTx/>
              <a:buSzTx/>
            </a:pPr>
            <a:r>
              <a:rPr lang="en-US" altLang="zh-CN" sz="2000" b="1" dirty="0" err="1">
                <a:solidFill>
                  <a:srgbClr val="0070C0"/>
                </a:solidFill>
                <a:sym typeface="+mn-ea"/>
              </a:rPr>
              <a:t>易学习性</a:t>
            </a:r>
            <a:r>
              <a:rPr lang="en-US" altLang="zh-CN" sz="2000" dirty="0" err="1">
                <a:sym typeface="+mn-ea"/>
              </a:rPr>
              <a:t>：与用户为学习软件应用（例如运行控制、输入、输出）所花的努力有关的软件属性</a:t>
            </a:r>
            <a:r>
              <a:rPr lang="en-US" altLang="zh-CN" sz="2000" dirty="0">
                <a:sym typeface="+mn-ea"/>
              </a:rPr>
              <a:t>。</a:t>
            </a:r>
            <a:endParaRPr lang="en-US" altLang="zh-CN" sz="2000" dirty="0"/>
          </a:p>
          <a:p>
            <a:pPr lvl="1" algn="l">
              <a:lnSpc>
                <a:spcPts val="3400"/>
              </a:lnSpc>
              <a:spcBef>
                <a:spcPts val="0"/>
              </a:spcBef>
              <a:buClrTx/>
              <a:buSzTx/>
            </a:pPr>
            <a:r>
              <a:rPr lang="en-US" altLang="zh-CN" sz="2000" b="1" dirty="0" err="1">
                <a:solidFill>
                  <a:srgbClr val="0070C0"/>
                </a:solidFill>
                <a:sym typeface="+mn-ea"/>
              </a:rPr>
              <a:t>易操作性</a:t>
            </a:r>
            <a:r>
              <a:rPr lang="en-US" altLang="zh-CN" sz="2000" dirty="0" err="1">
                <a:sym typeface="+mn-ea"/>
              </a:rPr>
              <a:t>：与用户为操作和运行控制所花努力有关的软件属性</a:t>
            </a:r>
            <a:endParaRPr lang="en-US" altLang="zh-CN" sz="2000" dirty="0"/>
          </a:p>
          <a:p>
            <a:pPr lvl="1" algn="l">
              <a:lnSpc>
                <a:spcPts val="3400"/>
              </a:lnSpc>
              <a:spcBef>
                <a:spcPts val="0"/>
              </a:spcBef>
              <a:buClrTx/>
              <a:buSzTx/>
            </a:pPr>
            <a:r>
              <a:rPr lang="en-US" altLang="zh-CN" sz="2000" b="1" dirty="0" err="1">
                <a:solidFill>
                  <a:srgbClr val="0070C0"/>
                </a:solidFill>
                <a:sym typeface="+mn-ea"/>
              </a:rPr>
              <a:t>用户错误防止</a:t>
            </a:r>
            <a:r>
              <a:rPr lang="en-US" altLang="zh-CN" sz="2000" dirty="0" err="1">
                <a:sym typeface="+mn-ea"/>
              </a:rPr>
              <a:t>：与软件保护用户不犯错误相关的属性</a:t>
            </a:r>
            <a:r>
              <a:rPr lang="en-US" altLang="zh-CN" sz="2000" dirty="0">
                <a:sym typeface="+mn-ea"/>
              </a:rPr>
              <a:t>。</a:t>
            </a:r>
            <a:endParaRPr lang="en-US" altLang="zh-CN" sz="2000" dirty="0"/>
          </a:p>
          <a:p>
            <a:pPr lvl="1">
              <a:lnSpc>
                <a:spcPts val="3400"/>
              </a:lnSpc>
              <a:spcBef>
                <a:spcPts val="0"/>
              </a:spcBef>
            </a:pPr>
            <a:r>
              <a:rPr lang="zh-CN" altLang="en-US" sz="2100" b="1" dirty="0">
                <a:solidFill>
                  <a:srgbClr val="0070C0"/>
                </a:solidFill>
              </a:rPr>
              <a:t>用户参与度：</a:t>
            </a:r>
            <a:r>
              <a:rPr lang="zh-CN" altLang="en-US" sz="2000" dirty="0"/>
              <a:t>软件以吸引人和激励人的方式展现自己的功能和信息，鼓励 用户持续进行交互的能力</a:t>
            </a:r>
            <a:endParaRPr lang="en-US" altLang="zh-CN" sz="2000" dirty="0"/>
          </a:p>
          <a:p>
            <a:pPr lvl="1">
              <a:lnSpc>
                <a:spcPts val="3400"/>
              </a:lnSpc>
              <a:spcBef>
                <a:spcPts val="0"/>
              </a:spcBef>
            </a:pPr>
            <a:r>
              <a:rPr lang="zh-CN" altLang="en-US" sz="2100" b="1" dirty="0">
                <a:solidFill>
                  <a:srgbClr val="0070C0"/>
                </a:solidFill>
              </a:rPr>
              <a:t>包容性：</a:t>
            </a:r>
            <a:r>
              <a:rPr lang="zh-CN" altLang="en-US" sz="2000" dirty="0"/>
              <a:t>软件被各种背景的人使用的能力</a:t>
            </a:r>
            <a:endParaRPr lang="en-US" altLang="zh-CN" sz="2000" dirty="0"/>
          </a:p>
          <a:p>
            <a:pPr lvl="1">
              <a:lnSpc>
                <a:spcPts val="3400"/>
              </a:lnSpc>
              <a:spcBef>
                <a:spcPts val="0"/>
              </a:spcBef>
            </a:pPr>
            <a:r>
              <a:rPr lang="zh-CN" altLang="en-US" sz="2100" b="1" dirty="0">
                <a:solidFill>
                  <a:srgbClr val="0070C0"/>
                </a:solidFill>
              </a:rPr>
              <a:t>用户协助：</a:t>
            </a:r>
            <a:r>
              <a:rPr lang="zh-CN" altLang="en-US" sz="2000" dirty="0"/>
              <a:t>在特定的使用场景下，让有各种各样特征和能力的人使用，以 达成指定目标的能力</a:t>
            </a:r>
            <a:endParaRPr lang="en-US" altLang="zh-CN" sz="2000" dirty="0"/>
          </a:p>
          <a:p>
            <a:pPr lvl="1">
              <a:lnSpc>
                <a:spcPts val="3400"/>
              </a:lnSpc>
              <a:spcBef>
                <a:spcPts val="0"/>
              </a:spcBef>
            </a:pPr>
            <a:r>
              <a:rPr lang="zh-CN" altLang="en-US" sz="2000" dirty="0"/>
              <a:t>自描述：在用户需要的地方展示适当的信息，令软件功能和使用方法 对用户显而易见，而不需要用户过度地与产品交互或依赖其他资源的能力</a:t>
            </a:r>
            <a:endParaRPr lang="en-US" altLang="zh-CN" sz="2000" dirty="0">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lstStyle/>
          <a:p>
            <a:pPr algn="l">
              <a:lnSpc>
                <a:spcPct val="130000"/>
              </a:lnSpc>
              <a:buClrTx/>
              <a:buSzTx/>
            </a:pPr>
            <a:r>
              <a:rPr lang="en-US" altLang="zh-CN" sz="2400" dirty="0" err="1">
                <a:sym typeface="+mn-ea"/>
              </a:rPr>
              <a:t>可靠性是与在规定的一段时间和条件下，软件维持其性能水平的能力有关的一组属性</a:t>
            </a:r>
            <a:r>
              <a:rPr lang="en-US" altLang="zh-CN" sz="2400" dirty="0">
                <a:sym typeface="+mn-ea"/>
              </a:rPr>
              <a:t>：</a:t>
            </a:r>
            <a:endParaRPr lang="en-US" altLang="zh-CN" sz="2400" dirty="0"/>
          </a:p>
          <a:p>
            <a:pPr lvl="1">
              <a:spcBef>
                <a:spcPts val="1000"/>
              </a:spcBef>
            </a:pPr>
            <a:r>
              <a:rPr lang="zh-CN" altLang="en-US" sz="2000" b="1" dirty="0">
                <a:solidFill>
                  <a:srgbClr val="0070C0"/>
                </a:solidFill>
                <a:sym typeface="+mn-ea"/>
              </a:rPr>
              <a:t>无故障性</a:t>
            </a:r>
            <a:r>
              <a:rPr lang="en-US" altLang="zh-CN" sz="2000" dirty="0">
                <a:sym typeface="+mn-ea"/>
              </a:rPr>
              <a:t>（</a:t>
            </a:r>
            <a:r>
              <a:rPr lang="en-US" altLang="zh-CN" sz="2000" dirty="0"/>
              <a:t>Faultlessness</a:t>
            </a:r>
            <a:r>
              <a:rPr lang="en-US" altLang="zh-CN" sz="2000" dirty="0">
                <a:sym typeface="+mn-ea"/>
              </a:rPr>
              <a:t>）：</a:t>
            </a:r>
            <a:r>
              <a:rPr lang="zh-CN" altLang="en-US" sz="2000" dirty="0">
                <a:sym typeface="+mn-ea"/>
              </a:rPr>
              <a:t>软件在正常操作下执行特定功能不产生故障的能力。</a:t>
            </a:r>
            <a:endParaRPr lang="en-US" altLang="zh-CN" sz="2000" dirty="0"/>
          </a:p>
          <a:p>
            <a:pPr lvl="1" algn="l">
              <a:lnSpc>
                <a:spcPct val="130000"/>
              </a:lnSpc>
              <a:spcBef>
                <a:spcPts val="1000"/>
              </a:spcBef>
              <a:buClrTx/>
              <a:buSzTx/>
            </a:pPr>
            <a:r>
              <a:rPr lang="en-US" altLang="zh-CN" sz="2000" b="1" dirty="0" err="1">
                <a:solidFill>
                  <a:srgbClr val="0070C0"/>
                </a:solidFill>
                <a:sym typeface="+mn-ea"/>
              </a:rPr>
              <a:t>可用性</a:t>
            </a:r>
            <a:r>
              <a:rPr lang="en-US" altLang="zh-CN" sz="2000" dirty="0" err="1">
                <a:sym typeface="+mn-ea"/>
              </a:rPr>
              <a:t>（availability</a:t>
            </a:r>
            <a:r>
              <a:rPr lang="en-US" altLang="zh-CN" sz="2000" dirty="0">
                <a:sym typeface="+mn-ea"/>
              </a:rPr>
              <a:t>）：</a:t>
            </a:r>
            <a:r>
              <a:rPr lang="zh-CN" altLang="en-US" sz="2000" dirty="0">
                <a:sym typeface="+mn-ea"/>
              </a:rPr>
              <a:t>系统、产品或组件在需要使用是能够操作或访问的程度</a:t>
            </a:r>
            <a:r>
              <a:rPr lang="en-US" altLang="zh-CN" sz="2000" dirty="0">
                <a:sym typeface="+mn-ea"/>
              </a:rPr>
              <a:t>。</a:t>
            </a:r>
            <a:endParaRPr lang="en-US" altLang="zh-CN" sz="2000" dirty="0"/>
          </a:p>
          <a:p>
            <a:pPr lvl="1" algn="l">
              <a:lnSpc>
                <a:spcPct val="130000"/>
              </a:lnSpc>
              <a:spcBef>
                <a:spcPts val="1000"/>
              </a:spcBef>
              <a:buClrTx/>
              <a:buSzTx/>
            </a:pPr>
            <a:r>
              <a:rPr lang="en-US" altLang="zh-CN" sz="2000" b="1" dirty="0" err="1">
                <a:solidFill>
                  <a:srgbClr val="0070C0"/>
                </a:solidFill>
                <a:sym typeface="+mn-ea"/>
              </a:rPr>
              <a:t>容错性</a:t>
            </a:r>
            <a:r>
              <a:rPr lang="en-US" altLang="zh-CN" sz="2000" dirty="0" err="1">
                <a:sym typeface="+mn-ea"/>
              </a:rPr>
              <a:t>（fault</a:t>
            </a:r>
            <a:r>
              <a:rPr lang="en-US" altLang="zh-CN" sz="2000" dirty="0">
                <a:sym typeface="+mn-ea"/>
              </a:rPr>
              <a:t> tolerance）：</a:t>
            </a:r>
            <a:r>
              <a:rPr lang="zh-CN" altLang="en-US" sz="2000" dirty="0">
                <a:sym typeface="+mn-ea"/>
              </a:rPr>
              <a:t>一个系统、产品或组件在出现硬件或软件故障时继续按要求运行的能力</a:t>
            </a:r>
            <a:r>
              <a:rPr lang="en-US" altLang="zh-CN" sz="2000" dirty="0">
                <a:sym typeface="+mn-ea"/>
              </a:rPr>
              <a:t>。</a:t>
            </a:r>
            <a:endParaRPr lang="en-US" altLang="zh-CN" sz="2000" dirty="0"/>
          </a:p>
          <a:p>
            <a:pPr lvl="1" algn="l">
              <a:lnSpc>
                <a:spcPct val="130000"/>
              </a:lnSpc>
              <a:spcBef>
                <a:spcPts val="1000"/>
              </a:spcBef>
              <a:buClrTx/>
              <a:buSzTx/>
            </a:pPr>
            <a:r>
              <a:rPr lang="en-US" altLang="zh-CN" sz="2000" b="1" dirty="0" err="1">
                <a:solidFill>
                  <a:srgbClr val="0070C0"/>
                </a:solidFill>
                <a:sym typeface="+mn-ea"/>
              </a:rPr>
              <a:t>易恢复性</a:t>
            </a:r>
            <a:r>
              <a:rPr lang="en-US" altLang="zh-CN" sz="2000" dirty="0" err="1">
                <a:sym typeface="+mn-ea"/>
              </a:rPr>
              <a:t>（recoverability</a:t>
            </a:r>
            <a:r>
              <a:rPr lang="en-US" altLang="zh-CN" sz="2000" dirty="0">
                <a:sym typeface="+mn-ea"/>
              </a:rPr>
              <a:t>）：</a:t>
            </a:r>
            <a:r>
              <a:rPr lang="zh-CN" altLang="en-US" sz="2000" dirty="0">
                <a:sym typeface="+mn-ea"/>
              </a:rPr>
              <a:t>在中断或故障的情况下，产品或系统可以恢复直接受影响的数据并重新建立系统的期望状态的程度</a:t>
            </a:r>
            <a:r>
              <a:rPr lang="en-US" altLang="zh-CN" sz="2000" dirty="0">
                <a:sym typeface="+mn-ea"/>
              </a:rPr>
              <a:t>。</a:t>
            </a:r>
            <a:endParaRPr lang="en-US" altLang="zh-CN" sz="2000" dirty="0">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normAutofit/>
          </a:bodyPr>
          <a:lstStyle/>
          <a:p>
            <a:pPr marL="228600" lvl="1" algn="l">
              <a:lnSpc>
                <a:spcPct val="130000"/>
              </a:lnSpc>
              <a:spcBef>
                <a:spcPts val="1000"/>
              </a:spcBef>
              <a:buClrTx/>
              <a:buSzTx/>
            </a:pPr>
            <a:r>
              <a:rPr lang="en-US" altLang="zh-CN" dirty="0" err="1">
                <a:sym typeface="+mn-ea"/>
              </a:rPr>
              <a:t>安全性表示用户或其它软件在访问一个软件的信息和数据时，该软件是否按照他们的类型与授权级别进行性对信息与数据保护的</a:t>
            </a:r>
            <a:r>
              <a:rPr lang="zh-CN" altLang="en-US" dirty="0">
                <a:sym typeface="+mn-ea"/>
              </a:rPr>
              <a:t>程度</a:t>
            </a:r>
            <a:r>
              <a:rPr lang="en-US" altLang="zh-CN" dirty="0">
                <a:sym typeface="+mn-ea"/>
              </a:rPr>
              <a:t>：</a:t>
            </a:r>
            <a:endParaRPr lang="en-US" altLang="zh-CN" dirty="0"/>
          </a:p>
          <a:p>
            <a:pPr lvl="1" algn="l">
              <a:spcBef>
                <a:spcPts val="1000"/>
              </a:spcBef>
              <a:buClrTx/>
              <a:buSzTx/>
            </a:pPr>
            <a:r>
              <a:rPr lang="en-US" altLang="zh-CN" sz="2000" b="1" dirty="0" err="1">
                <a:solidFill>
                  <a:srgbClr val="0070C0"/>
                </a:solidFill>
                <a:sym typeface="+mn-ea"/>
              </a:rPr>
              <a:t>保密性</a:t>
            </a:r>
            <a:r>
              <a:rPr lang="en-US" altLang="zh-CN" sz="2000" dirty="0" err="1">
                <a:sym typeface="+mn-ea"/>
              </a:rPr>
              <a:t>（confidentiality</a:t>
            </a:r>
            <a:r>
              <a:rPr lang="en-US" altLang="zh-CN" sz="2000" dirty="0">
                <a:sym typeface="+mn-ea"/>
              </a:rPr>
              <a:t>）：</a:t>
            </a:r>
            <a:r>
              <a:rPr lang="en-US" altLang="zh-CN" sz="2000" dirty="0" err="1">
                <a:sym typeface="+mn-ea"/>
              </a:rPr>
              <a:t>与软件确保数据只对具有访问权限用户访问</a:t>
            </a:r>
            <a:r>
              <a:rPr lang="zh-CN" altLang="en-US" sz="2000" dirty="0">
                <a:sym typeface="+mn-ea"/>
              </a:rPr>
              <a:t>的程度</a:t>
            </a:r>
            <a:r>
              <a:rPr lang="en-US" altLang="zh-CN" sz="2000" dirty="0">
                <a:sym typeface="+mn-ea"/>
              </a:rPr>
              <a:t>。</a:t>
            </a:r>
            <a:endParaRPr lang="en-US" altLang="zh-CN" sz="2000" dirty="0"/>
          </a:p>
          <a:p>
            <a:pPr lvl="1" algn="l">
              <a:spcBef>
                <a:spcPts val="1000"/>
              </a:spcBef>
              <a:buClrTx/>
              <a:buSzTx/>
            </a:pPr>
            <a:r>
              <a:rPr lang="en-US" altLang="zh-CN" sz="2000" b="1" dirty="0" err="1">
                <a:solidFill>
                  <a:srgbClr val="0070C0"/>
                </a:solidFill>
                <a:sym typeface="+mn-ea"/>
              </a:rPr>
              <a:t>完整性</a:t>
            </a:r>
            <a:r>
              <a:rPr lang="en-US" altLang="zh-CN" sz="2000" dirty="0" err="1">
                <a:sym typeface="+mn-ea"/>
              </a:rPr>
              <a:t>（integrity</a:t>
            </a:r>
            <a:r>
              <a:rPr lang="en-US" altLang="zh-CN" sz="2000" dirty="0">
                <a:sym typeface="+mn-ea"/>
              </a:rPr>
              <a:t>）：</a:t>
            </a:r>
            <a:r>
              <a:rPr lang="en-US" altLang="zh-CN" sz="2000" dirty="0" err="1">
                <a:sym typeface="+mn-ea"/>
              </a:rPr>
              <a:t>与软件防止未授权访问或修改计算机程序或数据</a:t>
            </a:r>
            <a:r>
              <a:rPr lang="zh-CN" altLang="en-US" sz="2000" dirty="0">
                <a:sym typeface="+mn-ea"/>
              </a:rPr>
              <a:t>的程度</a:t>
            </a:r>
            <a:r>
              <a:rPr lang="en-US" altLang="zh-CN" sz="2000" dirty="0">
                <a:sym typeface="+mn-ea"/>
              </a:rPr>
              <a:t>。</a:t>
            </a:r>
            <a:endParaRPr lang="en-US" altLang="zh-CN" sz="2000" dirty="0"/>
          </a:p>
          <a:p>
            <a:pPr lvl="1" algn="l">
              <a:spcBef>
                <a:spcPts val="1000"/>
              </a:spcBef>
              <a:buClrTx/>
              <a:buSzTx/>
            </a:pPr>
            <a:r>
              <a:rPr lang="en-US" altLang="zh-CN" sz="2000" b="1" dirty="0" err="1">
                <a:solidFill>
                  <a:srgbClr val="0070C0"/>
                </a:solidFill>
                <a:sym typeface="+mn-ea"/>
              </a:rPr>
              <a:t>不可否认性</a:t>
            </a:r>
            <a:r>
              <a:rPr lang="en-US" altLang="zh-CN" sz="2000" dirty="0" err="1">
                <a:sym typeface="+mn-ea"/>
              </a:rPr>
              <a:t>（non-repudiation</a:t>
            </a:r>
            <a:r>
              <a:rPr lang="en-US" altLang="zh-CN" sz="2000" dirty="0">
                <a:sym typeface="+mn-ea"/>
              </a:rPr>
              <a:t>）：</a:t>
            </a:r>
            <a:r>
              <a:rPr lang="en-US" altLang="zh-CN" sz="2000" dirty="0" err="1">
                <a:sym typeface="+mn-ea"/>
              </a:rPr>
              <a:t>与当某种行为或事件发生后，能够确保该行为或事件不能否认</a:t>
            </a:r>
            <a:r>
              <a:rPr lang="zh-CN" altLang="en-US" sz="2000" dirty="0">
                <a:sym typeface="+mn-ea"/>
              </a:rPr>
              <a:t>的程度</a:t>
            </a:r>
            <a:r>
              <a:rPr lang="en-US" altLang="zh-CN" sz="2000" dirty="0">
                <a:sym typeface="+mn-ea"/>
              </a:rPr>
              <a:t>。</a:t>
            </a:r>
            <a:endParaRPr lang="en-US" altLang="zh-CN" sz="2000" dirty="0"/>
          </a:p>
          <a:p>
            <a:pPr lvl="1" algn="l">
              <a:spcBef>
                <a:spcPts val="1000"/>
              </a:spcBef>
              <a:buClrTx/>
              <a:buSzTx/>
            </a:pPr>
            <a:r>
              <a:rPr lang="zh-CN" altLang="en-US" sz="2000" b="1" dirty="0">
                <a:solidFill>
                  <a:srgbClr val="0070C0"/>
                </a:solidFill>
                <a:sym typeface="+mn-ea"/>
              </a:rPr>
              <a:t>可追踪</a:t>
            </a:r>
            <a:r>
              <a:rPr lang="en-US" altLang="zh-CN" sz="2000" b="1" dirty="0" err="1">
                <a:solidFill>
                  <a:srgbClr val="0070C0"/>
                </a:solidFill>
                <a:sym typeface="+mn-ea"/>
              </a:rPr>
              <a:t>性</a:t>
            </a:r>
            <a:r>
              <a:rPr lang="en-US" altLang="zh-CN" sz="2000" dirty="0" err="1">
                <a:sym typeface="+mn-ea"/>
              </a:rPr>
              <a:t>（accountability</a:t>
            </a:r>
            <a:r>
              <a:rPr lang="en-US" altLang="zh-CN" sz="2000" dirty="0">
                <a:sym typeface="+mn-ea"/>
              </a:rPr>
              <a:t>）：</a:t>
            </a:r>
            <a:r>
              <a:rPr lang="en-US" altLang="zh-CN" sz="2000" dirty="0" err="1">
                <a:sym typeface="+mn-ea"/>
              </a:rPr>
              <a:t>与一个实体的行为可以追溯到该实体</a:t>
            </a:r>
            <a:r>
              <a:rPr lang="zh-CN" altLang="en-US" sz="2000" dirty="0">
                <a:sym typeface="+mn-ea"/>
              </a:rPr>
              <a:t>的程度</a:t>
            </a:r>
            <a:r>
              <a:rPr lang="en-US" altLang="zh-CN" sz="2000" dirty="0">
                <a:sym typeface="+mn-ea"/>
              </a:rPr>
              <a:t>。</a:t>
            </a:r>
            <a:endParaRPr lang="en-US" altLang="zh-CN" sz="2000" dirty="0"/>
          </a:p>
          <a:p>
            <a:pPr lvl="1" algn="l">
              <a:spcBef>
                <a:spcPts val="1000"/>
              </a:spcBef>
              <a:buClrTx/>
              <a:buSzTx/>
            </a:pPr>
            <a:r>
              <a:rPr lang="en-US" altLang="zh-CN" sz="2000" b="1" dirty="0" err="1">
                <a:solidFill>
                  <a:srgbClr val="0070C0"/>
                </a:solidFill>
                <a:sym typeface="+mn-ea"/>
              </a:rPr>
              <a:t>真实性</a:t>
            </a:r>
            <a:r>
              <a:rPr lang="en-US" altLang="zh-CN" sz="2000" dirty="0" err="1">
                <a:sym typeface="+mn-ea"/>
              </a:rPr>
              <a:t>（authenticity</a:t>
            </a:r>
            <a:r>
              <a:rPr lang="en-US" altLang="zh-CN" sz="2000" dirty="0">
                <a:sym typeface="+mn-ea"/>
              </a:rPr>
              <a:t>）：</a:t>
            </a:r>
            <a:r>
              <a:rPr lang="en-US" altLang="zh-CN" sz="2000" dirty="0" err="1">
                <a:sym typeface="+mn-ea"/>
              </a:rPr>
              <a:t>与一个主体或资源可以被证明是所生成的身份</a:t>
            </a:r>
            <a:r>
              <a:rPr lang="zh-CN" altLang="en-US" sz="2000" dirty="0">
                <a:sym typeface="+mn-ea"/>
              </a:rPr>
              <a:t>的程度</a:t>
            </a:r>
            <a:r>
              <a:rPr lang="en-US" altLang="zh-CN" sz="2000" dirty="0">
                <a:sym typeface="+mn-ea"/>
              </a:rPr>
              <a:t>。</a:t>
            </a:r>
            <a:endParaRPr lang="en-US" altLang="zh-CN" sz="2000" dirty="0">
              <a:sym typeface="+mn-ea"/>
            </a:endParaRPr>
          </a:p>
          <a:p>
            <a:pPr lvl="1">
              <a:spcBef>
                <a:spcPts val="1000"/>
              </a:spcBef>
            </a:pPr>
            <a:r>
              <a:rPr lang="zh-CN" altLang="en-US" sz="2000" b="1" dirty="0">
                <a:solidFill>
                  <a:srgbClr val="0070C0"/>
                </a:solidFill>
                <a:sym typeface="+mn-ea"/>
              </a:rPr>
              <a:t>防御</a:t>
            </a:r>
            <a:r>
              <a:rPr lang="en-US" altLang="zh-CN" sz="2000" b="1" dirty="0" err="1">
                <a:solidFill>
                  <a:srgbClr val="0070C0"/>
                </a:solidFill>
                <a:sym typeface="+mn-ea"/>
              </a:rPr>
              <a:t>性</a:t>
            </a:r>
            <a:r>
              <a:rPr lang="en-US" altLang="zh-CN" sz="2000" dirty="0" err="1">
                <a:sym typeface="+mn-ea"/>
              </a:rPr>
              <a:t>（</a:t>
            </a:r>
            <a:r>
              <a:rPr lang="en-US" altLang="zh-CN" sz="2000" dirty="0" err="1"/>
              <a:t>Resistance</a:t>
            </a:r>
            <a:r>
              <a:rPr lang="en-US" altLang="zh-CN" sz="2000" dirty="0">
                <a:sym typeface="+mn-ea"/>
              </a:rPr>
              <a:t>）：</a:t>
            </a:r>
            <a:r>
              <a:rPr lang="zh-CN" altLang="en-US" sz="2000" dirty="0">
                <a:sym typeface="+mn-ea"/>
              </a:rPr>
              <a:t>当软件遭受恶意攻击时保证软件正常运行的能力</a:t>
            </a:r>
            <a:r>
              <a:rPr lang="en-US" altLang="zh-CN" sz="2000" dirty="0">
                <a:sym typeface="+mn-ea"/>
              </a:rPr>
              <a:t>。</a:t>
            </a:r>
            <a:endParaRPr lang="en-US" altLang="zh-CN" sz="2000" dirty="0">
              <a:sym typeface="+mn-ea"/>
            </a:endParaRPr>
          </a:p>
          <a:p>
            <a:pPr lvl="1" algn="l">
              <a:spcBef>
                <a:spcPts val="1000"/>
              </a:spcBef>
              <a:buClrTx/>
              <a:buSzTx/>
            </a:pPr>
            <a:endParaRPr lang="en-US" altLang="zh-CN" sz="2000" dirty="0">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lstStyle/>
          <a:p>
            <a:pPr algn="l">
              <a:lnSpc>
                <a:spcPct val="130000"/>
              </a:lnSpc>
              <a:buClrTx/>
              <a:buSzTx/>
            </a:pPr>
            <a:r>
              <a:rPr lang="en-US" altLang="zh-CN" sz="2400">
                <a:sym typeface="+mn-ea"/>
              </a:rPr>
              <a:t>易维护性是与进行指定的修改所需的努力有关的一组属性：</a:t>
            </a:r>
            <a:endParaRPr lang="en-US" altLang="zh-CN" sz="2400"/>
          </a:p>
          <a:p>
            <a:pPr lvl="1" algn="l">
              <a:lnSpc>
                <a:spcPct val="130000"/>
              </a:lnSpc>
              <a:spcBef>
                <a:spcPts val="1000"/>
              </a:spcBef>
              <a:buClrTx/>
              <a:buSzTx/>
            </a:pPr>
            <a:r>
              <a:rPr lang="en-US" altLang="zh-CN" sz="2000" b="1">
                <a:solidFill>
                  <a:srgbClr val="0070C0"/>
                </a:solidFill>
                <a:sym typeface="+mn-ea"/>
              </a:rPr>
              <a:t>模块性</a:t>
            </a:r>
            <a:r>
              <a:rPr lang="en-US" altLang="zh-CN" sz="2000">
                <a:sym typeface="+mn-ea"/>
              </a:rPr>
              <a:t>（modularity）：指程序由若干独立的组件构成，当修改一个模块时对其它模块的影响降到最低。</a:t>
            </a:r>
            <a:endParaRPr lang="en-US" altLang="zh-CN" sz="2000"/>
          </a:p>
          <a:p>
            <a:pPr lvl="1" algn="l">
              <a:lnSpc>
                <a:spcPct val="130000"/>
              </a:lnSpc>
              <a:spcBef>
                <a:spcPts val="1000"/>
              </a:spcBef>
              <a:buClrTx/>
              <a:buSzTx/>
            </a:pPr>
            <a:r>
              <a:rPr lang="en-US" altLang="zh-CN" sz="2000" b="1">
                <a:solidFill>
                  <a:srgbClr val="0070C0"/>
                </a:solidFill>
                <a:sym typeface="+mn-ea"/>
              </a:rPr>
              <a:t>易重用性</a:t>
            </a:r>
            <a:r>
              <a:rPr lang="en-US" altLang="zh-CN" sz="2000">
                <a:sym typeface="+mn-ea"/>
              </a:rPr>
              <a:t>（reusability）：与软件的资产可被其它软件复用有关的属性。</a:t>
            </a:r>
            <a:endParaRPr lang="en-US" altLang="zh-CN" sz="2000"/>
          </a:p>
          <a:p>
            <a:pPr lvl="1" algn="l">
              <a:lnSpc>
                <a:spcPct val="130000"/>
              </a:lnSpc>
              <a:spcBef>
                <a:spcPts val="1000"/>
              </a:spcBef>
              <a:buClrTx/>
              <a:buSzTx/>
            </a:pPr>
            <a:r>
              <a:rPr lang="en-US" altLang="zh-CN" sz="2000" b="1">
                <a:solidFill>
                  <a:srgbClr val="0070C0"/>
                </a:solidFill>
                <a:sym typeface="+mn-ea"/>
              </a:rPr>
              <a:t>易分析性</a:t>
            </a:r>
            <a:r>
              <a:rPr lang="en-US" altLang="zh-CN" sz="2000">
                <a:sym typeface="+mn-ea"/>
              </a:rPr>
              <a:t>（analysability）：与为诊断缺陷或失效原因及为判定待修改的部分所需努力有关的属性。</a:t>
            </a:r>
            <a:endParaRPr lang="en-US" altLang="zh-CN" sz="2000"/>
          </a:p>
          <a:p>
            <a:pPr lvl="1" algn="l">
              <a:lnSpc>
                <a:spcPct val="130000"/>
              </a:lnSpc>
              <a:spcBef>
                <a:spcPts val="1000"/>
              </a:spcBef>
              <a:buClrTx/>
              <a:buSzTx/>
            </a:pPr>
            <a:r>
              <a:rPr lang="en-US" altLang="zh-CN" sz="2000" b="1">
                <a:solidFill>
                  <a:srgbClr val="0070C0"/>
                </a:solidFill>
                <a:sym typeface="+mn-ea"/>
              </a:rPr>
              <a:t>易修改性</a:t>
            </a:r>
            <a:r>
              <a:rPr lang="en-US" altLang="zh-CN" sz="2000">
                <a:sym typeface="+mn-ea"/>
              </a:rPr>
              <a:t>（changeability）：与进行修改、排除错误或适应环境变化所需努力有关的属性。</a:t>
            </a:r>
            <a:endParaRPr lang="en-US" altLang="zh-CN" sz="2000"/>
          </a:p>
          <a:p>
            <a:pPr lvl="1" algn="l">
              <a:lnSpc>
                <a:spcPct val="130000"/>
              </a:lnSpc>
              <a:spcBef>
                <a:spcPts val="1000"/>
              </a:spcBef>
              <a:buClrTx/>
              <a:buSzTx/>
            </a:pPr>
            <a:r>
              <a:rPr lang="en-US" altLang="zh-CN" sz="2000" b="1">
                <a:solidFill>
                  <a:srgbClr val="0070C0"/>
                </a:solidFill>
                <a:sym typeface="+mn-ea"/>
              </a:rPr>
              <a:t>易测试性</a:t>
            </a:r>
            <a:r>
              <a:rPr lang="en-US" altLang="zh-CN" sz="2000">
                <a:sym typeface="+mn-ea"/>
              </a:rPr>
              <a:t>（testability）：与确认已修改软件所需的努力有关的属性。</a:t>
            </a:r>
            <a:endParaRPr lang="en-US" altLang="zh-CN" sz="2000">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lstStyle/>
          <a:p>
            <a:pPr algn="l">
              <a:lnSpc>
                <a:spcPct val="130000"/>
              </a:lnSpc>
              <a:buClrTx/>
              <a:buSzTx/>
            </a:pPr>
            <a:r>
              <a:rPr lang="zh-CN" altLang="en-US" sz="2400" dirty="0">
                <a:sym typeface="+mn-ea"/>
              </a:rPr>
              <a:t>灵活</a:t>
            </a:r>
            <a:r>
              <a:rPr lang="en-US" altLang="zh-CN" sz="2400" dirty="0" err="1">
                <a:sym typeface="+mn-ea"/>
              </a:rPr>
              <a:t>性是与软件可从某一环境转移到另一环境的能力有关的一组属性</a:t>
            </a:r>
            <a:r>
              <a:rPr lang="en-US" altLang="zh-CN" sz="2400" dirty="0">
                <a:sym typeface="+mn-ea"/>
              </a:rPr>
              <a:t> ： </a:t>
            </a:r>
            <a:endParaRPr lang="en-US" altLang="zh-CN" sz="2400" dirty="0"/>
          </a:p>
          <a:p>
            <a:pPr lvl="1" algn="l">
              <a:lnSpc>
                <a:spcPct val="130000"/>
              </a:lnSpc>
              <a:spcBef>
                <a:spcPts val="1000"/>
              </a:spcBef>
              <a:buClrTx/>
              <a:buSzTx/>
            </a:pPr>
            <a:r>
              <a:rPr lang="en-US" altLang="zh-CN" sz="2000" b="1" dirty="0" err="1">
                <a:solidFill>
                  <a:srgbClr val="0070C0"/>
                </a:solidFill>
                <a:sym typeface="+mn-ea"/>
              </a:rPr>
              <a:t>适应性</a:t>
            </a:r>
            <a:r>
              <a:rPr lang="en-US" altLang="zh-CN" sz="2000" dirty="0" err="1">
                <a:sym typeface="+mn-ea"/>
              </a:rPr>
              <a:t>（adaptability</a:t>
            </a:r>
            <a:r>
              <a:rPr lang="en-US" altLang="zh-CN" sz="2000" dirty="0">
                <a:sym typeface="+mn-ea"/>
              </a:rPr>
              <a:t>）：</a:t>
            </a:r>
            <a:r>
              <a:rPr lang="en-US" altLang="zh-CN" sz="2000" dirty="0" err="1">
                <a:sym typeface="+mn-ea"/>
              </a:rPr>
              <a:t>与软件无需采用有别于为该软件准备的活动或手段就可能适应不同的规定环境有关的属性</a:t>
            </a:r>
            <a:r>
              <a:rPr lang="en-US" altLang="zh-CN" sz="2000" dirty="0">
                <a:sym typeface="+mn-ea"/>
              </a:rPr>
              <a:t>。 </a:t>
            </a:r>
            <a:endParaRPr lang="en-US" altLang="zh-CN" sz="2000" dirty="0">
              <a:sym typeface="+mn-ea"/>
            </a:endParaRPr>
          </a:p>
          <a:p>
            <a:pPr lvl="1">
              <a:spcBef>
                <a:spcPts val="1000"/>
              </a:spcBef>
            </a:pPr>
            <a:r>
              <a:rPr lang="zh-CN" altLang="en-US" sz="2000" b="1" dirty="0">
                <a:solidFill>
                  <a:srgbClr val="0070C0"/>
                </a:solidFill>
              </a:rPr>
              <a:t>可扩展性</a:t>
            </a:r>
            <a:r>
              <a:rPr lang="zh-CN" altLang="en-US" sz="2000" dirty="0"/>
              <a:t>（</a:t>
            </a:r>
            <a:r>
              <a:rPr lang="en-US" altLang="zh-CN" sz="2000" dirty="0"/>
              <a:t>Scalability</a:t>
            </a:r>
            <a:r>
              <a:rPr lang="zh-CN" altLang="en-US" sz="2000" dirty="0"/>
              <a:t>）：软件处理增长或缩减的工作负载，或调整容量应对变化能力</a:t>
            </a:r>
            <a:endParaRPr lang="en-US" altLang="zh-CN" sz="2000" dirty="0"/>
          </a:p>
          <a:p>
            <a:pPr lvl="1" algn="l">
              <a:lnSpc>
                <a:spcPct val="130000"/>
              </a:lnSpc>
              <a:spcBef>
                <a:spcPts val="1000"/>
              </a:spcBef>
              <a:buClrTx/>
              <a:buSzTx/>
            </a:pPr>
            <a:r>
              <a:rPr lang="en-US" altLang="zh-CN" sz="2000" b="1" dirty="0" err="1">
                <a:solidFill>
                  <a:srgbClr val="0070C0"/>
                </a:solidFill>
                <a:sym typeface="+mn-ea"/>
              </a:rPr>
              <a:t>易安装性</a:t>
            </a:r>
            <a:r>
              <a:rPr lang="en-US" altLang="zh-CN" sz="2000" dirty="0" err="1">
                <a:sym typeface="+mn-ea"/>
              </a:rPr>
              <a:t>（installability</a:t>
            </a:r>
            <a:r>
              <a:rPr lang="en-US" altLang="zh-CN" sz="2000" dirty="0">
                <a:sym typeface="+mn-ea"/>
              </a:rPr>
              <a:t>）：</a:t>
            </a:r>
            <a:r>
              <a:rPr lang="en-US" altLang="zh-CN" sz="2000" dirty="0" err="1">
                <a:sym typeface="+mn-ea"/>
              </a:rPr>
              <a:t>与应指定环境下安装软件所需努力的软件属性</a:t>
            </a:r>
            <a:r>
              <a:rPr lang="en-US" altLang="zh-CN" sz="2000" dirty="0">
                <a:sym typeface="+mn-ea"/>
              </a:rPr>
              <a:t>。 </a:t>
            </a:r>
            <a:endParaRPr lang="en-US" altLang="zh-CN" sz="2000" dirty="0"/>
          </a:p>
          <a:p>
            <a:pPr lvl="1" algn="l">
              <a:lnSpc>
                <a:spcPct val="130000"/>
              </a:lnSpc>
              <a:spcBef>
                <a:spcPts val="1000"/>
              </a:spcBef>
              <a:buClrTx/>
              <a:buSzTx/>
            </a:pPr>
            <a:r>
              <a:rPr lang="en-US" altLang="zh-CN" sz="2000" b="1" dirty="0" err="1">
                <a:solidFill>
                  <a:srgbClr val="0070C0"/>
                </a:solidFill>
                <a:sym typeface="+mn-ea"/>
              </a:rPr>
              <a:t>易替换性</a:t>
            </a:r>
            <a:r>
              <a:rPr lang="en-US" altLang="zh-CN" sz="2000" dirty="0" err="1">
                <a:sym typeface="+mn-ea"/>
              </a:rPr>
              <a:t>（replaceability</a:t>
            </a:r>
            <a:r>
              <a:rPr lang="en-US" altLang="zh-CN" sz="2000" dirty="0">
                <a:sym typeface="+mn-ea"/>
              </a:rPr>
              <a:t>）：</a:t>
            </a:r>
            <a:r>
              <a:rPr lang="en-US" altLang="zh-CN" sz="2000" dirty="0" err="1">
                <a:sym typeface="+mn-ea"/>
              </a:rPr>
              <a:t>与软件在该软件环境中用来替代指定的其他软件的机会和努力有关的属性</a:t>
            </a:r>
            <a:r>
              <a:rPr lang="en-US" altLang="zh-CN" sz="2000" dirty="0">
                <a:sym typeface="+mn-ea"/>
              </a:rPr>
              <a:t>。</a:t>
            </a:r>
            <a:endParaRPr lang="en-US" altLang="zh-CN" sz="2000" dirty="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lstStyle/>
          <a:p>
            <a:pPr algn="l">
              <a:lnSpc>
                <a:spcPct val="130000"/>
              </a:lnSpc>
              <a:buClrTx/>
              <a:buSzTx/>
            </a:pPr>
            <a:r>
              <a:rPr lang="zh-CN" altLang="en-US" sz="2400" dirty="0">
                <a:sym typeface="+mn-ea"/>
              </a:rPr>
              <a:t>灵活</a:t>
            </a:r>
            <a:r>
              <a:rPr lang="en-US" altLang="zh-CN" sz="2400" dirty="0" err="1">
                <a:sym typeface="+mn-ea"/>
              </a:rPr>
              <a:t>性是与软件可从某一环境转移到另一环境的能力有关的一组属性</a:t>
            </a:r>
            <a:r>
              <a:rPr lang="en-US" altLang="zh-CN" sz="2400" dirty="0">
                <a:sym typeface="+mn-ea"/>
              </a:rPr>
              <a:t> ： </a:t>
            </a:r>
            <a:endParaRPr lang="en-US" altLang="zh-CN" sz="2400" dirty="0"/>
          </a:p>
          <a:p>
            <a:pPr lvl="1" algn="l">
              <a:lnSpc>
                <a:spcPct val="130000"/>
              </a:lnSpc>
              <a:spcBef>
                <a:spcPts val="1000"/>
              </a:spcBef>
              <a:buClrTx/>
              <a:buSzTx/>
            </a:pPr>
            <a:r>
              <a:rPr lang="en-US" altLang="zh-CN" sz="2000" b="1" dirty="0" err="1">
                <a:solidFill>
                  <a:srgbClr val="0070C0"/>
                </a:solidFill>
                <a:sym typeface="+mn-ea"/>
              </a:rPr>
              <a:t>适应性</a:t>
            </a:r>
            <a:r>
              <a:rPr lang="en-US" altLang="zh-CN" sz="2000" dirty="0" err="1">
                <a:sym typeface="+mn-ea"/>
              </a:rPr>
              <a:t>（adaptability</a:t>
            </a:r>
            <a:r>
              <a:rPr lang="en-US" altLang="zh-CN" sz="2000" dirty="0">
                <a:sym typeface="+mn-ea"/>
              </a:rPr>
              <a:t>）：</a:t>
            </a:r>
            <a:r>
              <a:rPr lang="en-US" altLang="zh-CN" sz="2000" dirty="0" err="1">
                <a:sym typeface="+mn-ea"/>
              </a:rPr>
              <a:t>与软件无需采用有别于为该软件准备的活动或手段就可能适应不同的规定环境有关的属性</a:t>
            </a:r>
            <a:r>
              <a:rPr lang="en-US" altLang="zh-CN" sz="2000" dirty="0">
                <a:sym typeface="+mn-ea"/>
              </a:rPr>
              <a:t>。 </a:t>
            </a:r>
            <a:endParaRPr lang="en-US" altLang="zh-CN" sz="2000" dirty="0">
              <a:sym typeface="+mn-ea"/>
            </a:endParaRPr>
          </a:p>
          <a:p>
            <a:pPr lvl="1">
              <a:spcBef>
                <a:spcPts val="1000"/>
              </a:spcBef>
            </a:pPr>
            <a:r>
              <a:rPr lang="zh-CN" altLang="en-US" sz="2000" b="1" dirty="0">
                <a:solidFill>
                  <a:srgbClr val="0070C0"/>
                </a:solidFill>
              </a:rPr>
              <a:t>可扩展性</a:t>
            </a:r>
            <a:r>
              <a:rPr lang="zh-CN" altLang="en-US" sz="2000" dirty="0"/>
              <a:t>（</a:t>
            </a:r>
            <a:r>
              <a:rPr lang="en-US" altLang="zh-CN" sz="2000" dirty="0"/>
              <a:t>Scalability</a:t>
            </a:r>
            <a:r>
              <a:rPr lang="zh-CN" altLang="en-US" sz="2000" dirty="0"/>
              <a:t>）：软件处理增长或缩减的工作负载，或调整容量应对变化能力</a:t>
            </a:r>
            <a:endParaRPr lang="en-US" altLang="zh-CN" sz="2000" dirty="0"/>
          </a:p>
          <a:p>
            <a:pPr lvl="1" algn="l">
              <a:lnSpc>
                <a:spcPct val="130000"/>
              </a:lnSpc>
              <a:spcBef>
                <a:spcPts val="1000"/>
              </a:spcBef>
              <a:buClrTx/>
              <a:buSzTx/>
            </a:pPr>
            <a:r>
              <a:rPr lang="en-US" altLang="zh-CN" sz="2000" b="1" dirty="0" err="1">
                <a:solidFill>
                  <a:srgbClr val="0070C0"/>
                </a:solidFill>
                <a:sym typeface="+mn-ea"/>
              </a:rPr>
              <a:t>易安装性</a:t>
            </a:r>
            <a:r>
              <a:rPr lang="en-US" altLang="zh-CN" sz="2000" dirty="0" err="1">
                <a:sym typeface="+mn-ea"/>
              </a:rPr>
              <a:t>（installability</a:t>
            </a:r>
            <a:r>
              <a:rPr lang="en-US" altLang="zh-CN" sz="2000" dirty="0">
                <a:sym typeface="+mn-ea"/>
              </a:rPr>
              <a:t>）：</a:t>
            </a:r>
            <a:r>
              <a:rPr lang="en-US" altLang="zh-CN" sz="2000" dirty="0" err="1">
                <a:sym typeface="+mn-ea"/>
              </a:rPr>
              <a:t>与应指定环境下安装软件所需努力的软件属性</a:t>
            </a:r>
            <a:r>
              <a:rPr lang="en-US" altLang="zh-CN" sz="2000" dirty="0">
                <a:sym typeface="+mn-ea"/>
              </a:rPr>
              <a:t>。 </a:t>
            </a:r>
            <a:endParaRPr lang="en-US" altLang="zh-CN" sz="2000" dirty="0"/>
          </a:p>
          <a:p>
            <a:pPr lvl="1" algn="l">
              <a:lnSpc>
                <a:spcPct val="130000"/>
              </a:lnSpc>
              <a:spcBef>
                <a:spcPts val="1000"/>
              </a:spcBef>
              <a:buClrTx/>
              <a:buSzTx/>
            </a:pPr>
            <a:r>
              <a:rPr lang="en-US" altLang="zh-CN" sz="2000" b="1" dirty="0" err="1">
                <a:solidFill>
                  <a:srgbClr val="0070C0"/>
                </a:solidFill>
                <a:sym typeface="+mn-ea"/>
              </a:rPr>
              <a:t>易替换性</a:t>
            </a:r>
            <a:r>
              <a:rPr lang="en-US" altLang="zh-CN" sz="2000" dirty="0" err="1">
                <a:sym typeface="+mn-ea"/>
              </a:rPr>
              <a:t>（replaceability</a:t>
            </a:r>
            <a:r>
              <a:rPr lang="en-US" altLang="zh-CN" sz="2000" dirty="0">
                <a:sym typeface="+mn-ea"/>
              </a:rPr>
              <a:t>）：</a:t>
            </a:r>
            <a:r>
              <a:rPr lang="en-US" altLang="zh-CN" sz="2000" dirty="0" err="1">
                <a:sym typeface="+mn-ea"/>
              </a:rPr>
              <a:t>与软件在该软件环境中用来替代指定的其他软件的机会和努力有关的属性</a:t>
            </a:r>
            <a:r>
              <a:rPr lang="en-US" altLang="zh-CN" sz="2000" dirty="0">
                <a:sym typeface="+mn-ea"/>
              </a:rPr>
              <a:t>。</a:t>
            </a:r>
            <a:endParaRPr lang="en-US" altLang="zh-CN" sz="2000" dirty="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endParaRPr lang="zh-CN" altLang="en-US"/>
          </a:p>
        </p:txBody>
      </p:sp>
      <p:sp>
        <p:nvSpPr>
          <p:cNvPr id="3" name="内容占位符 2"/>
          <p:cNvSpPr>
            <a:spLocks noGrp="1"/>
          </p:cNvSpPr>
          <p:nvPr>
            <p:ph idx="1"/>
          </p:nvPr>
        </p:nvSpPr>
        <p:spPr/>
        <p:txBody>
          <a:bodyPr>
            <a:normAutofit fontScale="92500"/>
          </a:bodyPr>
          <a:lstStyle/>
          <a:p>
            <a:r>
              <a:rPr lang="zh-CN" altLang="en-US" sz="2400" dirty="0">
                <a:sym typeface="+mn-ea"/>
              </a:rPr>
              <a:t>保护性是指软件在规定条件下避免人身安全、健康、财产或环境遭受危害的能力</a:t>
            </a:r>
            <a:r>
              <a:rPr lang="en-US" altLang="zh-CN" sz="2400" dirty="0">
                <a:sym typeface="+mn-ea"/>
              </a:rPr>
              <a:t> ： </a:t>
            </a:r>
            <a:endParaRPr lang="en-US" altLang="zh-CN" sz="2400" dirty="0"/>
          </a:p>
          <a:p>
            <a:pPr lvl="1">
              <a:spcBef>
                <a:spcPts val="1000"/>
              </a:spcBef>
            </a:pPr>
            <a:r>
              <a:rPr lang="zh-CN" altLang="en-US" sz="2000" b="1" dirty="0">
                <a:solidFill>
                  <a:srgbClr val="0070C0"/>
                </a:solidFill>
                <a:sym typeface="+mn-ea"/>
              </a:rPr>
              <a:t>操作限制</a:t>
            </a:r>
            <a:r>
              <a:rPr lang="zh-CN" altLang="en-US" sz="2000" dirty="0">
                <a:sym typeface="+mn-ea"/>
              </a:rPr>
              <a:t>（</a:t>
            </a:r>
            <a:r>
              <a:rPr lang="en-US" altLang="zh-CN" sz="2000" dirty="0">
                <a:sym typeface="+mn-ea"/>
              </a:rPr>
              <a:t>Operational Constraint</a:t>
            </a:r>
            <a:r>
              <a:rPr lang="zh-CN" altLang="en-US" sz="2000" dirty="0">
                <a:sym typeface="+mn-ea"/>
              </a:rPr>
              <a:t>）：当遇到操作风险时，软件将其操作约束在安全的参数或状 态范围内的能力</a:t>
            </a:r>
            <a:endParaRPr lang="en-US" altLang="zh-CN" sz="2000" dirty="0">
              <a:sym typeface="+mn-ea"/>
            </a:endParaRPr>
          </a:p>
          <a:p>
            <a:pPr lvl="1">
              <a:spcBef>
                <a:spcPts val="1000"/>
              </a:spcBef>
            </a:pPr>
            <a:r>
              <a:rPr lang="zh-CN" altLang="en-US" sz="2000" b="1" dirty="0">
                <a:solidFill>
                  <a:srgbClr val="0070C0"/>
                </a:solidFill>
              </a:rPr>
              <a:t>风险识别</a:t>
            </a:r>
            <a:r>
              <a:rPr lang="zh-CN" altLang="en-US" sz="2000" dirty="0"/>
              <a:t>（</a:t>
            </a:r>
            <a:r>
              <a:rPr lang="en-US" altLang="zh-CN" sz="2000" dirty="0"/>
              <a:t>Risk Identification</a:t>
            </a:r>
            <a:r>
              <a:rPr lang="zh-CN" altLang="en-US" sz="2000" dirty="0"/>
              <a:t>）：软件识别出可能导致人身安全、财产、环境暴露在不可接受 风险下的一系列事件或操作的能力</a:t>
            </a:r>
            <a:endParaRPr lang="en-US" altLang="zh-CN" sz="2000" dirty="0"/>
          </a:p>
          <a:p>
            <a:pPr lvl="1">
              <a:spcBef>
                <a:spcPts val="1000"/>
              </a:spcBef>
            </a:pPr>
            <a:r>
              <a:rPr lang="zh-CN" altLang="en-US" sz="2100" b="1" dirty="0">
                <a:solidFill>
                  <a:srgbClr val="0070C0"/>
                </a:solidFill>
                <a:sym typeface="+mn-ea"/>
              </a:rPr>
              <a:t>故障安全</a:t>
            </a:r>
            <a:r>
              <a:rPr lang="zh-CN" altLang="en-US" sz="2000" dirty="0">
                <a:sym typeface="+mn-ea"/>
              </a:rPr>
              <a:t>（</a:t>
            </a:r>
            <a:r>
              <a:rPr lang="en-US" altLang="zh-CN" sz="2000" dirty="0">
                <a:sym typeface="+mn-ea"/>
              </a:rPr>
              <a:t>Fail Safe</a:t>
            </a:r>
            <a:r>
              <a:rPr lang="zh-CN" altLang="en-US" sz="2000" dirty="0">
                <a:sym typeface="+mn-ea"/>
              </a:rPr>
              <a:t>）：发生故障时，软件自动将自身调整到安全运行模式，或恢复到安全状 态的能力</a:t>
            </a:r>
            <a:endParaRPr lang="en-US" altLang="zh-CN" sz="2000" dirty="0">
              <a:sym typeface="+mn-ea"/>
            </a:endParaRPr>
          </a:p>
          <a:p>
            <a:pPr lvl="1">
              <a:spcBef>
                <a:spcPts val="1000"/>
              </a:spcBef>
            </a:pPr>
            <a:r>
              <a:rPr lang="zh-CN" altLang="en-US" sz="2000" b="1" dirty="0">
                <a:solidFill>
                  <a:srgbClr val="0070C0"/>
                </a:solidFill>
                <a:sym typeface="+mn-ea"/>
              </a:rPr>
              <a:t>危险警告</a:t>
            </a:r>
            <a:r>
              <a:rPr lang="zh-CN" altLang="en-US" sz="2000" dirty="0"/>
              <a:t>（</a:t>
            </a:r>
            <a:r>
              <a:rPr lang="en-US" altLang="zh-CN" sz="2000" dirty="0"/>
              <a:t>Hazard Warning</a:t>
            </a:r>
            <a:r>
              <a:rPr lang="zh-CN" altLang="en-US" sz="2000" dirty="0"/>
              <a:t>）：软件向操作者或内部控制部门提供风险警告，使他们有足够的 时间采取行动以维持软件正常运行的能力</a:t>
            </a:r>
            <a:endParaRPr lang="en-US" altLang="zh-CN" sz="2000" dirty="0"/>
          </a:p>
          <a:p>
            <a:pPr lvl="1">
              <a:spcBef>
                <a:spcPts val="1000"/>
              </a:spcBef>
            </a:pPr>
            <a:r>
              <a:rPr lang="zh-CN" altLang="en-US" sz="2000" b="1" dirty="0">
                <a:solidFill>
                  <a:srgbClr val="0070C0"/>
                </a:solidFill>
                <a:sym typeface="+mn-ea"/>
              </a:rPr>
              <a:t>安全集成</a:t>
            </a:r>
            <a:r>
              <a:rPr lang="zh-CN" altLang="en-US" sz="2000" dirty="0">
                <a:sym typeface="+mn-ea"/>
              </a:rPr>
              <a:t>（</a:t>
            </a:r>
            <a:r>
              <a:rPr lang="en-US" altLang="zh-CN" sz="2000" dirty="0">
                <a:sym typeface="+mn-ea"/>
              </a:rPr>
              <a:t>Safe Integration</a:t>
            </a:r>
            <a:r>
              <a:rPr lang="zh-CN" altLang="en-US" sz="2000" dirty="0">
                <a:sym typeface="+mn-ea"/>
              </a:rPr>
              <a:t>）：软件在整合一个或多个组件期间或之后保持其保护性的能力</a:t>
            </a:r>
            <a:endParaRPr lang="en-US" altLang="zh-CN" sz="2000" dirty="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C00000"/>
                </a:solidFill>
                <a:sym typeface="+mn-ea"/>
              </a:rPr>
              <a:t>ISO/IEC 25010:2010</a:t>
            </a:r>
            <a:r>
              <a:rPr lang="en-US" altLang="zh-CN">
                <a:solidFill>
                  <a:srgbClr val="C00000"/>
                </a:solidFill>
                <a:sym typeface="+mn-ea"/>
              </a:rPr>
              <a:t>    </a:t>
            </a:r>
            <a:r>
              <a:rPr lang="zh-CN" altLang="en-US">
                <a:solidFill>
                  <a:srgbClr val="C00000"/>
                </a:solidFill>
                <a:sym typeface="+mn-ea"/>
              </a:rPr>
              <a:t>使用模型</a:t>
            </a:r>
            <a:endParaRPr lang="zh-CN" altLang="en-US">
              <a:solidFill>
                <a:srgbClr val="C00000"/>
              </a:solidFill>
              <a:sym typeface="+mn-ea"/>
            </a:endParaRPr>
          </a:p>
        </p:txBody>
      </p:sp>
      <p:grpSp>
        <p:nvGrpSpPr>
          <p:cNvPr id="50" name="组合 49"/>
          <p:cNvGrpSpPr/>
          <p:nvPr/>
        </p:nvGrpSpPr>
        <p:grpSpPr>
          <a:xfrm>
            <a:off x="2058670" y="1404620"/>
            <a:ext cx="7985125" cy="4855845"/>
            <a:chOff x="3242" y="2212"/>
            <a:chExt cx="12575" cy="7647"/>
          </a:xfrm>
        </p:grpSpPr>
        <p:sp>
          <p:nvSpPr>
            <p:cNvPr id="7" name="矩形 6"/>
            <p:cNvSpPr/>
            <p:nvPr>
              <p:custDataLst>
                <p:tags r:id="rId1"/>
              </p:custDataLst>
            </p:nvPr>
          </p:nvSpPr>
          <p:spPr>
            <a:xfrm flipH="1">
              <a:off x="11083" y="2212"/>
              <a:ext cx="2813" cy="2074"/>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342900" indent="-342900" algn="ctr">
                <a:buFont typeface="Arial" panose="020B0604020202020204" pitchFamily="34" charset="0"/>
                <a:buChar char="•"/>
              </a:pPr>
              <a:r>
                <a:rPr lang="zh-CN" altLang="en-US" sz="2000">
                  <a:solidFill>
                    <a:schemeClr val="tx1"/>
                  </a:solidFill>
                </a:rPr>
                <a:t>有用性</a:t>
              </a:r>
              <a:endParaRPr lang="zh-CN" altLang="en-US" sz="2000">
                <a:solidFill>
                  <a:schemeClr val="tx1"/>
                </a:solidFill>
              </a:endParaRPr>
            </a:p>
            <a:p>
              <a:pPr marL="342900" indent="-342900" algn="ctr">
                <a:buFont typeface="Arial" panose="020B0604020202020204" pitchFamily="34" charset="0"/>
                <a:buChar char="•"/>
              </a:pPr>
              <a:r>
                <a:rPr lang="zh-CN" altLang="en-US" sz="2000">
                  <a:solidFill>
                    <a:schemeClr val="tx1"/>
                  </a:solidFill>
                </a:rPr>
                <a:t>可信性</a:t>
              </a:r>
              <a:endParaRPr lang="zh-CN" altLang="en-US" sz="2000">
                <a:solidFill>
                  <a:schemeClr val="tx1"/>
                </a:solidFill>
              </a:endParaRPr>
            </a:p>
            <a:p>
              <a:pPr marL="342900" indent="-342900" algn="ctr">
                <a:buFont typeface="Arial" panose="020B0604020202020204" pitchFamily="34" charset="0"/>
                <a:buChar char="•"/>
              </a:pPr>
              <a:r>
                <a:rPr lang="zh-CN" altLang="en-US" sz="2000">
                  <a:solidFill>
                    <a:schemeClr val="tx1"/>
                  </a:solidFill>
                </a:rPr>
                <a:t>愉悦性</a:t>
              </a:r>
              <a:endParaRPr lang="zh-CN" altLang="en-US" sz="2000">
                <a:solidFill>
                  <a:schemeClr val="tx1"/>
                </a:solidFill>
              </a:endParaRPr>
            </a:p>
            <a:p>
              <a:pPr marL="342900" indent="-342900" algn="ctr">
                <a:buFont typeface="Arial" panose="020B0604020202020204" pitchFamily="34" charset="0"/>
                <a:buChar char="•"/>
              </a:pPr>
              <a:r>
                <a:rPr lang="zh-CN" altLang="en-US" sz="2000">
                  <a:solidFill>
                    <a:schemeClr val="tx1"/>
                  </a:solidFill>
                </a:rPr>
                <a:t>舒适性</a:t>
              </a:r>
              <a:endParaRPr lang="zh-CN" altLang="en-US" sz="2000">
                <a:solidFill>
                  <a:schemeClr val="tx1"/>
                </a:solidFill>
              </a:endParaRPr>
            </a:p>
          </p:txBody>
        </p:sp>
        <p:sp>
          <p:nvSpPr>
            <p:cNvPr id="8" name="矩形 7"/>
            <p:cNvSpPr/>
            <p:nvPr>
              <p:custDataLst>
                <p:tags r:id="rId2"/>
              </p:custDataLst>
            </p:nvPr>
          </p:nvSpPr>
          <p:spPr>
            <a:xfrm flipH="1">
              <a:off x="6405" y="2881"/>
              <a:ext cx="2490" cy="737"/>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满意度</a:t>
              </a:r>
              <a:endParaRPr lang="zh-CN" altLang="en-US" sz="2000">
                <a:solidFill>
                  <a:schemeClr val="tx1"/>
                </a:solidFill>
              </a:endParaRPr>
            </a:p>
          </p:txBody>
        </p:sp>
        <p:sp>
          <p:nvSpPr>
            <p:cNvPr id="9" name="矩形 8"/>
            <p:cNvSpPr/>
            <p:nvPr>
              <p:custDataLst>
                <p:tags r:id="rId3"/>
              </p:custDataLst>
            </p:nvPr>
          </p:nvSpPr>
          <p:spPr>
            <a:xfrm flipH="1">
              <a:off x="6405" y="4368"/>
              <a:ext cx="2490" cy="737"/>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有效性</a:t>
              </a:r>
              <a:endParaRPr lang="zh-CN" altLang="en-US" sz="2000">
                <a:solidFill>
                  <a:schemeClr val="tx1"/>
                </a:solidFill>
              </a:endParaRPr>
            </a:p>
          </p:txBody>
        </p:sp>
        <p:sp>
          <p:nvSpPr>
            <p:cNvPr id="10" name="矩形 9"/>
            <p:cNvSpPr/>
            <p:nvPr>
              <p:custDataLst>
                <p:tags r:id="rId4"/>
              </p:custDataLst>
            </p:nvPr>
          </p:nvSpPr>
          <p:spPr>
            <a:xfrm flipH="1">
              <a:off x="3242" y="5728"/>
              <a:ext cx="1835" cy="964"/>
            </a:xfrm>
            <a:prstGeom prst="rect">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使用质量特性</a:t>
              </a:r>
              <a:endParaRPr lang="zh-CN" altLang="en-US" sz="2000">
                <a:solidFill>
                  <a:schemeClr val="tx1"/>
                </a:solidFill>
              </a:endParaRPr>
            </a:p>
          </p:txBody>
        </p:sp>
        <p:cxnSp>
          <p:nvCxnSpPr>
            <p:cNvPr id="32" name="直接连接符 31"/>
            <p:cNvCxnSpPr/>
            <p:nvPr>
              <p:custDataLst>
                <p:tags r:id="rId5"/>
              </p:custDataLst>
            </p:nvPr>
          </p:nvCxnSpPr>
          <p:spPr>
            <a:xfrm flipH="1" flipV="1">
              <a:off x="5927" y="3249"/>
              <a:ext cx="478" cy="1"/>
            </a:xfrm>
            <a:prstGeom prst="line">
              <a:avLst/>
            </a:prstGeom>
          </p:spPr>
          <p:style>
            <a:lnRef idx="2">
              <a:schemeClr val="accent1"/>
            </a:lnRef>
            <a:fillRef idx="0">
              <a:srgbClr val="FFFFFF"/>
            </a:fillRef>
            <a:effectRef idx="0">
              <a:srgbClr val="FFFFFF"/>
            </a:effectRef>
            <a:fontRef idx="minor">
              <a:schemeClr val="tx1"/>
            </a:fontRef>
          </p:style>
        </p:cxnSp>
        <p:cxnSp>
          <p:nvCxnSpPr>
            <p:cNvPr id="33" name="直接连接符 32"/>
            <p:cNvCxnSpPr/>
            <p:nvPr>
              <p:custDataLst>
                <p:tags r:id="rId6"/>
              </p:custDataLst>
            </p:nvPr>
          </p:nvCxnSpPr>
          <p:spPr>
            <a:xfrm flipH="1" flipV="1">
              <a:off x="5927" y="4736"/>
              <a:ext cx="478" cy="1"/>
            </a:xfrm>
            <a:prstGeom prst="line">
              <a:avLst/>
            </a:prstGeom>
          </p:spPr>
          <p:style>
            <a:lnRef idx="2">
              <a:schemeClr val="accent1"/>
            </a:lnRef>
            <a:fillRef idx="0">
              <a:srgbClr val="FFFFFF"/>
            </a:fillRef>
            <a:effectRef idx="0">
              <a:srgbClr val="FFFFFF"/>
            </a:effectRef>
            <a:fontRef idx="minor">
              <a:schemeClr val="tx1"/>
            </a:fontRef>
          </p:style>
        </p:cxnSp>
        <p:cxnSp>
          <p:nvCxnSpPr>
            <p:cNvPr id="34" name="直接连接符 33"/>
            <p:cNvCxnSpPr/>
            <p:nvPr>
              <p:custDataLst>
                <p:tags r:id="rId7"/>
              </p:custDataLst>
            </p:nvPr>
          </p:nvCxnSpPr>
          <p:spPr>
            <a:xfrm>
              <a:off x="5927" y="3239"/>
              <a:ext cx="0" cy="5941"/>
            </a:xfrm>
            <a:prstGeom prst="line">
              <a:avLst/>
            </a:prstGeom>
          </p:spPr>
          <p:style>
            <a:lnRef idx="2">
              <a:schemeClr val="accent1"/>
            </a:lnRef>
            <a:fillRef idx="0">
              <a:srgbClr val="FFFFFF"/>
            </a:fillRef>
            <a:effectRef idx="0">
              <a:srgbClr val="FFFFFF"/>
            </a:effectRef>
            <a:fontRef idx="minor">
              <a:schemeClr val="tx1"/>
            </a:fontRef>
          </p:style>
        </p:cxnSp>
        <p:cxnSp>
          <p:nvCxnSpPr>
            <p:cNvPr id="35" name="直接箭头连接符 34"/>
            <p:cNvCxnSpPr/>
            <p:nvPr>
              <p:custDataLst>
                <p:tags r:id="rId8"/>
              </p:custDataLst>
            </p:nvPr>
          </p:nvCxnSpPr>
          <p:spPr>
            <a:xfrm flipH="1" flipV="1">
              <a:off x="5077" y="6223"/>
              <a:ext cx="850" cy="0"/>
            </a:xfrm>
            <a:prstGeom prst="straightConnector1">
              <a:avLst/>
            </a:prstGeom>
            <a:ln>
              <a:tailEnd type="none"/>
            </a:ln>
          </p:spPr>
          <p:style>
            <a:lnRef idx="2">
              <a:schemeClr val="accent1"/>
            </a:lnRef>
            <a:fillRef idx="0">
              <a:srgbClr val="FFFFFF"/>
            </a:fillRef>
            <a:effectRef idx="0">
              <a:srgbClr val="FFFFFF"/>
            </a:effectRef>
            <a:fontRef idx="minor">
              <a:schemeClr val="tx1"/>
            </a:fontRef>
          </p:style>
        </p:cxnSp>
        <p:sp>
          <p:nvSpPr>
            <p:cNvPr id="28" name="矩形 27"/>
            <p:cNvSpPr/>
            <p:nvPr>
              <p:custDataLst>
                <p:tags r:id="rId9"/>
              </p:custDataLst>
            </p:nvPr>
          </p:nvSpPr>
          <p:spPr>
            <a:xfrm flipH="1">
              <a:off x="6405" y="5855"/>
              <a:ext cx="2490" cy="737"/>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规避风险度</a:t>
              </a:r>
              <a:endParaRPr lang="zh-CN" altLang="en-US" sz="2000">
                <a:solidFill>
                  <a:schemeClr val="tx1"/>
                </a:solidFill>
              </a:endParaRPr>
            </a:p>
          </p:txBody>
        </p:sp>
        <p:sp>
          <p:nvSpPr>
            <p:cNvPr id="40" name="矩形 39"/>
            <p:cNvSpPr/>
            <p:nvPr>
              <p:custDataLst>
                <p:tags r:id="rId10"/>
              </p:custDataLst>
            </p:nvPr>
          </p:nvSpPr>
          <p:spPr>
            <a:xfrm flipH="1">
              <a:off x="6405" y="7342"/>
              <a:ext cx="2490" cy="737"/>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效率</a:t>
              </a:r>
              <a:endParaRPr lang="zh-CN" altLang="en-US" sz="2000">
                <a:solidFill>
                  <a:schemeClr val="tx1"/>
                </a:solidFill>
              </a:endParaRPr>
            </a:p>
          </p:txBody>
        </p:sp>
        <p:sp>
          <p:nvSpPr>
            <p:cNvPr id="41" name="矩形 40"/>
            <p:cNvSpPr/>
            <p:nvPr>
              <p:custDataLst>
                <p:tags r:id="rId11"/>
              </p:custDataLst>
            </p:nvPr>
          </p:nvSpPr>
          <p:spPr>
            <a:xfrm flipH="1">
              <a:off x="6405" y="8829"/>
              <a:ext cx="2490" cy="737"/>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solidFill>
                    <a:schemeClr val="tx1"/>
                  </a:solidFill>
                </a:rPr>
                <a:t>场景覆盖度</a:t>
              </a:r>
              <a:endParaRPr lang="zh-CN" altLang="en-US" sz="2000">
                <a:solidFill>
                  <a:schemeClr val="tx1"/>
                </a:solidFill>
              </a:endParaRPr>
            </a:p>
          </p:txBody>
        </p:sp>
        <p:sp>
          <p:nvSpPr>
            <p:cNvPr id="42" name="矩形 41"/>
            <p:cNvSpPr/>
            <p:nvPr>
              <p:custDataLst>
                <p:tags r:id="rId12"/>
              </p:custDataLst>
            </p:nvPr>
          </p:nvSpPr>
          <p:spPr>
            <a:xfrm flipH="1">
              <a:off x="11083" y="5293"/>
              <a:ext cx="4735" cy="185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lIns="90170" rIns="0" rtlCol="0" anchor="ctr"/>
            <a:lstStyle/>
            <a:p>
              <a:pPr marL="342900" indent="-342900" algn="l">
                <a:buFont typeface="Arial" panose="020B0604020202020204" pitchFamily="34" charset="0"/>
                <a:buChar char="•"/>
              </a:pPr>
              <a:r>
                <a:rPr lang="zh-CN" altLang="en-US" sz="2000">
                  <a:solidFill>
                    <a:schemeClr val="tx1"/>
                  </a:solidFill>
                </a:rPr>
                <a:t>经济风险的缓解</a:t>
              </a:r>
              <a:endParaRPr lang="zh-CN" altLang="en-US" sz="2000">
                <a:solidFill>
                  <a:schemeClr val="tx1"/>
                </a:solidFill>
              </a:endParaRPr>
            </a:p>
            <a:p>
              <a:pPr marL="342900" indent="-342900" algn="l">
                <a:buFont typeface="Arial" panose="020B0604020202020204" pitchFamily="34" charset="0"/>
                <a:buChar char="•"/>
              </a:pPr>
              <a:r>
                <a:rPr lang="zh-CN" altLang="en-US" sz="2000">
                  <a:solidFill>
                    <a:schemeClr val="tx1"/>
                  </a:solidFill>
                </a:rPr>
                <a:t>健康和安全风险的缓解</a:t>
              </a:r>
              <a:endParaRPr lang="zh-CN" altLang="en-US" sz="2000">
                <a:solidFill>
                  <a:schemeClr val="tx1"/>
                </a:solidFill>
              </a:endParaRPr>
            </a:p>
            <a:p>
              <a:pPr marL="342900" indent="-342900" algn="l">
                <a:buFont typeface="Arial" panose="020B0604020202020204" pitchFamily="34" charset="0"/>
                <a:buChar char="•"/>
              </a:pPr>
              <a:r>
                <a:rPr lang="zh-CN" altLang="en-US" sz="2000">
                  <a:solidFill>
                    <a:schemeClr val="tx1"/>
                  </a:solidFill>
                </a:rPr>
                <a:t>环境风险的缓解</a:t>
              </a:r>
              <a:endParaRPr lang="zh-CN" altLang="en-US" sz="2000">
                <a:solidFill>
                  <a:schemeClr val="tx1"/>
                </a:solidFill>
              </a:endParaRPr>
            </a:p>
          </p:txBody>
        </p:sp>
        <p:sp>
          <p:nvSpPr>
            <p:cNvPr id="43" name="矩形 42"/>
            <p:cNvSpPr/>
            <p:nvPr>
              <p:custDataLst>
                <p:tags r:id="rId13"/>
              </p:custDataLst>
            </p:nvPr>
          </p:nvSpPr>
          <p:spPr>
            <a:xfrm flipH="1">
              <a:off x="11083" y="8535"/>
              <a:ext cx="2813" cy="1325"/>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lIns="90170" rIns="0" rtlCol="0" anchor="ctr"/>
            <a:lstStyle/>
            <a:p>
              <a:pPr marL="342900" indent="-342900" algn="l">
                <a:buFont typeface="Arial" panose="020B0604020202020204" pitchFamily="34" charset="0"/>
                <a:buChar char="•"/>
              </a:pPr>
              <a:r>
                <a:rPr lang="zh-CN" altLang="en-US" sz="2000">
                  <a:solidFill>
                    <a:schemeClr val="tx1"/>
                  </a:solidFill>
                </a:rPr>
                <a:t>场景完整性</a:t>
              </a:r>
              <a:endParaRPr lang="zh-CN" altLang="en-US" sz="2000">
                <a:solidFill>
                  <a:schemeClr val="tx1"/>
                </a:solidFill>
              </a:endParaRPr>
            </a:p>
            <a:p>
              <a:pPr marL="342900" indent="-342900" algn="l">
                <a:buFont typeface="Arial" panose="020B0604020202020204" pitchFamily="34" charset="0"/>
                <a:buChar char="•"/>
              </a:pPr>
              <a:r>
                <a:rPr lang="zh-CN" altLang="en-US" sz="2000">
                  <a:solidFill>
                    <a:schemeClr val="tx1"/>
                  </a:solidFill>
                </a:rPr>
                <a:t>灵活性</a:t>
              </a:r>
              <a:endParaRPr lang="zh-CN" altLang="en-US" sz="2000">
                <a:solidFill>
                  <a:schemeClr val="tx1"/>
                </a:solidFill>
              </a:endParaRPr>
            </a:p>
          </p:txBody>
        </p:sp>
        <p:cxnSp>
          <p:nvCxnSpPr>
            <p:cNvPr id="44" name="直接连接符 43"/>
            <p:cNvCxnSpPr/>
            <p:nvPr>
              <p:custDataLst>
                <p:tags r:id="rId14"/>
              </p:custDataLst>
            </p:nvPr>
          </p:nvCxnSpPr>
          <p:spPr>
            <a:xfrm flipH="1" flipV="1">
              <a:off x="5927" y="6223"/>
              <a:ext cx="478" cy="1"/>
            </a:xfrm>
            <a:prstGeom prst="line">
              <a:avLst/>
            </a:prstGeom>
          </p:spPr>
          <p:style>
            <a:lnRef idx="2">
              <a:schemeClr val="accent1"/>
            </a:lnRef>
            <a:fillRef idx="0">
              <a:srgbClr val="FFFFFF"/>
            </a:fillRef>
            <a:effectRef idx="0">
              <a:srgbClr val="FFFFFF"/>
            </a:effectRef>
            <a:fontRef idx="minor">
              <a:schemeClr val="tx1"/>
            </a:fontRef>
          </p:style>
        </p:cxnSp>
        <p:cxnSp>
          <p:nvCxnSpPr>
            <p:cNvPr id="45" name="直接连接符 44"/>
            <p:cNvCxnSpPr/>
            <p:nvPr>
              <p:custDataLst>
                <p:tags r:id="rId15"/>
              </p:custDataLst>
            </p:nvPr>
          </p:nvCxnSpPr>
          <p:spPr>
            <a:xfrm flipH="1" flipV="1">
              <a:off x="5927" y="7710"/>
              <a:ext cx="478" cy="1"/>
            </a:xfrm>
            <a:prstGeom prst="line">
              <a:avLst/>
            </a:prstGeom>
          </p:spPr>
          <p:style>
            <a:lnRef idx="2">
              <a:schemeClr val="accent1"/>
            </a:lnRef>
            <a:fillRef idx="0">
              <a:srgbClr val="FFFFFF"/>
            </a:fillRef>
            <a:effectRef idx="0">
              <a:srgbClr val="FFFFFF"/>
            </a:effectRef>
            <a:fontRef idx="minor">
              <a:schemeClr val="tx1"/>
            </a:fontRef>
          </p:style>
        </p:cxnSp>
        <p:cxnSp>
          <p:nvCxnSpPr>
            <p:cNvPr id="46" name="直接连接符 45"/>
            <p:cNvCxnSpPr/>
            <p:nvPr>
              <p:custDataLst>
                <p:tags r:id="rId16"/>
              </p:custDataLst>
            </p:nvPr>
          </p:nvCxnSpPr>
          <p:spPr>
            <a:xfrm flipH="1" flipV="1">
              <a:off x="5927" y="9197"/>
              <a:ext cx="478" cy="1"/>
            </a:xfrm>
            <a:prstGeom prst="line">
              <a:avLst/>
            </a:prstGeom>
          </p:spPr>
          <p:style>
            <a:lnRef idx="2">
              <a:schemeClr val="accent1"/>
            </a:lnRef>
            <a:fillRef idx="0">
              <a:srgbClr val="FFFFFF"/>
            </a:fillRef>
            <a:effectRef idx="0">
              <a:srgbClr val="FFFFFF"/>
            </a:effectRef>
            <a:fontRef idx="minor">
              <a:schemeClr val="tx1"/>
            </a:fontRef>
          </p:style>
        </p:cxnSp>
        <p:cxnSp>
          <p:nvCxnSpPr>
            <p:cNvPr id="47" name="直接连接符 46"/>
            <p:cNvCxnSpPr>
              <a:stCxn id="8" idx="1"/>
              <a:endCxn id="7" idx="3"/>
            </p:cNvCxnSpPr>
            <p:nvPr/>
          </p:nvCxnSpPr>
          <p:spPr>
            <a:xfrm flipV="1">
              <a:off x="8895" y="3249"/>
              <a:ext cx="2188" cy="1"/>
            </a:xfrm>
            <a:prstGeom prst="line">
              <a:avLst/>
            </a:prstGeom>
          </p:spPr>
          <p:style>
            <a:lnRef idx="2">
              <a:schemeClr val="accent1"/>
            </a:lnRef>
            <a:fillRef idx="0">
              <a:srgbClr val="FFFFFF"/>
            </a:fillRef>
            <a:effectRef idx="0">
              <a:srgbClr val="FFFFFF"/>
            </a:effectRef>
            <a:fontRef idx="minor">
              <a:schemeClr val="tx1"/>
            </a:fontRef>
          </p:style>
        </p:cxnSp>
        <p:cxnSp>
          <p:nvCxnSpPr>
            <p:cNvPr id="48" name="直接连接符 47"/>
            <p:cNvCxnSpPr>
              <a:stCxn id="28" idx="1"/>
              <a:endCxn id="42" idx="3"/>
            </p:cNvCxnSpPr>
            <p:nvPr/>
          </p:nvCxnSpPr>
          <p:spPr>
            <a:xfrm flipV="1">
              <a:off x="8895" y="6218"/>
              <a:ext cx="2188" cy="0"/>
            </a:xfrm>
            <a:prstGeom prst="line">
              <a:avLst/>
            </a:prstGeom>
          </p:spPr>
          <p:style>
            <a:lnRef idx="2">
              <a:schemeClr val="accent1"/>
            </a:lnRef>
            <a:fillRef idx="0">
              <a:srgbClr val="FFFFFF"/>
            </a:fillRef>
            <a:effectRef idx="0">
              <a:srgbClr val="FFFFFF"/>
            </a:effectRef>
            <a:fontRef idx="minor">
              <a:schemeClr val="tx1"/>
            </a:fontRef>
          </p:style>
        </p:cxnSp>
        <p:cxnSp>
          <p:nvCxnSpPr>
            <p:cNvPr id="49" name="直接连接符 48"/>
            <p:cNvCxnSpPr/>
            <p:nvPr>
              <p:custDataLst>
                <p:tags r:id="rId17"/>
              </p:custDataLst>
            </p:nvPr>
          </p:nvCxnSpPr>
          <p:spPr>
            <a:xfrm flipV="1">
              <a:off x="8895" y="9186"/>
              <a:ext cx="2188" cy="0"/>
            </a:xfrm>
            <a:prstGeom prst="line">
              <a:avLst/>
            </a:prstGeom>
          </p:spPr>
          <p:style>
            <a:lnRef idx="2">
              <a:schemeClr val="accent1"/>
            </a:lnRef>
            <a:fillRef idx="0">
              <a:srgbClr val="FFFFFF"/>
            </a:fillRef>
            <a:effectRef idx="0">
              <a:srgbClr val="FFFFFF"/>
            </a:effectRef>
            <a:fontRef idx="minor">
              <a:schemeClr val="tx1"/>
            </a:fontRef>
          </p:style>
        </p:cxn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olidFill>
                  <a:srgbClr val="C00000"/>
                </a:solidFill>
                <a:sym typeface="+mn-ea"/>
              </a:rPr>
              <a:t>1.5 </a:t>
            </a:r>
            <a:r>
              <a:rPr lang="zh-CN" altLang="en-US">
                <a:solidFill>
                  <a:srgbClr val="C00000"/>
                </a:solidFill>
                <a:sym typeface="+mn-ea"/>
              </a:rPr>
              <a:t>复杂软件系统的质量</a:t>
            </a:r>
            <a:endParaRPr lang="zh-CN" altLang="en-US">
              <a:solidFill>
                <a:srgbClr val="C00000"/>
              </a:solidFill>
              <a:sym typeface="+mn-ea"/>
            </a:endParaRPr>
          </a:p>
        </p:txBody>
      </p:sp>
      <p:sp>
        <p:nvSpPr>
          <p:cNvPr id="3" name="内容占位符 2"/>
          <p:cNvSpPr>
            <a:spLocks noGrp="1"/>
          </p:cNvSpPr>
          <p:nvPr>
            <p:ph idx="1"/>
          </p:nvPr>
        </p:nvSpPr>
        <p:spPr/>
        <p:txBody>
          <a:bodyPr/>
          <a:lstStyle/>
          <a:p>
            <a:r>
              <a:rPr lang="zh-CN" altLang="en-US"/>
              <a:t>复杂软件系统的典型质量问题</a:t>
            </a:r>
            <a:endParaRPr lang="zh-CN" altLang="en-US"/>
          </a:p>
          <a:p>
            <a:pPr marL="914400" lvl="1" indent="-457200">
              <a:buFont typeface="+mj-ea"/>
              <a:buAutoNum type="circleNumDbPlain"/>
            </a:pPr>
            <a:r>
              <a:rPr lang="zh-CN" altLang="en-US"/>
              <a:t>软件代码的可维护性和可移植性很差</a:t>
            </a:r>
            <a:endParaRPr lang="zh-CN" altLang="en-US"/>
          </a:p>
          <a:p>
            <a:pPr marL="914400" lvl="1" indent="-457200">
              <a:buFont typeface="+mj-ea"/>
              <a:buAutoNum type="circleNumDbPlain"/>
            </a:pPr>
            <a:r>
              <a:rPr lang="zh-CN" altLang="en-US"/>
              <a:t>软件服务或服务的组合情况缺乏充分的测试</a:t>
            </a:r>
            <a:endParaRPr lang="zh-CN" altLang="en-US"/>
          </a:p>
          <a:p>
            <a:pPr marL="914400" lvl="1" indent="-457200">
              <a:buFont typeface="+mj-ea"/>
              <a:buAutoNum type="circleNumDbPlain"/>
            </a:pPr>
            <a:r>
              <a:rPr lang="zh-CN" altLang="en-US"/>
              <a:t>系统运行时的性能和可靠性明显低于要求的水平</a:t>
            </a:r>
            <a:endParaRPr lang="zh-CN" altLang="en-US"/>
          </a:p>
          <a:p>
            <a:pPr marL="914400" lvl="1" indent="-457200">
              <a:buFont typeface="+mj-ea"/>
              <a:buAutoNum type="circleNumDbPlain"/>
            </a:pPr>
            <a:r>
              <a:rPr lang="zh-CN" altLang="en-US"/>
              <a:t>软件系统消耗了过多的硬件资源</a:t>
            </a:r>
            <a:endParaRPr lang="zh-CN" altLang="en-US"/>
          </a:p>
          <a:p>
            <a:pPr marL="914400" lvl="1" indent="-457200">
              <a:buFont typeface="+mj-ea"/>
              <a:buAutoNum type="circleNumDbPlain"/>
            </a:pPr>
            <a:r>
              <a:rPr lang="zh-CN" altLang="en-US"/>
              <a:t>软件系统的人机交互表现出很差的可用性</a:t>
            </a:r>
            <a:endParaRPr lang="zh-CN" altLang="en-US"/>
          </a:p>
          <a:p>
            <a:pPr marL="914400" lvl="1" indent="-457200">
              <a:buFont typeface="+mj-ea"/>
              <a:buAutoNum type="circleNumDbPlain"/>
            </a:pPr>
            <a:r>
              <a:rPr lang="zh-CN" altLang="en-US"/>
              <a:t>软件组件中的一个失误可能造成整个系统严重的失效</a:t>
            </a:r>
            <a:endParaRPr lang="zh-CN" altLang="en-US"/>
          </a:p>
          <a:p>
            <a:pPr marL="914400" lvl="1" indent="-457200">
              <a:buFont typeface="+mj-ea"/>
              <a:buAutoNum type="circleNumDbPlain"/>
            </a:pPr>
            <a:r>
              <a:rPr lang="zh-CN" altLang="en-US"/>
              <a:t>软件系统的开发过程效率低下而且效果很差</a:t>
            </a: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olidFill>
                  <a:srgbClr val="C00000"/>
                </a:solidFill>
                <a:sym typeface="+mn-ea"/>
              </a:rPr>
              <a:t>1.5 </a:t>
            </a:r>
            <a:r>
              <a:rPr lang="zh-CN" altLang="en-US">
                <a:solidFill>
                  <a:srgbClr val="C00000"/>
                </a:solidFill>
                <a:sym typeface="+mn-ea"/>
              </a:rPr>
              <a:t>复杂软件系统的质量</a:t>
            </a:r>
            <a:endParaRPr lang="zh-CN" altLang="en-US">
              <a:solidFill>
                <a:srgbClr val="C00000"/>
              </a:solidFill>
              <a:sym typeface="+mn-ea"/>
            </a:endParaRPr>
          </a:p>
        </p:txBody>
      </p:sp>
      <p:sp>
        <p:nvSpPr>
          <p:cNvPr id="3" name="内容占位符 2"/>
          <p:cNvSpPr>
            <a:spLocks noGrp="1"/>
          </p:cNvSpPr>
          <p:nvPr>
            <p:ph idx="1"/>
          </p:nvPr>
        </p:nvSpPr>
        <p:spPr/>
        <p:txBody>
          <a:bodyPr/>
          <a:lstStyle/>
          <a:p>
            <a:r>
              <a:rPr lang="zh-CN" altLang="en-US" sz="2400"/>
              <a:t>复杂软件系统的新质量特性</a:t>
            </a:r>
            <a:endParaRPr lang="zh-CN" altLang="en-US" sz="2400"/>
          </a:p>
          <a:p>
            <a:pPr lvl="1"/>
            <a:r>
              <a:rPr lang="zh-CN" altLang="en-US" sz="2055"/>
              <a:t>可用性</a:t>
            </a:r>
            <a:endParaRPr lang="zh-CN" altLang="en-US" sz="2055"/>
          </a:p>
          <a:p>
            <a:pPr lvl="1"/>
            <a:r>
              <a:rPr lang="zh-CN" altLang="en-US" sz="2055"/>
              <a:t>可观察性</a:t>
            </a:r>
            <a:endParaRPr lang="zh-CN" altLang="en-US" sz="2055"/>
          </a:p>
          <a:p>
            <a:pPr lvl="1"/>
            <a:r>
              <a:rPr lang="zh-CN" altLang="en-US" sz="2055"/>
              <a:t>响应性</a:t>
            </a:r>
            <a:endParaRPr lang="zh-CN" altLang="en-US" sz="2055"/>
          </a:p>
          <a:p>
            <a:pPr lvl="1"/>
            <a:r>
              <a:rPr lang="zh-CN" altLang="en-US" sz="2055"/>
              <a:t>任务规范性</a:t>
            </a:r>
            <a:endParaRPr lang="zh-CN" altLang="en-US" sz="2055"/>
          </a:p>
          <a:p>
            <a:pPr lvl="1"/>
            <a:r>
              <a:rPr lang="zh-CN" altLang="en-US" sz="2055"/>
              <a:t>可恢复性</a:t>
            </a:r>
            <a:endParaRPr lang="zh-CN" altLang="en-US" sz="2055"/>
          </a:p>
          <a:p>
            <a:pPr lvl="1"/>
            <a:r>
              <a:rPr lang="zh-CN" altLang="en-US" sz="2055"/>
              <a:t>自适应性</a:t>
            </a:r>
            <a:endParaRPr lang="zh-CN" altLang="en-US" sz="2055"/>
          </a:p>
          <a:p>
            <a:pPr lvl="1"/>
            <a:r>
              <a:rPr lang="zh-CN" altLang="en-US" sz="2055"/>
              <a:t>弹性</a:t>
            </a:r>
            <a:endParaRPr lang="zh-CN" altLang="en-US" sz="2055"/>
          </a:p>
          <a:p>
            <a:pPr lvl="1"/>
            <a:r>
              <a:rPr lang="zh-CN" altLang="en-US" sz="2055"/>
              <a:t>可信性</a:t>
            </a:r>
            <a:endParaRPr lang="zh-CN" altLang="en-US" sz="2055"/>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olidFill>
                  <a:srgbClr val="C00000"/>
                </a:solidFill>
                <a:sym typeface="+mn-ea"/>
              </a:rPr>
              <a:t>1.5 </a:t>
            </a:r>
            <a:r>
              <a:rPr lang="zh-CN" altLang="en-US">
                <a:solidFill>
                  <a:srgbClr val="C00000"/>
                </a:solidFill>
                <a:sym typeface="+mn-ea"/>
              </a:rPr>
              <a:t>复杂软件系统的质量</a:t>
            </a:r>
            <a:endParaRPr lang="zh-CN" altLang="en-US">
              <a:solidFill>
                <a:srgbClr val="C00000"/>
              </a:solidFill>
              <a:sym typeface="+mn-ea"/>
            </a:endParaRPr>
          </a:p>
        </p:txBody>
      </p:sp>
      <p:sp>
        <p:nvSpPr>
          <p:cNvPr id="3" name="内容占位符 2"/>
          <p:cNvSpPr>
            <a:spLocks noGrp="1"/>
          </p:cNvSpPr>
          <p:nvPr>
            <p:ph idx="1"/>
          </p:nvPr>
        </p:nvSpPr>
        <p:spPr/>
        <p:txBody>
          <a:bodyPr/>
          <a:lstStyle/>
          <a:p>
            <a:r>
              <a:rPr lang="zh-CN" altLang="en-US" sz="2400" b="1">
                <a:solidFill>
                  <a:srgbClr val="0070C0"/>
                </a:solidFill>
              </a:rPr>
              <a:t>自适应性</a:t>
            </a:r>
            <a:endParaRPr lang="zh-CN" altLang="en-US" sz="2400" b="1">
              <a:solidFill>
                <a:srgbClr val="0070C0"/>
              </a:solidFill>
            </a:endParaRPr>
          </a:p>
          <a:p>
            <a:pPr lvl="1"/>
            <a:r>
              <a:rPr lang="zh-CN" altLang="en-US" sz="2055"/>
              <a:t>处理和分析过程中，根据处理数据的特征自动调整处理方法、处理顺序、处理参数、边界条件或约束条件，使其与所处理数据的统计分布特征、结构特征相适应，以取得最佳处理效果</a:t>
            </a:r>
            <a:endParaRPr lang="zh-CN" altLang="en-US" sz="2055"/>
          </a:p>
          <a:p>
            <a:pPr algn="l">
              <a:buClrTx/>
              <a:buSzTx/>
            </a:pPr>
            <a:r>
              <a:rPr lang="zh-CN" altLang="en-US" sz="2400" b="1">
                <a:solidFill>
                  <a:srgbClr val="0070C0"/>
                </a:solidFill>
              </a:rPr>
              <a:t>弹性</a:t>
            </a:r>
            <a:endParaRPr lang="zh-CN" altLang="en-US" sz="2400" b="1">
              <a:solidFill>
                <a:srgbClr val="0070C0"/>
              </a:solidFill>
            </a:endParaRPr>
          </a:p>
          <a:p>
            <a:pPr lvl="1"/>
            <a:r>
              <a:rPr lang="zh-CN" altLang="en-US" sz="2055"/>
              <a:t>软件系统对其组件出现的故障作出反应并仍然提供最佳服务的能力</a:t>
            </a:r>
            <a:endParaRPr lang="zh-CN" altLang="en-US" sz="2055"/>
          </a:p>
          <a:p>
            <a:pPr algn="l">
              <a:buClrTx/>
              <a:buSzTx/>
            </a:pPr>
            <a:r>
              <a:rPr lang="zh-CN" altLang="en-US" sz="2400" b="1">
                <a:solidFill>
                  <a:srgbClr val="0070C0"/>
                </a:solidFill>
              </a:rPr>
              <a:t>可信性</a:t>
            </a:r>
            <a:endParaRPr lang="zh-CN" altLang="en-US" sz="2400" b="1">
              <a:solidFill>
                <a:srgbClr val="0070C0"/>
              </a:solidFill>
            </a:endParaRPr>
          </a:p>
          <a:p>
            <a:pPr lvl="1"/>
            <a:r>
              <a:rPr lang="zh-CN" altLang="en-US" sz="2055"/>
              <a:t>包括可靠性、可维修性、保障性</a:t>
            </a:r>
            <a:endParaRPr lang="zh-CN" altLang="en-US" sz="2055"/>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本章作业</a:t>
            </a:r>
            <a:endParaRPr lang="zh-CN" altLang="en-US"/>
          </a:p>
        </p:txBody>
      </p:sp>
      <p:sp>
        <p:nvSpPr>
          <p:cNvPr id="3" name="内容占位符 2"/>
          <p:cNvSpPr>
            <a:spLocks noGrp="1"/>
          </p:cNvSpPr>
          <p:nvPr>
            <p:ph idx="1"/>
          </p:nvPr>
        </p:nvSpPr>
        <p:spPr/>
        <p:txBody>
          <a:bodyPr>
            <a:normAutofit/>
          </a:bodyPr>
          <a:lstStyle/>
          <a:p>
            <a:r>
              <a:rPr lang="zh-CN" altLang="en-US"/>
              <a:t>针对一个需求规格说明书，根据</a:t>
            </a:r>
            <a:r>
              <a:rPr lang="zh-CN" altLang="en-US">
                <a:solidFill>
                  <a:srgbClr val="C00000"/>
                </a:solidFill>
                <a:sym typeface="+mn-ea"/>
              </a:rPr>
              <a:t>ISO/IEC 25010:2010</a:t>
            </a:r>
            <a:r>
              <a:rPr lang="zh-CN" altLang="en-US">
                <a:sym typeface="+mn-ea"/>
              </a:rPr>
              <a:t>质量模型，给出在以下方面的质量需求：</a:t>
            </a:r>
            <a:endParaRPr lang="zh-CN" altLang="en-US">
              <a:sym typeface="+mn-ea"/>
            </a:endParaRPr>
          </a:p>
          <a:p>
            <a:pPr lvl="1"/>
            <a:r>
              <a:rPr lang="zh-CN" altLang="en-US">
                <a:sym typeface="+mn-ea"/>
              </a:rPr>
              <a:t>可靠性（尽可能量化，给出必要的原因解释）</a:t>
            </a:r>
            <a:endParaRPr lang="zh-CN" altLang="en-US">
              <a:sym typeface="+mn-ea"/>
            </a:endParaRPr>
          </a:p>
          <a:p>
            <a:pPr lvl="1"/>
            <a:r>
              <a:rPr lang="zh-CN" altLang="en-US">
                <a:sym typeface="+mn-ea"/>
              </a:rPr>
              <a:t>性能效率（尽可能量化，给出必要的原因解释）</a:t>
            </a:r>
            <a:endParaRPr lang="zh-CN" altLang="en-US">
              <a:sym typeface="+mn-ea"/>
            </a:endParaRPr>
          </a:p>
          <a:p>
            <a:pPr lvl="1"/>
            <a:r>
              <a:rPr lang="zh-CN" altLang="en-US">
                <a:sym typeface="+mn-ea"/>
              </a:rPr>
              <a:t>安全性（识别出出现安全故障后可能存在的风险）</a:t>
            </a:r>
            <a:endParaRPr lang="zh-CN" altLang="en-US">
              <a:sym typeface="+mn-ea"/>
            </a:endParaRPr>
          </a:p>
          <a:p>
            <a:pPr lvl="1"/>
            <a:r>
              <a:rPr lang="zh-CN" altLang="en-US">
                <a:sym typeface="+mn-ea"/>
              </a:rPr>
              <a:t>兼容性（给出至少兼容</a:t>
            </a:r>
            <a:r>
              <a:rPr lang="en-US" altLang="zh-CN">
                <a:sym typeface="+mn-ea"/>
              </a:rPr>
              <a:t>3</a:t>
            </a:r>
            <a:r>
              <a:rPr lang="zh-CN" altLang="en-US">
                <a:sym typeface="+mn-ea"/>
              </a:rPr>
              <a:t>个软件的必要性）</a:t>
            </a:r>
            <a:endParaRPr lang="zh-CN" altLang="en-US">
              <a:sym typeface="+mn-ea"/>
            </a:endParaRPr>
          </a:p>
          <a:p>
            <a:pPr lvl="1"/>
            <a:r>
              <a:rPr lang="en-US" altLang="zh-CN">
                <a:sym typeface="+mn-ea"/>
              </a:rPr>
              <a:t>...</a:t>
            </a:r>
            <a:endParaRPr lang="zh-CN" altLang="en-US">
              <a:sym typeface="+mn-ea"/>
            </a:endParaRPr>
          </a:p>
          <a:p>
            <a:endParaRPr lang="zh-CN" altLang="en-US">
              <a:sym typeface="+mn-ea"/>
            </a:endParaRPr>
          </a:p>
        </p:txBody>
      </p:sp>
    </p:spTree>
  </p:cSld>
  <p:clrMapOvr>
    <a:masterClrMapping/>
  </p:clrMapOvr>
</p:sld>
</file>

<file path=ppt/tags/tag1.xml><?xml version="1.0" encoding="utf-8"?>
<p:tagLst xmlns:p="http://schemas.openxmlformats.org/presentationml/2006/main">
  <p:tag name="TABLE_ENDDRAG_ORIGIN_RECT" val="780*322"/>
  <p:tag name="TABLE_ENDDRAG_RECT" val="82*133*780*322"/>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UNIT_PLACING_PICTURE_USER_VIEWPORT" val="{&quot;height&quot;:5638.541732283465,&quot;width&quot;:10560}"/>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PP_MARK_KEY" val="7bd29f46-b8e6-4582-857c-02eb3b47549f"/>
  <p:tag name="COMMONDATA" val="eyJoZGlkIjoiNGVhMGEzMzFmYzE0NDk3ZTNmMGYzOThhM2NhOTZlNT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sz="2000"/>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7035</Words>
  <Application>WPS 演示</Application>
  <PresentationFormat>宽屏</PresentationFormat>
  <Paragraphs>572</Paragraphs>
  <Slides>51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51</vt:i4>
      </vt:variant>
    </vt:vector>
  </HeadingPairs>
  <TitlesOfParts>
    <vt:vector size="64" baseType="lpstr">
      <vt:lpstr>Arial</vt:lpstr>
      <vt:lpstr>宋体</vt:lpstr>
      <vt:lpstr>Wingdings</vt:lpstr>
      <vt:lpstr>Times New Roman</vt:lpstr>
      <vt:lpstr>黑体</vt:lpstr>
      <vt:lpstr>楷体</vt:lpstr>
      <vt:lpstr>楷体_GB2312</vt:lpstr>
      <vt:lpstr>新宋体</vt:lpstr>
      <vt:lpstr>Calibri Light</vt:lpstr>
      <vt:lpstr>Calibri</vt:lpstr>
      <vt:lpstr>微软雅黑</vt:lpstr>
      <vt:lpstr>Arial Unicode MS</vt:lpstr>
      <vt:lpstr>Office 主题</vt:lpstr>
      <vt:lpstr>第1章 软件质量模型</vt:lpstr>
      <vt:lpstr>内容</vt:lpstr>
      <vt:lpstr>课程介绍</vt:lpstr>
      <vt:lpstr>前言</vt:lpstr>
      <vt:lpstr>1.1 软件的复杂性</vt:lpstr>
      <vt:lpstr>1.1.1 软件规模无限膨胀</vt:lpstr>
      <vt:lpstr>1.1.2 软件失效行为的复杂</vt:lpstr>
      <vt:lpstr>1.1.2 软件失效行为的复杂</vt:lpstr>
      <vt:lpstr>1.1.2 软件失效行为的复杂</vt:lpstr>
      <vt:lpstr>1.1.2 软件失效行为的复杂</vt:lpstr>
      <vt:lpstr>1.1.2 软件失效行为的复杂</vt:lpstr>
      <vt:lpstr>1.1.2 软件失效行为的复杂</vt:lpstr>
      <vt:lpstr>1.1.2 软件失效行为的复杂</vt:lpstr>
      <vt:lpstr>1.1.2 软件失效行为的复杂</vt:lpstr>
      <vt:lpstr>1.1.2 软件失效行为的复杂</vt:lpstr>
      <vt:lpstr>1.1.3 软件工程过程的复杂</vt:lpstr>
      <vt:lpstr>1.2 复杂软件系统</vt:lpstr>
      <vt:lpstr>1.2 复杂软件系统</vt:lpstr>
      <vt:lpstr>1.2 复杂软件系统</vt:lpstr>
      <vt:lpstr>1.2 复杂软件系统</vt:lpstr>
      <vt:lpstr>1.2 复杂软件系统</vt:lpstr>
      <vt:lpstr>1.2 复杂软件系统</vt:lpstr>
      <vt:lpstr>1.3 典型的复杂软件系统</vt:lpstr>
      <vt:lpstr>1.3 典型的复杂软件系统</vt:lpstr>
      <vt:lpstr>1.3 典型的复杂软件系统</vt:lpstr>
      <vt:lpstr>1.3 典型的复杂软件系统</vt:lpstr>
      <vt:lpstr>1.3 典型的复杂软件系统</vt:lpstr>
      <vt:lpstr>1.3 典型的复杂软件系统</vt:lpstr>
      <vt:lpstr>1.3 典型的复杂软件系统</vt:lpstr>
      <vt:lpstr>1.3 典型的复杂软件系统</vt:lpstr>
      <vt:lpstr>1.3 典型的复杂软件系统</vt:lpstr>
      <vt:lpstr>1.3 典型的复杂软件系统</vt:lpstr>
      <vt:lpstr>1.4 软件的质量模型</vt:lpstr>
      <vt:lpstr>1.4 软件的质量模型</vt:lpstr>
      <vt:lpstr>ISO/IEC 25010:2010</vt:lpstr>
      <vt:lpstr>ISO/IEC 25010:2023</vt:lpstr>
      <vt:lpstr>ISO/IEC 25010:2010</vt:lpstr>
      <vt:lpstr>ISO/IEC 25010:2010</vt:lpstr>
      <vt:lpstr>ISO/IEC 25010:2010</vt:lpstr>
      <vt:lpstr>ISO/IEC 25010:2010</vt:lpstr>
      <vt:lpstr>ISO/IEC 25010:2010</vt:lpstr>
      <vt:lpstr>ISO/IEC 25010:2010</vt:lpstr>
      <vt:lpstr>ISO/IEC 25010:2010</vt:lpstr>
      <vt:lpstr>ISO/IEC 25010:2010</vt:lpstr>
      <vt:lpstr>ISO/IEC 25010:2010</vt:lpstr>
      <vt:lpstr>ISO/IEC 25010:2010</vt:lpstr>
      <vt:lpstr>ISO/IEC 25010:2010    使用模型</vt:lpstr>
      <vt:lpstr>1.5 复杂软件系统的质量</vt:lpstr>
      <vt:lpstr>1.5 复杂软件系统的质量</vt:lpstr>
      <vt:lpstr>1.5 复杂软件系统的质量</vt:lpstr>
      <vt:lpstr>本章作业</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软件分析概要</dc:title>
  <dc:creator>Microsoft</dc:creator>
  <cp:lastModifiedBy>董玉坤</cp:lastModifiedBy>
  <cp:revision>184</cp:revision>
  <dcterms:created xsi:type="dcterms:W3CDTF">2022-08-08T01:51:00Z</dcterms:created>
  <dcterms:modified xsi:type="dcterms:W3CDTF">2025-10-13T11:56:44Z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E9266E9539684B88B8E38D15771F6DA7_12</vt:lpwstr>
  </property>
  <property fmtid="{D5CDD505-2E9C-101B-9397-08002B2CF9AE}" pid="3" name="KSOProductBuildVer">
    <vt:lpwstr>2052-12.1.0.23125</vt:lpwstr>
  </property>
</Properties>
</file>