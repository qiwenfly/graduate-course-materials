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emf" ContentType="image/x-emf"/>
  <Default Extension="wmf" ContentType="image/x-w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5"/>
  </p:notesMasterIdLst>
  <p:sldIdLst>
    <p:sldId id="256" r:id="rId3"/>
    <p:sldId id="257" r:id="rId4"/>
    <p:sldId id="752" r:id="rId5"/>
    <p:sldId id="753" r:id="rId6"/>
    <p:sldId id="754" r:id="rId7"/>
    <p:sldId id="756" r:id="rId8"/>
    <p:sldId id="714" r:id="rId9"/>
    <p:sldId id="758" r:id="rId10"/>
    <p:sldId id="759" r:id="rId11"/>
    <p:sldId id="760" r:id="rId12"/>
    <p:sldId id="761" r:id="rId13"/>
    <p:sldId id="762" r:id="rId14"/>
    <p:sldId id="763" r:id="rId15"/>
    <p:sldId id="764" r:id="rId16"/>
    <p:sldId id="765" r:id="rId17"/>
    <p:sldId id="766" r:id="rId18"/>
    <p:sldId id="767" r:id="rId19"/>
    <p:sldId id="768" r:id="rId20"/>
    <p:sldId id="769" r:id="rId21"/>
    <p:sldId id="770" r:id="rId22"/>
    <p:sldId id="730" r:id="rId23"/>
    <p:sldId id="832" r:id="rId24"/>
    <p:sldId id="731" r:id="rId25"/>
    <p:sldId id="835" r:id="rId26"/>
    <p:sldId id="836" r:id="rId27"/>
    <p:sldId id="837" r:id="rId28"/>
    <p:sldId id="838" r:id="rId29"/>
    <p:sldId id="733" r:id="rId30"/>
    <p:sldId id="734" r:id="rId31"/>
    <p:sldId id="735" r:id="rId32"/>
    <p:sldId id="736" r:id="rId33"/>
    <p:sldId id="830" r:id="rId34"/>
    <p:sldId id="831" r:id="rId35"/>
    <p:sldId id="771" r:id="rId36"/>
    <p:sldId id="772" r:id="rId37"/>
    <p:sldId id="773" r:id="rId38"/>
    <p:sldId id="741" r:id="rId39"/>
    <p:sldId id="742" r:id="rId40"/>
    <p:sldId id="743" r:id="rId41"/>
    <p:sldId id="744" r:id="rId42"/>
    <p:sldId id="745" r:id="rId43"/>
    <p:sldId id="746" r:id="rId44"/>
    <p:sldId id="747" r:id="rId46"/>
    <p:sldId id="748" r:id="rId47"/>
    <p:sldId id="749" r:id="rId48"/>
    <p:sldId id="750" r:id="rId49"/>
    <p:sldId id="829" r:id="rId50"/>
    <p:sldId id="859" r:id="rId51"/>
  </p:sldIdLst>
  <p:sldSz cx="12192000" cy="6858000"/>
  <p:notesSz cx="6858000" cy="9144000"/>
  <p:custDataLst>
    <p:tags r:id="rId55"/>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8" d="100"/>
          <a:sy n="68" d="100"/>
        </p:scale>
        <p:origin x="96"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5" Type="http://schemas.openxmlformats.org/officeDocument/2006/relationships/tags" Target="tags/tag5.xml"/><Relationship Id="rId54" Type="http://schemas.openxmlformats.org/officeDocument/2006/relationships/tableStyles" Target="tableStyles.xml"/><Relationship Id="rId53" Type="http://schemas.openxmlformats.org/officeDocument/2006/relationships/viewProps" Target="viewProps.xml"/><Relationship Id="rId52" Type="http://schemas.openxmlformats.org/officeDocument/2006/relationships/presProps" Target="presProps.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notesMaster" Target="notesMasters/notesMaster1.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4.vml.rels><?xml version="1.0" encoding="UTF-8" standalone="yes"?>
<Relationships xmlns="http://schemas.openxmlformats.org/package/2006/relationships"><Relationship Id="rId7" Type="http://schemas.openxmlformats.org/officeDocument/2006/relationships/image" Target="../media/image8.wmf"/><Relationship Id="rId6" Type="http://schemas.openxmlformats.org/officeDocument/2006/relationships/image" Target="../media/image7.wmf"/><Relationship Id="rId5" Type="http://schemas.openxmlformats.org/officeDocument/2006/relationships/image" Target="../media/image6.wmf"/><Relationship Id="rId4" Type="http://schemas.openxmlformats.org/officeDocument/2006/relationships/image" Target="../media/image5.wmf"/><Relationship Id="rId3" Type="http://schemas.openxmlformats.org/officeDocument/2006/relationships/image" Target="../media/image4.wmf"/><Relationship Id="rId2" Type="http://schemas.openxmlformats.org/officeDocument/2006/relationships/image" Target="../media/image3.emf"/><Relationship Id="rId1" Type="http://schemas.openxmlformats.org/officeDocument/2006/relationships/image" Target="../media/image2.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0.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7282" name="Rectangle 7"/>
          <p:cNvSpPr txBox="1">
            <a:spLocks noGrp="1"/>
          </p:cNvSpPr>
          <p:nvPr>
            <p:ph type="sldNum" sz="quarter"/>
          </p:nvPr>
        </p:nvSpPr>
        <p:spPr>
          <a:xfrm>
            <a:off x="5797550" y="6743700"/>
            <a:ext cx="4435475" cy="354013"/>
          </a:xfrm>
          <a:prstGeom prst="rect">
            <a:avLst/>
          </a:prstGeom>
          <a:noFill/>
          <a:ln w="9525">
            <a:noFill/>
          </a:ln>
        </p:spPr>
        <p:txBody>
          <a:bodyPr lIns="99048" tIns="49524" rIns="99048" bIns="49524" anchor="b" anchorCtr="0"/>
          <a:p>
            <a:pPr lvl="0" algn="r" defTabSz="990600" eaLnBrk="1" hangingPunct="1"/>
            <a:fld id="{9A0DB2DC-4C9A-4742-B13C-FB6460FD3503}" type="slidenum">
              <a:rPr lang="en-US" altLang="zh-CN" sz="1300" dirty="0"/>
            </a:fld>
            <a:endParaRPr lang="en-US" altLang="zh-CN" sz="1300" dirty="0"/>
          </a:p>
        </p:txBody>
      </p:sp>
      <p:sp>
        <p:nvSpPr>
          <p:cNvPr id="97283" name="Rectangle 2"/>
          <p:cNvSpPr>
            <a:spLocks noRot="1" noTextEdit="1"/>
          </p:cNvSpPr>
          <p:nvPr>
            <p:ph type="sldImg"/>
          </p:nvPr>
        </p:nvSpPr>
        <p:spPr>
          <a:xfrm>
            <a:off x="3344863" y="533400"/>
            <a:ext cx="3549650" cy="2662238"/>
          </a:xfrm>
        </p:spPr>
      </p:sp>
      <p:sp>
        <p:nvSpPr>
          <p:cNvPr id="97284" name="Rectangle 3"/>
          <p:cNvSpPr>
            <a:spLocks noGrp="1"/>
          </p:cNvSpPr>
          <p:nvPr>
            <p:ph type="body" idx="1"/>
          </p:nvPr>
        </p:nvSpPr>
        <p:spPr>
          <a:xfrm>
            <a:off x="1363663" y="3370263"/>
            <a:ext cx="7507287" cy="3195637"/>
          </a:xfrm>
        </p:spPr>
        <p:txBody>
          <a:bodyPr wrap="square" lIns="99048" tIns="49524" rIns="99048" bIns="49524" anchor="t" anchorCtr="0"/>
          <a:p>
            <a:pPr lvl="0" eaLnBrk="1" hangingPunct="1"/>
            <a:r>
              <a:rPr lang="zh-CN" altLang="en-US" dirty="0"/>
              <a:t>下行法找最小割集</a:t>
            </a:r>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8306" name="Rectangle 7"/>
          <p:cNvSpPr txBox="1">
            <a:spLocks noGrp="1"/>
          </p:cNvSpPr>
          <p:nvPr>
            <p:ph type="sldNum" sz="quarter"/>
          </p:nvPr>
        </p:nvSpPr>
        <p:spPr>
          <a:xfrm>
            <a:off x="5797550" y="6743700"/>
            <a:ext cx="4435475" cy="354013"/>
          </a:xfrm>
          <a:prstGeom prst="rect">
            <a:avLst/>
          </a:prstGeom>
          <a:noFill/>
          <a:ln w="9525">
            <a:noFill/>
          </a:ln>
        </p:spPr>
        <p:txBody>
          <a:bodyPr lIns="99048" tIns="49524" rIns="99048" bIns="49524" anchor="b" anchorCtr="0"/>
          <a:p>
            <a:pPr lvl="0" algn="r" defTabSz="990600" eaLnBrk="1" hangingPunct="1"/>
            <a:fld id="{9A0DB2DC-4C9A-4742-B13C-FB6460FD3503}" type="slidenum">
              <a:rPr lang="en-US" altLang="zh-CN" sz="1300" dirty="0"/>
            </a:fld>
            <a:endParaRPr lang="en-US" altLang="zh-CN" sz="1300" dirty="0"/>
          </a:p>
        </p:txBody>
      </p:sp>
      <p:sp>
        <p:nvSpPr>
          <p:cNvPr id="98307" name="Rectangle 2"/>
          <p:cNvSpPr>
            <a:spLocks noRot="1" noTextEdit="1"/>
          </p:cNvSpPr>
          <p:nvPr>
            <p:ph type="sldImg"/>
          </p:nvPr>
        </p:nvSpPr>
        <p:spPr>
          <a:xfrm>
            <a:off x="3344863" y="533400"/>
            <a:ext cx="3549650" cy="2662238"/>
          </a:xfrm>
        </p:spPr>
      </p:sp>
      <p:sp>
        <p:nvSpPr>
          <p:cNvPr id="98308" name="Rectangle 3"/>
          <p:cNvSpPr>
            <a:spLocks noGrp="1"/>
          </p:cNvSpPr>
          <p:nvPr>
            <p:ph type="body" idx="1"/>
          </p:nvPr>
        </p:nvSpPr>
        <p:spPr>
          <a:xfrm>
            <a:off x="1363663" y="3370263"/>
            <a:ext cx="7507287" cy="3195637"/>
          </a:xfrm>
        </p:spPr>
        <p:txBody>
          <a:bodyPr wrap="square" lIns="99048" tIns="49524" rIns="99048" bIns="49524" anchor="t" anchorCtr="0"/>
          <a:p>
            <a:pPr lvl="0" eaLnBrk="1" hangingPunct="1"/>
            <a:r>
              <a:rPr lang="zh-CN" altLang="en-US" dirty="0"/>
              <a:t>下行法找最小割集</a:t>
            </a:r>
            <a:endParaRPr lang="zh-CN"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9330" name="Rectangle 7"/>
          <p:cNvSpPr txBox="1">
            <a:spLocks noGrp="1"/>
          </p:cNvSpPr>
          <p:nvPr>
            <p:ph type="sldNum" sz="quarter"/>
          </p:nvPr>
        </p:nvSpPr>
        <p:spPr>
          <a:xfrm>
            <a:off x="5797550" y="6743700"/>
            <a:ext cx="4435475" cy="354013"/>
          </a:xfrm>
          <a:prstGeom prst="rect">
            <a:avLst/>
          </a:prstGeom>
          <a:noFill/>
          <a:ln w="9525">
            <a:noFill/>
          </a:ln>
        </p:spPr>
        <p:txBody>
          <a:bodyPr lIns="99048" tIns="49524" rIns="99048" bIns="49524" anchor="b" anchorCtr="0"/>
          <a:p>
            <a:pPr lvl="0" algn="r" defTabSz="990600" eaLnBrk="1" hangingPunct="1"/>
            <a:fld id="{9A0DB2DC-4C9A-4742-B13C-FB6460FD3503}" type="slidenum">
              <a:rPr lang="en-US" altLang="zh-CN" sz="1300" dirty="0"/>
            </a:fld>
            <a:endParaRPr lang="en-US" altLang="zh-CN" sz="1300" dirty="0"/>
          </a:p>
        </p:txBody>
      </p:sp>
      <p:sp>
        <p:nvSpPr>
          <p:cNvPr id="99331" name="Rectangle 2"/>
          <p:cNvSpPr>
            <a:spLocks noRot="1" noTextEdit="1"/>
          </p:cNvSpPr>
          <p:nvPr>
            <p:ph type="sldImg"/>
          </p:nvPr>
        </p:nvSpPr>
        <p:spPr>
          <a:xfrm>
            <a:off x="3344863" y="533400"/>
            <a:ext cx="3549650" cy="2662238"/>
          </a:xfrm>
        </p:spPr>
      </p:sp>
      <p:sp>
        <p:nvSpPr>
          <p:cNvPr id="99332" name="Rectangle 3"/>
          <p:cNvSpPr>
            <a:spLocks noGrp="1"/>
          </p:cNvSpPr>
          <p:nvPr>
            <p:ph type="body" idx="1"/>
          </p:nvPr>
        </p:nvSpPr>
        <p:spPr>
          <a:xfrm>
            <a:off x="1363663" y="3370263"/>
            <a:ext cx="7507287" cy="3195637"/>
          </a:xfrm>
        </p:spPr>
        <p:txBody>
          <a:bodyPr wrap="square" lIns="99048" tIns="49524" rIns="99048" bIns="49524" anchor="t" anchorCtr="0"/>
          <a:p>
            <a:pPr lvl="0" eaLnBrk="1" hangingPunct="1"/>
            <a:r>
              <a:rPr lang="zh-CN" altLang="en-US" dirty="0"/>
              <a:t>下行法找最小割集</a:t>
            </a:r>
            <a:endParaRPr lang="zh-CN"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0354" name="Rectangle 7"/>
          <p:cNvSpPr txBox="1">
            <a:spLocks noGrp="1"/>
          </p:cNvSpPr>
          <p:nvPr>
            <p:ph type="sldNum" sz="quarter"/>
          </p:nvPr>
        </p:nvSpPr>
        <p:spPr>
          <a:xfrm>
            <a:off x="5797550" y="6743700"/>
            <a:ext cx="4435475" cy="354013"/>
          </a:xfrm>
          <a:prstGeom prst="rect">
            <a:avLst/>
          </a:prstGeom>
          <a:noFill/>
          <a:ln w="9525">
            <a:noFill/>
          </a:ln>
        </p:spPr>
        <p:txBody>
          <a:bodyPr lIns="99048" tIns="49524" rIns="99048" bIns="49524" anchor="b" anchorCtr="0"/>
          <a:p>
            <a:pPr lvl="0" algn="r" defTabSz="990600" eaLnBrk="1" hangingPunct="1"/>
            <a:fld id="{9A0DB2DC-4C9A-4742-B13C-FB6460FD3503}" type="slidenum">
              <a:rPr lang="en-US" altLang="zh-CN" sz="1300" dirty="0"/>
            </a:fld>
            <a:endParaRPr lang="en-US" altLang="zh-CN" sz="1300" dirty="0"/>
          </a:p>
        </p:txBody>
      </p:sp>
      <p:sp>
        <p:nvSpPr>
          <p:cNvPr id="100355" name="Rectangle 2"/>
          <p:cNvSpPr>
            <a:spLocks noRot="1" noTextEdit="1"/>
          </p:cNvSpPr>
          <p:nvPr>
            <p:ph type="sldImg"/>
          </p:nvPr>
        </p:nvSpPr>
        <p:spPr>
          <a:xfrm>
            <a:off x="3344863" y="533400"/>
            <a:ext cx="3549650" cy="2662238"/>
          </a:xfrm>
        </p:spPr>
      </p:sp>
      <p:sp>
        <p:nvSpPr>
          <p:cNvPr id="100356" name="Rectangle 3"/>
          <p:cNvSpPr>
            <a:spLocks noGrp="1"/>
          </p:cNvSpPr>
          <p:nvPr>
            <p:ph type="body" idx="1"/>
          </p:nvPr>
        </p:nvSpPr>
        <p:spPr>
          <a:xfrm>
            <a:off x="1363663" y="3370263"/>
            <a:ext cx="7507287" cy="3195637"/>
          </a:xfrm>
        </p:spPr>
        <p:txBody>
          <a:bodyPr wrap="square" lIns="99048" tIns="49524" rIns="99048" bIns="49524" anchor="t" anchorCtr="0"/>
          <a:p>
            <a:pPr lvl="0" eaLnBrk="1" hangingPunct="1"/>
            <a:r>
              <a:rPr lang="zh-CN" altLang="en-US" dirty="0"/>
              <a:t>故障树分析的作用、容错软件故障树分析  见</a:t>
            </a:r>
            <a:r>
              <a:rPr lang="en-US" altLang="zh-CN" dirty="0"/>
              <a:t>《</a:t>
            </a:r>
            <a:r>
              <a:rPr lang="zh-CN" altLang="en-US" dirty="0"/>
              <a:t>软件可靠性工程手册</a:t>
            </a:r>
            <a:r>
              <a:rPr lang="en-US" altLang="zh-CN" dirty="0"/>
              <a:t>》</a:t>
            </a:r>
            <a:endParaRPr lang="en-US" altLang="zh-CN"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en-US" dirty="0"/>
          </a:p>
        </p:txBody>
      </p:sp>
      <p:sp>
        <p:nvSpPr>
          <p:cNvPr id="4" name="Date Placeholder 3"/>
          <p:cNvSpPr>
            <a:spLocks noGrp="1"/>
          </p:cNvSpPr>
          <p:nvPr>
            <p:ph type="dt" sz="half" idx="10"/>
          </p:nvPr>
        </p:nvSpPr>
        <p:spPr/>
        <p:txBody>
          <a:bodyPr/>
          <a:lstStyle/>
          <a:p>
            <a:fld id="{0C1EFBB9-8D04-43DE-A59C-D9D9C885B1D2}"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A24D90DF-7CA0-4224-96EF-983A14E14138}"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35355"/>
          </a:xfrm>
        </p:spPr>
        <p:txBody>
          <a:bodyPr/>
          <a:lstStyle/>
          <a:p>
            <a:r>
              <a:rPr lang="zh-CN" altLang="en-US" smtClean="0"/>
              <a:t>单击此处编辑母版标题样式</a:t>
            </a:r>
            <a:endParaRPr lang="en-US" dirty="0"/>
          </a:p>
        </p:txBody>
      </p:sp>
      <p:sp>
        <p:nvSpPr>
          <p:cNvPr id="3" name="Content Placeholder 2"/>
          <p:cNvSpPr>
            <a:spLocks noGrp="1"/>
          </p:cNvSpPr>
          <p:nvPr>
            <p:ph idx="1"/>
          </p:nvPr>
        </p:nvSpPr>
        <p:spPr>
          <a:xfrm>
            <a:off x="838200" y="1538605"/>
            <a:ext cx="10515600" cy="4638675"/>
          </a:xfrm>
        </p:spPr>
        <p:txBody>
          <a:bodyPr/>
          <a:lstStyle>
            <a:lvl1pPr eaLnBrk="1" fontAlgn="auto" latinLnBrk="0" hangingPunct="1">
              <a:lnSpc>
                <a:spcPct val="130000"/>
              </a:lnSpc>
              <a:defRPr/>
            </a:lvl1pPr>
            <a:lvl2pPr eaLnBrk="1" fontAlgn="auto" latinLnBrk="0" hangingPunct="1">
              <a:lnSpc>
                <a:spcPct val="130000"/>
              </a:lnSpc>
              <a:defRPr/>
            </a:lvl2pPr>
            <a:lvl3pPr eaLnBrk="1" fontAlgn="auto" latinLnBrk="0" hangingPunct="1">
              <a:lnSpc>
                <a:spcPct val="130000"/>
              </a:lnSpc>
              <a:defRPr/>
            </a:lvl3pPr>
            <a:lvl4pPr eaLnBrk="1" fontAlgn="auto" latinLnBrk="0" hangingPunct="1">
              <a:lnSpc>
                <a:spcPct val="130000"/>
              </a:lnSpc>
              <a:defRPr/>
            </a:lvl4pPr>
            <a:lvl5pPr eaLnBrk="1" fontAlgn="auto" latinLnBrk="0" hangingPunct="1">
              <a:lnSpc>
                <a:spcPct val="130000"/>
              </a:lnSpc>
              <a:defRPr/>
            </a:lvl5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0C1EFBB9-8D04-43DE-A59C-D9D9C885B1D2}"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A24D90DF-7CA0-4224-96EF-983A14E14138}"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Date Placeholder 3"/>
          <p:cNvSpPr>
            <a:spLocks noGrp="1"/>
          </p:cNvSpPr>
          <p:nvPr>
            <p:ph type="dt" sz="half" idx="10"/>
          </p:nvPr>
        </p:nvSpPr>
        <p:spPr/>
        <p:txBody>
          <a:bodyPr/>
          <a:lstStyle/>
          <a:p>
            <a:fld id="{0C1EFBB9-8D04-43DE-A59C-D9D9C885B1D2}"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A24D90DF-7CA0-4224-96EF-983A14E14138}"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5" name="Date Placeholder 4"/>
          <p:cNvSpPr>
            <a:spLocks noGrp="1"/>
          </p:cNvSpPr>
          <p:nvPr>
            <p:ph type="dt" sz="half" idx="10"/>
          </p:nvPr>
        </p:nvSpPr>
        <p:spPr/>
        <p:txBody>
          <a:bodyPr/>
          <a:lstStyle/>
          <a:p>
            <a:fld id="{0C1EFBB9-8D04-43DE-A59C-D9D9C885B1D2}"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A24D90DF-7CA0-4224-96EF-983A14E14138}"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Content Placeholder 3"/>
          <p:cNvSpPr>
            <a:spLocks noGrp="1"/>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Content Placeholder 5"/>
          <p:cNvSpPr>
            <a:spLocks noGrp="1"/>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7" name="Date Placeholder 6"/>
          <p:cNvSpPr>
            <a:spLocks noGrp="1"/>
          </p:cNvSpPr>
          <p:nvPr>
            <p:ph type="dt" sz="half" idx="10"/>
          </p:nvPr>
        </p:nvSpPr>
        <p:spPr/>
        <p:txBody>
          <a:bodyPr/>
          <a:lstStyle/>
          <a:p>
            <a:fld id="{0C1EFBB9-8D04-43DE-A59C-D9D9C885B1D2}" type="datetimeFigureOut">
              <a:rPr lang="zh-CN" altLang="en-US" smtClean="0"/>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A24D90DF-7CA0-4224-96EF-983A14E14138}"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Date Placeholder 2"/>
          <p:cNvSpPr>
            <a:spLocks noGrp="1"/>
          </p:cNvSpPr>
          <p:nvPr>
            <p:ph type="dt" sz="half" idx="10"/>
          </p:nvPr>
        </p:nvSpPr>
        <p:spPr/>
        <p:txBody>
          <a:bodyPr/>
          <a:lstStyle/>
          <a:p>
            <a:fld id="{0C1EFBB9-8D04-43DE-A59C-D9D9C885B1D2}" type="datetimeFigureOut">
              <a:rPr lang="zh-CN" altLang="en-US" smtClean="0"/>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A24D90DF-7CA0-4224-96EF-983A14E14138}"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C1EFBB9-8D04-43DE-A59C-D9D9C885B1D2}" type="datetimeFigureOut">
              <a:rPr lang="zh-CN" altLang="en-US" smtClean="0"/>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A24D90DF-7CA0-4224-96EF-983A14E14138}"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Date Placeholder 4"/>
          <p:cNvSpPr>
            <a:spLocks noGrp="1"/>
          </p:cNvSpPr>
          <p:nvPr>
            <p:ph type="dt" sz="half" idx="10"/>
          </p:nvPr>
        </p:nvSpPr>
        <p:spPr/>
        <p:txBody>
          <a:bodyPr/>
          <a:lstStyle/>
          <a:p>
            <a:fld id="{0C1EFBB9-8D04-43DE-A59C-D9D9C885B1D2}"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A24D90DF-7CA0-4224-96EF-983A14E14138}"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smtClean="0"/>
              <a:t>单击图标添加图片</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Date Placeholder 4"/>
          <p:cNvSpPr>
            <a:spLocks noGrp="1"/>
          </p:cNvSpPr>
          <p:nvPr>
            <p:ph type="dt" sz="half" idx="10"/>
          </p:nvPr>
        </p:nvSpPr>
        <p:spPr/>
        <p:txBody>
          <a:bodyPr/>
          <a:lstStyle/>
          <a:p>
            <a:fld id="{0C1EFBB9-8D04-43DE-A59C-D9D9C885B1D2}"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A24D90DF-7CA0-4224-96EF-983A14E14138}"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0C1EFBB9-8D04-43DE-A59C-D9D9C885B1D2}"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A24D90DF-7CA0-4224-96EF-983A14E14138}"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0C1EFBB9-8D04-43DE-A59C-D9D9C885B1D2}"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A24D90DF-7CA0-4224-96EF-983A14E14138}"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r>
              <a:rPr lang="zh-CN" altLang="en-US" smtClean="0"/>
              <a:t>单击此处编辑母版标题样式</a:t>
            </a:r>
            <a:endParaRPr lang="zh-CN" altLang="en-US"/>
          </a:p>
        </p:txBody>
      </p:sp>
      <p:sp>
        <p:nvSpPr>
          <p:cNvPr id="3" name="表格占位符 2"/>
          <p:cNvSpPr>
            <a:spLocks noGrp="1"/>
          </p:cNvSpPr>
          <p:nvPr>
            <p:ph type="tbl" idx="1"/>
          </p:nvPr>
        </p:nvSpPr>
        <p:spPr>
          <a:xfrm>
            <a:off x="609600" y="1600201"/>
            <a:ext cx="10972800" cy="4525963"/>
          </a:xfrm>
        </p:spPr>
        <p:txBody>
          <a:bodyPr/>
          <a:lstStyle/>
          <a:p>
            <a:pPr lvl="0"/>
            <a:endParaRPr lang="zh-CN" altLang="en-US" noProof="0" smtClean="0"/>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C1EFBB9-8D04-43DE-A59C-D9D9C885B1D2}" type="datetimeFigureOut">
              <a:rPr lang="zh-CN" altLang="en-US" smtClean="0"/>
            </a:fld>
            <a:endParaRPr lang="zh-CN"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24D90DF-7CA0-4224-96EF-983A14E14138}"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slide" Target="slide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tags" Target="../tags/tag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1.emf"/><Relationship Id="rId1" Type="http://schemas.openxmlformats.org/officeDocument/2006/relationships/oleObject" Target="../embeddings/oleObject1.bin"/></Relationships>
</file>

<file path=ppt/slides/_rels/slide35.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2.xml"/><Relationship Id="rId2" Type="http://schemas.openxmlformats.org/officeDocument/2006/relationships/image" Target="../media/image1.emf"/><Relationship Id="rId1" Type="http://schemas.openxmlformats.org/officeDocument/2006/relationships/oleObject" Target="../embeddings/oleObject2.bin"/></Relationships>
</file>

<file path=ppt/slides/_rels/slide36.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2.xml"/><Relationship Id="rId2" Type="http://schemas.openxmlformats.org/officeDocument/2006/relationships/image" Target="../media/image1.emf"/><Relationship Id="rId1" Type="http://schemas.openxmlformats.org/officeDocument/2006/relationships/oleObject" Target="../embeddings/oleObject3.bin"/></Relationships>
</file>

<file path=ppt/slides/_rels/slide37.xml.rels><?xml version="1.0" encoding="UTF-8" standalone="yes"?>
<Relationships xmlns="http://schemas.openxmlformats.org/package/2006/relationships"><Relationship Id="rId9" Type="http://schemas.openxmlformats.org/officeDocument/2006/relationships/oleObject" Target="../embeddings/oleObject8.bin"/><Relationship Id="rId8" Type="http://schemas.openxmlformats.org/officeDocument/2006/relationships/image" Target="../media/image5.wmf"/><Relationship Id="rId7" Type="http://schemas.openxmlformats.org/officeDocument/2006/relationships/oleObject" Target="../embeddings/oleObject7.bin"/><Relationship Id="rId6" Type="http://schemas.openxmlformats.org/officeDocument/2006/relationships/image" Target="../media/image4.wmf"/><Relationship Id="rId5" Type="http://schemas.openxmlformats.org/officeDocument/2006/relationships/oleObject" Target="../embeddings/oleObject6.bin"/><Relationship Id="rId4" Type="http://schemas.openxmlformats.org/officeDocument/2006/relationships/image" Target="../media/image3.emf"/><Relationship Id="rId3" Type="http://schemas.openxmlformats.org/officeDocument/2006/relationships/oleObject" Target="../embeddings/oleObject5.bin"/><Relationship Id="rId2" Type="http://schemas.openxmlformats.org/officeDocument/2006/relationships/image" Target="../media/image2.emf"/><Relationship Id="rId16" Type="http://schemas.openxmlformats.org/officeDocument/2006/relationships/vmlDrawing" Target="../drawings/vmlDrawing4.vml"/><Relationship Id="rId15" Type="http://schemas.openxmlformats.org/officeDocument/2006/relationships/slideLayout" Target="../slideLayouts/slideLayout2.xml"/><Relationship Id="rId14" Type="http://schemas.openxmlformats.org/officeDocument/2006/relationships/image" Target="../media/image8.wmf"/><Relationship Id="rId13" Type="http://schemas.openxmlformats.org/officeDocument/2006/relationships/oleObject" Target="../embeddings/oleObject10.bin"/><Relationship Id="rId12" Type="http://schemas.openxmlformats.org/officeDocument/2006/relationships/image" Target="../media/image7.wmf"/><Relationship Id="rId11" Type="http://schemas.openxmlformats.org/officeDocument/2006/relationships/oleObject" Target="../embeddings/oleObject9.bin"/><Relationship Id="rId10" Type="http://schemas.openxmlformats.org/officeDocument/2006/relationships/image" Target="../media/image6.wmf"/><Relationship Id="rId1" Type="http://schemas.openxmlformats.org/officeDocument/2006/relationships/oleObject" Target="../embeddings/oleObject4.bin"/></Relationships>
</file>

<file path=ppt/slides/_rels/slide38.xml.rels><?xml version="1.0" encoding="UTF-8" standalone="yes"?>
<Relationships xmlns="http://schemas.openxmlformats.org/package/2006/relationships"><Relationship Id="rId4" Type="http://schemas.openxmlformats.org/officeDocument/2006/relationships/vmlDrawing" Target="../drawings/vmlDrawing5.vml"/><Relationship Id="rId3" Type="http://schemas.openxmlformats.org/officeDocument/2006/relationships/slideLayout" Target="../slideLayouts/slideLayout2.xml"/><Relationship Id="rId2" Type="http://schemas.openxmlformats.org/officeDocument/2006/relationships/image" Target="../media/image9.emf"/><Relationship Id="rId1" Type="http://schemas.openxmlformats.org/officeDocument/2006/relationships/oleObject" Target="../embeddings/oleObject11.bin"/></Relationships>
</file>

<file path=ppt/slides/_rels/slide39.xml.rels><?xml version="1.0" encoding="UTF-8" standalone="yes"?>
<Relationships xmlns="http://schemas.openxmlformats.org/package/2006/relationships"><Relationship Id="rId4" Type="http://schemas.openxmlformats.org/officeDocument/2006/relationships/vmlDrawing" Target="../drawings/vmlDrawing6.vml"/><Relationship Id="rId3" Type="http://schemas.openxmlformats.org/officeDocument/2006/relationships/slideLayout" Target="../slideLayouts/slideLayout2.xml"/><Relationship Id="rId2" Type="http://schemas.openxmlformats.org/officeDocument/2006/relationships/image" Target="../media/image1.emf"/><Relationship Id="rId1" Type="http://schemas.openxmlformats.org/officeDocument/2006/relationships/oleObject" Target="../embeddings/oleObject12.bin"/></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vmlDrawing" Target="../drawings/vmlDrawing7.vml"/><Relationship Id="rId3" Type="http://schemas.openxmlformats.org/officeDocument/2006/relationships/slideLayout" Target="../slideLayouts/slideLayout4.xml"/><Relationship Id="rId2" Type="http://schemas.openxmlformats.org/officeDocument/2006/relationships/image" Target="../media/image10.wmf"/><Relationship Id="rId1" Type="http://schemas.openxmlformats.org/officeDocument/2006/relationships/oleObject" Target="../embeddings/oleObject13.bin"/></Relationships>
</file>

<file path=ppt/slides/_rels/slide43.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vmlDrawing" Target="../drawings/vmlDrawing8.vml"/><Relationship Id="rId3" Type="http://schemas.openxmlformats.org/officeDocument/2006/relationships/slideLayout" Target="../slideLayouts/slideLayout4.xml"/><Relationship Id="rId2" Type="http://schemas.openxmlformats.org/officeDocument/2006/relationships/image" Target="../media/image10.wmf"/><Relationship Id="rId1" Type="http://schemas.openxmlformats.org/officeDocument/2006/relationships/oleObject" Target="../embeddings/oleObject14.bin"/></Relationships>
</file>

<file path=ppt/slides/_rels/slide44.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vmlDrawing" Target="../drawings/vmlDrawing9.vml"/><Relationship Id="rId3" Type="http://schemas.openxmlformats.org/officeDocument/2006/relationships/slideLayout" Target="../slideLayouts/slideLayout4.xml"/><Relationship Id="rId2" Type="http://schemas.openxmlformats.org/officeDocument/2006/relationships/image" Target="../media/image10.wmf"/><Relationship Id="rId1" Type="http://schemas.openxmlformats.org/officeDocument/2006/relationships/oleObject" Target="../embeddings/oleObject15.bin"/></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tags" Target="../tags/tag3.xml"/></Relationships>
</file>

<file path=ppt/slides/_rels/slide47.xml.rels><?xml version="1.0" encoding="UTF-8" standalone="yes"?>
<Relationships xmlns="http://schemas.openxmlformats.org/package/2006/relationships"><Relationship Id="rId4" Type="http://schemas.openxmlformats.org/officeDocument/2006/relationships/slideLayout" Target="../slideLayouts/slideLayout12.xml"/><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image" Target="../media/image11.png"/></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smtClean="0"/>
              <a:t>第</a:t>
            </a:r>
            <a:r>
              <a:rPr lang="en-US" altLang="zh-CN" dirty="0" smtClean="0"/>
              <a:t>4</a:t>
            </a:r>
            <a:r>
              <a:rPr lang="zh-CN" altLang="en-US" dirty="0" smtClean="0"/>
              <a:t>章 软件可靠性</a:t>
            </a:r>
            <a:r>
              <a:rPr lang="zh-CN" altLang="en-US" dirty="0" smtClean="0"/>
              <a:t>分析</a:t>
            </a:r>
            <a:endParaRPr lang="zh-CN" altLang="en-US" dirty="0" smtClean="0"/>
          </a:p>
        </p:txBody>
      </p:sp>
      <p:sp>
        <p:nvSpPr>
          <p:cNvPr id="3" name="副标题 2"/>
          <p:cNvSpPr>
            <a:spLocks noGrp="1"/>
          </p:cNvSpPr>
          <p:nvPr>
            <p:ph type="subTitle" idx="1"/>
          </p:nvPr>
        </p:nvSpPr>
        <p:spPr>
          <a:xfrm>
            <a:off x="2667000" y="3934558"/>
            <a:ext cx="6858000" cy="866042"/>
          </a:xfrm>
        </p:spPr>
        <p:txBody>
          <a:bodyPr>
            <a:normAutofit lnSpcReduction="10000"/>
          </a:bodyPr>
          <a:lstStyle/>
          <a:p>
            <a:r>
              <a:rPr lang="zh-CN" altLang="en-US" dirty="0" smtClean="0"/>
              <a:t>中国石油大学（华东）</a:t>
            </a:r>
            <a:endParaRPr lang="zh-CN" altLang="en-US" dirty="0" smtClean="0"/>
          </a:p>
          <a:p>
            <a:r>
              <a:rPr lang="zh-CN" altLang="en-US" dirty="0"/>
              <a:t>青岛软件学院、计算机科学与技术</a:t>
            </a:r>
            <a:r>
              <a:rPr lang="zh-CN" altLang="en-US" dirty="0"/>
              <a:t>学院</a:t>
            </a:r>
            <a:endParaRPr lang="zh-CN"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solidFill>
                  <a:srgbClr val="C00000"/>
                </a:solidFill>
              </a:rPr>
              <a:t>内容</a:t>
            </a:r>
            <a:endParaRPr lang="zh-CN" altLang="en-US" dirty="0" smtClean="0">
              <a:solidFill>
                <a:srgbClr val="C00000"/>
              </a:solidFill>
            </a:endParaRPr>
          </a:p>
        </p:txBody>
      </p:sp>
      <p:sp>
        <p:nvSpPr>
          <p:cNvPr id="3" name="内容占位符 2"/>
          <p:cNvSpPr>
            <a:spLocks noGrp="1"/>
          </p:cNvSpPr>
          <p:nvPr>
            <p:ph idx="1"/>
          </p:nvPr>
        </p:nvSpPr>
        <p:spPr/>
        <p:txBody>
          <a:bodyPr>
            <a:normAutofit lnSpcReduction="10000"/>
          </a:bodyPr>
          <a:lstStyle/>
          <a:p>
            <a:pPr marL="0" indent="0">
              <a:buNone/>
            </a:pPr>
            <a:r>
              <a:rPr lang="en-US" altLang="zh-CN" dirty="0" smtClean="0"/>
              <a:t>1</a:t>
            </a:r>
            <a:r>
              <a:rPr lang="en-US" altLang="zh-CN" dirty="0"/>
              <a:t>. </a:t>
            </a:r>
            <a:r>
              <a:rPr lang="zh-CN" altLang="en-US" dirty="0">
                <a:sym typeface="+mn-ea"/>
              </a:rPr>
              <a:t>软件失效模式和影响分析（</a:t>
            </a:r>
            <a:r>
              <a:rPr lang="en-US" altLang="zh-CN" dirty="0">
                <a:sym typeface="+mn-ea"/>
              </a:rPr>
              <a:t>SFMEA</a:t>
            </a:r>
            <a:r>
              <a:rPr lang="zh-CN" altLang="en-US" dirty="0">
                <a:sym typeface="+mn-ea"/>
              </a:rPr>
              <a:t>）</a:t>
            </a:r>
            <a:endParaRPr lang="zh-CN" altLang="en-US" dirty="0">
              <a:sym typeface="+mn-ea"/>
            </a:endParaRPr>
          </a:p>
          <a:p>
            <a:pPr lvl="1"/>
            <a:r>
              <a:rPr lang="en-US" altLang="zh-CN" dirty="0"/>
              <a:t>System Failure Mode and Effects Analysis</a:t>
            </a:r>
            <a:endParaRPr lang="en-US" altLang="zh-CN" dirty="0"/>
          </a:p>
          <a:p>
            <a:pPr lvl="1"/>
            <a:endParaRPr lang="en-US" altLang="zh-CN" dirty="0"/>
          </a:p>
          <a:p>
            <a:pPr marL="0" indent="0">
              <a:buNone/>
            </a:pPr>
            <a:r>
              <a:rPr lang="en-US" altLang="zh-CN" dirty="0"/>
              <a:t>2. </a:t>
            </a:r>
            <a:r>
              <a:rPr lang="zh-CN" altLang="en-US" dirty="0">
                <a:sym typeface="+mn-ea"/>
              </a:rPr>
              <a:t>软件故障树分析（</a:t>
            </a:r>
            <a:r>
              <a:rPr lang="en-US" altLang="zh-CN" dirty="0">
                <a:sym typeface="+mn-ea"/>
              </a:rPr>
              <a:t>SFTA</a:t>
            </a:r>
            <a:r>
              <a:rPr lang="zh-CN" altLang="en-US" dirty="0">
                <a:sym typeface="+mn-ea"/>
              </a:rPr>
              <a:t>）</a:t>
            </a:r>
            <a:endParaRPr lang="zh-CN" altLang="en-US" dirty="0">
              <a:sym typeface="+mn-ea"/>
            </a:endParaRPr>
          </a:p>
          <a:p>
            <a:pPr lvl="1"/>
            <a:r>
              <a:rPr lang="en-US" altLang="zh-CN" dirty="0"/>
              <a:t>Software Fault Tree Analysis</a:t>
            </a:r>
            <a:endParaRPr lang="zh-CN"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dirty="0" smtClean="0">
                <a:solidFill>
                  <a:srgbClr val="C00000"/>
                </a:solidFill>
              </a:rPr>
              <a:t>引言</a:t>
            </a:r>
            <a:endParaRPr lang="zh-CN" altLang="en-US" dirty="0" smtClean="0">
              <a:solidFill>
                <a:srgbClr val="C00000"/>
              </a:solidFill>
            </a:endParaRPr>
          </a:p>
        </p:txBody>
      </p:sp>
      <p:sp>
        <p:nvSpPr>
          <p:cNvPr id="3" name="内容占位符 2"/>
          <p:cNvSpPr>
            <a:spLocks noGrp="1"/>
          </p:cNvSpPr>
          <p:nvPr>
            <p:ph idx="1"/>
          </p:nvPr>
        </p:nvSpPr>
        <p:spPr/>
        <p:txBody>
          <a:bodyPr/>
          <a:p>
            <a:r>
              <a:rPr lang="zh-CN" altLang="en-US" dirty="0">
                <a:sym typeface="+mn-ea"/>
              </a:rPr>
              <a:t>软件可靠性分析的作用</a:t>
            </a:r>
            <a:endParaRPr lang="zh-CN" altLang="en-US" dirty="0">
              <a:sym typeface="+mn-ea"/>
            </a:endParaRPr>
          </a:p>
          <a:p>
            <a:pPr lvl="1">
              <a:buFont typeface="Arial" panose="020B0604020202020204" pitchFamily="34" charset="0"/>
              <a:buChar char="•"/>
            </a:pPr>
            <a:r>
              <a:rPr lang="zh-CN" altLang="en-US" dirty="0">
                <a:sym typeface="+mn-ea"/>
              </a:rPr>
              <a:t>发现设计缺陷</a:t>
            </a:r>
            <a:endParaRPr lang="zh-CN" altLang="en-US" dirty="0"/>
          </a:p>
          <a:p>
            <a:pPr lvl="1">
              <a:buFont typeface="Arial" panose="020B0604020202020204" pitchFamily="34" charset="0"/>
              <a:buChar char="•"/>
            </a:pPr>
            <a:r>
              <a:rPr lang="zh-CN" altLang="en-US" dirty="0">
                <a:sym typeface="+mn-ea"/>
              </a:rPr>
              <a:t>指导软件设计</a:t>
            </a:r>
            <a:endParaRPr lang="zh-CN" altLang="en-US" dirty="0"/>
          </a:p>
          <a:p>
            <a:pPr lvl="1">
              <a:buFont typeface="Arial" panose="020B0604020202020204" pitchFamily="34" charset="0"/>
              <a:buChar char="•"/>
            </a:pPr>
            <a:r>
              <a:rPr lang="zh-CN" altLang="en-US" dirty="0">
                <a:sym typeface="+mn-ea"/>
              </a:rPr>
              <a:t>指导软件测试</a:t>
            </a:r>
            <a:r>
              <a:rPr lang="zh-CN" altLang="en-US" dirty="0">
                <a:sym typeface="+mn-ea"/>
              </a:rPr>
              <a:t>         </a:t>
            </a:r>
            <a:endParaRPr lang="zh-CN" altLang="en-US" dirty="0">
              <a:sym typeface="+mn-ea"/>
            </a:endParaRPr>
          </a:p>
          <a:p>
            <a:endParaRPr lang="zh-CN"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dirty="0" smtClean="0">
                <a:solidFill>
                  <a:srgbClr val="C00000"/>
                </a:solidFill>
              </a:rPr>
              <a:t>引言</a:t>
            </a:r>
            <a:endParaRPr lang="zh-CN" altLang="en-US" dirty="0" smtClean="0">
              <a:solidFill>
                <a:srgbClr val="C00000"/>
              </a:solidFill>
            </a:endParaRPr>
          </a:p>
        </p:txBody>
      </p:sp>
      <p:sp>
        <p:nvSpPr>
          <p:cNvPr id="3" name="内容占位符 2"/>
          <p:cNvSpPr>
            <a:spLocks noGrp="1"/>
          </p:cNvSpPr>
          <p:nvPr>
            <p:ph idx="1"/>
          </p:nvPr>
        </p:nvSpPr>
        <p:spPr/>
        <p:txBody>
          <a:bodyPr/>
          <a:p>
            <a:r>
              <a:rPr lang="zh-CN" altLang="en-US"/>
              <a:t>软件可靠性</a:t>
            </a:r>
            <a:r>
              <a:rPr lang="zh-CN" altLang="en-US"/>
              <a:t>分析方法</a:t>
            </a:r>
            <a:endParaRPr lang="zh-CN" altLang="en-US"/>
          </a:p>
          <a:p>
            <a:pPr lvl="1"/>
            <a:r>
              <a:rPr lang="zh-CN" altLang="en-US" dirty="0">
                <a:sym typeface="+mn-ea"/>
              </a:rPr>
              <a:t>软件失效模式和影响分析（</a:t>
            </a:r>
            <a:r>
              <a:rPr lang="en-US" altLang="zh-CN" dirty="0">
                <a:sym typeface="+mn-ea"/>
              </a:rPr>
              <a:t>SFMEA</a:t>
            </a:r>
            <a:r>
              <a:rPr lang="zh-CN" altLang="en-US" dirty="0">
                <a:sym typeface="+mn-ea"/>
              </a:rPr>
              <a:t>）</a:t>
            </a:r>
            <a:endParaRPr lang="zh-CN" altLang="en-US" dirty="0"/>
          </a:p>
          <a:p>
            <a:pPr lvl="1"/>
            <a:r>
              <a:rPr lang="zh-CN" altLang="en-US" dirty="0">
                <a:sym typeface="+mn-ea"/>
              </a:rPr>
              <a:t>软件故障树分析（</a:t>
            </a:r>
            <a:r>
              <a:rPr lang="en-US" altLang="zh-CN" dirty="0">
                <a:sym typeface="+mn-ea"/>
              </a:rPr>
              <a:t>SFTA</a:t>
            </a:r>
            <a:r>
              <a:rPr lang="zh-CN" altLang="en-US" dirty="0">
                <a:sym typeface="+mn-ea"/>
              </a:rPr>
              <a:t>）</a:t>
            </a:r>
            <a:endParaRPr lang="zh-CN" altLang="en-US" dirty="0"/>
          </a:p>
          <a:p>
            <a:pPr lvl="1"/>
            <a:r>
              <a:rPr lang="zh-CN" altLang="en-US" dirty="0">
                <a:sym typeface="+mn-ea"/>
              </a:rPr>
              <a:t>软件</a:t>
            </a:r>
            <a:r>
              <a:rPr lang="en-US" altLang="zh-CN" dirty="0">
                <a:sym typeface="+mn-ea"/>
              </a:rPr>
              <a:t>Petri</a:t>
            </a:r>
            <a:r>
              <a:rPr lang="zh-CN" altLang="en-US" dirty="0">
                <a:sym typeface="+mn-ea"/>
              </a:rPr>
              <a:t>网分析法</a:t>
            </a:r>
            <a:endParaRPr lang="zh-CN" altLang="en-US" dirty="0"/>
          </a:p>
          <a:p>
            <a:pPr lvl="1"/>
            <a:r>
              <a:rPr lang="zh-CN" altLang="en-US" dirty="0">
                <a:sym typeface="+mn-ea"/>
              </a:rPr>
              <a:t>软件潜藏分析法</a:t>
            </a:r>
            <a:r>
              <a:rPr lang="en-US" altLang="zh-CN" dirty="0">
                <a:sym typeface="+mn-ea"/>
              </a:rPr>
              <a:t>(SSCA)</a:t>
            </a:r>
            <a:endParaRPr lang="en-US" altLang="zh-CN" dirty="0">
              <a:sym typeface="+mn-ea"/>
            </a:endParaRPr>
          </a:p>
          <a:p>
            <a:pPr lvl="1"/>
            <a:r>
              <a:rPr lang="en-US" altLang="zh-CN" dirty="0">
                <a:sym typeface="+mn-ea"/>
              </a:rPr>
              <a:t>......</a:t>
            </a:r>
            <a:endParaRPr lang="en-US" altLang="zh-CN" dirty="0"/>
          </a:p>
          <a:p>
            <a:endParaRPr lang="zh-CN"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dirty="0" smtClean="0">
                <a:solidFill>
                  <a:srgbClr val="C00000"/>
                </a:solidFill>
              </a:rPr>
              <a:t>4.1 </a:t>
            </a:r>
            <a:r>
              <a:rPr lang="zh-CN" altLang="en-US" dirty="0" smtClean="0">
                <a:solidFill>
                  <a:srgbClr val="C00000"/>
                </a:solidFill>
                <a:sym typeface="+mn-ea"/>
              </a:rPr>
              <a:t>软件失效模式和影响分析（SFMEA）</a:t>
            </a:r>
            <a:endParaRPr lang="en-US" altLang="zh-CN"/>
          </a:p>
        </p:txBody>
      </p:sp>
      <p:sp>
        <p:nvSpPr>
          <p:cNvPr id="3" name="内容占位符 2"/>
          <p:cNvSpPr>
            <a:spLocks noGrp="1"/>
          </p:cNvSpPr>
          <p:nvPr>
            <p:ph idx="1"/>
          </p:nvPr>
        </p:nvSpPr>
        <p:spPr/>
        <p:txBody>
          <a:bodyPr/>
          <a:p>
            <a:r>
              <a:rPr lang="zh-CN" altLang="en-US" b="1" dirty="0">
                <a:solidFill>
                  <a:srgbClr val="FF0000"/>
                </a:solidFill>
                <a:sym typeface="+mn-ea"/>
              </a:rPr>
              <a:t>软件失效模式和影响分析</a:t>
            </a:r>
            <a:r>
              <a:rPr lang="zh-CN" altLang="en-US" dirty="0">
                <a:sym typeface="+mn-ea"/>
              </a:rPr>
              <a:t>（</a:t>
            </a:r>
            <a:r>
              <a:rPr lang="en-US" altLang="zh-CN" dirty="0">
                <a:sym typeface="+mn-ea"/>
              </a:rPr>
              <a:t>SFMEA</a:t>
            </a:r>
            <a:r>
              <a:rPr lang="zh-CN" altLang="en-US" dirty="0">
                <a:sym typeface="+mn-ea"/>
              </a:rPr>
              <a:t>）是在软件开发阶段的早期</a:t>
            </a:r>
            <a:r>
              <a:rPr lang="en-US" altLang="zh-CN" dirty="0">
                <a:sym typeface="+mn-ea"/>
              </a:rPr>
              <a:t>:</a:t>
            </a:r>
            <a:endParaRPr lang="en-US" altLang="zh-CN" dirty="0">
              <a:sym typeface="+mn-ea"/>
            </a:endParaRPr>
          </a:p>
          <a:p>
            <a:pPr marL="914400" lvl="1" indent="-457200">
              <a:buFont typeface="+mj-ea"/>
              <a:buAutoNum type="circleNumDbPlain"/>
            </a:pPr>
            <a:r>
              <a:rPr lang="zh-CN" altLang="en-US" dirty="0">
                <a:sym typeface="+mn-ea"/>
              </a:rPr>
              <a:t>通过识别软件</a:t>
            </a:r>
            <a:r>
              <a:rPr lang="zh-CN" altLang="en-US" b="1" dirty="0">
                <a:solidFill>
                  <a:srgbClr val="0070C0"/>
                </a:solidFill>
                <a:sym typeface="+mn-ea"/>
              </a:rPr>
              <a:t>失效模式</a:t>
            </a:r>
            <a:endParaRPr lang="zh-CN" altLang="en-US" dirty="0">
              <a:sym typeface="+mn-ea"/>
            </a:endParaRPr>
          </a:p>
          <a:p>
            <a:pPr marL="914400" lvl="1" indent="-457200">
              <a:buFont typeface="+mj-ea"/>
              <a:buAutoNum type="circleNumDbPlain"/>
            </a:pPr>
            <a:r>
              <a:rPr lang="zh-CN" altLang="en-US" dirty="0">
                <a:sym typeface="+mn-ea"/>
              </a:rPr>
              <a:t>分析造成的</a:t>
            </a:r>
            <a:r>
              <a:rPr lang="zh-CN" altLang="en-US" b="1" dirty="0">
                <a:solidFill>
                  <a:srgbClr val="0070C0"/>
                </a:solidFill>
                <a:sym typeface="+mn-ea"/>
              </a:rPr>
              <a:t>后果</a:t>
            </a:r>
            <a:endParaRPr lang="zh-CN" altLang="en-US" dirty="0">
              <a:sym typeface="+mn-ea"/>
            </a:endParaRPr>
          </a:p>
          <a:p>
            <a:pPr marL="914400" lvl="1" indent="-457200">
              <a:buFont typeface="+mj-ea"/>
              <a:buAutoNum type="circleNumDbPlain"/>
            </a:pPr>
            <a:r>
              <a:rPr lang="zh-CN" altLang="en-US" dirty="0">
                <a:sym typeface="+mn-ea"/>
              </a:rPr>
              <a:t>研究分析各种失效模式产生的</a:t>
            </a:r>
            <a:r>
              <a:rPr lang="zh-CN" altLang="en-US" b="1" dirty="0">
                <a:solidFill>
                  <a:srgbClr val="0070C0"/>
                </a:solidFill>
                <a:sym typeface="+mn-ea"/>
              </a:rPr>
              <a:t>原因</a:t>
            </a:r>
            <a:endParaRPr lang="zh-CN" altLang="en-US" dirty="0">
              <a:sym typeface="+mn-ea"/>
            </a:endParaRPr>
          </a:p>
          <a:p>
            <a:pPr marL="914400" lvl="1" indent="-457200">
              <a:buFont typeface="+mj-ea"/>
              <a:buAutoNum type="circleNumDbPlain"/>
            </a:pPr>
            <a:r>
              <a:rPr lang="zh-CN" altLang="en-US" dirty="0">
                <a:sym typeface="+mn-ea"/>
              </a:rPr>
              <a:t>寻找消除和减少其有害后果的</a:t>
            </a:r>
            <a:r>
              <a:rPr lang="zh-CN" altLang="en-US" b="1" dirty="0">
                <a:solidFill>
                  <a:srgbClr val="0070C0"/>
                </a:solidFill>
                <a:sym typeface="+mn-ea"/>
              </a:rPr>
              <a:t>方法</a:t>
            </a:r>
            <a:r>
              <a:rPr lang="zh-CN" altLang="en-US" dirty="0">
                <a:sym typeface="+mn-ea"/>
              </a:rPr>
              <a:t>，以尽早发现潜在的问题</a:t>
            </a:r>
            <a:endParaRPr lang="zh-CN" altLang="en-US" dirty="0">
              <a:sym typeface="+mn-ea"/>
            </a:endParaRPr>
          </a:p>
          <a:p>
            <a:pPr marL="914400" lvl="1" indent="-457200">
              <a:buFont typeface="+mj-ea"/>
              <a:buAutoNum type="circleNumDbPlain"/>
            </a:pPr>
            <a:r>
              <a:rPr lang="zh-CN" altLang="en-US" dirty="0">
                <a:sym typeface="+mn-ea"/>
              </a:rPr>
              <a:t>并采取相应的</a:t>
            </a:r>
            <a:r>
              <a:rPr lang="zh-CN" altLang="en-US" b="1" dirty="0">
                <a:solidFill>
                  <a:srgbClr val="0070C0"/>
                </a:solidFill>
                <a:sym typeface="+mn-ea"/>
              </a:rPr>
              <a:t>措施</a:t>
            </a:r>
            <a:r>
              <a:rPr lang="zh-CN" altLang="en-US" dirty="0">
                <a:sym typeface="+mn-ea"/>
              </a:rPr>
              <a:t>，从而提高软件的可靠性和安全性</a:t>
            </a:r>
            <a:endParaRPr lang="en-US" altLang="zh-C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dirty="0" smtClean="0">
                <a:solidFill>
                  <a:srgbClr val="C00000"/>
                </a:solidFill>
                <a:sym typeface="+mn-ea"/>
              </a:rPr>
              <a:t>4.1 软件失效模式和影响分析（SFMEA）</a:t>
            </a:r>
            <a:endParaRPr lang="zh-CN" altLang="en-US"/>
          </a:p>
        </p:txBody>
      </p:sp>
      <p:sp>
        <p:nvSpPr>
          <p:cNvPr id="3" name="内容占位符 2"/>
          <p:cNvSpPr>
            <a:spLocks noGrp="1"/>
          </p:cNvSpPr>
          <p:nvPr>
            <p:ph idx="1"/>
          </p:nvPr>
        </p:nvSpPr>
        <p:spPr/>
        <p:txBody>
          <a:bodyPr>
            <a:normAutofit/>
          </a:bodyPr>
          <a:p>
            <a:r>
              <a:rPr lang="en-US" altLang="zh-CN" dirty="0">
                <a:sym typeface="+mn-ea"/>
              </a:rPr>
              <a:t>SFMEA</a:t>
            </a:r>
            <a:r>
              <a:rPr lang="zh-CN" altLang="en-US" dirty="0">
                <a:sym typeface="+mn-ea"/>
              </a:rPr>
              <a:t>的基本概念</a:t>
            </a:r>
            <a:endParaRPr lang="zh-CN" altLang="en-US" dirty="0">
              <a:sym typeface="+mn-ea"/>
            </a:endParaRPr>
          </a:p>
          <a:p>
            <a:pPr marR="0" lvl="1" algn="l" defTabSz="914400" rtl="0" eaLnBrk="1" fontAlgn="auto" latinLnBrk="0" hangingPunct="1">
              <a:lnSpc>
                <a:spcPct val="130000"/>
              </a:lnSpc>
              <a:spcBef>
                <a:spcPts val="1000"/>
              </a:spcBef>
              <a:buClrTx/>
              <a:buSzTx/>
              <a:buFont typeface="Arial" panose="020B0604020202020204" pitchFamily="34" charset="0"/>
              <a:buChar char="•"/>
            </a:pPr>
            <a:r>
              <a:rPr lang="en-US" altLang="zh-CN" sz="2400" b="1" dirty="0">
                <a:solidFill>
                  <a:srgbClr val="FF0000"/>
                </a:solidFill>
                <a:sym typeface="+mn-ea"/>
              </a:rPr>
              <a:t>软件失效</a:t>
            </a:r>
            <a:r>
              <a:rPr lang="en-US" altLang="zh-CN" sz="2400" dirty="0">
                <a:sym typeface="+mn-ea"/>
              </a:rPr>
              <a:t>就是泛指程序在运行中丧失了全部或部分功能、出现偏离预期的正常状态的事件。软件失效是由软件的缺陷引起的。</a:t>
            </a:r>
            <a:endParaRPr kumimoji="0" lang="en-US" altLang="zh-CN" sz="2400" b="0" i="0" u="none" strike="noStrike" kern="1200" cap="none" spc="0" normalizeH="0" baseline="0" dirty="0">
              <a:solidFill>
                <a:schemeClr val="tx1"/>
              </a:solidFill>
              <a:latin typeface="+mn-lt"/>
              <a:ea typeface="+mn-ea"/>
              <a:cs typeface="+mn-cs"/>
            </a:endParaRPr>
          </a:p>
          <a:p>
            <a:pPr marR="0" lvl="1" algn="l" defTabSz="914400" rtl="0" eaLnBrk="1" fontAlgn="auto" latinLnBrk="0" hangingPunct="1">
              <a:lnSpc>
                <a:spcPct val="130000"/>
              </a:lnSpc>
              <a:spcBef>
                <a:spcPts val="1000"/>
              </a:spcBef>
              <a:buClrTx/>
              <a:buSzTx/>
              <a:buFont typeface="Arial" panose="020B0604020202020204" pitchFamily="34" charset="0"/>
              <a:buChar char="•"/>
            </a:pPr>
            <a:r>
              <a:rPr lang="en-US" altLang="zh-CN" sz="2400" b="1" dirty="0">
                <a:solidFill>
                  <a:srgbClr val="FF0000"/>
                </a:solidFill>
                <a:sym typeface="+mn-ea"/>
              </a:rPr>
              <a:t>软件失效模式</a:t>
            </a:r>
            <a:r>
              <a:rPr lang="en-US" altLang="zh-CN" sz="2400" dirty="0">
                <a:sym typeface="+mn-ea"/>
              </a:rPr>
              <a:t>指软件失效的表现形式，即软件失效发生的方式，有时也被描述为对设备运行产生的影响。在</a:t>
            </a:r>
            <a:r>
              <a:rPr lang="en-US" altLang="zh-CN" sz="2400" dirty="0">
                <a:sym typeface="+mn-ea"/>
                <a:hlinkClick r:id="rId1" action="ppaction://hlinksldjump"/>
              </a:rPr>
              <a:t>IEEE软件异常分类标准</a:t>
            </a:r>
            <a:r>
              <a:rPr lang="en-US" altLang="zh-CN" sz="2400" dirty="0">
                <a:sym typeface="+mn-ea"/>
              </a:rPr>
              <a:t>中给出了软件失效模式的分类，在进行SFMEA分析时可作为参考。</a:t>
            </a:r>
            <a:endParaRPr kumimoji="0" lang="en-US" altLang="zh-CN" sz="2400" b="0" i="0" u="none" strike="noStrike" kern="1200" cap="none" spc="0" normalizeH="0" baseline="0" dirty="0">
              <a:solidFill>
                <a:schemeClr val="tx1"/>
              </a:solidFill>
              <a:latin typeface="+mn-lt"/>
              <a:ea typeface="+mn-ea"/>
              <a:cs typeface="+mn-cs"/>
            </a:endParaRPr>
          </a:p>
          <a:p>
            <a:pPr marR="0" lvl="1" algn="l" defTabSz="914400" rtl="0" eaLnBrk="1" fontAlgn="auto" latinLnBrk="0" hangingPunct="1">
              <a:lnSpc>
                <a:spcPct val="130000"/>
              </a:lnSpc>
              <a:spcBef>
                <a:spcPts val="1000"/>
              </a:spcBef>
              <a:buClrTx/>
              <a:buSzTx/>
              <a:buFont typeface="Arial" panose="020B0604020202020204" pitchFamily="34" charset="0"/>
              <a:buChar char="•"/>
            </a:pPr>
            <a:r>
              <a:rPr lang="en-US" altLang="zh-CN" sz="2400" b="1" dirty="0">
                <a:solidFill>
                  <a:srgbClr val="FF0000"/>
                </a:solidFill>
                <a:sym typeface="+mn-ea"/>
              </a:rPr>
              <a:t>软件失效影响</a:t>
            </a:r>
            <a:r>
              <a:rPr lang="en-US" altLang="zh-CN" sz="2400" dirty="0">
                <a:sym typeface="+mn-ea"/>
              </a:rPr>
              <a:t>是指软件失效模式对软件系统的运行、功能或状态等造成的后果。</a:t>
            </a:r>
            <a:endParaRPr kumimoji="0" lang="en-US" altLang="zh-CN" sz="2400" b="0" i="0" u="none" strike="noStrike" kern="1200" cap="none" spc="0" normalizeH="0" baseline="0" dirty="0">
              <a:solidFill>
                <a:schemeClr val="tx1"/>
              </a:solidFill>
              <a:latin typeface="+mn-lt"/>
              <a:ea typeface="+mn-ea"/>
              <a:cs typeface="+mn-cs"/>
            </a:endParaRPr>
          </a:p>
          <a:p>
            <a:pPr lvl="1"/>
            <a:endParaRPr lang="zh-CN"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7346" name="Rectangle 2"/>
          <p:cNvSpPr>
            <a:spLocks noGrp="1"/>
          </p:cNvSpPr>
          <p:nvPr>
            <p:ph type="title"/>
          </p:nvPr>
        </p:nvSpPr>
        <p:spPr>
          <a:xfrm>
            <a:off x="615315" y="2318385"/>
            <a:ext cx="1483995" cy="762000"/>
          </a:xfrm>
        </p:spPr>
        <p:txBody>
          <a:bodyPr vert="horz" wrap="square" lIns="91440" tIns="45720" rIns="91440" bIns="45720" anchor="ctr" anchorCtr="0">
            <a:normAutofit fontScale="90000"/>
          </a:bodyPr>
          <a:p>
            <a:r>
              <a:rPr lang="en-US" altLang="zh-CN" dirty="0">
                <a:solidFill>
                  <a:srgbClr val="006666"/>
                </a:solidFill>
              </a:rPr>
              <a:t>IEEE</a:t>
            </a:r>
            <a:r>
              <a:rPr lang="zh-CN" altLang="en-US" dirty="0">
                <a:solidFill>
                  <a:srgbClr val="006666"/>
                </a:solidFill>
              </a:rPr>
              <a:t>软件异常分类</a:t>
            </a:r>
            <a:endParaRPr lang="zh-CN" altLang="en-US" dirty="0">
              <a:solidFill>
                <a:srgbClr val="006666"/>
              </a:solidFill>
            </a:endParaRPr>
          </a:p>
        </p:txBody>
      </p:sp>
      <p:graphicFrame>
        <p:nvGraphicFramePr>
          <p:cNvPr id="12324" name="Group 36"/>
          <p:cNvGraphicFramePr>
            <a:graphicFrameLocks noGrp="1"/>
          </p:cNvGraphicFramePr>
          <p:nvPr>
            <p:ph type="tbl" idx="1"/>
          </p:nvPr>
        </p:nvGraphicFramePr>
        <p:xfrm>
          <a:off x="2603500" y="388620"/>
          <a:ext cx="8785225" cy="6297295"/>
        </p:xfrm>
        <a:graphic>
          <a:graphicData uri="http://schemas.openxmlformats.org/drawingml/2006/table">
            <a:tbl>
              <a:tblPr/>
              <a:tblGrid>
                <a:gridCol w="3589020"/>
                <a:gridCol w="5196205"/>
              </a:tblGrid>
              <a:tr h="474980">
                <a:tc>
                  <a:txBody>
                    <a:bodyPr/>
                    <a:lstStyle/>
                    <a:p>
                      <a:pPr marL="0" marR="0" lvl="0" indent="0" algn="ctr" defTabSz="914400" rtl="0" eaLnBrk="1" fontAlgn="base" latinLnBrk="0" hangingPunct="1">
                        <a:lnSpc>
                          <a:spcPct val="105000"/>
                        </a:lnSpc>
                        <a:spcBef>
                          <a:spcPct val="0"/>
                        </a:spcBef>
                        <a:spcAft>
                          <a:spcPct val="0"/>
                        </a:spcAft>
                        <a:buClrTx/>
                        <a:buSzTx/>
                        <a:buFontTx/>
                        <a:buNone/>
                      </a:pP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软件异常类型</a:t>
                      </a:r>
                      <a:endParaRPr kumimoji="1" lang="zh-CN" altLang="en-US" sz="4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0" marR="0" lvl="0" indent="0" algn="ctr" defTabSz="914400" rtl="0" eaLnBrk="1" fontAlgn="base" latinLnBrk="0" hangingPunct="1">
                        <a:lnSpc>
                          <a:spcPct val="105000"/>
                        </a:lnSpc>
                        <a:spcBef>
                          <a:spcPct val="0"/>
                        </a:spcBef>
                        <a:spcAft>
                          <a:spcPct val="0"/>
                        </a:spcAft>
                        <a:buClrTx/>
                        <a:buSzTx/>
                        <a:buFontTx/>
                        <a:buNone/>
                      </a:pP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具体软件异常</a:t>
                      </a:r>
                      <a:endParaRPr kumimoji="1" lang="zh-CN" altLang="en-US" sz="4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2">
                        <a:lumMod val="20000"/>
                        <a:lumOff val="80000"/>
                      </a:schemeClr>
                    </a:solidFill>
                  </a:tcPr>
                </a:tc>
              </a:tr>
              <a:tr h="410845">
                <a:tc>
                  <a:txBody>
                    <a:bodyPr/>
                    <a:lstStyle/>
                    <a:p>
                      <a:pPr marL="0" marR="0" lvl="0" indent="0" algn="l" defTabSz="914400" rtl="0" eaLnBrk="1" fontAlgn="base" latinLnBrk="0" hangingPunct="1">
                        <a:lnSpc>
                          <a:spcPct val="105000"/>
                        </a:lnSpc>
                        <a:spcBef>
                          <a:spcPct val="0"/>
                        </a:spcBef>
                        <a:spcAft>
                          <a:spcPct val="0"/>
                        </a:spcAft>
                        <a:buClrTx/>
                        <a:buSzTx/>
                        <a:buFontTx/>
                        <a:buNone/>
                      </a:pPr>
                      <a:r>
                        <a:rPr kumimoji="1" lang="zh-CN" altLang="en-US"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操作系统失败</a:t>
                      </a:r>
                      <a:endParaRPr kumimoji="1" lang="zh-CN" altLang="en-US" sz="4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5000"/>
                        </a:lnSpc>
                        <a:spcBef>
                          <a:spcPct val="0"/>
                        </a:spcBef>
                        <a:spcAft>
                          <a:spcPct val="0"/>
                        </a:spcAft>
                        <a:buClrTx/>
                        <a:buSzTx/>
                        <a:buFontTx/>
                        <a:buNone/>
                      </a:pPr>
                      <a:r>
                        <a:rPr kumimoji="1" lang="en-US" altLang="zh-CN" sz="1800" b="0" i="0" u="none" strike="noStrike" cap="none" normalizeH="0" baseline="0" smtClean="0">
                          <a:ln>
                            <a:noFill/>
                          </a:ln>
                          <a:solidFill>
                            <a:schemeClr val="tx1"/>
                          </a:solidFill>
                          <a:effectLst/>
                          <a:latin typeface="Arial" panose="020B0604020202020204"/>
                          <a:ea typeface="宋体" panose="02010600030101010101" pitchFamily="2" charset="-122"/>
                          <a:cs typeface="Times New Roman" panose="02020603050405020304" pitchFamily="18" charset="0"/>
                        </a:rPr>
                        <a:t>——</a:t>
                      </a:r>
                      <a:endParaRPr kumimoji="1" lang="en-US" altLang="zh-CN" sz="4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11480">
                <a:tc>
                  <a:txBody>
                    <a:bodyPr/>
                    <a:lstStyle/>
                    <a:p>
                      <a:pPr marL="0" marR="0" lvl="0" indent="0" algn="l" defTabSz="914400" rtl="0" eaLnBrk="1" fontAlgn="base" latinLnBrk="0" hangingPunct="1">
                        <a:lnSpc>
                          <a:spcPct val="105000"/>
                        </a:lnSpc>
                        <a:spcBef>
                          <a:spcPct val="0"/>
                        </a:spcBef>
                        <a:spcAft>
                          <a:spcPct val="0"/>
                        </a:spcAft>
                        <a:buClrTx/>
                        <a:buSzTx/>
                        <a:buFontTx/>
                        <a:buNone/>
                      </a:pPr>
                      <a:r>
                        <a:rPr kumimoji="1" lang="zh-CN" altLang="en-US"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程序挂起</a:t>
                      </a:r>
                      <a:endParaRPr kumimoji="1" lang="zh-CN" altLang="en-US" sz="4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5000"/>
                        </a:lnSpc>
                        <a:spcBef>
                          <a:spcPct val="0"/>
                        </a:spcBef>
                        <a:spcAft>
                          <a:spcPct val="0"/>
                        </a:spcAft>
                        <a:buClrTx/>
                        <a:buSzTx/>
                        <a:buFontTx/>
                        <a:buNone/>
                      </a:pPr>
                      <a:r>
                        <a:rPr kumimoji="1" lang="en-US" altLang="zh-CN" sz="1800" b="0" i="0" u="none" strike="noStrike" cap="none" normalizeH="0" baseline="0" smtClean="0">
                          <a:ln>
                            <a:noFill/>
                          </a:ln>
                          <a:solidFill>
                            <a:schemeClr val="tx1"/>
                          </a:solidFill>
                          <a:effectLst/>
                          <a:latin typeface="Arial" panose="020B0604020202020204"/>
                          <a:ea typeface="宋体" panose="02010600030101010101" pitchFamily="2" charset="-122"/>
                          <a:cs typeface="Times New Roman" panose="02020603050405020304" pitchFamily="18" charset="0"/>
                        </a:rPr>
                        <a:t>——</a:t>
                      </a:r>
                      <a:endParaRPr kumimoji="1" lang="en-US" altLang="zh-CN" sz="4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914400">
                <a:tc>
                  <a:txBody>
                    <a:bodyPr/>
                    <a:lstStyle/>
                    <a:p>
                      <a:pPr marL="0" marR="0" lvl="0" indent="0" algn="l" defTabSz="914400" rtl="0" eaLnBrk="1" fontAlgn="base" latinLnBrk="0" hangingPunct="1">
                        <a:lnSpc>
                          <a:spcPct val="105000"/>
                        </a:lnSpc>
                        <a:spcBef>
                          <a:spcPct val="0"/>
                        </a:spcBef>
                        <a:spcAft>
                          <a:spcPct val="0"/>
                        </a:spcAft>
                        <a:buClrTx/>
                        <a:buSzTx/>
                        <a:buFontTx/>
                        <a:buNone/>
                      </a:pPr>
                      <a:r>
                        <a:rPr kumimoji="1" lang="zh-CN" altLang="en-US"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程序失败</a:t>
                      </a:r>
                      <a:endParaRPr kumimoji="1" lang="zh-CN" altLang="en-US" sz="4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zh-CN" altLang="en-US"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程序不能启动</a:t>
                      </a:r>
                      <a:endParaRPr kumimoji="1" lang="zh-CN" altLang="en-US"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pPr>
                      <a:r>
                        <a:rPr kumimoji="1" lang="zh-CN" altLang="en-US"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程序运行不能终止</a:t>
                      </a:r>
                      <a:endParaRPr kumimoji="1" lang="zh-CN" altLang="en-US"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pPr>
                      <a:r>
                        <a:rPr kumimoji="1" lang="zh-CN" altLang="en-US"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程序不能退出</a:t>
                      </a:r>
                      <a:endParaRPr kumimoji="1" lang="zh-CN" altLang="en-US" sz="4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463675">
                <a:tc>
                  <a:txBody>
                    <a:bodyPr/>
                    <a:lstStyle/>
                    <a:p>
                      <a:pPr marL="0" marR="0" lvl="0" indent="0" algn="l" defTabSz="914400" rtl="0" eaLnBrk="1" fontAlgn="base" latinLnBrk="0" hangingPunct="1">
                        <a:lnSpc>
                          <a:spcPct val="105000"/>
                        </a:lnSpc>
                        <a:spcBef>
                          <a:spcPct val="0"/>
                        </a:spcBef>
                        <a:spcAft>
                          <a:spcPct val="0"/>
                        </a:spcAft>
                        <a:buClrTx/>
                        <a:buSzTx/>
                        <a:buFontTx/>
                        <a:buNone/>
                      </a:pPr>
                      <a:r>
                        <a:rPr kumimoji="1" lang="zh-CN" altLang="en-US"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输出问题</a:t>
                      </a:r>
                      <a:endParaRPr kumimoji="1" lang="zh-CN" altLang="en-US" sz="4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zh-CN" altLang="en-US"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错误的格式</a:t>
                      </a:r>
                      <a:endParaRPr kumimoji="1" lang="zh-CN" altLang="en-US"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pPr>
                      <a:r>
                        <a:rPr kumimoji="1" lang="zh-CN" altLang="en-US"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不正确的结果、数据</a:t>
                      </a:r>
                      <a:endParaRPr kumimoji="1" lang="zh-CN" altLang="en-US"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pPr>
                      <a:r>
                        <a:rPr kumimoji="1" lang="zh-CN" altLang="en-US"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不完全或遗漏</a:t>
                      </a:r>
                      <a:endParaRPr kumimoji="1" lang="zh-CN" altLang="en-US"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pPr>
                      <a:r>
                        <a:rPr kumimoji="1" lang="zh-CN" altLang="en-US"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拼写问题、语法问题</a:t>
                      </a:r>
                      <a:endParaRPr kumimoji="1" lang="zh-CN" altLang="en-US"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pPr>
                      <a:r>
                        <a:rPr kumimoji="1" lang="zh-CN" altLang="en-US"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美化问题</a:t>
                      </a:r>
                      <a:endParaRPr kumimoji="1" lang="zh-CN" altLang="en-US" sz="4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914400">
                <a:tc>
                  <a:txBody>
                    <a:bodyPr/>
                    <a:lstStyle/>
                    <a:p>
                      <a:pPr marL="0" marR="0" lvl="0" indent="0" algn="l" defTabSz="914400" rtl="0" eaLnBrk="1" fontAlgn="base" latinLnBrk="0" hangingPunct="1">
                        <a:lnSpc>
                          <a:spcPct val="105000"/>
                        </a:lnSpc>
                        <a:spcBef>
                          <a:spcPct val="0"/>
                        </a:spcBef>
                        <a:spcAft>
                          <a:spcPct val="0"/>
                        </a:spcAft>
                        <a:buClrTx/>
                        <a:buSzTx/>
                        <a:buFontTx/>
                        <a:buNone/>
                      </a:pPr>
                      <a:r>
                        <a:rPr kumimoji="1" lang="zh-CN" altLang="en-US"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未达到性能要求</a:t>
                      </a:r>
                      <a:endParaRPr kumimoji="1" lang="zh-CN" altLang="en-US" sz="4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zh-CN" altLang="en-US"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不能满足用户对运行时间的要求</a:t>
                      </a:r>
                      <a:endParaRPr kumimoji="1" lang="zh-CN" altLang="en-US"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pPr>
                      <a:r>
                        <a:rPr kumimoji="1" lang="zh-CN" altLang="en-US"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不能满足用户对数据处理量的要求</a:t>
                      </a:r>
                      <a:endParaRPr kumimoji="1" lang="zh-CN" altLang="en-US"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pPr>
                      <a:r>
                        <a:rPr kumimoji="1" lang="zh-CN" altLang="en-US"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多用户系统不能满足用户数的要求</a:t>
                      </a:r>
                      <a:endParaRPr kumimoji="1" lang="zh-CN" altLang="en-US" sz="4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96240">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zh-CN" altLang="en-US"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整个产品失效</a:t>
                      </a:r>
                      <a:endParaRPr kumimoji="1" lang="zh-CN" altLang="en-US" sz="4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1800" b="0" i="0" u="none" strike="noStrike" cap="none" normalizeH="0" baseline="0" smtClean="0">
                          <a:ln>
                            <a:noFill/>
                          </a:ln>
                          <a:solidFill>
                            <a:schemeClr val="tx1"/>
                          </a:solidFill>
                          <a:effectLst/>
                          <a:latin typeface="Arial" panose="020B0604020202020204"/>
                          <a:ea typeface="宋体" panose="02010600030101010101" pitchFamily="2" charset="-122"/>
                          <a:cs typeface="Times New Roman" panose="02020603050405020304" pitchFamily="18" charset="0"/>
                        </a:rPr>
                        <a:t>——</a:t>
                      </a:r>
                      <a:endParaRPr kumimoji="1" lang="en-US" altLang="zh-CN" sz="4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96875">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zh-CN" altLang="en-US"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系统错误信息</a:t>
                      </a:r>
                      <a:endParaRPr kumimoji="1" lang="zh-CN" altLang="en-US" sz="4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1800" b="0" i="0" u="none" strike="noStrike" cap="none" normalizeH="0" baseline="0" smtClean="0">
                          <a:ln>
                            <a:noFill/>
                          </a:ln>
                          <a:solidFill>
                            <a:schemeClr val="tx1"/>
                          </a:solidFill>
                          <a:effectLst/>
                          <a:latin typeface="Arial" panose="020B0604020202020204"/>
                          <a:ea typeface="宋体" panose="02010600030101010101" pitchFamily="2" charset="-122"/>
                          <a:cs typeface="Times New Roman" panose="02020603050405020304" pitchFamily="18" charset="0"/>
                        </a:rPr>
                        <a:t>——</a:t>
                      </a:r>
                      <a:endParaRPr kumimoji="1" lang="en-US" altLang="zh-CN" sz="4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914400">
                <a:tc>
                  <a:txBody>
                    <a:bodyPr/>
                    <a:lstStyle/>
                    <a:p>
                      <a:pPr marL="0" marR="0" lvl="0" indent="0" algn="l" defTabSz="914400" rtl="0" eaLnBrk="1" fontAlgn="base" latinLnBrk="0" hangingPunct="1">
                        <a:lnSpc>
                          <a:spcPct val="105000"/>
                        </a:lnSpc>
                        <a:spcBef>
                          <a:spcPct val="0"/>
                        </a:spcBef>
                        <a:spcAft>
                          <a:spcPct val="0"/>
                        </a:spcAft>
                        <a:buClrTx/>
                        <a:buSzTx/>
                        <a:buFontTx/>
                        <a:buNone/>
                      </a:pPr>
                      <a:r>
                        <a:rPr kumimoji="1" lang="zh-CN" altLang="en-US"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其它</a:t>
                      </a:r>
                      <a:endParaRPr kumimoji="1" lang="zh-CN" altLang="en-US" sz="4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zh-CN" altLang="en-US"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程序运行改变了系统配置参数</a:t>
                      </a:r>
                      <a:endParaRPr kumimoji="1" lang="zh-CN" altLang="en-US"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pPr>
                      <a:r>
                        <a:rPr kumimoji="1" lang="zh-CN" altLang="en-US"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程序运行改变了其它程序的数据</a:t>
                      </a:r>
                      <a:endParaRPr kumimoji="1" lang="zh-CN" altLang="en-US"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pPr>
                      <a:r>
                        <a:rPr kumimoji="1" lang="zh-CN" altLang="en-US"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其它</a:t>
                      </a:r>
                      <a:endParaRPr kumimoji="1" lang="zh-CN" altLang="en-US" sz="4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dirty="0" smtClean="0">
                <a:solidFill>
                  <a:srgbClr val="C00000"/>
                </a:solidFill>
                <a:sym typeface="+mn-ea"/>
              </a:rPr>
              <a:t>4.1 软件失效模式和影响分析（SFMEA）</a:t>
            </a:r>
            <a:endParaRPr lang="zh-CN" altLang="en-US"/>
          </a:p>
        </p:txBody>
      </p:sp>
      <p:sp>
        <p:nvSpPr>
          <p:cNvPr id="3" name="内容占位符 2"/>
          <p:cNvSpPr>
            <a:spLocks noGrp="1"/>
          </p:cNvSpPr>
          <p:nvPr>
            <p:ph idx="1"/>
          </p:nvPr>
        </p:nvSpPr>
        <p:spPr/>
        <p:txBody>
          <a:bodyPr/>
          <a:p>
            <a:r>
              <a:rPr lang="en-US" altLang="zh-CN" dirty="0">
                <a:sym typeface="+mn-ea"/>
              </a:rPr>
              <a:t>SFMEA</a:t>
            </a:r>
            <a:r>
              <a:rPr lang="zh-CN" altLang="en-US" dirty="0">
                <a:sym typeface="+mn-ea"/>
              </a:rPr>
              <a:t>分析的一般步骤：</a:t>
            </a:r>
            <a:endParaRPr lang="zh-CN" altLang="en-US" dirty="0">
              <a:sym typeface="+mn-ea"/>
            </a:endParaRPr>
          </a:p>
          <a:p>
            <a:pPr lvl="1">
              <a:lnSpc>
                <a:spcPct val="135000"/>
              </a:lnSpc>
            </a:pPr>
            <a:r>
              <a:rPr lang="en-US" altLang="zh-CN" dirty="0">
                <a:sym typeface="+mn-ea"/>
              </a:rPr>
              <a:t>SFMEA</a:t>
            </a:r>
            <a:r>
              <a:rPr lang="zh-CN" altLang="en-US" dirty="0">
                <a:sym typeface="+mn-ea"/>
              </a:rPr>
              <a:t>的分析对象可以是开发早期阶段的高层次的</a:t>
            </a:r>
            <a:r>
              <a:rPr lang="zh-CN" altLang="en-US" dirty="0">
                <a:solidFill>
                  <a:srgbClr val="CC3300"/>
                </a:solidFill>
                <a:sym typeface="+mn-ea"/>
              </a:rPr>
              <a:t>子系统、部件，</a:t>
            </a:r>
            <a:r>
              <a:rPr lang="zh-CN" altLang="en-US" dirty="0">
                <a:sym typeface="+mn-ea"/>
              </a:rPr>
              <a:t>也可以是详细设计阶段的</a:t>
            </a:r>
            <a:r>
              <a:rPr lang="zh-CN" altLang="en-US" dirty="0">
                <a:solidFill>
                  <a:srgbClr val="CC3300"/>
                </a:solidFill>
                <a:sym typeface="+mn-ea"/>
              </a:rPr>
              <a:t>单元、模块</a:t>
            </a:r>
            <a:r>
              <a:rPr lang="zh-CN" altLang="en-US" dirty="0">
                <a:sym typeface="+mn-ea"/>
              </a:rPr>
              <a:t>。</a:t>
            </a:r>
            <a:endParaRPr lang="zh-CN" altLang="en-US" dirty="0"/>
          </a:p>
          <a:p>
            <a:pPr lvl="1">
              <a:lnSpc>
                <a:spcPct val="135000"/>
              </a:lnSpc>
            </a:pPr>
            <a:r>
              <a:rPr lang="zh-CN" altLang="en-US" dirty="0">
                <a:sym typeface="+mn-ea"/>
              </a:rPr>
              <a:t>对于不同的分析对象，其软件失效模式是不同的，采用的</a:t>
            </a:r>
            <a:r>
              <a:rPr lang="en-US" altLang="zh-CN" dirty="0">
                <a:sym typeface="+mn-ea"/>
              </a:rPr>
              <a:t>SFMEA</a:t>
            </a:r>
            <a:r>
              <a:rPr lang="zh-CN" altLang="en-US" dirty="0">
                <a:sym typeface="+mn-ea"/>
              </a:rPr>
              <a:t>分析方法也不同，前者采用</a:t>
            </a:r>
            <a:r>
              <a:rPr lang="zh-CN" altLang="en-US" dirty="0">
                <a:solidFill>
                  <a:srgbClr val="CC3300"/>
                </a:solidFill>
                <a:sym typeface="+mn-ea"/>
              </a:rPr>
              <a:t>系统级分析方法（</a:t>
            </a:r>
            <a:r>
              <a:rPr lang="en-US" altLang="zh-CN" dirty="0">
                <a:solidFill>
                  <a:srgbClr val="CC3300"/>
                </a:solidFill>
                <a:sym typeface="+mn-ea"/>
              </a:rPr>
              <a:t>system SFMEA</a:t>
            </a:r>
            <a:r>
              <a:rPr lang="zh-CN" altLang="en-US" dirty="0">
                <a:solidFill>
                  <a:srgbClr val="CC3300"/>
                </a:solidFill>
                <a:sym typeface="+mn-ea"/>
              </a:rPr>
              <a:t>），</a:t>
            </a:r>
            <a:r>
              <a:rPr lang="zh-CN" altLang="en-US" dirty="0">
                <a:sym typeface="+mn-ea"/>
              </a:rPr>
              <a:t>后者为</a:t>
            </a:r>
            <a:r>
              <a:rPr lang="zh-CN" altLang="en-US" dirty="0">
                <a:solidFill>
                  <a:srgbClr val="CC3300"/>
                </a:solidFill>
                <a:sym typeface="+mn-ea"/>
              </a:rPr>
              <a:t>详细级分析方法（ </a:t>
            </a:r>
            <a:r>
              <a:rPr lang="en-US" altLang="zh-CN" dirty="0">
                <a:solidFill>
                  <a:srgbClr val="CC3300"/>
                </a:solidFill>
                <a:sym typeface="+mn-ea"/>
              </a:rPr>
              <a:t>detailed SFMEA</a:t>
            </a:r>
            <a:r>
              <a:rPr lang="zh-CN" altLang="en-US" dirty="0">
                <a:solidFill>
                  <a:srgbClr val="CC3300"/>
                </a:solidFill>
                <a:sym typeface="+mn-ea"/>
              </a:rPr>
              <a:t>）。</a:t>
            </a:r>
            <a:endParaRPr lang="zh-CN" altLang="en-US" dirty="0">
              <a:solidFill>
                <a:srgbClr val="CC3300"/>
              </a:solidFill>
            </a:endParaRPr>
          </a:p>
          <a:p>
            <a:endParaRPr lang="en-US" altLang="zh-C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dirty="0" smtClean="0">
                <a:solidFill>
                  <a:srgbClr val="C00000"/>
                </a:solidFill>
                <a:sym typeface="+mn-ea"/>
              </a:rPr>
              <a:t>4.1 软件失效模式和影响分析（SFMEA）</a:t>
            </a:r>
            <a:endParaRPr lang="zh-CN" altLang="en-US"/>
          </a:p>
        </p:txBody>
      </p:sp>
      <p:sp>
        <p:nvSpPr>
          <p:cNvPr id="3" name="内容占位符 2"/>
          <p:cNvSpPr>
            <a:spLocks noGrp="1"/>
          </p:cNvSpPr>
          <p:nvPr>
            <p:ph idx="1"/>
          </p:nvPr>
        </p:nvSpPr>
        <p:spPr/>
        <p:txBody>
          <a:bodyPr/>
          <a:p>
            <a:r>
              <a:rPr lang="zh-CN" altLang="en-US" noProof="0" smtClean="0">
                <a:ln>
                  <a:noFill/>
                </a:ln>
                <a:effectLst/>
                <a:uLnTx/>
                <a:uFillTx/>
                <a:latin typeface="+mj-lt"/>
                <a:ea typeface="+mj-ea"/>
                <a:cs typeface="+mj-cs"/>
                <a:sym typeface="+mn-ea"/>
              </a:rPr>
              <a:t>系统</a:t>
            </a:r>
            <a:r>
              <a:rPr lang="en-US" altLang="zh-CN" noProof="0" smtClean="0">
                <a:ln>
                  <a:noFill/>
                </a:ln>
                <a:effectLst/>
                <a:uLnTx/>
                <a:uFillTx/>
                <a:latin typeface="+mj-lt"/>
                <a:ea typeface="+mj-ea"/>
                <a:cs typeface="+mj-cs"/>
                <a:sym typeface="+mn-ea"/>
              </a:rPr>
              <a:t>FMEA</a:t>
            </a:r>
            <a:r>
              <a:rPr lang="zh-CN" altLang="en-US" noProof="0" smtClean="0">
                <a:ln>
                  <a:noFill/>
                </a:ln>
                <a:effectLst/>
                <a:uLnTx/>
                <a:uFillTx/>
                <a:latin typeface="+mj-lt"/>
                <a:ea typeface="+mj-ea"/>
                <a:cs typeface="+mj-cs"/>
                <a:sym typeface="+mn-ea"/>
              </a:rPr>
              <a:t>分析的一般步骤：</a:t>
            </a:r>
            <a:endParaRPr lang="zh-CN" altLang="en-US" noProof="0" smtClean="0">
              <a:ln>
                <a:noFill/>
              </a:ln>
              <a:effectLst/>
              <a:uLnTx/>
              <a:uFillTx/>
              <a:latin typeface="+mj-lt"/>
              <a:ea typeface="+mj-ea"/>
              <a:cs typeface="+mj-cs"/>
              <a:sym typeface="+mn-ea"/>
            </a:endParaRPr>
          </a:p>
          <a:p>
            <a:pPr marL="914400" lvl="1" indent="-457200">
              <a:buFont typeface="+mj-ea"/>
              <a:buAutoNum type="circleNumDbPlain"/>
            </a:pPr>
            <a:r>
              <a:rPr lang="zh-CN" altLang="en-US" dirty="0">
                <a:sym typeface="+mn-ea"/>
              </a:rPr>
              <a:t>系统定义 </a:t>
            </a:r>
            <a:endParaRPr lang="zh-CN" altLang="en-US" dirty="0"/>
          </a:p>
          <a:p>
            <a:pPr marL="914400" lvl="1" indent="-457200">
              <a:buFont typeface="+mj-ea"/>
              <a:buAutoNum type="circleNumDbPlain"/>
            </a:pPr>
            <a:r>
              <a:rPr lang="zh-CN" altLang="en-US" dirty="0">
                <a:sym typeface="+mn-ea"/>
              </a:rPr>
              <a:t>软件失效模式分析</a:t>
            </a:r>
            <a:endParaRPr lang="zh-CN" altLang="en-US" dirty="0"/>
          </a:p>
          <a:p>
            <a:pPr marL="914400" lvl="1" indent="-457200">
              <a:buFont typeface="+mj-ea"/>
              <a:buAutoNum type="circleNumDbPlain"/>
            </a:pPr>
            <a:r>
              <a:rPr lang="zh-CN" altLang="en-US" dirty="0">
                <a:sym typeface="+mn-ea"/>
              </a:rPr>
              <a:t>软件失效原因分析</a:t>
            </a:r>
            <a:endParaRPr lang="zh-CN" altLang="en-US" dirty="0"/>
          </a:p>
          <a:p>
            <a:pPr marL="914400" lvl="1" indent="-457200">
              <a:buFont typeface="+mj-ea"/>
              <a:buAutoNum type="circleNumDbPlain"/>
            </a:pPr>
            <a:r>
              <a:rPr lang="zh-CN" altLang="en-US" dirty="0">
                <a:sym typeface="+mn-ea"/>
              </a:rPr>
              <a:t>软件失效影响分析</a:t>
            </a:r>
            <a:endParaRPr lang="zh-CN" altLang="en-US" dirty="0"/>
          </a:p>
          <a:p>
            <a:pPr marL="914400" lvl="1" indent="-457200">
              <a:buFont typeface="+mj-ea"/>
              <a:buAutoNum type="circleNumDbPlain"/>
            </a:pPr>
            <a:r>
              <a:rPr lang="zh-CN" altLang="en-US" dirty="0">
                <a:sym typeface="+mn-ea"/>
              </a:rPr>
              <a:t>改进措施分析</a:t>
            </a:r>
            <a:endParaRPr lang="zh-CN" altLang="en-US" dirty="0"/>
          </a:p>
          <a:p>
            <a:endParaRPr lang="zh-CN" altLang="en-US" noProof="0" smtClean="0">
              <a:ln>
                <a:noFill/>
              </a:ln>
              <a:effectLst/>
              <a:uLnTx/>
              <a:uFillTx/>
              <a:latin typeface="+mj-lt"/>
              <a:ea typeface="+mj-ea"/>
              <a:cs typeface="+mj-cs"/>
              <a:sym typeface="+mn-ea"/>
            </a:endParaRPr>
          </a:p>
          <a:p>
            <a:endParaRPr lang="zh-CN"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矩形 3"/>
          <p:cNvSpPr/>
          <p:nvPr/>
        </p:nvSpPr>
        <p:spPr>
          <a:xfrm>
            <a:off x="1239520" y="2221865"/>
            <a:ext cx="10108565" cy="1831975"/>
          </a:xfrm>
          <a:prstGeom prst="rect">
            <a:avLst/>
          </a:prstGeom>
          <a:solidFill>
            <a:schemeClr val="accent1">
              <a:alpha val="17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2000"/>
          </a:p>
        </p:txBody>
      </p:sp>
      <p:sp>
        <p:nvSpPr>
          <p:cNvPr id="2" name="标题 1"/>
          <p:cNvSpPr>
            <a:spLocks noGrp="1"/>
          </p:cNvSpPr>
          <p:nvPr>
            <p:ph type="title"/>
          </p:nvPr>
        </p:nvSpPr>
        <p:spPr/>
        <p:txBody>
          <a:bodyPr/>
          <a:p>
            <a:r>
              <a:rPr lang="zh-CN" altLang="en-US" dirty="0" smtClean="0">
                <a:solidFill>
                  <a:srgbClr val="C00000"/>
                </a:solidFill>
                <a:sym typeface="+mn-ea"/>
              </a:rPr>
              <a:t>4.1 软件失效模式和影响分析（SFMEA）</a:t>
            </a:r>
            <a:endParaRPr lang="zh-CN" altLang="en-US"/>
          </a:p>
        </p:txBody>
      </p:sp>
      <p:sp>
        <p:nvSpPr>
          <p:cNvPr id="3" name="内容占位符 2"/>
          <p:cNvSpPr>
            <a:spLocks noGrp="1"/>
          </p:cNvSpPr>
          <p:nvPr>
            <p:ph idx="1"/>
          </p:nvPr>
        </p:nvSpPr>
        <p:spPr/>
        <p:txBody>
          <a:bodyPr>
            <a:normAutofit lnSpcReduction="10000"/>
          </a:bodyPr>
          <a:p>
            <a:pPr marL="514350" indent="-514350">
              <a:buFont typeface="+mj-ea"/>
              <a:buAutoNum type="circleNumDbPlain"/>
            </a:pPr>
            <a:r>
              <a:rPr lang="zh-CN" altLang="en-US" dirty="0">
                <a:sym typeface="+mn-ea"/>
              </a:rPr>
              <a:t>系统定义</a:t>
            </a:r>
            <a:endParaRPr lang="zh-CN" altLang="en-US" dirty="0">
              <a:sym typeface="+mn-ea"/>
            </a:endParaRPr>
          </a:p>
          <a:p>
            <a:pPr lvl="1"/>
            <a:r>
              <a:rPr lang="zh-CN" altLang="en-US" sz="2400" dirty="0">
                <a:sym typeface="+mn-ea"/>
              </a:rPr>
              <a:t>在系统定义中应说明系统的主要功能和次要功能、用途、系统的约束条件和失效判据等。</a:t>
            </a:r>
            <a:endParaRPr lang="zh-CN" altLang="en-US" sz="2400" dirty="0">
              <a:sym typeface="+mn-ea"/>
            </a:endParaRPr>
          </a:p>
          <a:p>
            <a:pPr lvl="1"/>
            <a:r>
              <a:rPr lang="zh-CN" altLang="en-US" sz="2400" dirty="0">
                <a:sym typeface="+mn-ea"/>
              </a:rPr>
              <a:t>系统定义还应包括系统工作的各种模式的说明、系统的环境条件，以及软、硬件配置。</a:t>
            </a:r>
            <a:endParaRPr lang="zh-CN" altLang="en-US" sz="2400" dirty="0"/>
          </a:p>
          <a:p>
            <a:pPr lvl="1"/>
            <a:r>
              <a:rPr lang="zh-CN" altLang="en-US" sz="2400" dirty="0">
                <a:sym typeface="+mn-ea"/>
              </a:rPr>
              <a:t>进行结构分解，就是将软件按照一定的分解原则划分为若干逻辑部分，以确定系统的分析级别，以及</a:t>
            </a:r>
            <a:r>
              <a:rPr lang="zh-CN" altLang="en-US" sz="2400" b="1" dirty="0">
                <a:solidFill>
                  <a:srgbClr val="FF0000"/>
                </a:solidFill>
                <a:sym typeface="+mn-ea"/>
              </a:rPr>
              <a:t>最小分析单元</a:t>
            </a:r>
            <a:r>
              <a:rPr lang="zh-CN" altLang="en-US" sz="2400" dirty="0">
                <a:sym typeface="+mn-ea"/>
              </a:rPr>
              <a:t>。</a:t>
            </a:r>
            <a:endParaRPr lang="zh-CN" altLang="en-US" sz="2400" dirty="0"/>
          </a:p>
          <a:p>
            <a:pPr lvl="2"/>
            <a:r>
              <a:rPr lang="zh-CN" altLang="en-US" sz="2330" dirty="0">
                <a:sym typeface="+mn-ea"/>
              </a:rPr>
              <a:t>结构分解的原则可基于软件系统的功能、结构特征或工作模式等，应根据软件的具体情况确定</a:t>
            </a:r>
            <a:endParaRPr lang="zh-CN" altLang="en-US" sz="2330" dirty="0"/>
          </a:p>
          <a:p>
            <a:endParaRPr lang="zh-CN"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dirty="0" smtClean="0">
                <a:solidFill>
                  <a:srgbClr val="C00000"/>
                </a:solidFill>
                <a:sym typeface="+mn-ea"/>
              </a:rPr>
              <a:t>4.1 软件失效模式和影响分析（SFMEA）</a:t>
            </a:r>
            <a:endParaRPr lang="zh-CN" altLang="en-US"/>
          </a:p>
        </p:txBody>
      </p:sp>
      <p:sp>
        <p:nvSpPr>
          <p:cNvPr id="3" name="内容占位符 2"/>
          <p:cNvSpPr>
            <a:spLocks noGrp="1"/>
          </p:cNvSpPr>
          <p:nvPr>
            <p:ph idx="1"/>
          </p:nvPr>
        </p:nvSpPr>
        <p:spPr/>
        <p:txBody>
          <a:bodyPr/>
          <a:p>
            <a:pPr marL="514350" indent="-514350">
              <a:buFont typeface="+mj-ea"/>
              <a:buAutoNum type="circleNumDbPlain" startAt="2"/>
            </a:pPr>
            <a:r>
              <a:rPr lang="zh-CN" altLang="en-US" sz="2800" dirty="0">
                <a:sym typeface="+mn-ea"/>
              </a:rPr>
              <a:t>软件失效模式分析</a:t>
            </a:r>
            <a:endParaRPr lang="zh-CN" altLang="en-US" sz="2800" dirty="0"/>
          </a:p>
          <a:p>
            <a:pPr lvl="1"/>
            <a:r>
              <a:rPr lang="zh-CN" altLang="en-US" sz="2800" dirty="0">
                <a:sym typeface="+mn-ea"/>
              </a:rPr>
              <a:t>针对每个最小分析单元，确定其潜在的</a:t>
            </a:r>
            <a:r>
              <a:rPr lang="zh-CN" altLang="en-US" sz="2800" dirty="0">
                <a:solidFill>
                  <a:srgbClr val="FF3300"/>
                </a:solidFill>
                <a:sym typeface="+mn-ea"/>
              </a:rPr>
              <a:t>失效模式</a:t>
            </a:r>
            <a:r>
              <a:rPr lang="zh-CN" altLang="en-US" sz="2800" dirty="0">
                <a:sym typeface="+mn-ea"/>
              </a:rPr>
              <a:t>，例如软件无响应或者返回错误的值等。</a:t>
            </a:r>
            <a:endParaRPr lang="zh-CN" altLang="en-US" sz="2800" dirty="0"/>
          </a:p>
          <a:p>
            <a:pPr marL="514350" indent="-514350">
              <a:buFont typeface="+mj-ea"/>
              <a:buAutoNum type="circleNumDbPlain" startAt="2"/>
            </a:pPr>
            <a:r>
              <a:rPr lang="zh-CN" altLang="en-US" sz="2800" dirty="0">
                <a:sym typeface="+mn-ea"/>
              </a:rPr>
              <a:t>软件失效原因分析</a:t>
            </a:r>
            <a:endParaRPr lang="zh-CN" altLang="en-US" sz="2800" dirty="0"/>
          </a:p>
          <a:p>
            <a:pPr lvl="1"/>
            <a:r>
              <a:rPr lang="zh-CN" altLang="en-US" sz="2800" dirty="0">
                <a:sym typeface="+mn-ea"/>
              </a:rPr>
              <a:t>针对每个软件失效模式分析其所有可能的原因。软件的失效原因往往是软件开发过程中形成的各类缺陷所引起的。</a:t>
            </a:r>
            <a:endParaRPr lang="zh-CN" altLang="en-US" sz="2800" dirty="0"/>
          </a:p>
          <a:p>
            <a:endParaRPr lang="zh-CN"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dirty="0" smtClean="0">
                <a:solidFill>
                  <a:srgbClr val="C00000"/>
                </a:solidFill>
                <a:sym typeface="+mn-ea"/>
              </a:rPr>
              <a:t>4.1 软件失效模式和影响分析（SFMEA）</a:t>
            </a:r>
            <a:endParaRPr lang="zh-CN" altLang="en-US"/>
          </a:p>
        </p:txBody>
      </p:sp>
      <p:sp>
        <p:nvSpPr>
          <p:cNvPr id="3" name="内容占位符 2"/>
          <p:cNvSpPr>
            <a:spLocks noGrp="1"/>
          </p:cNvSpPr>
          <p:nvPr>
            <p:ph idx="1"/>
          </p:nvPr>
        </p:nvSpPr>
        <p:spPr/>
        <p:txBody>
          <a:bodyPr>
            <a:normAutofit lnSpcReduction="20000"/>
          </a:bodyPr>
          <a:p>
            <a:r>
              <a:rPr lang="zh-CN" altLang="en-US" dirty="0">
                <a:sym typeface="+mn-ea"/>
              </a:rPr>
              <a:t>软件失效原因：</a:t>
            </a:r>
            <a:endParaRPr lang="zh-CN" altLang="en-US" dirty="0">
              <a:sym typeface="+mn-ea"/>
            </a:endParaRPr>
          </a:p>
          <a:p>
            <a:pPr marL="914400" lvl="1" indent="-457200" algn="l">
              <a:lnSpc>
                <a:spcPct val="150000"/>
              </a:lnSpc>
              <a:buClrTx/>
              <a:buSzTx/>
              <a:buFont typeface="+mj-ea"/>
              <a:buAutoNum type="circleNumDbPlain"/>
            </a:pPr>
            <a:r>
              <a:rPr lang="zh-CN" altLang="en-US" dirty="0">
                <a:sym typeface="+mn-ea"/>
                <a:hlinkClick r:id="" action="ppaction://noaction"/>
              </a:rPr>
              <a:t>逻辑遗漏或执行错误 </a:t>
            </a:r>
            <a:endParaRPr lang="zh-CN" altLang="en-US" dirty="0"/>
          </a:p>
          <a:p>
            <a:pPr marL="914400" lvl="1" indent="-457200" algn="l">
              <a:lnSpc>
                <a:spcPct val="150000"/>
              </a:lnSpc>
              <a:buClrTx/>
              <a:buSzTx/>
              <a:buFont typeface="+mj-ea"/>
              <a:buAutoNum type="circleNumDbPlain"/>
            </a:pPr>
            <a:r>
              <a:rPr lang="zh-CN" altLang="en-US" dirty="0">
                <a:sym typeface="+mn-ea"/>
                <a:hlinkClick r:id="" action="ppaction://noaction"/>
              </a:rPr>
              <a:t>算法的编码错误 </a:t>
            </a:r>
            <a:endParaRPr lang="zh-CN" altLang="en-US" dirty="0"/>
          </a:p>
          <a:p>
            <a:pPr marL="914400" lvl="1" indent="-457200" algn="l">
              <a:lnSpc>
                <a:spcPct val="150000"/>
              </a:lnSpc>
              <a:buClrTx/>
              <a:buSzTx/>
              <a:buFont typeface="+mj-ea"/>
              <a:buAutoNum type="circleNumDbPlain"/>
            </a:pPr>
            <a:r>
              <a:rPr lang="zh-CN" altLang="en-US" dirty="0">
                <a:sym typeface="+mn-ea"/>
                <a:hlinkClick r:id="" action="ppaction://noaction"/>
              </a:rPr>
              <a:t>软硬件接口故障 </a:t>
            </a:r>
            <a:endParaRPr lang="zh-CN" altLang="en-US" dirty="0"/>
          </a:p>
          <a:p>
            <a:pPr marL="914400" lvl="1" indent="-457200" algn="l">
              <a:lnSpc>
                <a:spcPct val="150000"/>
              </a:lnSpc>
              <a:buClrTx/>
              <a:buSzTx/>
              <a:buFont typeface="+mj-ea"/>
              <a:buAutoNum type="circleNumDbPlain"/>
            </a:pPr>
            <a:r>
              <a:rPr lang="zh-CN" altLang="en-US" dirty="0">
                <a:sym typeface="+mn-ea"/>
                <a:hlinkClick r:id="" action="ppaction://noaction"/>
              </a:rPr>
              <a:t>数据操作错误 </a:t>
            </a:r>
            <a:endParaRPr lang="zh-CN" altLang="en-US" dirty="0"/>
          </a:p>
          <a:p>
            <a:pPr marL="914400" lvl="1" indent="-457200" algn="l">
              <a:lnSpc>
                <a:spcPct val="150000"/>
              </a:lnSpc>
              <a:buClrTx/>
              <a:buSzTx/>
              <a:buFont typeface="+mj-ea"/>
              <a:buAutoNum type="circleNumDbPlain"/>
            </a:pPr>
            <a:r>
              <a:rPr lang="zh-CN" altLang="en-US" dirty="0">
                <a:sym typeface="+mn-ea"/>
                <a:hlinkClick r:id="" action="ppaction://noaction"/>
              </a:rPr>
              <a:t>数据错误或丢失 </a:t>
            </a:r>
            <a:endParaRPr lang="zh-CN" altLang="en-US" dirty="0">
              <a:sym typeface="+mn-ea"/>
              <a:hlinkClick r:id="" action="ppaction://noaction"/>
            </a:endParaRPr>
          </a:p>
          <a:p>
            <a:pPr marL="914400" lvl="1" indent="-457200" algn="l">
              <a:lnSpc>
                <a:spcPct val="150000"/>
              </a:lnSpc>
              <a:buClrTx/>
              <a:buSzTx/>
              <a:buFont typeface="+mj-ea"/>
              <a:buAutoNum type="circleNumDbPlain"/>
            </a:pPr>
            <a:r>
              <a:rPr lang="en-US" altLang="zh-CN" dirty="0">
                <a:sym typeface="+mn-ea"/>
                <a:hlinkClick r:id="" action="ppaction://noaction"/>
              </a:rPr>
              <a:t>.</a:t>
            </a:r>
            <a:r>
              <a:rPr lang="en-US" altLang="zh-CN" dirty="0">
                <a:sym typeface="+mn-ea"/>
              </a:rPr>
              <a:t>.....</a:t>
            </a:r>
            <a:endParaRPr lang="zh-CN" altLang="en-US" dirty="0"/>
          </a:p>
          <a:p>
            <a:endParaRPr lang="zh-CN" alt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dirty="0" smtClean="0">
                <a:solidFill>
                  <a:srgbClr val="C00000"/>
                </a:solidFill>
                <a:sym typeface="+mn-ea"/>
              </a:rPr>
              <a:t>4.1 软件失效模式和影响分析（SFMEA）</a:t>
            </a:r>
            <a:endParaRPr lang="zh-CN" altLang="en-US"/>
          </a:p>
        </p:txBody>
      </p:sp>
      <p:sp>
        <p:nvSpPr>
          <p:cNvPr id="3" name="内容占位符 2"/>
          <p:cNvSpPr>
            <a:spLocks noGrp="1"/>
          </p:cNvSpPr>
          <p:nvPr>
            <p:ph idx="1"/>
          </p:nvPr>
        </p:nvSpPr>
        <p:spPr/>
        <p:txBody>
          <a:bodyPr/>
          <a:p>
            <a:r>
              <a:rPr lang="zh-CN" altLang="en-US"/>
              <a:t>软件失效原因</a:t>
            </a:r>
            <a:r>
              <a:rPr lang="en-US" altLang="zh-CN"/>
              <a:t>1</a:t>
            </a:r>
            <a:r>
              <a:rPr lang="zh-CN" altLang="en-US"/>
              <a:t>：</a:t>
            </a:r>
            <a:r>
              <a:rPr lang="zh-CN" altLang="en-US" b="1">
                <a:solidFill>
                  <a:srgbClr val="FF0000"/>
                </a:solidFill>
              </a:rPr>
              <a:t>逻辑遗漏或执行错误</a:t>
            </a:r>
            <a:endParaRPr lang="zh-CN" altLang="en-US"/>
          </a:p>
          <a:p>
            <a:pPr lvl="1"/>
            <a:r>
              <a:rPr lang="zh-CN" altLang="en-US" dirty="0">
                <a:sym typeface="+mn-ea"/>
              </a:rPr>
              <a:t>遗忘细节或步骤</a:t>
            </a:r>
            <a:endParaRPr lang="zh-CN" altLang="en-US" dirty="0"/>
          </a:p>
          <a:p>
            <a:pPr lvl="1"/>
            <a:r>
              <a:rPr lang="zh-CN" altLang="en-US" dirty="0">
                <a:sym typeface="+mn-ea"/>
              </a:rPr>
              <a:t>逻辑重复</a:t>
            </a:r>
            <a:endParaRPr lang="zh-CN" altLang="en-US" dirty="0"/>
          </a:p>
          <a:p>
            <a:pPr lvl="1"/>
            <a:r>
              <a:rPr lang="zh-CN" altLang="en-US" dirty="0">
                <a:sym typeface="+mn-ea"/>
              </a:rPr>
              <a:t>忽略极限条件</a:t>
            </a:r>
            <a:endParaRPr lang="zh-CN" altLang="en-US" dirty="0"/>
          </a:p>
          <a:p>
            <a:pPr lvl="1"/>
            <a:r>
              <a:rPr lang="zh-CN" altLang="en-US" dirty="0">
                <a:sym typeface="+mn-ea"/>
              </a:rPr>
              <a:t>需求的错误表述</a:t>
            </a:r>
            <a:endParaRPr lang="zh-CN" altLang="en-US" dirty="0"/>
          </a:p>
          <a:p>
            <a:pPr lvl="1"/>
            <a:r>
              <a:rPr lang="zh-CN" altLang="en-US" dirty="0">
                <a:sym typeface="+mn-ea"/>
              </a:rPr>
              <a:t>未进行条件测试</a:t>
            </a:r>
            <a:endParaRPr lang="zh-CN" altLang="en-US" dirty="0"/>
          </a:p>
          <a:p>
            <a:pPr lvl="1"/>
            <a:r>
              <a:rPr lang="zh-CN" altLang="en-US" dirty="0">
                <a:sym typeface="+mn-ea"/>
              </a:rPr>
              <a:t>未检查错误变量</a:t>
            </a:r>
            <a:endParaRPr lang="zh-CN" altLang="en-US" dirty="0"/>
          </a:p>
          <a:p>
            <a:pPr lvl="1"/>
            <a:r>
              <a:rPr lang="zh-CN" altLang="en-US" dirty="0">
                <a:sym typeface="+mn-ea"/>
              </a:rPr>
              <a:t>循环错误 </a:t>
            </a:r>
            <a:endParaRPr lang="zh-CN"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dirty="0" smtClean="0">
                <a:solidFill>
                  <a:srgbClr val="C00000"/>
                </a:solidFill>
                <a:sym typeface="+mn-ea"/>
              </a:rPr>
              <a:t>4.1 软件失效模式和影响分析（SFMEA）</a:t>
            </a:r>
            <a:endParaRPr lang="zh-CN" altLang="en-US"/>
          </a:p>
        </p:txBody>
      </p:sp>
      <p:sp>
        <p:nvSpPr>
          <p:cNvPr id="3" name="内容占位符 2"/>
          <p:cNvSpPr>
            <a:spLocks noGrp="1"/>
          </p:cNvSpPr>
          <p:nvPr>
            <p:ph idx="1"/>
          </p:nvPr>
        </p:nvSpPr>
        <p:spPr/>
        <p:txBody>
          <a:bodyPr>
            <a:normAutofit/>
          </a:bodyPr>
          <a:p>
            <a:r>
              <a:rPr lang="zh-CN" altLang="en-US"/>
              <a:t>软件失效原因</a:t>
            </a:r>
            <a:r>
              <a:rPr lang="en-US" altLang="zh-CN"/>
              <a:t>2</a:t>
            </a:r>
            <a:r>
              <a:rPr lang="zh-CN" altLang="en-US"/>
              <a:t>：</a:t>
            </a:r>
            <a:r>
              <a:rPr lang="zh-CN" altLang="en-US" b="1">
                <a:solidFill>
                  <a:srgbClr val="FF0000"/>
                </a:solidFill>
              </a:rPr>
              <a:t>算法编码错误</a:t>
            </a:r>
            <a:endParaRPr lang="zh-CN" altLang="en-US"/>
          </a:p>
          <a:p>
            <a:pPr marR="0" lvl="1" algn="l" defTabSz="914400" rtl="0">
              <a:lnSpc>
                <a:spcPct val="100000"/>
              </a:lnSpc>
              <a:spcBef>
                <a:spcPts val="500"/>
              </a:spcBef>
              <a:buClrTx/>
              <a:buSzTx/>
              <a:buFont typeface="Arial" panose="020B0604020202020204" pitchFamily="34" charset="0"/>
              <a:buChar char="•"/>
            </a:pPr>
            <a:r>
              <a:rPr lang="zh-CN" altLang="en-US" sz="2400" dirty="0">
                <a:sym typeface="+mn-ea"/>
              </a:rPr>
              <a:t>等式不完整或不正确</a:t>
            </a:r>
            <a:endParaRPr kumimoji="0" lang="zh-CN" altLang="en-US" sz="2400" b="0" i="0" u="none" strike="noStrike" kern="1200" cap="none" spc="0" normalizeH="0" baseline="0" dirty="0">
              <a:solidFill>
                <a:schemeClr val="tx1"/>
              </a:solidFill>
              <a:latin typeface="+mn-lt"/>
              <a:ea typeface="+mn-ea"/>
              <a:cs typeface="+mn-cs"/>
            </a:endParaRPr>
          </a:p>
          <a:p>
            <a:pPr marR="0" lvl="1" algn="l" defTabSz="914400" rtl="0">
              <a:lnSpc>
                <a:spcPct val="100000"/>
              </a:lnSpc>
              <a:spcBef>
                <a:spcPts val="500"/>
              </a:spcBef>
              <a:buClrTx/>
              <a:buSzTx/>
              <a:buFont typeface="Arial" panose="020B0604020202020204" pitchFamily="34" charset="0"/>
              <a:buChar char="•"/>
            </a:pPr>
            <a:r>
              <a:rPr lang="zh-CN" altLang="en-US" sz="2400" dirty="0">
                <a:sym typeface="+mn-ea"/>
              </a:rPr>
              <a:t>丢失运算结果</a:t>
            </a:r>
            <a:endParaRPr kumimoji="0" lang="zh-CN" altLang="en-US" sz="2400" b="0" i="0" u="none" strike="noStrike" kern="1200" cap="none" spc="0" normalizeH="0" baseline="0" dirty="0">
              <a:solidFill>
                <a:schemeClr val="tx1"/>
              </a:solidFill>
              <a:latin typeface="+mn-lt"/>
              <a:ea typeface="+mn-ea"/>
              <a:cs typeface="+mn-cs"/>
            </a:endParaRPr>
          </a:p>
          <a:p>
            <a:pPr marR="0" lvl="1" algn="l" defTabSz="914400" rtl="0">
              <a:lnSpc>
                <a:spcPct val="100000"/>
              </a:lnSpc>
              <a:spcBef>
                <a:spcPts val="500"/>
              </a:spcBef>
              <a:buClrTx/>
              <a:buSzTx/>
              <a:buFont typeface="Arial" panose="020B0604020202020204" pitchFamily="34" charset="0"/>
              <a:buChar char="•"/>
            </a:pPr>
            <a:r>
              <a:rPr lang="zh-CN" altLang="en-US" sz="2400" dirty="0">
                <a:sym typeface="+mn-ea"/>
              </a:rPr>
              <a:t>操作数错误</a:t>
            </a:r>
            <a:endParaRPr kumimoji="0" lang="zh-CN" altLang="en-US" sz="2400" b="0" i="0" u="none" strike="noStrike" kern="1200" cap="none" spc="0" normalizeH="0" baseline="0" dirty="0">
              <a:solidFill>
                <a:schemeClr val="tx1"/>
              </a:solidFill>
              <a:latin typeface="+mn-lt"/>
              <a:ea typeface="+mn-ea"/>
              <a:cs typeface="+mn-cs"/>
            </a:endParaRPr>
          </a:p>
          <a:p>
            <a:pPr marR="0" lvl="1" algn="l" defTabSz="914400" rtl="0">
              <a:lnSpc>
                <a:spcPct val="100000"/>
              </a:lnSpc>
              <a:spcBef>
                <a:spcPts val="500"/>
              </a:spcBef>
              <a:buClrTx/>
              <a:buSzTx/>
              <a:buFont typeface="Arial" panose="020B0604020202020204" pitchFamily="34" charset="0"/>
              <a:buChar char="•"/>
            </a:pPr>
            <a:r>
              <a:rPr lang="zh-CN" altLang="en-US" sz="2400" dirty="0">
                <a:sym typeface="+mn-ea"/>
              </a:rPr>
              <a:t>操作错误</a:t>
            </a:r>
            <a:endParaRPr kumimoji="0" lang="zh-CN" altLang="en-US" sz="2400" b="0" i="0" u="none" strike="noStrike" kern="1200" cap="none" spc="0" normalizeH="0" baseline="0" dirty="0">
              <a:solidFill>
                <a:schemeClr val="tx1"/>
              </a:solidFill>
              <a:latin typeface="+mn-lt"/>
              <a:ea typeface="+mn-ea"/>
              <a:cs typeface="+mn-cs"/>
            </a:endParaRPr>
          </a:p>
          <a:p>
            <a:pPr marR="0" lvl="1" algn="l" defTabSz="914400" rtl="0">
              <a:lnSpc>
                <a:spcPct val="100000"/>
              </a:lnSpc>
              <a:spcBef>
                <a:spcPts val="500"/>
              </a:spcBef>
              <a:buClrTx/>
              <a:buSzTx/>
              <a:buFont typeface="Arial" panose="020B0604020202020204" pitchFamily="34" charset="0"/>
              <a:buChar char="•"/>
            </a:pPr>
            <a:r>
              <a:rPr lang="zh-CN" altLang="en-US" sz="2400" dirty="0">
                <a:sym typeface="+mn-ea"/>
              </a:rPr>
              <a:t>括号使用错误</a:t>
            </a:r>
            <a:endParaRPr kumimoji="0" lang="zh-CN" altLang="en-US" sz="2400" b="0" i="0" u="none" strike="noStrike" kern="1200" cap="none" spc="0" normalizeH="0" baseline="0" dirty="0">
              <a:solidFill>
                <a:schemeClr val="tx1"/>
              </a:solidFill>
              <a:latin typeface="+mn-lt"/>
              <a:ea typeface="+mn-ea"/>
              <a:cs typeface="+mn-cs"/>
            </a:endParaRPr>
          </a:p>
          <a:p>
            <a:pPr marR="0" lvl="1" algn="l" defTabSz="914400" rtl="0">
              <a:lnSpc>
                <a:spcPct val="100000"/>
              </a:lnSpc>
              <a:spcBef>
                <a:spcPts val="500"/>
              </a:spcBef>
              <a:buClrTx/>
              <a:buSzTx/>
              <a:buFont typeface="Arial" panose="020B0604020202020204" pitchFamily="34" charset="0"/>
              <a:buChar char="•"/>
            </a:pPr>
            <a:r>
              <a:rPr lang="zh-CN" altLang="en-US" sz="2400" dirty="0">
                <a:sym typeface="+mn-ea"/>
              </a:rPr>
              <a:t>精度损失</a:t>
            </a:r>
            <a:endParaRPr kumimoji="0" lang="zh-CN" altLang="en-US" sz="2400" b="0" i="0" u="none" strike="noStrike" kern="1200" cap="none" spc="0" normalizeH="0" baseline="0" dirty="0">
              <a:solidFill>
                <a:schemeClr val="tx1"/>
              </a:solidFill>
              <a:latin typeface="+mn-lt"/>
              <a:ea typeface="+mn-ea"/>
              <a:cs typeface="+mn-cs"/>
            </a:endParaRPr>
          </a:p>
          <a:p>
            <a:pPr marR="0" lvl="1" algn="l" defTabSz="914400" rtl="0">
              <a:lnSpc>
                <a:spcPct val="100000"/>
              </a:lnSpc>
              <a:spcBef>
                <a:spcPts val="500"/>
              </a:spcBef>
              <a:buClrTx/>
              <a:buSzTx/>
              <a:buFont typeface="Arial" panose="020B0604020202020204" pitchFamily="34" charset="0"/>
              <a:buChar char="•"/>
            </a:pPr>
            <a:r>
              <a:rPr lang="zh-CN" altLang="en-US" sz="2400" dirty="0">
                <a:sym typeface="+mn-ea"/>
              </a:rPr>
              <a:t>舍入和舍去错误</a:t>
            </a:r>
            <a:endParaRPr kumimoji="0" lang="zh-CN" altLang="en-US" sz="2400" b="0" i="0" u="none" strike="noStrike" kern="1200" cap="none" spc="0" normalizeH="0" baseline="0" dirty="0">
              <a:solidFill>
                <a:schemeClr val="tx1"/>
              </a:solidFill>
              <a:latin typeface="+mn-lt"/>
              <a:ea typeface="+mn-ea"/>
              <a:cs typeface="+mn-cs"/>
            </a:endParaRPr>
          </a:p>
          <a:p>
            <a:pPr marR="0" lvl="1" algn="l" defTabSz="914400" rtl="0">
              <a:lnSpc>
                <a:spcPct val="100000"/>
              </a:lnSpc>
              <a:spcBef>
                <a:spcPts val="500"/>
              </a:spcBef>
              <a:buClrTx/>
              <a:buSzTx/>
              <a:buFont typeface="Arial" panose="020B0604020202020204" pitchFamily="34" charset="0"/>
              <a:buChar char="•"/>
            </a:pPr>
            <a:r>
              <a:rPr lang="zh-CN" altLang="en-US" sz="2400" dirty="0">
                <a:sym typeface="+mn-ea"/>
              </a:rPr>
              <a:t>混合类型</a:t>
            </a:r>
            <a:endParaRPr kumimoji="0" lang="zh-CN" altLang="en-US" sz="2400" b="0" i="0" u="none" strike="noStrike" kern="1200" cap="none" spc="0" normalizeH="0" baseline="0" dirty="0">
              <a:solidFill>
                <a:schemeClr val="tx1"/>
              </a:solidFill>
              <a:latin typeface="+mn-lt"/>
              <a:ea typeface="+mn-ea"/>
              <a:cs typeface="+mn-cs"/>
            </a:endParaRPr>
          </a:p>
          <a:p>
            <a:pPr marR="0" lvl="1" algn="l" defTabSz="914400" rtl="0">
              <a:lnSpc>
                <a:spcPct val="100000"/>
              </a:lnSpc>
              <a:spcBef>
                <a:spcPts val="500"/>
              </a:spcBef>
              <a:buClrTx/>
              <a:buSzTx/>
              <a:buFont typeface="Arial" panose="020B0604020202020204" pitchFamily="34" charset="0"/>
              <a:buChar char="•"/>
            </a:pPr>
            <a:r>
              <a:rPr lang="zh-CN" altLang="en-US" sz="2400" dirty="0">
                <a:sym typeface="+mn-ea"/>
              </a:rPr>
              <a:t>标记习惯不正确 </a:t>
            </a:r>
            <a:endParaRPr lang="zh-CN" alt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dirty="0" smtClean="0">
                <a:solidFill>
                  <a:srgbClr val="C00000"/>
                </a:solidFill>
                <a:sym typeface="+mn-ea"/>
              </a:rPr>
              <a:t>4.1 软件失效模式和影响分析（SFMEA）</a:t>
            </a:r>
            <a:endParaRPr lang="zh-CN" altLang="en-US"/>
          </a:p>
        </p:txBody>
      </p:sp>
      <p:sp>
        <p:nvSpPr>
          <p:cNvPr id="3" name="内容占位符 2"/>
          <p:cNvSpPr>
            <a:spLocks noGrp="1"/>
          </p:cNvSpPr>
          <p:nvPr>
            <p:ph idx="1"/>
          </p:nvPr>
        </p:nvSpPr>
        <p:spPr/>
        <p:txBody>
          <a:bodyPr>
            <a:normAutofit lnSpcReduction="10000"/>
          </a:bodyPr>
          <a:p>
            <a:r>
              <a:rPr lang="zh-CN" altLang="en-US"/>
              <a:t>软件失效原因</a:t>
            </a:r>
            <a:r>
              <a:rPr lang="en-US" altLang="zh-CN"/>
              <a:t>3</a:t>
            </a:r>
            <a:r>
              <a:rPr lang="zh-CN" altLang="en-US"/>
              <a:t>：</a:t>
            </a:r>
            <a:r>
              <a:rPr lang="zh-CN" altLang="en-US" b="1">
                <a:solidFill>
                  <a:srgbClr val="FF0000"/>
                </a:solidFill>
              </a:rPr>
              <a:t>软硬件接口错误</a:t>
            </a:r>
            <a:endParaRPr lang="zh-CN" altLang="en-US"/>
          </a:p>
          <a:p>
            <a:pPr lvl="1" algn="l">
              <a:lnSpc>
                <a:spcPct val="130000"/>
              </a:lnSpc>
              <a:buClrTx/>
              <a:buSzTx/>
            </a:pPr>
            <a:r>
              <a:rPr lang="zh-CN" altLang="en-US" sz="2400" dirty="0">
                <a:sym typeface="+mn-ea"/>
              </a:rPr>
              <a:t>I/O时序错误</a:t>
            </a:r>
            <a:endParaRPr lang="zh-CN" altLang="en-US" sz="2400" dirty="0"/>
          </a:p>
          <a:p>
            <a:pPr lvl="1" algn="l">
              <a:lnSpc>
                <a:spcPct val="130000"/>
              </a:lnSpc>
              <a:buClrTx/>
              <a:buSzTx/>
            </a:pPr>
            <a:r>
              <a:rPr lang="zh-CN" altLang="en-US" sz="2400" dirty="0">
                <a:sym typeface="+mn-ea"/>
              </a:rPr>
              <a:t>时序错误导致数据丢失</a:t>
            </a:r>
            <a:endParaRPr lang="zh-CN" altLang="en-US" sz="2400" dirty="0"/>
          </a:p>
          <a:p>
            <a:pPr lvl="1" algn="l">
              <a:lnSpc>
                <a:spcPct val="130000"/>
              </a:lnSpc>
              <a:buClrTx/>
              <a:buSzTx/>
            </a:pPr>
            <a:r>
              <a:rPr lang="zh-CN" altLang="en-US" sz="2400" dirty="0">
                <a:sym typeface="+mn-ea"/>
              </a:rPr>
              <a:t>子函数调用不当</a:t>
            </a:r>
            <a:endParaRPr lang="zh-CN" altLang="en-US" sz="2400" dirty="0"/>
          </a:p>
          <a:p>
            <a:pPr lvl="1" algn="l">
              <a:lnSpc>
                <a:spcPct val="130000"/>
              </a:lnSpc>
              <a:buClrTx/>
              <a:buSzTx/>
            </a:pPr>
            <a:r>
              <a:rPr lang="zh-CN" altLang="en-US" sz="2400" dirty="0">
                <a:sym typeface="+mn-ea"/>
              </a:rPr>
              <a:t>子函数调用位置错误</a:t>
            </a:r>
            <a:endParaRPr lang="zh-CN" altLang="en-US" sz="2400" dirty="0"/>
          </a:p>
          <a:p>
            <a:pPr lvl="1" algn="l">
              <a:lnSpc>
                <a:spcPct val="130000"/>
              </a:lnSpc>
              <a:buClrTx/>
              <a:buSzTx/>
            </a:pPr>
            <a:r>
              <a:rPr lang="zh-CN" altLang="en-US" sz="2400" dirty="0">
                <a:sym typeface="+mn-ea"/>
              </a:rPr>
              <a:t>调用不存在的子函数</a:t>
            </a:r>
            <a:endParaRPr lang="zh-CN" altLang="en-US" sz="2400" dirty="0"/>
          </a:p>
          <a:p>
            <a:pPr lvl="1" algn="l">
              <a:lnSpc>
                <a:spcPct val="130000"/>
              </a:lnSpc>
              <a:buClrTx/>
              <a:buSzTx/>
            </a:pPr>
            <a:r>
              <a:rPr lang="zh-CN" altLang="en-US" sz="2400" dirty="0">
                <a:sym typeface="+mn-ea"/>
              </a:rPr>
              <a:t>子函数不一致 </a:t>
            </a:r>
            <a:endParaRPr lang="zh-CN" alt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dirty="0" smtClean="0">
                <a:solidFill>
                  <a:srgbClr val="C00000"/>
                </a:solidFill>
                <a:sym typeface="+mn-ea"/>
              </a:rPr>
              <a:t>4.1 软件失效模式和影响分析（SFMEA）</a:t>
            </a:r>
            <a:endParaRPr lang="zh-CN" altLang="en-US"/>
          </a:p>
        </p:txBody>
      </p:sp>
      <p:sp>
        <p:nvSpPr>
          <p:cNvPr id="3" name="内容占位符 2"/>
          <p:cNvSpPr>
            <a:spLocks noGrp="1"/>
          </p:cNvSpPr>
          <p:nvPr>
            <p:ph idx="1"/>
          </p:nvPr>
        </p:nvSpPr>
        <p:spPr>
          <a:xfrm>
            <a:off x="838200" y="1538605"/>
            <a:ext cx="5524500" cy="5248275"/>
          </a:xfrm>
        </p:spPr>
        <p:txBody>
          <a:bodyPr/>
          <a:p>
            <a:pPr>
              <a:lnSpc>
                <a:spcPts val="3480"/>
              </a:lnSpc>
            </a:pPr>
            <a:r>
              <a:rPr lang="zh-CN" altLang="en-US"/>
              <a:t>软件失效原因</a:t>
            </a:r>
            <a:r>
              <a:rPr lang="en-US" altLang="zh-CN"/>
              <a:t>4</a:t>
            </a:r>
            <a:r>
              <a:rPr lang="zh-CN" altLang="en-US"/>
              <a:t>：</a:t>
            </a:r>
            <a:r>
              <a:rPr lang="zh-CN" altLang="en-US" b="1">
                <a:solidFill>
                  <a:srgbClr val="FF0000"/>
                </a:solidFill>
              </a:rPr>
              <a:t>数据操作错误</a:t>
            </a:r>
            <a:endParaRPr lang="zh-CN" altLang="en-US"/>
          </a:p>
          <a:p>
            <a:pPr marR="0" lvl="1" algn="l" defTabSz="914400" rtl="0">
              <a:lnSpc>
                <a:spcPts val="3480"/>
              </a:lnSpc>
              <a:spcBef>
                <a:spcPts val="500"/>
              </a:spcBef>
              <a:buClrTx/>
              <a:buSzTx/>
              <a:buFont typeface="Arial" panose="020B0604020202020204" pitchFamily="34" charset="0"/>
              <a:buChar char="•"/>
            </a:pPr>
            <a:r>
              <a:rPr lang="zh-CN" altLang="en-US" dirty="0">
                <a:sym typeface="+mn-ea"/>
              </a:rPr>
              <a:t>数据初始化错误</a:t>
            </a:r>
            <a:endParaRPr kumimoji="0" lang="zh-CN" altLang="en-US" b="0" i="0" u="none" strike="noStrike" kern="1200" cap="none" spc="0" normalizeH="0" baseline="0" dirty="0">
              <a:solidFill>
                <a:schemeClr val="tx1"/>
              </a:solidFill>
              <a:latin typeface="+mn-lt"/>
              <a:ea typeface="+mn-ea"/>
              <a:cs typeface="+mn-cs"/>
            </a:endParaRPr>
          </a:p>
          <a:p>
            <a:pPr marR="0" lvl="1" algn="l" defTabSz="914400" rtl="0">
              <a:lnSpc>
                <a:spcPts val="3480"/>
              </a:lnSpc>
              <a:spcBef>
                <a:spcPts val="500"/>
              </a:spcBef>
              <a:buClrTx/>
              <a:buSzTx/>
              <a:buFont typeface="Arial" panose="020B0604020202020204" pitchFamily="34" charset="0"/>
              <a:buChar char="•"/>
            </a:pPr>
            <a:r>
              <a:rPr lang="zh-CN" altLang="en-US" dirty="0">
                <a:sym typeface="+mn-ea"/>
              </a:rPr>
              <a:t>数据存取错误</a:t>
            </a:r>
            <a:endParaRPr kumimoji="0" lang="zh-CN" altLang="en-US" b="0" i="0" u="none" strike="noStrike" kern="1200" cap="none" spc="0" normalizeH="0" baseline="0" dirty="0">
              <a:solidFill>
                <a:schemeClr val="tx1"/>
              </a:solidFill>
              <a:latin typeface="+mn-lt"/>
              <a:ea typeface="+mn-ea"/>
              <a:cs typeface="+mn-cs"/>
            </a:endParaRPr>
          </a:p>
          <a:p>
            <a:pPr marR="0" lvl="1" algn="l" defTabSz="914400" rtl="0">
              <a:lnSpc>
                <a:spcPts val="3480"/>
              </a:lnSpc>
              <a:spcBef>
                <a:spcPts val="500"/>
              </a:spcBef>
              <a:buClrTx/>
              <a:buSzTx/>
              <a:buFont typeface="Arial" panose="020B0604020202020204" pitchFamily="34" charset="0"/>
              <a:buChar char="•"/>
            </a:pPr>
            <a:r>
              <a:rPr lang="zh-CN" altLang="en-US" dirty="0">
                <a:sym typeface="+mn-ea"/>
              </a:rPr>
              <a:t>标志或索引设置不当</a:t>
            </a:r>
            <a:endParaRPr kumimoji="0" lang="zh-CN" altLang="en-US" b="0" i="0" u="none" strike="noStrike" kern="1200" cap="none" spc="0" normalizeH="0" baseline="0" dirty="0">
              <a:solidFill>
                <a:schemeClr val="tx1"/>
              </a:solidFill>
              <a:latin typeface="+mn-lt"/>
              <a:ea typeface="+mn-ea"/>
              <a:cs typeface="+mn-cs"/>
            </a:endParaRPr>
          </a:p>
          <a:p>
            <a:pPr marR="0" lvl="1" algn="l" defTabSz="914400" rtl="0">
              <a:lnSpc>
                <a:spcPts val="3480"/>
              </a:lnSpc>
              <a:spcBef>
                <a:spcPts val="500"/>
              </a:spcBef>
              <a:buClrTx/>
              <a:buSzTx/>
              <a:buFont typeface="Arial" panose="020B0604020202020204" pitchFamily="34" charset="0"/>
              <a:buChar char="•"/>
            </a:pPr>
            <a:r>
              <a:rPr lang="zh-CN" altLang="en-US" dirty="0">
                <a:sym typeface="+mn-ea"/>
              </a:rPr>
              <a:t>数据打包解包错误</a:t>
            </a:r>
            <a:endParaRPr kumimoji="0" lang="zh-CN" altLang="en-US" b="0" i="0" u="none" strike="noStrike" kern="1200" cap="none" spc="0" normalizeH="0" baseline="0" dirty="0">
              <a:solidFill>
                <a:schemeClr val="tx1"/>
              </a:solidFill>
              <a:latin typeface="+mn-lt"/>
              <a:ea typeface="+mn-ea"/>
              <a:cs typeface="+mn-cs"/>
            </a:endParaRPr>
          </a:p>
          <a:p>
            <a:pPr marR="0" lvl="1" algn="l" defTabSz="914400" rtl="0">
              <a:lnSpc>
                <a:spcPts val="3480"/>
              </a:lnSpc>
              <a:spcBef>
                <a:spcPts val="500"/>
              </a:spcBef>
              <a:buClrTx/>
              <a:buSzTx/>
              <a:buFont typeface="Arial" panose="020B0604020202020204" pitchFamily="34" charset="0"/>
              <a:buChar char="•"/>
            </a:pPr>
            <a:r>
              <a:rPr lang="zh-CN" altLang="en-US" dirty="0">
                <a:sym typeface="+mn-ea"/>
              </a:rPr>
              <a:t>变量参考错误数据</a:t>
            </a:r>
            <a:endParaRPr kumimoji="0" lang="zh-CN" altLang="en-US" b="0" i="0" u="none" strike="noStrike" kern="1200" cap="none" spc="0" normalizeH="0" baseline="0" dirty="0">
              <a:solidFill>
                <a:schemeClr val="tx1"/>
              </a:solidFill>
              <a:latin typeface="+mn-lt"/>
              <a:ea typeface="+mn-ea"/>
              <a:cs typeface="+mn-cs"/>
            </a:endParaRPr>
          </a:p>
          <a:p>
            <a:pPr marR="0" lvl="1" algn="l" defTabSz="914400" rtl="0">
              <a:lnSpc>
                <a:spcPts val="3480"/>
              </a:lnSpc>
              <a:spcBef>
                <a:spcPts val="500"/>
              </a:spcBef>
              <a:buClrTx/>
              <a:buSzTx/>
              <a:buFont typeface="Arial" panose="020B0604020202020204" pitchFamily="34" charset="0"/>
              <a:buChar char="•"/>
            </a:pPr>
            <a:r>
              <a:rPr lang="zh-CN" altLang="en-US" dirty="0">
                <a:sym typeface="+mn-ea"/>
              </a:rPr>
              <a:t>数据越界</a:t>
            </a:r>
            <a:endParaRPr kumimoji="0" lang="zh-CN" altLang="en-US" b="0" i="0" u="none" strike="noStrike" kern="1200" cap="none" spc="0" normalizeH="0" baseline="0" dirty="0">
              <a:solidFill>
                <a:schemeClr val="tx1"/>
              </a:solidFill>
              <a:latin typeface="+mn-lt"/>
              <a:ea typeface="+mn-ea"/>
              <a:cs typeface="+mn-cs"/>
            </a:endParaRPr>
          </a:p>
          <a:p>
            <a:pPr marR="0" lvl="1" algn="l" defTabSz="914400" rtl="0">
              <a:lnSpc>
                <a:spcPct val="100000"/>
              </a:lnSpc>
              <a:spcBef>
                <a:spcPts val="500"/>
              </a:spcBef>
              <a:buClrTx/>
              <a:buSzTx/>
              <a:buFont typeface="Arial" panose="020B0604020202020204" pitchFamily="34" charset="0"/>
              <a:buChar char="•"/>
            </a:pPr>
            <a:endParaRPr kumimoji="0" lang="zh-CN" altLang="en-US" b="0" i="0" u="none" strike="noStrike" kern="1200" cap="none" spc="0" normalizeH="0" baseline="0" dirty="0">
              <a:solidFill>
                <a:schemeClr val="tx1"/>
              </a:solidFill>
              <a:latin typeface="+mn-lt"/>
              <a:ea typeface="+mn-ea"/>
              <a:cs typeface="+mn-cs"/>
            </a:endParaRPr>
          </a:p>
        </p:txBody>
      </p:sp>
      <p:sp>
        <p:nvSpPr>
          <p:cNvPr id="4" name="内容占位符 2"/>
          <p:cNvSpPr>
            <a:spLocks noGrp="1"/>
          </p:cNvSpPr>
          <p:nvPr/>
        </p:nvSpPr>
        <p:spPr>
          <a:xfrm>
            <a:off x="6096000" y="2080895"/>
            <a:ext cx="5257800" cy="4705985"/>
          </a:xfrm>
          <a:prstGeom prst="rect">
            <a:avLst/>
          </a:prstGeom>
        </p:spPr>
        <p:txBody>
          <a:bodyPr vert="horz" lIns="91440" tIns="45720" rIns="91440" bIns="45720" rtlCol="0">
            <a:normAutofit/>
          </a:bodyPr>
          <a:lstStyle>
            <a:lvl1pPr marL="228600" indent="-228600" algn="l" defTabSz="914400" rtl="0" eaLnBrk="1" fontAlgn="auto" latinLnBrk="0" hangingPunct="1">
              <a:lnSpc>
                <a:spcPct val="13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fontAlgn="auto" latinLnBrk="0" hangingPunct="1">
              <a:lnSpc>
                <a:spcPct val="13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fontAlgn="auto" latinLnBrk="0" hangingPunct="1">
              <a:lnSpc>
                <a:spcPct val="13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fontAlgn="auto" latinLnBrk="0" hangingPunct="1">
              <a:lnSpc>
                <a:spcPct val="13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fontAlgn="auto" latinLnBrk="0" hangingPunct="1">
              <a:lnSpc>
                <a:spcPct val="13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R="0" lvl="1" algn="l" defTabSz="914400" rtl="0">
              <a:lnSpc>
                <a:spcPts val="3480"/>
              </a:lnSpc>
              <a:spcBef>
                <a:spcPts val="500"/>
              </a:spcBef>
              <a:buClrTx/>
              <a:buSzTx/>
              <a:buFont typeface="Arial" panose="020B0604020202020204" pitchFamily="34" charset="0"/>
              <a:buChar char="•"/>
            </a:pPr>
            <a:r>
              <a:rPr lang="zh-CN" altLang="en-US" sz="2400" dirty="0">
                <a:sym typeface="+mn-ea"/>
              </a:rPr>
              <a:t>变量缩放比率或单位不正确</a:t>
            </a:r>
            <a:endParaRPr kumimoji="0" lang="zh-CN" altLang="en-US" sz="2400" b="0" i="0" u="none" strike="noStrike" kern="1200" cap="none" spc="0" normalizeH="0" baseline="0" dirty="0">
              <a:solidFill>
                <a:schemeClr val="tx1"/>
              </a:solidFill>
              <a:latin typeface="+mn-lt"/>
              <a:ea typeface="+mn-ea"/>
              <a:cs typeface="+mn-cs"/>
            </a:endParaRPr>
          </a:p>
          <a:p>
            <a:pPr marR="0" lvl="1" algn="l" defTabSz="914400" rtl="0">
              <a:lnSpc>
                <a:spcPts val="3480"/>
              </a:lnSpc>
              <a:spcBef>
                <a:spcPts val="500"/>
              </a:spcBef>
              <a:buClrTx/>
              <a:buSzTx/>
              <a:buFont typeface="Arial" panose="020B0604020202020204" pitchFamily="34" charset="0"/>
              <a:buChar char="•"/>
            </a:pPr>
            <a:r>
              <a:rPr lang="zh-CN" altLang="en-US" sz="2400" dirty="0">
                <a:sym typeface="+mn-ea"/>
              </a:rPr>
              <a:t>变量维度不正确</a:t>
            </a:r>
            <a:endParaRPr kumimoji="0" lang="zh-CN" altLang="en-US" sz="2400" b="0" i="0" u="none" strike="noStrike" kern="1200" cap="none" spc="0" normalizeH="0" baseline="0" dirty="0">
              <a:solidFill>
                <a:schemeClr val="tx1"/>
              </a:solidFill>
              <a:latin typeface="+mn-lt"/>
              <a:ea typeface="+mn-ea"/>
              <a:cs typeface="+mn-cs"/>
            </a:endParaRPr>
          </a:p>
          <a:p>
            <a:pPr marR="0" lvl="1" algn="l" defTabSz="914400" rtl="0">
              <a:lnSpc>
                <a:spcPts val="3480"/>
              </a:lnSpc>
              <a:spcBef>
                <a:spcPts val="500"/>
              </a:spcBef>
              <a:buClrTx/>
              <a:buSzTx/>
              <a:buFont typeface="Arial" panose="020B0604020202020204" pitchFamily="34" charset="0"/>
              <a:buChar char="•"/>
            </a:pPr>
            <a:r>
              <a:rPr lang="zh-CN" altLang="en-US" sz="2400" dirty="0">
                <a:sym typeface="+mn-ea"/>
              </a:rPr>
              <a:t>变量类型错误</a:t>
            </a:r>
            <a:endParaRPr kumimoji="0" lang="zh-CN" altLang="en-US" sz="2400" b="0" i="0" u="none" strike="noStrike" kern="1200" cap="none" spc="0" normalizeH="0" baseline="0" dirty="0">
              <a:solidFill>
                <a:schemeClr val="tx1"/>
              </a:solidFill>
              <a:latin typeface="+mn-lt"/>
              <a:ea typeface="+mn-ea"/>
              <a:cs typeface="+mn-cs"/>
            </a:endParaRPr>
          </a:p>
          <a:p>
            <a:pPr marR="0" lvl="1" algn="l" defTabSz="914400" rtl="0">
              <a:lnSpc>
                <a:spcPts val="3480"/>
              </a:lnSpc>
              <a:spcBef>
                <a:spcPts val="500"/>
              </a:spcBef>
              <a:buClrTx/>
              <a:buSzTx/>
              <a:buFont typeface="Arial" panose="020B0604020202020204" pitchFamily="34" charset="0"/>
              <a:buChar char="•"/>
            </a:pPr>
            <a:r>
              <a:rPr lang="zh-CN" altLang="en-US" sz="2400" dirty="0">
                <a:sym typeface="+mn-ea"/>
              </a:rPr>
              <a:t>变量下标错误</a:t>
            </a:r>
            <a:endParaRPr kumimoji="0" lang="zh-CN" altLang="en-US" sz="2400" b="0" i="0" u="none" strike="noStrike" kern="1200" cap="none" spc="0" normalizeH="0" baseline="0" dirty="0">
              <a:solidFill>
                <a:schemeClr val="tx1"/>
              </a:solidFill>
              <a:latin typeface="+mn-lt"/>
              <a:ea typeface="+mn-ea"/>
              <a:cs typeface="+mn-cs"/>
            </a:endParaRPr>
          </a:p>
          <a:p>
            <a:pPr marR="0" lvl="1" algn="l" defTabSz="914400" rtl="0">
              <a:lnSpc>
                <a:spcPts val="3480"/>
              </a:lnSpc>
              <a:spcBef>
                <a:spcPts val="500"/>
              </a:spcBef>
              <a:buClrTx/>
              <a:buSzTx/>
              <a:buFont typeface="Arial" panose="020B0604020202020204" pitchFamily="34" charset="0"/>
              <a:buChar char="•"/>
            </a:pPr>
            <a:r>
              <a:rPr lang="zh-CN" altLang="en-US" sz="2400" dirty="0">
                <a:sym typeface="+mn-ea"/>
              </a:rPr>
              <a:t>数据范围不对 </a:t>
            </a:r>
            <a:endParaRPr lang="zh-CN" altLang="en-US" sz="2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dirty="0" smtClean="0">
                <a:solidFill>
                  <a:srgbClr val="C00000"/>
                </a:solidFill>
                <a:sym typeface="+mn-ea"/>
              </a:rPr>
              <a:t>4.1 软件失效模式和影响分析（SFMEA）</a:t>
            </a:r>
            <a:endParaRPr lang="zh-CN" altLang="en-US"/>
          </a:p>
        </p:txBody>
      </p:sp>
      <p:sp>
        <p:nvSpPr>
          <p:cNvPr id="3" name="内容占位符 2"/>
          <p:cNvSpPr>
            <a:spLocks noGrp="1"/>
          </p:cNvSpPr>
          <p:nvPr>
            <p:ph idx="1"/>
          </p:nvPr>
        </p:nvSpPr>
        <p:spPr>
          <a:xfrm>
            <a:off x="838200" y="1538605"/>
            <a:ext cx="10515600" cy="4505960"/>
          </a:xfrm>
        </p:spPr>
        <p:txBody>
          <a:bodyPr>
            <a:normAutofit/>
          </a:bodyPr>
          <a:p>
            <a:pPr>
              <a:lnSpc>
                <a:spcPct val="130000"/>
              </a:lnSpc>
            </a:pPr>
            <a:r>
              <a:rPr lang="zh-CN" altLang="en-US" sz="3000"/>
              <a:t>软件失效原因</a:t>
            </a:r>
            <a:r>
              <a:rPr lang="en-US" altLang="zh-CN" sz="3000"/>
              <a:t>5</a:t>
            </a:r>
            <a:r>
              <a:rPr lang="zh-CN" altLang="en-US" sz="3000"/>
              <a:t>：</a:t>
            </a:r>
            <a:r>
              <a:rPr lang="zh-CN" altLang="en-US" sz="2800" b="1">
                <a:solidFill>
                  <a:srgbClr val="FF0000"/>
                </a:solidFill>
              </a:rPr>
              <a:t>数据错误或丢失</a:t>
            </a:r>
            <a:endParaRPr lang="zh-CN" altLang="en-US" sz="3000"/>
          </a:p>
          <a:p>
            <a:pPr lvl="1" algn="l">
              <a:lnSpc>
                <a:spcPct val="130000"/>
              </a:lnSpc>
              <a:buClrTx/>
              <a:buSzTx/>
            </a:pPr>
            <a:r>
              <a:rPr lang="zh-CN" altLang="en-US" dirty="0">
                <a:sym typeface="+mn-ea"/>
              </a:rPr>
              <a:t>传感器数据错误或丢失</a:t>
            </a:r>
            <a:endParaRPr lang="zh-CN" altLang="en-US" dirty="0"/>
          </a:p>
          <a:p>
            <a:pPr lvl="1" algn="l">
              <a:lnSpc>
                <a:spcPct val="130000"/>
              </a:lnSpc>
              <a:buClrTx/>
              <a:buSzTx/>
            </a:pPr>
            <a:r>
              <a:rPr lang="zh-CN" altLang="en-US" dirty="0">
                <a:sym typeface="+mn-ea"/>
              </a:rPr>
              <a:t>操作数据错误或丢失</a:t>
            </a:r>
            <a:endParaRPr lang="zh-CN" altLang="en-US" dirty="0"/>
          </a:p>
          <a:p>
            <a:pPr lvl="1" algn="l">
              <a:lnSpc>
                <a:spcPct val="130000"/>
              </a:lnSpc>
              <a:buClrTx/>
              <a:buSzTx/>
            </a:pPr>
            <a:r>
              <a:rPr lang="zh-CN" altLang="en-US" dirty="0">
                <a:sym typeface="+mn-ea"/>
              </a:rPr>
              <a:t>嵌入到表中的数据错误或丢失</a:t>
            </a:r>
            <a:endParaRPr lang="zh-CN" altLang="en-US" dirty="0"/>
          </a:p>
          <a:p>
            <a:pPr lvl="1" algn="l">
              <a:lnSpc>
                <a:spcPct val="130000"/>
              </a:lnSpc>
              <a:buClrTx/>
              <a:buSzTx/>
            </a:pPr>
            <a:r>
              <a:rPr lang="zh-CN" altLang="en-US" dirty="0">
                <a:sym typeface="+mn-ea"/>
              </a:rPr>
              <a:t>外部数据错误或丢失</a:t>
            </a:r>
            <a:endParaRPr lang="zh-CN" altLang="en-US" dirty="0"/>
          </a:p>
          <a:p>
            <a:pPr lvl="1" algn="l">
              <a:lnSpc>
                <a:spcPct val="130000"/>
              </a:lnSpc>
              <a:buClrTx/>
              <a:buSzTx/>
            </a:pPr>
            <a:r>
              <a:rPr lang="zh-CN" altLang="en-US" dirty="0">
                <a:sym typeface="+mn-ea"/>
              </a:rPr>
              <a:t>输出数据错误或丢失</a:t>
            </a:r>
            <a:endParaRPr lang="zh-CN" altLang="en-US" dirty="0"/>
          </a:p>
          <a:p>
            <a:pPr lvl="1" algn="l">
              <a:lnSpc>
                <a:spcPct val="130000"/>
              </a:lnSpc>
              <a:buClrTx/>
              <a:buSzTx/>
            </a:pPr>
            <a:r>
              <a:rPr lang="zh-CN" altLang="en-US" dirty="0">
                <a:sym typeface="+mn-ea"/>
              </a:rPr>
              <a:t>输入数据错误或丢失 </a:t>
            </a:r>
            <a:endParaRPr lang="zh-CN" altLang="en-US" dirty="0">
              <a:sym typeface="+mn-ea"/>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dirty="0" smtClean="0">
                <a:solidFill>
                  <a:srgbClr val="C00000"/>
                </a:solidFill>
                <a:sym typeface="+mn-ea"/>
              </a:rPr>
              <a:t>4.1 软件失效模式和影响分析（SFMEA）</a:t>
            </a:r>
            <a:endParaRPr lang="zh-CN" altLang="en-US"/>
          </a:p>
        </p:txBody>
      </p:sp>
      <p:sp>
        <p:nvSpPr>
          <p:cNvPr id="3" name="内容占位符 2"/>
          <p:cNvSpPr>
            <a:spLocks noGrp="1"/>
          </p:cNvSpPr>
          <p:nvPr>
            <p:ph idx="1"/>
          </p:nvPr>
        </p:nvSpPr>
        <p:spPr/>
        <p:txBody>
          <a:bodyPr/>
          <a:p>
            <a:pPr marL="514350" indent="-514350">
              <a:buFont typeface="+mj-ea"/>
              <a:buAutoNum type="circleNumDbPlain" startAt="4"/>
            </a:pPr>
            <a:r>
              <a:rPr lang="zh-CN" altLang="en-US" dirty="0">
                <a:sym typeface="+mn-ea"/>
              </a:rPr>
              <a:t>软件失效影响分析</a:t>
            </a:r>
            <a:endParaRPr lang="zh-CN" altLang="en-US" dirty="0">
              <a:sym typeface="+mn-ea"/>
            </a:endParaRPr>
          </a:p>
          <a:p>
            <a:pPr lvl="1"/>
            <a:r>
              <a:rPr lang="zh-CN" altLang="en-US" dirty="0">
                <a:sym typeface="+mn-ea"/>
              </a:rPr>
              <a:t>针对每个失效模式分析其造成的影响，一般可分为</a:t>
            </a:r>
            <a:r>
              <a:rPr lang="zh-CN" altLang="en-US" b="1" dirty="0">
                <a:solidFill>
                  <a:srgbClr val="FF0000"/>
                </a:solidFill>
                <a:sym typeface="+mn-ea"/>
              </a:rPr>
              <a:t>局部影响</a:t>
            </a:r>
            <a:r>
              <a:rPr lang="zh-CN" altLang="en-US" dirty="0">
                <a:sym typeface="+mn-ea"/>
              </a:rPr>
              <a:t>、</a:t>
            </a:r>
            <a:r>
              <a:rPr lang="zh-CN" altLang="en-US" b="1" dirty="0">
                <a:solidFill>
                  <a:srgbClr val="FF0000"/>
                </a:solidFill>
                <a:sym typeface="+mn-ea"/>
              </a:rPr>
              <a:t>上一层次影响</a:t>
            </a:r>
            <a:r>
              <a:rPr lang="zh-CN" altLang="en-US" dirty="0">
                <a:sym typeface="+mn-ea"/>
              </a:rPr>
              <a:t>和</a:t>
            </a:r>
            <a:r>
              <a:rPr lang="zh-CN" altLang="en-US" b="1" dirty="0">
                <a:solidFill>
                  <a:srgbClr val="FF0000"/>
                </a:solidFill>
                <a:sym typeface="+mn-ea"/>
              </a:rPr>
              <a:t>最终影响</a:t>
            </a:r>
            <a:r>
              <a:rPr lang="zh-CN" altLang="en-US" dirty="0">
                <a:sym typeface="+mn-ea"/>
              </a:rPr>
              <a:t>三级 ，并分析失效所造成影响的严重性。</a:t>
            </a:r>
            <a:endParaRPr lang="zh-CN"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dirty="0" smtClean="0">
                <a:solidFill>
                  <a:srgbClr val="C00000"/>
                </a:solidFill>
                <a:sym typeface="+mn-ea"/>
              </a:rPr>
              <a:t>4.1 软件失效模式和影响分析（SFMEA）</a:t>
            </a:r>
            <a:endParaRPr lang="zh-CN" altLang="en-US"/>
          </a:p>
        </p:txBody>
      </p:sp>
      <p:sp>
        <p:nvSpPr>
          <p:cNvPr id="3" name="内容占位符 2"/>
          <p:cNvSpPr>
            <a:spLocks noGrp="1"/>
          </p:cNvSpPr>
          <p:nvPr>
            <p:ph idx="1"/>
          </p:nvPr>
        </p:nvSpPr>
        <p:spPr>
          <a:xfrm>
            <a:off x="838200" y="1538605"/>
            <a:ext cx="10515600" cy="923290"/>
          </a:xfrm>
        </p:spPr>
        <p:txBody>
          <a:bodyPr/>
          <a:p>
            <a:r>
              <a:rPr lang="zh-CN" altLang="en-US" dirty="0">
                <a:sym typeface="+mn-ea"/>
              </a:rPr>
              <a:t>失效影响严重性分类</a:t>
            </a:r>
            <a:endParaRPr lang="zh-CN" altLang="en-US"/>
          </a:p>
        </p:txBody>
      </p:sp>
      <p:graphicFrame>
        <p:nvGraphicFramePr>
          <p:cNvPr id="25624" name="Group 24"/>
          <p:cNvGraphicFramePr>
            <a:graphicFrameLocks noGrp="1"/>
          </p:cNvGraphicFramePr>
          <p:nvPr>
            <p:custDataLst>
              <p:tags r:id="rId1"/>
            </p:custDataLst>
          </p:nvPr>
        </p:nvGraphicFramePr>
        <p:xfrm>
          <a:off x="2033270" y="2350770"/>
          <a:ext cx="7772400" cy="3874770"/>
        </p:xfrm>
        <a:graphic>
          <a:graphicData uri="http://schemas.openxmlformats.org/drawingml/2006/table">
            <a:tbl>
              <a:tblPr/>
              <a:tblGrid>
                <a:gridCol w="2220595"/>
                <a:gridCol w="5551805"/>
              </a:tblGrid>
              <a:tr h="699770">
                <a:tc>
                  <a:txBody>
                    <a:bodyPr/>
                    <a:p>
                      <a:pPr marL="250825" marR="0" lvl="0" indent="-250825" algn="ctr" defTabSz="957580" rtl="0" eaLnBrk="0" fontAlgn="base" latinLnBrk="0" hangingPunct="0">
                        <a:lnSpc>
                          <a:spcPct val="100000"/>
                        </a:lnSpc>
                        <a:spcBef>
                          <a:spcPct val="0"/>
                        </a:spcBef>
                        <a:spcAft>
                          <a:spcPct val="0"/>
                        </a:spcAft>
                        <a:buClrTx/>
                        <a:buSzTx/>
                        <a:buFontTx/>
                        <a:buNone/>
                      </a:pPr>
                      <a:r>
                        <a:rPr kumimoji="1" lang="zh-CN" altLang="en-US" sz="2400" b="0"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严重性类别</a:t>
                      </a:r>
                      <a:endParaRPr kumimoji="1" lang="zh-CN" altLang="en-US" sz="4400" b="1" i="0" u="none" strike="noStrike" cap="none" normalizeH="0" baseline="0" smtClean="0">
                        <a:ln>
                          <a:noFill/>
                        </a:ln>
                        <a:solidFill>
                          <a:schemeClr val="tx1"/>
                        </a:solidFill>
                        <a:effectLst/>
                        <a:latin typeface="Times New Roman" panose="02020603050405020304" pitchFamily="18" charset="0"/>
                        <a:ea typeface="楷体_GB2312" pitchFamily="49"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2">
                        <a:lumMod val="20000"/>
                        <a:lumOff val="80000"/>
                      </a:schemeClr>
                    </a:solidFill>
                  </a:tcPr>
                </a:tc>
                <a:tc>
                  <a:txBody>
                    <a:bodyPr/>
                    <a:p>
                      <a:pPr marL="250825" marR="0" lvl="0" indent="-250825" algn="ctr" defTabSz="957580" rtl="0" eaLnBrk="0" fontAlgn="base" latinLnBrk="0" hangingPunct="0">
                        <a:lnSpc>
                          <a:spcPct val="100000"/>
                        </a:lnSpc>
                        <a:spcBef>
                          <a:spcPct val="0"/>
                        </a:spcBef>
                        <a:spcAft>
                          <a:spcPct val="0"/>
                        </a:spcAft>
                        <a:buClrTx/>
                        <a:buSzTx/>
                        <a:buFontTx/>
                        <a:buNone/>
                      </a:pPr>
                      <a:r>
                        <a:rPr kumimoji="1" lang="zh-CN" altLang="en-US" sz="2400" b="0"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严重性定义</a:t>
                      </a:r>
                      <a:endParaRPr kumimoji="1" lang="zh-CN" altLang="en-US" sz="4400" b="1" i="0" u="none" strike="noStrike" cap="none" normalizeH="0" baseline="0" smtClean="0">
                        <a:ln>
                          <a:noFill/>
                        </a:ln>
                        <a:solidFill>
                          <a:schemeClr val="tx1"/>
                        </a:solidFill>
                        <a:effectLst/>
                        <a:latin typeface="Times New Roman" panose="02020603050405020304" pitchFamily="18" charset="0"/>
                        <a:ea typeface="楷体_GB2312" pitchFamily="49"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2">
                        <a:lumMod val="20000"/>
                        <a:lumOff val="80000"/>
                      </a:schemeClr>
                    </a:solidFill>
                  </a:tcPr>
                </a:tc>
              </a:tr>
              <a:tr h="703580">
                <a:tc>
                  <a:txBody>
                    <a:bodyPr/>
                    <a:p>
                      <a:pPr marL="250825" marR="0" lvl="0" indent="-250825" algn="ctr" defTabSz="957580" rtl="0" eaLnBrk="0" fontAlgn="base" latinLnBrk="0" hangingPunct="0">
                        <a:lnSpc>
                          <a:spcPct val="100000"/>
                        </a:lnSpc>
                        <a:spcBef>
                          <a:spcPct val="0"/>
                        </a:spcBef>
                        <a:spcAft>
                          <a:spcPct val="0"/>
                        </a:spcAft>
                        <a:buClrTx/>
                        <a:buSzTx/>
                        <a:buFontTx/>
                        <a:buNone/>
                      </a:pPr>
                      <a:r>
                        <a:rPr kumimoji="1" lang="zh-CN" altLang="en-US" sz="2000" b="0"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致命</a:t>
                      </a:r>
                      <a:r>
                        <a:rPr kumimoji="1" lang="en-US" altLang="zh-CN" sz="2000" b="0"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r>
                        <a:rPr kumimoji="1" lang="zh-CN" altLang="en-US" sz="2000" b="0"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非常严重</a:t>
                      </a:r>
                      <a:endParaRPr kumimoji="1" lang="zh-CN" altLang="en-US" sz="4400" b="1" i="0" u="none" strike="noStrike" cap="none" normalizeH="0" baseline="0" smtClean="0">
                        <a:ln>
                          <a:noFill/>
                        </a:ln>
                        <a:solidFill>
                          <a:schemeClr val="tx1"/>
                        </a:solidFill>
                        <a:effectLst/>
                        <a:latin typeface="Times New Roman" panose="02020603050405020304" pitchFamily="18" charset="0"/>
                        <a:ea typeface="楷体_GB2312" pitchFamily="49"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p>
                      <a:pPr marL="250825" marR="0" lvl="0" indent="-250825" algn="l" defTabSz="957580" rtl="0" eaLnBrk="0" fontAlgn="base" latinLnBrk="0" hangingPunct="0">
                        <a:lnSpc>
                          <a:spcPct val="100000"/>
                        </a:lnSpc>
                        <a:spcBef>
                          <a:spcPct val="0"/>
                        </a:spcBef>
                        <a:spcAft>
                          <a:spcPct val="0"/>
                        </a:spcAft>
                        <a:buClrTx/>
                        <a:buSzTx/>
                        <a:buFontTx/>
                        <a:buNone/>
                      </a:pPr>
                      <a:r>
                        <a:rPr kumimoji="1" lang="zh-CN" altLang="en-US" sz="2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引起人员死亡，系统报废，或对周围环境造成灾难性破坏</a:t>
                      </a:r>
                      <a:endParaRPr kumimoji="1" lang="zh-CN" altLang="en-US" sz="4400" b="1" i="0" u="none" strike="noStrike" cap="none" normalizeH="0" baseline="0" smtClean="0">
                        <a:ln>
                          <a:noFill/>
                        </a:ln>
                        <a:solidFill>
                          <a:schemeClr val="tx1"/>
                        </a:solidFill>
                        <a:effectLst/>
                        <a:latin typeface="Times New Roman" panose="02020603050405020304" pitchFamily="18" charset="0"/>
                        <a:ea typeface="楷体_GB2312" pitchFamily="49" charset="-122"/>
                      </a:endParaRPr>
                    </a:p>
                  </a:txBody>
                  <a:tcPr marL="90000" marR="90000" marT="46800" marB="468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703580">
                <a:tc>
                  <a:txBody>
                    <a:bodyPr/>
                    <a:p>
                      <a:pPr marL="250825" marR="0" lvl="0" indent="-250825" algn="ctr" defTabSz="957580" rtl="0" eaLnBrk="0" fontAlgn="base" latinLnBrk="0" hangingPunct="0">
                        <a:lnSpc>
                          <a:spcPct val="100000"/>
                        </a:lnSpc>
                        <a:spcBef>
                          <a:spcPct val="0"/>
                        </a:spcBef>
                        <a:spcAft>
                          <a:spcPct val="0"/>
                        </a:spcAft>
                        <a:buClrTx/>
                        <a:buSzTx/>
                        <a:buFontTx/>
                        <a:buNone/>
                      </a:pPr>
                      <a:r>
                        <a:rPr kumimoji="1" lang="zh-CN" altLang="en-US" sz="2000" b="0"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严重</a:t>
                      </a:r>
                      <a:endParaRPr kumimoji="1" lang="zh-CN" altLang="en-US" sz="4400" b="1" i="0" u="none" strike="noStrike" cap="none" normalizeH="0" baseline="0" smtClean="0">
                        <a:ln>
                          <a:noFill/>
                        </a:ln>
                        <a:solidFill>
                          <a:schemeClr val="tx1"/>
                        </a:solidFill>
                        <a:effectLst/>
                        <a:latin typeface="Times New Roman" panose="02020603050405020304" pitchFamily="18" charset="0"/>
                        <a:ea typeface="楷体_GB2312" pitchFamily="49"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p>
                      <a:pPr marL="250825" marR="0" lvl="0" indent="-250825" algn="l" defTabSz="957580" rtl="0" eaLnBrk="0" fontAlgn="base" latinLnBrk="0" hangingPunct="0">
                        <a:lnSpc>
                          <a:spcPct val="100000"/>
                        </a:lnSpc>
                        <a:spcBef>
                          <a:spcPct val="0"/>
                        </a:spcBef>
                        <a:spcAft>
                          <a:spcPct val="0"/>
                        </a:spcAft>
                        <a:buClrTx/>
                        <a:buSzTx/>
                        <a:buFontTx/>
                        <a:buNone/>
                      </a:pPr>
                      <a:r>
                        <a:rPr kumimoji="1" lang="zh-CN" altLang="en-US" sz="2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引起人员严重伤害，系统严重损坏，任务失败，或环境严重破坏</a:t>
                      </a:r>
                      <a:endParaRPr kumimoji="1" lang="zh-CN" altLang="en-US" sz="4400" b="1" i="0" u="none" strike="noStrike" cap="none" normalizeH="0" baseline="0" smtClean="0">
                        <a:ln>
                          <a:noFill/>
                        </a:ln>
                        <a:solidFill>
                          <a:schemeClr val="tx1"/>
                        </a:solidFill>
                        <a:effectLst/>
                        <a:latin typeface="Times New Roman" panose="02020603050405020304" pitchFamily="18" charset="0"/>
                        <a:ea typeface="楷体_GB2312" pitchFamily="49" charset="-122"/>
                      </a:endParaRPr>
                    </a:p>
                  </a:txBody>
                  <a:tcPr marL="90000" marR="90000" marT="46800" marB="468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795020">
                <a:tc>
                  <a:txBody>
                    <a:bodyPr/>
                    <a:p>
                      <a:pPr marL="250825" marR="0" lvl="0" indent="-250825" algn="ctr" defTabSz="957580" rtl="0" eaLnBrk="0" fontAlgn="base" latinLnBrk="0" hangingPunct="0">
                        <a:lnSpc>
                          <a:spcPct val="100000"/>
                        </a:lnSpc>
                        <a:spcBef>
                          <a:spcPct val="0"/>
                        </a:spcBef>
                        <a:spcAft>
                          <a:spcPct val="0"/>
                        </a:spcAft>
                        <a:buClrTx/>
                        <a:buSzTx/>
                        <a:buFontTx/>
                        <a:buNone/>
                      </a:pPr>
                      <a:r>
                        <a:rPr kumimoji="1" lang="zh-CN" altLang="en-US" sz="2000" b="0"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一般</a:t>
                      </a:r>
                      <a:endParaRPr kumimoji="1" lang="zh-CN" altLang="en-US" sz="4400" b="1" i="0" u="none" strike="noStrike" cap="none" normalizeH="0" baseline="0" smtClean="0">
                        <a:ln>
                          <a:noFill/>
                        </a:ln>
                        <a:solidFill>
                          <a:schemeClr val="tx1"/>
                        </a:solidFill>
                        <a:effectLst/>
                        <a:latin typeface="Times New Roman" panose="02020603050405020304" pitchFamily="18" charset="0"/>
                        <a:ea typeface="楷体_GB2312" pitchFamily="49"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p>
                      <a:pPr marL="250825" marR="0" lvl="0" indent="-250825" algn="l" defTabSz="957580" rtl="0" eaLnBrk="0" fontAlgn="base" latinLnBrk="0" hangingPunct="0">
                        <a:lnSpc>
                          <a:spcPct val="100000"/>
                        </a:lnSpc>
                        <a:spcBef>
                          <a:spcPct val="0"/>
                        </a:spcBef>
                        <a:spcAft>
                          <a:spcPct val="0"/>
                        </a:spcAft>
                        <a:buClrTx/>
                        <a:buSzTx/>
                        <a:buFontTx/>
                        <a:buNone/>
                      </a:pPr>
                      <a:r>
                        <a:rPr kumimoji="1" lang="zh-CN" altLang="en-US" sz="2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引起人员轻度伤害，系统轻度损坏，导致任务延误或降级，环境受影响</a:t>
                      </a:r>
                      <a:endParaRPr kumimoji="1" lang="zh-CN" altLang="en-US" sz="4400" b="1" i="0" u="none" strike="noStrike" cap="none" normalizeH="0" baseline="0" smtClean="0">
                        <a:ln>
                          <a:noFill/>
                        </a:ln>
                        <a:solidFill>
                          <a:schemeClr val="tx1"/>
                        </a:solidFill>
                        <a:effectLst/>
                        <a:latin typeface="Times New Roman" panose="02020603050405020304" pitchFamily="18" charset="0"/>
                        <a:ea typeface="楷体_GB2312" pitchFamily="49" charset="-122"/>
                      </a:endParaRPr>
                    </a:p>
                  </a:txBody>
                  <a:tcPr marL="90000" marR="90000" marT="46800" marB="468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972820">
                <a:tc>
                  <a:txBody>
                    <a:bodyPr/>
                    <a:p>
                      <a:pPr marL="250825" marR="0" lvl="0" indent="-250825" algn="ctr" defTabSz="957580" rtl="0" eaLnBrk="0" fontAlgn="base" latinLnBrk="0" hangingPunct="0">
                        <a:lnSpc>
                          <a:spcPct val="100000"/>
                        </a:lnSpc>
                        <a:spcBef>
                          <a:spcPct val="0"/>
                        </a:spcBef>
                        <a:spcAft>
                          <a:spcPct val="0"/>
                        </a:spcAft>
                        <a:buClrTx/>
                        <a:buSzTx/>
                        <a:buFontTx/>
                        <a:buNone/>
                      </a:pPr>
                      <a:r>
                        <a:rPr kumimoji="1" lang="zh-CN" altLang="en-US" sz="2000" b="0"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轻微</a:t>
                      </a:r>
                      <a:endParaRPr kumimoji="1" lang="zh-CN" altLang="en-US" sz="4400" b="1" i="0" u="none" strike="noStrike" cap="none" normalizeH="0" baseline="0" smtClean="0">
                        <a:ln>
                          <a:noFill/>
                        </a:ln>
                        <a:solidFill>
                          <a:schemeClr val="tx1"/>
                        </a:solidFill>
                        <a:effectLst/>
                        <a:latin typeface="Times New Roman" panose="02020603050405020304" pitchFamily="18" charset="0"/>
                        <a:ea typeface="楷体_GB2312" pitchFamily="49"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p>
                      <a:pPr marL="250825" marR="0" lvl="0" indent="-250825" algn="l" defTabSz="957580" rtl="0" eaLnBrk="0" fontAlgn="base" latinLnBrk="0" hangingPunct="0">
                        <a:lnSpc>
                          <a:spcPct val="100000"/>
                        </a:lnSpc>
                        <a:spcBef>
                          <a:spcPct val="0"/>
                        </a:spcBef>
                        <a:spcAft>
                          <a:spcPct val="0"/>
                        </a:spcAft>
                        <a:buClrTx/>
                        <a:buSzTx/>
                        <a:buFontTx/>
                        <a:buNone/>
                      </a:pPr>
                      <a:r>
                        <a:rPr kumimoji="1" lang="zh-CN" altLang="en-US" sz="20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不导致人员伤害，不影响任务完成，不影响环境，但使用的方便性或舒适性降低</a:t>
                      </a:r>
                      <a:endParaRPr kumimoji="1" lang="zh-CN" altLang="en-US" sz="4400" b="1" i="0" u="none" strike="noStrike" cap="none" normalizeH="0" baseline="0" smtClean="0">
                        <a:ln>
                          <a:noFill/>
                        </a:ln>
                        <a:solidFill>
                          <a:schemeClr val="tx1"/>
                        </a:solidFill>
                        <a:effectLst/>
                        <a:latin typeface="Times New Roman" panose="02020603050405020304" pitchFamily="18" charset="0"/>
                        <a:ea typeface="楷体_GB2312" pitchFamily="49" charset="-122"/>
                      </a:endParaRPr>
                    </a:p>
                  </a:txBody>
                  <a:tcPr marL="90000" marR="90000" marT="46800" marB="468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dirty="0" smtClean="0">
                <a:solidFill>
                  <a:srgbClr val="C00000"/>
                </a:solidFill>
                <a:sym typeface="+mn-ea"/>
              </a:rPr>
              <a:t>4.1 软件失效模式和影响分析（SFMEA）</a:t>
            </a:r>
            <a:endParaRPr lang="zh-CN" altLang="en-US"/>
          </a:p>
        </p:txBody>
      </p:sp>
      <p:sp>
        <p:nvSpPr>
          <p:cNvPr id="3" name="内容占位符 2"/>
          <p:cNvSpPr>
            <a:spLocks noGrp="1"/>
          </p:cNvSpPr>
          <p:nvPr>
            <p:ph idx="1"/>
          </p:nvPr>
        </p:nvSpPr>
        <p:spPr/>
        <p:txBody>
          <a:bodyPr/>
          <a:p>
            <a:pPr marL="514350" indent="-514350">
              <a:buFont typeface="+mj-ea"/>
              <a:buAutoNum type="circleNumDbPlain" startAt="5"/>
            </a:pPr>
            <a:r>
              <a:rPr lang="zh-CN" altLang="en-US" dirty="0">
                <a:sym typeface="+mn-ea"/>
              </a:rPr>
              <a:t>改进措施分析</a:t>
            </a:r>
            <a:endParaRPr lang="zh-CN" altLang="en-US" dirty="0">
              <a:sym typeface="+mn-ea"/>
            </a:endParaRPr>
          </a:p>
          <a:p>
            <a:pPr lvl="1"/>
            <a:r>
              <a:rPr lang="zh-CN" altLang="en-US" dirty="0">
                <a:sym typeface="+mn-ea"/>
              </a:rPr>
              <a:t>根据每个失效模式的原因、影响及严重性等级，综合提出有针对性的改进措施。</a:t>
            </a:r>
            <a:endParaRPr lang="zh-CN" alt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3730" name="Rectangle 2"/>
          <p:cNvSpPr>
            <a:spLocks noGrp="1"/>
          </p:cNvSpPr>
          <p:nvPr>
            <p:ph type="title"/>
          </p:nvPr>
        </p:nvSpPr>
        <p:spPr/>
        <p:txBody>
          <a:bodyPr vert="horz" wrap="square" lIns="91440" tIns="45720" rIns="91440" bIns="45720" anchor="ctr" anchorCtr="0"/>
          <a:p>
            <a:r>
              <a:rPr lang="zh-CN" altLang="en-US" dirty="0" smtClean="0">
                <a:solidFill>
                  <a:srgbClr val="C00000"/>
                </a:solidFill>
              </a:rPr>
              <a:t>SFMEA工作表格 </a:t>
            </a:r>
            <a:endParaRPr lang="zh-CN" altLang="en-US" dirty="0"/>
          </a:p>
        </p:txBody>
      </p:sp>
      <p:graphicFrame>
        <p:nvGraphicFramePr>
          <p:cNvPr id="73731" name="表格占位符 73730"/>
          <p:cNvGraphicFramePr/>
          <p:nvPr>
            <p:ph type="tbl" idx="1"/>
          </p:nvPr>
        </p:nvGraphicFramePr>
        <p:xfrm>
          <a:off x="1426845" y="1281113"/>
          <a:ext cx="9144000" cy="5166360"/>
        </p:xfrm>
        <a:graphic>
          <a:graphicData uri="http://schemas.openxmlformats.org/drawingml/2006/table">
            <a:tbl>
              <a:tblPr/>
              <a:tblGrid>
                <a:gridCol w="592455"/>
                <a:gridCol w="668020"/>
                <a:gridCol w="960755"/>
                <a:gridCol w="1185545"/>
                <a:gridCol w="1851025"/>
                <a:gridCol w="887730"/>
                <a:gridCol w="741045"/>
                <a:gridCol w="963930"/>
                <a:gridCol w="664845"/>
                <a:gridCol w="628650"/>
              </a:tblGrid>
              <a:tr h="441960">
                <a:tc rowSpan="2">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lnSpc>
                          <a:spcPct val="115000"/>
                        </a:lnSpc>
                        <a:buNone/>
                      </a:pPr>
                      <a:r>
                        <a:rPr lang="zh-CN" altLang="en-US" sz="2000" dirty="0">
                          <a:latin typeface="Arial" panose="020B0604020202020204" pitchFamily="34" charset="0"/>
                        </a:rPr>
                        <a:t>编号</a:t>
                      </a:r>
                      <a:endParaRPr lang="zh-CN" altLang="en-US" sz="2000" dirty="0">
                        <a:latin typeface="Arial" panose="020B0604020202020204" pitchFamily="34" charset="0"/>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rowSpan="2">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lnSpc>
                          <a:spcPct val="115000"/>
                        </a:lnSpc>
                        <a:buNone/>
                      </a:pPr>
                      <a:r>
                        <a:rPr lang="zh-CN" altLang="en-US" sz="2000" dirty="0">
                          <a:latin typeface="Arial" panose="020B0604020202020204" pitchFamily="34" charset="0"/>
                        </a:rPr>
                        <a:t>单元</a:t>
                      </a:r>
                      <a:endParaRPr lang="zh-CN" altLang="en-US" sz="2000" dirty="0">
                        <a:latin typeface="Arial" panose="020B0604020202020204" pitchFamily="34"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rowSpan="2">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lnSpc>
                          <a:spcPct val="115000"/>
                        </a:lnSpc>
                        <a:buNone/>
                      </a:pPr>
                      <a:r>
                        <a:rPr lang="zh-CN" altLang="en-US" sz="2000" dirty="0">
                          <a:latin typeface="Arial" panose="020B0604020202020204" pitchFamily="34" charset="0"/>
                        </a:rPr>
                        <a:t>功能</a:t>
                      </a:r>
                      <a:endParaRPr lang="zh-CN" altLang="en-US" sz="2000" dirty="0">
                        <a:latin typeface="Arial" panose="020B0604020202020204" pitchFamily="34"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rowSpan="2">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lnSpc>
                          <a:spcPct val="115000"/>
                        </a:lnSpc>
                        <a:buNone/>
                      </a:pPr>
                      <a:r>
                        <a:rPr lang="zh-CN" altLang="en-US" sz="2000" b="1" dirty="0">
                          <a:solidFill>
                            <a:srgbClr val="FF0000"/>
                          </a:solidFill>
                          <a:latin typeface="Arial" panose="020B0604020202020204" pitchFamily="34" charset="0"/>
                        </a:rPr>
                        <a:t>失效</a:t>
                      </a:r>
                      <a:endParaRPr lang="zh-CN" altLang="en-US" sz="2000" b="1" dirty="0">
                        <a:solidFill>
                          <a:srgbClr val="FF0000"/>
                        </a:solidFill>
                        <a:latin typeface="Arial" panose="020B0604020202020204" pitchFamily="34" charset="0"/>
                      </a:endParaRPr>
                    </a:p>
                    <a:p>
                      <a:pPr lvl="0" algn="ctr" eaLnBrk="1" hangingPunct="1">
                        <a:lnSpc>
                          <a:spcPct val="115000"/>
                        </a:lnSpc>
                        <a:buNone/>
                      </a:pPr>
                      <a:r>
                        <a:rPr lang="zh-CN" altLang="en-US" sz="2000" b="1" dirty="0">
                          <a:solidFill>
                            <a:srgbClr val="FF0000"/>
                          </a:solidFill>
                          <a:latin typeface="Arial" panose="020B0604020202020204" pitchFamily="34" charset="0"/>
                        </a:rPr>
                        <a:t>模式</a:t>
                      </a:r>
                      <a:endParaRPr lang="zh-CN" altLang="en-US" sz="2000" b="1" dirty="0">
                        <a:solidFill>
                          <a:srgbClr val="FF0000"/>
                        </a:solidFill>
                        <a:latin typeface="Arial" panose="020B0604020202020204" pitchFamily="34"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rowSpan="2">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lnSpc>
                          <a:spcPct val="115000"/>
                        </a:lnSpc>
                        <a:buNone/>
                      </a:pPr>
                      <a:r>
                        <a:rPr lang="zh-CN" altLang="en-US" sz="2000" b="1" dirty="0">
                          <a:solidFill>
                            <a:srgbClr val="002060"/>
                          </a:solidFill>
                          <a:latin typeface="Arial" panose="020B0604020202020204" pitchFamily="34" charset="0"/>
                        </a:rPr>
                        <a:t>可能的失</a:t>
                      </a:r>
                      <a:endParaRPr lang="zh-CN" altLang="en-US" sz="2000" b="1" dirty="0">
                        <a:solidFill>
                          <a:srgbClr val="002060"/>
                        </a:solidFill>
                        <a:latin typeface="Arial" panose="020B0604020202020204" pitchFamily="34" charset="0"/>
                      </a:endParaRPr>
                    </a:p>
                    <a:p>
                      <a:pPr lvl="0" algn="ctr" eaLnBrk="1" hangingPunct="1">
                        <a:lnSpc>
                          <a:spcPct val="115000"/>
                        </a:lnSpc>
                        <a:buNone/>
                      </a:pPr>
                      <a:r>
                        <a:rPr lang="zh-CN" altLang="en-US" sz="2000" b="1" dirty="0">
                          <a:solidFill>
                            <a:srgbClr val="002060"/>
                          </a:solidFill>
                          <a:latin typeface="Arial" panose="020B0604020202020204" pitchFamily="34" charset="0"/>
                        </a:rPr>
                        <a:t>效原因</a:t>
                      </a:r>
                      <a:r>
                        <a:rPr lang="zh-CN" altLang="en-US" sz="2400" b="1" dirty="0">
                          <a:solidFill>
                            <a:srgbClr val="002060"/>
                          </a:solidFill>
                          <a:latin typeface="Arial" panose="020B0604020202020204" pitchFamily="34" charset="0"/>
                        </a:rPr>
                        <a:t> </a:t>
                      </a:r>
                      <a:endParaRPr lang="zh-CN" altLang="en-US" sz="2400" b="1" dirty="0">
                        <a:solidFill>
                          <a:srgbClr val="002060"/>
                        </a:solidFill>
                        <a:latin typeface="Arial" panose="020B0604020202020204" pitchFamily="34"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gridSpan="3">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lnSpc>
                          <a:spcPct val="115000"/>
                        </a:lnSpc>
                        <a:buNone/>
                      </a:pPr>
                      <a:r>
                        <a:rPr lang="en-US" altLang="zh-CN" dirty="0">
                          <a:latin typeface="Arial" panose="020B0604020202020204" pitchFamily="34" charset="0"/>
                        </a:rPr>
                        <a:t>       </a:t>
                      </a:r>
                      <a:r>
                        <a:rPr lang="zh-CN" altLang="en-US" sz="2000" dirty="0">
                          <a:latin typeface="Arial" panose="020B0604020202020204" pitchFamily="34" charset="0"/>
                        </a:rPr>
                        <a:t>失效影响</a:t>
                      </a:r>
                      <a:endParaRPr lang="zh-CN" altLang="en-US" sz="2000" dirty="0">
                        <a:latin typeface="Arial" panose="020B0604020202020204" pitchFamily="34"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hMerge="1">
                  <a:tcP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tcPr>
                </a:tc>
                <a:tc hMerge="1">
                  <a:tcPr>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tcPr>
                </a:tc>
                <a:tc rowSpan="2">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lnSpc>
                          <a:spcPct val="115000"/>
                        </a:lnSpc>
                        <a:buNone/>
                      </a:pPr>
                      <a:r>
                        <a:rPr lang="zh-CN" altLang="en-US" sz="2000" dirty="0">
                          <a:latin typeface="Arial" panose="020B0604020202020204" pitchFamily="34" charset="0"/>
                        </a:rPr>
                        <a:t>严重性</a:t>
                      </a:r>
                      <a:endParaRPr lang="zh-CN" altLang="en-US" sz="2000" dirty="0">
                        <a:latin typeface="Arial" panose="020B0604020202020204" pitchFamily="34"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rowSpan="2">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lnSpc>
                          <a:spcPct val="115000"/>
                        </a:lnSpc>
                        <a:buNone/>
                      </a:pPr>
                      <a:r>
                        <a:rPr lang="zh-CN" altLang="en-US" sz="2000" dirty="0">
                          <a:latin typeface="Arial" panose="020B0604020202020204" pitchFamily="34" charset="0"/>
                        </a:rPr>
                        <a:t>改进措施</a:t>
                      </a:r>
                      <a:endParaRPr lang="zh-CN" altLang="en-US" sz="2000" dirty="0">
                        <a:latin typeface="Arial" panose="020B0604020202020204" pitchFamily="34" charset="0"/>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1052830">
                <a:tc vMerge="1">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B w="12700" cap="flat" cmpd="sng">
                      <a:solidFill>
                        <a:schemeClr val="tx1"/>
                      </a:solidFill>
                      <a:prstDash val="solid"/>
                      <a:headEnd type="none" w="med" len="med"/>
                      <a:tailEnd type="none" w="med" len="med"/>
                    </a:lnB>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B w="12700" cap="flat" cmpd="sng">
                      <a:solidFill>
                        <a:schemeClr val="tx1"/>
                      </a:solidFill>
                      <a:prstDash val="solid"/>
                      <a:headEnd type="none" w="med" len="med"/>
                      <a:tailEnd type="none" w="med" len="med"/>
                    </a:lnB>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B w="12700" cap="flat" cmpd="sng">
                      <a:solidFill>
                        <a:schemeClr val="tx1"/>
                      </a:solidFill>
                      <a:prstDash val="solid"/>
                      <a:headEnd type="none" w="med" len="med"/>
                      <a:tailEnd type="none" w="med" len="med"/>
                    </a:lnB>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B w="12700" cap="flat" cmpd="sng">
                      <a:solidFill>
                        <a:schemeClr val="tx1"/>
                      </a:solidFill>
                      <a:prstDash val="solid"/>
                      <a:headEnd type="none" w="med" len="med"/>
                      <a:tailEnd type="none" w="med" len="med"/>
                    </a:lnB>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B w="12700" cap="flat" cmpd="sng">
                      <a:solidFill>
                        <a:schemeClr val="tx1"/>
                      </a:solidFill>
                      <a:prstDash val="solid"/>
                      <a:headEnd type="none" w="med" len="med"/>
                      <a:tailEnd type="none" w="med" len="med"/>
                    </a:lnB>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lnSpc>
                          <a:spcPct val="115000"/>
                        </a:lnSpc>
                        <a:buNone/>
                      </a:pPr>
                      <a:r>
                        <a:rPr lang="zh-CN" altLang="en-US" sz="2000" dirty="0">
                          <a:latin typeface="Arial" panose="020B0604020202020204" pitchFamily="34" charset="0"/>
                        </a:rPr>
                        <a:t>单元</a:t>
                      </a:r>
                      <a:endParaRPr lang="zh-CN" altLang="en-US" sz="2000" dirty="0">
                        <a:latin typeface="Arial" panose="020B0604020202020204" pitchFamily="34"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lnSpc>
                          <a:spcPct val="115000"/>
                        </a:lnSpc>
                        <a:buNone/>
                      </a:pPr>
                      <a:r>
                        <a:rPr lang="zh-CN" altLang="en-US" sz="2000" dirty="0">
                          <a:latin typeface="Arial" panose="020B0604020202020204" pitchFamily="34" charset="0"/>
                        </a:rPr>
                        <a:t>子系统</a:t>
                      </a:r>
                      <a:endParaRPr lang="zh-CN" altLang="en-US" sz="2000" dirty="0">
                        <a:latin typeface="Arial" panose="020B0604020202020204" pitchFamily="34" charset="0"/>
                      </a:endParaRPr>
                    </a:p>
                  </a:txBody>
                  <a:tcPr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lnSpc>
                          <a:spcPct val="115000"/>
                        </a:lnSpc>
                        <a:buNone/>
                      </a:pPr>
                      <a:r>
                        <a:rPr lang="zh-CN" altLang="en-US" sz="2000" dirty="0">
                          <a:latin typeface="Arial" panose="020B0604020202020204" pitchFamily="34" charset="0"/>
                        </a:rPr>
                        <a:t>系统</a:t>
                      </a:r>
                      <a:endParaRPr lang="zh-CN" altLang="en-US" sz="2000" dirty="0">
                        <a:latin typeface="Arial" panose="020B0604020202020204" pitchFamily="34"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B w="12700" cap="flat" cmpd="sng">
                      <a:solidFill>
                        <a:schemeClr val="tx1"/>
                      </a:solidFill>
                      <a:prstDash val="solid"/>
                      <a:headEnd type="none" w="med" len="med"/>
                      <a:tailEnd type="none" w="med" len="med"/>
                    </a:lnB>
                  </a:tcPr>
                </a:tc>
                <a:tc vMerge="1">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B w="12700" cap="flat" cmpd="sng">
                      <a:solidFill>
                        <a:schemeClr val="tx1"/>
                      </a:solidFill>
                      <a:prstDash val="solid"/>
                      <a:headEnd type="none" w="med" len="med"/>
                      <a:tailEnd type="none" w="med" len="med"/>
                    </a:lnB>
                  </a:tcPr>
                </a:tc>
              </a:tr>
              <a:tr h="1038225">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eaLnBrk="1" hangingPunct="1">
                        <a:lnSpc>
                          <a:spcPct val="115000"/>
                        </a:lnSpc>
                        <a:buNone/>
                      </a:pPr>
                      <a:r>
                        <a:rPr lang="en-US" altLang="zh-CN" sz="2000" dirty="0">
                          <a:latin typeface="Arial" panose="020B0604020202020204" pitchFamily="34" charset="0"/>
                        </a:rPr>
                        <a:t>1.1</a:t>
                      </a:r>
                      <a:endParaRPr lang="en-US" altLang="zh-CN" sz="2000" dirty="0">
                        <a:latin typeface="Arial" panose="020B0604020202020204" pitchFamily="34" charset="0"/>
                      </a:endParaRPr>
                    </a:p>
                  </a:txBody>
                  <a:tcPr anchor="ctr" anchorCtr="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rowSpan="4">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eaLnBrk="1" hangingPunct="1">
                        <a:lnSpc>
                          <a:spcPct val="115000"/>
                        </a:lnSpc>
                        <a:buNone/>
                      </a:pPr>
                      <a:r>
                        <a:rPr lang="zh-CN" altLang="en-US" sz="2400" dirty="0">
                          <a:latin typeface="Arial" panose="020B0604020202020204" pitchFamily="34" charset="0"/>
                        </a:rPr>
                        <a:t>输出</a:t>
                      </a:r>
                      <a:endParaRPr lang="zh-CN" altLang="en-US" sz="2400" dirty="0">
                        <a:latin typeface="Arial" panose="020B0604020202020204" pitchFamily="34" charset="0"/>
                      </a:endParaRPr>
                    </a:p>
                  </a:txBody>
                  <a:tcPr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rowSpan="4">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eaLnBrk="1" hangingPunct="1">
                        <a:lnSpc>
                          <a:spcPct val="115000"/>
                        </a:lnSpc>
                        <a:buNone/>
                      </a:pPr>
                      <a:r>
                        <a:rPr lang="zh-CN" altLang="en-US" sz="2000" dirty="0">
                          <a:latin typeface="Arial" panose="020B0604020202020204" pitchFamily="34" charset="0"/>
                        </a:rPr>
                        <a:t>输出数据提交用户显示 </a:t>
                      </a:r>
                      <a:endParaRPr lang="zh-CN" altLang="en-US" sz="2000" dirty="0">
                        <a:latin typeface="Arial" panose="020B0604020202020204" pitchFamily="34" charset="0"/>
                      </a:endParaRPr>
                    </a:p>
                  </a:txBody>
                  <a:tcPr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eaLnBrk="1" hangingPunct="1">
                        <a:lnSpc>
                          <a:spcPct val="115000"/>
                        </a:lnSpc>
                        <a:buNone/>
                      </a:pPr>
                      <a:r>
                        <a:rPr lang="zh-CN" altLang="en-US" b="1" dirty="0">
                          <a:solidFill>
                            <a:srgbClr val="FF0000"/>
                          </a:solidFill>
                          <a:latin typeface="Arial" panose="020B0604020202020204" pitchFamily="34" charset="0"/>
                        </a:rPr>
                        <a:t>数值高于正常范围 </a:t>
                      </a:r>
                      <a:endParaRPr lang="zh-CN" altLang="en-US" b="1" dirty="0">
                        <a:solidFill>
                          <a:srgbClr val="FF0000"/>
                        </a:solidFill>
                        <a:latin typeface="Arial" panose="020B0604020202020204" pitchFamily="34" charset="0"/>
                      </a:endParaRPr>
                    </a:p>
                  </a:txBody>
                  <a:tcPr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eaLnBrk="1" hangingPunct="1">
                        <a:lnSpc>
                          <a:spcPct val="115000"/>
                        </a:lnSpc>
                        <a:buNone/>
                      </a:pPr>
                      <a:r>
                        <a:rPr lang="zh-CN" altLang="en-US" b="1" dirty="0">
                          <a:solidFill>
                            <a:srgbClr val="002060"/>
                          </a:solidFill>
                          <a:latin typeface="Arial" panose="020B0604020202020204" pitchFamily="34" charset="0"/>
                        </a:rPr>
                        <a:t>逻辑问题</a:t>
                      </a:r>
                      <a:endParaRPr lang="zh-CN" altLang="en-US" b="1" dirty="0">
                        <a:solidFill>
                          <a:srgbClr val="002060"/>
                        </a:solidFill>
                        <a:latin typeface="Arial" panose="020B0604020202020204" pitchFamily="34" charset="0"/>
                      </a:endParaRPr>
                    </a:p>
                    <a:p>
                      <a:pPr lvl="0" eaLnBrk="1" hangingPunct="1">
                        <a:lnSpc>
                          <a:spcPct val="115000"/>
                        </a:lnSpc>
                        <a:buNone/>
                      </a:pPr>
                      <a:r>
                        <a:rPr lang="zh-CN" altLang="en-US" b="1" dirty="0">
                          <a:solidFill>
                            <a:srgbClr val="002060"/>
                          </a:solidFill>
                          <a:latin typeface="Arial" panose="020B0604020202020204" pitchFamily="34" charset="0"/>
                        </a:rPr>
                        <a:t>计算问题</a:t>
                      </a:r>
                      <a:endParaRPr lang="zh-CN" altLang="en-US" b="1" dirty="0">
                        <a:solidFill>
                          <a:srgbClr val="002060"/>
                        </a:solidFill>
                        <a:latin typeface="Arial" panose="020B0604020202020204" pitchFamily="34" charset="0"/>
                      </a:endParaRPr>
                    </a:p>
                    <a:p>
                      <a:pPr lvl="0" eaLnBrk="1" hangingPunct="1">
                        <a:lnSpc>
                          <a:spcPct val="115000"/>
                        </a:lnSpc>
                        <a:buNone/>
                      </a:pPr>
                      <a:r>
                        <a:rPr lang="zh-CN" altLang="en-US" b="1" dirty="0">
                          <a:solidFill>
                            <a:srgbClr val="002060"/>
                          </a:solidFill>
                          <a:latin typeface="Arial" panose="020B0604020202020204" pitchFamily="34" charset="0"/>
                        </a:rPr>
                        <a:t>数据操作问题 </a:t>
                      </a:r>
                      <a:endParaRPr lang="zh-CN" altLang="en-US" b="1" dirty="0">
                        <a:solidFill>
                          <a:srgbClr val="002060"/>
                        </a:solidFill>
                        <a:latin typeface="Arial" panose="020B0604020202020204" pitchFamily="34" charset="0"/>
                      </a:endParaRPr>
                    </a:p>
                  </a:txBody>
                  <a:tcPr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eaLnBrk="1" hangingPunct="1">
                        <a:lnSpc>
                          <a:spcPct val="115000"/>
                        </a:lnSpc>
                        <a:buNone/>
                      </a:pPr>
                      <a:r>
                        <a:rPr lang="en-US" altLang="zh-CN" sz="2400" dirty="0">
                          <a:latin typeface="Arial" panose="020B0604020202020204" pitchFamily="34" charset="0"/>
                        </a:rPr>
                        <a:t>N/A</a:t>
                      </a:r>
                      <a:r>
                        <a:rPr lang="en-US" altLang="zh-CN" dirty="0">
                          <a:latin typeface="Arial" panose="020B0604020202020204" pitchFamily="34" charset="0"/>
                        </a:rPr>
                        <a:t> </a:t>
                      </a:r>
                      <a:endParaRPr lang="en-US" altLang="zh-CN" dirty="0">
                        <a:latin typeface="Arial" panose="020B0604020202020204" pitchFamily="34" charset="0"/>
                      </a:endParaRPr>
                    </a:p>
                  </a:txBody>
                  <a:tcPr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eaLnBrk="1" hangingPunct="1">
                        <a:lnSpc>
                          <a:spcPct val="115000"/>
                        </a:lnSpc>
                        <a:buNone/>
                      </a:pPr>
                      <a:r>
                        <a:rPr lang="zh-CN" altLang="en-US" sz="2400" dirty="0">
                          <a:latin typeface="Arial" panose="020B0604020202020204" pitchFamily="34" charset="0"/>
                        </a:rPr>
                        <a:t>无</a:t>
                      </a:r>
                      <a:endParaRPr lang="zh-CN" altLang="en-US" sz="2400" dirty="0">
                        <a:latin typeface="Arial" panose="020B0604020202020204" pitchFamily="34" charset="0"/>
                      </a:endParaRPr>
                    </a:p>
                  </a:txBody>
                  <a:tcPr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eaLnBrk="1" hangingPunct="1">
                        <a:lnSpc>
                          <a:spcPct val="115000"/>
                        </a:lnSpc>
                        <a:buNone/>
                      </a:pPr>
                      <a:r>
                        <a:rPr lang="zh-CN" altLang="en-US" sz="2000" dirty="0">
                          <a:latin typeface="Arial" panose="020B0604020202020204" pitchFamily="34" charset="0"/>
                        </a:rPr>
                        <a:t>任务降级 </a:t>
                      </a:r>
                      <a:endParaRPr lang="zh-CN" altLang="en-US" sz="2000" dirty="0">
                        <a:latin typeface="Arial" panose="020B0604020202020204" pitchFamily="34" charset="0"/>
                      </a:endParaRPr>
                    </a:p>
                  </a:txBody>
                  <a:tcPr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eaLnBrk="1" hangingPunct="1">
                        <a:lnSpc>
                          <a:spcPct val="115000"/>
                        </a:lnSpc>
                        <a:buNone/>
                      </a:pPr>
                      <a:r>
                        <a:rPr lang="zh-CN" altLang="en-US" sz="2000" dirty="0">
                          <a:latin typeface="Arial" panose="020B0604020202020204" pitchFamily="34" charset="0"/>
                        </a:rPr>
                        <a:t>一般</a:t>
                      </a:r>
                      <a:r>
                        <a:rPr lang="zh-CN" altLang="en-US" dirty="0">
                          <a:latin typeface="Arial" panose="020B0604020202020204" pitchFamily="34" charset="0"/>
                        </a:rPr>
                        <a:t> </a:t>
                      </a:r>
                      <a:endParaRPr lang="zh-CN" altLang="en-US" dirty="0">
                        <a:latin typeface="Arial" panose="020B0604020202020204" pitchFamily="34" charset="0"/>
                      </a:endParaRPr>
                    </a:p>
                  </a:txBody>
                  <a:tcPr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eaLnBrk="1" hangingPunct="1">
                        <a:lnSpc>
                          <a:spcPct val="115000"/>
                        </a:lnSpc>
                        <a:buNone/>
                      </a:pPr>
                      <a:r>
                        <a:rPr lang="en-US" altLang="zh-CN" dirty="0">
                          <a:latin typeface="Arial" panose="020B0604020202020204" pitchFamily="34" charset="0"/>
                        </a:rPr>
                        <a:t>…</a:t>
                      </a:r>
                      <a:endParaRPr lang="en-US" altLang="zh-CN" dirty="0">
                        <a:latin typeface="Arial" panose="020B0604020202020204" pitchFamily="34" charset="0"/>
                      </a:endParaRPr>
                    </a:p>
                  </a:txBody>
                  <a:tcPr anchor="ctr" anchorCtr="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1036320">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eaLnBrk="1" hangingPunct="1">
                        <a:lnSpc>
                          <a:spcPct val="115000"/>
                        </a:lnSpc>
                        <a:buNone/>
                      </a:pPr>
                      <a:r>
                        <a:rPr lang="en-US" altLang="zh-CN" sz="2000" dirty="0">
                          <a:latin typeface="Arial" panose="020B0604020202020204" pitchFamily="34" charset="0"/>
                        </a:rPr>
                        <a:t>1.2</a:t>
                      </a:r>
                      <a:endParaRPr lang="en-US" altLang="zh-CN" sz="2000" dirty="0">
                        <a:latin typeface="Arial" panose="020B0604020202020204" pitchFamily="34" charset="0"/>
                      </a:endParaRPr>
                    </a:p>
                  </a:txBody>
                  <a:tcPr anchor="ctr" anchorCtr="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eaLnBrk="1" hangingPunct="1">
                        <a:lnSpc>
                          <a:spcPct val="115000"/>
                        </a:lnSpc>
                        <a:buNone/>
                      </a:pPr>
                      <a:r>
                        <a:rPr lang="zh-CN" altLang="en-US" b="1" dirty="0">
                          <a:solidFill>
                            <a:srgbClr val="FF0000"/>
                          </a:solidFill>
                          <a:latin typeface="Arial" panose="020B0604020202020204" pitchFamily="34" charset="0"/>
                        </a:rPr>
                        <a:t>数值低于正常范围 </a:t>
                      </a:r>
                      <a:endParaRPr lang="zh-CN" altLang="en-US" b="1" dirty="0">
                        <a:solidFill>
                          <a:srgbClr val="FF0000"/>
                        </a:solidFill>
                        <a:latin typeface="Arial" panose="020B0604020202020204" pitchFamily="34" charset="0"/>
                      </a:endParaRPr>
                    </a:p>
                  </a:txBody>
                  <a:tcPr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eaLnBrk="1" hangingPunct="1">
                        <a:lnSpc>
                          <a:spcPct val="115000"/>
                        </a:lnSpc>
                        <a:buNone/>
                      </a:pPr>
                      <a:r>
                        <a:rPr lang="zh-CN" altLang="en-US" b="1" dirty="0">
                          <a:solidFill>
                            <a:srgbClr val="002060"/>
                          </a:solidFill>
                          <a:latin typeface="Arial" panose="020B0604020202020204" pitchFamily="34" charset="0"/>
                        </a:rPr>
                        <a:t>逻辑问题</a:t>
                      </a:r>
                      <a:endParaRPr lang="zh-CN" altLang="en-US" b="1" dirty="0">
                        <a:solidFill>
                          <a:srgbClr val="002060"/>
                        </a:solidFill>
                        <a:latin typeface="Arial" panose="020B0604020202020204" pitchFamily="34" charset="0"/>
                      </a:endParaRPr>
                    </a:p>
                    <a:p>
                      <a:pPr lvl="0" eaLnBrk="1" hangingPunct="1">
                        <a:lnSpc>
                          <a:spcPct val="115000"/>
                        </a:lnSpc>
                        <a:buNone/>
                      </a:pPr>
                      <a:r>
                        <a:rPr lang="zh-CN" altLang="en-US" b="1" dirty="0">
                          <a:solidFill>
                            <a:srgbClr val="002060"/>
                          </a:solidFill>
                          <a:latin typeface="Arial" panose="020B0604020202020204" pitchFamily="34" charset="0"/>
                        </a:rPr>
                        <a:t>计算问题</a:t>
                      </a:r>
                      <a:endParaRPr lang="zh-CN" altLang="en-US" b="1" dirty="0">
                        <a:solidFill>
                          <a:srgbClr val="002060"/>
                        </a:solidFill>
                        <a:latin typeface="Arial" panose="020B0604020202020204" pitchFamily="34" charset="0"/>
                      </a:endParaRPr>
                    </a:p>
                    <a:p>
                      <a:pPr lvl="0" eaLnBrk="1" hangingPunct="1">
                        <a:lnSpc>
                          <a:spcPct val="115000"/>
                        </a:lnSpc>
                        <a:buNone/>
                      </a:pPr>
                      <a:r>
                        <a:rPr lang="zh-CN" altLang="en-US" b="1" dirty="0">
                          <a:solidFill>
                            <a:srgbClr val="002060"/>
                          </a:solidFill>
                          <a:latin typeface="Arial" panose="020B0604020202020204" pitchFamily="34" charset="0"/>
                        </a:rPr>
                        <a:t>数据操作问题 </a:t>
                      </a:r>
                      <a:endParaRPr lang="zh-CN" altLang="en-US" b="1" dirty="0">
                        <a:solidFill>
                          <a:srgbClr val="002060"/>
                        </a:solidFill>
                        <a:latin typeface="Arial" panose="020B0604020202020204" pitchFamily="34" charset="0"/>
                      </a:endParaRPr>
                    </a:p>
                  </a:txBody>
                  <a:tcPr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eaLnBrk="1" hangingPunct="1">
                        <a:lnSpc>
                          <a:spcPct val="115000"/>
                        </a:lnSpc>
                        <a:buNone/>
                      </a:pPr>
                      <a:r>
                        <a:rPr lang="en-US" altLang="zh-CN" sz="2400" dirty="0">
                          <a:latin typeface="Arial" panose="020B0604020202020204" pitchFamily="34" charset="0"/>
                        </a:rPr>
                        <a:t>N/A</a:t>
                      </a:r>
                      <a:endParaRPr lang="en-US" altLang="zh-CN" sz="2400" dirty="0">
                        <a:latin typeface="Arial" panose="020B0604020202020204" pitchFamily="34" charset="0"/>
                      </a:endParaRPr>
                    </a:p>
                  </a:txBody>
                  <a:tcPr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eaLnBrk="1" hangingPunct="1">
                        <a:lnSpc>
                          <a:spcPct val="115000"/>
                        </a:lnSpc>
                        <a:buNone/>
                      </a:pPr>
                      <a:r>
                        <a:rPr lang="zh-CN" altLang="en-US" sz="2400" dirty="0">
                          <a:latin typeface="Arial" panose="020B0604020202020204" pitchFamily="34" charset="0"/>
                        </a:rPr>
                        <a:t>无</a:t>
                      </a:r>
                      <a:endParaRPr lang="zh-CN" altLang="en-US" sz="2400" dirty="0">
                        <a:latin typeface="Arial" panose="020B0604020202020204" pitchFamily="34" charset="0"/>
                      </a:endParaRPr>
                    </a:p>
                  </a:txBody>
                  <a:tcPr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eaLnBrk="1" hangingPunct="1">
                        <a:lnSpc>
                          <a:spcPct val="115000"/>
                        </a:lnSpc>
                        <a:buNone/>
                      </a:pPr>
                      <a:r>
                        <a:rPr lang="zh-CN" altLang="en-US" sz="2000" dirty="0">
                          <a:latin typeface="Arial" panose="020B0604020202020204" pitchFamily="34" charset="0"/>
                        </a:rPr>
                        <a:t>任务降级</a:t>
                      </a:r>
                      <a:endParaRPr lang="zh-CN" altLang="en-US" sz="2000" dirty="0">
                        <a:latin typeface="Arial" panose="020B0604020202020204" pitchFamily="34" charset="0"/>
                      </a:endParaRPr>
                    </a:p>
                  </a:txBody>
                  <a:tcPr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eaLnBrk="1" hangingPunct="1">
                        <a:lnSpc>
                          <a:spcPct val="115000"/>
                        </a:lnSpc>
                        <a:buNone/>
                      </a:pPr>
                      <a:r>
                        <a:rPr lang="zh-CN" altLang="en-US" sz="2000" dirty="0">
                          <a:latin typeface="Arial" panose="020B0604020202020204" pitchFamily="34" charset="0"/>
                        </a:rPr>
                        <a:t>一般</a:t>
                      </a:r>
                      <a:endParaRPr lang="zh-CN" altLang="en-US" sz="2000" dirty="0">
                        <a:latin typeface="Arial" panose="020B0604020202020204" pitchFamily="34" charset="0"/>
                      </a:endParaRPr>
                    </a:p>
                  </a:txBody>
                  <a:tcPr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eaLnBrk="1" hangingPunct="1">
                        <a:lnSpc>
                          <a:spcPct val="115000"/>
                        </a:lnSpc>
                        <a:buNone/>
                      </a:pPr>
                      <a:r>
                        <a:rPr lang="en-US" altLang="zh-CN" dirty="0">
                          <a:latin typeface="Arial" panose="020B0604020202020204" pitchFamily="34" charset="0"/>
                        </a:rPr>
                        <a:t>…</a:t>
                      </a:r>
                      <a:endParaRPr lang="en-US" altLang="zh-CN" dirty="0">
                        <a:latin typeface="Arial" panose="020B0604020202020204" pitchFamily="34" charset="0"/>
                      </a:endParaRPr>
                    </a:p>
                  </a:txBody>
                  <a:tcPr anchor="ctr" anchorCtr="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793750">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eaLnBrk="1" hangingPunct="1">
                        <a:lnSpc>
                          <a:spcPct val="115000"/>
                        </a:lnSpc>
                        <a:buNone/>
                      </a:pPr>
                      <a:r>
                        <a:rPr lang="en-US" altLang="zh-CN" sz="2000" dirty="0">
                          <a:latin typeface="Arial" panose="020B0604020202020204" pitchFamily="34" charset="0"/>
                        </a:rPr>
                        <a:t>1.3</a:t>
                      </a:r>
                      <a:endParaRPr lang="en-US" altLang="zh-CN" sz="2000" dirty="0">
                        <a:latin typeface="Arial" panose="020B0604020202020204" pitchFamily="34" charset="0"/>
                      </a:endParaRPr>
                    </a:p>
                  </a:txBody>
                  <a:tcPr anchor="ctr" anchorCtr="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eaLnBrk="1" hangingPunct="1">
                        <a:lnSpc>
                          <a:spcPct val="115000"/>
                        </a:lnSpc>
                        <a:buNone/>
                      </a:pPr>
                      <a:r>
                        <a:rPr lang="zh-CN" altLang="en-US" b="1" dirty="0">
                          <a:solidFill>
                            <a:srgbClr val="FF0000"/>
                          </a:solidFill>
                          <a:latin typeface="Arial" panose="020B0604020202020204" pitchFamily="34" charset="0"/>
                        </a:rPr>
                        <a:t>输出数据没有显示 </a:t>
                      </a:r>
                      <a:endParaRPr lang="zh-CN" altLang="en-US" b="1" dirty="0">
                        <a:solidFill>
                          <a:srgbClr val="FF0000"/>
                        </a:solidFill>
                        <a:latin typeface="Arial" panose="020B0604020202020204" pitchFamily="34" charset="0"/>
                      </a:endParaRPr>
                    </a:p>
                  </a:txBody>
                  <a:tcPr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eaLnBrk="1" hangingPunct="1">
                        <a:lnSpc>
                          <a:spcPct val="115000"/>
                        </a:lnSpc>
                        <a:buNone/>
                      </a:pPr>
                      <a:r>
                        <a:rPr lang="zh-CN" altLang="en-US" b="1" dirty="0">
                          <a:solidFill>
                            <a:srgbClr val="002060"/>
                          </a:solidFill>
                          <a:latin typeface="Arial" panose="020B0604020202020204" pitchFamily="34" charset="0"/>
                        </a:rPr>
                        <a:t>逻辑问题</a:t>
                      </a:r>
                      <a:endParaRPr lang="zh-CN" altLang="en-US" b="1" dirty="0">
                        <a:solidFill>
                          <a:srgbClr val="002060"/>
                        </a:solidFill>
                        <a:latin typeface="Arial" panose="020B0604020202020204" pitchFamily="34" charset="0"/>
                      </a:endParaRPr>
                    </a:p>
                    <a:p>
                      <a:pPr lvl="0" eaLnBrk="1" hangingPunct="1">
                        <a:lnSpc>
                          <a:spcPct val="115000"/>
                        </a:lnSpc>
                        <a:buNone/>
                      </a:pPr>
                      <a:r>
                        <a:rPr lang="zh-CN" altLang="en-US" b="1" dirty="0">
                          <a:solidFill>
                            <a:srgbClr val="002060"/>
                          </a:solidFill>
                          <a:latin typeface="Arial" panose="020B0604020202020204" pitchFamily="34" charset="0"/>
                        </a:rPr>
                        <a:t>接口或时序问题 </a:t>
                      </a:r>
                      <a:endParaRPr lang="zh-CN" altLang="en-US" b="1" dirty="0">
                        <a:solidFill>
                          <a:srgbClr val="002060"/>
                        </a:solidFill>
                        <a:latin typeface="Arial" panose="020B0604020202020204" pitchFamily="34" charset="0"/>
                      </a:endParaRPr>
                    </a:p>
                  </a:txBody>
                  <a:tcPr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eaLnBrk="1" hangingPunct="1">
                        <a:lnSpc>
                          <a:spcPct val="115000"/>
                        </a:lnSpc>
                        <a:buNone/>
                      </a:pPr>
                      <a:r>
                        <a:rPr lang="en-US" altLang="zh-CN" sz="2400" dirty="0">
                          <a:latin typeface="Arial" panose="020B0604020202020204" pitchFamily="34" charset="0"/>
                        </a:rPr>
                        <a:t>N/A</a:t>
                      </a:r>
                      <a:endParaRPr lang="en-US" altLang="zh-CN" sz="2400" dirty="0">
                        <a:latin typeface="Arial" panose="020B0604020202020204" pitchFamily="34" charset="0"/>
                      </a:endParaRPr>
                    </a:p>
                  </a:txBody>
                  <a:tcPr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eaLnBrk="1" hangingPunct="1">
                        <a:lnSpc>
                          <a:spcPct val="115000"/>
                        </a:lnSpc>
                        <a:buNone/>
                      </a:pPr>
                      <a:r>
                        <a:rPr lang="zh-CN" altLang="en-US" sz="2400" dirty="0">
                          <a:latin typeface="Arial" panose="020B0604020202020204" pitchFamily="34" charset="0"/>
                        </a:rPr>
                        <a:t>无</a:t>
                      </a:r>
                      <a:endParaRPr lang="zh-CN" altLang="en-US" sz="2400" dirty="0">
                        <a:latin typeface="Arial" panose="020B0604020202020204" pitchFamily="34" charset="0"/>
                      </a:endParaRPr>
                    </a:p>
                  </a:txBody>
                  <a:tcPr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eaLnBrk="1" hangingPunct="1">
                        <a:lnSpc>
                          <a:spcPct val="115000"/>
                        </a:lnSpc>
                        <a:buNone/>
                      </a:pPr>
                      <a:r>
                        <a:rPr lang="zh-CN" altLang="en-US" sz="2000" dirty="0">
                          <a:latin typeface="Arial" panose="020B0604020202020204" pitchFamily="34" charset="0"/>
                        </a:rPr>
                        <a:t>任务中止</a:t>
                      </a:r>
                      <a:endParaRPr lang="zh-CN" altLang="en-US" sz="2000" dirty="0">
                        <a:latin typeface="Arial" panose="020B0604020202020204" pitchFamily="34" charset="0"/>
                      </a:endParaRPr>
                    </a:p>
                  </a:txBody>
                  <a:tcPr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eaLnBrk="1" hangingPunct="1">
                        <a:lnSpc>
                          <a:spcPct val="115000"/>
                        </a:lnSpc>
                        <a:buNone/>
                      </a:pPr>
                      <a:r>
                        <a:rPr lang="zh-CN" altLang="en-US" sz="2000" dirty="0">
                          <a:latin typeface="Arial" panose="020B0604020202020204" pitchFamily="34" charset="0"/>
                        </a:rPr>
                        <a:t>严重</a:t>
                      </a:r>
                      <a:endParaRPr lang="zh-CN" altLang="en-US" sz="2000" dirty="0">
                        <a:latin typeface="Arial" panose="020B0604020202020204" pitchFamily="34" charset="0"/>
                      </a:endParaRPr>
                    </a:p>
                  </a:txBody>
                  <a:tcPr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eaLnBrk="1" hangingPunct="1">
                        <a:lnSpc>
                          <a:spcPct val="115000"/>
                        </a:lnSpc>
                        <a:buNone/>
                      </a:pPr>
                      <a:r>
                        <a:rPr lang="en-US" altLang="zh-CN" dirty="0">
                          <a:latin typeface="Arial" panose="020B0604020202020204" pitchFamily="34" charset="0"/>
                        </a:rPr>
                        <a:t>…</a:t>
                      </a:r>
                      <a:endParaRPr lang="en-US" altLang="zh-CN" dirty="0">
                        <a:latin typeface="Arial" panose="020B0604020202020204" pitchFamily="34" charset="0"/>
                      </a:endParaRPr>
                    </a:p>
                  </a:txBody>
                  <a:tcPr anchor="ctr" anchorCtr="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803275">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eaLnBrk="1" hangingPunct="1">
                        <a:lnSpc>
                          <a:spcPct val="115000"/>
                        </a:lnSpc>
                        <a:buNone/>
                      </a:pPr>
                      <a:r>
                        <a:rPr lang="en-US" altLang="zh-CN" sz="2000" dirty="0">
                          <a:latin typeface="Arial" panose="020B0604020202020204" pitchFamily="34" charset="0"/>
                        </a:rPr>
                        <a:t>1.x</a:t>
                      </a:r>
                      <a:endParaRPr lang="en-US" altLang="zh-CN" sz="2000" dirty="0">
                        <a:latin typeface="Arial" panose="020B0604020202020204" pitchFamily="34" charset="0"/>
                      </a:endParaRPr>
                    </a:p>
                  </a:txBody>
                  <a:tcPr anchor="ctr" anchorCtr="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B w="28575" cap="flat" cmpd="sng">
                      <a:solidFill>
                        <a:schemeClr val="tx1"/>
                      </a:solidFill>
                      <a:prstDash val="solid"/>
                      <a:headEnd type="none" w="med" len="med"/>
                      <a:tailEnd type="none" w="med" len="med"/>
                    </a:lnB>
                  </a:tcPr>
                </a:tc>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B w="28575" cap="flat" cmpd="sng">
                      <a:solidFill>
                        <a:schemeClr val="tx1"/>
                      </a:solidFill>
                      <a:prstDash val="solid"/>
                      <a:headEnd type="none" w="med" len="med"/>
                      <a:tailEnd type="none" w="med" len="med"/>
                    </a:lnB>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eaLnBrk="1" hangingPunct="1">
                        <a:lnSpc>
                          <a:spcPct val="115000"/>
                        </a:lnSpc>
                        <a:buNone/>
                      </a:pPr>
                      <a:r>
                        <a:rPr lang="en-US" altLang="zh-CN" b="1" dirty="0">
                          <a:solidFill>
                            <a:srgbClr val="FF0000"/>
                          </a:solidFill>
                          <a:latin typeface="Arial" panose="020B0604020202020204" pitchFamily="34" charset="0"/>
                        </a:rPr>
                        <a:t>x</a:t>
                      </a:r>
                      <a:endParaRPr lang="en-US" altLang="zh-CN" b="1" dirty="0">
                        <a:solidFill>
                          <a:srgbClr val="FF0000"/>
                        </a:solidFill>
                        <a:latin typeface="Arial" panose="020B0604020202020204" pitchFamily="34" charset="0"/>
                      </a:endParaRPr>
                    </a:p>
                  </a:txBody>
                  <a:tcPr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eaLnBrk="1" hangingPunct="1">
                        <a:lnSpc>
                          <a:spcPct val="115000"/>
                        </a:lnSpc>
                        <a:buNone/>
                      </a:pPr>
                      <a:r>
                        <a:rPr lang="en-US" altLang="zh-CN" b="1" dirty="0">
                          <a:solidFill>
                            <a:srgbClr val="002060"/>
                          </a:solidFill>
                          <a:latin typeface="Arial" panose="020B0604020202020204" pitchFamily="34" charset="0"/>
                        </a:rPr>
                        <a:t>x</a:t>
                      </a:r>
                      <a:endParaRPr lang="en-US" altLang="zh-CN" b="1" dirty="0">
                        <a:solidFill>
                          <a:srgbClr val="002060"/>
                        </a:solidFill>
                        <a:latin typeface="Arial" panose="020B0604020202020204" pitchFamily="34" charset="0"/>
                      </a:endParaRPr>
                    </a:p>
                    <a:p>
                      <a:pPr lvl="0" eaLnBrk="1" hangingPunct="1">
                        <a:lnSpc>
                          <a:spcPct val="115000"/>
                        </a:lnSpc>
                        <a:buNone/>
                      </a:pPr>
                      <a:endParaRPr lang="en-US" altLang="zh-CN" b="1" dirty="0">
                        <a:solidFill>
                          <a:srgbClr val="002060"/>
                        </a:solidFill>
                        <a:latin typeface="Arial" panose="020B0604020202020204" pitchFamily="34" charset="0"/>
                      </a:endParaRPr>
                    </a:p>
                  </a:txBody>
                  <a:tcPr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eaLnBrk="1" hangingPunct="1">
                        <a:lnSpc>
                          <a:spcPct val="115000"/>
                        </a:lnSpc>
                        <a:buNone/>
                      </a:pPr>
                      <a:r>
                        <a:rPr lang="en-US" altLang="zh-CN" dirty="0">
                          <a:latin typeface="Arial" panose="020B0604020202020204" pitchFamily="34" charset="0"/>
                        </a:rPr>
                        <a:t>x</a:t>
                      </a:r>
                      <a:endParaRPr lang="en-US" altLang="zh-CN" dirty="0">
                        <a:latin typeface="Arial" panose="020B0604020202020204" pitchFamily="34" charset="0"/>
                      </a:endParaRPr>
                    </a:p>
                    <a:p>
                      <a:pPr lvl="0" eaLnBrk="1" hangingPunct="1">
                        <a:lnSpc>
                          <a:spcPct val="115000"/>
                        </a:lnSpc>
                        <a:buNone/>
                      </a:pPr>
                      <a:endParaRPr lang="en-US" altLang="zh-CN" dirty="0">
                        <a:latin typeface="Arial" panose="020B0604020202020204" pitchFamily="34" charset="0"/>
                      </a:endParaRPr>
                    </a:p>
                  </a:txBody>
                  <a:tcPr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eaLnBrk="1" hangingPunct="1">
                        <a:lnSpc>
                          <a:spcPct val="115000"/>
                        </a:lnSpc>
                        <a:buNone/>
                      </a:pPr>
                      <a:r>
                        <a:rPr lang="en-US" altLang="zh-CN" dirty="0">
                          <a:latin typeface="Arial" panose="020B0604020202020204" pitchFamily="34" charset="0"/>
                        </a:rPr>
                        <a:t>x</a:t>
                      </a:r>
                      <a:endParaRPr lang="en-US" altLang="zh-CN" dirty="0">
                        <a:latin typeface="Arial" panose="020B0604020202020204" pitchFamily="34" charset="0"/>
                      </a:endParaRPr>
                    </a:p>
                    <a:p>
                      <a:pPr lvl="0" eaLnBrk="1" hangingPunct="1">
                        <a:lnSpc>
                          <a:spcPct val="115000"/>
                        </a:lnSpc>
                        <a:buNone/>
                      </a:pPr>
                      <a:endParaRPr lang="en-US" altLang="zh-CN" dirty="0">
                        <a:latin typeface="Arial" panose="020B0604020202020204" pitchFamily="34" charset="0"/>
                      </a:endParaRPr>
                    </a:p>
                  </a:txBody>
                  <a:tcPr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eaLnBrk="1" hangingPunct="1">
                        <a:lnSpc>
                          <a:spcPct val="115000"/>
                        </a:lnSpc>
                        <a:buNone/>
                      </a:pPr>
                      <a:r>
                        <a:rPr lang="en-US" altLang="zh-CN" dirty="0">
                          <a:latin typeface="Arial" panose="020B0604020202020204" pitchFamily="34" charset="0"/>
                        </a:rPr>
                        <a:t>x</a:t>
                      </a:r>
                      <a:endParaRPr lang="en-US" altLang="zh-CN" dirty="0">
                        <a:latin typeface="Arial" panose="020B0604020202020204" pitchFamily="34" charset="0"/>
                      </a:endParaRPr>
                    </a:p>
                    <a:p>
                      <a:pPr lvl="0" eaLnBrk="1" hangingPunct="1">
                        <a:lnSpc>
                          <a:spcPct val="115000"/>
                        </a:lnSpc>
                        <a:buNone/>
                      </a:pPr>
                      <a:endParaRPr lang="en-US" altLang="zh-CN" dirty="0">
                        <a:latin typeface="Arial" panose="020B0604020202020204" pitchFamily="34" charset="0"/>
                      </a:endParaRPr>
                    </a:p>
                  </a:txBody>
                  <a:tcPr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eaLnBrk="1" hangingPunct="1">
                        <a:lnSpc>
                          <a:spcPct val="115000"/>
                        </a:lnSpc>
                        <a:buNone/>
                      </a:pPr>
                      <a:r>
                        <a:rPr lang="en-US" altLang="zh-CN" dirty="0">
                          <a:latin typeface="Arial" panose="020B0604020202020204" pitchFamily="34" charset="0"/>
                        </a:rPr>
                        <a:t>x</a:t>
                      </a:r>
                      <a:endParaRPr lang="en-US" altLang="zh-CN" dirty="0">
                        <a:latin typeface="Arial" panose="020B0604020202020204" pitchFamily="34" charset="0"/>
                      </a:endParaRPr>
                    </a:p>
                    <a:p>
                      <a:pPr lvl="0" eaLnBrk="1" hangingPunct="1">
                        <a:lnSpc>
                          <a:spcPct val="115000"/>
                        </a:lnSpc>
                        <a:buNone/>
                      </a:pPr>
                      <a:endParaRPr lang="en-US" altLang="zh-CN" dirty="0">
                        <a:latin typeface="Arial" panose="020B0604020202020204" pitchFamily="34" charset="0"/>
                      </a:endParaRPr>
                    </a:p>
                  </a:txBody>
                  <a:tcPr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eaLnBrk="1" hangingPunct="1">
                        <a:lnSpc>
                          <a:spcPct val="115000"/>
                        </a:lnSpc>
                        <a:buNone/>
                      </a:pPr>
                      <a:r>
                        <a:rPr lang="en-US" altLang="zh-CN" dirty="0">
                          <a:latin typeface="Arial" panose="020B0604020202020204" pitchFamily="34" charset="0"/>
                        </a:rPr>
                        <a:t>…</a:t>
                      </a:r>
                      <a:endParaRPr lang="en-US" altLang="zh-CN" dirty="0">
                        <a:latin typeface="Arial" panose="020B0604020202020204" pitchFamily="34" charset="0"/>
                      </a:endParaRPr>
                    </a:p>
                  </a:txBody>
                  <a:tcPr anchor="ctr" anchorCtr="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spTree>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4754" name="Rectangle 2"/>
          <p:cNvSpPr>
            <a:spLocks noGrp="1"/>
          </p:cNvSpPr>
          <p:nvPr>
            <p:ph type="title"/>
          </p:nvPr>
        </p:nvSpPr>
        <p:spPr/>
        <p:txBody>
          <a:bodyPr vert="horz" wrap="square" lIns="91440" tIns="45720" rIns="91440" bIns="45720" anchor="ctr" anchorCtr="0"/>
          <a:p>
            <a:r>
              <a:rPr lang="zh-CN" altLang="en-US" sz="4400" dirty="0" smtClean="0">
                <a:solidFill>
                  <a:srgbClr val="C00000"/>
                </a:solidFill>
              </a:rPr>
              <a:t>SFMEA</a:t>
            </a:r>
            <a:r>
              <a:rPr lang="zh-CN" altLang="en-US" dirty="0" smtClean="0">
                <a:solidFill>
                  <a:srgbClr val="C00000"/>
                </a:solidFill>
              </a:rPr>
              <a:t>实例 </a:t>
            </a:r>
            <a:r>
              <a:rPr lang="zh-CN" altLang="en-US" sz="4400" dirty="0" smtClean="0">
                <a:solidFill>
                  <a:srgbClr val="C00000"/>
                </a:solidFill>
              </a:rPr>
              <a:t>（1/5）</a:t>
            </a:r>
            <a:endParaRPr lang="zh-CN" altLang="en-US" sz="4400" dirty="0" smtClean="0">
              <a:solidFill>
                <a:srgbClr val="C00000"/>
              </a:solidFill>
            </a:endParaRPr>
          </a:p>
        </p:txBody>
      </p:sp>
      <p:sp>
        <p:nvSpPr>
          <p:cNvPr id="28675" name="Rectangle 3"/>
          <p:cNvSpPr>
            <a:spLocks noGrp="1"/>
          </p:cNvSpPr>
          <p:nvPr>
            <p:ph idx="1"/>
          </p:nvPr>
        </p:nvSpPr>
        <p:spPr>
          <a:xfrm>
            <a:off x="838200" y="1538605"/>
            <a:ext cx="10515600" cy="1993265"/>
          </a:xfrm>
        </p:spPr>
        <p:txBody>
          <a:bodyPr vert="horz" wrap="square" lIns="91440" tIns="45720" rIns="91440" bIns="45720" anchor="t" anchorCtr="0">
            <a:normAutofit/>
          </a:bodyPr>
          <a:p>
            <a:pPr>
              <a:lnSpc>
                <a:spcPct val="120000"/>
              </a:lnSpc>
              <a:spcBef>
                <a:spcPts val="0"/>
              </a:spcBef>
            </a:pPr>
            <a:r>
              <a:rPr lang="zh-CN" altLang="en-US" sz="2400" dirty="0"/>
              <a:t>某舰载防御武器型号的转塔控制与伺服软件的并行通讯软件采取主从双机</a:t>
            </a:r>
            <a:r>
              <a:rPr lang="en-US" altLang="zh-CN" sz="2400" dirty="0"/>
              <a:t>8255</a:t>
            </a:r>
            <a:r>
              <a:rPr lang="zh-CN" altLang="en-US" sz="2400" dirty="0"/>
              <a:t>通讯（固定字节长度）的方式。其中控制计算机为主计算机（</a:t>
            </a:r>
            <a:r>
              <a:rPr lang="en-US" altLang="zh-CN" sz="2400" dirty="0"/>
              <a:t>A</a:t>
            </a:r>
            <a:r>
              <a:rPr lang="zh-CN" altLang="en-US" sz="2400" dirty="0"/>
              <a:t>），伺服计算机为从计算机（</a:t>
            </a:r>
            <a:r>
              <a:rPr lang="en-US" altLang="zh-CN" sz="2400" dirty="0"/>
              <a:t>B</a:t>
            </a:r>
            <a:r>
              <a:rPr lang="zh-CN" altLang="en-US" sz="2400" dirty="0"/>
              <a:t>）。</a:t>
            </a:r>
            <a:endParaRPr lang="zh-CN" altLang="en-US" sz="2400" dirty="0"/>
          </a:p>
        </p:txBody>
      </p:sp>
      <p:sp>
        <p:nvSpPr>
          <p:cNvPr id="30723" name="Rectangle 3"/>
          <p:cNvSpPr>
            <a:spLocks noChangeArrowheads="1"/>
          </p:cNvSpPr>
          <p:nvPr/>
        </p:nvSpPr>
        <p:spPr bwMode="auto">
          <a:xfrm>
            <a:off x="2884488" y="4433253"/>
            <a:ext cx="2159000" cy="863600"/>
          </a:xfrm>
          <a:prstGeom prst="rect">
            <a:avLst/>
          </a:prstGeom>
          <a:gradFill rotWithShape="1">
            <a:gsLst>
              <a:gs pos="0">
                <a:schemeClr val="accent1"/>
              </a:gs>
              <a:gs pos="100000">
                <a:schemeClr val="accent1">
                  <a:gamma/>
                  <a:tint val="15686"/>
                  <a:invGamma/>
                </a:schemeClr>
              </a:gs>
            </a:gsLst>
            <a:lin ang="5400000" scaled="1"/>
          </a:gradFill>
          <a:ln w="9525" algn="ctr">
            <a:solidFill>
              <a:srgbClr val="339966"/>
            </a:solidFill>
            <a:miter lim="800000"/>
          </a:ln>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8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主计算机</a:t>
            </a:r>
            <a:r>
              <a:rPr kumimoji="1" lang="en-US" altLang="zh-CN" sz="28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a:t>
            </a:r>
            <a:endParaRPr kumimoji="1" lang="en-US" altLang="zh-CN" sz="28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724" name="Rectangle 4"/>
          <p:cNvSpPr>
            <a:spLocks noChangeArrowheads="1"/>
          </p:cNvSpPr>
          <p:nvPr/>
        </p:nvSpPr>
        <p:spPr bwMode="auto">
          <a:xfrm>
            <a:off x="6916738" y="4433253"/>
            <a:ext cx="2159000" cy="863600"/>
          </a:xfrm>
          <a:prstGeom prst="rect">
            <a:avLst/>
          </a:prstGeom>
          <a:gradFill rotWithShape="1">
            <a:gsLst>
              <a:gs pos="0">
                <a:schemeClr val="accent1"/>
              </a:gs>
              <a:gs pos="100000">
                <a:schemeClr val="accent1">
                  <a:gamma/>
                  <a:tint val="15686"/>
                  <a:invGamma/>
                </a:schemeClr>
              </a:gs>
            </a:gsLst>
            <a:lin ang="5400000" scaled="1"/>
          </a:gradFill>
          <a:ln w="9525" algn="ctr">
            <a:solidFill>
              <a:srgbClr val="339966"/>
            </a:solidFill>
            <a:miter lim="800000"/>
          </a:ln>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8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从计算机</a:t>
            </a:r>
            <a:r>
              <a:rPr kumimoji="1" lang="en-US" altLang="zh-CN" sz="28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B</a:t>
            </a:r>
            <a:endParaRPr kumimoji="1" lang="en-US" altLang="zh-CN" sz="28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725" name="Line 5"/>
          <p:cNvSpPr/>
          <p:nvPr/>
        </p:nvSpPr>
        <p:spPr>
          <a:xfrm>
            <a:off x="5045075" y="4649153"/>
            <a:ext cx="1871663" cy="0"/>
          </a:xfrm>
          <a:prstGeom prst="line">
            <a:avLst/>
          </a:prstGeom>
          <a:ln w="9525" cap="flat" cmpd="sng">
            <a:solidFill>
              <a:srgbClr val="FF3300"/>
            </a:solidFill>
            <a:prstDash val="solid"/>
            <a:headEnd type="none" w="med" len="med"/>
            <a:tailEnd type="triangle" w="lg" len="lg"/>
          </a:ln>
        </p:spPr>
      </p:sp>
      <p:sp>
        <p:nvSpPr>
          <p:cNvPr id="30734" name="Rectangle 14"/>
          <p:cNvSpPr>
            <a:spLocks noChangeArrowheads="1"/>
          </p:cNvSpPr>
          <p:nvPr/>
        </p:nvSpPr>
        <p:spPr bwMode="auto">
          <a:xfrm>
            <a:off x="2381250" y="3280728"/>
            <a:ext cx="7272338" cy="2808288"/>
          </a:xfrm>
          <a:prstGeom prst="rect">
            <a:avLst/>
          </a:prstGeom>
          <a:noFill/>
          <a:ln w="9525" algn="ctr">
            <a:solidFill>
              <a:schemeClr val="tx1"/>
            </a:solidFill>
            <a:prstDash val="lgDash"/>
            <a:miter lim="800000"/>
          </a:ln>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endParaRPr>
          </a:p>
        </p:txBody>
      </p:sp>
      <p:sp>
        <p:nvSpPr>
          <p:cNvPr id="30735" name="Text Box 15"/>
          <p:cNvSpPr txBox="1"/>
          <p:nvPr/>
        </p:nvSpPr>
        <p:spPr>
          <a:xfrm>
            <a:off x="2381250" y="3280728"/>
            <a:ext cx="2325370" cy="460375"/>
          </a:xfrm>
          <a:prstGeom prst="rect">
            <a:avLst/>
          </a:prstGeom>
          <a:noFill/>
          <a:ln w="9525">
            <a:noFill/>
          </a:ln>
        </p:spPr>
        <p:txBody>
          <a:bodyPr wrap="none">
            <a:spAutoFit/>
          </a:bodyPr>
          <a:p>
            <a:r>
              <a:rPr lang="zh-CN" altLang="en-US" sz="2400" b="1" dirty="0">
                <a:solidFill>
                  <a:srgbClr val="CC3300"/>
                </a:solidFill>
                <a:latin typeface="Arial" panose="020B0604020202020204" pitchFamily="34" charset="0"/>
                <a:ea typeface="黑体" panose="02010609060101010101" pitchFamily="2" charset="-122"/>
              </a:rPr>
              <a:t>某并行通讯系统</a:t>
            </a:r>
            <a:endParaRPr lang="zh-CN" altLang="en-US" sz="2400" b="1" dirty="0">
              <a:solidFill>
                <a:srgbClr val="CC3300"/>
              </a:solidFill>
              <a:latin typeface="Arial" panose="020B0604020202020204" pitchFamily="34" charset="0"/>
              <a:ea typeface="黑体" panose="02010609060101010101" pitchFamily="2" charset="-122"/>
            </a:endParaRPr>
          </a:p>
        </p:txBody>
      </p:sp>
      <p:sp>
        <p:nvSpPr>
          <p:cNvPr id="30736" name="Line 16"/>
          <p:cNvSpPr/>
          <p:nvPr/>
        </p:nvSpPr>
        <p:spPr>
          <a:xfrm flipH="1">
            <a:off x="5045075" y="5007928"/>
            <a:ext cx="1871663" cy="0"/>
          </a:xfrm>
          <a:prstGeom prst="line">
            <a:avLst/>
          </a:prstGeom>
          <a:ln w="9525" cap="flat" cmpd="sng">
            <a:solidFill>
              <a:srgbClr val="FF3300"/>
            </a:solidFill>
            <a:prstDash val="solid"/>
            <a:headEnd type="none" w="med" len="med"/>
            <a:tailEnd type="triangle" w="lg" len="lg"/>
          </a:ln>
        </p:spPr>
      </p:sp>
    </p:spTree>
  </p:cSld>
  <p:clrMapOvr>
    <a:masterClrMapping/>
  </p:clrMapOvr>
  <p:transition>
    <p:fade/>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4754" name="Rectangle 2"/>
          <p:cNvSpPr>
            <a:spLocks noGrp="1"/>
          </p:cNvSpPr>
          <p:nvPr>
            <p:ph type="title"/>
          </p:nvPr>
        </p:nvSpPr>
        <p:spPr/>
        <p:txBody>
          <a:bodyPr vert="horz" wrap="square" lIns="91440" tIns="45720" rIns="91440" bIns="45720" anchor="ctr" anchorCtr="0"/>
          <a:p>
            <a:r>
              <a:rPr lang="zh-CN" altLang="en-US" sz="4400" dirty="0" smtClean="0">
                <a:solidFill>
                  <a:srgbClr val="C00000"/>
                </a:solidFill>
              </a:rPr>
              <a:t>SFMEA</a:t>
            </a:r>
            <a:r>
              <a:rPr lang="zh-CN" altLang="en-US" dirty="0" smtClean="0">
                <a:solidFill>
                  <a:srgbClr val="C00000"/>
                </a:solidFill>
              </a:rPr>
              <a:t>实例 </a:t>
            </a:r>
            <a:r>
              <a:rPr lang="zh-CN" altLang="en-US" sz="4400" dirty="0" smtClean="0">
                <a:solidFill>
                  <a:srgbClr val="C00000"/>
                </a:solidFill>
              </a:rPr>
              <a:t>（1/5）</a:t>
            </a:r>
            <a:endParaRPr lang="zh-CN" altLang="en-US" sz="4400" dirty="0" smtClean="0">
              <a:solidFill>
                <a:srgbClr val="C00000"/>
              </a:solidFill>
            </a:endParaRPr>
          </a:p>
        </p:txBody>
      </p:sp>
      <p:sp>
        <p:nvSpPr>
          <p:cNvPr id="28675" name="Rectangle 3"/>
          <p:cNvSpPr>
            <a:spLocks noGrp="1"/>
          </p:cNvSpPr>
          <p:nvPr>
            <p:ph idx="1"/>
          </p:nvPr>
        </p:nvSpPr>
        <p:spPr>
          <a:xfrm>
            <a:off x="838200" y="1538605"/>
            <a:ext cx="3248025" cy="1275715"/>
          </a:xfrm>
        </p:spPr>
        <p:txBody>
          <a:bodyPr vert="horz" wrap="square" lIns="91440" tIns="45720" rIns="91440" bIns="45720" anchor="t" anchorCtr="0">
            <a:normAutofit/>
          </a:bodyPr>
          <a:p>
            <a:pPr>
              <a:lnSpc>
                <a:spcPct val="120000"/>
              </a:lnSpc>
              <a:spcBef>
                <a:spcPts val="0"/>
              </a:spcBef>
            </a:pPr>
            <a:r>
              <a:rPr lang="zh-CN" altLang="en-US" dirty="0"/>
              <a:t>主从双机之间的通讯协议如下：</a:t>
            </a:r>
            <a:endParaRPr lang="zh-CN" altLang="en-US" dirty="0"/>
          </a:p>
          <a:p>
            <a:endParaRPr lang="en-US" altLang="zh-CN" dirty="0"/>
          </a:p>
        </p:txBody>
      </p:sp>
      <p:sp>
        <p:nvSpPr>
          <p:cNvPr id="30723" name="Rectangle 3"/>
          <p:cNvSpPr>
            <a:spLocks noChangeArrowheads="1"/>
          </p:cNvSpPr>
          <p:nvPr/>
        </p:nvSpPr>
        <p:spPr bwMode="auto">
          <a:xfrm>
            <a:off x="4851718" y="3402013"/>
            <a:ext cx="2159000" cy="863600"/>
          </a:xfrm>
          <a:prstGeom prst="rect">
            <a:avLst/>
          </a:prstGeom>
          <a:gradFill rotWithShape="1">
            <a:gsLst>
              <a:gs pos="0">
                <a:schemeClr val="accent1"/>
              </a:gs>
              <a:gs pos="100000">
                <a:schemeClr val="accent1">
                  <a:gamma/>
                  <a:tint val="15686"/>
                  <a:invGamma/>
                </a:schemeClr>
              </a:gs>
            </a:gsLst>
            <a:lin ang="5400000" scaled="1"/>
          </a:gradFill>
          <a:ln w="9525" algn="ctr">
            <a:solidFill>
              <a:srgbClr val="339966"/>
            </a:solidFill>
            <a:miter lim="800000"/>
          </a:ln>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8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主计算机</a:t>
            </a:r>
            <a:r>
              <a:rPr kumimoji="1" lang="en-US" altLang="zh-CN" sz="28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a:t>
            </a:r>
            <a:endParaRPr kumimoji="1" lang="en-US" altLang="zh-CN" sz="28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724" name="Rectangle 4"/>
          <p:cNvSpPr>
            <a:spLocks noChangeArrowheads="1"/>
          </p:cNvSpPr>
          <p:nvPr/>
        </p:nvSpPr>
        <p:spPr bwMode="auto">
          <a:xfrm>
            <a:off x="8883968" y="3402013"/>
            <a:ext cx="2159000" cy="863600"/>
          </a:xfrm>
          <a:prstGeom prst="rect">
            <a:avLst/>
          </a:prstGeom>
          <a:gradFill rotWithShape="1">
            <a:gsLst>
              <a:gs pos="0">
                <a:schemeClr val="accent1"/>
              </a:gs>
              <a:gs pos="100000">
                <a:schemeClr val="accent1">
                  <a:gamma/>
                  <a:tint val="15686"/>
                  <a:invGamma/>
                </a:schemeClr>
              </a:gs>
            </a:gsLst>
            <a:lin ang="5400000" scaled="1"/>
          </a:gradFill>
          <a:ln w="9525" algn="ctr">
            <a:solidFill>
              <a:srgbClr val="339966"/>
            </a:solidFill>
            <a:miter lim="800000"/>
          </a:ln>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8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从计算机</a:t>
            </a:r>
            <a:r>
              <a:rPr kumimoji="1" lang="en-US" altLang="zh-CN" sz="28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B</a:t>
            </a:r>
            <a:endParaRPr kumimoji="1" lang="en-US" altLang="zh-CN" sz="28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725" name="Line 5"/>
          <p:cNvSpPr/>
          <p:nvPr/>
        </p:nvSpPr>
        <p:spPr>
          <a:xfrm>
            <a:off x="7012305" y="3617913"/>
            <a:ext cx="1871663" cy="0"/>
          </a:xfrm>
          <a:prstGeom prst="line">
            <a:avLst/>
          </a:prstGeom>
          <a:ln w="9525" cap="flat" cmpd="sng">
            <a:solidFill>
              <a:srgbClr val="FF3300"/>
            </a:solidFill>
            <a:prstDash val="solid"/>
            <a:headEnd type="none" w="med" len="med"/>
            <a:tailEnd type="triangle" w="lg" len="lg"/>
          </a:ln>
        </p:spPr>
      </p:sp>
      <p:sp>
        <p:nvSpPr>
          <p:cNvPr id="30726" name="Text Box 6"/>
          <p:cNvSpPr txBox="1">
            <a:spLocks noChangeArrowheads="1"/>
          </p:cNvSpPr>
          <p:nvPr/>
        </p:nvSpPr>
        <p:spPr bwMode="auto">
          <a:xfrm>
            <a:off x="6940868" y="3041650"/>
            <a:ext cx="1960880" cy="521970"/>
          </a:xfrm>
          <a:prstGeom prst="rect">
            <a:avLst/>
          </a:prstGeom>
          <a:noFill/>
          <a:ln w="9525" algn="ctr">
            <a:noFill/>
            <a:miter lim="800000"/>
          </a:ln>
          <a:effectLst/>
        </p:spPr>
        <p:txBody>
          <a:bodyPr wrap="none">
            <a:spAutoFit/>
          </a:bodyPr>
          <a:p>
            <a:pPr marR="0" defTabSz="914400">
              <a:buClrTx/>
              <a:buSzTx/>
              <a:buFontTx/>
              <a:buNone/>
              <a:defRPr/>
            </a:pPr>
            <a:r>
              <a:rPr kumimoji="1" lang="en-US" altLang="zh-CN" sz="2800" kern="1200" cap="none" spc="0" normalizeH="0" baseline="0" noProof="0">
                <a:effectLst>
                  <a:outerShdw blurRad="38100" dist="38100" dir="2700000" algn="tl">
                    <a:srgbClr val="FFFFFF"/>
                  </a:outerShdw>
                </a:effectLst>
                <a:latin typeface="Arial" panose="020B0604020202020204" pitchFamily="34" charset="0"/>
                <a:ea typeface="宋体" panose="02010600030101010101" pitchFamily="2" charset="-122"/>
                <a:cs typeface="+mn-cs"/>
              </a:rPr>
              <a:t>① N</a:t>
            </a:r>
            <a:r>
              <a:rPr kumimoji="1" lang="zh-CN" altLang="en-US" sz="2800" kern="1200" cap="none" spc="0" normalizeH="0" baseline="0" noProof="0">
                <a:effectLst>
                  <a:outerShdw blurRad="38100" dist="38100" dir="2700000" algn="tl">
                    <a:srgbClr val="FFFFFF"/>
                  </a:outerShdw>
                </a:effectLst>
                <a:latin typeface="Arial" panose="020B0604020202020204" pitchFamily="34" charset="0"/>
                <a:ea typeface="宋体" panose="02010600030101010101" pitchFamily="2" charset="-122"/>
                <a:cs typeface="+mn-cs"/>
              </a:rPr>
              <a:t>个字节</a:t>
            </a:r>
            <a:endParaRPr kumimoji="1" lang="zh-CN" altLang="en-US" sz="2800" kern="1200" cap="none" spc="0" normalizeH="0" baseline="0" noProof="0">
              <a:effectLst>
                <a:outerShdw blurRad="38100" dist="38100" dir="2700000" algn="tl">
                  <a:srgbClr val="FFFFFF"/>
                </a:outerShdw>
              </a:effectLst>
              <a:latin typeface="Arial" panose="020B0604020202020204" pitchFamily="34" charset="0"/>
              <a:ea typeface="宋体" panose="02010600030101010101" pitchFamily="2" charset="-122"/>
              <a:cs typeface="+mn-cs"/>
            </a:endParaRPr>
          </a:p>
        </p:txBody>
      </p:sp>
      <p:sp>
        <p:nvSpPr>
          <p:cNvPr id="30729" name="Text Box 9"/>
          <p:cNvSpPr txBox="1">
            <a:spLocks noChangeArrowheads="1"/>
          </p:cNvSpPr>
          <p:nvPr/>
        </p:nvSpPr>
        <p:spPr bwMode="auto">
          <a:xfrm>
            <a:off x="6940868" y="3976688"/>
            <a:ext cx="1901190" cy="521970"/>
          </a:xfrm>
          <a:prstGeom prst="rect">
            <a:avLst/>
          </a:prstGeom>
          <a:noFill/>
          <a:ln w="9525" algn="ctr">
            <a:noFill/>
            <a:miter lim="800000"/>
          </a:ln>
          <a:effectLst/>
        </p:spPr>
        <p:txBody>
          <a:bodyPr wrap="none">
            <a:spAutoFit/>
          </a:bodyPr>
          <a:p>
            <a:pPr marR="0" defTabSz="914400">
              <a:buClrTx/>
              <a:buSzTx/>
              <a:buFontTx/>
              <a:buNone/>
              <a:defRPr/>
            </a:pPr>
            <a:r>
              <a:rPr kumimoji="1" lang="en-US" altLang="zh-CN" sz="2800" kern="1200" cap="none" spc="0" normalizeH="0" baseline="0" noProof="0">
                <a:effectLst>
                  <a:outerShdw blurRad="38100" dist="38100" dir="2700000" algn="tl">
                    <a:srgbClr val="FFFFFF"/>
                  </a:outerShdw>
                </a:effectLst>
                <a:latin typeface="Arial" panose="020B0604020202020204" pitchFamily="34" charset="0"/>
                <a:ea typeface="宋体" panose="02010600030101010101" pitchFamily="2" charset="-122"/>
                <a:cs typeface="+mn-cs"/>
              </a:rPr>
              <a:t>②M</a:t>
            </a:r>
            <a:r>
              <a:rPr kumimoji="1" lang="zh-CN" altLang="en-US" sz="2800" kern="1200" cap="none" spc="0" normalizeH="0" baseline="0" noProof="0">
                <a:effectLst>
                  <a:outerShdw blurRad="38100" dist="38100" dir="2700000" algn="tl">
                    <a:srgbClr val="FFFFFF"/>
                  </a:outerShdw>
                </a:effectLst>
                <a:latin typeface="Arial" panose="020B0604020202020204" pitchFamily="34" charset="0"/>
                <a:ea typeface="宋体" panose="02010600030101010101" pitchFamily="2" charset="-122"/>
                <a:cs typeface="+mn-cs"/>
              </a:rPr>
              <a:t>个字节</a:t>
            </a:r>
            <a:endParaRPr kumimoji="1" lang="zh-CN" altLang="en-US" sz="2800" kern="1200" cap="none" spc="0" normalizeH="0" baseline="0" noProof="0">
              <a:effectLst>
                <a:outerShdw blurRad="38100" dist="38100" dir="2700000" algn="tl">
                  <a:srgbClr val="FFFFFF"/>
                </a:outerShdw>
              </a:effectLst>
              <a:latin typeface="Arial" panose="020B0604020202020204" pitchFamily="34" charset="0"/>
              <a:ea typeface="宋体" panose="02010600030101010101" pitchFamily="2" charset="-122"/>
              <a:cs typeface="+mn-cs"/>
            </a:endParaRPr>
          </a:p>
        </p:txBody>
      </p:sp>
      <p:sp>
        <p:nvSpPr>
          <p:cNvPr id="30734" name="Rectangle 14"/>
          <p:cNvSpPr>
            <a:spLocks noChangeArrowheads="1"/>
          </p:cNvSpPr>
          <p:nvPr/>
        </p:nvSpPr>
        <p:spPr bwMode="auto">
          <a:xfrm>
            <a:off x="4348480" y="2249488"/>
            <a:ext cx="7272338" cy="2808288"/>
          </a:xfrm>
          <a:prstGeom prst="rect">
            <a:avLst/>
          </a:prstGeom>
          <a:noFill/>
          <a:ln w="9525" algn="ctr">
            <a:solidFill>
              <a:schemeClr val="tx1"/>
            </a:solidFill>
            <a:prstDash val="lgDash"/>
            <a:miter lim="800000"/>
          </a:ln>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endParaRPr>
          </a:p>
        </p:txBody>
      </p:sp>
      <p:sp>
        <p:nvSpPr>
          <p:cNvPr id="30735" name="Text Box 15"/>
          <p:cNvSpPr txBox="1"/>
          <p:nvPr/>
        </p:nvSpPr>
        <p:spPr>
          <a:xfrm>
            <a:off x="4348480" y="2249488"/>
            <a:ext cx="2325370" cy="460375"/>
          </a:xfrm>
          <a:prstGeom prst="rect">
            <a:avLst/>
          </a:prstGeom>
          <a:noFill/>
          <a:ln w="9525">
            <a:noFill/>
          </a:ln>
        </p:spPr>
        <p:txBody>
          <a:bodyPr wrap="none">
            <a:spAutoFit/>
          </a:bodyPr>
          <a:p>
            <a:r>
              <a:rPr lang="zh-CN" altLang="en-US" sz="2400" b="1" dirty="0">
                <a:solidFill>
                  <a:srgbClr val="CC3300"/>
                </a:solidFill>
                <a:latin typeface="Arial" panose="020B0604020202020204" pitchFamily="34" charset="0"/>
                <a:ea typeface="黑体" panose="02010609060101010101" pitchFamily="2" charset="-122"/>
              </a:rPr>
              <a:t>某并行通讯系统</a:t>
            </a:r>
            <a:endParaRPr lang="zh-CN" altLang="en-US" sz="2400" b="1" dirty="0">
              <a:solidFill>
                <a:srgbClr val="CC3300"/>
              </a:solidFill>
              <a:latin typeface="Arial" panose="020B0604020202020204" pitchFamily="34" charset="0"/>
              <a:ea typeface="黑体" panose="02010609060101010101" pitchFamily="2" charset="-122"/>
            </a:endParaRPr>
          </a:p>
        </p:txBody>
      </p:sp>
      <p:sp>
        <p:nvSpPr>
          <p:cNvPr id="30736" name="Line 16"/>
          <p:cNvSpPr/>
          <p:nvPr/>
        </p:nvSpPr>
        <p:spPr>
          <a:xfrm flipH="1">
            <a:off x="7012305" y="3976688"/>
            <a:ext cx="1871663" cy="0"/>
          </a:xfrm>
          <a:prstGeom prst="line">
            <a:avLst/>
          </a:prstGeom>
          <a:ln w="9525" cap="flat" cmpd="sng">
            <a:solidFill>
              <a:srgbClr val="FF3300"/>
            </a:solidFill>
            <a:prstDash val="solid"/>
            <a:headEnd type="none" w="med" len="med"/>
            <a:tailEnd type="triangle" w="lg" len="lg"/>
          </a:ln>
        </p:spPr>
      </p:sp>
      <p:sp>
        <p:nvSpPr>
          <p:cNvPr id="3" name="文本框 2"/>
          <p:cNvSpPr txBox="1"/>
          <p:nvPr/>
        </p:nvSpPr>
        <p:spPr>
          <a:xfrm>
            <a:off x="916305" y="2980690"/>
            <a:ext cx="2792095" cy="1863725"/>
          </a:xfrm>
          <a:prstGeom prst="rect">
            <a:avLst/>
          </a:prstGeom>
          <a:noFill/>
        </p:spPr>
        <p:txBody>
          <a:bodyPr wrap="square" rtlCol="0" anchor="t">
            <a:spAutoFit/>
          </a:bodyPr>
          <a:p>
            <a:pPr indent="0" fontAlgn="auto">
              <a:lnSpc>
                <a:spcPct val="120000"/>
              </a:lnSpc>
            </a:pPr>
            <a:r>
              <a:rPr lang="en-US" altLang="zh-CN" sz="2400" dirty="0">
                <a:latin typeface="Times New Roman" panose="02020603050405020304" pitchFamily="18" charset="0"/>
                <a:sym typeface="+mn-ea"/>
              </a:rPr>
              <a:t>(1) </a:t>
            </a:r>
            <a:r>
              <a:rPr lang="zh-CN" altLang="en-US" sz="2400" dirty="0">
                <a:latin typeface="Times New Roman" panose="02020603050405020304" pitchFamily="18" charset="0"/>
                <a:sym typeface="+mn-ea"/>
              </a:rPr>
              <a:t>先由</a:t>
            </a:r>
            <a:r>
              <a:rPr lang="en-US" altLang="zh-CN" sz="2400" dirty="0">
                <a:latin typeface="Times New Roman" panose="02020603050405020304" pitchFamily="18" charset="0"/>
                <a:sym typeface="+mn-ea"/>
              </a:rPr>
              <a:t>A</a:t>
            </a:r>
            <a:r>
              <a:rPr lang="zh-CN" altLang="en-US" sz="2400" dirty="0">
                <a:latin typeface="Times New Roman" panose="02020603050405020304" pitchFamily="18" charset="0"/>
                <a:sym typeface="+mn-ea"/>
              </a:rPr>
              <a:t>向</a:t>
            </a:r>
            <a:r>
              <a:rPr lang="en-US" altLang="zh-CN" sz="2400" dirty="0">
                <a:latin typeface="Times New Roman" panose="02020603050405020304" pitchFamily="18" charset="0"/>
                <a:sym typeface="+mn-ea"/>
              </a:rPr>
              <a:t>B</a:t>
            </a:r>
            <a:r>
              <a:rPr lang="zh-CN" altLang="en-US" sz="2400" dirty="0">
                <a:latin typeface="Times New Roman" panose="02020603050405020304" pitchFamily="18" charset="0"/>
                <a:sym typeface="+mn-ea"/>
              </a:rPr>
              <a:t>发送</a:t>
            </a:r>
            <a:r>
              <a:rPr lang="en-US" altLang="zh-CN" sz="2400" dirty="0">
                <a:latin typeface="Times New Roman" panose="02020603050405020304" pitchFamily="18" charset="0"/>
                <a:sym typeface="+mn-ea"/>
              </a:rPr>
              <a:t>N</a:t>
            </a:r>
            <a:r>
              <a:rPr lang="zh-CN" altLang="en-US" sz="2400" dirty="0">
                <a:latin typeface="Times New Roman" panose="02020603050405020304" pitchFamily="18" charset="0"/>
                <a:sym typeface="+mn-ea"/>
              </a:rPr>
              <a:t>字节，待</a:t>
            </a:r>
            <a:r>
              <a:rPr lang="en-US" altLang="zh-CN" sz="2400" dirty="0">
                <a:latin typeface="Times New Roman" panose="02020603050405020304" pitchFamily="18" charset="0"/>
                <a:sym typeface="+mn-ea"/>
              </a:rPr>
              <a:t>B</a:t>
            </a:r>
            <a:r>
              <a:rPr lang="zh-CN" altLang="en-US" sz="2400" dirty="0">
                <a:latin typeface="Times New Roman" panose="02020603050405020304" pitchFamily="18" charset="0"/>
                <a:sym typeface="+mn-ea"/>
              </a:rPr>
              <a:t>接收完</a:t>
            </a:r>
            <a:r>
              <a:rPr lang="en-US" altLang="zh-CN" sz="2400" dirty="0">
                <a:latin typeface="Times New Roman" panose="02020603050405020304" pitchFamily="18" charset="0"/>
                <a:sym typeface="+mn-ea"/>
              </a:rPr>
              <a:t>N</a:t>
            </a:r>
            <a:r>
              <a:rPr lang="zh-CN" altLang="en-US" sz="2400" dirty="0">
                <a:latin typeface="Times New Roman" panose="02020603050405020304" pitchFamily="18" charset="0"/>
                <a:sym typeface="+mn-ea"/>
              </a:rPr>
              <a:t>字节后，</a:t>
            </a:r>
            <a:r>
              <a:rPr lang="en-US" altLang="zh-CN" sz="2400" dirty="0">
                <a:latin typeface="Times New Roman" panose="02020603050405020304" pitchFamily="18" charset="0"/>
                <a:sym typeface="+mn-ea"/>
              </a:rPr>
              <a:t>B</a:t>
            </a:r>
            <a:r>
              <a:rPr lang="zh-CN" altLang="en-US" sz="2400" dirty="0">
                <a:latin typeface="Times New Roman" panose="02020603050405020304" pitchFamily="18" charset="0"/>
                <a:sym typeface="+mn-ea"/>
              </a:rPr>
              <a:t>再向</a:t>
            </a:r>
            <a:r>
              <a:rPr lang="en-US" altLang="zh-CN" sz="2400" dirty="0">
                <a:latin typeface="Times New Roman" panose="02020603050405020304" pitchFamily="18" charset="0"/>
                <a:sym typeface="+mn-ea"/>
              </a:rPr>
              <a:t>A</a:t>
            </a:r>
            <a:r>
              <a:rPr lang="zh-CN" altLang="en-US" sz="2400" dirty="0">
                <a:latin typeface="Times New Roman" panose="02020603050405020304" pitchFamily="18" charset="0"/>
                <a:sym typeface="+mn-ea"/>
              </a:rPr>
              <a:t>发送</a:t>
            </a:r>
            <a:r>
              <a:rPr lang="en-US" altLang="zh-CN" sz="2400" dirty="0">
                <a:latin typeface="Times New Roman" panose="02020603050405020304" pitchFamily="18" charset="0"/>
                <a:sym typeface="+mn-ea"/>
              </a:rPr>
              <a:t>M</a:t>
            </a:r>
            <a:r>
              <a:rPr lang="zh-CN" altLang="en-US" sz="2400" dirty="0">
                <a:latin typeface="Times New Roman" panose="02020603050405020304" pitchFamily="18" charset="0"/>
                <a:sym typeface="+mn-ea"/>
              </a:rPr>
              <a:t>字节</a:t>
            </a:r>
            <a:endParaRPr lang="zh-CN" altLang="en-US" sz="2400" dirty="0">
              <a:latin typeface="Times New Roman" panose="02020603050405020304" pitchFamily="18" charset="0"/>
              <a:sym typeface="+mn-ea"/>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0726"/>
                                        </p:tgtEl>
                                        <p:attrNameLst>
                                          <p:attrName>style.visibility</p:attrName>
                                        </p:attrNameLst>
                                      </p:cBhvr>
                                      <p:to>
                                        <p:strVal val="visible"/>
                                      </p:to>
                                    </p:set>
                                    <p:animEffect transition="in" filter="wipe(left)">
                                      <p:cBhvr>
                                        <p:cTn id="7" dur="1000"/>
                                        <p:tgtEl>
                                          <p:spTgt spid="3072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grpId="0" nodeType="clickEffect">
                                  <p:stCondLst>
                                    <p:cond delay="0"/>
                                  </p:stCondLst>
                                  <p:childTnLst>
                                    <p:set>
                                      <p:cBhvr>
                                        <p:cTn id="11" dur="1" fill="hold">
                                          <p:stCondLst>
                                            <p:cond delay="0"/>
                                          </p:stCondLst>
                                        </p:cTn>
                                        <p:tgtEl>
                                          <p:spTgt spid="30729"/>
                                        </p:tgtEl>
                                        <p:attrNameLst>
                                          <p:attrName>style.visibility</p:attrName>
                                        </p:attrNameLst>
                                      </p:cBhvr>
                                      <p:to>
                                        <p:strVal val="visible"/>
                                      </p:to>
                                    </p:set>
                                    <p:animEffect transition="in" filter="wipe(right)">
                                      <p:cBhvr>
                                        <p:cTn id="12" dur="1000"/>
                                        <p:tgtEl>
                                          <p:spTgt spid="307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6" grpId="0" bldLvl="0" animBg="1"/>
      <p:bldP spid="30729" grpId="0" bldLvl="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4754" name="Rectangle 2"/>
          <p:cNvSpPr>
            <a:spLocks noGrp="1"/>
          </p:cNvSpPr>
          <p:nvPr>
            <p:ph type="title"/>
          </p:nvPr>
        </p:nvSpPr>
        <p:spPr/>
        <p:txBody>
          <a:bodyPr vert="horz" wrap="square" lIns="91440" tIns="45720" rIns="91440" bIns="45720" anchor="ctr" anchorCtr="0"/>
          <a:p>
            <a:r>
              <a:rPr lang="zh-CN" altLang="en-US" sz="4400" dirty="0" smtClean="0">
                <a:solidFill>
                  <a:srgbClr val="C00000"/>
                </a:solidFill>
              </a:rPr>
              <a:t>SFMEA</a:t>
            </a:r>
            <a:r>
              <a:rPr lang="zh-CN" altLang="en-US" dirty="0" smtClean="0">
                <a:solidFill>
                  <a:srgbClr val="C00000"/>
                </a:solidFill>
              </a:rPr>
              <a:t>实例 </a:t>
            </a:r>
            <a:r>
              <a:rPr lang="zh-CN" altLang="en-US" sz="4400" dirty="0" smtClean="0">
                <a:solidFill>
                  <a:srgbClr val="C00000"/>
                </a:solidFill>
              </a:rPr>
              <a:t>（1/5）</a:t>
            </a:r>
            <a:endParaRPr lang="zh-CN" altLang="en-US" sz="4400" dirty="0" smtClean="0">
              <a:solidFill>
                <a:srgbClr val="C00000"/>
              </a:solidFill>
            </a:endParaRPr>
          </a:p>
        </p:txBody>
      </p:sp>
      <p:sp>
        <p:nvSpPr>
          <p:cNvPr id="28675" name="Rectangle 3"/>
          <p:cNvSpPr>
            <a:spLocks noGrp="1"/>
          </p:cNvSpPr>
          <p:nvPr>
            <p:ph idx="1"/>
          </p:nvPr>
        </p:nvSpPr>
        <p:spPr>
          <a:xfrm>
            <a:off x="838200" y="1538605"/>
            <a:ext cx="3248025" cy="1275715"/>
          </a:xfrm>
        </p:spPr>
        <p:txBody>
          <a:bodyPr vert="horz" wrap="square" lIns="91440" tIns="45720" rIns="91440" bIns="45720" anchor="t" anchorCtr="0">
            <a:normAutofit/>
          </a:bodyPr>
          <a:p>
            <a:pPr>
              <a:lnSpc>
                <a:spcPct val="120000"/>
              </a:lnSpc>
              <a:spcBef>
                <a:spcPts val="0"/>
              </a:spcBef>
            </a:pPr>
            <a:r>
              <a:rPr lang="zh-CN" altLang="en-US" dirty="0"/>
              <a:t>主从双机之间的通讯协议如下：</a:t>
            </a:r>
            <a:endParaRPr lang="zh-CN" altLang="en-US" dirty="0"/>
          </a:p>
          <a:p>
            <a:endParaRPr lang="en-US" altLang="zh-CN" dirty="0"/>
          </a:p>
        </p:txBody>
      </p:sp>
      <p:sp>
        <p:nvSpPr>
          <p:cNvPr id="30723" name="Rectangle 3"/>
          <p:cNvSpPr>
            <a:spLocks noChangeArrowheads="1"/>
          </p:cNvSpPr>
          <p:nvPr/>
        </p:nvSpPr>
        <p:spPr bwMode="auto">
          <a:xfrm>
            <a:off x="4851718" y="3402013"/>
            <a:ext cx="2159000" cy="863600"/>
          </a:xfrm>
          <a:prstGeom prst="rect">
            <a:avLst/>
          </a:prstGeom>
          <a:gradFill rotWithShape="1">
            <a:gsLst>
              <a:gs pos="0">
                <a:schemeClr val="accent1"/>
              </a:gs>
              <a:gs pos="100000">
                <a:schemeClr val="accent1">
                  <a:gamma/>
                  <a:tint val="15686"/>
                  <a:invGamma/>
                </a:schemeClr>
              </a:gs>
            </a:gsLst>
            <a:lin ang="5400000" scaled="1"/>
          </a:gradFill>
          <a:ln w="9525" algn="ctr">
            <a:solidFill>
              <a:srgbClr val="339966"/>
            </a:solidFill>
            <a:miter lim="800000"/>
          </a:ln>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8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主计算机</a:t>
            </a:r>
            <a:r>
              <a:rPr kumimoji="1" lang="en-US" altLang="zh-CN" sz="28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a:t>
            </a:r>
            <a:endParaRPr kumimoji="1" lang="en-US" altLang="zh-CN" sz="28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724" name="Rectangle 4"/>
          <p:cNvSpPr>
            <a:spLocks noChangeArrowheads="1"/>
          </p:cNvSpPr>
          <p:nvPr/>
        </p:nvSpPr>
        <p:spPr bwMode="auto">
          <a:xfrm>
            <a:off x="8883968" y="3402013"/>
            <a:ext cx="2159000" cy="863600"/>
          </a:xfrm>
          <a:prstGeom prst="rect">
            <a:avLst/>
          </a:prstGeom>
          <a:gradFill rotWithShape="1">
            <a:gsLst>
              <a:gs pos="0">
                <a:schemeClr val="accent1"/>
              </a:gs>
              <a:gs pos="100000">
                <a:schemeClr val="accent1">
                  <a:gamma/>
                  <a:tint val="15686"/>
                  <a:invGamma/>
                </a:schemeClr>
              </a:gs>
            </a:gsLst>
            <a:lin ang="5400000" scaled="1"/>
          </a:gradFill>
          <a:ln w="9525" algn="ctr">
            <a:solidFill>
              <a:srgbClr val="339966"/>
            </a:solidFill>
            <a:miter lim="800000"/>
          </a:ln>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8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从计算机</a:t>
            </a:r>
            <a:r>
              <a:rPr kumimoji="1" lang="en-US" altLang="zh-CN" sz="28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B</a:t>
            </a:r>
            <a:endParaRPr kumimoji="1" lang="en-US" altLang="zh-CN" sz="28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725" name="Line 5"/>
          <p:cNvSpPr/>
          <p:nvPr/>
        </p:nvSpPr>
        <p:spPr>
          <a:xfrm>
            <a:off x="7012305" y="3617913"/>
            <a:ext cx="1871663" cy="0"/>
          </a:xfrm>
          <a:prstGeom prst="line">
            <a:avLst/>
          </a:prstGeom>
          <a:ln w="9525" cap="flat" cmpd="sng">
            <a:solidFill>
              <a:srgbClr val="FF3300"/>
            </a:solidFill>
            <a:prstDash val="solid"/>
            <a:headEnd type="none" w="med" len="med"/>
            <a:tailEnd type="triangle" w="lg" len="lg"/>
          </a:ln>
        </p:spPr>
      </p:sp>
      <p:sp>
        <p:nvSpPr>
          <p:cNvPr id="30726" name="Text Box 6"/>
          <p:cNvSpPr txBox="1">
            <a:spLocks noChangeArrowheads="1"/>
          </p:cNvSpPr>
          <p:nvPr/>
        </p:nvSpPr>
        <p:spPr bwMode="auto">
          <a:xfrm>
            <a:off x="6940868" y="3041650"/>
            <a:ext cx="1960880" cy="521970"/>
          </a:xfrm>
          <a:prstGeom prst="rect">
            <a:avLst/>
          </a:prstGeom>
          <a:noFill/>
          <a:ln w="9525" algn="ctr">
            <a:noFill/>
            <a:miter lim="800000"/>
          </a:ln>
          <a:effectLst/>
        </p:spPr>
        <p:txBody>
          <a:bodyPr wrap="none">
            <a:spAutoFit/>
          </a:bodyPr>
          <a:p>
            <a:pPr marR="0" defTabSz="914400">
              <a:buClrTx/>
              <a:buSzTx/>
              <a:buFontTx/>
              <a:buNone/>
              <a:defRPr/>
            </a:pPr>
            <a:r>
              <a:rPr kumimoji="1" lang="en-US" altLang="zh-CN" sz="2800" kern="1200" cap="none" spc="0" normalizeH="0" baseline="0" noProof="0">
                <a:effectLst>
                  <a:outerShdw blurRad="38100" dist="38100" dir="2700000" algn="tl">
                    <a:srgbClr val="FFFFFF"/>
                  </a:outerShdw>
                </a:effectLst>
                <a:latin typeface="Arial" panose="020B0604020202020204" pitchFamily="34" charset="0"/>
                <a:ea typeface="宋体" panose="02010600030101010101" pitchFamily="2" charset="-122"/>
                <a:cs typeface="+mn-cs"/>
              </a:rPr>
              <a:t>① N</a:t>
            </a:r>
            <a:r>
              <a:rPr kumimoji="1" lang="zh-CN" altLang="en-US" sz="2800" kern="1200" cap="none" spc="0" normalizeH="0" baseline="0" noProof="0">
                <a:effectLst>
                  <a:outerShdw blurRad="38100" dist="38100" dir="2700000" algn="tl">
                    <a:srgbClr val="FFFFFF"/>
                  </a:outerShdw>
                </a:effectLst>
                <a:latin typeface="Arial" panose="020B0604020202020204" pitchFamily="34" charset="0"/>
                <a:ea typeface="宋体" panose="02010600030101010101" pitchFamily="2" charset="-122"/>
                <a:cs typeface="+mn-cs"/>
              </a:rPr>
              <a:t>个字节</a:t>
            </a:r>
            <a:endParaRPr kumimoji="1" lang="zh-CN" altLang="en-US" sz="2800" kern="1200" cap="none" spc="0" normalizeH="0" baseline="0" noProof="0">
              <a:effectLst>
                <a:outerShdw blurRad="38100" dist="38100" dir="2700000" algn="tl">
                  <a:srgbClr val="FFFFFF"/>
                </a:outerShdw>
              </a:effectLst>
              <a:latin typeface="Arial" panose="020B0604020202020204" pitchFamily="34" charset="0"/>
              <a:ea typeface="宋体" panose="02010600030101010101" pitchFamily="2" charset="-122"/>
              <a:cs typeface="+mn-cs"/>
            </a:endParaRPr>
          </a:p>
        </p:txBody>
      </p:sp>
      <p:sp>
        <p:nvSpPr>
          <p:cNvPr id="30727" name="Text Box 7"/>
          <p:cNvSpPr txBox="1">
            <a:spLocks noChangeArrowheads="1"/>
          </p:cNvSpPr>
          <p:nvPr/>
        </p:nvSpPr>
        <p:spPr bwMode="auto">
          <a:xfrm>
            <a:off x="9101455" y="2536825"/>
            <a:ext cx="1762125" cy="398780"/>
          </a:xfrm>
          <a:prstGeom prst="rect">
            <a:avLst/>
          </a:prstGeom>
          <a:noFill/>
          <a:ln w="9525" algn="ctr">
            <a:noFill/>
            <a:miter lim="800000"/>
          </a:ln>
          <a:effectLst/>
        </p:spPr>
        <p:txBody>
          <a:bodyPr wrap="none">
            <a:spAutoFit/>
          </a:bodyPr>
          <a:p>
            <a:pPr marR="0" defTabSz="914400">
              <a:buClrTx/>
              <a:buSzTx/>
              <a:buFontTx/>
              <a:buNone/>
              <a:defRPr/>
            </a:pPr>
            <a:r>
              <a:rPr kumimoji="1" lang="en-US" altLang="zh-CN" sz="2000" kern="1200" cap="none" spc="0" normalizeH="0" baseline="0" noProof="0">
                <a:effectLst>
                  <a:outerShdw blurRad="38100" dist="38100" dir="2700000" algn="tl">
                    <a:srgbClr val="FFFFFF"/>
                  </a:outerShdw>
                </a:effectLst>
                <a:latin typeface="Arial" panose="020B0604020202020204" pitchFamily="34" charset="0"/>
                <a:ea typeface="宋体" panose="02010600030101010101" pitchFamily="2" charset="-122"/>
                <a:cs typeface="+mn-cs"/>
              </a:rPr>
              <a:t>HeadA</a:t>
            </a:r>
            <a:r>
              <a:rPr kumimoji="1" lang="en-US" altLang="zh-CN" sz="2000" kern="1200" cap="none" spc="0" normalizeH="0" baseline="0" noProof="0">
                <a:effectLst>
                  <a:outerShdw blurRad="38100" dist="38100" dir="2700000" algn="tl">
                    <a:srgbClr val="FFFFFF"/>
                  </a:outerShdw>
                </a:effectLst>
                <a:latin typeface="Times New Roman" panose="02020603050405020304"/>
                <a:ea typeface="宋体" panose="02010600030101010101" pitchFamily="2" charset="-122"/>
                <a:cs typeface="+mn-cs"/>
              </a:rPr>
              <a:t>···</a:t>
            </a:r>
            <a:r>
              <a:rPr kumimoji="1" lang="en-US" altLang="zh-CN" sz="2000" kern="1200" cap="none" spc="0" normalizeH="0" baseline="0" noProof="0">
                <a:effectLst>
                  <a:outerShdw blurRad="38100" dist="38100" dir="2700000" algn="tl">
                    <a:srgbClr val="FFFFFF"/>
                  </a:outerShdw>
                </a:effectLst>
                <a:latin typeface="Arial" panose="020B0604020202020204" pitchFamily="34" charset="0"/>
                <a:ea typeface="宋体" panose="02010600030101010101" pitchFamily="2" charset="-122"/>
                <a:cs typeface="+mn-cs"/>
              </a:rPr>
              <a:t>TailA</a:t>
            </a:r>
            <a:endParaRPr kumimoji="1" lang="en-US" altLang="zh-CN" sz="2000" kern="1200" cap="none" spc="0" normalizeH="0" baseline="0" noProof="0">
              <a:effectLst>
                <a:outerShdw blurRad="38100" dist="38100" dir="2700000" algn="tl">
                  <a:srgbClr val="FFFFFF"/>
                </a:outerShdw>
              </a:effectLst>
              <a:latin typeface="Arial" panose="020B0604020202020204" pitchFamily="34" charset="0"/>
              <a:ea typeface="宋体" panose="02010600030101010101" pitchFamily="2" charset="-122"/>
              <a:cs typeface="+mn-cs"/>
            </a:endParaRPr>
          </a:p>
        </p:txBody>
      </p:sp>
      <p:sp>
        <p:nvSpPr>
          <p:cNvPr id="30728" name="Line 8"/>
          <p:cNvSpPr/>
          <p:nvPr/>
        </p:nvSpPr>
        <p:spPr>
          <a:xfrm flipV="1">
            <a:off x="8091805" y="2681288"/>
            <a:ext cx="1009650" cy="431800"/>
          </a:xfrm>
          <a:prstGeom prst="line">
            <a:avLst/>
          </a:prstGeom>
          <a:ln w="9525" cap="flat" cmpd="sng">
            <a:solidFill>
              <a:srgbClr val="FF3300"/>
            </a:solidFill>
            <a:prstDash val="solid"/>
            <a:headEnd type="none" w="med" len="med"/>
            <a:tailEnd type="none" w="med" len="med"/>
          </a:ln>
        </p:spPr>
      </p:sp>
      <p:sp>
        <p:nvSpPr>
          <p:cNvPr id="30729" name="Text Box 9"/>
          <p:cNvSpPr txBox="1">
            <a:spLocks noChangeArrowheads="1"/>
          </p:cNvSpPr>
          <p:nvPr/>
        </p:nvSpPr>
        <p:spPr bwMode="auto">
          <a:xfrm>
            <a:off x="6940868" y="3976688"/>
            <a:ext cx="1901190" cy="521970"/>
          </a:xfrm>
          <a:prstGeom prst="rect">
            <a:avLst/>
          </a:prstGeom>
          <a:noFill/>
          <a:ln w="9525" algn="ctr">
            <a:noFill/>
            <a:miter lim="800000"/>
          </a:ln>
          <a:effectLst/>
        </p:spPr>
        <p:txBody>
          <a:bodyPr wrap="none">
            <a:spAutoFit/>
          </a:bodyPr>
          <a:p>
            <a:pPr marR="0" defTabSz="914400">
              <a:buClrTx/>
              <a:buSzTx/>
              <a:buFontTx/>
              <a:buNone/>
              <a:defRPr/>
            </a:pPr>
            <a:r>
              <a:rPr kumimoji="1" lang="en-US" altLang="zh-CN" sz="2800" kern="1200" cap="none" spc="0" normalizeH="0" baseline="0" noProof="0">
                <a:effectLst>
                  <a:outerShdw blurRad="38100" dist="38100" dir="2700000" algn="tl">
                    <a:srgbClr val="FFFFFF"/>
                  </a:outerShdw>
                </a:effectLst>
                <a:latin typeface="Arial" panose="020B0604020202020204" pitchFamily="34" charset="0"/>
                <a:ea typeface="宋体" panose="02010600030101010101" pitchFamily="2" charset="-122"/>
                <a:cs typeface="+mn-cs"/>
              </a:rPr>
              <a:t>②M</a:t>
            </a:r>
            <a:r>
              <a:rPr kumimoji="1" lang="zh-CN" altLang="en-US" sz="2800" kern="1200" cap="none" spc="0" normalizeH="0" baseline="0" noProof="0">
                <a:effectLst>
                  <a:outerShdw blurRad="38100" dist="38100" dir="2700000" algn="tl">
                    <a:srgbClr val="FFFFFF"/>
                  </a:outerShdw>
                </a:effectLst>
                <a:latin typeface="Arial" panose="020B0604020202020204" pitchFamily="34" charset="0"/>
                <a:ea typeface="宋体" panose="02010600030101010101" pitchFamily="2" charset="-122"/>
                <a:cs typeface="+mn-cs"/>
              </a:rPr>
              <a:t>个字节</a:t>
            </a:r>
            <a:endParaRPr kumimoji="1" lang="zh-CN" altLang="en-US" sz="2800" kern="1200" cap="none" spc="0" normalizeH="0" baseline="0" noProof="0">
              <a:effectLst>
                <a:outerShdw blurRad="38100" dist="38100" dir="2700000" algn="tl">
                  <a:srgbClr val="FFFFFF"/>
                </a:outerShdw>
              </a:effectLst>
              <a:latin typeface="Arial" panose="020B0604020202020204" pitchFamily="34" charset="0"/>
              <a:ea typeface="宋体" panose="02010600030101010101" pitchFamily="2" charset="-122"/>
              <a:cs typeface="+mn-cs"/>
            </a:endParaRPr>
          </a:p>
        </p:txBody>
      </p:sp>
      <p:sp>
        <p:nvSpPr>
          <p:cNvPr id="30730" name="Line 10"/>
          <p:cNvSpPr/>
          <p:nvPr/>
        </p:nvSpPr>
        <p:spPr>
          <a:xfrm>
            <a:off x="8164830" y="4481513"/>
            <a:ext cx="1081088" cy="431800"/>
          </a:xfrm>
          <a:prstGeom prst="line">
            <a:avLst/>
          </a:prstGeom>
          <a:ln w="9525" cap="flat" cmpd="sng">
            <a:solidFill>
              <a:srgbClr val="FF3300"/>
            </a:solidFill>
            <a:prstDash val="solid"/>
            <a:headEnd type="none" w="med" len="med"/>
            <a:tailEnd type="none" w="med" len="med"/>
          </a:ln>
        </p:spPr>
      </p:sp>
      <p:sp>
        <p:nvSpPr>
          <p:cNvPr id="30731" name="Text Box 11"/>
          <p:cNvSpPr txBox="1">
            <a:spLocks noChangeArrowheads="1"/>
          </p:cNvSpPr>
          <p:nvPr/>
        </p:nvSpPr>
        <p:spPr bwMode="auto">
          <a:xfrm>
            <a:off x="9245918" y="4625975"/>
            <a:ext cx="1832610" cy="398780"/>
          </a:xfrm>
          <a:prstGeom prst="rect">
            <a:avLst/>
          </a:prstGeom>
          <a:noFill/>
          <a:ln w="9525" algn="ctr">
            <a:noFill/>
            <a:miter lim="800000"/>
          </a:ln>
          <a:effectLst/>
        </p:spPr>
        <p:txBody>
          <a:bodyPr wrap="none">
            <a:spAutoFit/>
          </a:bodyPr>
          <a:p>
            <a:pPr marR="0" defTabSz="914400">
              <a:buClrTx/>
              <a:buSzTx/>
              <a:buFontTx/>
              <a:buNone/>
              <a:defRPr/>
            </a:pPr>
            <a:r>
              <a:rPr kumimoji="1" lang="en-US" altLang="zh-CN" sz="2000" kern="1200" cap="none" spc="0" normalizeH="0" baseline="0" noProof="0">
                <a:effectLst>
                  <a:outerShdw blurRad="38100" dist="38100" dir="2700000" algn="tl">
                    <a:srgbClr val="FFFFFF"/>
                  </a:outerShdw>
                </a:effectLst>
                <a:latin typeface="Arial" panose="020B0604020202020204" pitchFamily="34" charset="0"/>
                <a:ea typeface="宋体" panose="02010600030101010101" pitchFamily="2" charset="-122"/>
                <a:cs typeface="+mn-cs"/>
              </a:rPr>
              <a:t>HeadB </a:t>
            </a:r>
            <a:r>
              <a:rPr kumimoji="1" lang="en-US" altLang="zh-CN" sz="2000" kern="1200" cap="none" spc="0" normalizeH="0" baseline="0" noProof="0">
                <a:effectLst>
                  <a:outerShdw blurRad="38100" dist="38100" dir="2700000" algn="tl">
                    <a:srgbClr val="FFFFFF"/>
                  </a:outerShdw>
                </a:effectLst>
                <a:latin typeface="Times New Roman" panose="02020603050405020304"/>
                <a:ea typeface="宋体" panose="02010600030101010101" pitchFamily="2" charset="-122"/>
                <a:cs typeface="+mn-cs"/>
              </a:rPr>
              <a:t>···</a:t>
            </a:r>
            <a:r>
              <a:rPr kumimoji="1" lang="en-US" altLang="zh-CN" sz="2000" kern="1200" cap="none" spc="0" normalizeH="0" baseline="0" noProof="0">
                <a:effectLst>
                  <a:outerShdw blurRad="38100" dist="38100" dir="2700000" algn="tl">
                    <a:srgbClr val="FFFFFF"/>
                  </a:outerShdw>
                </a:effectLst>
                <a:latin typeface="Arial" panose="020B0604020202020204" pitchFamily="34" charset="0"/>
                <a:ea typeface="宋体" panose="02010600030101010101" pitchFamily="2" charset="-122"/>
                <a:cs typeface="+mn-cs"/>
              </a:rPr>
              <a:t>TailB</a:t>
            </a:r>
            <a:endParaRPr kumimoji="1" lang="en-US" altLang="zh-CN" sz="2000" kern="1200" cap="none" spc="0" normalizeH="0" baseline="0" noProof="0">
              <a:effectLst>
                <a:outerShdw blurRad="38100" dist="38100" dir="2700000" algn="tl">
                  <a:srgbClr val="FFFFFF"/>
                </a:outerShdw>
              </a:effectLst>
              <a:latin typeface="Arial" panose="020B0604020202020204" pitchFamily="34" charset="0"/>
              <a:ea typeface="宋体" panose="02010600030101010101" pitchFamily="2" charset="-122"/>
              <a:cs typeface="+mn-cs"/>
            </a:endParaRPr>
          </a:p>
        </p:txBody>
      </p:sp>
      <p:sp>
        <p:nvSpPr>
          <p:cNvPr id="30734" name="Rectangle 14"/>
          <p:cNvSpPr>
            <a:spLocks noChangeArrowheads="1"/>
          </p:cNvSpPr>
          <p:nvPr/>
        </p:nvSpPr>
        <p:spPr bwMode="auto">
          <a:xfrm>
            <a:off x="4348480" y="2249488"/>
            <a:ext cx="7272338" cy="2808288"/>
          </a:xfrm>
          <a:prstGeom prst="rect">
            <a:avLst/>
          </a:prstGeom>
          <a:noFill/>
          <a:ln w="9525" algn="ctr">
            <a:solidFill>
              <a:schemeClr val="tx1"/>
            </a:solidFill>
            <a:prstDash val="lgDash"/>
            <a:miter lim="800000"/>
          </a:ln>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endParaRPr>
          </a:p>
        </p:txBody>
      </p:sp>
      <p:sp>
        <p:nvSpPr>
          <p:cNvPr id="30735" name="Text Box 15"/>
          <p:cNvSpPr txBox="1"/>
          <p:nvPr/>
        </p:nvSpPr>
        <p:spPr>
          <a:xfrm>
            <a:off x="4348480" y="2249488"/>
            <a:ext cx="2325370" cy="460375"/>
          </a:xfrm>
          <a:prstGeom prst="rect">
            <a:avLst/>
          </a:prstGeom>
          <a:noFill/>
          <a:ln w="9525">
            <a:noFill/>
          </a:ln>
        </p:spPr>
        <p:txBody>
          <a:bodyPr wrap="none">
            <a:spAutoFit/>
          </a:bodyPr>
          <a:p>
            <a:r>
              <a:rPr lang="zh-CN" altLang="en-US" sz="2400" b="1" dirty="0">
                <a:solidFill>
                  <a:srgbClr val="CC3300"/>
                </a:solidFill>
                <a:latin typeface="Arial" panose="020B0604020202020204" pitchFamily="34" charset="0"/>
                <a:ea typeface="黑体" panose="02010609060101010101" pitchFamily="2" charset="-122"/>
              </a:rPr>
              <a:t>某并行通讯系统</a:t>
            </a:r>
            <a:endParaRPr lang="zh-CN" altLang="en-US" sz="2400" b="1" dirty="0">
              <a:solidFill>
                <a:srgbClr val="CC3300"/>
              </a:solidFill>
              <a:latin typeface="Arial" panose="020B0604020202020204" pitchFamily="34" charset="0"/>
              <a:ea typeface="黑体" panose="02010609060101010101" pitchFamily="2" charset="-122"/>
            </a:endParaRPr>
          </a:p>
        </p:txBody>
      </p:sp>
      <p:sp>
        <p:nvSpPr>
          <p:cNvPr id="30736" name="Line 16"/>
          <p:cNvSpPr/>
          <p:nvPr/>
        </p:nvSpPr>
        <p:spPr>
          <a:xfrm flipH="1">
            <a:off x="7012305" y="3976688"/>
            <a:ext cx="1871663" cy="0"/>
          </a:xfrm>
          <a:prstGeom prst="line">
            <a:avLst/>
          </a:prstGeom>
          <a:ln w="9525" cap="flat" cmpd="sng">
            <a:solidFill>
              <a:srgbClr val="FF3300"/>
            </a:solidFill>
            <a:prstDash val="solid"/>
            <a:headEnd type="none" w="med" len="med"/>
            <a:tailEnd type="triangle" w="lg" len="lg"/>
          </a:ln>
        </p:spPr>
      </p:sp>
      <p:sp>
        <p:nvSpPr>
          <p:cNvPr id="3" name="文本框 2"/>
          <p:cNvSpPr txBox="1"/>
          <p:nvPr/>
        </p:nvSpPr>
        <p:spPr>
          <a:xfrm>
            <a:off x="664210" y="2814320"/>
            <a:ext cx="3295650" cy="3784600"/>
          </a:xfrm>
          <a:prstGeom prst="rect">
            <a:avLst/>
          </a:prstGeom>
          <a:noFill/>
        </p:spPr>
        <p:txBody>
          <a:bodyPr wrap="square" rtlCol="0" anchor="t">
            <a:spAutoFit/>
          </a:bodyPr>
          <a:p>
            <a:pPr indent="0" fontAlgn="auto">
              <a:lnSpc>
                <a:spcPct val="120000"/>
              </a:lnSpc>
            </a:pPr>
            <a:r>
              <a:rPr lang="en-US" altLang="zh-CN" sz="2000" dirty="0">
                <a:latin typeface="Times New Roman" panose="02020603050405020304" pitchFamily="18" charset="0"/>
                <a:sym typeface="+mn-ea"/>
              </a:rPr>
              <a:t>(2) </a:t>
            </a:r>
            <a:r>
              <a:rPr lang="en-US" altLang="zh-CN" sz="2000" noProof="0" smtClean="0">
                <a:ln>
                  <a:noFill/>
                </a:ln>
                <a:effectLst/>
                <a:uLnTx/>
                <a:uFillTx/>
                <a:latin typeface="Times New Roman" panose="02020603050405020304" pitchFamily="18" charset="0"/>
                <a:sym typeface="+mn-ea"/>
              </a:rPr>
              <a:t>A</a:t>
            </a:r>
            <a:r>
              <a:rPr lang="zh-CN" altLang="en-US" sz="2000" noProof="0" smtClean="0">
                <a:ln>
                  <a:noFill/>
                </a:ln>
                <a:effectLst/>
                <a:uLnTx/>
                <a:uFillTx/>
                <a:latin typeface="Times New Roman" panose="02020603050405020304" pitchFamily="18" charset="0"/>
                <a:sym typeface="+mn-ea"/>
              </a:rPr>
              <a:t>发送的第一字节为</a:t>
            </a:r>
            <a:r>
              <a:rPr lang="en-US" altLang="zh-CN" sz="2000" noProof="0" smtClean="0">
                <a:ln>
                  <a:noFill/>
                </a:ln>
                <a:effectLst/>
                <a:uLnTx/>
                <a:uFillTx/>
                <a:latin typeface="Times New Roman" panose="02020603050405020304" pitchFamily="18" charset="0"/>
                <a:sym typeface="+mn-ea"/>
              </a:rPr>
              <a:t>HeadA</a:t>
            </a:r>
            <a:r>
              <a:rPr lang="zh-CN" altLang="en-US" sz="2000" noProof="0" smtClean="0">
                <a:ln>
                  <a:noFill/>
                </a:ln>
                <a:effectLst/>
                <a:uLnTx/>
                <a:uFillTx/>
                <a:latin typeface="Times New Roman" panose="02020603050405020304" pitchFamily="18" charset="0"/>
                <a:sym typeface="+mn-ea"/>
              </a:rPr>
              <a:t>，</a:t>
            </a:r>
            <a:r>
              <a:rPr lang="en-US" altLang="zh-CN" sz="2000" noProof="0" smtClean="0">
                <a:ln>
                  <a:noFill/>
                </a:ln>
                <a:effectLst/>
                <a:uLnTx/>
                <a:uFillTx/>
                <a:latin typeface="Times New Roman" panose="02020603050405020304" pitchFamily="18" charset="0"/>
                <a:sym typeface="+mn-ea"/>
              </a:rPr>
              <a:t>HeadA</a:t>
            </a:r>
            <a:r>
              <a:rPr lang="zh-CN" altLang="en-US" sz="2000" noProof="0" smtClean="0">
                <a:ln>
                  <a:noFill/>
                </a:ln>
                <a:effectLst/>
                <a:uLnTx/>
                <a:uFillTx/>
                <a:latin typeface="Times New Roman" panose="02020603050405020304" pitchFamily="18" charset="0"/>
                <a:sym typeface="+mn-ea"/>
              </a:rPr>
              <a:t>为控制机命令标识，</a:t>
            </a:r>
            <a:r>
              <a:rPr lang="en-US" altLang="zh-CN" sz="2000" noProof="0" smtClean="0">
                <a:ln>
                  <a:noFill/>
                </a:ln>
                <a:effectLst/>
                <a:uLnTx/>
                <a:uFillTx/>
                <a:latin typeface="Times New Roman" panose="02020603050405020304" pitchFamily="18" charset="0"/>
                <a:sym typeface="+mn-ea"/>
              </a:rPr>
              <a:t>A</a:t>
            </a:r>
            <a:r>
              <a:rPr lang="zh-CN" altLang="en-US" sz="2000" noProof="0" smtClean="0">
                <a:ln>
                  <a:noFill/>
                </a:ln>
                <a:effectLst/>
                <a:uLnTx/>
                <a:uFillTx/>
                <a:latin typeface="Times New Roman" panose="02020603050405020304" pitchFamily="18" charset="0"/>
                <a:sym typeface="+mn-ea"/>
              </a:rPr>
              <a:t>发送的第</a:t>
            </a:r>
            <a:r>
              <a:rPr lang="en-US" altLang="zh-CN" sz="2000" noProof="0" smtClean="0">
                <a:ln>
                  <a:noFill/>
                </a:ln>
                <a:effectLst/>
                <a:uLnTx/>
                <a:uFillTx/>
                <a:latin typeface="Times New Roman" panose="02020603050405020304" pitchFamily="18" charset="0"/>
                <a:sym typeface="+mn-ea"/>
              </a:rPr>
              <a:t>N</a:t>
            </a:r>
            <a:r>
              <a:rPr lang="zh-CN" altLang="en-US" sz="2000" noProof="0" smtClean="0">
                <a:ln>
                  <a:noFill/>
                </a:ln>
                <a:effectLst/>
                <a:uLnTx/>
                <a:uFillTx/>
                <a:latin typeface="Times New Roman" panose="02020603050405020304" pitchFamily="18" charset="0"/>
                <a:sym typeface="+mn-ea"/>
              </a:rPr>
              <a:t>字节为</a:t>
            </a:r>
            <a:r>
              <a:rPr lang="en-US" altLang="zh-CN" sz="2000" noProof="0" smtClean="0">
                <a:ln>
                  <a:noFill/>
                </a:ln>
                <a:effectLst/>
                <a:uLnTx/>
                <a:uFillTx/>
                <a:latin typeface="Times New Roman" panose="02020603050405020304" pitchFamily="18" charset="0"/>
                <a:sym typeface="+mn-ea"/>
              </a:rPr>
              <a:t>TailA</a:t>
            </a:r>
            <a:r>
              <a:rPr lang="zh-CN" altLang="en-US" sz="2000" noProof="0" smtClean="0">
                <a:ln>
                  <a:noFill/>
                </a:ln>
                <a:effectLst/>
                <a:uLnTx/>
                <a:uFillTx/>
                <a:latin typeface="Times New Roman" panose="02020603050405020304" pitchFamily="18" charset="0"/>
                <a:sym typeface="+mn-ea"/>
              </a:rPr>
              <a:t>，</a:t>
            </a:r>
            <a:r>
              <a:rPr lang="en-US" altLang="zh-CN" sz="2000" noProof="0" smtClean="0">
                <a:ln>
                  <a:noFill/>
                </a:ln>
                <a:effectLst/>
                <a:uLnTx/>
                <a:uFillTx/>
                <a:latin typeface="Times New Roman" panose="02020603050405020304" pitchFamily="18" charset="0"/>
                <a:sym typeface="+mn-ea"/>
              </a:rPr>
              <a:t>TailA</a:t>
            </a:r>
            <a:r>
              <a:rPr lang="zh-CN" altLang="en-US" sz="2000" noProof="0" smtClean="0">
                <a:ln>
                  <a:noFill/>
                </a:ln>
                <a:effectLst/>
                <a:uLnTx/>
                <a:uFillTx/>
                <a:latin typeface="Times New Roman" panose="02020603050405020304" pitchFamily="18" charset="0"/>
                <a:sym typeface="+mn-ea"/>
              </a:rPr>
              <a:t>为控制机校验标识。</a:t>
            </a:r>
            <a:endParaRPr lang="zh-CN" altLang="en-US" sz="2000" noProof="0" smtClean="0">
              <a:ln>
                <a:noFill/>
              </a:ln>
              <a:effectLst/>
              <a:uLnTx/>
              <a:uFillTx/>
              <a:latin typeface="Times New Roman" panose="02020603050405020304" pitchFamily="18" charset="0"/>
              <a:sym typeface="+mn-ea"/>
            </a:endParaRPr>
          </a:p>
          <a:p>
            <a:pPr indent="0" fontAlgn="auto">
              <a:lnSpc>
                <a:spcPct val="120000"/>
              </a:lnSpc>
            </a:pPr>
            <a:r>
              <a:rPr lang="zh-CN" altLang="en-US" sz="2000" noProof="0" smtClean="0">
                <a:ln>
                  <a:noFill/>
                </a:ln>
                <a:effectLst/>
                <a:uLnTx/>
                <a:uFillTx/>
                <a:latin typeface="Times New Roman" panose="02020603050405020304" pitchFamily="18" charset="0"/>
                <a:sym typeface="+mn-ea"/>
              </a:rPr>
              <a:t> </a:t>
            </a:r>
            <a:r>
              <a:rPr lang="en-US" altLang="zh-CN" sz="2000" noProof="0" smtClean="0">
                <a:ln>
                  <a:noFill/>
                </a:ln>
                <a:effectLst/>
                <a:uLnTx/>
                <a:uFillTx/>
                <a:latin typeface="Times New Roman" panose="02020603050405020304" pitchFamily="18" charset="0"/>
                <a:sym typeface="+mn-ea"/>
              </a:rPr>
              <a:t> B</a:t>
            </a:r>
            <a:r>
              <a:rPr lang="zh-CN" altLang="en-US" sz="2000" noProof="0" smtClean="0">
                <a:ln>
                  <a:noFill/>
                </a:ln>
                <a:effectLst/>
                <a:uLnTx/>
                <a:uFillTx/>
                <a:latin typeface="Times New Roman" panose="02020603050405020304" pitchFamily="18" charset="0"/>
                <a:sym typeface="+mn-ea"/>
              </a:rPr>
              <a:t>发送的第一字节为</a:t>
            </a:r>
            <a:r>
              <a:rPr lang="en-US" altLang="zh-CN" sz="2000" noProof="0" smtClean="0">
                <a:ln>
                  <a:noFill/>
                </a:ln>
                <a:effectLst/>
                <a:uLnTx/>
                <a:uFillTx/>
                <a:latin typeface="Times New Roman" panose="02020603050405020304" pitchFamily="18" charset="0"/>
                <a:sym typeface="+mn-ea"/>
              </a:rPr>
              <a:t>HeadB</a:t>
            </a:r>
            <a:r>
              <a:rPr lang="zh-CN" altLang="en-US" sz="2000" noProof="0" smtClean="0">
                <a:ln>
                  <a:noFill/>
                </a:ln>
                <a:effectLst/>
                <a:uLnTx/>
                <a:uFillTx/>
                <a:latin typeface="Times New Roman" panose="02020603050405020304" pitchFamily="18" charset="0"/>
                <a:sym typeface="+mn-ea"/>
              </a:rPr>
              <a:t>，</a:t>
            </a:r>
            <a:r>
              <a:rPr lang="en-US" altLang="zh-CN" sz="2000" noProof="0" smtClean="0">
                <a:ln>
                  <a:noFill/>
                </a:ln>
                <a:effectLst/>
                <a:uLnTx/>
                <a:uFillTx/>
                <a:latin typeface="Times New Roman" panose="02020603050405020304" pitchFamily="18" charset="0"/>
                <a:sym typeface="+mn-ea"/>
              </a:rPr>
              <a:t>HeadB </a:t>
            </a:r>
            <a:r>
              <a:rPr lang="zh-CN" altLang="en-US" sz="2000" noProof="0" smtClean="0">
                <a:ln>
                  <a:noFill/>
                </a:ln>
                <a:effectLst/>
                <a:uLnTx/>
                <a:uFillTx/>
                <a:latin typeface="Times New Roman" panose="02020603050405020304" pitchFamily="18" charset="0"/>
                <a:sym typeface="+mn-ea"/>
              </a:rPr>
              <a:t>为从属机接收状况回应标识，</a:t>
            </a:r>
            <a:r>
              <a:rPr lang="en-US" altLang="zh-CN" sz="2000" noProof="0" smtClean="0">
                <a:ln>
                  <a:noFill/>
                </a:ln>
                <a:effectLst/>
                <a:uLnTx/>
                <a:uFillTx/>
                <a:latin typeface="Times New Roman" panose="02020603050405020304" pitchFamily="18" charset="0"/>
                <a:sym typeface="+mn-ea"/>
              </a:rPr>
              <a:t>B</a:t>
            </a:r>
            <a:r>
              <a:rPr lang="zh-CN" altLang="en-US" sz="2000" noProof="0" smtClean="0">
                <a:ln>
                  <a:noFill/>
                </a:ln>
                <a:effectLst/>
                <a:uLnTx/>
                <a:uFillTx/>
                <a:latin typeface="Times New Roman" panose="02020603050405020304" pitchFamily="18" charset="0"/>
                <a:sym typeface="+mn-ea"/>
              </a:rPr>
              <a:t>发送的第</a:t>
            </a:r>
            <a:r>
              <a:rPr lang="en-US" altLang="zh-CN" sz="2000" noProof="0" smtClean="0">
                <a:ln>
                  <a:noFill/>
                </a:ln>
                <a:effectLst/>
                <a:uLnTx/>
                <a:uFillTx/>
                <a:latin typeface="Times New Roman" panose="02020603050405020304" pitchFamily="18" charset="0"/>
                <a:sym typeface="+mn-ea"/>
              </a:rPr>
              <a:t>M</a:t>
            </a:r>
            <a:r>
              <a:rPr lang="zh-CN" altLang="en-US" sz="2000" noProof="0" smtClean="0">
                <a:ln>
                  <a:noFill/>
                </a:ln>
                <a:effectLst/>
                <a:uLnTx/>
                <a:uFillTx/>
                <a:latin typeface="Times New Roman" panose="02020603050405020304" pitchFamily="18" charset="0"/>
                <a:sym typeface="+mn-ea"/>
              </a:rPr>
              <a:t>字节为</a:t>
            </a:r>
            <a:r>
              <a:rPr lang="en-US" altLang="zh-CN" sz="2000" noProof="0" smtClean="0">
                <a:ln>
                  <a:noFill/>
                </a:ln>
                <a:effectLst/>
                <a:uLnTx/>
                <a:uFillTx/>
                <a:latin typeface="Times New Roman" panose="02020603050405020304" pitchFamily="18" charset="0"/>
                <a:sym typeface="+mn-ea"/>
              </a:rPr>
              <a:t>TailB</a:t>
            </a:r>
            <a:r>
              <a:rPr lang="zh-CN" altLang="en-US" sz="2000" noProof="0" smtClean="0">
                <a:ln>
                  <a:noFill/>
                </a:ln>
                <a:effectLst/>
                <a:uLnTx/>
                <a:uFillTx/>
                <a:latin typeface="Times New Roman" panose="02020603050405020304" pitchFamily="18" charset="0"/>
                <a:sym typeface="+mn-ea"/>
              </a:rPr>
              <a:t>，</a:t>
            </a:r>
            <a:r>
              <a:rPr lang="en-US" altLang="zh-CN" sz="2000" noProof="0" smtClean="0">
                <a:ln>
                  <a:noFill/>
                </a:ln>
                <a:effectLst/>
                <a:uLnTx/>
                <a:uFillTx/>
                <a:latin typeface="Times New Roman" panose="02020603050405020304" pitchFamily="18" charset="0"/>
                <a:sym typeface="+mn-ea"/>
              </a:rPr>
              <a:t>TailB</a:t>
            </a:r>
            <a:r>
              <a:rPr lang="zh-CN" altLang="en-US" sz="2000" noProof="0" smtClean="0">
                <a:ln>
                  <a:noFill/>
                </a:ln>
                <a:effectLst/>
                <a:uLnTx/>
                <a:uFillTx/>
                <a:latin typeface="Times New Roman" panose="02020603050405020304" pitchFamily="18" charset="0"/>
                <a:sym typeface="+mn-ea"/>
              </a:rPr>
              <a:t>为从属机校验标识</a:t>
            </a:r>
            <a:endParaRPr lang="zh-CN" altLang="en-US" sz="2000" noProof="0" dirty="0" smtClean="0">
              <a:ln>
                <a:noFill/>
              </a:ln>
              <a:effectLst/>
              <a:uLnTx/>
              <a:uFillTx/>
              <a:latin typeface="Times New Roman" panose="02020603050405020304" pitchFamily="18" charset="0"/>
              <a:sym typeface="+mn-ea"/>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30727"/>
                                        </p:tgtEl>
                                        <p:attrNameLst>
                                          <p:attrName>style.visibility</p:attrName>
                                        </p:attrNameLst>
                                      </p:cBhvr>
                                      <p:to>
                                        <p:strVal val="visible"/>
                                      </p:to>
                                    </p:set>
                                    <p:animEffect transition="in" filter="box(in)">
                                      <p:cBhvr>
                                        <p:cTn id="7" dur="1000"/>
                                        <p:tgtEl>
                                          <p:spTgt spid="30727"/>
                                        </p:tgtEl>
                                      </p:cBhvr>
                                    </p:animEffect>
                                  </p:childTnLst>
                                </p:cTn>
                              </p:par>
                              <p:par>
                                <p:cTn id="8" presetID="1" presetClass="entr" presetSubtype="0" fill="hold" nodeType="withEffect">
                                  <p:stCondLst>
                                    <p:cond delay="0"/>
                                  </p:stCondLst>
                                  <p:childTnLst>
                                    <p:set>
                                      <p:cBhvr>
                                        <p:cTn id="9" dur="1" fill="hold">
                                          <p:stCondLst>
                                            <p:cond delay="0"/>
                                          </p:stCondLst>
                                        </p:cTn>
                                        <p:tgtEl>
                                          <p:spTgt spid="30728"/>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4" presetClass="entr" presetSubtype="16" fill="hold" nodeType="clickEffect">
                                  <p:stCondLst>
                                    <p:cond delay="0"/>
                                  </p:stCondLst>
                                  <p:childTnLst>
                                    <p:set>
                                      <p:cBhvr>
                                        <p:cTn id="13" dur="1" fill="hold">
                                          <p:stCondLst>
                                            <p:cond delay="0"/>
                                          </p:stCondLst>
                                        </p:cTn>
                                        <p:tgtEl>
                                          <p:spTgt spid="30730"/>
                                        </p:tgtEl>
                                        <p:attrNameLst>
                                          <p:attrName>style.visibility</p:attrName>
                                        </p:attrNameLst>
                                      </p:cBhvr>
                                      <p:to>
                                        <p:strVal val="visible"/>
                                      </p:to>
                                    </p:set>
                                    <p:animEffect transition="in" filter="box(in)">
                                      <p:cBhvr>
                                        <p:cTn id="14" dur="1000"/>
                                        <p:tgtEl>
                                          <p:spTgt spid="30730"/>
                                        </p:tgtEl>
                                      </p:cBhvr>
                                    </p:animEffect>
                                  </p:childTnLst>
                                </p:cTn>
                              </p:par>
                              <p:par>
                                <p:cTn id="15" presetID="4" presetClass="entr" presetSubtype="16" fill="hold" grpId="0" nodeType="withEffect">
                                  <p:stCondLst>
                                    <p:cond delay="0"/>
                                  </p:stCondLst>
                                  <p:childTnLst>
                                    <p:set>
                                      <p:cBhvr>
                                        <p:cTn id="16" dur="1" fill="hold">
                                          <p:stCondLst>
                                            <p:cond delay="0"/>
                                          </p:stCondLst>
                                        </p:cTn>
                                        <p:tgtEl>
                                          <p:spTgt spid="30731"/>
                                        </p:tgtEl>
                                        <p:attrNameLst>
                                          <p:attrName>style.visibility</p:attrName>
                                        </p:attrNameLst>
                                      </p:cBhvr>
                                      <p:to>
                                        <p:strVal val="visible"/>
                                      </p:to>
                                    </p:set>
                                    <p:animEffect transition="in" filter="box(in)">
                                      <p:cBhvr>
                                        <p:cTn id="17" dur="1000"/>
                                        <p:tgtEl>
                                          <p:spTgt spid="307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31" grpId="0" bldLvl="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4754" name="Rectangle 2"/>
          <p:cNvSpPr>
            <a:spLocks noGrp="1"/>
          </p:cNvSpPr>
          <p:nvPr>
            <p:ph type="title"/>
          </p:nvPr>
        </p:nvSpPr>
        <p:spPr/>
        <p:txBody>
          <a:bodyPr vert="horz" wrap="square" lIns="91440" tIns="45720" rIns="91440" bIns="45720" anchor="ctr" anchorCtr="0"/>
          <a:p>
            <a:r>
              <a:rPr lang="zh-CN" altLang="en-US" sz="4400" dirty="0" smtClean="0">
                <a:solidFill>
                  <a:srgbClr val="C00000"/>
                </a:solidFill>
              </a:rPr>
              <a:t>SFMEA</a:t>
            </a:r>
            <a:r>
              <a:rPr lang="zh-CN" altLang="en-US" dirty="0" smtClean="0">
                <a:solidFill>
                  <a:srgbClr val="C00000"/>
                </a:solidFill>
              </a:rPr>
              <a:t>实例 </a:t>
            </a:r>
            <a:r>
              <a:rPr lang="zh-CN" altLang="en-US" sz="4400" dirty="0" smtClean="0">
                <a:solidFill>
                  <a:srgbClr val="C00000"/>
                </a:solidFill>
              </a:rPr>
              <a:t>（1/5）</a:t>
            </a:r>
            <a:endParaRPr lang="zh-CN" altLang="en-US" sz="4400" dirty="0" smtClean="0">
              <a:solidFill>
                <a:srgbClr val="C00000"/>
              </a:solidFill>
            </a:endParaRPr>
          </a:p>
        </p:txBody>
      </p:sp>
      <p:sp>
        <p:nvSpPr>
          <p:cNvPr id="28675" name="Rectangle 3"/>
          <p:cNvSpPr>
            <a:spLocks noGrp="1"/>
          </p:cNvSpPr>
          <p:nvPr>
            <p:ph idx="1"/>
          </p:nvPr>
        </p:nvSpPr>
        <p:spPr>
          <a:xfrm>
            <a:off x="838200" y="1538605"/>
            <a:ext cx="3248025" cy="1275715"/>
          </a:xfrm>
        </p:spPr>
        <p:txBody>
          <a:bodyPr vert="horz" wrap="square" lIns="91440" tIns="45720" rIns="91440" bIns="45720" anchor="t" anchorCtr="0">
            <a:normAutofit/>
          </a:bodyPr>
          <a:p>
            <a:pPr>
              <a:lnSpc>
                <a:spcPct val="120000"/>
              </a:lnSpc>
              <a:spcBef>
                <a:spcPts val="0"/>
              </a:spcBef>
            </a:pPr>
            <a:r>
              <a:rPr lang="zh-CN" altLang="en-US" dirty="0"/>
              <a:t>主从双机之间的通讯协议如下：</a:t>
            </a:r>
            <a:endParaRPr lang="zh-CN" altLang="en-US" dirty="0"/>
          </a:p>
          <a:p>
            <a:endParaRPr lang="en-US" altLang="zh-CN" dirty="0"/>
          </a:p>
        </p:txBody>
      </p:sp>
      <p:sp>
        <p:nvSpPr>
          <p:cNvPr id="30723" name="Rectangle 3"/>
          <p:cNvSpPr>
            <a:spLocks noChangeArrowheads="1"/>
          </p:cNvSpPr>
          <p:nvPr/>
        </p:nvSpPr>
        <p:spPr bwMode="auto">
          <a:xfrm>
            <a:off x="4851718" y="3402013"/>
            <a:ext cx="2159000" cy="863600"/>
          </a:xfrm>
          <a:prstGeom prst="rect">
            <a:avLst/>
          </a:prstGeom>
          <a:gradFill rotWithShape="1">
            <a:gsLst>
              <a:gs pos="0">
                <a:schemeClr val="accent1"/>
              </a:gs>
              <a:gs pos="100000">
                <a:schemeClr val="accent1">
                  <a:gamma/>
                  <a:tint val="15686"/>
                  <a:invGamma/>
                </a:schemeClr>
              </a:gs>
            </a:gsLst>
            <a:lin ang="5400000" scaled="1"/>
          </a:gradFill>
          <a:ln w="9525" algn="ctr">
            <a:solidFill>
              <a:srgbClr val="339966"/>
            </a:solidFill>
            <a:miter lim="800000"/>
          </a:ln>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8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主计算机</a:t>
            </a:r>
            <a:r>
              <a:rPr kumimoji="1" lang="en-US" altLang="zh-CN" sz="28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a:t>
            </a:r>
            <a:endParaRPr kumimoji="1" lang="en-US" altLang="zh-CN" sz="28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724" name="Rectangle 4"/>
          <p:cNvSpPr>
            <a:spLocks noChangeArrowheads="1"/>
          </p:cNvSpPr>
          <p:nvPr/>
        </p:nvSpPr>
        <p:spPr bwMode="auto">
          <a:xfrm>
            <a:off x="8883968" y="3402013"/>
            <a:ext cx="2159000" cy="863600"/>
          </a:xfrm>
          <a:prstGeom prst="rect">
            <a:avLst/>
          </a:prstGeom>
          <a:gradFill rotWithShape="1">
            <a:gsLst>
              <a:gs pos="0">
                <a:schemeClr val="accent1"/>
              </a:gs>
              <a:gs pos="100000">
                <a:schemeClr val="accent1">
                  <a:gamma/>
                  <a:tint val="15686"/>
                  <a:invGamma/>
                </a:schemeClr>
              </a:gs>
            </a:gsLst>
            <a:lin ang="5400000" scaled="1"/>
          </a:gradFill>
          <a:ln w="9525" algn="ctr">
            <a:solidFill>
              <a:srgbClr val="339966"/>
            </a:solidFill>
            <a:miter lim="800000"/>
          </a:ln>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8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从计算机</a:t>
            </a:r>
            <a:r>
              <a:rPr kumimoji="1" lang="en-US" altLang="zh-CN" sz="28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B</a:t>
            </a:r>
            <a:endParaRPr kumimoji="1" lang="en-US" altLang="zh-CN" sz="28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725" name="Line 5"/>
          <p:cNvSpPr/>
          <p:nvPr/>
        </p:nvSpPr>
        <p:spPr>
          <a:xfrm>
            <a:off x="7012305" y="3617913"/>
            <a:ext cx="1871663" cy="0"/>
          </a:xfrm>
          <a:prstGeom prst="line">
            <a:avLst/>
          </a:prstGeom>
          <a:ln w="9525" cap="flat" cmpd="sng">
            <a:solidFill>
              <a:srgbClr val="FF3300"/>
            </a:solidFill>
            <a:prstDash val="solid"/>
            <a:headEnd type="none" w="med" len="med"/>
            <a:tailEnd type="triangle" w="lg" len="lg"/>
          </a:ln>
        </p:spPr>
      </p:sp>
      <p:sp>
        <p:nvSpPr>
          <p:cNvPr id="30726" name="Text Box 6"/>
          <p:cNvSpPr txBox="1">
            <a:spLocks noChangeArrowheads="1"/>
          </p:cNvSpPr>
          <p:nvPr/>
        </p:nvSpPr>
        <p:spPr bwMode="auto">
          <a:xfrm>
            <a:off x="6940868" y="3041650"/>
            <a:ext cx="1960880" cy="521970"/>
          </a:xfrm>
          <a:prstGeom prst="rect">
            <a:avLst/>
          </a:prstGeom>
          <a:noFill/>
          <a:ln w="9525" algn="ctr">
            <a:noFill/>
            <a:miter lim="800000"/>
          </a:ln>
          <a:effectLst/>
        </p:spPr>
        <p:txBody>
          <a:bodyPr wrap="none">
            <a:spAutoFit/>
          </a:bodyPr>
          <a:p>
            <a:pPr marR="0" defTabSz="914400">
              <a:buClrTx/>
              <a:buSzTx/>
              <a:buFontTx/>
              <a:buNone/>
              <a:defRPr/>
            </a:pPr>
            <a:r>
              <a:rPr kumimoji="1" lang="en-US" altLang="zh-CN" sz="2800" kern="1200" cap="none" spc="0" normalizeH="0" baseline="0" noProof="0">
                <a:effectLst>
                  <a:outerShdw blurRad="38100" dist="38100" dir="2700000" algn="tl">
                    <a:srgbClr val="FFFFFF"/>
                  </a:outerShdw>
                </a:effectLst>
                <a:latin typeface="Arial" panose="020B0604020202020204" pitchFamily="34" charset="0"/>
                <a:ea typeface="宋体" panose="02010600030101010101" pitchFamily="2" charset="-122"/>
                <a:cs typeface="+mn-cs"/>
              </a:rPr>
              <a:t>① N</a:t>
            </a:r>
            <a:r>
              <a:rPr kumimoji="1" lang="zh-CN" altLang="en-US" sz="2800" kern="1200" cap="none" spc="0" normalizeH="0" baseline="0" noProof="0">
                <a:effectLst>
                  <a:outerShdw blurRad="38100" dist="38100" dir="2700000" algn="tl">
                    <a:srgbClr val="FFFFFF"/>
                  </a:outerShdw>
                </a:effectLst>
                <a:latin typeface="Arial" panose="020B0604020202020204" pitchFamily="34" charset="0"/>
                <a:ea typeface="宋体" panose="02010600030101010101" pitchFamily="2" charset="-122"/>
                <a:cs typeface="+mn-cs"/>
              </a:rPr>
              <a:t>个字节</a:t>
            </a:r>
            <a:endParaRPr kumimoji="1" lang="zh-CN" altLang="en-US" sz="2800" kern="1200" cap="none" spc="0" normalizeH="0" baseline="0" noProof="0">
              <a:effectLst>
                <a:outerShdw blurRad="38100" dist="38100" dir="2700000" algn="tl">
                  <a:srgbClr val="FFFFFF"/>
                </a:outerShdw>
              </a:effectLst>
              <a:latin typeface="Arial" panose="020B0604020202020204" pitchFamily="34" charset="0"/>
              <a:ea typeface="宋体" panose="02010600030101010101" pitchFamily="2" charset="-122"/>
              <a:cs typeface="+mn-cs"/>
            </a:endParaRPr>
          </a:p>
        </p:txBody>
      </p:sp>
      <p:sp>
        <p:nvSpPr>
          <p:cNvPr id="30727" name="Text Box 7"/>
          <p:cNvSpPr txBox="1">
            <a:spLocks noChangeArrowheads="1"/>
          </p:cNvSpPr>
          <p:nvPr/>
        </p:nvSpPr>
        <p:spPr bwMode="auto">
          <a:xfrm>
            <a:off x="9101455" y="2536825"/>
            <a:ext cx="1762125" cy="398780"/>
          </a:xfrm>
          <a:prstGeom prst="rect">
            <a:avLst/>
          </a:prstGeom>
          <a:noFill/>
          <a:ln w="9525" algn="ctr">
            <a:noFill/>
            <a:miter lim="800000"/>
          </a:ln>
          <a:effectLst/>
        </p:spPr>
        <p:txBody>
          <a:bodyPr wrap="none">
            <a:spAutoFit/>
          </a:bodyPr>
          <a:p>
            <a:pPr marR="0" defTabSz="914400">
              <a:buClrTx/>
              <a:buSzTx/>
              <a:buFontTx/>
              <a:buNone/>
              <a:defRPr/>
            </a:pPr>
            <a:r>
              <a:rPr kumimoji="1" lang="en-US" altLang="zh-CN" sz="2000" kern="1200" cap="none" spc="0" normalizeH="0" baseline="0" noProof="0">
                <a:effectLst>
                  <a:outerShdw blurRad="38100" dist="38100" dir="2700000" algn="tl">
                    <a:srgbClr val="FFFFFF"/>
                  </a:outerShdw>
                </a:effectLst>
                <a:latin typeface="Arial" panose="020B0604020202020204" pitchFamily="34" charset="0"/>
                <a:ea typeface="宋体" panose="02010600030101010101" pitchFamily="2" charset="-122"/>
                <a:cs typeface="+mn-cs"/>
              </a:rPr>
              <a:t>HeadA</a:t>
            </a:r>
            <a:r>
              <a:rPr kumimoji="1" lang="en-US" altLang="zh-CN" sz="2000" kern="1200" cap="none" spc="0" normalizeH="0" baseline="0" noProof="0">
                <a:effectLst>
                  <a:outerShdw blurRad="38100" dist="38100" dir="2700000" algn="tl">
                    <a:srgbClr val="FFFFFF"/>
                  </a:outerShdw>
                </a:effectLst>
                <a:latin typeface="Times New Roman" panose="02020603050405020304"/>
                <a:ea typeface="宋体" panose="02010600030101010101" pitchFamily="2" charset="-122"/>
                <a:cs typeface="+mn-cs"/>
              </a:rPr>
              <a:t>···</a:t>
            </a:r>
            <a:r>
              <a:rPr kumimoji="1" lang="en-US" altLang="zh-CN" sz="2000" kern="1200" cap="none" spc="0" normalizeH="0" baseline="0" noProof="0">
                <a:effectLst>
                  <a:outerShdw blurRad="38100" dist="38100" dir="2700000" algn="tl">
                    <a:srgbClr val="FFFFFF"/>
                  </a:outerShdw>
                </a:effectLst>
                <a:latin typeface="Arial" panose="020B0604020202020204" pitchFamily="34" charset="0"/>
                <a:ea typeface="宋体" panose="02010600030101010101" pitchFamily="2" charset="-122"/>
                <a:cs typeface="+mn-cs"/>
              </a:rPr>
              <a:t>TailA</a:t>
            </a:r>
            <a:endParaRPr kumimoji="1" lang="en-US" altLang="zh-CN" sz="2000" kern="1200" cap="none" spc="0" normalizeH="0" baseline="0" noProof="0">
              <a:effectLst>
                <a:outerShdw blurRad="38100" dist="38100" dir="2700000" algn="tl">
                  <a:srgbClr val="FFFFFF"/>
                </a:outerShdw>
              </a:effectLst>
              <a:latin typeface="Arial" panose="020B0604020202020204" pitchFamily="34" charset="0"/>
              <a:ea typeface="宋体" panose="02010600030101010101" pitchFamily="2" charset="-122"/>
              <a:cs typeface="+mn-cs"/>
            </a:endParaRPr>
          </a:p>
        </p:txBody>
      </p:sp>
      <p:sp>
        <p:nvSpPr>
          <p:cNvPr id="30728" name="Line 8"/>
          <p:cNvSpPr/>
          <p:nvPr/>
        </p:nvSpPr>
        <p:spPr>
          <a:xfrm flipV="1">
            <a:off x="8091805" y="2681288"/>
            <a:ext cx="1009650" cy="431800"/>
          </a:xfrm>
          <a:prstGeom prst="line">
            <a:avLst/>
          </a:prstGeom>
          <a:ln w="9525" cap="flat" cmpd="sng">
            <a:solidFill>
              <a:srgbClr val="FF3300"/>
            </a:solidFill>
            <a:prstDash val="solid"/>
            <a:headEnd type="none" w="med" len="med"/>
            <a:tailEnd type="none" w="med" len="med"/>
          </a:ln>
        </p:spPr>
      </p:sp>
      <p:sp>
        <p:nvSpPr>
          <p:cNvPr id="30729" name="Text Box 9"/>
          <p:cNvSpPr txBox="1">
            <a:spLocks noChangeArrowheads="1"/>
          </p:cNvSpPr>
          <p:nvPr/>
        </p:nvSpPr>
        <p:spPr bwMode="auto">
          <a:xfrm>
            <a:off x="6940868" y="3976688"/>
            <a:ext cx="1901190" cy="521970"/>
          </a:xfrm>
          <a:prstGeom prst="rect">
            <a:avLst/>
          </a:prstGeom>
          <a:noFill/>
          <a:ln w="9525" algn="ctr">
            <a:noFill/>
            <a:miter lim="800000"/>
          </a:ln>
          <a:effectLst/>
        </p:spPr>
        <p:txBody>
          <a:bodyPr wrap="none">
            <a:spAutoFit/>
          </a:bodyPr>
          <a:p>
            <a:pPr marR="0" defTabSz="914400">
              <a:buClrTx/>
              <a:buSzTx/>
              <a:buFontTx/>
              <a:buNone/>
              <a:defRPr/>
            </a:pPr>
            <a:r>
              <a:rPr kumimoji="1" lang="en-US" altLang="zh-CN" sz="2800" kern="1200" cap="none" spc="0" normalizeH="0" baseline="0" noProof="0">
                <a:effectLst>
                  <a:outerShdw blurRad="38100" dist="38100" dir="2700000" algn="tl">
                    <a:srgbClr val="FFFFFF"/>
                  </a:outerShdw>
                </a:effectLst>
                <a:latin typeface="Arial" panose="020B0604020202020204" pitchFamily="34" charset="0"/>
                <a:ea typeface="宋体" panose="02010600030101010101" pitchFamily="2" charset="-122"/>
                <a:cs typeface="+mn-cs"/>
              </a:rPr>
              <a:t>②M</a:t>
            </a:r>
            <a:r>
              <a:rPr kumimoji="1" lang="zh-CN" altLang="en-US" sz="2800" kern="1200" cap="none" spc="0" normalizeH="0" baseline="0" noProof="0">
                <a:effectLst>
                  <a:outerShdw blurRad="38100" dist="38100" dir="2700000" algn="tl">
                    <a:srgbClr val="FFFFFF"/>
                  </a:outerShdw>
                </a:effectLst>
                <a:latin typeface="Arial" panose="020B0604020202020204" pitchFamily="34" charset="0"/>
                <a:ea typeface="宋体" panose="02010600030101010101" pitchFamily="2" charset="-122"/>
                <a:cs typeface="+mn-cs"/>
              </a:rPr>
              <a:t>个字节</a:t>
            </a:r>
            <a:endParaRPr kumimoji="1" lang="zh-CN" altLang="en-US" sz="2800" kern="1200" cap="none" spc="0" normalizeH="0" baseline="0" noProof="0">
              <a:effectLst>
                <a:outerShdw blurRad="38100" dist="38100" dir="2700000" algn="tl">
                  <a:srgbClr val="FFFFFF"/>
                </a:outerShdw>
              </a:effectLst>
              <a:latin typeface="Arial" panose="020B0604020202020204" pitchFamily="34" charset="0"/>
              <a:ea typeface="宋体" panose="02010600030101010101" pitchFamily="2" charset="-122"/>
              <a:cs typeface="+mn-cs"/>
            </a:endParaRPr>
          </a:p>
        </p:txBody>
      </p:sp>
      <p:sp>
        <p:nvSpPr>
          <p:cNvPr id="30730" name="Line 10"/>
          <p:cNvSpPr/>
          <p:nvPr/>
        </p:nvSpPr>
        <p:spPr>
          <a:xfrm>
            <a:off x="8164830" y="4481513"/>
            <a:ext cx="1081088" cy="431800"/>
          </a:xfrm>
          <a:prstGeom prst="line">
            <a:avLst/>
          </a:prstGeom>
          <a:ln w="9525" cap="flat" cmpd="sng">
            <a:solidFill>
              <a:srgbClr val="FF3300"/>
            </a:solidFill>
            <a:prstDash val="solid"/>
            <a:headEnd type="none" w="med" len="med"/>
            <a:tailEnd type="none" w="med" len="med"/>
          </a:ln>
        </p:spPr>
      </p:sp>
      <p:sp>
        <p:nvSpPr>
          <p:cNvPr id="30731" name="Text Box 11"/>
          <p:cNvSpPr txBox="1">
            <a:spLocks noChangeArrowheads="1"/>
          </p:cNvSpPr>
          <p:nvPr/>
        </p:nvSpPr>
        <p:spPr bwMode="auto">
          <a:xfrm>
            <a:off x="9245918" y="4625975"/>
            <a:ext cx="1832610" cy="398780"/>
          </a:xfrm>
          <a:prstGeom prst="rect">
            <a:avLst/>
          </a:prstGeom>
          <a:noFill/>
          <a:ln w="9525" algn="ctr">
            <a:noFill/>
            <a:miter lim="800000"/>
          </a:ln>
          <a:effectLst/>
        </p:spPr>
        <p:txBody>
          <a:bodyPr wrap="none">
            <a:spAutoFit/>
          </a:bodyPr>
          <a:p>
            <a:pPr marR="0" defTabSz="914400">
              <a:buClrTx/>
              <a:buSzTx/>
              <a:buFontTx/>
              <a:buNone/>
              <a:defRPr/>
            </a:pPr>
            <a:r>
              <a:rPr kumimoji="1" lang="en-US" altLang="zh-CN" sz="2000" kern="1200" cap="none" spc="0" normalizeH="0" baseline="0" noProof="0">
                <a:effectLst>
                  <a:outerShdw blurRad="38100" dist="38100" dir="2700000" algn="tl">
                    <a:srgbClr val="FFFFFF"/>
                  </a:outerShdw>
                </a:effectLst>
                <a:latin typeface="Arial" panose="020B0604020202020204" pitchFamily="34" charset="0"/>
                <a:ea typeface="宋体" panose="02010600030101010101" pitchFamily="2" charset="-122"/>
                <a:cs typeface="+mn-cs"/>
              </a:rPr>
              <a:t>HeadB </a:t>
            </a:r>
            <a:r>
              <a:rPr kumimoji="1" lang="en-US" altLang="zh-CN" sz="2000" kern="1200" cap="none" spc="0" normalizeH="0" baseline="0" noProof="0">
                <a:effectLst>
                  <a:outerShdw blurRad="38100" dist="38100" dir="2700000" algn="tl">
                    <a:srgbClr val="FFFFFF"/>
                  </a:outerShdw>
                </a:effectLst>
                <a:latin typeface="Times New Roman" panose="02020603050405020304"/>
                <a:ea typeface="宋体" panose="02010600030101010101" pitchFamily="2" charset="-122"/>
                <a:cs typeface="+mn-cs"/>
              </a:rPr>
              <a:t>···</a:t>
            </a:r>
            <a:r>
              <a:rPr kumimoji="1" lang="en-US" altLang="zh-CN" sz="2000" kern="1200" cap="none" spc="0" normalizeH="0" baseline="0" noProof="0">
                <a:effectLst>
                  <a:outerShdw blurRad="38100" dist="38100" dir="2700000" algn="tl">
                    <a:srgbClr val="FFFFFF"/>
                  </a:outerShdw>
                </a:effectLst>
                <a:latin typeface="Arial" panose="020B0604020202020204" pitchFamily="34" charset="0"/>
                <a:ea typeface="宋体" panose="02010600030101010101" pitchFamily="2" charset="-122"/>
                <a:cs typeface="+mn-cs"/>
              </a:rPr>
              <a:t>TailB</a:t>
            </a:r>
            <a:endParaRPr kumimoji="1" lang="en-US" altLang="zh-CN" sz="2000" kern="1200" cap="none" spc="0" normalizeH="0" baseline="0" noProof="0">
              <a:effectLst>
                <a:outerShdw blurRad="38100" dist="38100" dir="2700000" algn="tl">
                  <a:srgbClr val="FFFFFF"/>
                </a:outerShdw>
              </a:effectLst>
              <a:latin typeface="Arial" panose="020B0604020202020204" pitchFamily="34" charset="0"/>
              <a:ea typeface="宋体" panose="02010600030101010101" pitchFamily="2" charset="-122"/>
              <a:cs typeface="+mn-cs"/>
            </a:endParaRPr>
          </a:p>
        </p:txBody>
      </p:sp>
      <p:sp>
        <p:nvSpPr>
          <p:cNvPr id="30732" name="Text Box 12"/>
          <p:cNvSpPr txBox="1"/>
          <p:nvPr/>
        </p:nvSpPr>
        <p:spPr>
          <a:xfrm>
            <a:off x="4924743" y="5273675"/>
            <a:ext cx="2200910" cy="706755"/>
          </a:xfrm>
          <a:prstGeom prst="rect">
            <a:avLst/>
          </a:prstGeom>
          <a:noFill/>
          <a:ln w="9525">
            <a:noFill/>
          </a:ln>
        </p:spPr>
        <p:txBody>
          <a:bodyPr wrap="none">
            <a:spAutoFit/>
          </a:bodyPr>
          <a:p>
            <a:r>
              <a:rPr lang="zh-CN" altLang="en-US" sz="2000" dirty="0">
                <a:latin typeface="Arial" panose="020B0604020202020204" pitchFamily="34" charset="0"/>
              </a:rPr>
              <a:t>发送容忍时间</a:t>
            </a:r>
            <a:r>
              <a:rPr lang="en-US" altLang="zh-CN" sz="2000" dirty="0">
                <a:latin typeface="Arial" panose="020B0604020202020204" pitchFamily="34" charset="0"/>
              </a:rPr>
              <a:t>TSA</a:t>
            </a:r>
            <a:endParaRPr lang="en-US" altLang="zh-CN" sz="2000" dirty="0">
              <a:latin typeface="Arial" panose="020B0604020202020204" pitchFamily="34" charset="0"/>
            </a:endParaRPr>
          </a:p>
          <a:p>
            <a:r>
              <a:rPr lang="zh-CN" altLang="en-US" sz="2000" dirty="0">
                <a:latin typeface="Arial" panose="020B0604020202020204" pitchFamily="34" charset="0"/>
              </a:rPr>
              <a:t>接收容忍时间</a:t>
            </a:r>
            <a:r>
              <a:rPr lang="en-US" altLang="zh-CN" sz="2000" dirty="0">
                <a:latin typeface="Arial" panose="020B0604020202020204" pitchFamily="34" charset="0"/>
              </a:rPr>
              <a:t>TTA</a:t>
            </a:r>
            <a:endParaRPr lang="en-US" altLang="zh-CN" sz="2000" dirty="0">
              <a:latin typeface="Arial" panose="020B0604020202020204" pitchFamily="34" charset="0"/>
            </a:endParaRPr>
          </a:p>
        </p:txBody>
      </p:sp>
      <p:sp>
        <p:nvSpPr>
          <p:cNvPr id="30733" name="Text Box 13"/>
          <p:cNvSpPr txBox="1"/>
          <p:nvPr/>
        </p:nvSpPr>
        <p:spPr>
          <a:xfrm>
            <a:off x="8812530" y="5273675"/>
            <a:ext cx="2200910" cy="706755"/>
          </a:xfrm>
          <a:prstGeom prst="rect">
            <a:avLst/>
          </a:prstGeom>
          <a:noFill/>
          <a:ln w="9525">
            <a:noFill/>
          </a:ln>
        </p:spPr>
        <p:txBody>
          <a:bodyPr wrap="none">
            <a:spAutoFit/>
          </a:bodyPr>
          <a:p>
            <a:r>
              <a:rPr lang="zh-CN" altLang="en-US" sz="2000" dirty="0">
                <a:latin typeface="Arial" panose="020B0604020202020204" pitchFamily="34" charset="0"/>
              </a:rPr>
              <a:t>发送容忍时间</a:t>
            </a:r>
            <a:r>
              <a:rPr lang="en-US" altLang="zh-CN" sz="2000" dirty="0">
                <a:latin typeface="Arial" panose="020B0604020202020204" pitchFamily="34" charset="0"/>
              </a:rPr>
              <a:t>TSB</a:t>
            </a:r>
            <a:endParaRPr lang="en-US" altLang="zh-CN" sz="2000" dirty="0">
              <a:latin typeface="Arial" panose="020B0604020202020204" pitchFamily="34" charset="0"/>
            </a:endParaRPr>
          </a:p>
          <a:p>
            <a:r>
              <a:rPr lang="zh-CN" altLang="en-US" sz="2000" dirty="0">
                <a:latin typeface="Arial" panose="020B0604020202020204" pitchFamily="34" charset="0"/>
              </a:rPr>
              <a:t>接收容忍时间</a:t>
            </a:r>
            <a:r>
              <a:rPr lang="en-US" altLang="zh-CN" sz="2000" dirty="0">
                <a:latin typeface="Arial" panose="020B0604020202020204" pitchFamily="34" charset="0"/>
              </a:rPr>
              <a:t>TTB</a:t>
            </a:r>
            <a:endParaRPr lang="en-US" altLang="zh-CN" sz="2000" dirty="0">
              <a:latin typeface="Arial" panose="020B0604020202020204" pitchFamily="34" charset="0"/>
            </a:endParaRPr>
          </a:p>
        </p:txBody>
      </p:sp>
      <p:sp>
        <p:nvSpPr>
          <p:cNvPr id="30734" name="Rectangle 14"/>
          <p:cNvSpPr>
            <a:spLocks noChangeArrowheads="1"/>
          </p:cNvSpPr>
          <p:nvPr/>
        </p:nvSpPr>
        <p:spPr bwMode="auto">
          <a:xfrm>
            <a:off x="4348480" y="2249488"/>
            <a:ext cx="7272338" cy="2808288"/>
          </a:xfrm>
          <a:prstGeom prst="rect">
            <a:avLst/>
          </a:prstGeom>
          <a:noFill/>
          <a:ln w="9525" algn="ctr">
            <a:solidFill>
              <a:schemeClr val="tx1"/>
            </a:solidFill>
            <a:prstDash val="lgDash"/>
            <a:miter lim="800000"/>
          </a:ln>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endParaRPr>
          </a:p>
        </p:txBody>
      </p:sp>
      <p:sp>
        <p:nvSpPr>
          <p:cNvPr id="30735" name="Text Box 15"/>
          <p:cNvSpPr txBox="1"/>
          <p:nvPr/>
        </p:nvSpPr>
        <p:spPr>
          <a:xfrm>
            <a:off x="4348480" y="2249488"/>
            <a:ext cx="2325370" cy="460375"/>
          </a:xfrm>
          <a:prstGeom prst="rect">
            <a:avLst/>
          </a:prstGeom>
          <a:noFill/>
          <a:ln w="9525">
            <a:noFill/>
          </a:ln>
        </p:spPr>
        <p:txBody>
          <a:bodyPr wrap="none">
            <a:spAutoFit/>
          </a:bodyPr>
          <a:p>
            <a:r>
              <a:rPr lang="zh-CN" altLang="en-US" sz="2400" b="1" dirty="0">
                <a:solidFill>
                  <a:srgbClr val="CC3300"/>
                </a:solidFill>
                <a:latin typeface="Arial" panose="020B0604020202020204" pitchFamily="34" charset="0"/>
                <a:ea typeface="黑体" panose="02010609060101010101" pitchFamily="2" charset="-122"/>
              </a:rPr>
              <a:t>某并行通讯系统</a:t>
            </a:r>
            <a:endParaRPr lang="zh-CN" altLang="en-US" sz="2400" b="1" dirty="0">
              <a:solidFill>
                <a:srgbClr val="CC3300"/>
              </a:solidFill>
              <a:latin typeface="Arial" panose="020B0604020202020204" pitchFamily="34" charset="0"/>
              <a:ea typeface="黑体" panose="02010609060101010101" pitchFamily="2" charset="-122"/>
            </a:endParaRPr>
          </a:p>
        </p:txBody>
      </p:sp>
      <p:sp>
        <p:nvSpPr>
          <p:cNvPr id="30736" name="Line 16"/>
          <p:cNvSpPr/>
          <p:nvPr/>
        </p:nvSpPr>
        <p:spPr>
          <a:xfrm flipH="1">
            <a:off x="7012305" y="3976688"/>
            <a:ext cx="1871663" cy="0"/>
          </a:xfrm>
          <a:prstGeom prst="line">
            <a:avLst/>
          </a:prstGeom>
          <a:ln w="9525" cap="flat" cmpd="sng">
            <a:solidFill>
              <a:srgbClr val="FF3300"/>
            </a:solidFill>
            <a:prstDash val="solid"/>
            <a:headEnd type="none" w="med" len="med"/>
            <a:tailEnd type="triangle" w="lg" len="lg"/>
          </a:ln>
        </p:spPr>
      </p:sp>
      <p:sp>
        <p:nvSpPr>
          <p:cNvPr id="3" name="文本框 2"/>
          <p:cNvSpPr txBox="1"/>
          <p:nvPr/>
        </p:nvSpPr>
        <p:spPr>
          <a:xfrm>
            <a:off x="916305" y="2980690"/>
            <a:ext cx="2792095" cy="3192780"/>
          </a:xfrm>
          <a:prstGeom prst="rect">
            <a:avLst/>
          </a:prstGeom>
          <a:noFill/>
        </p:spPr>
        <p:txBody>
          <a:bodyPr wrap="square" rtlCol="0" anchor="t">
            <a:spAutoFit/>
          </a:bodyPr>
          <a:p>
            <a:pPr indent="0" fontAlgn="auto">
              <a:lnSpc>
                <a:spcPct val="120000"/>
              </a:lnSpc>
            </a:pPr>
            <a:r>
              <a:rPr lang="en-US" altLang="zh-CN" sz="2400" dirty="0">
                <a:latin typeface="Times New Roman" panose="02020603050405020304" pitchFamily="18" charset="0"/>
                <a:sym typeface="+mn-ea"/>
              </a:rPr>
              <a:t>(3) </a:t>
            </a:r>
            <a:r>
              <a:rPr lang="zh-CN" altLang="en-US" sz="2400" dirty="0">
                <a:latin typeface="Times New Roman" panose="02020603050405020304" pitchFamily="18" charset="0"/>
                <a:sym typeface="+mn-ea"/>
              </a:rPr>
              <a:t>A发送过程的容忍时间为TSA，A接收过程的容忍时间为TTA，B发送过程的容忍时间为TSB，B接收过程的容忍时间为TTB</a:t>
            </a:r>
            <a:endParaRPr lang="zh-CN" altLang="en-US" sz="2400" dirty="0">
              <a:latin typeface="Times New Roman" panose="02020603050405020304" pitchFamily="18" charset="0"/>
              <a:sym typeface="+mn-ea"/>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0732"/>
                                        </p:tgtEl>
                                        <p:attrNameLst>
                                          <p:attrName>style.visibility</p:attrName>
                                        </p:attrNameLst>
                                      </p:cBhvr>
                                      <p:to>
                                        <p:strVal val="visible"/>
                                      </p:to>
                                    </p:set>
                                    <p:animEffect transition="in" filter="blinds(horizontal)">
                                      <p:cBhvr>
                                        <p:cTn id="7" dur="500"/>
                                        <p:tgtEl>
                                          <p:spTgt spid="30732"/>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30733"/>
                                        </p:tgtEl>
                                        <p:attrNameLst>
                                          <p:attrName>style.visibility</p:attrName>
                                        </p:attrNameLst>
                                      </p:cBhvr>
                                      <p:to>
                                        <p:strVal val="visible"/>
                                      </p:to>
                                    </p:set>
                                    <p:animEffect transition="in" filter="blinds(horizontal)">
                                      <p:cBhvr>
                                        <p:cTn id="10" dur="500"/>
                                        <p:tgtEl>
                                          <p:spTgt spid="307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32" grpId="0"/>
      <p:bldP spid="30733"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4754" name="Rectangle 2"/>
          <p:cNvSpPr>
            <a:spLocks noGrp="1"/>
          </p:cNvSpPr>
          <p:nvPr>
            <p:ph type="title"/>
          </p:nvPr>
        </p:nvSpPr>
        <p:spPr/>
        <p:txBody>
          <a:bodyPr vert="horz" wrap="square" lIns="91440" tIns="45720" rIns="91440" bIns="45720" anchor="ctr" anchorCtr="0"/>
          <a:p>
            <a:r>
              <a:rPr lang="zh-CN" altLang="en-US" sz="4400" dirty="0" smtClean="0">
                <a:solidFill>
                  <a:srgbClr val="C00000"/>
                </a:solidFill>
              </a:rPr>
              <a:t>SFMEA</a:t>
            </a:r>
            <a:r>
              <a:rPr lang="zh-CN" altLang="en-US" dirty="0" smtClean="0">
                <a:solidFill>
                  <a:srgbClr val="C00000"/>
                </a:solidFill>
              </a:rPr>
              <a:t>实例 </a:t>
            </a:r>
            <a:r>
              <a:rPr lang="zh-CN" altLang="en-US" sz="4400" dirty="0" smtClean="0">
                <a:solidFill>
                  <a:srgbClr val="C00000"/>
                </a:solidFill>
              </a:rPr>
              <a:t>（1/5）</a:t>
            </a:r>
            <a:endParaRPr lang="zh-CN" altLang="en-US" sz="4400" dirty="0" smtClean="0">
              <a:solidFill>
                <a:srgbClr val="C00000"/>
              </a:solidFill>
            </a:endParaRPr>
          </a:p>
        </p:txBody>
      </p:sp>
      <p:sp>
        <p:nvSpPr>
          <p:cNvPr id="28675" name="Rectangle 3"/>
          <p:cNvSpPr>
            <a:spLocks noGrp="1"/>
          </p:cNvSpPr>
          <p:nvPr>
            <p:ph idx="1"/>
          </p:nvPr>
        </p:nvSpPr>
        <p:spPr>
          <a:xfrm>
            <a:off x="838200" y="1538605"/>
            <a:ext cx="3248025" cy="1275715"/>
          </a:xfrm>
        </p:spPr>
        <p:txBody>
          <a:bodyPr vert="horz" wrap="square" lIns="91440" tIns="45720" rIns="91440" bIns="45720" anchor="t" anchorCtr="0">
            <a:normAutofit/>
          </a:bodyPr>
          <a:p>
            <a:pPr>
              <a:lnSpc>
                <a:spcPct val="120000"/>
              </a:lnSpc>
              <a:spcBef>
                <a:spcPts val="0"/>
              </a:spcBef>
            </a:pPr>
            <a:r>
              <a:rPr lang="zh-CN" altLang="en-US" dirty="0"/>
              <a:t>主从双机之间的通讯协议如下：</a:t>
            </a:r>
            <a:endParaRPr lang="zh-CN" altLang="en-US" dirty="0"/>
          </a:p>
          <a:p>
            <a:endParaRPr lang="en-US" altLang="zh-CN" dirty="0"/>
          </a:p>
        </p:txBody>
      </p:sp>
      <p:sp>
        <p:nvSpPr>
          <p:cNvPr id="30723" name="Rectangle 3"/>
          <p:cNvSpPr>
            <a:spLocks noChangeArrowheads="1"/>
          </p:cNvSpPr>
          <p:nvPr/>
        </p:nvSpPr>
        <p:spPr bwMode="auto">
          <a:xfrm>
            <a:off x="4851718" y="3402013"/>
            <a:ext cx="2159000" cy="863600"/>
          </a:xfrm>
          <a:prstGeom prst="rect">
            <a:avLst/>
          </a:prstGeom>
          <a:gradFill rotWithShape="1">
            <a:gsLst>
              <a:gs pos="0">
                <a:schemeClr val="accent1"/>
              </a:gs>
              <a:gs pos="100000">
                <a:schemeClr val="accent1">
                  <a:gamma/>
                  <a:tint val="15686"/>
                  <a:invGamma/>
                </a:schemeClr>
              </a:gs>
            </a:gsLst>
            <a:lin ang="5400000" scaled="1"/>
          </a:gradFill>
          <a:ln w="9525" algn="ctr">
            <a:solidFill>
              <a:srgbClr val="339966"/>
            </a:solidFill>
            <a:miter lim="800000"/>
          </a:ln>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8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主计算机</a:t>
            </a:r>
            <a:r>
              <a:rPr kumimoji="1" lang="en-US" altLang="zh-CN" sz="28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a:t>
            </a:r>
            <a:endParaRPr kumimoji="1" lang="en-US" altLang="zh-CN" sz="28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724" name="Rectangle 4"/>
          <p:cNvSpPr>
            <a:spLocks noChangeArrowheads="1"/>
          </p:cNvSpPr>
          <p:nvPr/>
        </p:nvSpPr>
        <p:spPr bwMode="auto">
          <a:xfrm>
            <a:off x="8883968" y="3402013"/>
            <a:ext cx="2159000" cy="863600"/>
          </a:xfrm>
          <a:prstGeom prst="rect">
            <a:avLst/>
          </a:prstGeom>
          <a:gradFill rotWithShape="1">
            <a:gsLst>
              <a:gs pos="0">
                <a:schemeClr val="accent1"/>
              </a:gs>
              <a:gs pos="100000">
                <a:schemeClr val="accent1">
                  <a:gamma/>
                  <a:tint val="15686"/>
                  <a:invGamma/>
                </a:schemeClr>
              </a:gs>
            </a:gsLst>
            <a:lin ang="5400000" scaled="1"/>
          </a:gradFill>
          <a:ln w="9525" algn="ctr">
            <a:solidFill>
              <a:srgbClr val="339966"/>
            </a:solidFill>
            <a:miter lim="800000"/>
          </a:ln>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8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从计算机</a:t>
            </a:r>
            <a:r>
              <a:rPr kumimoji="1" lang="en-US" altLang="zh-CN" sz="28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B</a:t>
            </a:r>
            <a:endParaRPr kumimoji="1" lang="en-US" altLang="zh-CN" sz="28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725" name="Line 5"/>
          <p:cNvSpPr/>
          <p:nvPr/>
        </p:nvSpPr>
        <p:spPr>
          <a:xfrm>
            <a:off x="7012305" y="3617913"/>
            <a:ext cx="1871663" cy="0"/>
          </a:xfrm>
          <a:prstGeom prst="line">
            <a:avLst/>
          </a:prstGeom>
          <a:ln w="9525" cap="flat" cmpd="sng">
            <a:solidFill>
              <a:srgbClr val="FF3300"/>
            </a:solidFill>
            <a:prstDash val="solid"/>
            <a:headEnd type="none" w="med" len="med"/>
            <a:tailEnd type="triangle" w="lg" len="lg"/>
          </a:ln>
        </p:spPr>
      </p:sp>
      <p:sp>
        <p:nvSpPr>
          <p:cNvPr id="30726" name="Text Box 6"/>
          <p:cNvSpPr txBox="1">
            <a:spLocks noChangeArrowheads="1"/>
          </p:cNvSpPr>
          <p:nvPr/>
        </p:nvSpPr>
        <p:spPr bwMode="auto">
          <a:xfrm>
            <a:off x="6940868" y="3041650"/>
            <a:ext cx="1960880" cy="521970"/>
          </a:xfrm>
          <a:prstGeom prst="rect">
            <a:avLst/>
          </a:prstGeom>
          <a:noFill/>
          <a:ln w="9525" algn="ctr">
            <a:noFill/>
            <a:miter lim="800000"/>
          </a:ln>
          <a:effectLst/>
        </p:spPr>
        <p:txBody>
          <a:bodyPr wrap="none">
            <a:spAutoFit/>
          </a:bodyPr>
          <a:p>
            <a:pPr marR="0" defTabSz="914400">
              <a:buClrTx/>
              <a:buSzTx/>
              <a:buFontTx/>
              <a:buNone/>
              <a:defRPr/>
            </a:pPr>
            <a:r>
              <a:rPr kumimoji="1" lang="en-US" altLang="zh-CN" sz="2800" kern="1200" cap="none" spc="0" normalizeH="0" baseline="0" noProof="0">
                <a:effectLst>
                  <a:outerShdw blurRad="38100" dist="38100" dir="2700000" algn="tl">
                    <a:srgbClr val="FFFFFF"/>
                  </a:outerShdw>
                </a:effectLst>
                <a:latin typeface="Arial" panose="020B0604020202020204" pitchFamily="34" charset="0"/>
                <a:ea typeface="宋体" panose="02010600030101010101" pitchFamily="2" charset="-122"/>
                <a:cs typeface="+mn-cs"/>
              </a:rPr>
              <a:t>① N</a:t>
            </a:r>
            <a:r>
              <a:rPr kumimoji="1" lang="zh-CN" altLang="en-US" sz="2800" kern="1200" cap="none" spc="0" normalizeH="0" baseline="0" noProof="0">
                <a:effectLst>
                  <a:outerShdw blurRad="38100" dist="38100" dir="2700000" algn="tl">
                    <a:srgbClr val="FFFFFF"/>
                  </a:outerShdw>
                </a:effectLst>
                <a:latin typeface="Arial" panose="020B0604020202020204" pitchFamily="34" charset="0"/>
                <a:ea typeface="宋体" panose="02010600030101010101" pitchFamily="2" charset="-122"/>
                <a:cs typeface="+mn-cs"/>
              </a:rPr>
              <a:t>个字节</a:t>
            </a:r>
            <a:endParaRPr kumimoji="1" lang="zh-CN" altLang="en-US" sz="2800" kern="1200" cap="none" spc="0" normalizeH="0" baseline="0" noProof="0">
              <a:effectLst>
                <a:outerShdw blurRad="38100" dist="38100" dir="2700000" algn="tl">
                  <a:srgbClr val="FFFFFF"/>
                </a:outerShdw>
              </a:effectLst>
              <a:latin typeface="Arial" panose="020B0604020202020204" pitchFamily="34" charset="0"/>
              <a:ea typeface="宋体" panose="02010600030101010101" pitchFamily="2" charset="-122"/>
              <a:cs typeface="+mn-cs"/>
            </a:endParaRPr>
          </a:p>
        </p:txBody>
      </p:sp>
      <p:sp>
        <p:nvSpPr>
          <p:cNvPr id="30727" name="Text Box 7"/>
          <p:cNvSpPr txBox="1">
            <a:spLocks noChangeArrowheads="1"/>
          </p:cNvSpPr>
          <p:nvPr/>
        </p:nvSpPr>
        <p:spPr bwMode="auto">
          <a:xfrm>
            <a:off x="9101455" y="2536825"/>
            <a:ext cx="1762125" cy="398780"/>
          </a:xfrm>
          <a:prstGeom prst="rect">
            <a:avLst/>
          </a:prstGeom>
          <a:noFill/>
          <a:ln w="9525" algn="ctr">
            <a:noFill/>
            <a:miter lim="800000"/>
          </a:ln>
          <a:effectLst/>
        </p:spPr>
        <p:txBody>
          <a:bodyPr wrap="none">
            <a:spAutoFit/>
          </a:bodyPr>
          <a:p>
            <a:pPr marR="0" defTabSz="914400">
              <a:buClrTx/>
              <a:buSzTx/>
              <a:buFontTx/>
              <a:buNone/>
              <a:defRPr/>
            </a:pPr>
            <a:r>
              <a:rPr kumimoji="1" lang="en-US" altLang="zh-CN" sz="2000" kern="1200" cap="none" spc="0" normalizeH="0" baseline="0" noProof="0">
                <a:effectLst>
                  <a:outerShdw blurRad="38100" dist="38100" dir="2700000" algn="tl">
                    <a:srgbClr val="FFFFFF"/>
                  </a:outerShdw>
                </a:effectLst>
                <a:latin typeface="Arial" panose="020B0604020202020204" pitchFamily="34" charset="0"/>
                <a:ea typeface="宋体" panose="02010600030101010101" pitchFamily="2" charset="-122"/>
                <a:cs typeface="+mn-cs"/>
              </a:rPr>
              <a:t>HeadA</a:t>
            </a:r>
            <a:r>
              <a:rPr kumimoji="1" lang="en-US" altLang="zh-CN" sz="2000" kern="1200" cap="none" spc="0" normalizeH="0" baseline="0" noProof="0">
                <a:effectLst>
                  <a:outerShdw blurRad="38100" dist="38100" dir="2700000" algn="tl">
                    <a:srgbClr val="FFFFFF"/>
                  </a:outerShdw>
                </a:effectLst>
                <a:latin typeface="Times New Roman" panose="02020603050405020304"/>
                <a:ea typeface="宋体" panose="02010600030101010101" pitchFamily="2" charset="-122"/>
                <a:cs typeface="+mn-cs"/>
              </a:rPr>
              <a:t>···</a:t>
            </a:r>
            <a:r>
              <a:rPr kumimoji="1" lang="en-US" altLang="zh-CN" sz="2000" kern="1200" cap="none" spc="0" normalizeH="0" baseline="0" noProof="0">
                <a:effectLst>
                  <a:outerShdw blurRad="38100" dist="38100" dir="2700000" algn="tl">
                    <a:srgbClr val="FFFFFF"/>
                  </a:outerShdw>
                </a:effectLst>
                <a:latin typeface="Arial" panose="020B0604020202020204" pitchFamily="34" charset="0"/>
                <a:ea typeface="宋体" panose="02010600030101010101" pitchFamily="2" charset="-122"/>
                <a:cs typeface="+mn-cs"/>
              </a:rPr>
              <a:t>TailA</a:t>
            </a:r>
            <a:endParaRPr kumimoji="1" lang="en-US" altLang="zh-CN" sz="2000" kern="1200" cap="none" spc="0" normalizeH="0" baseline="0" noProof="0">
              <a:effectLst>
                <a:outerShdw blurRad="38100" dist="38100" dir="2700000" algn="tl">
                  <a:srgbClr val="FFFFFF"/>
                </a:outerShdw>
              </a:effectLst>
              <a:latin typeface="Arial" panose="020B0604020202020204" pitchFamily="34" charset="0"/>
              <a:ea typeface="宋体" panose="02010600030101010101" pitchFamily="2" charset="-122"/>
              <a:cs typeface="+mn-cs"/>
            </a:endParaRPr>
          </a:p>
        </p:txBody>
      </p:sp>
      <p:sp>
        <p:nvSpPr>
          <p:cNvPr id="30728" name="Line 8"/>
          <p:cNvSpPr/>
          <p:nvPr/>
        </p:nvSpPr>
        <p:spPr>
          <a:xfrm flipV="1">
            <a:off x="8091805" y="2681288"/>
            <a:ext cx="1009650" cy="431800"/>
          </a:xfrm>
          <a:prstGeom prst="line">
            <a:avLst/>
          </a:prstGeom>
          <a:ln w="9525" cap="flat" cmpd="sng">
            <a:solidFill>
              <a:srgbClr val="FF3300"/>
            </a:solidFill>
            <a:prstDash val="solid"/>
            <a:headEnd type="none" w="med" len="med"/>
            <a:tailEnd type="none" w="med" len="med"/>
          </a:ln>
        </p:spPr>
      </p:sp>
      <p:sp>
        <p:nvSpPr>
          <p:cNvPr id="30729" name="Text Box 9"/>
          <p:cNvSpPr txBox="1">
            <a:spLocks noChangeArrowheads="1"/>
          </p:cNvSpPr>
          <p:nvPr/>
        </p:nvSpPr>
        <p:spPr bwMode="auto">
          <a:xfrm>
            <a:off x="6940868" y="3976688"/>
            <a:ext cx="1901190" cy="521970"/>
          </a:xfrm>
          <a:prstGeom prst="rect">
            <a:avLst/>
          </a:prstGeom>
          <a:noFill/>
          <a:ln w="9525" algn="ctr">
            <a:noFill/>
            <a:miter lim="800000"/>
          </a:ln>
          <a:effectLst/>
        </p:spPr>
        <p:txBody>
          <a:bodyPr wrap="none">
            <a:spAutoFit/>
          </a:bodyPr>
          <a:p>
            <a:pPr marR="0" defTabSz="914400">
              <a:buClrTx/>
              <a:buSzTx/>
              <a:buFontTx/>
              <a:buNone/>
              <a:defRPr/>
            </a:pPr>
            <a:r>
              <a:rPr kumimoji="1" lang="en-US" altLang="zh-CN" sz="2800" kern="1200" cap="none" spc="0" normalizeH="0" baseline="0" noProof="0">
                <a:effectLst>
                  <a:outerShdw blurRad="38100" dist="38100" dir="2700000" algn="tl">
                    <a:srgbClr val="FFFFFF"/>
                  </a:outerShdw>
                </a:effectLst>
                <a:latin typeface="Arial" panose="020B0604020202020204" pitchFamily="34" charset="0"/>
                <a:ea typeface="宋体" panose="02010600030101010101" pitchFamily="2" charset="-122"/>
                <a:cs typeface="+mn-cs"/>
              </a:rPr>
              <a:t>②M</a:t>
            </a:r>
            <a:r>
              <a:rPr kumimoji="1" lang="zh-CN" altLang="en-US" sz="2800" kern="1200" cap="none" spc="0" normalizeH="0" baseline="0" noProof="0">
                <a:effectLst>
                  <a:outerShdw blurRad="38100" dist="38100" dir="2700000" algn="tl">
                    <a:srgbClr val="FFFFFF"/>
                  </a:outerShdw>
                </a:effectLst>
                <a:latin typeface="Arial" panose="020B0604020202020204" pitchFamily="34" charset="0"/>
                <a:ea typeface="宋体" panose="02010600030101010101" pitchFamily="2" charset="-122"/>
                <a:cs typeface="+mn-cs"/>
              </a:rPr>
              <a:t>个字节</a:t>
            </a:r>
            <a:endParaRPr kumimoji="1" lang="zh-CN" altLang="en-US" sz="2800" kern="1200" cap="none" spc="0" normalizeH="0" baseline="0" noProof="0">
              <a:effectLst>
                <a:outerShdw blurRad="38100" dist="38100" dir="2700000" algn="tl">
                  <a:srgbClr val="FFFFFF"/>
                </a:outerShdw>
              </a:effectLst>
              <a:latin typeface="Arial" panose="020B0604020202020204" pitchFamily="34" charset="0"/>
              <a:ea typeface="宋体" panose="02010600030101010101" pitchFamily="2" charset="-122"/>
              <a:cs typeface="+mn-cs"/>
            </a:endParaRPr>
          </a:p>
        </p:txBody>
      </p:sp>
      <p:sp>
        <p:nvSpPr>
          <p:cNvPr id="30730" name="Line 10"/>
          <p:cNvSpPr/>
          <p:nvPr/>
        </p:nvSpPr>
        <p:spPr>
          <a:xfrm>
            <a:off x="8164830" y="4481513"/>
            <a:ext cx="1081088" cy="431800"/>
          </a:xfrm>
          <a:prstGeom prst="line">
            <a:avLst/>
          </a:prstGeom>
          <a:ln w="9525" cap="flat" cmpd="sng">
            <a:solidFill>
              <a:srgbClr val="FF3300"/>
            </a:solidFill>
            <a:prstDash val="solid"/>
            <a:headEnd type="none" w="med" len="med"/>
            <a:tailEnd type="none" w="med" len="med"/>
          </a:ln>
        </p:spPr>
      </p:sp>
      <p:sp>
        <p:nvSpPr>
          <p:cNvPr id="30731" name="Text Box 11"/>
          <p:cNvSpPr txBox="1">
            <a:spLocks noChangeArrowheads="1"/>
          </p:cNvSpPr>
          <p:nvPr/>
        </p:nvSpPr>
        <p:spPr bwMode="auto">
          <a:xfrm>
            <a:off x="9245918" y="4625975"/>
            <a:ext cx="1832610" cy="398780"/>
          </a:xfrm>
          <a:prstGeom prst="rect">
            <a:avLst/>
          </a:prstGeom>
          <a:noFill/>
          <a:ln w="9525" algn="ctr">
            <a:noFill/>
            <a:miter lim="800000"/>
          </a:ln>
          <a:effectLst/>
        </p:spPr>
        <p:txBody>
          <a:bodyPr wrap="none">
            <a:spAutoFit/>
          </a:bodyPr>
          <a:p>
            <a:pPr marR="0" defTabSz="914400">
              <a:buClrTx/>
              <a:buSzTx/>
              <a:buFontTx/>
              <a:buNone/>
              <a:defRPr/>
            </a:pPr>
            <a:r>
              <a:rPr kumimoji="1" lang="en-US" altLang="zh-CN" sz="2000" kern="1200" cap="none" spc="0" normalizeH="0" baseline="0" noProof="0">
                <a:effectLst>
                  <a:outerShdw blurRad="38100" dist="38100" dir="2700000" algn="tl">
                    <a:srgbClr val="FFFFFF"/>
                  </a:outerShdw>
                </a:effectLst>
                <a:latin typeface="Arial" panose="020B0604020202020204" pitchFamily="34" charset="0"/>
                <a:ea typeface="宋体" panose="02010600030101010101" pitchFamily="2" charset="-122"/>
                <a:cs typeface="+mn-cs"/>
              </a:rPr>
              <a:t>HeadB </a:t>
            </a:r>
            <a:r>
              <a:rPr kumimoji="1" lang="en-US" altLang="zh-CN" sz="2000" kern="1200" cap="none" spc="0" normalizeH="0" baseline="0" noProof="0">
                <a:effectLst>
                  <a:outerShdw blurRad="38100" dist="38100" dir="2700000" algn="tl">
                    <a:srgbClr val="FFFFFF"/>
                  </a:outerShdw>
                </a:effectLst>
                <a:latin typeface="Times New Roman" panose="02020603050405020304"/>
                <a:ea typeface="宋体" panose="02010600030101010101" pitchFamily="2" charset="-122"/>
                <a:cs typeface="+mn-cs"/>
              </a:rPr>
              <a:t>···</a:t>
            </a:r>
            <a:r>
              <a:rPr kumimoji="1" lang="en-US" altLang="zh-CN" sz="2000" kern="1200" cap="none" spc="0" normalizeH="0" baseline="0" noProof="0">
                <a:effectLst>
                  <a:outerShdw blurRad="38100" dist="38100" dir="2700000" algn="tl">
                    <a:srgbClr val="FFFFFF"/>
                  </a:outerShdw>
                </a:effectLst>
                <a:latin typeface="Arial" panose="020B0604020202020204" pitchFamily="34" charset="0"/>
                <a:ea typeface="宋体" panose="02010600030101010101" pitchFamily="2" charset="-122"/>
                <a:cs typeface="+mn-cs"/>
              </a:rPr>
              <a:t>TailB</a:t>
            </a:r>
            <a:endParaRPr kumimoji="1" lang="en-US" altLang="zh-CN" sz="2000" kern="1200" cap="none" spc="0" normalizeH="0" baseline="0" noProof="0">
              <a:effectLst>
                <a:outerShdw blurRad="38100" dist="38100" dir="2700000" algn="tl">
                  <a:srgbClr val="FFFFFF"/>
                </a:outerShdw>
              </a:effectLst>
              <a:latin typeface="Arial" panose="020B0604020202020204" pitchFamily="34" charset="0"/>
              <a:ea typeface="宋体" panose="02010600030101010101" pitchFamily="2" charset="-122"/>
              <a:cs typeface="+mn-cs"/>
            </a:endParaRPr>
          </a:p>
        </p:txBody>
      </p:sp>
      <p:sp>
        <p:nvSpPr>
          <p:cNvPr id="30732" name="Text Box 12"/>
          <p:cNvSpPr txBox="1"/>
          <p:nvPr/>
        </p:nvSpPr>
        <p:spPr>
          <a:xfrm>
            <a:off x="4924743" y="5273675"/>
            <a:ext cx="2200910" cy="706755"/>
          </a:xfrm>
          <a:prstGeom prst="rect">
            <a:avLst/>
          </a:prstGeom>
          <a:noFill/>
          <a:ln w="9525">
            <a:noFill/>
          </a:ln>
        </p:spPr>
        <p:txBody>
          <a:bodyPr wrap="none">
            <a:spAutoFit/>
          </a:bodyPr>
          <a:p>
            <a:r>
              <a:rPr lang="zh-CN" altLang="en-US" sz="2000" dirty="0">
                <a:latin typeface="Arial" panose="020B0604020202020204" pitchFamily="34" charset="0"/>
              </a:rPr>
              <a:t>发送容忍时间</a:t>
            </a:r>
            <a:r>
              <a:rPr lang="en-US" altLang="zh-CN" sz="2000" dirty="0">
                <a:latin typeface="Arial" panose="020B0604020202020204" pitchFamily="34" charset="0"/>
              </a:rPr>
              <a:t>TSA</a:t>
            </a:r>
            <a:endParaRPr lang="en-US" altLang="zh-CN" sz="2000" dirty="0">
              <a:latin typeface="Arial" panose="020B0604020202020204" pitchFamily="34" charset="0"/>
            </a:endParaRPr>
          </a:p>
          <a:p>
            <a:r>
              <a:rPr lang="zh-CN" altLang="en-US" sz="2000" dirty="0">
                <a:latin typeface="Arial" panose="020B0604020202020204" pitchFamily="34" charset="0"/>
              </a:rPr>
              <a:t>接收容忍时间</a:t>
            </a:r>
            <a:r>
              <a:rPr lang="en-US" altLang="zh-CN" sz="2000" dirty="0">
                <a:latin typeface="Arial" panose="020B0604020202020204" pitchFamily="34" charset="0"/>
              </a:rPr>
              <a:t>TTA</a:t>
            </a:r>
            <a:endParaRPr lang="en-US" altLang="zh-CN" sz="2000" dirty="0">
              <a:latin typeface="Arial" panose="020B0604020202020204" pitchFamily="34" charset="0"/>
            </a:endParaRPr>
          </a:p>
        </p:txBody>
      </p:sp>
      <p:sp>
        <p:nvSpPr>
          <p:cNvPr id="30733" name="Text Box 13"/>
          <p:cNvSpPr txBox="1"/>
          <p:nvPr/>
        </p:nvSpPr>
        <p:spPr>
          <a:xfrm>
            <a:off x="8812530" y="5273675"/>
            <a:ext cx="2200910" cy="706755"/>
          </a:xfrm>
          <a:prstGeom prst="rect">
            <a:avLst/>
          </a:prstGeom>
          <a:noFill/>
          <a:ln w="9525">
            <a:noFill/>
          </a:ln>
        </p:spPr>
        <p:txBody>
          <a:bodyPr wrap="none">
            <a:spAutoFit/>
          </a:bodyPr>
          <a:p>
            <a:r>
              <a:rPr lang="zh-CN" altLang="en-US" sz="2000" dirty="0">
                <a:latin typeface="Arial" panose="020B0604020202020204" pitchFamily="34" charset="0"/>
              </a:rPr>
              <a:t>发送容忍时间</a:t>
            </a:r>
            <a:r>
              <a:rPr lang="en-US" altLang="zh-CN" sz="2000" dirty="0">
                <a:latin typeface="Arial" panose="020B0604020202020204" pitchFamily="34" charset="0"/>
              </a:rPr>
              <a:t>TSB</a:t>
            </a:r>
            <a:endParaRPr lang="en-US" altLang="zh-CN" sz="2000" dirty="0">
              <a:latin typeface="Arial" panose="020B0604020202020204" pitchFamily="34" charset="0"/>
            </a:endParaRPr>
          </a:p>
          <a:p>
            <a:r>
              <a:rPr lang="zh-CN" altLang="en-US" sz="2000" dirty="0">
                <a:latin typeface="Arial" panose="020B0604020202020204" pitchFamily="34" charset="0"/>
              </a:rPr>
              <a:t>接收容忍时间</a:t>
            </a:r>
            <a:r>
              <a:rPr lang="en-US" altLang="zh-CN" sz="2000" dirty="0">
                <a:latin typeface="Arial" panose="020B0604020202020204" pitchFamily="34" charset="0"/>
              </a:rPr>
              <a:t>TTB</a:t>
            </a:r>
            <a:endParaRPr lang="en-US" altLang="zh-CN" sz="2000" dirty="0">
              <a:latin typeface="Arial" panose="020B0604020202020204" pitchFamily="34" charset="0"/>
            </a:endParaRPr>
          </a:p>
        </p:txBody>
      </p:sp>
      <p:sp>
        <p:nvSpPr>
          <p:cNvPr id="30734" name="Rectangle 14"/>
          <p:cNvSpPr>
            <a:spLocks noChangeArrowheads="1"/>
          </p:cNvSpPr>
          <p:nvPr/>
        </p:nvSpPr>
        <p:spPr bwMode="auto">
          <a:xfrm>
            <a:off x="4348480" y="2249488"/>
            <a:ext cx="7272338" cy="2808288"/>
          </a:xfrm>
          <a:prstGeom prst="rect">
            <a:avLst/>
          </a:prstGeom>
          <a:noFill/>
          <a:ln w="9525" algn="ctr">
            <a:solidFill>
              <a:schemeClr val="tx1"/>
            </a:solidFill>
            <a:prstDash val="lgDash"/>
            <a:miter lim="800000"/>
          </a:ln>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endParaRPr>
          </a:p>
        </p:txBody>
      </p:sp>
      <p:sp>
        <p:nvSpPr>
          <p:cNvPr id="30735" name="Text Box 15"/>
          <p:cNvSpPr txBox="1"/>
          <p:nvPr/>
        </p:nvSpPr>
        <p:spPr>
          <a:xfrm>
            <a:off x="4348480" y="2249488"/>
            <a:ext cx="2325370" cy="460375"/>
          </a:xfrm>
          <a:prstGeom prst="rect">
            <a:avLst/>
          </a:prstGeom>
          <a:noFill/>
          <a:ln w="9525">
            <a:noFill/>
          </a:ln>
        </p:spPr>
        <p:txBody>
          <a:bodyPr wrap="none">
            <a:spAutoFit/>
          </a:bodyPr>
          <a:p>
            <a:r>
              <a:rPr lang="zh-CN" altLang="en-US" sz="2400" b="1" dirty="0">
                <a:solidFill>
                  <a:srgbClr val="CC3300"/>
                </a:solidFill>
                <a:latin typeface="Arial" panose="020B0604020202020204" pitchFamily="34" charset="0"/>
                <a:ea typeface="黑体" panose="02010609060101010101" pitchFamily="2" charset="-122"/>
              </a:rPr>
              <a:t>某并行通讯系统</a:t>
            </a:r>
            <a:endParaRPr lang="zh-CN" altLang="en-US" sz="2400" b="1" dirty="0">
              <a:solidFill>
                <a:srgbClr val="CC3300"/>
              </a:solidFill>
              <a:latin typeface="Arial" panose="020B0604020202020204" pitchFamily="34" charset="0"/>
              <a:ea typeface="黑体" panose="02010609060101010101" pitchFamily="2" charset="-122"/>
            </a:endParaRPr>
          </a:p>
        </p:txBody>
      </p:sp>
      <p:sp>
        <p:nvSpPr>
          <p:cNvPr id="30736" name="Line 16"/>
          <p:cNvSpPr/>
          <p:nvPr/>
        </p:nvSpPr>
        <p:spPr>
          <a:xfrm flipH="1">
            <a:off x="7012305" y="3976688"/>
            <a:ext cx="1871663" cy="0"/>
          </a:xfrm>
          <a:prstGeom prst="line">
            <a:avLst/>
          </a:prstGeom>
          <a:ln w="9525" cap="flat" cmpd="sng">
            <a:solidFill>
              <a:srgbClr val="FF3300"/>
            </a:solidFill>
            <a:prstDash val="solid"/>
            <a:headEnd type="none" w="med" len="med"/>
            <a:tailEnd type="triangle" w="lg" len="lg"/>
          </a:ln>
        </p:spPr>
      </p:sp>
      <p:sp>
        <p:nvSpPr>
          <p:cNvPr id="3" name="文本框 2"/>
          <p:cNvSpPr txBox="1"/>
          <p:nvPr/>
        </p:nvSpPr>
        <p:spPr>
          <a:xfrm>
            <a:off x="916305" y="2980690"/>
            <a:ext cx="2792095" cy="2306320"/>
          </a:xfrm>
          <a:prstGeom prst="rect">
            <a:avLst/>
          </a:prstGeom>
          <a:noFill/>
        </p:spPr>
        <p:txBody>
          <a:bodyPr wrap="square" rtlCol="0" anchor="t">
            <a:spAutoFit/>
          </a:bodyPr>
          <a:p>
            <a:pPr indent="0" fontAlgn="auto">
              <a:lnSpc>
                <a:spcPct val="120000"/>
              </a:lnSpc>
            </a:pPr>
            <a:r>
              <a:rPr lang="en-US" altLang="zh-CN" sz="2400" dirty="0">
                <a:latin typeface="Times New Roman" panose="02020603050405020304" pitchFamily="18" charset="0"/>
                <a:sym typeface="+mn-ea"/>
              </a:rPr>
              <a:t>(4) </a:t>
            </a:r>
            <a:r>
              <a:rPr lang="zh-CN" altLang="en-US" sz="2400" dirty="0">
                <a:latin typeface="Times New Roman" panose="02020603050405020304" pitchFamily="18" charset="0"/>
                <a:sym typeface="+mn-ea"/>
              </a:rPr>
              <a:t>A进入通讯子程序后，先发中断，B响应中断后进入通讯子程序准备接收A的数据</a:t>
            </a:r>
            <a:endParaRPr lang="zh-CN" altLang="en-US" sz="2400" dirty="0">
              <a:latin typeface="Times New Roman" panose="02020603050405020304" pitchFamily="18" charset="0"/>
              <a:sym typeface="+mn-ea"/>
            </a:endParaRPr>
          </a:p>
        </p:txBody>
      </p:sp>
    </p:spTree>
  </p:cSld>
  <p:clrMapOvr>
    <a:masterClrMapping/>
  </p:clrMapOvr>
  <p:transition>
    <p:fade/>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4754" name="Rectangle 2"/>
          <p:cNvSpPr>
            <a:spLocks noGrp="1"/>
          </p:cNvSpPr>
          <p:nvPr>
            <p:ph type="title"/>
          </p:nvPr>
        </p:nvSpPr>
        <p:spPr/>
        <p:txBody>
          <a:bodyPr vert="horz" wrap="square" lIns="91440" tIns="45720" rIns="91440" bIns="45720" anchor="ctr" anchorCtr="0"/>
          <a:p>
            <a:r>
              <a:rPr lang="zh-CN" altLang="en-US" sz="4400" dirty="0" smtClean="0">
                <a:solidFill>
                  <a:srgbClr val="C00000"/>
                </a:solidFill>
              </a:rPr>
              <a:t>SFMEA</a:t>
            </a:r>
            <a:r>
              <a:rPr lang="zh-CN" altLang="en-US" dirty="0" smtClean="0">
                <a:solidFill>
                  <a:srgbClr val="C00000"/>
                </a:solidFill>
              </a:rPr>
              <a:t>实例 </a:t>
            </a:r>
            <a:r>
              <a:rPr lang="zh-CN" altLang="en-US" sz="4400" dirty="0" smtClean="0">
                <a:solidFill>
                  <a:srgbClr val="C00000"/>
                </a:solidFill>
              </a:rPr>
              <a:t>（1/5）</a:t>
            </a:r>
            <a:endParaRPr lang="zh-CN" altLang="en-US" sz="4400" dirty="0" smtClean="0">
              <a:solidFill>
                <a:srgbClr val="C00000"/>
              </a:solidFill>
            </a:endParaRPr>
          </a:p>
        </p:txBody>
      </p:sp>
      <p:sp>
        <p:nvSpPr>
          <p:cNvPr id="28675" name="Rectangle 3"/>
          <p:cNvSpPr>
            <a:spLocks noGrp="1"/>
          </p:cNvSpPr>
          <p:nvPr>
            <p:ph idx="1"/>
          </p:nvPr>
        </p:nvSpPr>
        <p:spPr>
          <a:xfrm>
            <a:off x="838200" y="1538605"/>
            <a:ext cx="3248025" cy="1275715"/>
          </a:xfrm>
        </p:spPr>
        <p:txBody>
          <a:bodyPr vert="horz" wrap="square" lIns="91440" tIns="45720" rIns="91440" bIns="45720" anchor="t" anchorCtr="0">
            <a:normAutofit/>
          </a:bodyPr>
          <a:p>
            <a:pPr>
              <a:lnSpc>
                <a:spcPct val="120000"/>
              </a:lnSpc>
              <a:spcBef>
                <a:spcPts val="0"/>
              </a:spcBef>
            </a:pPr>
            <a:r>
              <a:rPr lang="zh-CN" altLang="en-US" dirty="0"/>
              <a:t>主从双机之间的通讯协议如下：</a:t>
            </a:r>
            <a:endParaRPr lang="zh-CN" altLang="en-US" dirty="0"/>
          </a:p>
          <a:p>
            <a:endParaRPr lang="en-US" altLang="zh-CN" dirty="0"/>
          </a:p>
        </p:txBody>
      </p:sp>
      <p:sp>
        <p:nvSpPr>
          <p:cNvPr id="30723" name="Rectangle 3"/>
          <p:cNvSpPr>
            <a:spLocks noChangeArrowheads="1"/>
          </p:cNvSpPr>
          <p:nvPr/>
        </p:nvSpPr>
        <p:spPr bwMode="auto">
          <a:xfrm>
            <a:off x="4851718" y="3402013"/>
            <a:ext cx="2159000" cy="863600"/>
          </a:xfrm>
          <a:prstGeom prst="rect">
            <a:avLst/>
          </a:prstGeom>
          <a:gradFill rotWithShape="1">
            <a:gsLst>
              <a:gs pos="0">
                <a:schemeClr val="accent1"/>
              </a:gs>
              <a:gs pos="100000">
                <a:schemeClr val="accent1">
                  <a:gamma/>
                  <a:tint val="15686"/>
                  <a:invGamma/>
                </a:schemeClr>
              </a:gs>
            </a:gsLst>
            <a:lin ang="5400000" scaled="1"/>
          </a:gradFill>
          <a:ln w="9525" algn="ctr">
            <a:solidFill>
              <a:srgbClr val="339966"/>
            </a:solidFill>
            <a:miter lim="800000"/>
          </a:ln>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8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主计算机</a:t>
            </a:r>
            <a:r>
              <a:rPr kumimoji="1" lang="en-US" altLang="zh-CN" sz="28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a:t>
            </a:r>
            <a:endParaRPr kumimoji="1" lang="en-US" altLang="zh-CN" sz="28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724" name="Rectangle 4"/>
          <p:cNvSpPr>
            <a:spLocks noChangeArrowheads="1"/>
          </p:cNvSpPr>
          <p:nvPr/>
        </p:nvSpPr>
        <p:spPr bwMode="auto">
          <a:xfrm>
            <a:off x="8883968" y="3402013"/>
            <a:ext cx="2159000" cy="863600"/>
          </a:xfrm>
          <a:prstGeom prst="rect">
            <a:avLst/>
          </a:prstGeom>
          <a:gradFill rotWithShape="1">
            <a:gsLst>
              <a:gs pos="0">
                <a:schemeClr val="accent1"/>
              </a:gs>
              <a:gs pos="100000">
                <a:schemeClr val="accent1">
                  <a:gamma/>
                  <a:tint val="15686"/>
                  <a:invGamma/>
                </a:schemeClr>
              </a:gs>
            </a:gsLst>
            <a:lin ang="5400000" scaled="1"/>
          </a:gradFill>
          <a:ln w="9525" algn="ctr">
            <a:solidFill>
              <a:srgbClr val="339966"/>
            </a:solidFill>
            <a:miter lim="800000"/>
          </a:ln>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8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从计算机</a:t>
            </a:r>
            <a:r>
              <a:rPr kumimoji="1" lang="en-US" altLang="zh-CN" sz="28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B</a:t>
            </a:r>
            <a:endParaRPr kumimoji="1" lang="en-US" altLang="zh-CN" sz="28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725" name="Line 5"/>
          <p:cNvSpPr/>
          <p:nvPr/>
        </p:nvSpPr>
        <p:spPr>
          <a:xfrm>
            <a:off x="7012305" y="3617913"/>
            <a:ext cx="1871663" cy="0"/>
          </a:xfrm>
          <a:prstGeom prst="line">
            <a:avLst/>
          </a:prstGeom>
          <a:ln w="9525" cap="flat" cmpd="sng">
            <a:solidFill>
              <a:srgbClr val="FF3300"/>
            </a:solidFill>
            <a:prstDash val="solid"/>
            <a:headEnd type="none" w="med" len="med"/>
            <a:tailEnd type="triangle" w="lg" len="lg"/>
          </a:ln>
        </p:spPr>
      </p:sp>
      <p:sp>
        <p:nvSpPr>
          <p:cNvPr id="30726" name="Text Box 6"/>
          <p:cNvSpPr txBox="1">
            <a:spLocks noChangeArrowheads="1"/>
          </p:cNvSpPr>
          <p:nvPr/>
        </p:nvSpPr>
        <p:spPr bwMode="auto">
          <a:xfrm>
            <a:off x="6940868" y="3041650"/>
            <a:ext cx="1960880" cy="521970"/>
          </a:xfrm>
          <a:prstGeom prst="rect">
            <a:avLst/>
          </a:prstGeom>
          <a:noFill/>
          <a:ln w="9525" algn="ctr">
            <a:noFill/>
            <a:miter lim="800000"/>
          </a:ln>
          <a:effectLst/>
        </p:spPr>
        <p:txBody>
          <a:bodyPr wrap="none">
            <a:spAutoFit/>
          </a:bodyPr>
          <a:p>
            <a:pPr marR="0" defTabSz="914400">
              <a:buClrTx/>
              <a:buSzTx/>
              <a:buFontTx/>
              <a:buNone/>
              <a:defRPr/>
            </a:pPr>
            <a:r>
              <a:rPr kumimoji="1" lang="en-US" altLang="zh-CN" sz="2800" kern="1200" cap="none" spc="0" normalizeH="0" baseline="0" noProof="0">
                <a:effectLst>
                  <a:outerShdw blurRad="38100" dist="38100" dir="2700000" algn="tl">
                    <a:srgbClr val="FFFFFF"/>
                  </a:outerShdw>
                </a:effectLst>
                <a:latin typeface="Arial" panose="020B0604020202020204" pitchFamily="34" charset="0"/>
                <a:ea typeface="宋体" panose="02010600030101010101" pitchFamily="2" charset="-122"/>
                <a:cs typeface="+mn-cs"/>
              </a:rPr>
              <a:t>① N</a:t>
            </a:r>
            <a:r>
              <a:rPr kumimoji="1" lang="zh-CN" altLang="en-US" sz="2800" kern="1200" cap="none" spc="0" normalizeH="0" baseline="0" noProof="0">
                <a:effectLst>
                  <a:outerShdw blurRad="38100" dist="38100" dir="2700000" algn="tl">
                    <a:srgbClr val="FFFFFF"/>
                  </a:outerShdw>
                </a:effectLst>
                <a:latin typeface="Arial" panose="020B0604020202020204" pitchFamily="34" charset="0"/>
                <a:ea typeface="宋体" panose="02010600030101010101" pitchFamily="2" charset="-122"/>
                <a:cs typeface="+mn-cs"/>
              </a:rPr>
              <a:t>个字节</a:t>
            </a:r>
            <a:endParaRPr kumimoji="1" lang="zh-CN" altLang="en-US" sz="2800" kern="1200" cap="none" spc="0" normalizeH="0" baseline="0" noProof="0">
              <a:effectLst>
                <a:outerShdw blurRad="38100" dist="38100" dir="2700000" algn="tl">
                  <a:srgbClr val="FFFFFF"/>
                </a:outerShdw>
              </a:effectLst>
              <a:latin typeface="Arial" panose="020B0604020202020204" pitchFamily="34" charset="0"/>
              <a:ea typeface="宋体" panose="02010600030101010101" pitchFamily="2" charset="-122"/>
              <a:cs typeface="+mn-cs"/>
            </a:endParaRPr>
          </a:p>
        </p:txBody>
      </p:sp>
      <p:sp>
        <p:nvSpPr>
          <p:cNvPr id="30727" name="Text Box 7"/>
          <p:cNvSpPr txBox="1">
            <a:spLocks noChangeArrowheads="1"/>
          </p:cNvSpPr>
          <p:nvPr/>
        </p:nvSpPr>
        <p:spPr bwMode="auto">
          <a:xfrm>
            <a:off x="9101455" y="2536825"/>
            <a:ext cx="1762125" cy="398780"/>
          </a:xfrm>
          <a:prstGeom prst="rect">
            <a:avLst/>
          </a:prstGeom>
          <a:noFill/>
          <a:ln w="9525" algn="ctr">
            <a:noFill/>
            <a:miter lim="800000"/>
          </a:ln>
          <a:effectLst/>
        </p:spPr>
        <p:txBody>
          <a:bodyPr wrap="none">
            <a:spAutoFit/>
          </a:bodyPr>
          <a:p>
            <a:pPr marR="0" defTabSz="914400">
              <a:buClrTx/>
              <a:buSzTx/>
              <a:buFontTx/>
              <a:buNone/>
              <a:defRPr/>
            </a:pPr>
            <a:r>
              <a:rPr kumimoji="1" lang="en-US" altLang="zh-CN" sz="2000" kern="1200" cap="none" spc="0" normalizeH="0" baseline="0" noProof="0">
                <a:effectLst>
                  <a:outerShdw blurRad="38100" dist="38100" dir="2700000" algn="tl">
                    <a:srgbClr val="FFFFFF"/>
                  </a:outerShdw>
                </a:effectLst>
                <a:latin typeface="Arial" panose="020B0604020202020204" pitchFamily="34" charset="0"/>
                <a:ea typeface="宋体" panose="02010600030101010101" pitchFamily="2" charset="-122"/>
                <a:cs typeface="+mn-cs"/>
              </a:rPr>
              <a:t>HeadA</a:t>
            </a:r>
            <a:r>
              <a:rPr kumimoji="1" lang="en-US" altLang="zh-CN" sz="2000" kern="1200" cap="none" spc="0" normalizeH="0" baseline="0" noProof="0">
                <a:effectLst>
                  <a:outerShdw blurRad="38100" dist="38100" dir="2700000" algn="tl">
                    <a:srgbClr val="FFFFFF"/>
                  </a:outerShdw>
                </a:effectLst>
                <a:latin typeface="Times New Roman" panose="02020603050405020304"/>
                <a:ea typeface="宋体" panose="02010600030101010101" pitchFamily="2" charset="-122"/>
                <a:cs typeface="+mn-cs"/>
              </a:rPr>
              <a:t>···</a:t>
            </a:r>
            <a:r>
              <a:rPr kumimoji="1" lang="en-US" altLang="zh-CN" sz="2000" kern="1200" cap="none" spc="0" normalizeH="0" baseline="0" noProof="0">
                <a:effectLst>
                  <a:outerShdw blurRad="38100" dist="38100" dir="2700000" algn="tl">
                    <a:srgbClr val="FFFFFF"/>
                  </a:outerShdw>
                </a:effectLst>
                <a:latin typeface="Arial" panose="020B0604020202020204" pitchFamily="34" charset="0"/>
                <a:ea typeface="宋体" panose="02010600030101010101" pitchFamily="2" charset="-122"/>
                <a:cs typeface="+mn-cs"/>
              </a:rPr>
              <a:t>TailA</a:t>
            </a:r>
            <a:endParaRPr kumimoji="1" lang="en-US" altLang="zh-CN" sz="2000" kern="1200" cap="none" spc="0" normalizeH="0" baseline="0" noProof="0">
              <a:effectLst>
                <a:outerShdw blurRad="38100" dist="38100" dir="2700000" algn="tl">
                  <a:srgbClr val="FFFFFF"/>
                </a:outerShdw>
              </a:effectLst>
              <a:latin typeface="Arial" panose="020B0604020202020204" pitchFamily="34" charset="0"/>
              <a:ea typeface="宋体" panose="02010600030101010101" pitchFamily="2" charset="-122"/>
              <a:cs typeface="+mn-cs"/>
            </a:endParaRPr>
          </a:p>
        </p:txBody>
      </p:sp>
      <p:sp>
        <p:nvSpPr>
          <p:cNvPr id="30728" name="Line 8"/>
          <p:cNvSpPr/>
          <p:nvPr/>
        </p:nvSpPr>
        <p:spPr>
          <a:xfrm flipV="1">
            <a:off x="8091805" y="2681288"/>
            <a:ext cx="1009650" cy="431800"/>
          </a:xfrm>
          <a:prstGeom prst="line">
            <a:avLst/>
          </a:prstGeom>
          <a:ln w="9525" cap="flat" cmpd="sng">
            <a:solidFill>
              <a:srgbClr val="FF3300"/>
            </a:solidFill>
            <a:prstDash val="solid"/>
            <a:headEnd type="none" w="med" len="med"/>
            <a:tailEnd type="none" w="med" len="med"/>
          </a:ln>
        </p:spPr>
      </p:sp>
      <p:sp>
        <p:nvSpPr>
          <p:cNvPr id="30729" name="Text Box 9"/>
          <p:cNvSpPr txBox="1">
            <a:spLocks noChangeArrowheads="1"/>
          </p:cNvSpPr>
          <p:nvPr/>
        </p:nvSpPr>
        <p:spPr bwMode="auto">
          <a:xfrm>
            <a:off x="6940868" y="3976688"/>
            <a:ext cx="1901190" cy="521970"/>
          </a:xfrm>
          <a:prstGeom prst="rect">
            <a:avLst/>
          </a:prstGeom>
          <a:noFill/>
          <a:ln w="9525" algn="ctr">
            <a:noFill/>
            <a:miter lim="800000"/>
          </a:ln>
          <a:effectLst/>
        </p:spPr>
        <p:txBody>
          <a:bodyPr wrap="none">
            <a:spAutoFit/>
          </a:bodyPr>
          <a:p>
            <a:pPr marR="0" defTabSz="914400">
              <a:buClrTx/>
              <a:buSzTx/>
              <a:buFontTx/>
              <a:buNone/>
              <a:defRPr/>
            </a:pPr>
            <a:r>
              <a:rPr kumimoji="1" lang="en-US" altLang="zh-CN" sz="2800" kern="1200" cap="none" spc="0" normalizeH="0" baseline="0" noProof="0">
                <a:effectLst>
                  <a:outerShdw blurRad="38100" dist="38100" dir="2700000" algn="tl">
                    <a:srgbClr val="FFFFFF"/>
                  </a:outerShdw>
                </a:effectLst>
                <a:latin typeface="Arial" panose="020B0604020202020204" pitchFamily="34" charset="0"/>
                <a:ea typeface="宋体" panose="02010600030101010101" pitchFamily="2" charset="-122"/>
                <a:cs typeface="+mn-cs"/>
              </a:rPr>
              <a:t>②M</a:t>
            </a:r>
            <a:r>
              <a:rPr kumimoji="1" lang="zh-CN" altLang="en-US" sz="2800" kern="1200" cap="none" spc="0" normalizeH="0" baseline="0" noProof="0">
                <a:effectLst>
                  <a:outerShdw blurRad="38100" dist="38100" dir="2700000" algn="tl">
                    <a:srgbClr val="FFFFFF"/>
                  </a:outerShdw>
                </a:effectLst>
                <a:latin typeface="Arial" panose="020B0604020202020204" pitchFamily="34" charset="0"/>
                <a:ea typeface="宋体" panose="02010600030101010101" pitchFamily="2" charset="-122"/>
                <a:cs typeface="+mn-cs"/>
              </a:rPr>
              <a:t>个字节</a:t>
            </a:r>
            <a:endParaRPr kumimoji="1" lang="zh-CN" altLang="en-US" sz="2800" kern="1200" cap="none" spc="0" normalizeH="0" baseline="0" noProof="0">
              <a:effectLst>
                <a:outerShdw blurRad="38100" dist="38100" dir="2700000" algn="tl">
                  <a:srgbClr val="FFFFFF"/>
                </a:outerShdw>
              </a:effectLst>
              <a:latin typeface="Arial" panose="020B0604020202020204" pitchFamily="34" charset="0"/>
              <a:ea typeface="宋体" panose="02010600030101010101" pitchFamily="2" charset="-122"/>
              <a:cs typeface="+mn-cs"/>
            </a:endParaRPr>
          </a:p>
        </p:txBody>
      </p:sp>
      <p:sp>
        <p:nvSpPr>
          <p:cNvPr id="30730" name="Line 10"/>
          <p:cNvSpPr/>
          <p:nvPr/>
        </p:nvSpPr>
        <p:spPr>
          <a:xfrm>
            <a:off x="8164830" y="4481513"/>
            <a:ext cx="1081088" cy="431800"/>
          </a:xfrm>
          <a:prstGeom prst="line">
            <a:avLst/>
          </a:prstGeom>
          <a:ln w="9525" cap="flat" cmpd="sng">
            <a:solidFill>
              <a:srgbClr val="FF3300"/>
            </a:solidFill>
            <a:prstDash val="solid"/>
            <a:headEnd type="none" w="med" len="med"/>
            <a:tailEnd type="none" w="med" len="med"/>
          </a:ln>
        </p:spPr>
      </p:sp>
      <p:sp>
        <p:nvSpPr>
          <p:cNvPr id="30731" name="Text Box 11"/>
          <p:cNvSpPr txBox="1">
            <a:spLocks noChangeArrowheads="1"/>
          </p:cNvSpPr>
          <p:nvPr/>
        </p:nvSpPr>
        <p:spPr bwMode="auto">
          <a:xfrm>
            <a:off x="9245918" y="4625975"/>
            <a:ext cx="1832610" cy="398780"/>
          </a:xfrm>
          <a:prstGeom prst="rect">
            <a:avLst/>
          </a:prstGeom>
          <a:noFill/>
          <a:ln w="9525" algn="ctr">
            <a:noFill/>
            <a:miter lim="800000"/>
          </a:ln>
          <a:effectLst/>
        </p:spPr>
        <p:txBody>
          <a:bodyPr wrap="none">
            <a:spAutoFit/>
          </a:bodyPr>
          <a:p>
            <a:pPr marR="0" defTabSz="914400">
              <a:buClrTx/>
              <a:buSzTx/>
              <a:buFontTx/>
              <a:buNone/>
              <a:defRPr/>
            </a:pPr>
            <a:r>
              <a:rPr kumimoji="1" lang="en-US" altLang="zh-CN" sz="2000" kern="1200" cap="none" spc="0" normalizeH="0" baseline="0" noProof="0">
                <a:effectLst>
                  <a:outerShdw blurRad="38100" dist="38100" dir="2700000" algn="tl">
                    <a:srgbClr val="FFFFFF"/>
                  </a:outerShdw>
                </a:effectLst>
                <a:latin typeface="Arial" panose="020B0604020202020204" pitchFamily="34" charset="0"/>
                <a:ea typeface="宋体" panose="02010600030101010101" pitchFamily="2" charset="-122"/>
                <a:cs typeface="+mn-cs"/>
              </a:rPr>
              <a:t>HeadB </a:t>
            </a:r>
            <a:r>
              <a:rPr kumimoji="1" lang="en-US" altLang="zh-CN" sz="2000" kern="1200" cap="none" spc="0" normalizeH="0" baseline="0" noProof="0">
                <a:effectLst>
                  <a:outerShdw blurRad="38100" dist="38100" dir="2700000" algn="tl">
                    <a:srgbClr val="FFFFFF"/>
                  </a:outerShdw>
                </a:effectLst>
                <a:latin typeface="Times New Roman" panose="02020603050405020304"/>
                <a:ea typeface="宋体" panose="02010600030101010101" pitchFamily="2" charset="-122"/>
                <a:cs typeface="+mn-cs"/>
              </a:rPr>
              <a:t>···</a:t>
            </a:r>
            <a:r>
              <a:rPr kumimoji="1" lang="en-US" altLang="zh-CN" sz="2000" kern="1200" cap="none" spc="0" normalizeH="0" baseline="0" noProof="0">
                <a:effectLst>
                  <a:outerShdw blurRad="38100" dist="38100" dir="2700000" algn="tl">
                    <a:srgbClr val="FFFFFF"/>
                  </a:outerShdw>
                </a:effectLst>
                <a:latin typeface="Arial" panose="020B0604020202020204" pitchFamily="34" charset="0"/>
                <a:ea typeface="宋体" panose="02010600030101010101" pitchFamily="2" charset="-122"/>
                <a:cs typeface="+mn-cs"/>
              </a:rPr>
              <a:t>TailB</a:t>
            </a:r>
            <a:endParaRPr kumimoji="1" lang="en-US" altLang="zh-CN" sz="2000" kern="1200" cap="none" spc="0" normalizeH="0" baseline="0" noProof="0">
              <a:effectLst>
                <a:outerShdw blurRad="38100" dist="38100" dir="2700000" algn="tl">
                  <a:srgbClr val="FFFFFF"/>
                </a:outerShdw>
              </a:effectLst>
              <a:latin typeface="Arial" panose="020B0604020202020204" pitchFamily="34" charset="0"/>
              <a:ea typeface="宋体" panose="02010600030101010101" pitchFamily="2" charset="-122"/>
              <a:cs typeface="+mn-cs"/>
            </a:endParaRPr>
          </a:p>
        </p:txBody>
      </p:sp>
      <p:sp>
        <p:nvSpPr>
          <p:cNvPr id="30732" name="Text Box 12"/>
          <p:cNvSpPr txBox="1"/>
          <p:nvPr/>
        </p:nvSpPr>
        <p:spPr>
          <a:xfrm>
            <a:off x="4924743" y="5273675"/>
            <a:ext cx="2200910" cy="706755"/>
          </a:xfrm>
          <a:prstGeom prst="rect">
            <a:avLst/>
          </a:prstGeom>
          <a:noFill/>
          <a:ln w="9525">
            <a:noFill/>
          </a:ln>
        </p:spPr>
        <p:txBody>
          <a:bodyPr wrap="none">
            <a:spAutoFit/>
          </a:bodyPr>
          <a:p>
            <a:r>
              <a:rPr lang="zh-CN" altLang="en-US" sz="2000" dirty="0">
                <a:latin typeface="Arial" panose="020B0604020202020204" pitchFamily="34" charset="0"/>
              </a:rPr>
              <a:t>发送容忍时间</a:t>
            </a:r>
            <a:r>
              <a:rPr lang="en-US" altLang="zh-CN" sz="2000" dirty="0">
                <a:latin typeface="Arial" panose="020B0604020202020204" pitchFamily="34" charset="0"/>
              </a:rPr>
              <a:t>TSA</a:t>
            </a:r>
            <a:endParaRPr lang="en-US" altLang="zh-CN" sz="2000" dirty="0">
              <a:latin typeface="Arial" panose="020B0604020202020204" pitchFamily="34" charset="0"/>
            </a:endParaRPr>
          </a:p>
          <a:p>
            <a:r>
              <a:rPr lang="zh-CN" altLang="en-US" sz="2000" dirty="0">
                <a:latin typeface="Arial" panose="020B0604020202020204" pitchFamily="34" charset="0"/>
              </a:rPr>
              <a:t>接收容忍时间</a:t>
            </a:r>
            <a:r>
              <a:rPr lang="en-US" altLang="zh-CN" sz="2000" dirty="0">
                <a:latin typeface="Arial" panose="020B0604020202020204" pitchFamily="34" charset="0"/>
              </a:rPr>
              <a:t>TTA</a:t>
            </a:r>
            <a:endParaRPr lang="en-US" altLang="zh-CN" sz="2000" dirty="0">
              <a:latin typeface="Arial" panose="020B0604020202020204" pitchFamily="34" charset="0"/>
            </a:endParaRPr>
          </a:p>
        </p:txBody>
      </p:sp>
      <p:sp>
        <p:nvSpPr>
          <p:cNvPr id="30733" name="Text Box 13"/>
          <p:cNvSpPr txBox="1"/>
          <p:nvPr/>
        </p:nvSpPr>
        <p:spPr>
          <a:xfrm>
            <a:off x="8812530" y="5273675"/>
            <a:ext cx="2200910" cy="706755"/>
          </a:xfrm>
          <a:prstGeom prst="rect">
            <a:avLst/>
          </a:prstGeom>
          <a:noFill/>
          <a:ln w="9525">
            <a:noFill/>
          </a:ln>
        </p:spPr>
        <p:txBody>
          <a:bodyPr wrap="none">
            <a:spAutoFit/>
          </a:bodyPr>
          <a:p>
            <a:r>
              <a:rPr lang="zh-CN" altLang="en-US" sz="2000" dirty="0">
                <a:latin typeface="Arial" panose="020B0604020202020204" pitchFamily="34" charset="0"/>
              </a:rPr>
              <a:t>发送容忍时间</a:t>
            </a:r>
            <a:r>
              <a:rPr lang="en-US" altLang="zh-CN" sz="2000" dirty="0">
                <a:latin typeface="Arial" panose="020B0604020202020204" pitchFamily="34" charset="0"/>
              </a:rPr>
              <a:t>TSB</a:t>
            </a:r>
            <a:endParaRPr lang="en-US" altLang="zh-CN" sz="2000" dirty="0">
              <a:latin typeface="Arial" panose="020B0604020202020204" pitchFamily="34" charset="0"/>
            </a:endParaRPr>
          </a:p>
          <a:p>
            <a:r>
              <a:rPr lang="zh-CN" altLang="en-US" sz="2000" dirty="0">
                <a:latin typeface="Arial" panose="020B0604020202020204" pitchFamily="34" charset="0"/>
              </a:rPr>
              <a:t>接收容忍时间</a:t>
            </a:r>
            <a:r>
              <a:rPr lang="en-US" altLang="zh-CN" sz="2000" dirty="0">
                <a:latin typeface="Arial" panose="020B0604020202020204" pitchFamily="34" charset="0"/>
              </a:rPr>
              <a:t>TTB</a:t>
            </a:r>
            <a:endParaRPr lang="en-US" altLang="zh-CN" sz="2000" dirty="0">
              <a:latin typeface="Arial" panose="020B0604020202020204" pitchFamily="34" charset="0"/>
            </a:endParaRPr>
          </a:p>
        </p:txBody>
      </p:sp>
      <p:sp>
        <p:nvSpPr>
          <p:cNvPr id="30734" name="Rectangle 14"/>
          <p:cNvSpPr>
            <a:spLocks noChangeArrowheads="1"/>
          </p:cNvSpPr>
          <p:nvPr/>
        </p:nvSpPr>
        <p:spPr bwMode="auto">
          <a:xfrm>
            <a:off x="4348480" y="2249488"/>
            <a:ext cx="7272338" cy="2808288"/>
          </a:xfrm>
          <a:prstGeom prst="rect">
            <a:avLst/>
          </a:prstGeom>
          <a:noFill/>
          <a:ln w="9525" algn="ctr">
            <a:solidFill>
              <a:schemeClr val="tx1"/>
            </a:solidFill>
            <a:prstDash val="lgDash"/>
            <a:miter lim="800000"/>
          </a:ln>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endParaRPr>
          </a:p>
        </p:txBody>
      </p:sp>
      <p:sp>
        <p:nvSpPr>
          <p:cNvPr id="30735" name="Text Box 15"/>
          <p:cNvSpPr txBox="1"/>
          <p:nvPr/>
        </p:nvSpPr>
        <p:spPr>
          <a:xfrm>
            <a:off x="4348480" y="2249488"/>
            <a:ext cx="2325370" cy="460375"/>
          </a:xfrm>
          <a:prstGeom prst="rect">
            <a:avLst/>
          </a:prstGeom>
          <a:noFill/>
          <a:ln w="9525">
            <a:noFill/>
          </a:ln>
        </p:spPr>
        <p:txBody>
          <a:bodyPr wrap="none">
            <a:spAutoFit/>
          </a:bodyPr>
          <a:p>
            <a:r>
              <a:rPr lang="zh-CN" altLang="en-US" sz="2400" b="1" dirty="0">
                <a:solidFill>
                  <a:srgbClr val="CC3300"/>
                </a:solidFill>
                <a:latin typeface="Arial" panose="020B0604020202020204" pitchFamily="34" charset="0"/>
                <a:ea typeface="黑体" panose="02010609060101010101" pitchFamily="2" charset="-122"/>
              </a:rPr>
              <a:t>某并行通讯系统</a:t>
            </a:r>
            <a:endParaRPr lang="zh-CN" altLang="en-US" sz="2400" b="1" dirty="0">
              <a:solidFill>
                <a:srgbClr val="CC3300"/>
              </a:solidFill>
              <a:latin typeface="Arial" panose="020B0604020202020204" pitchFamily="34" charset="0"/>
              <a:ea typeface="黑体" panose="02010609060101010101" pitchFamily="2" charset="-122"/>
            </a:endParaRPr>
          </a:p>
        </p:txBody>
      </p:sp>
      <p:sp>
        <p:nvSpPr>
          <p:cNvPr id="30736" name="Line 16"/>
          <p:cNvSpPr/>
          <p:nvPr/>
        </p:nvSpPr>
        <p:spPr>
          <a:xfrm flipH="1">
            <a:off x="7012305" y="3976688"/>
            <a:ext cx="1871663" cy="0"/>
          </a:xfrm>
          <a:prstGeom prst="line">
            <a:avLst/>
          </a:prstGeom>
          <a:ln w="9525" cap="flat" cmpd="sng">
            <a:solidFill>
              <a:srgbClr val="FF3300"/>
            </a:solidFill>
            <a:prstDash val="solid"/>
            <a:headEnd type="none" w="med" len="med"/>
            <a:tailEnd type="triangle" w="lg" len="lg"/>
          </a:ln>
        </p:spPr>
      </p:sp>
      <p:sp>
        <p:nvSpPr>
          <p:cNvPr id="3" name="文本框 2"/>
          <p:cNvSpPr txBox="1"/>
          <p:nvPr/>
        </p:nvSpPr>
        <p:spPr>
          <a:xfrm>
            <a:off x="916305" y="2980690"/>
            <a:ext cx="2792095" cy="2306320"/>
          </a:xfrm>
          <a:prstGeom prst="rect">
            <a:avLst/>
          </a:prstGeom>
          <a:noFill/>
        </p:spPr>
        <p:txBody>
          <a:bodyPr wrap="square" rtlCol="0" anchor="t">
            <a:spAutoFit/>
          </a:bodyPr>
          <a:p>
            <a:pPr indent="0" fontAlgn="auto">
              <a:lnSpc>
                <a:spcPct val="120000"/>
              </a:lnSpc>
            </a:pPr>
            <a:r>
              <a:rPr lang="en-US" altLang="zh-CN" sz="2400" dirty="0">
                <a:latin typeface="Times New Roman" panose="02020603050405020304" pitchFamily="18" charset="0"/>
                <a:sym typeface="+mn-ea"/>
              </a:rPr>
              <a:t>(5) </a:t>
            </a:r>
            <a:r>
              <a:rPr lang="zh-CN" altLang="en-US" sz="2400" dirty="0">
                <a:latin typeface="Times New Roman" panose="02020603050405020304" pitchFamily="18" charset="0"/>
                <a:sym typeface="+mn-ea"/>
              </a:rPr>
              <a:t>采用8255，实现能判别是否对方已提供字节数据，能判别对方是否已取走字节数据 </a:t>
            </a:r>
            <a:endParaRPr lang="zh-CN" altLang="en-US" sz="2400" dirty="0">
              <a:latin typeface="Times New Roman" panose="02020603050405020304" pitchFamily="18" charset="0"/>
              <a:sym typeface="+mn-ea"/>
            </a:endParaRPr>
          </a:p>
        </p:txBody>
      </p:sp>
    </p:spTree>
  </p:cSld>
  <p:clrMapOvr>
    <a:masterClrMapping/>
  </p:clrMapOvr>
  <p:transition>
    <p:fade/>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6802" name="Rectangle 2"/>
          <p:cNvSpPr>
            <a:spLocks noGrp="1"/>
          </p:cNvSpPr>
          <p:nvPr>
            <p:ph type="title"/>
          </p:nvPr>
        </p:nvSpPr>
        <p:spPr/>
        <p:txBody>
          <a:bodyPr vert="horz" wrap="square" lIns="91440" tIns="45720" rIns="91440" bIns="45720" anchor="ctr" anchorCtr="0"/>
          <a:p>
            <a:pPr algn="l">
              <a:buClrTx/>
              <a:buSzTx/>
              <a:buFontTx/>
            </a:pPr>
            <a:r>
              <a:rPr lang="zh-CN" altLang="en-US" dirty="0" smtClean="0">
                <a:solidFill>
                  <a:srgbClr val="C00000"/>
                </a:solidFill>
              </a:rPr>
              <a:t>SFMEA实例 </a:t>
            </a:r>
            <a:r>
              <a:rPr lang="zh-CN" altLang="en-US" sz="4400" dirty="0" smtClean="0">
                <a:solidFill>
                  <a:srgbClr val="C00000"/>
                </a:solidFill>
              </a:rPr>
              <a:t>（3/5）</a:t>
            </a:r>
            <a:endParaRPr lang="zh-CN" altLang="en-US" sz="4400" dirty="0" smtClean="0">
              <a:solidFill>
                <a:srgbClr val="C00000"/>
              </a:solidFill>
            </a:endParaRPr>
          </a:p>
        </p:txBody>
      </p:sp>
      <p:sp>
        <p:nvSpPr>
          <p:cNvPr id="30723" name="Rectangle 3"/>
          <p:cNvSpPr>
            <a:spLocks noChangeArrowheads="1"/>
          </p:cNvSpPr>
          <p:nvPr/>
        </p:nvSpPr>
        <p:spPr bwMode="auto">
          <a:xfrm>
            <a:off x="2884488" y="3042603"/>
            <a:ext cx="2159000" cy="863600"/>
          </a:xfrm>
          <a:prstGeom prst="rect">
            <a:avLst/>
          </a:prstGeom>
          <a:gradFill rotWithShape="1">
            <a:gsLst>
              <a:gs pos="0">
                <a:schemeClr val="accent1"/>
              </a:gs>
              <a:gs pos="100000">
                <a:schemeClr val="accent1">
                  <a:gamma/>
                  <a:tint val="15686"/>
                  <a:invGamma/>
                </a:schemeClr>
              </a:gs>
            </a:gsLst>
            <a:lin ang="5400000" scaled="1"/>
          </a:gradFill>
          <a:ln w="9525" algn="ctr">
            <a:solidFill>
              <a:srgbClr val="339966"/>
            </a:solid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8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主计算机</a:t>
            </a:r>
            <a:r>
              <a:rPr kumimoji="1" lang="en-US" altLang="zh-CN" sz="28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a:t>
            </a:r>
            <a:endParaRPr kumimoji="1" lang="en-US" altLang="zh-CN" sz="28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724" name="Rectangle 4"/>
          <p:cNvSpPr>
            <a:spLocks noChangeArrowheads="1"/>
          </p:cNvSpPr>
          <p:nvPr/>
        </p:nvSpPr>
        <p:spPr bwMode="auto">
          <a:xfrm>
            <a:off x="6916738" y="3042603"/>
            <a:ext cx="2159000" cy="863600"/>
          </a:xfrm>
          <a:prstGeom prst="rect">
            <a:avLst/>
          </a:prstGeom>
          <a:gradFill rotWithShape="1">
            <a:gsLst>
              <a:gs pos="0">
                <a:schemeClr val="accent1"/>
              </a:gs>
              <a:gs pos="100000">
                <a:schemeClr val="accent1">
                  <a:gamma/>
                  <a:tint val="15686"/>
                  <a:invGamma/>
                </a:schemeClr>
              </a:gs>
            </a:gsLst>
            <a:lin ang="5400000" scaled="1"/>
          </a:gradFill>
          <a:ln w="9525" algn="ctr">
            <a:solidFill>
              <a:srgbClr val="339966"/>
            </a:solid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8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从计算机</a:t>
            </a:r>
            <a:r>
              <a:rPr kumimoji="1" lang="en-US" altLang="zh-CN" sz="28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B</a:t>
            </a:r>
            <a:endParaRPr kumimoji="1" lang="en-US" altLang="zh-CN" sz="28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725" name="Line 5"/>
          <p:cNvSpPr/>
          <p:nvPr/>
        </p:nvSpPr>
        <p:spPr>
          <a:xfrm>
            <a:off x="5045075" y="3258503"/>
            <a:ext cx="1871663" cy="0"/>
          </a:xfrm>
          <a:prstGeom prst="line">
            <a:avLst/>
          </a:prstGeom>
          <a:ln w="9525" cap="flat" cmpd="sng">
            <a:solidFill>
              <a:srgbClr val="FF3300"/>
            </a:solidFill>
            <a:prstDash val="solid"/>
            <a:headEnd type="none" w="med" len="med"/>
            <a:tailEnd type="triangle" w="lg" len="lg"/>
          </a:ln>
        </p:spPr>
      </p:sp>
      <p:sp>
        <p:nvSpPr>
          <p:cNvPr id="30726" name="Text Box 6"/>
          <p:cNvSpPr txBox="1">
            <a:spLocks noChangeArrowheads="1"/>
          </p:cNvSpPr>
          <p:nvPr/>
        </p:nvSpPr>
        <p:spPr bwMode="auto">
          <a:xfrm>
            <a:off x="4973638" y="2682240"/>
            <a:ext cx="1960880" cy="521970"/>
          </a:xfrm>
          <a:prstGeom prst="rect">
            <a:avLst/>
          </a:prstGeom>
          <a:noFill/>
          <a:ln w="9525" algn="ctr">
            <a:noFill/>
            <a:miter lim="800000"/>
          </a:ln>
          <a:effectLst/>
        </p:spPr>
        <p:txBody>
          <a:bodyPr wrap="none">
            <a:spAutoFit/>
          </a:bodyPr>
          <a:lstStyle/>
          <a:p>
            <a:pPr marR="0" defTabSz="914400">
              <a:buClrTx/>
              <a:buSzTx/>
              <a:buFontTx/>
              <a:buNone/>
              <a:defRPr/>
            </a:pPr>
            <a:r>
              <a:rPr kumimoji="1" lang="en-US" altLang="zh-CN" sz="2800" kern="1200" cap="none" spc="0" normalizeH="0" baseline="0" noProof="0">
                <a:effectLst>
                  <a:outerShdw blurRad="38100" dist="38100" dir="2700000" algn="tl">
                    <a:srgbClr val="FFFFFF"/>
                  </a:outerShdw>
                </a:effectLst>
                <a:latin typeface="Arial" panose="020B0604020202020204" pitchFamily="34" charset="0"/>
                <a:ea typeface="宋体" panose="02010600030101010101" pitchFamily="2" charset="-122"/>
                <a:cs typeface="+mn-cs"/>
              </a:rPr>
              <a:t>① N</a:t>
            </a:r>
            <a:r>
              <a:rPr kumimoji="1" lang="zh-CN" altLang="en-US" sz="2800" kern="1200" cap="none" spc="0" normalizeH="0" baseline="0" noProof="0">
                <a:effectLst>
                  <a:outerShdw blurRad="38100" dist="38100" dir="2700000" algn="tl">
                    <a:srgbClr val="FFFFFF"/>
                  </a:outerShdw>
                </a:effectLst>
                <a:latin typeface="Arial" panose="020B0604020202020204" pitchFamily="34" charset="0"/>
                <a:ea typeface="宋体" panose="02010600030101010101" pitchFamily="2" charset="-122"/>
                <a:cs typeface="+mn-cs"/>
              </a:rPr>
              <a:t>个字节</a:t>
            </a:r>
            <a:endParaRPr kumimoji="1" lang="zh-CN" altLang="en-US" sz="2800" kern="1200" cap="none" spc="0" normalizeH="0" baseline="0" noProof="0">
              <a:effectLst>
                <a:outerShdw blurRad="38100" dist="38100" dir="2700000" algn="tl">
                  <a:srgbClr val="FFFFFF"/>
                </a:outerShdw>
              </a:effectLst>
              <a:latin typeface="Arial" panose="020B0604020202020204" pitchFamily="34" charset="0"/>
              <a:ea typeface="宋体" panose="02010600030101010101" pitchFamily="2" charset="-122"/>
              <a:cs typeface="+mn-cs"/>
            </a:endParaRPr>
          </a:p>
        </p:txBody>
      </p:sp>
      <p:sp>
        <p:nvSpPr>
          <p:cNvPr id="30727" name="Text Box 7"/>
          <p:cNvSpPr txBox="1">
            <a:spLocks noChangeArrowheads="1"/>
          </p:cNvSpPr>
          <p:nvPr/>
        </p:nvSpPr>
        <p:spPr bwMode="auto">
          <a:xfrm>
            <a:off x="7134225" y="2177415"/>
            <a:ext cx="1762125" cy="398780"/>
          </a:xfrm>
          <a:prstGeom prst="rect">
            <a:avLst/>
          </a:prstGeom>
          <a:noFill/>
          <a:ln w="9525" algn="ctr">
            <a:noFill/>
            <a:miter lim="800000"/>
          </a:ln>
          <a:effectLst/>
        </p:spPr>
        <p:txBody>
          <a:bodyPr wrap="none">
            <a:spAutoFit/>
          </a:bodyPr>
          <a:lstStyle/>
          <a:p>
            <a:pPr marR="0" defTabSz="914400">
              <a:buClrTx/>
              <a:buSzTx/>
              <a:buFontTx/>
              <a:buNone/>
              <a:defRPr/>
            </a:pPr>
            <a:r>
              <a:rPr kumimoji="1" lang="en-US" altLang="zh-CN" sz="2000" kern="1200" cap="none" spc="0" normalizeH="0" baseline="0" noProof="0">
                <a:effectLst>
                  <a:outerShdw blurRad="38100" dist="38100" dir="2700000" algn="tl">
                    <a:srgbClr val="FFFFFF"/>
                  </a:outerShdw>
                </a:effectLst>
                <a:latin typeface="Arial" panose="020B0604020202020204" pitchFamily="34" charset="0"/>
                <a:ea typeface="宋体" panose="02010600030101010101" pitchFamily="2" charset="-122"/>
                <a:cs typeface="+mn-cs"/>
              </a:rPr>
              <a:t>HeadA</a:t>
            </a:r>
            <a:r>
              <a:rPr kumimoji="1" lang="en-US" altLang="zh-CN" sz="2000" kern="1200" cap="none" spc="0" normalizeH="0" baseline="0" noProof="0">
                <a:effectLst>
                  <a:outerShdw blurRad="38100" dist="38100" dir="2700000" algn="tl">
                    <a:srgbClr val="FFFFFF"/>
                  </a:outerShdw>
                </a:effectLst>
                <a:latin typeface="Times New Roman" panose="02020603050405020304"/>
                <a:ea typeface="宋体" panose="02010600030101010101" pitchFamily="2" charset="-122"/>
                <a:cs typeface="+mn-cs"/>
              </a:rPr>
              <a:t>···</a:t>
            </a:r>
            <a:r>
              <a:rPr kumimoji="1" lang="en-US" altLang="zh-CN" sz="2000" kern="1200" cap="none" spc="0" normalizeH="0" baseline="0" noProof="0">
                <a:effectLst>
                  <a:outerShdw blurRad="38100" dist="38100" dir="2700000" algn="tl">
                    <a:srgbClr val="FFFFFF"/>
                  </a:outerShdw>
                </a:effectLst>
                <a:latin typeface="Arial" panose="020B0604020202020204" pitchFamily="34" charset="0"/>
                <a:ea typeface="宋体" panose="02010600030101010101" pitchFamily="2" charset="-122"/>
                <a:cs typeface="+mn-cs"/>
              </a:rPr>
              <a:t>TailA</a:t>
            </a:r>
            <a:endParaRPr kumimoji="1" lang="en-US" altLang="zh-CN" sz="2000" kern="1200" cap="none" spc="0" normalizeH="0" baseline="0" noProof="0">
              <a:effectLst>
                <a:outerShdw blurRad="38100" dist="38100" dir="2700000" algn="tl">
                  <a:srgbClr val="FFFFFF"/>
                </a:outerShdw>
              </a:effectLst>
              <a:latin typeface="Arial" panose="020B0604020202020204" pitchFamily="34" charset="0"/>
              <a:ea typeface="宋体" panose="02010600030101010101" pitchFamily="2" charset="-122"/>
              <a:cs typeface="+mn-cs"/>
            </a:endParaRPr>
          </a:p>
        </p:txBody>
      </p:sp>
      <p:sp>
        <p:nvSpPr>
          <p:cNvPr id="30728" name="Line 8"/>
          <p:cNvSpPr/>
          <p:nvPr/>
        </p:nvSpPr>
        <p:spPr>
          <a:xfrm flipV="1">
            <a:off x="6124575" y="2321878"/>
            <a:ext cx="1009650" cy="431800"/>
          </a:xfrm>
          <a:prstGeom prst="line">
            <a:avLst/>
          </a:prstGeom>
          <a:ln w="9525" cap="flat" cmpd="sng">
            <a:solidFill>
              <a:srgbClr val="FF3300"/>
            </a:solidFill>
            <a:prstDash val="solid"/>
            <a:headEnd type="none" w="med" len="med"/>
            <a:tailEnd type="none" w="med" len="med"/>
          </a:ln>
        </p:spPr>
      </p:sp>
      <p:sp>
        <p:nvSpPr>
          <p:cNvPr id="30729" name="Text Box 9"/>
          <p:cNvSpPr txBox="1">
            <a:spLocks noChangeArrowheads="1"/>
          </p:cNvSpPr>
          <p:nvPr/>
        </p:nvSpPr>
        <p:spPr bwMode="auto">
          <a:xfrm>
            <a:off x="4973638" y="3617278"/>
            <a:ext cx="1901190" cy="521970"/>
          </a:xfrm>
          <a:prstGeom prst="rect">
            <a:avLst/>
          </a:prstGeom>
          <a:noFill/>
          <a:ln w="9525" algn="ctr">
            <a:noFill/>
            <a:miter lim="800000"/>
          </a:ln>
          <a:effectLst/>
        </p:spPr>
        <p:txBody>
          <a:bodyPr wrap="none">
            <a:spAutoFit/>
          </a:bodyPr>
          <a:lstStyle/>
          <a:p>
            <a:pPr marR="0" defTabSz="914400">
              <a:buClrTx/>
              <a:buSzTx/>
              <a:buFontTx/>
              <a:buNone/>
              <a:defRPr/>
            </a:pPr>
            <a:r>
              <a:rPr kumimoji="1" lang="en-US" altLang="zh-CN" sz="2800" kern="1200" cap="none" spc="0" normalizeH="0" baseline="0" noProof="0">
                <a:effectLst>
                  <a:outerShdw blurRad="38100" dist="38100" dir="2700000" algn="tl">
                    <a:srgbClr val="FFFFFF"/>
                  </a:outerShdw>
                </a:effectLst>
                <a:latin typeface="Arial" panose="020B0604020202020204" pitchFamily="34" charset="0"/>
                <a:ea typeface="宋体" panose="02010600030101010101" pitchFamily="2" charset="-122"/>
                <a:cs typeface="+mn-cs"/>
              </a:rPr>
              <a:t>②M</a:t>
            </a:r>
            <a:r>
              <a:rPr kumimoji="1" lang="zh-CN" altLang="en-US" sz="2800" kern="1200" cap="none" spc="0" normalizeH="0" baseline="0" noProof="0">
                <a:effectLst>
                  <a:outerShdw blurRad="38100" dist="38100" dir="2700000" algn="tl">
                    <a:srgbClr val="FFFFFF"/>
                  </a:outerShdw>
                </a:effectLst>
                <a:latin typeface="Arial" panose="020B0604020202020204" pitchFamily="34" charset="0"/>
                <a:ea typeface="宋体" panose="02010600030101010101" pitchFamily="2" charset="-122"/>
                <a:cs typeface="+mn-cs"/>
              </a:rPr>
              <a:t>个字节</a:t>
            </a:r>
            <a:endParaRPr kumimoji="1" lang="zh-CN" altLang="en-US" sz="2800" kern="1200" cap="none" spc="0" normalizeH="0" baseline="0" noProof="0">
              <a:effectLst>
                <a:outerShdw blurRad="38100" dist="38100" dir="2700000" algn="tl">
                  <a:srgbClr val="FFFFFF"/>
                </a:outerShdw>
              </a:effectLst>
              <a:latin typeface="Arial" panose="020B0604020202020204" pitchFamily="34" charset="0"/>
              <a:ea typeface="宋体" panose="02010600030101010101" pitchFamily="2" charset="-122"/>
              <a:cs typeface="+mn-cs"/>
            </a:endParaRPr>
          </a:p>
        </p:txBody>
      </p:sp>
      <p:sp>
        <p:nvSpPr>
          <p:cNvPr id="30730" name="Line 10"/>
          <p:cNvSpPr/>
          <p:nvPr/>
        </p:nvSpPr>
        <p:spPr>
          <a:xfrm>
            <a:off x="6197600" y="4122103"/>
            <a:ext cx="1081088" cy="431800"/>
          </a:xfrm>
          <a:prstGeom prst="line">
            <a:avLst/>
          </a:prstGeom>
          <a:ln w="9525" cap="flat" cmpd="sng">
            <a:solidFill>
              <a:srgbClr val="FF3300"/>
            </a:solidFill>
            <a:prstDash val="solid"/>
            <a:headEnd type="none" w="med" len="med"/>
            <a:tailEnd type="none" w="med" len="med"/>
          </a:ln>
        </p:spPr>
      </p:sp>
      <p:sp>
        <p:nvSpPr>
          <p:cNvPr id="30731" name="Text Box 11"/>
          <p:cNvSpPr txBox="1">
            <a:spLocks noChangeArrowheads="1"/>
          </p:cNvSpPr>
          <p:nvPr/>
        </p:nvSpPr>
        <p:spPr bwMode="auto">
          <a:xfrm>
            <a:off x="7278688" y="4266565"/>
            <a:ext cx="1832610" cy="398780"/>
          </a:xfrm>
          <a:prstGeom prst="rect">
            <a:avLst/>
          </a:prstGeom>
          <a:noFill/>
          <a:ln w="9525" algn="ctr">
            <a:noFill/>
            <a:miter lim="800000"/>
          </a:ln>
          <a:effectLst/>
        </p:spPr>
        <p:txBody>
          <a:bodyPr wrap="none">
            <a:spAutoFit/>
          </a:bodyPr>
          <a:lstStyle/>
          <a:p>
            <a:pPr marR="0" defTabSz="914400">
              <a:buClrTx/>
              <a:buSzTx/>
              <a:buFontTx/>
              <a:buNone/>
              <a:defRPr/>
            </a:pPr>
            <a:r>
              <a:rPr kumimoji="1" lang="en-US" altLang="zh-CN" sz="2000" kern="1200" cap="none" spc="0" normalizeH="0" baseline="0" noProof="0">
                <a:effectLst>
                  <a:outerShdw blurRad="38100" dist="38100" dir="2700000" algn="tl">
                    <a:srgbClr val="FFFFFF"/>
                  </a:outerShdw>
                </a:effectLst>
                <a:latin typeface="Arial" panose="020B0604020202020204" pitchFamily="34" charset="0"/>
                <a:ea typeface="宋体" panose="02010600030101010101" pitchFamily="2" charset="-122"/>
                <a:cs typeface="+mn-cs"/>
              </a:rPr>
              <a:t>HeadB </a:t>
            </a:r>
            <a:r>
              <a:rPr kumimoji="1" lang="en-US" altLang="zh-CN" sz="2000" kern="1200" cap="none" spc="0" normalizeH="0" baseline="0" noProof="0">
                <a:effectLst>
                  <a:outerShdw blurRad="38100" dist="38100" dir="2700000" algn="tl">
                    <a:srgbClr val="FFFFFF"/>
                  </a:outerShdw>
                </a:effectLst>
                <a:latin typeface="Times New Roman" panose="02020603050405020304"/>
                <a:ea typeface="宋体" panose="02010600030101010101" pitchFamily="2" charset="-122"/>
                <a:cs typeface="+mn-cs"/>
              </a:rPr>
              <a:t>···</a:t>
            </a:r>
            <a:r>
              <a:rPr kumimoji="1" lang="en-US" altLang="zh-CN" sz="2000" kern="1200" cap="none" spc="0" normalizeH="0" baseline="0" noProof="0">
                <a:effectLst>
                  <a:outerShdw blurRad="38100" dist="38100" dir="2700000" algn="tl">
                    <a:srgbClr val="FFFFFF"/>
                  </a:outerShdw>
                </a:effectLst>
                <a:latin typeface="Arial" panose="020B0604020202020204" pitchFamily="34" charset="0"/>
                <a:ea typeface="宋体" panose="02010600030101010101" pitchFamily="2" charset="-122"/>
                <a:cs typeface="+mn-cs"/>
              </a:rPr>
              <a:t>TailB</a:t>
            </a:r>
            <a:endParaRPr kumimoji="1" lang="en-US" altLang="zh-CN" sz="2000" kern="1200" cap="none" spc="0" normalizeH="0" baseline="0" noProof="0">
              <a:effectLst>
                <a:outerShdw blurRad="38100" dist="38100" dir="2700000" algn="tl">
                  <a:srgbClr val="FFFFFF"/>
                </a:outerShdw>
              </a:effectLst>
              <a:latin typeface="Arial" panose="020B0604020202020204" pitchFamily="34" charset="0"/>
              <a:ea typeface="宋体" panose="02010600030101010101" pitchFamily="2" charset="-122"/>
              <a:cs typeface="+mn-cs"/>
            </a:endParaRPr>
          </a:p>
        </p:txBody>
      </p:sp>
      <p:sp>
        <p:nvSpPr>
          <p:cNvPr id="30732" name="Text Box 12"/>
          <p:cNvSpPr txBox="1"/>
          <p:nvPr/>
        </p:nvSpPr>
        <p:spPr>
          <a:xfrm>
            <a:off x="2957513" y="4914265"/>
            <a:ext cx="2200910" cy="706755"/>
          </a:xfrm>
          <a:prstGeom prst="rect">
            <a:avLst/>
          </a:prstGeom>
          <a:noFill/>
          <a:ln w="9525">
            <a:noFill/>
          </a:ln>
        </p:spPr>
        <p:txBody>
          <a:bodyPr wrap="none">
            <a:spAutoFit/>
          </a:bodyPr>
          <a:p>
            <a:r>
              <a:rPr lang="zh-CN" altLang="en-US" sz="2000" dirty="0">
                <a:latin typeface="Arial" panose="020B0604020202020204" pitchFamily="34" charset="0"/>
              </a:rPr>
              <a:t>发送容忍时间</a:t>
            </a:r>
            <a:r>
              <a:rPr lang="en-US" altLang="zh-CN" sz="2000" dirty="0">
                <a:latin typeface="Arial" panose="020B0604020202020204" pitchFamily="34" charset="0"/>
              </a:rPr>
              <a:t>TSA</a:t>
            </a:r>
            <a:endParaRPr lang="en-US" altLang="zh-CN" sz="2000" dirty="0">
              <a:latin typeface="Arial" panose="020B0604020202020204" pitchFamily="34" charset="0"/>
            </a:endParaRPr>
          </a:p>
          <a:p>
            <a:r>
              <a:rPr lang="zh-CN" altLang="en-US" sz="2000" dirty="0">
                <a:latin typeface="Arial" panose="020B0604020202020204" pitchFamily="34" charset="0"/>
              </a:rPr>
              <a:t>接收容忍时间</a:t>
            </a:r>
            <a:r>
              <a:rPr lang="en-US" altLang="zh-CN" sz="2000" dirty="0">
                <a:latin typeface="Arial" panose="020B0604020202020204" pitchFamily="34" charset="0"/>
              </a:rPr>
              <a:t>TTA</a:t>
            </a:r>
            <a:endParaRPr lang="en-US" altLang="zh-CN" sz="2000" dirty="0">
              <a:latin typeface="Arial" panose="020B0604020202020204" pitchFamily="34" charset="0"/>
            </a:endParaRPr>
          </a:p>
        </p:txBody>
      </p:sp>
      <p:sp>
        <p:nvSpPr>
          <p:cNvPr id="30733" name="Text Box 13"/>
          <p:cNvSpPr txBox="1"/>
          <p:nvPr/>
        </p:nvSpPr>
        <p:spPr>
          <a:xfrm>
            <a:off x="6845300" y="4914265"/>
            <a:ext cx="2200910" cy="706755"/>
          </a:xfrm>
          <a:prstGeom prst="rect">
            <a:avLst/>
          </a:prstGeom>
          <a:noFill/>
          <a:ln w="9525">
            <a:noFill/>
          </a:ln>
        </p:spPr>
        <p:txBody>
          <a:bodyPr wrap="none">
            <a:spAutoFit/>
          </a:bodyPr>
          <a:p>
            <a:r>
              <a:rPr lang="zh-CN" altLang="en-US" sz="2000" dirty="0">
                <a:latin typeface="Arial" panose="020B0604020202020204" pitchFamily="34" charset="0"/>
              </a:rPr>
              <a:t>发送容忍时间</a:t>
            </a:r>
            <a:r>
              <a:rPr lang="en-US" altLang="zh-CN" sz="2000" dirty="0">
                <a:latin typeface="Arial" panose="020B0604020202020204" pitchFamily="34" charset="0"/>
              </a:rPr>
              <a:t>TSB</a:t>
            </a:r>
            <a:endParaRPr lang="en-US" altLang="zh-CN" sz="2000" dirty="0">
              <a:latin typeface="Arial" panose="020B0604020202020204" pitchFamily="34" charset="0"/>
            </a:endParaRPr>
          </a:p>
          <a:p>
            <a:r>
              <a:rPr lang="zh-CN" altLang="en-US" sz="2000" dirty="0">
                <a:latin typeface="Arial" panose="020B0604020202020204" pitchFamily="34" charset="0"/>
              </a:rPr>
              <a:t>接收容忍时间</a:t>
            </a:r>
            <a:r>
              <a:rPr lang="en-US" altLang="zh-CN" sz="2000" dirty="0">
                <a:latin typeface="Arial" panose="020B0604020202020204" pitchFamily="34" charset="0"/>
              </a:rPr>
              <a:t>TTB</a:t>
            </a:r>
            <a:endParaRPr lang="en-US" altLang="zh-CN" sz="2000" dirty="0">
              <a:latin typeface="Arial" panose="020B0604020202020204" pitchFamily="34" charset="0"/>
            </a:endParaRPr>
          </a:p>
        </p:txBody>
      </p:sp>
      <p:sp>
        <p:nvSpPr>
          <p:cNvPr id="30734" name="Rectangle 14"/>
          <p:cNvSpPr>
            <a:spLocks noChangeArrowheads="1"/>
          </p:cNvSpPr>
          <p:nvPr/>
        </p:nvSpPr>
        <p:spPr bwMode="auto">
          <a:xfrm>
            <a:off x="2381250" y="1890078"/>
            <a:ext cx="7272338" cy="2808288"/>
          </a:xfrm>
          <a:prstGeom prst="rect">
            <a:avLst/>
          </a:prstGeom>
          <a:noFill/>
          <a:ln w="9525" algn="ctr">
            <a:solidFill>
              <a:schemeClr val="tx1"/>
            </a:solidFill>
            <a:prstDash val="lgDash"/>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8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endParaRPr>
          </a:p>
        </p:txBody>
      </p:sp>
      <p:sp>
        <p:nvSpPr>
          <p:cNvPr id="30735" name="Text Box 15"/>
          <p:cNvSpPr txBox="1"/>
          <p:nvPr/>
        </p:nvSpPr>
        <p:spPr>
          <a:xfrm>
            <a:off x="2381250" y="1890078"/>
            <a:ext cx="2325370" cy="460375"/>
          </a:xfrm>
          <a:prstGeom prst="rect">
            <a:avLst/>
          </a:prstGeom>
          <a:noFill/>
          <a:ln w="9525">
            <a:noFill/>
          </a:ln>
        </p:spPr>
        <p:txBody>
          <a:bodyPr wrap="none">
            <a:spAutoFit/>
          </a:bodyPr>
          <a:p>
            <a:r>
              <a:rPr lang="zh-CN" altLang="en-US" sz="2400" b="1" dirty="0">
                <a:solidFill>
                  <a:srgbClr val="CC3300"/>
                </a:solidFill>
                <a:latin typeface="Arial" panose="020B0604020202020204" pitchFamily="34" charset="0"/>
                <a:ea typeface="黑体" panose="02010609060101010101" pitchFamily="2" charset="-122"/>
              </a:rPr>
              <a:t>某并行通讯系统</a:t>
            </a:r>
            <a:endParaRPr lang="zh-CN" altLang="en-US" sz="2400" b="1" dirty="0">
              <a:solidFill>
                <a:srgbClr val="CC3300"/>
              </a:solidFill>
              <a:latin typeface="Arial" panose="020B0604020202020204" pitchFamily="34" charset="0"/>
              <a:ea typeface="黑体" panose="02010609060101010101" pitchFamily="2" charset="-122"/>
            </a:endParaRPr>
          </a:p>
        </p:txBody>
      </p:sp>
      <p:sp>
        <p:nvSpPr>
          <p:cNvPr id="30736" name="Line 16"/>
          <p:cNvSpPr/>
          <p:nvPr/>
        </p:nvSpPr>
        <p:spPr>
          <a:xfrm flipH="1">
            <a:off x="5045075" y="3617278"/>
            <a:ext cx="1871663" cy="0"/>
          </a:xfrm>
          <a:prstGeom prst="line">
            <a:avLst/>
          </a:prstGeom>
          <a:ln w="9525" cap="flat" cmpd="sng">
            <a:solidFill>
              <a:srgbClr val="FF3300"/>
            </a:solidFill>
            <a:prstDash val="solid"/>
            <a:headEnd type="none" w="med" len="med"/>
            <a:tailEnd type="triangle" w="lg" len="lg"/>
          </a:ln>
        </p:spPr>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0725"/>
                                        </p:tgtEl>
                                        <p:attrNameLst>
                                          <p:attrName>style.visibility</p:attrName>
                                        </p:attrNameLst>
                                      </p:cBhvr>
                                      <p:to>
                                        <p:strVal val="visible"/>
                                      </p:to>
                                    </p:set>
                                    <p:animEffect transition="in" filter="wipe(left)">
                                      <p:cBhvr>
                                        <p:cTn id="7" dur="1000"/>
                                        <p:tgtEl>
                                          <p:spTgt spid="30725"/>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0726"/>
                                        </p:tgtEl>
                                        <p:attrNameLst>
                                          <p:attrName>style.visibility</p:attrName>
                                        </p:attrNameLst>
                                      </p:cBhvr>
                                      <p:to>
                                        <p:strVal val="visible"/>
                                      </p:to>
                                    </p:set>
                                    <p:animEffect transition="in" filter="wipe(left)">
                                      <p:cBhvr>
                                        <p:cTn id="10" dur="1000"/>
                                        <p:tgtEl>
                                          <p:spTgt spid="30726"/>
                                        </p:tgtEl>
                                      </p:cBhvr>
                                    </p:animEffect>
                                  </p:childTnLst>
                                </p:cTn>
                              </p:par>
                            </p:childTnLst>
                          </p:cTn>
                        </p:par>
                      </p:childTnLst>
                    </p:cTn>
                  </p:par>
                  <p:par>
                    <p:cTn id="11" fill="hold">
                      <p:stCondLst>
                        <p:cond delay="indefinite"/>
                      </p:stCondLst>
                      <p:childTnLst>
                        <p:par>
                          <p:cTn id="12" fill="hold">
                            <p:stCondLst>
                              <p:cond delay="0"/>
                            </p:stCondLst>
                            <p:childTnLst>
                              <p:par>
                                <p:cTn id="13" presetID="4" presetClass="entr" presetSubtype="16" fill="hold" nodeType="clickEffect">
                                  <p:stCondLst>
                                    <p:cond delay="0"/>
                                  </p:stCondLst>
                                  <p:childTnLst>
                                    <p:set>
                                      <p:cBhvr>
                                        <p:cTn id="14" dur="1" fill="hold">
                                          <p:stCondLst>
                                            <p:cond delay="0"/>
                                          </p:stCondLst>
                                        </p:cTn>
                                        <p:tgtEl>
                                          <p:spTgt spid="30728"/>
                                        </p:tgtEl>
                                        <p:attrNameLst>
                                          <p:attrName>style.visibility</p:attrName>
                                        </p:attrNameLst>
                                      </p:cBhvr>
                                      <p:to>
                                        <p:strVal val="visible"/>
                                      </p:to>
                                    </p:set>
                                    <p:animEffect transition="in" filter="box(in)">
                                      <p:cBhvr>
                                        <p:cTn id="15" dur="1000"/>
                                        <p:tgtEl>
                                          <p:spTgt spid="30728"/>
                                        </p:tgtEl>
                                      </p:cBhvr>
                                    </p:animEffect>
                                  </p:childTnLst>
                                </p:cTn>
                              </p:par>
                              <p:par>
                                <p:cTn id="16" presetID="4" presetClass="entr" presetSubtype="16" fill="hold" nodeType="withEffect">
                                  <p:stCondLst>
                                    <p:cond delay="0"/>
                                  </p:stCondLst>
                                  <p:childTnLst>
                                    <p:set>
                                      <p:cBhvr>
                                        <p:cTn id="17" dur="1" fill="hold">
                                          <p:stCondLst>
                                            <p:cond delay="0"/>
                                          </p:stCondLst>
                                        </p:cTn>
                                        <p:tgtEl>
                                          <p:spTgt spid="30727"/>
                                        </p:tgtEl>
                                        <p:attrNameLst>
                                          <p:attrName>style.visibility</p:attrName>
                                        </p:attrNameLst>
                                      </p:cBhvr>
                                      <p:to>
                                        <p:strVal val="visible"/>
                                      </p:to>
                                    </p:set>
                                    <p:animEffect transition="in" filter="box(in)">
                                      <p:cBhvr>
                                        <p:cTn id="18" dur="1000"/>
                                        <p:tgtEl>
                                          <p:spTgt spid="30727"/>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2" fill="hold" nodeType="clickEffect">
                                  <p:stCondLst>
                                    <p:cond delay="0"/>
                                  </p:stCondLst>
                                  <p:childTnLst>
                                    <p:set>
                                      <p:cBhvr>
                                        <p:cTn id="22" dur="1" fill="hold">
                                          <p:stCondLst>
                                            <p:cond delay="0"/>
                                          </p:stCondLst>
                                        </p:cTn>
                                        <p:tgtEl>
                                          <p:spTgt spid="30736"/>
                                        </p:tgtEl>
                                        <p:attrNameLst>
                                          <p:attrName>style.visibility</p:attrName>
                                        </p:attrNameLst>
                                      </p:cBhvr>
                                      <p:to>
                                        <p:strVal val="visible"/>
                                      </p:to>
                                    </p:set>
                                    <p:animEffect transition="in" filter="wipe(right)">
                                      <p:cBhvr>
                                        <p:cTn id="23" dur="1000"/>
                                        <p:tgtEl>
                                          <p:spTgt spid="30736"/>
                                        </p:tgtEl>
                                      </p:cBhvr>
                                    </p:animEffect>
                                  </p:childTnLst>
                                </p:cTn>
                              </p:par>
                              <p:par>
                                <p:cTn id="24" presetID="22" presetClass="entr" presetSubtype="2" fill="hold" grpId="0" nodeType="withEffect">
                                  <p:stCondLst>
                                    <p:cond delay="0"/>
                                  </p:stCondLst>
                                  <p:childTnLst>
                                    <p:set>
                                      <p:cBhvr>
                                        <p:cTn id="25" dur="1" fill="hold">
                                          <p:stCondLst>
                                            <p:cond delay="0"/>
                                          </p:stCondLst>
                                        </p:cTn>
                                        <p:tgtEl>
                                          <p:spTgt spid="30729"/>
                                        </p:tgtEl>
                                        <p:attrNameLst>
                                          <p:attrName>style.visibility</p:attrName>
                                        </p:attrNameLst>
                                      </p:cBhvr>
                                      <p:to>
                                        <p:strVal val="visible"/>
                                      </p:to>
                                    </p:set>
                                    <p:animEffect transition="in" filter="wipe(right)">
                                      <p:cBhvr>
                                        <p:cTn id="26" dur="1000"/>
                                        <p:tgtEl>
                                          <p:spTgt spid="30729"/>
                                        </p:tgtEl>
                                      </p:cBhvr>
                                    </p:animEffect>
                                  </p:childTnLst>
                                </p:cTn>
                              </p:par>
                            </p:childTnLst>
                          </p:cTn>
                        </p:par>
                      </p:childTnLst>
                    </p:cTn>
                  </p:par>
                  <p:par>
                    <p:cTn id="27" fill="hold">
                      <p:stCondLst>
                        <p:cond delay="indefinite"/>
                      </p:stCondLst>
                      <p:childTnLst>
                        <p:par>
                          <p:cTn id="28" fill="hold">
                            <p:stCondLst>
                              <p:cond delay="0"/>
                            </p:stCondLst>
                            <p:childTnLst>
                              <p:par>
                                <p:cTn id="29" presetID="4" presetClass="entr" presetSubtype="16" fill="hold" nodeType="clickEffect">
                                  <p:stCondLst>
                                    <p:cond delay="0"/>
                                  </p:stCondLst>
                                  <p:childTnLst>
                                    <p:set>
                                      <p:cBhvr>
                                        <p:cTn id="30" dur="1" fill="hold">
                                          <p:stCondLst>
                                            <p:cond delay="0"/>
                                          </p:stCondLst>
                                        </p:cTn>
                                        <p:tgtEl>
                                          <p:spTgt spid="30730"/>
                                        </p:tgtEl>
                                        <p:attrNameLst>
                                          <p:attrName>style.visibility</p:attrName>
                                        </p:attrNameLst>
                                      </p:cBhvr>
                                      <p:to>
                                        <p:strVal val="visible"/>
                                      </p:to>
                                    </p:set>
                                    <p:animEffect transition="in" filter="box(in)">
                                      <p:cBhvr>
                                        <p:cTn id="31" dur="1000"/>
                                        <p:tgtEl>
                                          <p:spTgt spid="30730"/>
                                        </p:tgtEl>
                                      </p:cBhvr>
                                    </p:animEffect>
                                  </p:childTnLst>
                                </p:cTn>
                              </p:par>
                              <p:par>
                                <p:cTn id="32" presetID="4" presetClass="entr" presetSubtype="16" fill="hold" grpId="0" nodeType="withEffect">
                                  <p:stCondLst>
                                    <p:cond delay="0"/>
                                  </p:stCondLst>
                                  <p:childTnLst>
                                    <p:set>
                                      <p:cBhvr>
                                        <p:cTn id="33" dur="1" fill="hold">
                                          <p:stCondLst>
                                            <p:cond delay="0"/>
                                          </p:stCondLst>
                                        </p:cTn>
                                        <p:tgtEl>
                                          <p:spTgt spid="30731"/>
                                        </p:tgtEl>
                                        <p:attrNameLst>
                                          <p:attrName>style.visibility</p:attrName>
                                        </p:attrNameLst>
                                      </p:cBhvr>
                                      <p:to>
                                        <p:strVal val="visible"/>
                                      </p:to>
                                    </p:set>
                                    <p:animEffect transition="in" filter="box(in)">
                                      <p:cBhvr>
                                        <p:cTn id="34" dur="1000"/>
                                        <p:tgtEl>
                                          <p:spTgt spid="30731"/>
                                        </p:tgtEl>
                                      </p:cBhvr>
                                    </p:animEffect>
                                  </p:childTnLst>
                                </p:cTn>
                              </p:par>
                            </p:childTnLst>
                          </p:cTn>
                        </p:par>
                      </p:childTnLst>
                    </p:cTn>
                  </p:par>
                  <p:par>
                    <p:cTn id="35" fill="hold">
                      <p:stCondLst>
                        <p:cond delay="indefinite"/>
                      </p:stCondLst>
                      <p:childTnLst>
                        <p:par>
                          <p:cTn id="36" fill="hold">
                            <p:stCondLst>
                              <p:cond delay="0"/>
                            </p:stCondLst>
                            <p:childTnLst>
                              <p:par>
                                <p:cTn id="37" presetID="3" presetClass="entr" presetSubtype="10" fill="hold" grpId="0" nodeType="clickEffect">
                                  <p:stCondLst>
                                    <p:cond delay="0"/>
                                  </p:stCondLst>
                                  <p:childTnLst>
                                    <p:set>
                                      <p:cBhvr>
                                        <p:cTn id="38" dur="1" fill="hold">
                                          <p:stCondLst>
                                            <p:cond delay="0"/>
                                          </p:stCondLst>
                                        </p:cTn>
                                        <p:tgtEl>
                                          <p:spTgt spid="30732"/>
                                        </p:tgtEl>
                                        <p:attrNameLst>
                                          <p:attrName>style.visibility</p:attrName>
                                        </p:attrNameLst>
                                      </p:cBhvr>
                                      <p:to>
                                        <p:strVal val="visible"/>
                                      </p:to>
                                    </p:set>
                                    <p:animEffect transition="in" filter="blinds(horizontal)">
                                      <p:cBhvr>
                                        <p:cTn id="39" dur="500"/>
                                        <p:tgtEl>
                                          <p:spTgt spid="30732"/>
                                        </p:tgtEl>
                                      </p:cBhvr>
                                    </p:animEffect>
                                  </p:childTnLst>
                                </p:cTn>
                              </p:par>
                              <p:par>
                                <p:cTn id="40" presetID="3" presetClass="entr" presetSubtype="10" fill="hold" grpId="0" nodeType="withEffect">
                                  <p:stCondLst>
                                    <p:cond delay="0"/>
                                  </p:stCondLst>
                                  <p:childTnLst>
                                    <p:set>
                                      <p:cBhvr>
                                        <p:cTn id="41" dur="1" fill="hold">
                                          <p:stCondLst>
                                            <p:cond delay="0"/>
                                          </p:stCondLst>
                                        </p:cTn>
                                        <p:tgtEl>
                                          <p:spTgt spid="30733"/>
                                        </p:tgtEl>
                                        <p:attrNameLst>
                                          <p:attrName>style.visibility</p:attrName>
                                        </p:attrNameLst>
                                      </p:cBhvr>
                                      <p:to>
                                        <p:strVal val="visible"/>
                                      </p:to>
                                    </p:set>
                                    <p:animEffect transition="in" filter="blinds(horizontal)">
                                      <p:cBhvr>
                                        <p:cTn id="42" dur="500"/>
                                        <p:tgtEl>
                                          <p:spTgt spid="30733"/>
                                        </p:tgtEl>
                                      </p:cBhvr>
                                    </p:animEffect>
                                  </p:childTnLst>
                                </p:cTn>
                              </p:par>
                            </p:childTnLst>
                          </p:cTn>
                        </p:par>
                      </p:childTnLst>
                    </p:cTn>
                  </p:par>
                  <p:par>
                    <p:cTn id="43" fill="hold">
                      <p:stCondLst>
                        <p:cond delay="indefinite"/>
                      </p:stCondLst>
                      <p:childTnLst>
                        <p:par>
                          <p:cTn id="44" fill="hold">
                            <p:stCondLst>
                              <p:cond delay="0"/>
                            </p:stCondLst>
                            <p:childTnLst>
                              <p:par>
                                <p:cTn id="45" presetID="5" presetClass="entr" presetSubtype="10" fill="hold" grpId="0" nodeType="clickEffect">
                                  <p:stCondLst>
                                    <p:cond delay="0"/>
                                  </p:stCondLst>
                                  <p:childTnLst>
                                    <p:set>
                                      <p:cBhvr>
                                        <p:cTn id="46" dur="1" fill="hold">
                                          <p:stCondLst>
                                            <p:cond delay="0"/>
                                          </p:stCondLst>
                                        </p:cTn>
                                        <p:tgtEl>
                                          <p:spTgt spid="30735"/>
                                        </p:tgtEl>
                                        <p:attrNameLst>
                                          <p:attrName>style.visibility</p:attrName>
                                        </p:attrNameLst>
                                      </p:cBhvr>
                                      <p:to>
                                        <p:strVal val="visible"/>
                                      </p:to>
                                    </p:set>
                                    <p:animEffect transition="in" filter="checkerboard(across)">
                                      <p:cBhvr>
                                        <p:cTn id="47" dur="500"/>
                                        <p:tgtEl>
                                          <p:spTgt spid="30735"/>
                                        </p:tgtEl>
                                      </p:cBhvr>
                                    </p:animEffect>
                                  </p:childTnLst>
                                </p:cTn>
                              </p:par>
                              <p:par>
                                <p:cTn id="48" presetID="5" presetClass="entr" presetSubtype="10" fill="hold" grpId="0" nodeType="withEffect">
                                  <p:stCondLst>
                                    <p:cond delay="0"/>
                                  </p:stCondLst>
                                  <p:childTnLst>
                                    <p:set>
                                      <p:cBhvr>
                                        <p:cTn id="49" dur="1" fill="hold">
                                          <p:stCondLst>
                                            <p:cond delay="0"/>
                                          </p:stCondLst>
                                        </p:cTn>
                                        <p:tgtEl>
                                          <p:spTgt spid="30734"/>
                                        </p:tgtEl>
                                        <p:attrNameLst>
                                          <p:attrName>style.visibility</p:attrName>
                                        </p:attrNameLst>
                                      </p:cBhvr>
                                      <p:to>
                                        <p:strVal val="visible"/>
                                      </p:to>
                                    </p:set>
                                    <p:animEffect transition="in" filter="checkerboard(across)">
                                      <p:cBhvr>
                                        <p:cTn id="50" dur="500"/>
                                        <p:tgtEl>
                                          <p:spTgt spid="307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6" grpId="0" bldLvl="0" animBg="1"/>
      <p:bldP spid="30729" grpId="0" bldLvl="0" animBg="1"/>
      <p:bldP spid="30731" grpId="0" bldLvl="0" animBg="1"/>
      <p:bldP spid="30732" grpId="0"/>
      <p:bldP spid="30733" grpId="0"/>
      <p:bldP spid="30734" grpId="0" bldLvl="0" animBg="1"/>
      <p:bldP spid="30735"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7826" name="Rectangle 2"/>
          <p:cNvSpPr>
            <a:spLocks noGrp="1"/>
          </p:cNvSpPr>
          <p:nvPr>
            <p:ph type="title"/>
          </p:nvPr>
        </p:nvSpPr>
        <p:spPr/>
        <p:txBody>
          <a:bodyPr vert="horz" wrap="square" lIns="91440" tIns="45720" rIns="91440" bIns="45720" anchor="ctr" anchorCtr="0"/>
          <a:p>
            <a:pPr algn="l">
              <a:buClrTx/>
              <a:buSzTx/>
              <a:buFontTx/>
            </a:pPr>
            <a:r>
              <a:rPr lang="zh-CN" altLang="en-US" dirty="0" smtClean="0">
                <a:solidFill>
                  <a:srgbClr val="C00000"/>
                </a:solidFill>
              </a:rPr>
              <a:t>SFMEA实例</a:t>
            </a:r>
            <a:r>
              <a:rPr lang="zh-CN" altLang="en-US" sz="4400" dirty="0" smtClean="0">
                <a:solidFill>
                  <a:srgbClr val="C00000"/>
                </a:solidFill>
              </a:rPr>
              <a:t>（4/5）</a:t>
            </a:r>
            <a:endParaRPr lang="zh-CN" altLang="en-US" sz="4400" dirty="0" smtClean="0">
              <a:solidFill>
                <a:srgbClr val="C00000"/>
              </a:solidFill>
            </a:endParaRPr>
          </a:p>
        </p:txBody>
      </p:sp>
      <p:sp>
        <p:nvSpPr>
          <p:cNvPr id="31747" name="Text Box 3"/>
          <p:cNvSpPr txBox="1">
            <a:spLocks noChangeArrowheads="1"/>
          </p:cNvSpPr>
          <p:nvPr/>
        </p:nvSpPr>
        <p:spPr bwMode="auto">
          <a:xfrm>
            <a:off x="4079875" y="1640205"/>
            <a:ext cx="2663825" cy="583565"/>
          </a:xfrm>
          <a:prstGeom prst="rect">
            <a:avLst/>
          </a:prstGeom>
          <a:noFill/>
          <a:ln w="9525" algn="ctr">
            <a:noFill/>
            <a:miter lim="800000"/>
          </a:ln>
          <a:effectLst/>
        </p:spPr>
        <p:txBody>
          <a:bodyPr>
            <a:spAutoFit/>
          </a:bodyPr>
          <a:lstStyle/>
          <a:p>
            <a:pPr marR="0" defTabSz="914400">
              <a:buClrTx/>
              <a:buSzTx/>
              <a:buFontTx/>
              <a:buNone/>
              <a:defRPr/>
            </a:pPr>
            <a:r>
              <a:rPr kumimoji="1" lang="en-US" altLang="zh-CN" sz="3200" b="1" kern="1200" cap="none" spc="0" normalizeH="0" baseline="0" noProof="0">
                <a:solidFill>
                  <a:srgbClr val="FF3300"/>
                </a:solidFill>
                <a:effectLst>
                  <a:outerShdw blurRad="38100" dist="38100" dir="2700000" algn="tl">
                    <a:srgbClr val="000000"/>
                  </a:outerShdw>
                </a:effectLst>
                <a:latin typeface="Arial" panose="020B0604020202020204" pitchFamily="34" charset="0"/>
                <a:ea typeface="宋体" panose="02010600030101010101" pitchFamily="2" charset="-122"/>
                <a:cs typeface="+mn-cs"/>
              </a:rPr>
              <a:t>A</a:t>
            </a:r>
            <a:r>
              <a:rPr kumimoji="1" lang="zh-CN" altLang="en-US" sz="3200" b="1" kern="1200" cap="none" spc="0" normalizeH="0" baseline="0" noProof="0">
                <a:solidFill>
                  <a:srgbClr val="FF3300"/>
                </a:solidFill>
                <a:effectLst>
                  <a:outerShdw blurRad="38100" dist="38100" dir="2700000" algn="tl">
                    <a:srgbClr val="000000"/>
                  </a:outerShdw>
                </a:effectLst>
                <a:latin typeface="Arial" panose="020B0604020202020204" pitchFamily="34" charset="0"/>
                <a:ea typeface="宋体" panose="02010600030101010101" pitchFamily="2" charset="-122"/>
                <a:cs typeface="+mn-cs"/>
              </a:rPr>
              <a:t>的失效模式</a:t>
            </a:r>
            <a:endParaRPr kumimoji="1" lang="zh-CN" altLang="en-US" sz="3200" b="1" kern="1200" cap="none" spc="0" normalizeH="0" baseline="0" noProof="0">
              <a:solidFill>
                <a:srgbClr val="FF3300"/>
              </a:solidFill>
              <a:effectLst>
                <a:outerShdw blurRad="38100" dist="38100" dir="2700000" algn="tl">
                  <a:srgbClr val="000000"/>
                </a:outerShdw>
              </a:effectLst>
              <a:latin typeface="Arial" panose="020B0604020202020204" pitchFamily="34" charset="0"/>
              <a:ea typeface="宋体" panose="02010600030101010101" pitchFamily="2" charset="-122"/>
              <a:cs typeface="+mn-cs"/>
            </a:endParaRPr>
          </a:p>
        </p:txBody>
      </p:sp>
      <p:sp>
        <p:nvSpPr>
          <p:cNvPr id="31748" name="Rectangle 4"/>
          <p:cNvSpPr>
            <a:spLocks noChangeArrowheads="1"/>
          </p:cNvSpPr>
          <p:nvPr/>
        </p:nvSpPr>
        <p:spPr bwMode="auto">
          <a:xfrm>
            <a:off x="3070225" y="2265680"/>
            <a:ext cx="895350" cy="1568450"/>
          </a:xfrm>
          <a:prstGeom prst="rect">
            <a:avLst/>
          </a:prstGeom>
          <a:noFill/>
          <a:ln w="9525" algn="ctr">
            <a:noFill/>
            <a:miter lim="800000"/>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96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rPr>
              <a:t>｛</a:t>
            </a:r>
            <a:endParaRPr kumimoji="1" lang="zh-CN" altLang="en-US" sz="96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endParaRPr>
          </a:p>
        </p:txBody>
      </p:sp>
      <p:sp>
        <p:nvSpPr>
          <p:cNvPr id="31749" name="Text Box 5"/>
          <p:cNvSpPr txBox="1"/>
          <p:nvPr/>
        </p:nvSpPr>
        <p:spPr>
          <a:xfrm>
            <a:off x="1917700" y="2840355"/>
            <a:ext cx="1714500" cy="398780"/>
          </a:xfrm>
          <a:prstGeom prst="rect">
            <a:avLst/>
          </a:prstGeom>
          <a:noFill/>
          <a:ln w="9525">
            <a:noFill/>
          </a:ln>
        </p:spPr>
        <p:txBody>
          <a:bodyPr wrap="none">
            <a:spAutoFit/>
          </a:bodyPr>
          <a:p>
            <a:pPr algn="ctr"/>
            <a:r>
              <a:rPr lang="zh-CN" altLang="en-US" sz="2000" b="1" dirty="0">
                <a:solidFill>
                  <a:srgbClr val="CC3300"/>
                </a:solidFill>
                <a:latin typeface="Arial" panose="020B0604020202020204" pitchFamily="34" charset="0"/>
              </a:rPr>
              <a:t>通讯时间异常</a:t>
            </a:r>
            <a:endParaRPr lang="zh-CN" altLang="en-US" sz="2000" b="1" dirty="0">
              <a:solidFill>
                <a:srgbClr val="CC3300"/>
              </a:solidFill>
              <a:latin typeface="Arial" panose="020B0604020202020204" pitchFamily="34" charset="0"/>
            </a:endParaRPr>
          </a:p>
        </p:txBody>
      </p:sp>
      <p:sp>
        <p:nvSpPr>
          <p:cNvPr id="31750" name="Rectangle 6"/>
          <p:cNvSpPr>
            <a:spLocks noChangeArrowheads="1"/>
          </p:cNvSpPr>
          <p:nvPr/>
        </p:nvSpPr>
        <p:spPr bwMode="auto">
          <a:xfrm>
            <a:off x="3071813" y="4281805"/>
            <a:ext cx="1402080" cy="1568450"/>
          </a:xfrm>
          <a:prstGeom prst="rect">
            <a:avLst/>
          </a:prstGeom>
          <a:noFill/>
          <a:ln w="9525" algn="ctr">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96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rPr>
              <a:t>｛</a:t>
            </a:r>
            <a:endParaRPr kumimoji="1" lang="zh-CN" altLang="en-US" sz="9600" b="0"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endParaRPr>
          </a:p>
        </p:txBody>
      </p:sp>
      <p:sp>
        <p:nvSpPr>
          <p:cNvPr id="31751" name="Text Box 7"/>
          <p:cNvSpPr txBox="1"/>
          <p:nvPr/>
        </p:nvSpPr>
        <p:spPr>
          <a:xfrm>
            <a:off x="1992313" y="4856480"/>
            <a:ext cx="1871662" cy="398780"/>
          </a:xfrm>
          <a:prstGeom prst="rect">
            <a:avLst/>
          </a:prstGeom>
          <a:noFill/>
          <a:ln w="9525">
            <a:noFill/>
          </a:ln>
        </p:spPr>
        <p:txBody>
          <a:bodyPr>
            <a:spAutoFit/>
          </a:bodyPr>
          <a:p>
            <a:r>
              <a:rPr lang="zh-CN" altLang="en-US" sz="2000" dirty="0">
                <a:solidFill>
                  <a:srgbClr val="CC3300"/>
                </a:solidFill>
                <a:latin typeface="Arial" panose="020B0604020202020204" pitchFamily="34" charset="0"/>
              </a:rPr>
              <a:t>通讯数据异常</a:t>
            </a:r>
            <a:endParaRPr lang="zh-CN" altLang="en-US" sz="2000" dirty="0">
              <a:solidFill>
                <a:srgbClr val="CC3300"/>
              </a:solidFill>
              <a:latin typeface="Arial" panose="020B0604020202020204" pitchFamily="34" charset="0"/>
            </a:endParaRPr>
          </a:p>
        </p:txBody>
      </p:sp>
      <p:sp>
        <p:nvSpPr>
          <p:cNvPr id="31752" name="Text Box 8"/>
          <p:cNvSpPr txBox="1">
            <a:spLocks noChangeArrowheads="1"/>
          </p:cNvSpPr>
          <p:nvPr/>
        </p:nvSpPr>
        <p:spPr bwMode="auto">
          <a:xfrm>
            <a:off x="4222750" y="2389505"/>
            <a:ext cx="3470275" cy="460375"/>
          </a:xfrm>
          <a:prstGeom prst="rect">
            <a:avLst/>
          </a:prstGeom>
          <a:noFill/>
          <a:ln w="9525" algn="ctr">
            <a:noFill/>
            <a:miter lim="800000"/>
          </a:ln>
          <a:effectLst/>
        </p:spPr>
        <p:txBody>
          <a:bodyPr wrap="none">
            <a:spAutoFit/>
          </a:bodyPr>
          <a:lstStyle/>
          <a:p>
            <a:pPr marR="0" defTabSz="914400">
              <a:buClrTx/>
              <a:buSzTx/>
              <a:buFont typeface="Wingdings" panose="05000000000000000000" pitchFamily="2" charset="2"/>
              <a:buChar char="ü"/>
              <a:defRPr/>
            </a:pPr>
            <a:r>
              <a:rPr kumimoji="1" lang="zh-CN" altLang="en-US" sz="2400" kern="1200" cap="none" spc="0" normalizeH="0" baseline="0" noProof="0">
                <a:effectLst>
                  <a:outerShdw blurRad="38100" dist="38100" dir="2700000" algn="tl">
                    <a:srgbClr val="FFFFFF"/>
                  </a:outerShdw>
                </a:effectLst>
                <a:latin typeface="Arial" panose="020B0604020202020204" pitchFamily="34" charset="0"/>
                <a:ea typeface="宋体" panose="02010600030101010101" pitchFamily="2" charset="-122"/>
                <a:cs typeface="+mn-cs"/>
              </a:rPr>
              <a:t>无法按时进入通讯中断</a:t>
            </a:r>
            <a:endParaRPr kumimoji="1" lang="zh-CN" altLang="en-US" sz="2400" kern="1200" cap="none" spc="0" normalizeH="0" baseline="0" noProof="0">
              <a:effectLst>
                <a:outerShdw blurRad="38100" dist="38100" dir="2700000" algn="tl">
                  <a:srgbClr val="FFFFFF"/>
                </a:outerShdw>
              </a:effectLst>
              <a:latin typeface="Arial" panose="020B0604020202020204" pitchFamily="34" charset="0"/>
              <a:ea typeface="宋体" panose="02010600030101010101" pitchFamily="2" charset="-122"/>
              <a:cs typeface="+mn-cs"/>
            </a:endParaRPr>
          </a:p>
        </p:txBody>
      </p:sp>
      <p:sp>
        <p:nvSpPr>
          <p:cNvPr id="31753" name="Text Box 9"/>
          <p:cNvSpPr txBox="1">
            <a:spLocks noChangeArrowheads="1"/>
          </p:cNvSpPr>
          <p:nvPr/>
        </p:nvSpPr>
        <p:spPr bwMode="auto">
          <a:xfrm>
            <a:off x="4222750" y="3400743"/>
            <a:ext cx="5487035" cy="460375"/>
          </a:xfrm>
          <a:prstGeom prst="rect">
            <a:avLst/>
          </a:prstGeom>
          <a:noFill/>
          <a:ln w="9525" algn="ctr">
            <a:noFill/>
            <a:miter lim="800000"/>
          </a:ln>
          <a:effectLst/>
        </p:spPr>
        <p:txBody>
          <a:bodyPr wrap="none">
            <a:spAutoFit/>
          </a:bodyPr>
          <a:lstStyle/>
          <a:p>
            <a:pPr marR="0" defTabSz="914400">
              <a:buClrTx/>
              <a:buSzTx/>
              <a:buFont typeface="Wingdings" panose="05000000000000000000" pitchFamily="2" charset="2"/>
              <a:buChar char="ü"/>
              <a:defRPr/>
            </a:pPr>
            <a:r>
              <a:rPr kumimoji="1" lang="zh-CN" altLang="en-US" sz="2400" kern="1200" cap="none" spc="0" normalizeH="0" baseline="0" noProof="0">
                <a:effectLst>
                  <a:outerShdw blurRad="38100" dist="38100" dir="2700000" algn="tl">
                    <a:srgbClr val="FFFFFF"/>
                  </a:outerShdw>
                </a:effectLst>
                <a:latin typeface="Arial" panose="020B0604020202020204" pitchFamily="34" charset="0"/>
                <a:ea typeface="宋体" panose="02010600030101010101" pitchFamily="2" charset="-122"/>
                <a:cs typeface="+mn-cs"/>
              </a:rPr>
              <a:t>规定的时间不能完成接收，即</a:t>
            </a:r>
            <a:r>
              <a:rPr kumimoji="1" lang="en-US" altLang="zh-CN" sz="2400" kern="1200" cap="none" spc="0" normalizeH="0" baseline="0" noProof="0">
                <a:effectLst>
                  <a:outerShdw blurRad="38100" dist="38100" dir="2700000" algn="tl">
                    <a:srgbClr val="FFFFFF"/>
                  </a:outerShdw>
                </a:effectLst>
                <a:latin typeface="Arial" panose="020B0604020202020204" pitchFamily="34" charset="0"/>
                <a:ea typeface="宋体" panose="02010600030101010101" pitchFamily="2" charset="-122"/>
                <a:cs typeface="+mn-cs"/>
              </a:rPr>
              <a:t>TT&gt;TTA</a:t>
            </a:r>
            <a:endParaRPr kumimoji="1" lang="en-US" altLang="zh-CN" sz="2400" kern="1200" cap="none" spc="0" normalizeH="0" baseline="0" noProof="0">
              <a:effectLst>
                <a:outerShdw blurRad="38100" dist="38100" dir="2700000" algn="tl">
                  <a:srgbClr val="FFFFFF"/>
                </a:outerShdw>
              </a:effectLst>
              <a:latin typeface="Arial" panose="020B0604020202020204" pitchFamily="34" charset="0"/>
              <a:ea typeface="宋体" panose="02010600030101010101" pitchFamily="2" charset="-122"/>
              <a:cs typeface="+mn-cs"/>
            </a:endParaRPr>
          </a:p>
        </p:txBody>
      </p:sp>
      <p:sp>
        <p:nvSpPr>
          <p:cNvPr id="31754" name="Text Box 10"/>
          <p:cNvSpPr txBox="1">
            <a:spLocks noChangeArrowheads="1"/>
          </p:cNvSpPr>
          <p:nvPr/>
        </p:nvSpPr>
        <p:spPr bwMode="auto">
          <a:xfrm>
            <a:off x="4222750" y="2891155"/>
            <a:ext cx="5544185" cy="460375"/>
          </a:xfrm>
          <a:prstGeom prst="rect">
            <a:avLst/>
          </a:prstGeom>
          <a:noFill/>
          <a:ln w="9525" algn="ctr">
            <a:noFill/>
            <a:miter lim="800000"/>
          </a:ln>
          <a:effectLst/>
        </p:spPr>
        <p:txBody>
          <a:bodyPr wrap="none">
            <a:spAutoFit/>
          </a:bodyPr>
          <a:lstStyle/>
          <a:p>
            <a:pPr marR="0" defTabSz="914400">
              <a:buClrTx/>
              <a:buSzTx/>
              <a:buFont typeface="Wingdings" panose="05000000000000000000" pitchFamily="2" charset="2"/>
              <a:buChar char="ü"/>
              <a:defRPr/>
            </a:pPr>
            <a:r>
              <a:rPr kumimoji="1" lang="zh-CN" altLang="en-US" sz="2400" kern="1200" cap="none" spc="0" normalizeH="0" baseline="0" noProof="0">
                <a:effectLst>
                  <a:outerShdw blurRad="38100" dist="38100" dir="2700000" algn="tl">
                    <a:srgbClr val="FFFFFF"/>
                  </a:outerShdw>
                </a:effectLst>
                <a:latin typeface="Arial" panose="020B0604020202020204" pitchFamily="34" charset="0"/>
                <a:ea typeface="宋体" panose="02010600030101010101" pitchFamily="2" charset="-122"/>
                <a:cs typeface="+mn-cs"/>
              </a:rPr>
              <a:t>规定的时间不能完成发送，即</a:t>
            </a:r>
            <a:r>
              <a:rPr kumimoji="1" lang="en-US" altLang="zh-CN" sz="2400" kern="1200" cap="none" spc="0" normalizeH="0" baseline="0" noProof="0">
                <a:effectLst>
                  <a:outerShdw blurRad="38100" dist="38100" dir="2700000" algn="tl">
                    <a:srgbClr val="FFFFFF"/>
                  </a:outerShdw>
                </a:effectLst>
                <a:latin typeface="Arial" panose="020B0604020202020204" pitchFamily="34" charset="0"/>
                <a:ea typeface="宋体" panose="02010600030101010101" pitchFamily="2" charset="-122"/>
                <a:cs typeface="+mn-cs"/>
              </a:rPr>
              <a:t>TS&gt;TSA</a:t>
            </a:r>
            <a:endParaRPr kumimoji="1" lang="en-US" altLang="zh-CN" sz="2400" kern="1200" cap="none" spc="0" normalizeH="0" baseline="0" noProof="0">
              <a:effectLst>
                <a:outerShdw blurRad="38100" dist="38100" dir="2700000" algn="tl">
                  <a:srgbClr val="FFFFFF"/>
                </a:outerShdw>
              </a:effectLst>
              <a:latin typeface="Arial" panose="020B0604020202020204" pitchFamily="34" charset="0"/>
              <a:ea typeface="宋体" panose="02010600030101010101" pitchFamily="2" charset="-122"/>
              <a:cs typeface="+mn-cs"/>
            </a:endParaRPr>
          </a:p>
        </p:txBody>
      </p:sp>
      <p:sp>
        <p:nvSpPr>
          <p:cNvPr id="31755" name="Text Box 11"/>
          <p:cNvSpPr txBox="1">
            <a:spLocks noChangeArrowheads="1"/>
          </p:cNvSpPr>
          <p:nvPr/>
        </p:nvSpPr>
        <p:spPr bwMode="auto">
          <a:xfrm>
            <a:off x="4224338" y="4532630"/>
            <a:ext cx="1659255" cy="460375"/>
          </a:xfrm>
          <a:prstGeom prst="rect">
            <a:avLst/>
          </a:prstGeom>
          <a:noFill/>
          <a:ln w="9525" algn="ctr">
            <a:noFill/>
            <a:miter lim="800000"/>
          </a:ln>
          <a:effectLst/>
        </p:spPr>
        <p:txBody>
          <a:bodyPr wrap="none">
            <a:spAutoFit/>
          </a:bodyPr>
          <a:lstStyle/>
          <a:p>
            <a:pPr marR="0" defTabSz="914400">
              <a:buClrTx/>
              <a:buSzTx/>
              <a:buFont typeface="Wingdings" panose="05000000000000000000" pitchFamily="2" charset="2"/>
              <a:buChar char="ü"/>
              <a:defRPr/>
            </a:pPr>
            <a:r>
              <a:rPr kumimoji="1" lang="en-US" altLang="zh-CN" sz="2400" kern="1200" cap="none" spc="0" normalizeH="0" baseline="0" noProof="0">
                <a:effectLst>
                  <a:outerShdw blurRad="38100" dist="38100" dir="2700000" algn="tl">
                    <a:srgbClr val="FFFFFF"/>
                  </a:outerShdw>
                </a:effectLst>
                <a:latin typeface="Arial" panose="020B0604020202020204" pitchFamily="34" charset="0"/>
                <a:ea typeface="宋体" panose="02010600030101010101" pitchFamily="2" charset="-122"/>
                <a:cs typeface="+mn-cs"/>
              </a:rPr>
              <a:t>HeadA</a:t>
            </a:r>
            <a:r>
              <a:rPr kumimoji="1" lang="zh-CN" altLang="en-US" sz="2400" kern="1200" cap="none" spc="0" normalizeH="0" baseline="0" noProof="0">
                <a:effectLst>
                  <a:outerShdw blurRad="38100" dist="38100" dir="2700000" algn="tl">
                    <a:srgbClr val="FFFFFF"/>
                  </a:outerShdw>
                </a:effectLst>
                <a:latin typeface="Arial" panose="020B0604020202020204" pitchFamily="34" charset="0"/>
                <a:ea typeface="宋体" panose="02010600030101010101" pitchFamily="2" charset="-122"/>
                <a:cs typeface="+mn-cs"/>
              </a:rPr>
              <a:t>错</a:t>
            </a:r>
            <a:endParaRPr kumimoji="1" lang="zh-CN" altLang="en-US" sz="2400" kern="1200" cap="none" spc="0" normalizeH="0" baseline="0" noProof="0">
              <a:effectLst>
                <a:outerShdw blurRad="38100" dist="38100" dir="2700000" algn="tl">
                  <a:srgbClr val="FFFFFF"/>
                </a:outerShdw>
              </a:effectLst>
              <a:latin typeface="Arial" panose="020B0604020202020204" pitchFamily="34" charset="0"/>
              <a:ea typeface="宋体" panose="02010600030101010101" pitchFamily="2" charset="-122"/>
              <a:cs typeface="+mn-cs"/>
            </a:endParaRPr>
          </a:p>
        </p:txBody>
      </p:sp>
      <p:sp>
        <p:nvSpPr>
          <p:cNvPr id="31756" name="Text Box 12"/>
          <p:cNvSpPr txBox="1">
            <a:spLocks noChangeArrowheads="1"/>
          </p:cNvSpPr>
          <p:nvPr/>
        </p:nvSpPr>
        <p:spPr bwMode="auto">
          <a:xfrm>
            <a:off x="4224338" y="4964430"/>
            <a:ext cx="1387475" cy="460375"/>
          </a:xfrm>
          <a:prstGeom prst="rect">
            <a:avLst/>
          </a:prstGeom>
          <a:noFill/>
          <a:ln w="9525" algn="ctr">
            <a:noFill/>
            <a:miter lim="800000"/>
          </a:ln>
          <a:effectLst/>
        </p:spPr>
        <p:txBody>
          <a:bodyPr wrap="none">
            <a:spAutoFit/>
          </a:bodyPr>
          <a:lstStyle/>
          <a:p>
            <a:pPr marR="0" defTabSz="914400">
              <a:buClrTx/>
              <a:buSzTx/>
              <a:buFont typeface="Wingdings" panose="05000000000000000000" pitchFamily="2" charset="2"/>
              <a:buChar char="ü"/>
              <a:defRPr/>
            </a:pPr>
            <a:r>
              <a:rPr kumimoji="1" lang="en-US" altLang="zh-CN" sz="2400" kern="1200" cap="none" spc="0" normalizeH="0" baseline="0" noProof="0">
                <a:effectLst>
                  <a:outerShdw blurRad="38100" dist="38100" dir="2700000" algn="tl">
                    <a:srgbClr val="FFFFFF"/>
                  </a:outerShdw>
                </a:effectLst>
                <a:latin typeface="Arial" panose="020B0604020202020204" pitchFamily="34" charset="0"/>
                <a:ea typeface="宋体" panose="02010600030101010101" pitchFamily="2" charset="-122"/>
                <a:cs typeface="+mn-cs"/>
              </a:rPr>
              <a:t>TailA</a:t>
            </a:r>
            <a:r>
              <a:rPr kumimoji="1" lang="zh-CN" altLang="en-US" sz="2400" kern="1200" cap="none" spc="0" normalizeH="0" baseline="0" noProof="0">
                <a:effectLst>
                  <a:outerShdw blurRad="38100" dist="38100" dir="2700000" algn="tl">
                    <a:srgbClr val="FFFFFF"/>
                  </a:outerShdw>
                </a:effectLst>
                <a:latin typeface="Arial" panose="020B0604020202020204" pitchFamily="34" charset="0"/>
                <a:ea typeface="宋体" panose="02010600030101010101" pitchFamily="2" charset="-122"/>
                <a:cs typeface="+mn-cs"/>
              </a:rPr>
              <a:t>错</a:t>
            </a:r>
            <a:endParaRPr kumimoji="1" lang="zh-CN" altLang="en-US" sz="2400" kern="1200" cap="none" spc="0" normalizeH="0" baseline="0" noProof="0">
              <a:effectLst>
                <a:outerShdw blurRad="38100" dist="38100" dir="2700000" algn="tl">
                  <a:srgbClr val="FFFFFF"/>
                </a:outerShdw>
              </a:effectLst>
              <a:latin typeface="Arial" panose="020B0604020202020204" pitchFamily="34" charset="0"/>
              <a:ea typeface="宋体" panose="02010600030101010101" pitchFamily="2" charset="-122"/>
              <a:cs typeface="+mn-cs"/>
            </a:endParaRPr>
          </a:p>
        </p:txBody>
      </p:sp>
      <p:sp>
        <p:nvSpPr>
          <p:cNvPr id="31757" name="Text Box 13"/>
          <p:cNvSpPr txBox="1">
            <a:spLocks noChangeArrowheads="1"/>
          </p:cNvSpPr>
          <p:nvPr/>
        </p:nvSpPr>
        <p:spPr bwMode="auto">
          <a:xfrm>
            <a:off x="4224338" y="5378768"/>
            <a:ext cx="1946275" cy="460375"/>
          </a:xfrm>
          <a:prstGeom prst="rect">
            <a:avLst/>
          </a:prstGeom>
          <a:noFill/>
          <a:ln w="9525" algn="ctr">
            <a:noFill/>
            <a:miter lim="800000"/>
          </a:ln>
          <a:effectLst/>
        </p:spPr>
        <p:txBody>
          <a:bodyPr wrap="none">
            <a:spAutoFit/>
          </a:bodyPr>
          <a:lstStyle/>
          <a:p>
            <a:pPr marR="0" defTabSz="914400">
              <a:buClrTx/>
              <a:buSzTx/>
              <a:buFont typeface="Wingdings" panose="05000000000000000000" pitchFamily="2" charset="2"/>
              <a:buChar char="ü"/>
              <a:defRPr/>
            </a:pPr>
            <a:r>
              <a:rPr kumimoji="1" lang="zh-CN" altLang="en-US" sz="2400" kern="1200" cap="none" spc="0" normalizeH="0" baseline="0" noProof="0">
                <a:effectLst>
                  <a:outerShdw blurRad="38100" dist="38100" dir="2700000" algn="tl">
                    <a:srgbClr val="FFFFFF"/>
                  </a:outerShdw>
                </a:effectLst>
                <a:latin typeface="Arial" panose="020B0604020202020204" pitchFamily="34" charset="0"/>
                <a:ea typeface="宋体" panose="02010600030101010101" pitchFamily="2" charset="-122"/>
                <a:cs typeface="+mn-cs"/>
              </a:rPr>
              <a:t>中间字节错</a:t>
            </a:r>
            <a:endParaRPr kumimoji="1" lang="zh-CN" altLang="en-US" sz="2400" kern="1200" cap="none" spc="0" normalizeH="0" baseline="0" noProof="0">
              <a:effectLst>
                <a:outerShdw blurRad="38100" dist="38100" dir="2700000" algn="tl">
                  <a:srgbClr val="FFFFFF"/>
                </a:outerShdw>
              </a:effectLst>
              <a:latin typeface="Arial" panose="020B0604020202020204" pitchFamily="34" charset="0"/>
              <a:ea typeface="宋体" panose="02010600030101010101" pitchFamily="2" charset="-122"/>
              <a:cs typeface="+mn-cs"/>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31752"/>
                                        </p:tgtEl>
                                        <p:attrNameLst>
                                          <p:attrName>style.visibility</p:attrName>
                                        </p:attrNameLst>
                                      </p:cBhvr>
                                      <p:to>
                                        <p:strVal val="visible"/>
                                      </p:to>
                                    </p:set>
                                    <p:animEffect transition="in" filter="checkerboard(across)">
                                      <p:cBhvr>
                                        <p:cTn id="7" dur="500"/>
                                        <p:tgtEl>
                                          <p:spTgt spid="31752"/>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31754"/>
                                        </p:tgtEl>
                                        <p:attrNameLst>
                                          <p:attrName>style.visibility</p:attrName>
                                        </p:attrNameLst>
                                      </p:cBhvr>
                                      <p:to>
                                        <p:strVal val="visible"/>
                                      </p:to>
                                    </p:set>
                                    <p:animEffect transition="in" filter="checkerboard(across)">
                                      <p:cBhvr>
                                        <p:cTn id="12" dur="500"/>
                                        <p:tgtEl>
                                          <p:spTgt spid="31754"/>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31753"/>
                                        </p:tgtEl>
                                        <p:attrNameLst>
                                          <p:attrName>style.visibility</p:attrName>
                                        </p:attrNameLst>
                                      </p:cBhvr>
                                      <p:to>
                                        <p:strVal val="visible"/>
                                      </p:to>
                                    </p:set>
                                    <p:animEffect transition="in" filter="checkerboard(across)">
                                      <p:cBhvr>
                                        <p:cTn id="17" dur="500"/>
                                        <p:tgtEl>
                                          <p:spTgt spid="31753"/>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31748"/>
                                        </p:tgtEl>
                                        <p:attrNameLst>
                                          <p:attrName>style.visibility</p:attrName>
                                        </p:attrNameLst>
                                      </p:cBhvr>
                                      <p:to>
                                        <p:strVal val="visible"/>
                                      </p:to>
                                    </p:set>
                                    <p:animEffect transition="in" filter="box(in)">
                                      <p:cBhvr>
                                        <p:cTn id="22" dur="1000"/>
                                        <p:tgtEl>
                                          <p:spTgt spid="31748"/>
                                        </p:tgtEl>
                                      </p:cBhvr>
                                    </p:animEffect>
                                  </p:childTnLst>
                                </p:cTn>
                              </p:par>
                              <p:par>
                                <p:cTn id="23" presetID="4" presetClass="entr" presetSubtype="16" fill="hold" grpId="0" nodeType="withEffect">
                                  <p:stCondLst>
                                    <p:cond delay="0"/>
                                  </p:stCondLst>
                                  <p:childTnLst>
                                    <p:set>
                                      <p:cBhvr>
                                        <p:cTn id="24" dur="1" fill="hold">
                                          <p:stCondLst>
                                            <p:cond delay="0"/>
                                          </p:stCondLst>
                                        </p:cTn>
                                        <p:tgtEl>
                                          <p:spTgt spid="31749"/>
                                        </p:tgtEl>
                                        <p:attrNameLst>
                                          <p:attrName>style.visibility</p:attrName>
                                        </p:attrNameLst>
                                      </p:cBhvr>
                                      <p:to>
                                        <p:strVal val="visible"/>
                                      </p:to>
                                    </p:set>
                                    <p:animEffect transition="in" filter="box(in)">
                                      <p:cBhvr>
                                        <p:cTn id="25" dur="1000"/>
                                        <p:tgtEl>
                                          <p:spTgt spid="31749"/>
                                        </p:tgtEl>
                                      </p:cBhvr>
                                    </p:animEffect>
                                  </p:childTnLst>
                                </p:cTn>
                              </p:par>
                            </p:childTnLst>
                          </p:cTn>
                        </p:par>
                      </p:childTnLst>
                    </p:cTn>
                  </p:par>
                  <p:par>
                    <p:cTn id="26" fill="hold">
                      <p:stCondLst>
                        <p:cond delay="indefinite"/>
                      </p:stCondLst>
                      <p:childTnLst>
                        <p:par>
                          <p:cTn id="27" fill="hold">
                            <p:stCondLst>
                              <p:cond delay="0"/>
                            </p:stCondLst>
                            <p:childTnLst>
                              <p:par>
                                <p:cTn id="28" presetID="5" presetClass="entr" presetSubtype="10" fill="hold" grpId="0" nodeType="clickEffect">
                                  <p:stCondLst>
                                    <p:cond delay="0"/>
                                  </p:stCondLst>
                                  <p:childTnLst>
                                    <p:set>
                                      <p:cBhvr>
                                        <p:cTn id="29" dur="1" fill="hold">
                                          <p:stCondLst>
                                            <p:cond delay="0"/>
                                          </p:stCondLst>
                                        </p:cTn>
                                        <p:tgtEl>
                                          <p:spTgt spid="31755"/>
                                        </p:tgtEl>
                                        <p:attrNameLst>
                                          <p:attrName>style.visibility</p:attrName>
                                        </p:attrNameLst>
                                      </p:cBhvr>
                                      <p:to>
                                        <p:strVal val="visible"/>
                                      </p:to>
                                    </p:set>
                                    <p:animEffect transition="in" filter="checkerboard(across)">
                                      <p:cBhvr>
                                        <p:cTn id="30" dur="500"/>
                                        <p:tgtEl>
                                          <p:spTgt spid="31755"/>
                                        </p:tgtEl>
                                      </p:cBhvr>
                                    </p:animEffect>
                                  </p:childTnLst>
                                </p:cTn>
                              </p:par>
                            </p:childTnLst>
                          </p:cTn>
                        </p:par>
                      </p:childTnLst>
                    </p:cTn>
                  </p:par>
                  <p:par>
                    <p:cTn id="31" fill="hold">
                      <p:stCondLst>
                        <p:cond delay="indefinite"/>
                      </p:stCondLst>
                      <p:childTnLst>
                        <p:par>
                          <p:cTn id="32" fill="hold">
                            <p:stCondLst>
                              <p:cond delay="0"/>
                            </p:stCondLst>
                            <p:childTnLst>
                              <p:par>
                                <p:cTn id="33" presetID="5" presetClass="entr" presetSubtype="10" fill="hold" grpId="0" nodeType="clickEffect">
                                  <p:stCondLst>
                                    <p:cond delay="0"/>
                                  </p:stCondLst>
                                  <p:childTnLst>
                                    <p:set>
                                      <p:cBhvr>
                                        <p:cTn id="34" dur="1" fill="hold">
                                          <p:stCondLst>
                                            <p:cond delay="0"/>
                                          </p:stCondLst>
                                        </p:cTn>
                                        <p:tgtEl>
                                          <p:spTgt spid="31756"/>
                                        </p:tgtEl>
                                        <p:attrNameLst>
                                          <p:attrName>style.visibility</p:attrName>
                                        </p:attrNameLst>
                                      </p:cBhvr>
                                      <p:to>
                                        <p:strVal val="visible"/>
                                      </p:to>
                                    </p:set>
                                    <p:animEffect transition="in" filter="checkerboard(across)">
                                      <p:cBhvr>
                                        <p:cTn id="35" dur="500"/>
                                        <p:tgtEl>
                                          <p:spTgt spid="31756"/>
                                        </p:tgtEl>
                                      </p:cBhvr>
                                    </p:animEffect>
                                  </p:childTnLst>
                                </p:cTn>
                              </p:par>
                            </p:childTnLst>
                          </p:cTn>
                        </p:par>
                      </p:childTnLst>
                    </p:cTn>
                  </p:par>
                  <p:par>
                    <p:cTn id="36" fill="hold">
                      <p:stCondLst>
                        <p:cond delay="indefinite"/>
                      </p:stCondLst>
                      <p:childTnLst>
                        <p:par>
                          <p:cTn id="37" fill="hold">
                            <p:stCondLst>
                              <p:cond delay="0"/>
                            </p:stCondLst>
                            <p:childTnLst>
                              <p:par>
                                <p:cTn id="38" presetID="5" presetClass="entr" presetSubtype="10" fill="hold" grpId="0" nodeType="clickEffect">
                                  <p:stCondLst>
                                    <p:cond delay="0"/>
                                  </p:stCondLst>
                                  <p:childTnLst>
                                    <p:set>
                                      <p:cBhvr>
                                        <p:cTn id="39" dur="1" fill="hold">
                                          <p:stCondLst>
                                            <p:cond delay="0"/>
                                          </p:stCondLst>
                                        </p:cTn>
                                        <p:tgtEl>
                                          <p:spTgt spid="31757"/>
                                        </p:tgtEl>
                                        <p:attrNameLst>
                                          <p:attrName>style.visibility</p:attrName>
                                        </p:attrNameLst>
                                      </p:cBhvr>
                                      <p:to>
                                        <p:strVal val="visible"/>
                                      </p:to>
                                    </p:set>
                                    <p:animEffect transition="in" filter="checkerboard(across)">
                                      <p:cBhvr>
                                        <p:cTn id="40" dur="500"/>
                                        <p:tgtEl>
                                          <p:spTgt spid="31757"/>
                                        </p:tgtEl>
                                      </p:cBhvr>
                                    </p:animEffect>
                                  </p:childTnLst>
                                </p:cTn>
                              </p:par>
                            </p:childTnLst>
                          </p:cTn>
                        </p:par>
                      </p:childTnLst>
                    </p:cTn>
                  </p:par>
                  <p:par>
                    <p:cTn id="41" fill="hold">
                      <p:stCondLst>
                        <p:cond delay="indefinite"/>
                      </p:stCondLst>
                      <p:childTnLst>
                        <p:par>
                          <p:cTn id="42" fill="hold">
                            <p:stCondLst>
                              <p:cond delay="0"/>
                            </p:stCondLst>
                            <p:childTnLst>
                              <p:par>
                                <p:cTn id="43" presetID="4" presetClass="entr" presetSubtype="16" fill="hold" grpId="0" nodeType="clickEffect">
                                  <p:stCondLst>
                                    <p:cond delay="0"/>
                                  </p:stCondLst>
                                  <p:childTnLst>
                                    <p:set>
                                      <p:cBhvr>
                                        <p:cTn id="44" dur="1" fill="hold">
                                          <p:stCondLst>
                                            <p:cond delay="0"/>
                                          </p:stCondLst>
                                        </p:cTn>
                                        <p:tgtEl>
                                          <p:spTgt spid="31750"/>
                                        </p:tgtEl>
                                        <p:attrNameLst>
                                          <p:attrName>style.visibility</p:attrName>
                                        </p:attrNameLst>
                                      </p:cBhvr>
                                      <p:to>
                                        <p:strVal val="visible"/>
                                      </p:to>
                                    </p:set>
                                    <p:animEffect transition="in" filter="box(in)">
                                      <p:cBhvr>
                                        <p:cTn id="45" dur="1000"/>
                                        <p:tgtEl>
                                          <p:spTgt spid="31750"/>
                                        </p:tgtEl>
                                      </p:cBhvr>
                                    </p:animEffect>
                                  </p:childTnLst>
                                </p:cTn>
                              </p:par>
                              <p:par>
                                <p:cTn id="46" presetID="4" presetClass="entr" presetSubtype="16" fill="hold" grpId="0" nodeType="withEffect">
                                  <p:stCondLst>
                                    <p:cond delay="0"/>
                                  </p:stCondLst>
                                  <p:childTnLst>
                                    <p:set>
                                      <p:cBhvr>
                                        <p:cTn id="47" dur="1" fill="hold">
                                          <p:stCondLst>
                                            <p:cond delay="0"/>
                                          </p:stCondLst>
                                        </p:cTn>
                                        <p:tgtEl>
                                          <p:spTgt spid="31751"/>
                                        </p:tgtEl>
                                        <p:attrNameLst>
                                          <p:attrName>style.visibility</p:attrName>
                                        </p:attrNameLst>
                                      </p:cBhvr>
                                      <p:to>
                                        <p:strVal val="visible"/>
                                      </p:to>
                                    </p:set>
                                    <p:animEffect transition="in" filter="box(in)">
                                      <p:cBhvr>
                                        <p:cTn id="48" dur="1000"/>
                                        <p:tgtEl>
                                          <p:spTgt spid="317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8" grpId="0" bldLvl="0" animBg="1"/>
      <p:bldP spid="31749" grpId="0"/>
      <p:bldP spid="31750" grpId="0" bldLvl="0" animBg="1"/>
      <p:bldP spid="31751" grpId="0"/>
      <p:bldP spid="31752" grpId="0" bldLvl="0" animBg="1"/>
      <p:bldP spid="31753" grpId="0" bldLvl="0" animBg="1"/>
      <p:bldP spid="31754" grpId="0" bldLvl="0" animBg="1"/>
      <p:bldP spid="31755" grpId="0" bldLvl="0" animBg="1"/>
      <p:bldP spid="31756" grpId="0" bldLvl="0" animBg="1"/>
      <p:bldP spid="31757" grpId="0" bldLvl="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8850" name="Rectangle 2"/>
          <p:cNvSpPr>
            <a:spLocks noGrp="1"/>
          </p:cNvSpPr>
          <p:nvPr>
            <p:ph type="title"/>
          </p:nvPr>
        </p:nvSpPr>
        <p:spPr/>
        <p:txBody>
          <a:bodyPr vert="horz" wrap="square" lIns="91440" tIns="45720" rIns="91440" bIns="45720" anchor="ctr" anchorCtr="0"/>
          <a:p>
            <a:r>
              <a:rPr lang="zh-CN" altLang="en-US" dirty="0" smtClean="0">
                <a:solidFill>
                  <a:srgbClr val="C00000"/>
                </a:solidFill>
              </a:rPr>
              <a:t>SFMEA实例 </a:t>
            </a:r>
            <a:r>
              <a:rPr lang="zh-CN" altLang="en-US" sz="4400" dirty="0" smtClean="0">
                <a:solidFill>
                  <a:srgbClr val="C00000"/>
                </a:solidFill>
              </a:rPr>
              <a:t>（5/5）</a:t>
            </a:r>
            <a:endParaRPr lang="zh-CN" altLang="en-US" sz="4400" dirty="0" smtClean="0">
              <a:solidFill>
                <a:srgbClr val="C00000"/>
              </a:solidFill>
            </a:endParaRPr>
          </a:p>
        </p:txBody>
      </p:sp>
      <p:graphicFrame>
        <p:nvGraphicFramePr>
          <p:cNvPr id="78851" name="表格占位符 78850"/>
          <p:cNvGraphicFramePr/>
          <p:nvPr>
            <p:ph type="tbl" idx="1"/>
            <p:custDataLst>
              <p:tags r:id="rId1"/>
            </p:custDataLst>
          </p:nvPr>
        </p:nvGraphicFramePr>
        <p:xfrm>
          <a:off x="774700" y="1239520"/>
          <a:ext cx="10730230" cy="5372735"/>
        </p:xfrm>
        <a:graphic>
          <a:graphicData uri="http://schemas.openxmlformats.org/drawingml/2006/table">
            <a:tbl>
              <a:tblPr/>
              <a:tblGrid>
                <a:gridCol w="724535"/>
                <a:gridCol w="3314700"/>
                <a:gridCol w="2237740"/>
                <a:gridCol w="1275715"/>
                <a:gridCol w="3177540"/>
              </a:tblGrid>
              <a:tr h="543560">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lnSpc>
                          <a:spcPct val="110000"/>
                        </a:lnSpc>
                        <a:buNone/>
                      </a:pPr>
                      <a:r>
                        <a:rPr lang="zh-CN" altLang="en-US" sz="2400" b="1" dirty="0">
                          <a:latin typeface="Arial" panose="020B0604020202020204" pitchFamily="34" charset="0"/>
                        </a:rPr>
                        <a:t>编号</a:t>
                      </a:r>
                      <a:endParaRPr lang="zh-CN" altLang="en-US" sz="2400" b="1" dirty="0">
                        <a:latin typeface="Arial" panose="020B0604020202020204" pitchFamily="34" charset="0"/>
                      </a:endParaRPr>
                    </a:p>
                  </a:txBody>
                  <a:tcPr marL="0" marR="0" anchor="ctr" anchorCtr="1">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2">
                        <a:lumMod val="20000"/>
                        <a:lumOff val="80000"/>
                      </a:schemeClr>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lnSpc>
                          <a:spcPct val="110000"/>
                        </a:lnSpc>
                        <a:buNone/>
                      </a:pPr>
                      <a:r>
                        <a:rPr lang="zh-CN" altLang="en-US" sz="2400" b="1" dirty="0">
                          <a:latin typeface="Arial" panose="020B0604020202020204" pitchFamily="34" charset="0"/>
                        </a:rPr>
                        <a:t>失效模式</a:t>
                      </a:r>
                      <a:endParaRPr lang="zh-CN" altLang="en-US" sz="2400" b="1" dirty="0">
                        <a:latin typeface="Arial" panose="020B0604020202020204" pitchFamily="34" charset="0"/>
                      </a:endParaRPr>
                    </a:p>
                  </a:txBody>
                  <a:tcPr marL="0" marR="0"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2">
                        <a:lumMod val="20000"/>
                        <a:lumOff val="80000"/>
                      </a:schemeClr>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lnSpc>
                          <a:spcPct val="110000"/>
                        </a:lnSpc>
                        <a:buNone/>
                      </a:pPr>
                      <a:r>
                        <a:rPr lang="zh-CN" altLang="en-US" sz="2400" b="1" dirty="0">
                          <a:latin typeface="Arial" panose="020B0604020202020204" pitchFamily="34" charset="0"/>
                        </a:rPr>
                        <a:t>失效影响</a:t>
                      </a:r>
                      <a:endParaRPr lang="zh-CN" altLang="en-US" sz="2400" b="1" dirty="0">
                        <a:latin typeface="Arial" panose="020B0604020202020204" pitchFamily="34" charset="0"/>
                      </a:endParaRPr>
                    </a:p>
                  </a:txBody>
                  <a:tcPr marL="0" marR="0"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2">
                        <a:lumMod val="20000"/>
                        <a:lumOff val="80000"/>
                      </a:schemeClr>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lnSpc>
                          <a:spcPct val="110000"/>
                        </a:lnSpc>
                        <a:buNone/>
                      </a:pPr>
                      <a:r>
                        <a:rPr lang="zh-CN" altLang="en-US" sz="2400" b="1" dirty="0">
                          <a:latin typeface="Arial" panose="020B0604020202020204" pitchFamily="34" charset="0"/>
                        </a:rPr>
                        <a:t>严重性 </a:t>
                      </a:r>
                      <a:endParaRPr lang="zh-CN" altLang="en-US" sz="2400" b="1" dirty="0">
                        <a:latin typeface="Arial" panose="020B0604020202020204" pitchFamily="34" charset="0"/>
                      </a:endParaRPr>
                    </a:p>
                  </a:txBody>
                  <a:tcPr marL="0" marR="0"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2">
                        <a:lumMod val="20000"/>
                        <a:lumOff val="80000"/>
                      </a:schemeClr>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lnSpc>
                          <a:spcPct val="110000"/>
                        </a:lnSpc>
                        <a:buNone/>
                      </a:pPr>
                      <a:r>
                        <a:rPr lang="zh-CN" altLang="en-US" sz="2400" b="1" dirty="0">
                          <a:latin typeface="Arial" panose="020B0604020202020204" pitchFamily="34" charset="0"/>
                        </a:rPr>
                        <a:t>措施 </a:t>
                      </a:r>
                      <a:endParaRPr lang="zh-CN" altLang="en-US" sz="2400" b="1" dirty="0">
                        <a:latin typeface="Arial" panose="020B0604020202020204" pitchFamily="34" charset="0"/>
                      </a:endParaRPr>
                    </a:p>
                  </a:txBody>
                  <a:tcPr marL="0" marR="0" anchor="ctr" anchorCtr="1">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2">
                        <a:lumMod val="20000"/>
                        <a:lumOff val="80000"/>
                      </a:schemeClr>
                    </a:solidFill>
                  </a:tcPr>
                </a:tc>
              </a:tr>
              <a:tr h="908050">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lnSpc>
                          <a:spcPct val="110000"/>
                        </a:lnSpc>
                        <a:buNone/>
                      </a:pPr>
                      <a:r>
                        <a:rPr lang="en-US" altLang="zh-CN" sz="2000" dirty="0">
                          <a:solidFill>
                            <a:schemeClr val="tx1"/>
                          </a:solidFill>
                          <a:latin typeface="Arial" panose="020B0604020202020204" pitchFamily="34" charset="0"/>
                        </a:rPr>
                        <a:t>1</a:t>
                      </a:r>
                      <a:endParaRPr lang="en-US" altLang="zh-CN" sz="2000" dirty="0">
                        <a:solidFill>
                          <a:schemeClr val="tx1"/>
                        </a:solidFill>
                        <a:latin typeface="Arial" panose="020B0604020202020204" pitchFamily="34" charset="0"/>
                      </a:endParaRPr>
                    </a:p>
                  </a:txBody>
                  <a:tcPr anchor="ctr" anchorCtr="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eaLnBrk="1" hangingPunct="1">
                        <a:lnSpc>
                          <a:spcPct val="110000"/>
                        </a:lnSpc>
                        <a:buNone/>
                      </a:pPr>
                      <a:r>
                        <a:rPr lang="en-US" altLang="zh-CN" sz="2000" dirty="0">
                          <a:solidFill>
                            <a:schemeClr val="tx1"/>
                          </a:solidFill>
                          <a:latin typeface="Arial" panose="020B0604020202020204" pitchFamily="34" charset="0"/>
                        </a:rPr>
                        <a:t>A</a:t>
                      </a:r>
                      <a:r>
                        <a:rPr lang="zh-CN" altLang="en-US" sz="2000" dirty="0">
                          <a:solidFill>
                            <a:schemeClr val="tx1"/>
                          </a:solidFill>
                          <a:latin typeface="Arial" panose="020B0604020202020204" pitchFamily="34" charset="0"/>
                        </a:rPr>
                        <a:t>由于其它中断或其它原因，无法按时进入通讯中断。 </a:t>
                      </a:r>
                      <a:endParaRPr lang="zh-CN" altLang="en-US" sz="2000" dirty="0">
                        <a:solidFill>
                          <a:schemeClr val="tx1"/>
                        </a:solidFill>
                        <a:latin typeface="Arial" panose="020B0604020202020204" pitchFamily="34" charset="0"/>
                      </a:endParaRPr>
                    </a:p>
                  </a:txBody>
                  <a:tcPr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eaLnBrk="1" hangingPunct="1">
                        <a:lnSpc>
                          <a:spcPct val="110000"/>
                        </a:lnSpc>
                        <a:buNone/>
                      </a:pPr>
                      <a:r>
                        <a:rPr lang="zh-CN" altLang="en-US" sz="2000" dirty="0">
                          <a:solidFill>
                            <a:schemeClr val="tx1"/>
                          </a:solidFill>
                          <a:latin typeface="Arial" panose="020B0604020202020204" pitchFamily="34" charset="0"/>
                        </a:rPr>
                        <a:t>导致通讯无法进行。 </a:t>
                      </a:r>
                      <a:endParaRPr lang="zh-CN" altLang="en-US" sz="2000" dirty="0">
                        <a:solidFill>
                          <a:schemeClr val="tx1"/>
                        </a:solidFill>
                        <a:latin typeface="Arial" panose="020B0604020202020204" pitchFamily="34" charset="0"/>
                      </a:endParaRPr>
                    </a:p>
                  </a:txBody>
                  <a:tcPr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lnSpc>
                          <a:spcPct val="110000"/>
                        </a:lnSpc>
                        <a:buNone/>
                      </a:pPr>
                      <a:r>
                        <a:rPr lang="zh-CN" altLang="en-US" sz="2000" dirty="0">
                          <a:solidFill>
                            <a:schemeClr val="tx1"/>
                          </a:solidFill>
                          <a:latin typeface="Arial" panose="020B0604020202020204" pitchFamily="34" charset="0"/>
                        </a:rPr>
                        <a:t>非常严重</a:t>
                      </a:r>
                      <a:endParaRPr lang="zh-CN" altLang="en-US" sz="2000" dirty="0">
                        <a:solidFill>
                          <a:schemeClr val="tx1"/>
                        </a:solidFill>
                        <a:latin typeface="Arial" panose="020B0604020202020204" pitchFamily="34" charset="0"/>
                      </a:endParaRPr>
                    </a:p>
                  </a:txBody>
                  <a:tcPr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eaLnBrk="1" hangingPunct="1">
                        <a:lnSpc>
                          <a:spcPct val="110000"/>
                        </a:lnSpc>
                        <a:buNone/>
                      </a:pPr>
                      <a:r>
                        <a:rPr lang="zh-CN" altLang="en-US" sz="2000" dirty="0">
                          <a:solidFill>
                            <a:schemeClr val="tx1"/>
                          </a:solidFill>
                          <a:latin typeface="Arial" panose="020B0604020202020204" pitchFamily="34" charset="0"/>
                        </a:rPr>
                        <a:t>由</a:t>
                      </a:r>
                      <a:r>
                        <a:rPr lang="en-US" altLang="zh-CN" sz="2000" dirty="0">
                          <a:solidFill>
                            <a:schemeClr val="tx1"/>
                          </a:solidFill>
                          <a:latin typeface="Arial" panose="020B0604020202020204" pitchFamily="34" charset="0"/>
                        </a:rPr>
                        <a:t>A</a:t>
                      </a:r>
                      <a:r>
                        <a:rPr lang="zh-CN" altLang="en-US" sz="2000" dirty="0">
                          <a:solidFill>
                            <a:schemeClr val="tx1"/>
                          </a:solidFill>
                          <a:latin typeface="Arial" panose="020B0604020202020204" pitchFamily="34" charset="0"/>
                        </a:rPr>
                        <a:t>的通讯外程序采取措施保证按时进入通讯子程序 。</a:t>
                      </a:r>
                      <a:endParaRPr lang="zh-CN" altLang="en-US" sz="2000" dirty="0">
                        <a:solidFill>
                          <a:schemeClr val="tx1"/>
                        </a:solidFill>
                        <a:latin typeface="Arial" panose="020B0604020202020204" pitchFamily="34" charset="0"/>
                      </a:endParaRPr>
                    </a:p>
                  </a:txBody>
                  <a:tcPr anchor="ctr" anchorCtr="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1097280">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lnSpc>
                          <a:spcPct val="110000"/>
                        </a:lnSpc>
                        <a:buNone/>
                      </a:pPr>
                      <a:r>
                        <a:rPr lang="en-US" altLang="zh-CN" sz="2000" dirty="0">
                          <a:solidFill>
                            <a:srgbClr val="0070C0"/>
                          </a:solidFill>
                          <a:latin typeface="Arial" panose="020B0604020202020204" pitchFamily="34" charset="0"/>
                        </a:rPr>
                        <a:t>2</a:t>
                      </a:r>
                      <a:endParaRPr lang="en-US" altLang="zh-CN" sz="2000" dirty="0">
                        <a:solidFill>
                          <a:srgbClr val="0070C0"/>
                        </a:solidFill>
                        <a:latin typeface="Arial" panose="020B0604020202020204" pitchFamily="34" charset="0"/>
                      </a:endParaRPr>
                    </a:p>
                  </a:txBody>
                  <a:tcPr anchor="ctr" anchorCtr="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eaLnBrk="1" hangingPunct="1">
                        <a:lnSpc>
                          <a:spcPct val="110000"/>
                        </a:lnSpc>
                        <a:buNone/>
                      </a:pPr>
                      <a:r>
                        <a:rPr lang="en-US" altLang="zh-CN" sz="2000" dirty="0">
                          <a:solidFill>
                            <a:srgbClr val="0070C0"/>
                          </a:solidFill>
                          <a:latin typeface="Arial" panose="020B0604020202020204" pitchFamily="34" charset="0"/>
                        </a:rPr>
                        <a:t>A</a:t>
                      </a:r>
                      <a:r>
                        <a:rPr lang="zh-CN" altLang="en-US" sz="2000" dirty="0">
                          <a:solidFill>
                            <a:srgbClr val="0070C0"/>
                          </a:solidFill>
                          <a:latin typeface="Arial" panose="020B0604020202020204" pitchFamily="34" charset="0"/>
                        </a:rPr>
                        <a:t>的通讯程序在规定的时间内未能完成发送</a:t>
                      </a:r>
                      <a:r>
                        <a:rPr lang="en-US" altLang="zh-CN" sz="2000" dirty="0">
                          <a:solidFill>
                            <a:srgbClr val="0070C0"/>
                          </a:solidFill>
                          <a:latin typeface="Arial" panose="020B0604020202020204" pitchFamily="34" charset="0"/>
                        </a:rPr>
                        <a:t>/</a:t>
                      </a:r>
                      <a:r>
                        <a:rPr lang="zh-CN" altLang="en-US" sz="2000" dirty="0">
                          <a:solidFill>
                            <a:srgbClr val="0070C0"/>
                          </a:solidFill>
                          <a:latin typeface="Arial" panose="020B0604020202020204" pitchFamily="34" charset="0"/>
                        </a:rPr>
                        <a:t>接收。 </a:t>
                      </a:r>
                      <a:endParaRPr lang="zh-CN" altLang="en-US" sz="2000" dirty="0">
                        <a:solidFill>
                          <a:srgbClr val="0070C0"/>
                        </a:solidFill>
                        <a:latin typeface="Arial" panose="020B0604020202020204" pitchFamily="34" charset="0"/>
                      </a:endParaRPr>
                    </a:p>
                  </a:txBody>
                  <a:tcPr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eaLnBrk="1" hangingPunct="1">
                        <a:lnSpc>
                          <a:spcPct val="110000"/>
                        </a:lnSpc>
                        <a:buNone/>
                      </a:pPr>
                      <a:r>
                        <a:rPr lang="zh-CN" altLang="en-US" sz="2000" dirty="0">
                          <a:solidFill>
                            <a:srgbClr val="0070C0"/>
                          </a:solidFill>
                          <a:latin typeface="Arial" panose="020B0604020202020204" pitchFamily="34" charset="0"/>
                        </a:rPr>
                        <a:t>通讯周期将被打乱，通讯混乱。 </a:t>
                      </a:r>
                      <a:endParaRPr lang="zh-CN" altLang="en-US" sz="2000" dirty="0">
                        <a:solidFill>
                          <a:srgbClr val="0070C0"/>
                        </a:solidFill>
                        <a:latin typeface="Arial" panose="020B0604020202020204" pitchFamily="34" charset="0"/>
                      </a:endParaRPr>
                    </a:p>
                  </a:txBody>
                  <a:tcPr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lnSpc>
                          <a:spcPct val="110000"/>
                        </a:lnSpc>
                        <a:buNone/>
                      </a:pPr>
                      <a:r>
                        <a:rPr lang="zh-CN" altLang="en-US" sz="2000" dirty="0">
                          <a:solidFill>
                            <a:srgbClr val="0070C0"/>
                          </a:solidFill>
                          <a:latin typeface="Arial" panose="020B0604020202020204" pitchFamily="34" charset="0"/>
                        </a:rPr>
                        <a:t>非常严重</a:t>
                      </a:r>
                      <a:endParaRPr lang="zh-CN" altLang="en-US" sz="2000" dirty="0">
                        <a:solidFill>
                          <a:srgbClr val="0070C0"/>
                        </a:solidFill>
                        <a:latin typeface="Arial" panose="020B0604020202020204" pitchFamily="34" charset="0"/>
                      </a:endParaRPr>
                    </a:p>
                  </a:txBody>
                  <a:tcPr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eaLnBrk="1" hangingPunct="1">
                        <a:lnSpc>
                          <a:spcPct val="110000"/>
                        </a:lnSpc>
                        <a:buNone/>
                      </a:pPr>
                      <a:r>
                        <a:rPr lang="zh-CN" altLang="en-US" sz="2000" dirty="0">
                          <a:solidFill>
                            <a:srgbClr val="0070C0"/>
                          </a:solidFill>
                          <a:latin typeface="Arial" panose="020B0604020202020204" pitchFamily="34" charset="0"/>
                        </a:rPr>
                        <a:t>在</a:t>
                      </a:r>
                      <a:r>
                        <a:rPr lang="en-US" altLang="zh-CN" sz="2000" dirty="0">
                          <a:solidFill>
                            <a:srgbClr val="0070C0"/>
                          </a:solidFill>
                          <a:latin typeface="Arial" panose="020B0604020202020204" pitchFamily="34" charset="0"/>
                        </a:rPr>
                        <a:t>A</a:t>
                      </a:r>
                      <a:r>
                        <a:rPr lang="zh-CN" altLang="en-US" sz="2000" dirty="0">
                          <a:solidFill>
                            <a:srgbClr val="0070C0"/>
                          </a:solidFill>
                          <a:latin typeface="Arial" panose="020B0604020202020204" pitchFamily="34" charset="0"/>
                        </a:rPr>
                        <a:t>中设置定时器，或通过计数控制，以保证规定时间内返回。</a:t>
                      </a:r>
                      <a:endParaRPr lang="zh-CN" altLang="en-US" sz="2000" dirty="0">
                        <a:solidFill>
                          <a:srgbClr val="0070C0"/>
                        </a:solidFill>
                        <a:latin typeface="Arial" panose="020B0604020202020204" pitchFamily="34" charset="0"/>
                      </a:endParaRPr>
                    </a:p>
                  </a:txBody>
                  <a:tcPr anchor="ctr" anchorCtr="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762000">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lnSpc>
                          <a:spcPct val="110000"/>
                        </a:lnSpc>
                        <a:buNone/>
                      </a:pPr>
                      <a:r>
                        <a:rPr lang="en-US" altLang="zh-CN" sz="2000" dirty="0">
                          <a:solidFill>
                            <a:schemeClr val="tx1"/>
                          </a:solidFill>
                          <a:latin typeface="Arial" panose="020B0604020202020204" pitchFamily="34" charset="0"/>
                        </a:rPr>
                        <a:t>3</a:t>
                      </a:r>
                      <a:endParaRPr lang="en-US" altLang="zh-CN" sz="2000" dirty="0">
                        <a:solidFill>
                          <a:schemeClr val="tx1"/>
                        </a:solidFill>
                        <a:latin typeface="Arial" panose="020B0604020202020204" pitchFamily="34" charset="0"/>
                      </a:endParaRPr>
                    </a:p>
                  </a:txBody>
                  <a:tcPr anchor="ctr" anchorCtr="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eaLnBrk="1" hangingPunct="1">
                        <a:lnSpc>
                          <a:spcPct val="110000"/>
                        </a:lnSpc>
                        <a:buNone/>
                      </a:pPr>
                      <a:r>
                        <a:rPr lang="en-US" altLang="zh-CN" sz="2000" dirty="0">
                          <a:solidFill>
                            <a:schemeClr val="tx1"/>
                          </a:solidFill>
                          <a:latin typeface="Times New Roman" panose="02020603050405020304" pitchFamily="18" charset="0"/>
                          <a:cs typeface="Times New Roman" panose="02020603050405020304" pitchFamily="18" charset="0"/>
                        </a:rPr>
                        <a:t>A</a:t>
                      </a:r>
                      <a:r>
                        <a:rPr lang="zh-CN" altLang="en-US" sz="2000" dirty="0">
                          <a:solidFill>
                            <a:schemeClr val="tx1"/>
                          </a:solidFill>
                          <a:latin typeface="Times New Roman" panose="02020603050405020304" pitchFamily="18" charset="0"/>
                          <a:cs typeface="Times New Roman" panose="02020603050405020304" pitchFamily="18" charset="0"/>
                        </a:rPr>
                        <a:t>发送头字节</a:t>
                      </a:r>
                      <a:r>
                        <a:rPr lang="en-US" altLang="zh-CN" sz="2000" dirty="0">
                          <a:solidFill>
                            <a:schemeClr val="tx1"/>
                          </a:solidFill>
                          <a:latin typeface="Times New Roman" panose="02020603050405020304" pitchFamily="18" charset="0"/>
                          <a:cs typeface="Times New Roman" panose="02020603050405020304" pitchFamily="18" charset="0"/>
                        </a:rPr>
                        <a:t>HeadA</a:t>
                      </a:r>
                      <a:r>
                        <a:rPr lang="zh-CN" altLang="en-US" sz="2000" dirty="0">
                          <a:solidFill>
                            <a:schemeClr val="tx1"/>
                          </a:solidFill>
                          <a:latin typeface="Times New Roman" panose="02020603050405020304" pitchFamily="18" charset="0"/>
                          <a:cs typeface="Times New Roman" panose="02020603050405020304" pitchFamily="18" charset="0"/>
                        </a:rPr>
                        <a:t>由于外干扰出现错误。</a:t>
                      </a:r>
                      <a:endParaRPr lang="zh-CN" altLang="en-US" sz="2000"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endParaRPr>
                    </a:p>
                  </a:txBody>
                  <a:tcPr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eaLnBrk="1" hangingPunct="1">
                        <a:lnSpc>
                          <a:spcPct val="110000"/>
                        </a:lnSpc>
                        <a:buNone/>
                      </a:pPr>
                      <a:r>
                        <a:rPr lang="en-US" altLang="zh-CN" sz="2000" dirty="0">
                          <a:solidFill>
                            <a:schemeClr val="tx1"/>
                          </a:solidFill>
                          <a:latin typeface="Times New Roman" panose="02020603050405020304" pitchFamily="18" charset="0"/>
                          <a:cs typeface="Times New Roman" panose="02020603050405020304" pitchFamily="18" charset="0"/>
                        </a:rPr>
                        <a:t>B</a:t>
                      </a:r>
                      <a:r>
                        <a:rPr lang="zh-CN" altLang="en-US" sz="2000" dirty="0">
                          <a:solidFill>
                            <a:schemeClr val="tx1"/>
                          </a:solidFill>
                          <a:latin typeface="Times New Roman" panose="02020603050405020304" pitchFamily="18" charset="0"/>
                          <a:cs typeface="Times New Roman" panose="02020603050405020304" pitchFamily="18" charset="0"/>
                        </a:rPr>
                        <a:t>执行错误的命令。</a:t>
                      </a:r>
                      <a:endParaRPr lang="zh-CN" altLang="en-US" sz="2000"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endParaRPr>
                    </a:p>
                  </a:txBody>
                  <a:tcPr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lnSpc>
                          <a:spcPct val="110000"/>
                        </a:lnSpc>
                        <a:buNone/>
                      </a:pPr>
                      <a:r>
                        <a:rPr lang="zh-CN" altLang="en-US" sz="2000" dirty="0">
                          <a:solidFill>
                            <a:schemeClr val="tx1"/>
                          </a:solidFill>
                          <a:latin typeface="Arial" panose="020B0604020202020204" pitchFamily="34" charset="0"/>
                        </a:rPr>
                        <a:t>严重 </a:t>
                      </a:r>
                      <a:endParaRPr lang="zh-CN" altLang="en-US" sz="2000" dirty="0">
                        <a:solidFill>
                          <a:schemeClr val="tx1"/>
                        </a:solidFill>
                        <a:latin typeface="Arial" panose="020B0604020202020204" pitchFamily="34" charset="0"/>
                      </a:endParaRPr>
                    </a:p>
                  </a:txBody>
                  <a:tcPr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eaLnBrk="1" hangingPunct="1">
                        <a:lnSpc>
                          <a:spcPct val="110000"/>
                        </a:lnSpc>
                        <a:buNone/>
                      </a:pPr>
                      <a:r>
                        <a:rPr lang="en-US" altLang="zh-CN" sz="2000" dirty="0">
                          <a:solidFill>
                            <a:schemeClr val="tx1"/>
                          </a:solidFill>
                          <a:latin typeface="Times New Roman" panose="02020603050405020304" pitchFamily="18" charset="0"/>
                          <a:cs typeface="Times New Roman" panose="02020603050405020304" pitchFamily="18" charset="0"/>
                        </a:rPr>
                        <a:t>B</a:t>
                      </a:r>
                      <a:r>
                        <a:rPr lang="zh-CN" altLang="en-US" sz="2000" dirty="0">
                          <a:solidFill>
                            <a:schemeClr val="tx1"/>
                          </a:solidFill>
                          <a:latin typeface="Times New Roman" panose="02020603050405020304" pitchFamily="18" charset="0"/>
                          <a:cs typeface="Times New Roman" panose="02020603050405020304" pitchFamily="18" charset="0"/>
                        </a:rPr>
                        <a:t>接收</a:t>
                      </a:r>
                      <a:r>
                        <a:rPr lang="en-US" altLang="zh-CN" sz="2000" dirty="0">
                          <a:solidFill>
                            <a:schemeClr val="tx1"/>
                          </a:solidFill>
                          <a:latin typeface="Times New Roman" panose="02020603050405020304" pitchFamily="18" charset="0"/>
                          <a:cs typeface="Times New Roman" panose="02020603050405020304" pitchFamily="18" charset="0"/>
                        </a:rPr>
                        <a:t>A</a:t>
                      </a:r>
                      <a:r>
                        <a:rPr lang="zh-CN" altLang="en-US" sz="2000" dirty="0">
                          <a:solidFill>
                            <a:schemeClr val="tx1"/>
                          </a:solidFill>
                          <a:latin typeface="Times New Roman" panose="02020603050405020304" pitchFamily="18" charset="0"/>
                          <a:cs typeface="Times New Roman" panose="02020603050405020304" pitchFamily="18" charset="0"/>
                        </a:rPr>
                        <a:t>的头字节后，判别头字节的合法性。</a:t>
                      </a:r>
                      <a:endParaRPr lang="zh-CN" altLang="en-US" sz="2000"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endParaRPr>
                    </a:p>
                  </a:txBody>
                  <a:tcPr anchor="ctr" anchorCtr="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r h="630555">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lnSpc>
                          <a:spcPct val="110000"/>
                        </a:lnSpc>
                        <a:buNone/>
                      </a:pPr>
                      <a:r>
                        <a:rPr lang="en-US" altLang="zh-CN" sz="2000" dirty="0">
                          <a:solidFill>
                            <a:srgbClr val="0070C0"/>
                          </a:solidFill>
                          <a:latin typeface="Arial" panose="020B0604020202020204" pitchFamily="34" charset="0"/>
                        </a:rPr>
                        <a:t>4</a:t>
                      </a:r>
                      <a:endParaRPr lang="en-US" altLang="zh-CN" sz="2000" dirty="0">
                        <a:solidFill>
                          <a:srgbClr val="0070C0"/>
                        </a:solidFill>
                        <a:latin typeface="Arial" panose="020B0604020202020204" pitchFamily="34" charset="0"/>
                      </a:endParaRPr>
                    </a:p>
                  </a:txBody>
                  <a:tcPr anchor="ctr" anchorCtr="1">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eaLnBrk="1" hangingPunct="1">
                        <a:lnSpc>
                          <a:spcPct val="110000"/>
                        </a:lnSpc>
                        <a:buNone/>
                      </a:pPr>
                      <a:r>
                        <a:rPr lang="en-US" altLang="zh-CN" sz="2000" dirty="0">
                          <a:solidFill>
                            <a:srgbClr val="0070C0"/>
                          </a:solidFill>
                          <a:latin typeface="Arial" panose="020B0604020202020204" pitchFamily="34" charset="0"/>
                        </a:rPr>
                        <a:t>……</a:t>
                      </a:r>
                      <a:endParaRPr lang="en-US" altLang="zh-CN" sz="2000" dirty="0">
                        <a:solidFill>
                          <a:srgbClr val="0070C0"/>
                        </a:solidFill>
                        <a:latin typeface="Arial" panose="020B0604020202020204" pitchFamily="34" charset="0"/>
                      </a:endParaRPr>
                    </a:p>
                  </a:txBody>
                  <a:tcPr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eaLnBrk="1" hangingPunct="1">
                        <a:lnSpc>
                          <a:spcPct val="110000"/>
                        </a:lnSpc>
                        <a:buNone/>
                      </a:pPr>
                      <a:r>
                        <a:rPr lang="en-US" altLang="zh-CN" sz="2000" dirty="0">
                          <a:solidFill>
                            <a:srgbClr val="0070C0"/>
                          </a:solidFill>
                          <a:sym typeface="+mn-ea"/>
                        </a:rPr>
                        <a:t>……</a:t>
                      </a:r>
                      <a:endParaRPr lang="en-US" altLang="zh-CN" sz="2000" dirty="0">
                        <a:solidFill>
                          <a:srgbClr val="0070C0"/>
                        </a:solidFill>
                        <a:latin typeface="Arial" panose="020B0604020202020204" pitchFamily="34" charset="0"/>
                        <a:sym typeface="+mn-ea"/>
                      </a:endParaRPr>
                    </a:p>
                  </a:txBody>
                  <a:tcPr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lnSpc>
                          <a:spcPct val="110000"/>
                        </a:lnSpc>
                        <a:buNone/>
                      </a:pPr>
                      <a:r>
                        <a:rPr lang="en-US" altLang="zh-CN" sz="2000" dirty="0">
                          <a:solidFill>
                            <a:srgbClr val="0070C0"/>
                          </a:solidFill>
                          <a:sym typeface="+mn-ea"/>
                        </a:rPr>
                        <a:t>……</a:t>
                      </a:r>
                      <a:endParaRPr lang="en-US" altLang="zh-CN" sz="2000" dirty="0">
                        <a:solidFill>
                          <a:srgbClr val="0070C0"/>
                        </a:solidFill>
                        <a:latin typeface="Arial" panose="020B0604020202020204" pitchFamily="34" charset="0"/>
                        <a:sym typeface="+mn-ea"/>
                      </a:endParaRPr>
                    </a:p>
                  </a:txBody>
                  <a:tcPr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eaLnBrk="1" hangingPunct="1">
                        <a:lnSpc>
                          <a:spcPct val="110000"/>
                        </a:lnSpc>
                        <a:buNone/>
                      </a:pPr>
                      <a:r>
                        <a:rPr lang="en-US" altLang="zh-CN" sz="2000" dirty="0">
                          <a:solidFill>
                            <a:srgbClr val="0070C0"/>
                          </a:solidFill>
                          <a:latin typeface="Arial" panose="020B0604020202020204" pitchFamily="34" charset="0"/>
                        </a:rPr>
                        <a:t>……</a:t>
                      </a:r>
                      <a:endParaRPr lang="en-US" altLang="zh-CN" sz="2000" dirty="0">
                        <a:solidFill>
                          <a:srgbClr val="0070C0"/>
                        </a:solidFill>
                        <a:latin typeface="Arial" panose="020B0604020202020204" pitchFamily="34" charset="0"/>
                      </a:endParaRPr>
                    </a:p>
                  </a:txBody>
                  <a:tcPr anchor="ctr" anchorCtr="1">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r h="1299845">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lnSpc>
                          <a:spcPct val="110000"/>
                        </a:lnSpc>
                        <a:buNone/>
                      </a:pPr>
                      <a:r>
                        <a:rPr lang="en-US" altLang="zh-CN" sz="2000" dirty="0">
                          <a:solidFill>
                            <a:schemeClr val="tx1"/>
                          </a:solidFill>
                          <a:latin typeface="Arial" panose="020B0604020202020204" pitchFamily="34" charset="0"/>
                        </a:rPr>
                        <a:t>5</a:t>
                      </a:r>
                      <a:endParaRPr lang="en-US" altLang="zh-CN" sz="2000" dirty="0">
                        <a:solidFill>
                          <a:schemeClr val="tx1"/>
                        </a:solidFill>
                        <a:latin typeface="Arial" panose="020B0604020202020204" pitchFamily="34" charset="0"/>
                      </a:endParaRPr>
                    </a:p>
                  </a:txBody>
                  <a:tcPr anchor="ctr" anchorCtr="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eaLnBrk="1" hangingPunct="1">
                        <a:lnSpc>
                          <a:spcPct val="110000"/>
                        </a:lnSpc>
                        <a:buNone/>
                      </a:pPr>
                      <a:r>
                        <a:rPr lang="en-US" altLang="zh-CN" sz="2000" dirty="0">
                          <a:solidFill>
                            <a:schemeClr val="tx1"/>
                          </a:solidFill>
                          <a:latin typeface="Arial" panose="020B0604020202020204" pitchFamily="34" charset="0"/>
                        </a:rPr>
                        <a:t>A</a:t>
                      </a:r>
                      <a:r>
                        <a:rPr lang="zh-CN" altLang="en-US" sz="2000" dirty="0">
                          <a:solidFill>
                            <a:schemeClr val="tx1"/>
                          </a:solidFill>
                          <a:latin typeface="Arial" panose="020B0604020202020204" pitchFamily="34" charset="0"/>
                        </a:rPr>
                        <a:t>发中断后，由于外干扰，</a:t>
                      </a:r>
                      <a:r>
                        <a:rPr lang="en-US" altLang="zh-CN" sz="2000" dirty="0">
                          <a:solidFill>
                            <a:schemeClr val="tx1"/>
                          </a:solidFill>
                          <a:latin typeface="Arial" panose="020B0604020202020204" pitchFamily="34" charset="0"/>
                        </a:rPr>
                        <a:t>B</a:t>
                      </a:r>
                      <a:r>
                        <a:rPr lang="zh-CN" altLang="en-US" sz="2000" dirty="0">
                          <a:solidFill>
                            <a:schemeClr val="tx1"/>
                          </a:solidFill>
                          <a:latin typeface="Arial" panose="020B0604020202020204" pitchFamily="34" charset="0"/>
                        </a:rPr>
                        <a:t>没能响应中断。 </a:t>
                      </a:r>
                      <a:endParaRPr lang="zh-CN" altLang="en-US" sz="2000" dirty="0">
                        <a:solidFill>
                          <a:schemeClr val="tx1"/>
                        </a:solidFill>
                        <a:latin typeface="Arial" panose="020B0604020202020204" pitchFamily="34" charset="0"/>
                      </a:endParaRPr>
                    </a:p>
                  </a:txBody>
                  <a:tcPr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eaLnBrk="1" hangingPunct="1">
                        <a:lnSpc>
                          <a:spcPct val="110000"/>
                        </a:lnSpc>
                        <a:buNone/>
                      </a:pPr>
                      <a:r>
                        <a:rPr lang="en-US" altLang="zh-CN" sz="2000" dirty="0">
                          <a:solidFill>
                            <a:schemeClr val="tx1"/>
                          </a:solidFill>
                          <a:latin typeface="Arial" panose="020B0604020202020204" pitchFamily="34" charset="0"/>
                        </a:rPr>
                        <a:t>B</a:t>
                      </a:r>
                      <a:r>
                        <a:rPr lang="zh-CN" altLang="en-US" sz="2000" dirty="0">
                          <a:solidFill>
                            <a:schemeClr val="tx1"/>
                          </a:solidFill>
                          <a:latin typeface="Arial" panose="020B0604020202020204" pitchFamily="34" charset="0"/>
                        </a:rPr>
                        <a:t>无法进入通讯程序，因此无法接收</a:t>
                      </a:r>
                      <a:r>
                        <a:rPr lang="en-US" altLang="zh-CN" sz="2000" dirty="0">
                          <a:solidFill>
                            <a:schemeClr val="tx1"/>
                          </a:solidFill>
                          <a:latin typeface="Arial" panose="020B0604020202020204" pitchFamily="34" charset="0"/>
                        </a:rPr>
                        <a:t>A</a:t>
                      </a:r>
                      <a:r>
                        <a:rPr lang="zh-CN" altLang="en-US" sz="2000" dirty="0">
                          <a:solidFill>
                            <a:schemeClr val="tx1"/>
                          </a:solidFill>
                          <a:latin typeface="Arial" panose="020B0604020202020204" pitchFamily="34" charset="0"/>
                        </a:rPr>
                        <a:t>发送的数据。 </a:t>
                      </a:r>
                      <a:endParaRPr lang="zh-CN" altLang="en-US" sz="2000" dirty="0">
                        <a:solidFill>
                          <a:schemeClr val="tx1"/>
                        </a:solidFill>
                        <a:latin typeface="Arial" panose="020B0604020202020204" pitchFamily="34" charset="0"/>
                      </a:endParaRPr>
                    </a:p>
                  </a:txBody>
                  <a:tcPr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lnSpc>
                          <a:spcPct val="110000"/>
                        </a:lnSpc>
                        <a:buNone/>
                      </a:pPr>
                      <a:r>
                        <a:rPr lang="zh-CN" altLang="en-US" sz="2000" dirty="0">
                          <a:solidFill>
                            <a:schemeClr val="tx1"/>
                          </a:solidFill>
                          <a:latin typeface="Arial" panose="020B0604020202020204" pitchFamily="34" charset="0"/>
                        </a:rPr>
                        <a:t>严重</a:t>
                      </a:r>
                      <a:endParaRPr lang="zh-CN" altLang="en-US" sz="2000" dirty="0">
                        <a:solidFill>
                          <a:schemeClr val="tx1"/>
                        </a:solidFill>
                        <a:latin typeface="Arial" panose="020B0604020202020204" pitchFamily="34" charset="0"/>
                      </a:endParaRPr>
                    </a:p>
                  </a:txBody>
                  <a:tcPr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eaLnBrk="1" hangingPunct="1">
                        <a:lnSpc>
                          <a:spcPct val="110000"/>
                        </a:lnSpc>
                        <a:buNone/>
                      </a:pPr>
                      <a:r>
                        <a:rPr lang="zh-CN" altLang="en-US" sz="2000" dirty="0">
                          <a:solidFill>
                            <a:schemeClr val="tx1"/>
                          </a:solidFill>
                          <a:latin typeface="Arial" panose="020B0604020202020204" pitchFamily="34" charset="0"/>
                        </a:rPr>
                        <a:t>在</a:t>
                      </a:r>
                      <a:r>
                        <a:rPr lang="en-US" altLang="zh-CN" sz="2000" dirty="0">
                          <a:solidFill>
                            <a:schemeClr val="tx1"/>
                          </a:solidFill>
                          <a:latin typeface="Arial" panose="020B0604020202020204" pitchFamily="34" charset="0"/>
                        </a:rPr>
                        <a:t>A</a:t>
                      </a:r>
                      <a:r>
                        <a:rPr lang="zh-CN" altLang="en-US" sz="2000" dirty="0">
                          <a:solidFill>
                            <a:schemeClr val="tx1"/>
                          </a:solidFill>
                          <a:latin typeface="Arial" panose="020B0604020202020204" pitchFamily="34" charset="0"/>
                        </a:rPr>
                        <a:t>中设置定时器，当在允许的时间后仍无</a:t>
                      </a:r>
                      <a:r>
                        <a:rPr lang="en-US" altLang="zh-CN" sz="2000" dirty="0">
                          <a:solidFill>
                            <a:schemeClr val="tx1"/>
                          </a:solidFill>
                          <a:latin typeface="Arial" panose="020B0604020202020204" pitchFamily="34" charset="0"/>
                        </a:rPr>
                        <a:t>B</a:t>
                      </a:r>
                      <a:r>
                        <a:rPr lang="zh-CN" altLang="en-US" sz="2000" dirty="0">
                          <a:solidFill>
                            <a:schemeClr val="tx1"/>
                          </a:solidFill>
                          <a:latin typeface="Arial" panose="020B0604020202020204" pitchFamily="34" charset="0"/>
                        </a:rPr>
                        <a:t>的响应信息，放弃此帧通讯。</a:t>
                      </a:r>
                      <a:endParaRPr lang="zh-CN" altLang="en-US" sz="2000" dirty="0">
                        <a:solidFill>
                          <a:schemeClr val="tx1"/>
                        </a:solidFill>
                        <a:latin typeface="Arial" panose="020B0604020202020204" pitchFamily="34" charset="0"/>
                      </a:endParaRPr>
                    </a:p>
                  </a:txBody>
                  <a:tcPr anchor="ctr" anchorCtr="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bl>
          </a:graphicData>
        </a:graphic>
      </p:graphicFrame>
    </p:spTree>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9874" name="Rectangle 2"/>
          <p:cNvSpPr>
            <a:spLocks noGrp="1"/>
          </p:cNvSpPr>
          <p:nvPr>
            <p:ph type="title"/>
          </p:nvPr>
        </p:nvSpPr>
        <p:spPr/>
        <p:txBody>
          <a:bodyPr vert="horz" wrap="square" lIns="91440" tIns="45720" rIns="91440" bIns="45720" anchor="ctr" anchorCtr="0"/>
          <a:p>
            <a:r>
              <a:rPr lang="zh-CN" altLang="en-US" dirty="0" smtClean="0">
                <a:solidFill>
                  <a:srgbClr val="C00000"/>
                </a:solidFill>
              </a:rPr>
              <a:t>详细级SFMEA步骤</a:t>
            </a:r>
            <a:endParaRPr lang="zh-CN" altLang="en-US" dirty="0" smtClean="0">
              <a:solidFill>
                <a:srgbClr val="C00000"/>
              </a:solidFill>
            </a:endParaRPr>
          </a:p>
        </p:txBody>
      </p:sp>
      <p:sp>
        <p:nvSpPr>
          <p:cNvPr id="84995" name="Rectangle 3"/>
          <p:cNvSpPr>
            <a:spLocks noGrp="1" noChangeArrowheads="1"/>
          </p:cNvSpPr>
          <p:nvPr>
            <p:ph idx="1"/>
          </p:nvPr>
        </p:nvSpPr>
        <p:spPr/>
        <p:txBody>
          <a:bodyPr vert="horz" lIns="91440" tIns="45720" rIns="91440" bIns="45720" rtlCol="0">
            <a:normAutofit fontScale="85000"/>
          </a:bodyPr>
          <a:lstStyle/>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zh-CN" altLang="en-US" sz="3300" b="0" i="0" u="none" strike="noStrike" kern="1200" cap="none" spc="0" normalizeH="0" baseline="0" noProof="0" smtClean="0">
                <a:ln>
                  <a:noFill/>
                </a:ln>
                <a:solidFill>
                  <a:schemeClr val="tx1"/>
                </a:solidFill>
                <a:effectLst/>
                <a:uLnTx/>
                <a:uFillTx/>
                <a:latin typeface="+mn-lt"/>
                <a:ea typeface="+mn-ea"/>
                <a:cs typeface="+mn-cs"/>
              </a:rPr>
              <a:t>分析每个软件模块的输入输出变量和算法的失效模式，追踪每个失效模式对软件系统的影响直至输出，最后将最终的软件状态与预先定义的软件危险状态对比判断是否存在危险的软件失效。</a:t>
            </a:r>
            <a:endParaRPr kumimoji="0" lang="zh-CN" altLang="en-US" sz="3300" b="0" i="0" u="none" strike="noStrike" kern="1200" cap="none" spc="0" normalizeH="0" baseline="0" noProof="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zh-CN" altLang="en-US" sz="2800" b="1" i="0" u="none" strike="noStrike" kern="1200" cap="none" spc="0" normalizeH="0" baseline="0" noProof="0" smtClean="0">
                <a:ln>
                  <a:noFill/>
                </a:ln>
                <a:solidFill>
                  <a:srgbClr val="FF0000"/>
                </a:solidFill>
                <a:effectLst/>
                <a:uLnTx/>
                <a:uFillTx/>
                <a:latin typeface="+mn-lt"/>
                <a:ea typeface="+mn-ea"/>
                <a:cs typeface="+mn-cs"/>
              </a:rPr>
              <a:t>建立变量映射关系</a:t>
            </a:r>
            <a:endParaRPr kumimoji="0" lang="zh-CN" altLang="en-US" sz="2800" b="1" i="0" u="none" strike="noStrike" kern="1200" cap="none" spc="0" normalizeH="0" baseline="0" noProof="0" smtClean="0">
              <a:ln>
                <a:noFill/>
              </a:ln>
              <a:solidFill>
                <a:srgbClr val="FF0000"/>
              </a:solidFill>
              <a:effectLst/>
              <a:uLnTx/>
              <a:uFillTx/>
              <a:latin typeface="+mn-lt"/>
              <a:ea typeface="+mn-ea"/>
              <a:cs typeface="+mn-cs"/>
            </a:endParaRPr>
          </a:p>
          <a:p>
            <a:pPr marL="1143000" marR="0" lvl="2" indent="-2286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zh-CN" altLang="en-US" sz="2400" b="0" i="0" u="none" strike="noStrike" kern="1200" cap="none" spc="0" normalizeH="0" baseline="0" noProof="0" smtClean="0">
                <a:ln>
                  <a:noFill/>
                </a:ln>
                <a:solidFill>
                  <a:schemeClr val="tx1"/>
                </a:solidFill>
                <a:effectLst/>
                <a:uLnTx/>
                <a:uFillTx/>
                <a:latin typeface="+mn-lt"/>
                <a:ea typeface="+mn-ea"/>
                <a:cs typeface="+mn-cs"/>
              </a:rPr>
              <a:t>软件模块使用哪些变量、变量类型、输入变量来源</a:t>
            </a:r>
            <a:endParaRPr kumimoji="0" lang="zh-CN" altLang="en-US" sz="2400" b="0" i="0" u="none" strike="noStrike" kern="1200" cap="none" spc="0" normalizeH="0" baseline="0" noProof="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zh-CN" altLang="en-US" sz="2800" b="1" i="0" u="none" strike="noStrike" kern="1200" cap="none" spc="0" normalizeH="0" baseline="0" noProof="0" smtClean="0">
                <a:ln>
                  <a:noFill/>
                </a:ln>
                <a:solidFill>
                  <a:srgbClr val="FF0000"/>
                </a:solidFill>
                <a:effectLst/>
                <a:uLnTx/>
                <a:uFillTx/>
                <a:latin typeface="+mn-lt"/>
                <a:ea typeface="+mn-ea"/>
                <a:cs typeface="+mn-cs"/>
              </a:rPr>
              <a:t>建立软件线索</a:t>
            </a:r>
            <a:endParaRPr kumimoji="0" lang="zh-CN" altLang="en-US" sz="2800" b="1" i="0" u="none" strike="noStrike" kern="1200" cap="none" spc="0" normalizeH="0" baseline="0" noProof="0" smtClean="0">
              <a:ln>
                <a:noFill/>
              </a:ln>
              <a:solidFill>
                <a:srgbClr val="FF0000"/>
              </a:solidFill>
              <a:effectLst/>
              <a:uLnTx/>
              <a:uFillTx/>
              <a:latin typeface="+mn-lt"/>
              <a:ea typeface="+mn-ea"/>
              <a:cs typeface="+mn-cs"/>
            </a:endParaRPr>
          </a:p>
          <a:p>
            <a:pPr marL="1143000" marR="0" lvl="2" indent="-2286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zh-CN" altLang="en-US" sz="2400" b="0" i="0" u="none" strike="noStrike" kern="1200" cap="none" spc="0" normalizeH="0" baseline="0" noProof="0" smtClean="0">
                <a:ln>
                  <a:noFill/>
                </a:ln>
                <a:solidFill>
                  <a:schemeClr val="tx1"/>
                </a:solidFill>
                <a:effectLst/>
                <a:uLnTx/>
                <a:uFillTx/>
                <a:latin typeface="+mn-lt"/>
                <a:ea typeface="+mn-ea"/>
                <a:cs typeface="+mn-cs"/>
              </a:rPr>
              <a:t>变量经过一系列处理到系统输出变量之间的映射关系</a:t>
            </a:r>
            <a:endParaRPr kumimoji="0" lang="zh-CN" altLang="en-US" sz="2400" b="0" i="0" u="none" strike="noStrike" kern="1200" cap="none" spc="0" normalizeH="0" baseline="0" noProof="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zh-CN" altLang="en-US" sz="2800" b="1" i="0" u="none" strike="noStrike" kern="1200" cap="none" spc="0" normalizeH="0" baseline="0" noProof="0" smtClean="0">
                <a:ln>
                  <a:noFill/>
                </a:ln>
                <a:solidFill>
                  <a:srgbClr val="FF0000"/>
                </a:solidFill>
                <a:effectLst/>
                <a:uLnTx/>
                <a:uFillTx/>
                <a:latin typeface="+mn-lt"/>
                <a:ea typeface="+mn-ea"/>
                <a:cs typeface="+mn-cs"/>
              </a:rPr>
              <a:t>确定软件失效模式</a:t>
            </a:r>
            <a:endParaRPr kumimoji="0" lang="zh-CN" altLang="en-US" sz="2800" b="1" i="0" u="none" strike="noStrike" kern="1200" cap="none" spc="0" normalizeH="0" baseline="0" noProof="0" smtClean="0">
              <a:ln>
                <a:noFill/>
              </a:ln>
              <a:solidFill>
                <a:srgbClr val="FF0000"/>
              </a:solidFill>
              <a:effectLst/>
              <a:uLnTx/>
              <a:uFillTx/>
              <a:latin typeface="+mn-lt"/>
              <a:ea typeface="+mn-ea"/>
              <a:cs typeface="+mn-cs"/>
            </a:endParaRPr>
          </a:p>
          <a:p>
            <a:pPr marL="1143000" marR="0" lvl="2" indent="-2286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zh-CN" altLang="en-US" sz="2400" b="0" i="0" u="none" strike="noStrike" kern="1200" cap="none" spc="0" normalizeH="0" baseline="0" noProof="0" smtClean="0">
                <a:ln>
                  <a:noFill/>
                </a:ln>
                <a:solidFill>
                  <a:schemeClr val="tx1"/>
                </a:solidFill>
                <a:effectLst/>
                <a:uLnTx/>
                <a:uFillTx/>
                <a:latin typeface="+mn-lt"/>
                <a:ea typeface="+mn-ea"/>
                <a:cs typeface="+mn-cs"/>
              </a:rPr>
              <a:t>变量及算法的失效模式</a:t>
            </a:r>
            <a:endParaRPr kumimoji="0" lang="zh-CN" altLang="en-US" sz="2400" b="0" i="0" u="none" strike="noStrike" kern="1200" cap="none" spc="0" normalizeH="0" baseline="0" noProof="0" smtClean="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zh-CN" altLang="en-US" sz="2800" b="1" i="0" u="none" strike="noStrike" kern="1200" cap="none" spc="0" normalizeH="0" baseline="0" noProof="0" smtClean="0">
                <a:ln>
                  <a:noFill/>
                </a:ln>
                <a:solidFill>
                  <a:srgbClr val="FF0000"/>
                </a:solidFill>
                <a:effectLst/>
                <a:uLnTx/>
                <a:uFillTx/>
                <a:latin typeface="+mn-lt"/>
                <a:ea typeface="+mn-ea"/>
                <a:cs typeface="+mn-cs"/>
              </a:rPr>
              <a:t>失效影响分析</a:t>
            </a:r>
            <a:endParaRPr kumimoji="0" lang="zh-CN" altLang="en-US" sz="2800" b="1" i="0" u="none" strike="noStrike" kern="1200" cap="none" spc="0" normalizeH="0" baseline="0" noProof="0" smtClean="0">
              <a:ln>
                <a:noFill/>
              </a:ln>
              <a:solidFill>
                <a:srgbClr val="FF0000"/>
              </a:solidFill>
              <a:effectLst/>
              <a:uLnTx/>
              <a:uFillTx/>
              <a:latin typeface="+mn-lt"/>
              <a:ea typeface="+mn-ea"/>
              <a:cs typeface="+mn-cs"/>
            </a:endParaRPr>
          </a:p>
          <a:p>
            <a:pPr marL="1143000" marR="0" lvl="2" indent="-2286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zh-CN" altLang="en-US" sz="2400" b="0" i="0" u="none" strike="noStrike" kern="1200" cap="none" spc="0" normalizeH="0" baseline="0" noProof="0" smtClean="0">
                <a:ln>
                  <a:noFill/>
                </a:ln>
                <a:solidFill>
                  <a:schemeClr val="tx1"/>
                </a:solidFill>
                <a:effectLst/>
                <a:uLnTx/>
                <a:uFillTx/>
                <a:latin typeface="+mn-lt"/>
                <a:ea typeface="+mn-ea"/>
                <a:cs typeface="+mn-cs"/>
              </a:rPr>
              <a:t>由模块追溯到系统影响</a:t>
            </a:r>
            <a:endParaRPr kumimoji="0" lang="zh-CN" altLang="en-US" sz="2400" b="0" i="0" u="none" strike="noStrike" kern="1200" cap="none" spc="0" normalizeH="0" baseline="0" noProof="0" smtClean="0">
              <a:ln>
                <a:noFill/>
              </a:ln>
              <a:solidFill>
                <a:schemeClr val="tx1"/>
              </a:solidFill>
              <a:effectLst/>
              <a:uLnTx/>
              <a:uFillTx/>
              <a:latin typeface="+mn-lt"/>
              <a:ea typeface="+mn-ea"/>
              <a:cs typeface="+mn-cs"/>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4995">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4995">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4995">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4995">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4995">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84995">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84995">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8499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dirty="0" smtClean="0">
                <a:solidFill>
                  <a:srgbClr val="C00000"/>
                </a:solidFill>
                <a:sym typeface="+mn-ea"/>
              </a:rPr>
              <a:t>4.1 </a:t>
            </a:r>
            <a:r>
              <a:rPr lang="zh-CN" altLang="en-US" dirty="0" smtClean="0">
                <a:solidFill>
                  <a:srgbClr val="C00000"/>
                </a:solidFill>
                <a:sym typeface="+mn-ea"/>
              </a:rPr>
              <a:t>软件失效模式和影响分析（SFMEA）</a:t>
            </a:r>
            <a:endParaRPr lang="zh-CN" altLang="en-US"/>
          </a:p>
        </p:txBody>
      </p:sp>
      <p:sp>
        <p:nvSpPr>
          <p:cNvPr id="3" name="内容占位符 2"/>
          <p:cNvSpPr>
            <a:spLocks noGrp="1"/>
          </p:cNvSpPr>
          <p:nvPr>
            <p:ph idx="1"/>
          </p:nvPr>
        </p:nvSpPr>
        <p:spPr>
          <a:xfrm>
            <a:off x="838200" y="1538605"/>
            <a:ext cx="10515600" cy="5178425"/>
          </a:xfrm>
        </p:spPr>
        <p:txBody>
          <a:bodyPr>
            <a:normAutofit lnSpcReduction="20000"/>
          </a:bodyPr>
          <a:p>
            <a:pPr>
              <a:lnSpc>
                <a:spcPts val="3580"/>
              </a:lnSpc>
              <a:spcBef>
                <a:spcPts val="0"/>
              </a:spcBef>
            </a:pPr>
            <a:r>
              <a:rPr lang="en-US" altLang="zh-CN" dirty="0">
                <a:sym typeface="+mn-ea"/>
              </a:rPr>
              <a:t>SFMEA</a:t>
            </a:r>
            <a:r>
              <a:rPr lang="zh-CN" altLang="en-US" dirty="0">
                <a:sym typeface="+mn-ea"/>
              </a:rPr>
              <a:t>的优点：</a:t>
            </a:r>
            <a:endParaRPr lang="zh-CN" altLang="en-US" dirty="0">
              <a:sym typeface="+mn-ea"/>
            </a:endParaRPr>
          </a:p>
          <a:p>
            <a:pPr marR="0" lvl="1" algn="l" defTabSz="914400" rtl="0">
              <a:lnSpc>
                <a:spcPts val="3880"/>
              </a:lnSpc>
              <a:spcBef>
                <a:spcPts val="0"/>
              </a:spcBef>
              <a:spcAft>
                <a:spcPts val="0"/>
              </a:spcAft>
              <a:buClrTx/>
              <a:buSzTx/>
              <a:buFont typeface="Arial" panose="020B0604020202020204" pitchFamily="34" charset="0"/>
              <a:buChar char="•"/>
              <a:defRPr/>
            </a:pPr>
            <a:r>
              <a:rPr lang="zh-CN" altLang="en-US" noProof="0" smtClean="0">
                <a:ln>
                  <a:noFill/>
                </a:ln>
                <a:effectLst/>
                <a:uLnTx/>
                <a:uFillTx/>
                <a:sym typeface="+mn-ea"/>
              </a:rPr>
              <a:t>突出需要更改的部分</a:t>
            </a:r>
            <a:endParaRPr kumimoji="0" lang="zh-CN" altLang="en-US" b="0" i="0" u="none" strike="noStrike" kern="1200" cap="none" spc="0" normalizeH="0" baseline="0" noProof="0" smtClean="0">
              <a:ln>
                <a:noFill/>
              </a:ln>
              <a:solidFill>
                <a:schemeClr val="tx1"/>
              </a:solidFill>
              <a:effectLst/>
              <a:uLnTx/>
              <a:uFillTx/>
              <a:latin typeface="+mn-lt"/>
              <a:ea typeface="+mn-ea"/>
              <a:cs typeface="+mn-cs"/>
            </a:endParaRPr>
          </a:p>
          <a:p>
            <a:pPr marR="0" lvl="1" algn="l" defTabSz="914400" rtl="0">
              <a:lnSpc>
                <a:spcPts val="3880"/>
              </a:lnSpc>
              <a:spcBef>
                <a:spcPts val="0"/>
              </a:spcBef>
              <a:spcAft>
                <a:spcPts val="0"/>
              </a:spcAft>
              <a:buClrTx/>
              <a:buSzTx/>
              <a:buFont typeface="Arial" panose="020B0604020202020204" pitchFamily="34" charset="0"/>
              <a:buChar char="•"/>
              <a:defRPr/>
            </a:pPr>
            <a:r>
              <a:rPr lang="zh-CN" altLang="en-US" noProof="0" smtClean="0">
                <a:ln>
                  <a:noFill/>
                </a:ln>
                <a:effectLst/>
                <a:uLnTx/>
                <a:uFillTx/>
                <a:sym typeface="+mn-ea"/>
              </a:rPr>
              <a:t>分析底层故障如何在整个系统中逐级向上传播</a:t>
            </a:r>
            <a:endParaRPr kumimoji="0" lang="zh-CN" altLang="en-US" b="0" i="0" u="none" strike="noStrike" kern="1200" cap="none" spc="0" normalizeH="0" baseline="0" noProof="0" smtClean="0">
              <a:ln>
                <a:noFill/>
              </a:ln>
              <a:solidFill>
                <a:schemeClr val="tx1"/>
              </a:solidFill>
              <a:effectLst/>
              <a:uLnTx/>
              <a:uFillTx/>
              <a:latin typeface="+mn-lt"/>
              <a:ea typeface="+mn-ea"/>
              <a:cs typeface="+mn-cs"/>
            </a:endParaRPr>
          </a:p>
          <a:p>
            <a:pPr marR="0" lvl="1" algn="l" defTabSz="914400" rtl="0">
              <a:lnSpc>
                <a:spcPts val="3880"/>
              </a:lnSpc>
              <a:spcBef>
                <a:spcPts val="0"/>
              </a:spcBef>
              <a:spcAft>
                <a:spcPts val="0"/>
              </a:spcAft>
              <a:buClrTx/>
              <a:buSzTx/>
              <a:buFont typeface="Arial" panose="020B0604020202020204" pitchFamily="34" charset="0"/>
              <a:buChar char="•"/>
              <a:defRPr/>
            </a:pPr>
            <a:r>
              <a:rPr lang="zh-CN" altLang="en-US" noProof="0" smtClean="0">
                <a:ln>
                  <a:noFill/>
                </a:ln>
                <a:effectLst/>
                <a:uLnTx/>
                <a:uFillTx/>
                <a:sym typeface="+mn-ea"/>
              </a:rPr>
              <a:t>分析应在何处采取容错、故障检测和运行监控等设计手段</a:t>
            </a:r>
            <a:endParaRPr kumimoji="0" lang="zh-CN" altLang="en-US" b="0" i="0" u="none" strike="noStrike" kern="1200" cap="none" spc="0" normalizeH="0" baseline="0" noProof="0" smtClean="0">
              <a:ln>
                <a:noFill/>
              </a:ln>
              <a:solidFill>
                <a:schemeClr val="tx1"/>
              </a:solidFill>
              <a:effectLst/>
              <a:uLnTx/>
              <a:uFillTx/>
              <a:latin typeface="+mn-lt"/>
              <a:ea typeface="+mn-ea"/>
              <a:cs typeface="+mn-cs"/>
            </a:endParaRPr>
          </a:p>
          <a:p>
            <a:pPr marR="0" lvl="1" algn="l" defTabSz="914400" rtl="0">
              <a:lnSpc>
                <a:spcPts val="3880"/>
              </a:lnSpc>
              <a:spcBef>
                <a:spcPts val="0"/>
              </a:spcBef>
              <a:spcAft>
                <a:spcPts val="0"/>
              </a:spcAft>
              <a:buClrTx/>
              <a:buSzTx/>
              <a:buFont typeface="Arial" panose="020B0604020202020204" pitchFamily="34" charset="0"/>
              <a:buChar char="•"/>
              <a:defRPr/>
            </a:pPr>
            <a:r>
              <a:rPr lang="zh-CN" altLang="en-US" noProof="0" smtClean="0">
                <a:ln>
                  <a:noFill/>
                </a:ln>
                <a:effectLst/>
                <a:uLnTx/>
                <a:uFillTx/>
                <a:sym typeface="+mn-ea"/>
              </a:rPr>
              <a:t>识别将导致系统崩溃的单点故障</a:t>
            </a:r>
            <a:endParaRPr kumimoji="0" lang="zh-CN" altLang="en-US" b="0" i="0" u="none" strike="noStrike" kern="1200" cap="none" spc="0" normalizeH="0" baseline="0" noProof="0" smtClean="0">
              <a:ln>
                <a:noFill/>
              </a:ln>
              <a:solidFill>
                <a:schemeClr val="tx1"/>
              </a:solidFill>
              <a:effectLst/>
              <a:uLnTx/>
              <a:uFillTx/>
              <a:latin typeface="+mn-lt"/>
              <a:ea typeface="+mn-ea"/>
              <a:cs typeface="+mn-cs"/>
            </a:endParaRPr>
          </a:p>
          <a:p>
            <a:pPr marR="0" lvl="1" algn="l" defTabSz="914400" rtl="0">
              <a:lnSpc>
                <a:spcPts val="3880"/>
              </a:lnSpc>
              <a:spcBef>
                <a:spcPts val="0"/>
              </a:spcBef>
              <a:spcAft>
                <a:spcPts val="0"/>
              </a:spcAft>
              <a:buClrTx/>
              <a:buSzTx/>
              <a:buFont typeface="Arial" panose="020B0604020202020204" pitchFamily="34" charset="0"/>
              <a:buChar char="•"/>
              <a:defRPr/>
            </a:pPr>
            <a:r>
              <a:rPr lang="zh-CN" altLang="en-US" noProof="0" smtClean="0">
                <a:ln>
                  <a:noFill/>
                </a:ln>
                <a:effectLst/>
                <a:uLnTx/>
                <a:uFillTx/>
                <a:sym typeface="+mn-ea"/>
              </a:rPr>
              <a:t>可以按照对设备和人员影响的严重程度对软件失效严重性进行分级</a:t>
            </a:r>
            <a:endParaRPr lang="zh-CN" altLang="en-US" noProof="0" smtClean="0">
              <a:ln>
                <a:noFill/>
              </a:ln>
              <a:effectLst/>
              <a:uLnTx/>
              <a:uFillTx/>
              <a:sym typeface="+mn-ea"/>
            </a:endParaRPr>
          </a:p>
          <a:p>
            <a:pPr>
              <a:lnSpc>
                <a:spcPts val="3580"/>
              </a:lnSpc>
              <a:spcBef>
                <a:spcPts val="0"/>
              </a:spcBef>
            </a:pPr>
            <a:endParaRPr kumimoji="0" lang="zh-CN" altLang="en-US" b="0" i="0" u="none" strike="noStrike" kern="1200" cap="none" spc="0" normalizeH="0" baseline="0" noProof="0" dirty="0" smtClean="0">
              <a:ln>
                <a:noFill/>
              </a:ln>
              <a:solidFill>
                <a:schemeClr val="tx1"/>
              </a:solidFill>
              <a:effectLst/>
              <a:uLnTx/>
              <a:uFillTx/>
              <a:latin typeface="+mn-lt"/>
              <a:ea typeface="+mn-ea"/>
              <a:cs typeface="+mn-cs"/>
              <a:sym typeface="+mn-ea"/>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dirty="0" smtClean="0">
                <a:solidFill>
                  <a:srgbClr val="C00000"/>
                </a:solidFill>
                <a:sym typeface="+mn-ea"/>
              </a:rPr>
              <a:t>4.1 </a:t>
            </a:r>
            <a:r>
              <a:rPr lang="zh-CN" altLang="en-US" dirty="0" smtClean="0">
                <a:solidFill>
                  <a:srgbClr val="C00000"/>
                </a:solidFill>
                <a:sym typeface="+mn-ea"/>
              </a:rPr>
              <a:t>软件失效模式和影响分析（SFMEA）</a:t>
            </a:r>
            <a:endParaRPr lang="zh-CN" altLang="en-US"/>
          </a:p>
        </p:txBody>
      </p:sp>
      <p:sp>
        <p:nvSpPr>
          <p:cNvPr id="3" name="内容占位符 2"/>
          <p:cNvSpPr>
            <a:spLocks noGrp="1"/>
          </p:cNvSpPr>
          <p:nvPr>
            <p:ph idx="1"/>
          </p:nvPr>
        </p:nvSpPr>
        <p:spPr>
          <a:xfrm>
            <a:off x="838200" y="1538605"/>
            <a:ext cx="10515600" cy="5178425"/>
          </a:xfrm>
        </p:spPr>
        <p:txBody>
          <a:bodyPr>
            <a:normAutofit lnSpcReduction="20000"/>
          </a:bodyPr>
          <a:p>
            <a:pPr marR="0" lvl="0" algn="l" defTabSz="914400" rtl="0">
              <a:lnSpc>
                <a:spcPts val="3780"/>
              </a:lnSpc>
              <a:spcBef>
                <a:spcPts val="1200"/>
              </a:spcBef>
              <a:spcAft>
                <a:spcPts val="0"/>
              </a:spcAft>
              <a:buClrTx/>
              <a:buSzTx/>
              <a:buFont typeface="Arial" panose="020B0604020202020204" pitchFamily="34" charset="0"/>
              <a:buChar char="•"/>
              <a:defRPr/>
            </a:pPr>
            <a:r>
              <a:rPr lang="en-US" altLang="zh-CN" dirty="0">
                <a:sym typeface="+mn-ea"/>
              </a:rPr>
              <a:t>SFMEA</a:t>
            </a:r>
            <a:r>
              <a:rPr lang="zh-CN" altLang="en-US" dirty="0">
                <a:sym typeface="+mn-ea"/>
              </a:rPr>
              <a:t>的</a:t>
            </a:r>
            <a:r>
              <a:rPr lang="zh-CN" altLang="en-US" dirty="0">
                <a:sym typeface="+mn-ea"/>
              </a:rPr>
              <a:t>缺点：</a:t>
            </a:r>
            <a:endParaRPr lang="zh-CN" altLang="en-US" dirty="0">
              <a:sym typeface="+mn-ea"/>
            </a:endParaRPr>
          </a:p>
          <a:p>
            <a:pPr marR="0" lvl="1" algn="l" defTabSz="914400" rtl="0">
              <a:lnSpc>
                <a:spcPts val="3780"/>
              </a:lnSpc>
              <a:spcBef>
                <a:spcPts val="1200"/>
              </a:spcBef>
              <a:spcAft>
                <a:spcPts val="0"/>
              </a:spcAft>
              <a:buClrTx/>
              <a:buSzTx/>
              <a:buFont typeface="Arial" panose="020B0604020202020204" pitchFamily="34" charset="0"/>
              <a:buChar char="•"/>
              <a:defRPr/>
            </a:pPr>
            <a:r>
              <a:rPr lang="zh-CN" altLang="en-US" noProof="0" smtClean="0">
                <a:ln>
                  <a:noFill/>
                </a:ln>
                <a:effectLst/>
                <a:uLnTx/>
                <a:uFillTx/>
                <a:sym typeface="+mn-ea"/>
              </a:rPr>
              <a:t>不能识别人为错误造成的潜在失效</a:t>
            </a:r>
            <a:endParaRPr kumimoji="0" lang="zh-CN" altLang="en-US" b="0" i="0" u="none" strike="noStrike" kern="1200" cap="none" spc="0" normalizeH="0" baseline="0" noProof="0" smtClean="0">
              <a:ln>
                <a:noFill/>
              </a:ln>
              <a:solidFill>
                <a:schemeClr val="tx1"/>
              </a:solidFill>
              <a:effectLst/>
              <a:uLnTx/>
              <a:uFillTx/>
              <a:latin typeface="+mn-lt"/>
              <a:ea typeface="+mn-ea"/>
              <a:cs typeface="+mn-cs"/>
            </a:endParaRPr>
          </a:p>
          <a:p>
            <a:pPr marR="0" lvl="1" algn="l" defTabSz="914400" rtl="0">
              <a:lnSpc>
                <a:spcPts val="3780"/>
              </a:lnSpc>
              <a:spcBef>
                <a:spcPts val="1200"/>
              </a:spcBef>
              <a:spcAft>
                <a:spcPts val="0"/>
              </a:spcAft>
              <a:buClrTx/>
              <a:buSzTx/>
              <a:buFont typeface="Arial" panose="020B0604020202020204" pitchFamily="34" charset="0"/>
              <a:buChar char="•"/>
              <a:defRPr/>
            </a:pPr>
            <a:r>
              <a:rPr lang="zh-CN" altLang="en-US" noProof="0" smtClean="0">
                <a:ln>
                  <a:noFill/>
                </a:ln>
                <a:effectLst/>
                <a:uLnTx/>
                <a:uFillTx/>
                <a:sym typeface="+mn-ea"/>
              </a:rPr>
              <a:t>作为一个工具尚未广泛的应用于对软件错误的评估</a:t>
            </a:r>
            <a:endParaRPr kumimoji="0" lang="zh-CN" altLang="en-US" b="0" i="0" u="none" strike="noStrike" kern="1200" cap="none" spc="0" normalizeH="0" baseline="0" noProof="0" smtClean="0">
              <a:ln>
                <a:noFill/>
              </a:ln>
              <a:solidFill>
                <a:schemeClr val="tx1"/>
              </a:solidFill>
              <a:effectLst/>
              <a:uLnTx/>
              <a:uFillTx/>
              <a:latin typeface="+mn-lt"/>
              <a:ea typeface="+mn-ea"/>
              <a:cs typeface="+mn-cs"/>
            </a:endParaRPr>
          </a:p>
          <a:p>
            <a:pPr marR="0" lvl="1" algn="l" defTabSz="914400" rtl="0">
              <a:lnSpc>
                <a:spcPts val="3780"/>
              </a:lnSpc>
              <a:spcBef>
                <a:spcPts val="1200"/>
              </a:spcBef>
              <a:spcAft>
                <a:spcPts val="0"/>
              </a:spcAft>
              <a:buClrTx/>
              <a:buSzTx/>
              <a:buFont typeface="Arial" panose="020B0604020202020204" pitchFamily="34" charset="0"/>
              <a:buChar char="•"/>
              <a:defRPr/>
            </a:pPr>
            <a:r>
              <a:rPr lang="zh-CN" altLang="en-US" noProof="0" smtClean="0">
                <a:ln>
                  <a:noFill/>
                </a:ln>
                <a:effectLst/>
                <a:uLnTx/>
                <a:uFillTx/>
                <a:sym typeface="+mn-ea"/>
              </a:rPr>
              <a:t>用于分析路径十分复杂或相互交联的软件时，SFMEA是一项繁琐、劳动强度高的工作</a:t>
            </a:r>
            <a:endParaRPr kumimoji="0" lang="zh-CN" altLang="en-US" b="0" i="0" u="none" strike="noStrike" kern="1200" cap="none" spc="0" normalizeH="0" baseline="0" noProof="0" smtClean="0">
              <a:ln>
                <a:noFill/>
              </a:ln>
              <a:solidFill>
                <a:schemeClr val="tx1"/>
              </a:solidFill>
              <a:effectLst/>
              <a:uLnTx/>
              <a:uFillTx/>
              <a:latin typeface="+mn-lt"/>
              <a:ea typeface="+mn-ea"/>
              <a:cs typeface="+mn-cs"/>
            </a:endParaRPr>
          </a:p>
          <a:p>
            <a:pPr marR="0" algn="l" defTabSz="914400" rtl="0">
              <a:lnSpc>
                <a:spcPts val="3780"/>
              </a:lnSpc>
              <a:spcBef>
                <a:spcPts val="1200"/>
              </a:spcBef>
              <a:spcAft>
                <a:spcPts val="0"/>
              </a:spcAft>
              <a:buClrTx/>
              <a:buSzTx/>
              <a:buFont typeface="Arial" panose="020B0604020202020204" pitchFamily="34" charset="0"/>
              <a:buChar char="•"/>
            </a:pPr>
            <a:endParaRPr kumimoji="0" lang="zh-CN" altLang="en-US" b="0" i="0" u="none" strike="noStrike" kern="1200" cap="none" spc="0" normalizeH="0" baseline="0" noProof="0" dirty="0" smtClean="0">
              <a:ln>
                <a:noFill/>
              </a:ln>
              <a:solidFill>
                <a:schemeClr val="tx1"/>
              </a:solidFill>
              <a:effectLst/>
              <a:uLnTx/>
              <a:uFillTx/>
              <a:latin typeface="+mn-lt"/>
              <a:ea typeface="+mn-ea"/>
              <a:cs typeface="+mn-cs"/>
              <a:sym typeface="+mn-ea"/>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dirty="0" smtClean="0">
                <a:solidFill>
                  <a:srgbClr val="C00000"/>
                </a:solidFill>
              </a:rPr>
              <a:t>4.2 </a:t>
            </a:r>
            <a:r>
              <a:rPr lang="zh-CN" altLang="en-US" dirty="0" smtClean="0">
                <a:solidFill>
                  <a:srgbClr val="C00000"/>
                </a:solidFill>
                <a:sym typeface="+mn-ea"/>
              </a:rPr>
              <a:t>软件故障树分析（SFTA）</a:t>
            </a:r>
            <a:endParaRPr lang="zh-CN" altLang="en-US" dirty="0" smtClean="0">
              <a:solidFill>
                <a:srgbClr val="C00000"/>
              </a:solidFill>
            </a:endParaRPr>
          </a:p>
        </p:txBody>
      </p:sp>
      <p:sp>
        <p:nvSpPr>
          <p:cNvPr id="3" name="内容占位符 2"/>
          <p:cNvSpPr>
            <a:spLocks noGrp="1"/>
          </p:cNvSpPr>
          <p:nvPr>
            <p:ph idx="1"/>
          </p:nvPr>
        </p:nvSpPr>
        <p:spPr>
          <a:xfrm>
            <a:off x="838200" y="1538605"/>
            <a:ext cx="4711700" cy="4638675"/>
          </a:xfrm>
        </p:spPr>
        <p:txBody>
          <a:bodyPr>
            <a:normAutofit fontScale="80000"/>
          </a:bodyPr>
          <a:p>
            <a:r>
              <a:rPr lang="zh-CN" altLang="en-US" dirty="0">
                <a:sym typeface="+mn-ea"/>
              </a:rPr>
              <a:t>软件故障树分析（</a:t>
            </a:r>
            <a:r>
              <a:rPr lang="en-US" altLang="zh-CN" dirty="0">
                <a:sym typeface="+mn-ea"/>
              </a:rPr>
              <a:t>SFTA</a:t>
            </a:r>
            <a:r>
              <a:rPr lang="zh-CN" altLang="en-US" dirty="0">
                <a:sym typeface="+mn-ea"/>
              </a:rPr>
              <a:t>）是一种</a:t>
            </a:r>
            <a:r>
              <a:rPr lang="zh-CN" altLang="en-US" dirty="0">
                <a:solidFill>
                  <a:srgbClr val="CC3300"/>
                </a:solidFill>
                <a:sym typeface="+mn-ea"/>
              </a:rPr>
              <a:t>自顶向下</a:t>
            </a:r>
            <a:r>
              <a:rPr lang="zh-CN" altLang="en-US" dirty="0">
                <a:sym typeface="+mn-ea"/>
              </a:rPr>
              <a:t>的软件可靠性分析方法</a:t>
            </a:r>
            <a:endParaRPr lang="zh-CN" altLang="en-US" dirty="0">
              <a:sym typeface="+mn-ea"/>
            </a:endParaRPr>
          </a:p>
          <a:p>
            <a:r>
              <a:rPr lang="zh-CN" altLang="en-US" dirty="0">
                <a:sym typeface="+mn-ea"/>
              </a:rPr>
              <a:t>即从软件系统不希望发生的事件（</a:t>
            </a:r>
            <a:r>
              <a:rPr lang="zh-CN" altLang="en-US" dirty="0">
                <a:solidFill>
                  <a:srgbClr val="CC3300"/>
                </a:solidFill>
                <a:sym typeface="+mn-ea"/>
              </a:rPr>
              <a:t>顶事件），</a:t>
            </a:r>
            <a:r>
              <a:rPr lang="zh-CN" altLang="en-US" dirty="0">
                <a:sym typeface="+mn-ea"/>
              </a:rPr>
              <a:t>特别是对人员和设备的安全及可靠性产生重大影响的事件开始，向下逐步追查导致顶事件发生的原因，直至基本事件（</a:t>
            </a:r>
            <a:r>
              <a:rPr lang="zh-CN" altLang="en-US" dirty="0">
                <a:solidFill>
                  <a:srgbClr val="CC3300"/>
                </a:solidFill>
                <a:sym typeface="+mn-ea"/>
              </a:rPr>
              <a:t>底事件</a:t>
            </a:r>
            <a:r>
              <a:rPr lang="zh-CN" altLang="en-US" dirty="0">
                <a:sym typeface="+mn-ea"/>
              </a:rPr>
              <a:t>），从而确定软件故障原因的各种可能组合方式和（或）发生概率。</a:t>
            </a:r>
            <a:endParaRPr lang="zh-CN" altLang="en-US"/>
          </a:p>
        </p:txBody>
      </p:sp>
      <p:graphicFrame>
        <p:nvGraphicFramePr>
          <p:cNvPr id="9218" name="Object 6"/>
          <p:cNvGraphicFramePr/>
          <p:nvPr/>
        </p:nvGraphicFramePr>
        <p:xfrm>
          <a:off x="6172200" y="1388745"/>
          <a:ext cx="5346065" cy="5135245"/>
        </p:xfrm>
        <a:graphic>
          <a:graphicData uri="http://schemas.openxmlformats.org/presentationml/2006/ole">
            <mc:AlternateContent xmlns:mc="http://schemas.openxmlformats.org/markup-compatibility/2006">
              <mc:Choice xmlns:v="urn:schemas-microsoft-com:vml" Requires="v">
                <p:oleObj spid="_x0000_s3090" name="" r:id="rId1" imgW="6728460" imgH="6186170" progId="Visio.Drawing.11">
                  <p:embed/>
                </p:oleObj>
              </mc:Choice>
              <mc:Fallback>
                <p:oleObj name="" r:id="rId1" imgW="6728460" imgH="6186170" progId="Visio.Drawing.11">
                  <p:embed/>
                  <p:pic>
                    <p:nvPicPr>
                      <p:cNvPr id="0" name="图片 3089"/>
                      <p:cNvPicPr/>
                      <p:nvPr/>
                    </p:nvPicPr>
                    <p:blipFill>
                      <a:blip r:embed="rId2"/>
                      <a:stretch>
                        <a:fillRect/>
                      </a:stretch>
                    </p:blipFill>
                    <p:spPr>
                      <a:xfrm>
                        <a:off x="6172200" y="1388745"/>
                        <a:ext cx="5346065" cy="5135245"/>
                      </a:xfrm>
                      <a:prstGeom prst="rect">
                        <a:avLst/>
                      </a:prstGeom>
                      <a:noFill/>
                      <a:ln w="38100">
                        <a:noFill/>
                        <a:miter/>
                      </a:ln>
                    </p:spPr>
                  </p:pic>
                </p:oleObj>
              </mc:Fallback>
            </mc:AlternateContent>
          </a:graphicData>
        </a:graphic>
      </p:graphicFrame>
      <p:cxnSp>
        <p:nvCxnSpPr>
          <p:cNvPr id="4" name="直接箭头连接符 3"/>
          <p:cNvCxnSpPr/>
          <p:nvPr/>
        </p:nvCxnSpPr>
        <p:spPr>
          <a:xfrm>
            <a:off x="11677650" y="1601470"/>
            <a:ext cx="0" cy="4565015"/>
          </a:xfrm>
          <a:prstGeom prst="straightConnector1">
            <a:avLst/>
          </a:prstGeom>
          <a:ln w="50800">
            <a:tailEnd type="arrow"/>
          </a:ln>
        </p:spPr>
        <p:style>
          <a:lnRef idx="2">
            <a:schemeClr val="accent1"/>
          </a:lnRef>
          <a:fillRef idx="0">
            <a:srgbClr val="FFFFFF"/>
          </a:fillRef>
          <a:effectRef idx="0">
            <a:srgbClr val="FFFFFF"/>
          </a:effectRef>
          <a:fontRef idx="minor">
            <a:schemeClr val="tx1"/>
          </a:fontRef>
        </p:style>
      </p:cxn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dirty="0" smtClean="0">
                <a:solidFill>
                  <a:srgbClr val="C00000"/>
                </a:solidFill>
                <a:sym typeface="+mn-ea"/>
              </a:rPr>
              <a:t>4.2 </a:t>
            </a:r>
            <a:r>
              <a:rPr lang="zh-CN" altLang="en-US" dirty="0" smtClean="0">
                <a:solidFill>
                  <a:srgbClr val="C00000"/>
                </a:solidFill>
                <a:sym typeface="+mn-ea"/>
              </a:rPr>
              <a:t>软件故障树分析（SFTA）</a:t>
            </a:r>
            <a:endParaRPr lang="zh-CN" altLang="en-US"/>
          </a:p>
        </p:txBody>
      </p:sp>
      <p:sp>
        <p:nvSpPr>
          <p:cNvPr id="3" name="内容占位符 2"/>
          <p:cNvSpPr>
            <a:spLocks noGrp="1"/>
          </p:cNvSpPr>
          <p:nvPr>
            <p:ph idx="1"/>
          </p:nvPr>
        </p:nvSpPr>
        <p:spPr/>
        <p:txBody>
          <a:bodyPr/>
          <a:p>
            <a:r>
              <a:rPr lang="en-US" altLang="zh-CN" dirty="0">
                <a:sym typeface="+mn-ea"/>
              </a:rPr>
              <a:t>SFTA</a:t>
            </a:r>
            <a:r>
              <a:rPr lang="zh-CN" altLang="en-US" dirty="0">
                <a:sym typeface="+mn-ea"/>
              </a:rPr>
              <a:t>步骤：</a:t>
            </a:r>
            <a:endParaRPr lang="zh-CN" altLang="en-US" dirty="0">
              <a:sym typeface="+mn-ea"/>
            </a:endParaRPr>
          </a:p>
          <a:p>
            <a:pPr marL="914400" lvl="1" indent="-457200">
              <a:buFont typeface="+mj-ea"/>
              <a:buAutoNum type="circleNumDbPlain"/>
            </a:pPr>
            <a:r>
              <a:rPr lang="zh-CN" altLang="en-US" dirty="0">
                <a:sym typeface="+mn-ea"/>
              </a:rPr>
              <a:t>软件故障树的建立</a:t>
            </a:r>
            <a:endParaRPr lang="zh-CN" altLang="en-US" dirty="0"/>
          </a:p>
          <a:p>
            <a:pPr marL="914400" lvl="1" indent="-457200">
              <a:buFont typeface="+mj-ea"/>
              <a:buAutoNum type="circleNumDbPlain"/>
            </a:pPr>
            <a:r>
              <a:rPr lang="zh-CN" altLang="en-US" dirty="0">
                <a:sym typeface="+mn-ea"/>
              </a:rPr>
              <a:t>软件故障树的定性分析</a:t>
            </a:r>
            <a:endParaRPr lang="zh-CN" altLang="en-US" dirty="0"/>
          </a:p>
          <a:p>
            <a:pPr marL="914400" lvl="1" indent="-457200">
              <a:buFont typeface="+mj-ea"/>
              <a:buAutoNum type="circleNumDbPlain"/>
            </a:pPr>
            <a:r>
              <a:rPr lang="zh-CN" altLang="en-US" dirty="0">
                <a:sym typeface="+mn-ea"/>
              </a:rPr>
              <a:t>软件故障树的定量分析</a:t>
            </a:r>
            <a:endParaRPr lang="zh-CN" altLang="en-US" dirty="0"/>
          </a:p>
          <a:p>
            <a:endParaRPr lang="en-US" altLang="zh-CN" dirty="0">
              <a:sym typeface="+mn-ea"/>
            </a:endParaRPr>
          </a:p>
        </p:txBody>
      </p:sp>
      <p:graphicFrame>
        <p:nvGraphicFramePr>
          <p:cNvPr id="9218" name="Object 6"/>
          <p:cNvGraphicFramePr/>
          <p:nvPr/>
        </p:nvGraphicFramePr>
        <p:xfrm>
          <a:off x="6172200" y="1388745"/>
          <a:ext cx="5346065" cy="5135245"/>
        </p:xfrm>
        <a:graphic>
          <a:graphicData uri="http://schemas.openxmlformats.org/presentationml/2006/ole">
            <mc:AlternateContent xmlns:mc="http://schemas.openxmlformats.org/markup-compatibility/2006">
              <mc:Choice xmlns:v="urn:schemas-microsoft-com:vml" Requires="v">
                <p:oleObj spid="_x0000_s3090" name="" r:id="rId1" imgW="6728460" imgH="6186170" progId="Visio.Drawing.11">
                  <p:embed/>
                </p:oleObj>
              </mc:Choice>
              <mc:Fallback>
                <p:oleObj name="" r:id="rId1" imgW="6728460" imgH="6186170" progId="Visio.Drawing.11">
                  <p:embed/>
                  <p:pic>
                    <p:nvPicPr>
                      <p:cNvPr id="0" name="图片 3089"/>
                      <p:cNvPicPr/>
                      <p:nvPr/>
                    </p:nvPicPr>
                    <p:blipFill>
                      <a:blip r:embed="rId2"/>
                      <a:stretch>
                        <a:fillRect/>
                      </a:stretch>
                    </p:blipFill>
                    <p:spPr>
                      <a:xfrm>
                        <a:off x="6172200" y="1388745"/>
                        <a:ext cx="5346065" cy="5135245"/>
                      </a:xfrm>
                      <a:prstGeom prst="rect">
                        <a:avLst/>
                      </a:prstGeom>
                      <a:noFill/>
                      <a:ln w="38100">
                        <a:noFill/>
                        <a:miter/>
                      </a:ln>
                    </p:spPr>
                  </p:pic>
                </p:oleObj>
              </mc:Fallback>
            </mc:AlternateContent>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dirty="0" smtClean="0">
                <a:solidFill>
                  <a:srgbClr val="C00000"/>
                </a:solidFill>
                <a:sym typeface="+mn-ea"/>
              </a:rPr>
              <a:t>4.2 软件故障树分析（SFTA）</a:t>
            </a:r>
            <a:endParaRPr lang="zh-CN" altLang="en-US"/>
          </a:p>
        </p:txBody>
      </p:sp>
      <p:sp>
        <p:nvSpPr>
          <p:cNvPr id="3" name="内容占位符 2"/>
          <p:cNvSpPr>
            <a:spLocks noGrp="1"/>
          </p:cNvSpPr>
          <p:nvPr>
            <p:ph idx="1"/>
          </p:nvPr>
        </p:nvSpPr>
        <p:spPr>
          <a:xfrm>
            <a:off x="838200" y="1538605"/>
            <a:ext cx="5334000" cy="4638675"/>
          </a:xfrm>
        </p:spPr>
        <p:txBody>
          <a:bodyPr>
            <a:normAutofit fontScale="80000"/>
          </a:bodyPr>
          <a:p>
            <a:r>
              <a:rPr lang="zh-CN" altLang="en-US" dirty="0">
                <a:sym typeface="+mn-ea"/>
              </a:rPr>
              <a:t>建立软件故障树通常采用演绎法</a:t>
            </a:r>
            <a:r>
              <a:rPr lang="en-US" altLang="zh-CN" dirty="0">
                <a:sym typeface="+mn-ea"/>
              </a:rPr>
              <a:t>:</a:t>
            </a:r>
            <a:endParaRPr lang="en-US" altLang="zh-CN" dirty="0"/>
          </a:p>
          <a:p>
            <a:pPr lvl="1"/>
            <a:r>
              <a:rPr lang="zh-CN" altLang="en-US" dirty="0">
                <a:sym typeface="+mn-ea"/>
              </a:rPr>
              <a:t>首先选择要分析的顶事件（即不希望发生的故障事件）作为故障树的</a:t>
            </a:r>
            <a:r>
              <a:rPr lang="zh-CN" altLang="en-US" dirty="0">
                <a:latin typeface="Times New Roman" panose="02020603050405020304" pitchFamily="18" charset="0"/>
                <a:sym typeface="+mn-ea"/>
              </a:rPr>
              <a:t>“</a:t>
            </a:r>
            <a:r>
              <a:rPr lang="zh-CN" altLang="en-US" b="1" dirty="0">
                <a:solidFill>
                  <a:srgbClr val="CC3300"/>
                </a:solidFill>
                <a:sym typeface="+mn-ea"/>
              </a:rPr>
              <a:t>根</a:t>
            </a:r>
            <a:r>
              <a:rPr lang="zh-CN" altLang="en-US" dirty="0">
                <a:latin typeface="Times New Roman" panose="02020603050405020304" pitchFamily="18" charset="0"/>
                <a:sym typeface="+mn-ea"/>
              </a:rPr>
              <a:t>”</a:t>
            </a:r>
            <a:r>
              <a:rPr lang="zh-CN" altLang="en-US" dirty="0">
                <a:sym typeface="+mn-ea"/>
              </a:rPr>
              <a:t>；</a:t>
            </a:r>
            <a:endParaRPr lang="zh-CN" altLang="en-US" dirty="0"/>
          </a:p>
          <a:p>
            <a:pPr lvl="1"/>
            <a:r>
              <a:rPr lang="zh-CN" altLang="en-US" dirty="0">
                <a:sym typeface="+mn-ea"/>
              </a:rPr>
              <a:t>然后分析导致顶事件发生的直接原因（包括所有事件或条件），并用适当的逻辑门与顶事件相连，作为故障树的</a:t>
            </a:r>
            <a:r>
              <a:rPr lang="zh-CN" altLang="en-US" dirty="0">
                <a:latin typeface="Times New Roman" panose="02020603050405020304" pitchFamily="18" charset="0"/>
                <a:sym typeface="+mn-ea"/>
              </a:rPr>
              <a:t>“</a:t>
            </a:r>
            <a:r>
              <a:rPr lang="zh-CN" altLang="en-US" b="1" dirty="0">
                <a:solidFill>
                  <a:srgbClr val="CC3300"/>
                </a:solidFill>
                <a:sym typeface="+mn-ea"/>
              </a:rPr>
              <a:t>节</a:t>
            </a:r>
            <a:r>
              <a:rPr lang="zh-CN" altLang="en-US" dirty="0">
                <a:latin typeface="Times New Roman" panose="02020603050405020304" pitchFamily="18" charset="0"/>
                <a:sym typeface="+mn-ea"/>
              </a:rPr>
              <a:t>”</a:t>
            </a:r>
            <a:r>
              <a:rPr lang="zh-CN" altLang="en-US" dirty="0">
                <a:sym typeface="+mn-ea"/>
              </a:rPr>
              <a:t>；</a:t>
            </a:r>
            <a:endParaRPr lang="zh-CN" altLang="en-US" dirty="0"/>
          </a:p>
          <a:p>
            <a:pPr lvl="1"/>
            <a:r>
              <a:rPr lang="zh-CN" altLang="en-US" dirty="0">
                <a:sym typeface="+mn-ea"/>
              </a:rPr>
              <a:t>按照这个方法逐步深入，一直追溯到导致顶事件发生的全部原因（底层的基本事件）为止。这些底层的基本事件称为底事件，构成故障树的</a:t>
            </a:r>
            <a:r>
              <a:rPr lang="zh-CN" altLang="en-US" dirty="0">
                <a:latin typeface="Times New Roman" panose="02020603050405020304" pitchFamily="18" charset="0"/>
                <a:sym typeface="+mn-ea"/>
              </a:rPr>
              <a:t>“</a:t>
            </a:r>
            <a:r>
              <a:rPr lang="zh-CN" altLang="en-US" b="1" dirty="0">
                <a:solidFill>
                  <a:srgbClr val="CC3300"/>
                </a:solidFill>
                <a:sym typeface="+mn-ea"/>
              </a:rPr>
              <a:t>叶</a:t>
            </a:r>
            <a:r>
              <a:rPr lang="zh-CN" altLang="en-US" dirty="0">
                <a:latin typeface="Times New Roman" panose="02020603050405020304" pitchFamily="18" charset="0"/>
                <a:sym typeface="+mn-ea"/>
              </a:rPr>
              <a:t>”</a:t>
            </a:r>
            <a:r>
              <a:rPr lang="zh-CN" altLang="en-US" dirty="0">
                <a:sym typeface="+mn-ea"/>
              </a:rPr>
              <a:t>。</a:t>
            </a:r>
            <a:endParaRPr lang="zh-CN" altLang="en-US" dirty="0"/>
          </a:p>
          <a:p>
            <a:endParaRPr lang="zh-CN" altLang="en-US" dirty="0"/>
          </a:p>
        </p:txBody>
      </p:sp>
      <p:graphicFrame>
        <p:nvGraphicFramePr>
          <p:cNvPr id="9218" name="Object 6"/>
          <p:cNvGraphicFramePr/>
          <p:nvPr/>
        </p:nvGraphicFramePr>
        <p:xfrm>
          <a:off x="6172200" y="1388745"/>
          <a:ext cx="5346065" cy="5135245"/>
        </p:xfrm>
        <a:graphic>
          <a:graphicData uri="http://schemas.openxmlformats.org/presentationml/2006/ole">
            <mc:AlternateContent xmlns:mc="http://schemas.openxmlformats.org/markup-compatibility/2006">
              <mc:Choice xmlns:v="urn:schemas-microsoft-com:vml" Requires="v">
                <p:oleObj spid="_x0000_s3090" name="" r:id="rId1" imgW="6728460" imgH="6186170" progId="Visio.Drawing.11">
                  <p:embed/>
                </p:oleObj>
              </mc:Choice>
              <mc:Fallback>
                <p:oleObj name="" r:id="rId1" imgW="6728460" imgH="6186170" progId="Visio.Drawing.11">
                  <p:embed/>
                  <p:pic>
                    <p:nvPicPr>
                      <p:cNvPr id="0" name="图片 3089"/>
                      <p:cNvPicPr/>
                      <p:nvPr/>
                    </p:nvPicPr>
                    <p:blipFill>
                      <a:blip r:embed="rId2"/>
                      <a:stretch>
                        <a:fillRect/>
                      </a:stretch>
                    </p:blipFill>
                    <p:spPr>
                      <a:xfrm>
                        <a:off x="6172200" y="1388745"/>
                        <a:ext cx="5346065" cy="5135245"/>
                      </a:xfrm>
                      <a:prstGeom prst="rect">
                        <a:avLst/>
                      </a:prstGeom>
                      <a:noFill/>
                      <a:ln w="38100">
                        <a:noFill/>
                        <a:miter/>
                      </a:ln>
                    </p:spPr>
                  </p:pic>
                </p:oleObj>
              </mc:Fallback>
            </mc:AlternateContent>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7" name="Rectangle 2"/>
          <p:cNvSpPr>
            <a:spLocks noGrp="1"/>
          </p:cNvSpPr>
          <p:nvPr>
            <p:ph type="title"/>
          </p:nvPr>
        </p:nvSpPr>
        <p:spPr>
          <a:xfrm>
            <a:off x="2495550" y="188913"/>
            <a:ext cx="3889375" cy="865187"/>
          </a:xfrm>
        </p:spPr>
        <p:txBody>
          <a:bodyPr vert="horz" wrap="square" lIns="91440" tIns="45720" rIns="91440" bIns="45720" anchor="ctr" anchorCtr="0"/>
          <a:p>
            <a:r>
              <a:rPr lang="zh-CN" altLang="en-US" sz="2000" dirty="0"/>
              <a:t>故障树符号</a:t>
            </a:r>
            <a:r>
              <a:rPr lang="en-US" altLang="zh-CN" sz="1600" dirty="0"/>
              <a:t>(</a:t>
            </a:r>
            <a:r>
              <a:rPr lang="zh-CN" altLang="en-US" sz="1600" dirty="0"/>
              <a:t>部分</a:t>
            </a:r>
            <a:r>
              <a:rPr lang="en-US" altLang="zh-CN" sz="1600" dirty="0"/>
              <a:t>)</a:t>
            </a:r>
            <a:endParaRPr lang="en-US" altLang="zh-CN" sz="2000" dirty="0"/>
          </a:p>
        </p:txBody>
      </p:sp>
      <p:sp>
        <p:nvSpPr>
          <p:cNvPr id="7178" name="Rectangle 3"/>
          <p:cNvSpPr/>
          <p:nvPr/>
        </p:nvSpPr>
        <p:spPr>
          <a:xfrm>
            <a:off x="1524000" y="849313"/>
            <a:ext cx="309880" cy="368300"/>
          </a:xfrm>
          <a:prstGeom prst="rect">
            <a:avLst/>
          </a:prstGeom>
          <a:noFill/>
          <a:ln w="9525">
            <a:noFill/>
          </a:ln>
        </p:spPr>
        <p:txBody>
          <a:bodyPr wrap="none" anchor="ctr" anchorCtr="0">
            <a:spAutoFit/>
          </a:bodyPr>
          <a:p>
            <a:endParaRPr lang="zh-CN" altLang="en-US" dirty="0">
              <a:latin typeface="Arial" panose="020B0604020202020204" pitchFamily="34" charset="0"/>
            </a:endParaRPr>
          </a:p>
        </p:txBody>
      </p:sp>
      <p:sp>
        <p:nvSpPr>
          <p:cNvPr id="7179" name="Rectangle 4"/>
          <p:cNvSpPr/>
          <p:nvPr/>
        </p:nvSpPr>
        <p:spPr>
          <a:xfrm>
            <a:off x="1524000" y="1963738"/>
            <a:ext cx="309880" cy="460375"/>
          </a:xfrm>
          <a:prstGeom prst="rect">
            <a:avLst/>
          </a:prstGeom>
          <a:noFill/>
          <a:ln w="9525">
            <a:noFill/>
          </a:ln>
        </p:spPr>
        <p:txBody>
          <a:bodyPr wrap="none" anchor="ctr" anchorCtr="0">
            <a:spAutoFit/>
          </a:bodyPr>
          <a:p>
            <a:endParaRPr lang="zh-CN" altLang="zh-CN" sz="2400" dirty="0">
              <a:latin typeface="Times New Roman" panose="02020603050405020304" pitchFamily="18" charset="0"/>
            </a:endParaRPr>
          </a:p>
        </p:txBody>
      </p:sp>
      <p:sp>
        <p:nvSpPr>
          <p:cNvPr id="7180" name="Rectangle 5"/>
          <p:cNvSpPr/>
          <p:nvPr/>
        </p:nvSpPr>
        <p:spPr>
          <a:xfrm>
            <a:off x="1524000" y="3184208"/>
            <a:ext cx="944880" cy="245110"/>
          </a:xfrm>
          <a:prstGeom prst="rect">
            <a:avLst/>
          </a:prstGeom>
          <a:noFill/>
          <a:ln w="9525">
            <a:noFill/>
          </a:ln>
        </p:spPr>
        <p:txBody>
          <a:bodyPr wrap="none" anchor="ctr" anchorCtr="0">
            <a:spAutoFit/>
          </a:bodyPr>
          <a:p>
            <a:r>
              <a:rPr lang="en-US" altLang="zh-CN" sz="1000" dirty="0">
                <a:latin typeface="Times New Roman" panose="02020603050405020304" pitchFamily="18" charset="0"/>
                <a:cs typeface="Times New Roman" panose="02020603050405020304" pitchFamily="18" charset="0"/>
              </a:rPr>
              <a:t>                        </a:t>
            </a:r>
            <a:endParaRPr lang="en-US" altLang="zh-CN" sz="2400" dirty="0">
              <a:latin typeface="Times New Roman" panose="02020603050405020304" pitchFamily="18" charset="0"/>
            </a:endParaRPr>
          </a:p>
        </p:txBody>
      </p:sp>
      <p:sp>
        <p:nvSpPr>
          <p:cNvPr id="7181" name="Rectangle 6"/>
          <p:cNvSpPr/>
          <p:nvPr/>
        </p:nvSpPr>
        <p:spPr>
          <a:xfrm>
            <a:off x="1524000" y="4419283"/>
            <a:ext cx="853440" cy="245110"/>
          </a:xfrm>
          <a:prstGeom prst="rect">
            <a:avLst/>
          </a:prstGeom>
          <a:noFill/>
          <a:ln w="9525">
            <a:noFill/>
          </a:ln>
        </p:spPr>
        <p:txBody>
          <a:bodyPr wrap="none" anchor="ctr" anchorCtr="0">
            <a:spAutoFit/>
          </a:bodyPr>
          <a:p>
            <a:r>
              <a:rPr lang="en-US" altLang="zh-CN" sz="1000" dirty="0">
                <a:latin typeface="Times New Roman" panose="02020603050405020304" pitchFamily="18" charset="0"/>
                <a:cs typeface="Times New Roman" panose="02020603050405020304" pitchFamily="18" charset="0"/>
              </a:rPr>
              <a:t>                    </a:t>
            </a:r>
            <a:r>
              <a:rPr lang="en-US" altLang="zh-CN" sz="900" dirty="0">
                <a:latin typeface="Tahoma" panose="020B0604030504040204" pitchFamily="34" charset="0"/>
                <a:ea typeface="华文新魏" panose="02010800040101010101" pitchFamily="2" charset="-122"/>
              </a:rPr>
              <a:t> </a:t>
            </a:r>
            <a:endParaRPr lang="en-US" altLang="zh-CN" sz="2400" dirty="0">
              <a:latin typeface="Times New Roman" panose="02020603050405020304" pitchFamily="18" charset="0"/>
            </a:endParaRPr>
          </a:p>
        </p:txBody>
      </p:sp>
      <p:sp>
        <p:nvSpPr>
          <p:cNvPr id="7182" name="Rectangle 7"/>
          <p:cNvSpPr/>
          <p:nvPr/>
        </p:nvSpPr>
        <p:spPr>
          <a:xfrm>
            <a:off x="1524000" y="2849563"/>
            <a:ext cx="309880" cy="368300"/>
          </a:xfrm>
          <a:prstGeom prst="rect">
            <a:avLst/>
          </a:prstGeom>
          <a:noFill/>
          <a:ln w="9525">
            <a:noFill/>
          </a:ln>
        </p:spPr>
        <p:txBody>
          <a:bodyPr wrap="none" anchor="ctr" anchorCtr="0">
            <a:spAutoFit/>
          </a:bodyPr>
          <a:p>
            <a:endParaRPr lang="zh-CN" altLang="en-US" dirty="0">
              <a:latin typeface="Arial" panose="020B0604020202020204" pitchFamily="34" charset="0"/>
            </a:endParaRPr>
          </a:p>
        </p:txBody>
      </p:sp>
      <p:sp>
        <p:nvSpPr>
          <p:cNvPr id="7183" name="Rectangle 8"/>
          <p:cNvSpPr/>
          <p:nvPr/>
        </p:nvSpPr>
        <p:spPr>
          <a:xfrm>
            <a:off x="1524000" y="2271713"/>
            <a:ext cx="309880" cy="368300"/>
          </a:xfrm>
          <a:prstGeom prst="rect">
            <a:avLst/>
          </a:prstGeom>
          <a:noFill/>
          <a:ln w="9525">
            <a:noFill/>
          </a:ln>
        </p:spPr>
        <p:txBody>
          <a:bodyPr wrap="none" anchor="ctr" anchorCtr="0">
            <a:spAutoFit/>
          </a:bodyPr>
          <a:p>
            <a:endParaRPr lang="zh-CN" altLang="en-US" dirty="0">
              <a:latin typeface="Arial" panose="020B0604020202020204" pitchFamily="34" charset="0"/>
            </a:endParaRPr>
          </a:p>
        </p:txBody>
      </p:sp>
      <p:sp>
        <p:nvSpPr>
          <p:cNvPr id="7184" name="Rectangle 9"/>
          <p:cNvSpPr/>
          <p:nvPr/>
        </p:nvSpPr>
        <p:spPr>
          <a:xfrm>
            <a:off x="1524000" y="3169921"/>
            <a:ext cx="595630" cy="245110"/>
          </a:xfrm>
          <a:prstGeom prst="rect">
            <a:avLst/>
          </a:prstGeom>
          <a:noFill/>
          <a:ln w="9525">
            <a:noFill/>
          </a:ln>
        </p:spPr>
        <p:txBody>
          <a:bodyPr wrap="none" anchor="ctr" anchorCtr="0">
            <a:spAutoFit/>
          </a:bodyPr>
          <a:p>
            <a:r>
              <a:rPr lang="en-US" altLang="zh-CN" sz="1000" dirty="0">
                <a:latin typeface="Times New Roman" panose="02020603050405020304" pitchFamily="18" charset="0"/>
                <a:cs typeface="Times New Roman" panose="02020603050405020304" pitchFamily="18" charset="0"/>
              </a:rPr>
              <a:t>             </a:t>
            </a:r>
            <a:endParaRPr lang="en-US" altLang="zh-CN" sz="2400" dirty="0">
              <a:latin typeface="Times New Roman" panose="02020603050405020304" pitchFamily="18" charset="0"/>
            </a:endParaRPr>
          </a:p>
        </p:txBody>
      </p:sp>
      <p:sp>
        <p:nvSpPr>
          <p:cNvPr id="37898" name="Text Box 10"/>
          <p:cNvSpPr txBox="1"/>
          <p:nvPr/>
        </p:nvSpPr>
        <p:spPr>
          <a:xfrm>
            <a:off x="1774825" y="2852738"/>
            <a:ext cx="2133600" cy="715962"/>
          </a:xfrm>
          <a:prstGeom prst="rect">
            <a:avLst/>
          </a:prstGeom>
          <a:solidFill>
            <a:srgbClr val="FFFFFF"/>
          </a:solidFill>
          <a:ln w="9525" cap="flat" cmpd="sng">
            <a:solidFill>
              <a:srgbClr val="FFFFFF"/>
            </a:solidFill>
            <a:prstDash val="solid"/>
            <a:miter/>
            <a:headEnd type="none" w="med" len="med"/>
            <a:tailEnd type="none" w="med" len="med"/>
          </a:ln>
        </p:spPr>
        <p:txBody>
          <a:bodyPr/>
          <a:p>
            <a:pPr lvl="1" algn="just" eaLnBrk="1" hangingPunct="1"/>
            <a:r>
              <a:rPr lang="zh-CN" altLang="en-US" sz="1400" b="1" dirty="0">
                <a:solidFill>
                  <a:srgbClr val="006666"/>
                </a:solidFill>
                <a:latin typeface="Times New Roman" panose="02020603050405020304" pitchFamily="18" charset="0"/>
              </a:rPr>
              <a:t>与门</a:t>
            </a:r>
            <a:r>
              <a:rPr lang="zh-CN" altLang="en-US" sz="1400" dirty="0">
                <a:solidFill>
                  <a:srgbClr val="006666"/>
                </a:solidFill>
                <a:latin typeface="Times New Roman" panose="02020603050405020304" pitchFamily="18" charset="0"/>
              </a:rPr>
              <a:t>： 只有所有输入事件都发生时才能导致输出事件发生。</a:t>
            </a:r>
            <a:endParaRPr lang="zh-CN" altLang="en-US" sz="1400" b="1" dirty="0">
              <a:solidFill>
                <a:srgbClr val="006666"/>
              </a:solidFill>
              <a:latin typeface="Times New Roman" panose="02020603050405020304" pitchFamily="18" charset="0"/>
              <a:ea typeface="华文新魏" panose="02010800040101010101" pitchFamily="2" charset="-122"/>
            </a:endParaRPr>
          </a:p>
        </p:txBody>
      </p:sp>
      <p:graphicFrame>
        <p:nvGraphicFramePr>
          <p:cNvPr id="37899" name="Object 11"/>
          <p:cNvGraphicFramePr/>
          <p:nvPr/>
        </p:nvGraphicFramePr>
        <p:xfrm>
          <a:off x="2640013" y="1196975"/>
          <a:ext cx="987425" cy="1349375"/>
        </p:xfrm>
        <a:graphic>
          <a:graphicData uri="http://schemas.openxmlformats.org/presentationml/2006/ole">
            <mc:AlternateContent xmlns:mc="http://schemas.openxmlformats.org/markup-compatibility/2006">
              <mc:Choice xmlns:v="urn:schemas-microsoft-com:vml" Requires="v">
                <p:oleObj spid="_x0000_s3089" name="" r:id="rId1" imgW="1595755" imgH="3173730" progId="Visio.Drawing.6">
                  <p:embed/>
                </p:oleObj>
              </mc:Choice>
              <mc:Fallback>
                <p:oleObj name="" r:id="rId1" imgW="1595755" imgH="3173730" progId="Visio.Drawing.6">
                  <p:embed/>
                  <p:pic>
                    <p:nvPicPr>
                      <p:cNvPr id="0" name="图片 3088"/>
                      <p:cNvPicPr/>
                      <p:nvPr/>
                    </p:nvPicPr>
                    <p:blipFill>
                      <a:blip r:embed="rId2"/>
                      <a:stretch>
                        <a:fillRect/>
                      </a:stretch>
                    </p:blipFill>
                    <p:spPr>
                      <a:xfrm>
                        <a:off x="2640013" y="1196975"/>
                        <a:ext cx="987425" cy="1349375"/>
                      </a:xfrm>
                      <a:prstGeom prst="rect">
                        <a:avLst/>
                      </a:prstGeom>
                      <a:noFill/>
                      <a:ln w="38100">
                        <a:noFill/>
                        <a:miter/>
                      </a:ln>
                    </p:spPr>
                  </p:pic>
                </p:oleObj>
              </mc:Fallback>
            </mc:AlternateContent>
          </a:graphicData>
        </a:graphic>
      </p:graphicFrame>
      <p:graphicFrame>
        <p:nvGraphicFramePr>
          <p:cNvPr id="37900" name="Object 12"/>
          <p:cNvGraphicFramePr/>
          <p:nvPr/>
        </p:nvGraphicFramePr>
        <p:xfrm>
          <a:off x="5016500" y="1268413"/>
          <a:ext cx="881063" cy="1206500"/>
        </p:xfrm>
        <a:graphic>
          <a:graphicData uri="http://schemas.openxmlformats.org/presentationml/2006/ole">
            <mc:AlternateContent xmlns:mc="http://schemas.openxmlformats.org/markup-compatibility/2006">
              <mc:Choice xmlns:v="urn:schemas-microsoft-com:vml" Requires="v">
                <p:oleObj spid="_x0000_s3083" name="" r:id="rId3" imgW="1595755" imgH="3173730" progId="Visio.Drawing.6">
                  <p:embed/>
                </p:oleObj>
              </mc:Choice>
              <mc:Fallback>
                <p:oleObj name="" r:id="rId3" imgW="1595755" imgH="3173730" progId="Visio.Drawing.6">
                  <p:embed/>
                  <p:pic>
                    <p:nvPicPr>
                      <p:cNvPr id="0" name="图片 3082"/>
                      <p:cNvPicPr/>
                      <p:nvPr/>
                    </p:nvPicPr>
                    <p:blipFill>
                      <a:blip r:embed="rId4"/>
                      <a:stretch>
                        <a:fillRect/>
                      </a:stretch>
                    </p:blipFill>
                    <p:spPr>
                      <a:xfrm>
                        <a:off x="5016500" y="1268413"/>
                        <a:ext cx="881063" cy="1206500"/>
                      </a:xfrm>
                      <a:prstGeom prst="rect">
                        <a:avLst/>
                      </a:prstGeom>
                      <a:noFill/>
                      <a:ln w="38100">
                        <a:noFill/>
                        <a:miter/>
                      </a:ln>
                    </p:spPr>
                  </p:pic>
                </p:oleObj>
              </mc:Fallback>
            </mc:AlternateContent>
          </a:graphicData>
        </a:graphic>
      </p:graphicFrame>
      <p:sp>
        <p:nvSpPr>
          <p:cNvPr id="37901" name="Text Box 13"/>
          <p:cNvSpPr txBox="1"/>
          <p:nvPr/>
        </p:nvSpPr>
        <p:spPr>
          <a:xfrm>
            <a:off x="4079875" y="2854325"/>
            <a:ext cx="2376488" cy="935038"/>
          </a:xfrm>
          <a:prstGeom prst="rect">
            <a:avLst/>
          </a:prstGeom>
          <a:solidFill>
            <a:srgbClr val="FFFFFF"/>
          </a:solidFill>
          <a:ln w="9525" cap="flat" cmpd="sng">
            <a:solidFill>
              <a:srgbClr val="FFFFFF"/>
            </a:solidFill>
            <a:prstDash val="solid"/>
            <a:miter/>
            <a:headEnd type="none" w="med" len="med"/>
            <a:tailEnd type="none" w="med" len="med"/>
          </a:ln>
        </p:spPr>
        <p:txBody>
          <a:bodyPr/>
          <a:p>
            <a:pPr lvl="1" algn="just" eaLnBrk="1" hangingPunct="1"/>
            <a:r>
              <a:rPr lang="zh-CN" altLang="en-US" sz="1400" b="1" dirty="0">
                <a:solidFill>
                  <a:srgbClr val="006666"/>
                </a:solidFill>
                <a:latin typeface="Times New Roman" panose="02020603050405020304" pitchFamily="18" charset="0"/>
              </a:rPr>
              <a:t>或门：</a:t>
            </a:r>
            <a:r>
              <a:rPr lang="zh-CN" altLang="en-US" sz="1400" dirty="0">
                <a:solidFill>
                  <a:srgbClr val="006666"/>
                </a:solidFill>
                <a:latin typeface="Times New Roman" panose="02020603050405020304" pitchFamily="18" charset="0"/>
              </a:rPr>
              <a:t> 输入事件中至少有一个发生时，就能导致输出事件发生。</a:t>
            </a:r>
            <a:endParaRPr lang="zh-CN" altLang="en-US" sz="1400" dirty="0">
              <a:solidFill>
                <a:srgbClr val="006666"/>
              </a:solidFill>
              <a:latin typeface="Times New Roman" panose="02020603050405020304" pitchFamily="18" charset="0"/>
            </a:endParaRPr>
          </a:p>
        </p:txBody>
      </p:sp>
      <p:graphicFrame>
        <p:nvGraphicFramePr>
          <p:cNvPr id="37902" name="Object 14"/>
          <p:cNvGraphicFramePr/>
          <p:nvPr/>
        </p:nvGraphicFramePr>
        <p:xfrm>
          <a:off x="7751763" y="1350963"/>
          <a:ext cx="1439862" cy="995362"/>
        </p:xfrm>
        <a:graphic>
          <a:graphicData uri="http://schemas.openxmlformats.org/presentationml/2006/ole">
            <mc:AlternateContent xmlns:mc="http://schemas.openxmlformats.org/markup-compatibility/2006">
              <mc:Choice xmlns:v="urn:schemas-microsoft-com:vml" Requires="v">
                <p:oleObj spid="_x0000_s3086" name="" r:id="rId5" imgW="1369060" imgH="946785" progId="Visio.Drawing.6">
                  <p:embed/>
                </p:oleObj>
              </mc:Choice>
              <mc:Fallback>
                <p:oleObj name="" r:id="rId5" imgW="1369060" imgH="946785" progId="Visio.Drawing.6">
                  <p:embed/>
                  <p:pic>
                    <p:nvPicPr>
                      <p:cNvPr id="0" name="图片 3085"/>
                      <p:cNvPicPr/>
                      <p:nvPr/>
                    </p:nvPicPr>
                    <p:blipFill>
                      <a:blip r:embed="rId6"/>
                      <a:stretch>
                        <a:fillRect/>
                      </a:stretch>
                    </p:blipFill>
                    <p:spPr>
                      <a:xfrm>
                        <a:off x="7751763" y="1350963"/>
                        <a:ext cx="1439862" cy="995362"/>
                      </a:xfrm>
                      <a:prstGeom prst="rect">
                        <a:avLst/>
                      </a:prstGeom>
                      <a:noFill/>
                      <a:ln w="38100">
                        <a:noFill/>
                        <a:miter/>
                      </a:ln>
                    </p:spPr>
                  </p:pic>
                </p:oleObj>
              </mc:Fallback>
            </mc:AlternateContent>
          </a:graphicData>
        </a:graphic>
      </p:graphicFrame>
      <p:sp>
        <p:nvSpPr>
          <p:cNvPr id="37903" name="Text Box 15"/>
          <p:cNvSpPr txBox="1"/>
          <p:nvPr/>
        </p:nvSpPr>
        <p:spPr>
          <a:xfrm>
            <a:off x="6815138" y="2708275"/>
            <a:ext cx="3024187" cy="1223963"/>
          </a:xfrm>
          <a:prstGeom prst="rect">
            <a:avLst/>
          </a:prstGeom>
          <a:solidFill>
            <a:srgbClr val="FFFFFF"/>
          </a:solidFill>
          <a:ln w="9525" cap="flat" cmpd="sng">
            <a:solidFill>
              <a:srgbClr val="FFFFFF"/>
            </a:solidFill>
            <a:prstDash val="solid"/>
            <a:miter/>
            <a:headEnd type="none" w="med" len="med"/>
            <a:tailEnd type="none" w="med" len="med"/>
          </a:ln>
        </p:spPr>
        <p:txBody>
          <a:bodyPr/>
          <a:p>
            <a:pPr lvl="1" algn="just" eaLnBrk="1" hangingPunct="1"/>
            <a:r>
              <a:rPr lang="zh-CN" altLang="en-US" sz="1400" b="1" dirty="0">
                <a:solidFill>
                  <a:srgbClr val="006666"/>
                </a:solidFill>
                <a:latin typeface="Times New Roman" panose="02020603050405020304" pitchFamily="18" charset="0"/>
              </a:rPr>
              <a:t>顶事件或中间事件</a:t>
            </a:r>
            <a:r>
              <a:rPr lang="zh-CN" altLang="en-US" sz="1400" dirty="0">
                <a:solidFill>
                  <a:srgbClr val="006666"/>
                </a:solidFill>
                <a:latin typeface="Times New Roman" panose="02020603050405020304" pitchFamily="18" charset="0"/>
              </a:rPr>
              <a:t>：表示需进一步分析的事件。</a:t>
            </a:r>
            <a:endParaRPr lang="zh-CN" altLang="en-US" sz="1400" dirty="0">
              <a:solidFill>
                <a:srgbClr val="006666"/>
              </a:solidFill>
              <a:latin typeface="Times New Roman" panose="02020603050405020304" pitchFamily="18" charset="0"/>
            </a:endParaRPr>
          </a:p>
          <a:p>
            <a:pPr lvl="1" algn="just" eaLnBrk="1" hangingPunct="1"/>
            <a:r>
              <a:rPr lang="zh-CN" altLang="en-US" sz="1400" b="1" i="1" dirty="0">
                <a:solidFill>
                  <a:srgbClr val="006666"/>
                </a:solidFill>
                <a:latin typeface="Times New Roman" panose="02020603050405020304" pitchFamily="18" charset="0"/>
              </a:rPr>
              <a:t>顶事件 </a:t>
            </a:r>
            <a:r>
              <a:rPr lang="zh-CN" altLang="en-US" sz="1400" dirty="0">
                <a:solidFill>
                  <a:srgbClr val="006666"/>
                </a:solidFill>
                <a:latin typeface="Times New Roman" panose="02020603050405020304" pitchFamily="18" charset="0"/>
              </a:rPr>
              <a:t>是不希望发生的系统不可靠或不安全事件。</a:t>
            </a:r>
            <a:endParaRPr lang="zh-CN" altLang="en-US" sz="1400" dirty="0">
              <a:solidFill>
                <a:srgbClr val="006666"/>
              </a:solidFill>
              <a:latin typeface="Times New Roman" panose="02020603050405020304" pitchFamily="18" charset="0"/>
            </a:endParaRPr>
          </a:p>
          <a:p>
            <a:pPr lvl="1" algn="just" eaLnBrk="1" hangingPunct="1"/>
            <a:r>
              <a:rPr lang="zh-CN" altLang="en-US" sz="1400" b="1" i="1" dirty="0">
                <a:solidFill>
                  <a:srgbClr val="006666"/>
                </a:solidFill>
                <a:latin typeface="Times New Roman" panose="02020603050405020304" pitchFamily="18" charset="0"/>
              </a:rPr>
              <a:t>中间事件 </a:t>
            </a:r>
            <a:r>
              <a:rPr lang="zh-CN" altLang="en-US" sz="1400" dirty="0">
                <a:solidFill>
                  <a:srgbClr val="006666"/>
                </a:solidFill>
                <a:latin typeface="Times New Roman" panose="02020603050405020304" pitchFamily="18" charset="0"/>
              </a:rPr>
              <a:t>是故障树中除底事件和顶事件之外的所有事件。</a:t>
            </a:r>
            <a:endParaRPr lang="zh-CN" altLang="en-US" sz="1400" b="1" dirty="0">
              <a:solidFill>
                <a:srgbClr val="006666"/>
              </a:solidFill>
              <a:latin typeface="Times New Roman" panose="02020603050405020304" pitchFamily="18" charset="0"/>
              <a:ea typeface="华文新魏" panose="02010800040101010101" pitchFamily="2" charset="-122"/>
            </a:endParaRPr>
          </a:p>
        </p:txBody>
      </p:sp>
      <p:graphicFrame>
        <p:nvGraphicFramePr>
          <p:cNvPr id="37904" name="Object 16"/>
          <p:cNvGraphicFramePr/>
          <p:nvPr/>
        </p:nvGraphicFramePr>
        <p:xfrm>
          <a:off x="2855913" y="4322763"/>
          <a:ext cx="703262" cy="1074737"/>
        </p:xfrm>
        <a:graphic>
          <a:graphicData uri="http://schemas.openxmlformats.org/presentationml/2006/ole">
            <mc:AlternateContent xmlns:mc="http://schemas.openxmlformats.org/markup-compatibility/2006">
              <mc:Choice xmlns:v="urn:schemas-microsoft-com:vml" Requires="v">
                <p:oleObj spid="_x0000_s3085" name="" r:id="rId7" imgW="751205" imgH="1153795" progId="Visio.Drawing.6">
                  <p:embed/>
                </p:oleObj>
              </mc:Choice>
              <mc:Fallback>
                <p:oleObj name="" r:id="rId7" imgW="751205" imgH="1153795" progId="Visio.Drawing.6">
                  <p:embed/>
                  <p:pic>
                    <p:nvPicPr>
                      <p:cNvPr id="0" name="图片 3084"/>
                      <p:cNvPicPr/>
                      <p:nvPr/>
                    </p:nvPicPr>
                    <p:blipFill>
                      <a:blip r:embed="rId8"/>
                      <a:stretch>
                        <a:fillRect/>
                      </a:stretch>
                    </p:blipFill>
                    <p:spPr>
                      <a:xfrm>
                        <a:off x="2855913" y="4322763"/>
                        <a:ext cx="703262" cy="1074737"/>
                      </a:xfrm>
                      <a:prstGeom prst="rect">
                        <a:avLst/>
                      </a:prstGeom>
                      <a:noFill/>
                      <a:ln w="38100">
                        <a:noFill/>
                        <a:miter/>
                      </a:ln>
                    </p:spPr>
                  </p:pic>
                </p:oleObj>
              </mc:Fallback>
            </mc:AlternateContent>
          </a:graphicData>
        </a:graphic>
      </p:graphicFrame>
      <p:graphicFrame>
        <p:nvGraphicFramePr>
          <p:cNvPr id="37905" name="Object 17"/>
          <p:cNvGraphicFramePr/>
          <p:nvPr/>
        </p:nvGraphicFramePr>
        <p:xfrm>
          <a:off x="5230813" y="4300538"/>
          <a:ext cx="963612" cy="1030287"/>
        </p:xfrm>
        <a:graphic>
          <a:graphicData uri="http://schemas.openxmlformats.org/presentationml/2006/ole">
            <mc:AlternateContent xmlns:mc="http://schemas.openxmlformats.org/markup-compatibility/2006">
              <mc:Choice xmlns:v="urn:schemas-microsoft-com:vml" Requires="v">
                <p:oleObj spid="_x0000_s3084" name="" r:id="rId9" imgW="1155700" imgH="1225550" progId="Visio.Drawing.6">
                  <p:embed/>
                </p:oleObj>
              </mc:Choice>
              <mc:Fallback>
                <p:oleObj name="" r:id="rId9" imgW="1155700" imgH="1225550" progId="Visio.Drawing.6">
                  <p:embed/>
                  <p:pic>
                    <p:nvPicPr>
                      <p:cNvPr id="0" name="图片 3083"/>
                      <p:cNvPicPr/>
                      <p:nvPr/>
                    </p:nvPicPr>
                    <p:blipFill>
                      <a:blip r:embed="rId10"/>
                      <a:stretch>
                        <a:fillRect/>
                      </a:stretch>
                    </p:blipFill>
                    <p:spPr>
                      <a:xfrm>
                        <a:off x="5230813" y="4300538"/>
                        <a:ext cx="963612" cy="1030287"/>
                      </a:xfrm>
                      <a:prstGeom prst="rect">
                        <a:avLst/>
                      </a:prstGeom>
                      <a:noFill/>
                      <a:ln w="38100">
                        <a:noFill/>
                        <a:miter/>
                      </a:ln>
                    </p:spPr>
                  </p:pic>
                </p:oleObj>
              </mc:Fallback>
            </mc:AlternateContent>
          </a:graphicData>
        </a:graphic>
      </p:graphicFrame>
      <p:sp>
        <p:nvSpPr>
          <p:cNvPr id="37906" name="Text Box 18"/>
          <p:cNvSpPr txBox="1"/>
          <p:nvPr/>
        </p:nvSpPr>
        <p:spPr>
          <a:xfrm>
            <a:off x="1919288" y="5654675"/>
            <a:ext cx="2303462" cy="900113"/>
          </a:xfrm>
          <a:prstGeom prst="rect">
            <a:avLst/>
          </a:prstGeom>
          <a:solidFill>
            <a:srgbClr val="FFFFFF"/>
          </a:solidFill>
          <a:ln w="9525" cap="flat" cmpd="sng">
            <a:solidFill>
              <a:srgbClr val="FFFFFF"/>
            </a:solidFill>
            <a:prstDash val="solid"/>
            <a:miter/>
            <a:headEnd type="none" w="med" len="med"/>
            <a:tailEnd type="none" w="med" len="med"/>
          </a:ln>
        </p:spPr>
        <p:txBody>
          <a:bodyPr/>
          <a:p>
            <a:pPr lvl="1" algn="just" eaLnBrk="1" hangingPunct="1"/>
            <a:r>
              <a:rPr lang="zh-CN" altLang="en-US" sz="1400" b="1" dirty="0">
                <a:solidFill>
                  <a:srgbClr val="006666"/>
                </a:solidFill>
                <a:latin typeface="Times New Roman" panose="02020603050405020304" pitchFamily="18" charset="0"/>
              </a:rPr>
              <a:t>基本事件：</a:t>
            </a:r>
            <a:r>
              <a:rPr lang="zh-CN" altLang="en-US" sz="1400" dirty="0">
                <a:solidFill>
                  <a:srgbClr val="006666"/>
                </a:solidFill>
                <a:latin typeface="Times New Roman" panose="02020603050405020304" pitchFamily="18" charset="0"/>
              </a:rPr>
              <a:t>即底事件，对于故障树中的基本事件不必作更深入的分析</a:t>
            </a:r>
            <a:endParaRPr lang="zh-CN" altLang="en-US" sz="1400" b="1" dirty="0">
              <a:solidFill>
                <a:srgbClr val="006666"/>
              </a:solidFill>
              <a:latin typeface="Times New Roman" panose="02020603050405020304" pitchFamily="18" charset="0"/>
              <a:ea typeface="华文新魏" panose="02010800040101010101" pitchFamily="2" charset="-122"/>
            </a:endParaRPr>
          </a:p>
        </p:txBody>
      </p:sp>
      <p:sp>
        <p:nvSpPr>
          <p:cNvPr id="37907" name="Text Box 19"/>
          <p:cNvSpPr txBox="1"/>
          <p:nvPr/>
        </p:nvSpPr>
        <p:spPr>
          <a:xfrm>
            <a:off x="4367213" y="5619750"/>
            <a:ext cx="2592387" cy="914400"/>
          </a:xfrm>
          <a:prstGeom prst="rect">
            <a:avLst/>
          </a:prstGeom>
          <a:solidFill>
            <a:srgbClr val="FFFFFF"/>
          </a:solidFill>
          <a:ln w="9525" cap="flat" cmpd="sng">
            <a:solidFill>
              <a:srgbClr val="FFFFFF"/>
            </a:solidFill>
            <a:prstDash val="solid"/>
            <a:miter/>
            <a:headEnd type="none" w="med" len="med"/>
            <a:tailEnd type="none" w="med" len="med"/>
          </a:ln>
        </p:spPr>
        <p:txBody>
          <a:bodyPr/>
          <a:p>
            <a:pPr lvl="1" algn="just" eaLnBrk="1" hangingPunct="1"/>
            <a:r>
              <a:rPr lang="zh-CN" altLang="en-US" sz="1400" b="1" dirty="0">
                <a:solidFill>
                  <a:srgbClr val="006666"/>
                </a:solidFill>
                <a:latin typeface="Times New Roman" panose="02020603050405020304" pitchFamily="18" charset="0"/>
              </a:rPr>
              <a:t>未展开事件</a:t>
            </a:r>
            <a:r>
              <a:rPr lang="zh-CN" altLang="en-US" sz="1400" dirty="0">
                <a:solidFill>
                  <a:srgbClr val="006666"/>
                </a:solidFill>
                <a:latin typeface="Times New Roman" panose="02020603050405020304" pitchFamily="18" charset="0"/>
              </a:rPr>
              <a:t>：由于发生概率较小，或由于信息不足，不能作更深层的分析的事件。</a:t>
            </a:r>
            <a:endParaRPr lang="zh-CN" altLang="en-US" sz="1400" dirty="0">
              <a:solidFill>
                <a:srgbClr val="006666"/>
              </a:solidFill>
              <a:latin typeface="Times New Roman" panose="02020603050405020304" pitchFamily="18" charset="0"/>
            </a:endParaRPr>
          </a:p>
        </p:txBody>
      </p:sp>
      <p:graphicFrame>
        <p:nvGraphicFramePr>
          <p:cNvPr id="37908" name="Object 20"/>
          <p:cNvGraphicFramePr/>
          <p:nvPr/>
        </p:nvGraphicFramePr>
        <p:xfrm>
          <a:off x="7967663" y="4292600"/>
          <a:ext cx="571500" cy="981075"/>
        </p:xfrm>
        <a:graphic>
          <a:graphicData uri="http://schemas.openxmlformats.org/presentationml/2006/ole">
            <mc:AlternateContent xmlns:mc="http://schemas.openxmlformats.org/markup-compatibility/2006">
              <mc:Choice xmlns:v="urn:schemas-microsoft-com:vml" Requires="v">
                <p:oleObj spid="_x0000_s3087" name="" r:id="rId11" imgW="575310" imgH="984250" progId="Visio.Drawing.6">
                  <p:embed/>
                </p:oleObj>
              </mc:Choice>
              <mc:Fallback>
                <p:oleObj name="" r:id="rId11" imgW="575310" imgH="984250" progId="Visio.Drawing.6">
                  <p:embed/>
                  <p:pic>
                    <p:nvPicPr>
                      <p:cNvPr id="0" name="图片 3086"/>
                      <p:cNvPicPr/>
                      <p:nvPr/>
                    </p:nvPicPr>
                    <p:blipFill>
                      <a:blip r:embed="rId12"/>
                      <a:stretch>
                        <a:fillRect/>
                      </a:stretch>
                    </p:blipFill>
                    <p:spPr>
                      <a:xfrm>
                        <a:off x="7967663" y="4292600"/>
                        <a:ext cx="571500" cy="981075"/>
                      </a:xfrm>
                      <a:prstGeom prst="rect">
                        <a:avLst/>
                      </a:prstGeom>
                      <a:noFill/>
                      <a:ln w="38100">
                        <a:noFill/>
                        <a:miter/>
                      </a:ln>
                    </p:spPr>
                  </p:pic>
                </p:oleObj>
              </mc:Fallback>
            </mc:AlternateContent>
          </a:graphicData>
        </a:graphic>
      </p:graphicFrame>
      <p:graphicFrame>
        <p:nvGraphicFramePr>
          <p:cNvPr id="37909" name="Object 21"/>
          <p:cNvGraphicFramePr/>
          <p:nvPr/>
        </p:nvGraphicFramePr>
        <p:xfrm>
          <a:off x="8759825" y="4724400"/>
          <a:ext cx="1028700" cy="571500"/>
        </p:xfrm>
        <a:graphic>
          <a:graphicData uri="http://schemas.openxmlformats.org/presentationml/2006/ole">
            <mc:AlternateContent xmlns:mc="http://schemas.openxmlformats.org/markup-compatibility/2006">
              <mc:Choice xmlns:v="urn:schemas-microsoft-com:vml" Requires="v">
                <p:oleObj spid="_x0000_s3088" name="" r:id="rId13" imgW="1029970" imgH="575310" progId="Visio.Drawing.6">
                  <p:embed/>
                </p:oleObj>
              </mc:Choice>
              <mc:Fallback>
                <p:oleObj name="" r:id="rId13" imgW="1029970" imgH="575310" progId="Visio.Drawing.6">
                  <p:embed/>
                  <p:pic>
                    <p:nvPicPr>
                      <p:cNvPr id="0" name="图片 3087"/>
                      <p:cNvPicPr/>
                      <p:nvPr/>
                    </p:nvPicPr>
                    <p:blipFill>
                      <a:blip r:embed="rId14"/>
                      <a:stretch>
                        <a:fillRect/>
                      </a:stretch>
                    </p:blipFill>
                    <p:spPr>
                      <a:xfrm>
                        <a:off x="8759825" y="4724400"/>
                        <a:ext cx="1028700" cy="571500"/>
                      </a:xfrm>
                      <a:prstGeom prst="rect">
                        <a:avLst/>
                      </a:prstGeom>
                      <a:noFill/>
                      <a:ln w="38100">
                        <a:noFill/>
                        <a:miter/>
                      </a:ln>
                    </p:spPr>
                  </p:pic>
                </p:oleObj>
              </mc:Fallback>
            </mc:AlternateContent>
          </a:graphicData>
        </a:graphic>
      </p:graphicFrame>
      <p:sp>
        <p:nvSpPr>
          <p:cNvPr id="37910" name="Rectangle 22"/>
          <p:cNvSpPr/>
          <p:nvPr/>
        </p:nvSpPr>
        <p:spPr>
          <a:xfrm>
            <a:off x="5294313" y="2293621"/>
            <a:ext cx="341630" cy="245110"/>
          </a:xfrm>
          <a:prstGeom prst="rect">
            <a:avLst/>
          </a:prstGeom>
          <a:noFill/>
          <a:ln w="9525">
            <a:noFill/>
          </a:ln>
        </p:spPr>
        <p:txBody>
          <a:bodyPr wrap="none" anchor="ctr" anchorCtr="0">
            <a:spAutoFit/>
          </a:bodyPr>
          <a:p>
            <a:r>
              <a:rPr lang="en-US" altLang="zh-CN" sz="1000" dirty="0">
                <a:latin typeface="Times New Roman" panose="02020603050405020304" pitchFamily="18" charset="0"/>
                <a:cs typeface="Times New Roman" panose="02020603050405020304" pitchFamily="18" charset="0"/>
              </a:rPr>
              <a:t>     </a:t>
            </a:r>
            <a:endParaRPr lang="en-US" altLang="zh-CN" sz="2400" dirty="0">
              <a:latin typeface="Times New Roman" panose="02020603050405020304" pitchFamily="18" charset="0"/>
            </a:endParaRPr>
          </a:p>
        </p:txBody>
      </p:sp>
      <p:sp>
        <p:nvSpPr>
          <p:cNvPr id="37911" name="Rectangle 23"/>
          <p:cNvSpPr/>
          <p:nvPr/>
        </p:nvSpPr>
        <p:spPr>
          <a:xfrm>
            <a:off x="5294313" y="3544571"/>
            <a:ext cx="214630" cy="245110"/>
          </a:xfrm>
          <a:prstGeom prst="rect">
            <a:avLst/>
          </a:prstGeom>
          <a:noFill/>
          <a:ln w="9525">
            <a:noFill/>
          </a:ln>
        </p:spPr>
        <p:txBody>
          <a:bodyPr wrap="none" anchor="ctr" anchorCtr="0">
            <a:spAutoFit/>
          </a:bodyPr>
          <a:p>
            <a:r>
              <a:rPr lang="en-US" altLang="zh-CN" sz="1000" dirty="0">
                <a:latin typeface="Times New Roman" panose="02020603050405020304" pitchFamily="18" charset="0"/>
                <a:cs typeface="Times New Roman" panose="02020603050405020304" pitchFamily="18" charset="0"/>
              </a:rPr>
              <a:t> </a:t>
            </a:r>
            <a:endParaRPr lang="en-US" altLang="zh-CN" sz="2400" dirty="0">
              <a:latin typeface="Times New Roman" panose="02020603050405020304" pitchFamily="18" charset="0"/>
            </a:endParaRPr>
          </a:p>
        </p:txBody>
      </p:sp>
      <p:sp>
        <p:nvSpPr>
          <p:cNvPr id="37912" name="Rectangle 24"/>
          <p:cNvSpPr/>
          <p:nvPr/>
        </p:nvSpPr>
        <p:spPr>
          <a:xfrm>
            <a:off x="5221288" y="4220528"/>
            <a:ext cx="218440" cy="229870"/>
          </a:xfrm>
          <a:prstGeom prst="rect">
            <a:avLst/>
          </a:prstGeom>
          <a:noFill/>
          <a:ln w="9525">
            <a:noFill/>
          </a:ln>
        </p:spPr>
        <p:txBody>
          <a:bodyPr wrap="none" anchor="ctr" anchorCtr="0">
            <a:spAutoFit/>
          </a:bodyPr>
          <a:p>
            <a:r>
              <a:rPr lang="en-US" altLang="zh-CN" sz="900" dirty="0">
                <a:latin typeface="Tahoma" panose="020B0604030504040204" pitchFamily="34" charset="0"/>
                <a:ea typeface="华文新魏" panose="02010800040101010101" pitchFamily="2" charset="-122"/>
              </a:rPr>
              <a:t> </a:t>
            </a:r>
            <a:endParaRPr lang="en-US" altLang="zh-CN" sz="2400" dirty="0">
              <a:latin typeface="Times New Roman" panose="02020603050405020304" pitchFamily="18" charset="0"/>
            </a:endParaRPr>
          </a:p>
        </p:txBody>
      </p:sp>
      <p:sp>
        <p:nvSpPr>
          <p:cNvPr id="37913" name="Text Box 25"/>
          <p:cNvSpPr txBox="1"/>
          <p:nvPr/>
        </p:nvSpPr>
        <p:spPr>
          <a:xfrm>
            <a:off x="7175500" y="5588000"/>
            <a:ext cx="3092450" cy="908050"/>
          </a:xfrm>
          <a:prstGeom prst="rect">
            <a:avLst/>
          </a:prstGeom>
          <a:solidFill>
            <a:srgbClr val="FFFFFF"/>
          </a:solidFill>
          <a:ln w="9525" cap="flat" cmpd="sng">
            <a:solidFill>
              <a:srgbClr val="FFFFFF"/>
            </a:solidFill>
            <a:prstDash val="solid"/>
            <a:miter/>
            <a:headEnd type="none" w="med" len="med"/>
            <a:tailEnd type="none" w="med" len="med"/>
          </a:ln>
        </p:spPr>
        <p:txBody>
          <a:bodyPr/>
          <a:p>
            <a:pPr algn="just"/>
            <a:r>
              <a:rPr lang="zh-CN" altLang="en-US" sz="1400" b="1" dirty="0">
                <a:solidFill>
                  <a:srgbClr val="006666"/>
                </a:solidFill>
                <a:latin typeface="Times New Roman" panose="02020603050405020304" pitchFamily="18" charset="0"/>
              </a:rPr>
              <a:t>入三角形：</a:t>
            </a:r>
            <a:r>
              <a:rPr lang="zh-CN" altLang="en-US" sz="1400" dirty="0">
                <a:solidFill>
                  <a:srgbClr val="006666"/>
                </a:solidFill>
                <a:latin typeface="Times New Roman" panose="02020603050405020304" pitchFamily="18" charset="0"/>
              </a:rPr>
              <a:t>表示树的部分分支在另外地方绘制，用以简化故障树；</a:t>
            </a:r>
            <a:endParaRPr lang="zh-CN" altLang="en-US" sz="1400" dirty="0">
              <a:solidFill>
                <a:srgbClr val="006666"/>
              </a:solidFill>
              <a:latin typeface="Times New Roman" panose="02020603050405020304" pitchFamily="18" charset="0"/>
            </a:endParaRPr>
          </a:p>
          <a:p>
            <a:pPr algn="just"/>
            <a:r>
              <a:rPr lang="zh-CN" altLang="en-US" sz="1400" b="1" dirty="0">
                <a:solidFill>
                  <a:srgbClr val="006666"/>
                </a:solidFill>
                <a:latin typeface="Times New Roman" panose="02020603050405020304" pitchFamily="18" charset="0"/>
              </a:rPr>
              <a:t>出三角形：</a:t>
            </a:r>
            <a:r>
              <a:rPr lang="zh-CN" altLang="en-US" sz="1400" dirty="0">
                <a:solidFill>
                  <a:srgbClr val="006666"/>
                </a:solidFill>
                <a:latin typeface="Times New Roman" panose="02020603050405020304" pitchFamily="18" charset="0"/>
              </a:rPr>
              <a:t>表示该树是在另外部分绘制的一颗故障树的子树，用以简化故障树。</a:t>
            </a:r>
            <a:endParaRPr lang="zh-CN" altLang="en-US" sz="1400" b="1" dirty="0">
              <a:solidFill>
                <a:srgbClr val="006666"/>
              </a:solidFill>
              <a:latin typeface="Times New Roman" panose="02020603050405020304" pitchFamily="18" charset="0"/>
              <a:ea typeface="华文新魏" panose="02010800040101010101" pitchFamily="2" charset="-122"/>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7898"/>
                                        </p:tgtEl>
                                        <p:attrNameLst>
                                          <p:attrName>style.visibility</p:attrName>
                                        </p:attrNameLst>
                                      </p:cBhvr>
                                      <p:to>
                                        <p:strVal val="visible"/>
                                      </p:to>
                                    </p:set>
                                    <p:animEffect transition="in" filter="dissolve">
                                      <p:cBhvr>
                                        <p:cTn id="7" dur="500"/>
                                        <p:tgtEl>
                                          <p:spTgt spid="37898"/>
                                        </p:tgtEl>
                                      </p:cBhvr>
                                    </p:animEffect>
                                  </p:childTnLst>
                                </p:cTn>
                              </p:par>
                              <p:par>
                                <p:cTn id="8" presetID="9" presetClass="entr" presetSubtype="0" fill="hold" nodeType="withEffect">
                                  <p:stCondLst>
                                    <p:cond delay="0"/>
                                  </p:stCondLst>
                                  <p:childTnLst>
                                    <p:set>
                                      <p:cBhvr>
                                        <p:cTn id="9" dur="1" fill="hold">
                                          <p:stCondLst>
                                            <p:cond delay="0"/>
                                          </p:stCondLst>
                                        </p:cTn>
                                        <p:tgtEl>
                                          <p:spTgt spid="37899"/>
                                        </p:tgtEl>
                                        <p:attrNameLst>
                                          <p:attrName>style.visibility</p:attrName>
                                        </p:attrNameLst>
                                      </p:cBhvr>
                                      <p:to>
                                        <p:strVal val="visible"/>
                                      </p:to>
                                    </p:set>
                                    <p:animEffect transition="in" filter="dissolve">
                                      <p:cBhvr>
                                        <p:cTn id="10" dur="500"/>
                                        <p:tgtEl>
                                          <p:spTgt spid="37899"/>
                                        </p:tgtEl>
                                      </p:cBhvr>
                                    </p:animEffect>
                                  </p:childTnLst>
                                </p:cTn>
                              </p:par>
                              <p:par>
                                <p:cTn id="11" presetID="9" presetClass="entr" presetSubtype="0" fill="hold" nodeType="withEffect">
                                  <p:stCondLst>
                                    <p:cond delay="0"/>
                                  </p:stCondLst>
                                  <p:childTnLst>
                                    <p:set>
                                      <p:cBhvr>
                                        <p:cTn id="12" dur="1" fill="hold">
                                          <p:stCondLst>
                                            <p:cond delay="0"/>
                                          </p:stCondLst>
                                        </p:cTn>
                                        <p:tgtEl>
                                          <p:spTgt spid="37900"/>
                                        </p:tgtEl>
                                        <p:attrNameLst>
                                          <p:attrName>style.visibility</p:attrName>
                                        </p:attrNameLst>
                                      </p:cBhvr>
                                      <p:to>
                                        <p:strVal val="visible"/>
                                      </p:to>
                                    </p:set>
                                    <p:animEffect transition="in" filter="dissolve">
                                      <p:cBhvr>
                                        <p:cTn id="13" dur="500"/>
                                        <p:tgtEl>
                                          <p:spTgt spid="37900"/>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37901"/>
                                        </p:tgtEl>
                                        <p:attrNameLst>
                                          <p:attrName>style.visibility</p:attrName>
                                        </p:attrNameLst>
                                      </p:cBhvr>
                                      <p:to>
                                        <p:strVal val="visible"/>
                                      </p:to>
                                    </p:set>
                                    <p:animEffect transition="in" filter="dissolve">
                                      <p:cBhvr>
                                        <p:cTn id="16" dur="500"/>
                                        <p:tgtEl>
                                          <p:spTgt spid="37901"/>
                                        </p:tgtEl>
                                      </p:cBhvr>
                                    </p:animEffect>
                                  </p:childTnLst>
                                </p:cTn>
                              </p:par>
                              <p:par>
                                <p:cTn id="17" presetID="9" presetClass="entr" presetSubtype="0" fill="hold" grpId="0" nodeType="withEffect">
                                  <p:stCondLst>
                                    <p:cond delay="0"/>
                                  </p:stCondLst>
                                  <p:childTnLst>
                                    <p:set>
                                      <p:cBhvr>
                                        <p:cTn id="18" dur="1" fill="hold">
                                          <p:stCondLst>
                                            <p:cond delay="0"/>
                                          </p:stCondLst>
                                        </p:cTn>
                                        <p:tgtEl>
                                          <p:spTgt spid="37910"/>
                                        </p:tgtEl>
                                        <p:attrNameLst>
                                          <p:attrName>style.visibility</p:attrName>
                                        </p:attrNameLst>
                                      </p:cBhvr>
                                      <p:to>
                                        <p:strVal val="visible"/>
                                      </p:to>
                                    </p:set>
                                    <p:animEffect transition="in" filter="dissolve">
                                      <p:cBhvr>
                                        <p:cTn id="19" dur="500"/>
                                        <p:tgtEl>
                                          <p:spTgt spid="37910"/>
                                        </p:tgtEl>
                                      </p:cBhvr>
                                    </p:animEffect>
                                  </p:childTnLst>
                                </p:cTn>
                              </p:par>
                              <p:par>
                                <p:cTn id="20" presetID="9" presetClass="entr" presetSubtype="0" fill="hold" grpId="0" nodeType="withEffect">
                                  <p:stCondLst>
                                    <p:cond delay="0"/>
                                  </p:stCondLst>
                                  <p:childTnLst>
                                    <p:set>
                                      <p:cBhvr>
                                        <p:cTn id="21" dur="1" fill="hold">
                                          <p:stCondLst>
                                            <p:cond delay="0"/>
                                          </p:stCondLst>
                                        </p:cTn>
                                        <p:tgtEl>
                                          <p:spTgt spid="37911"/>
                                        </p:tgtEl>
                                        <p:attrNameLst>
                                          <p:attrName>style.visibility</p:attrName>
                                        </p:attrNameLst>
                                      </p:cBhvr>
                                      <p:to>
                                        <p:strVal val="visible"/>
                                      </p:to>
                                    </p:set>
                                    <p:animEffect transition="in" filter="dissolve">
                                      <p:cBhvr>
                                        <p:cTn id="22" dur="500"/>
                                        <p:tgtEl>
                                          <p:spTgt spid="37911"/>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37902"/>
                                        </p:tgtEl>
                                        <p:attrNameLst>
                                          <p:attrName>style.visibility</p:attrName>
                                        </p:attrNameLst>
                                      </p:cBhvr>
                                      <p:to>
                                        <p:strVal val="visible"/>
                                      </p:to>
                                    </p:set>
                                    <p:animEffect transition="in" filter="dissolve">
                                      <p:cBhvr>
                                        <p:cTn id="27" dur="500"/>
                                        <p:tgtEl>
                                          <p:spTgt spid="37902"/>
                                        </p:tgtEl>
                                      </p:cBhvr>
                                    </p:animEffect>
                                  </p:childTnLst>
                                </p:cTn>
                              </p:par>
                              <p:par>
                                <p:cTn id="28" presetID="9" presetClass="entr" presetSubtype="0" fill="hold" grpId="0" nodeType="withEffect">
                                  <p:stCondLst>
                                    <p:cond delay="0"/>
                                  </p:stCondLst>
                                  <p:childTnLst>
                                    <p:set>
                                      <p:cBhvr>
                                        <p:cTn id="29" dur="1" fill="hold">
                                          <p:stCondLst>
                                            <p:cond delay="0"/>
                                          </p:stCondLst>
                                        </p:cTn>
                                        <p:tgtEl>
                                          <p:spTgt spid="37903"/>
                                        </p:tgtEl>
                                        <p:attrNameLst>
                                          <p:attrName>style.visibility</p:attrName>
                                        </p:attrNameLst>
                                      </p:cBhvr>
                                      <p:to>
                                        <p:strVal val="visible"/>
                                      </p:to>
                                    </p:set>
                                    <p:animEffect transition="in" filter="dissolve">
                                      <p:cBhvr>
                                        <p:cTn id="30" dur="500"/>
                                        <p:tgtEl>
                                          <p:spTgt spid="37903"/>
                                        </p:tgtEl>
                                      </p:cBhvr>
                                    </p:animEffect>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nodeType="clickEffect">
                                  <p:stCondLst>
                                    <p:cond delay="0"/>
                                  </p:stCondLst>
                                  <p:childTnLst>
                                    <p:set>
                                      <p:cBhvr>
                                        <p:cTn id="34" dur="1" fill="hold">
                                          <p:stCondLst>
                                            <p:cond delay="0"/>
                                          </p:stCondLst>
                                        </p:cTn>
                                        <p:tgtEl>
                                          <p:spTgt spid="37904"/>
                                        </p:tgtEl>
                                        <p:attrNameLst>
                                          <p:attrName>style.visibility</p:attrName>
                                        </p:attrNameLst>
                                      </p:cBhvr>
                                      <p:to>
                                        <p:strVal val="visible"/>
                                      </p:to>
                                    </p:set>
                                    <p:animEffect transition="in" filter="dissolve">
                                      <p:cBhvr>
                                        <p:cTn id="35" dur="500"/>
                                        <p:tgtEl>
                                          <p:spTgt spid="37904"/>
                                        </p:tgtEl>
                                      </p:cBhvr>
                                    </p:animEffect>
                                  </p:childTnLst>
                                </p:cTn>
                              </p:par>
                              <p:par>
                                <p:cTn id="36" presetID="9" presetClass="entr" presetSubtype="0" fill="hold" nodeType="withEffect">
                                  <p:stCondLst>
                                    <p:cond delay="0"/>
                                  </p:stCondLst>
                                  <p:childTnLst>
                                    <p:set>
                                      <p:cBhvr>
                                        <p:cTn id="37" dur="1" fill="hold">
                                          <p:stCondLst>
                                            <p:cond delay="0"/>
                                          </p:stCondLst>
                                        </p:cTn>
                                        <p:tgtEl>
                                          <p:spTgt spid="37905"/>
                                        </p:tgtEl>
                                        <p:attrNameLst>
                                          <p:attrName>style.visibility</p:attrName>
                                        </p:attrNameLst>
                                      </p:cBhvr>
                                      <p:to>
                                        <p:strVal val="visible"/>
                                      </p:to>
                                    </p:set>
                                    <p:animEffect transition="in" filter="dissolve">
                                      <p:cBhvr>
                                        <p:cTn id="38" dur="500"/>
                                        <p:tgtEl>
                                          <p:spTgt spid="37905"/>
                                        </p:tgtEl>
                                      </p:cBhvr>
                                    </p:animEffect>
                                  </p:childTnLst>
                                </p:cTn>
                              </p:par>
                              <p:par>
                                <p:cTn id="39" presetID="9" presetClass="entr" presetSubtype="0" fill="hold" grpId="0" nodeType="withEffect">
                                  <p:stCondLst>
                                    <p:cond delay="0"/>
                                  </p:stCondLst>
                                  <p:childTnLst>
                                    <p:set>
                                      <p:cBhvr>
                                        <p:cTn id="40" dur="1" fill="hold">
                                          <p:stCondLst>
                                            <p:cond delay="0"/>
                                          </p:stCondLst>
                                        </p:cTn>
                                        <p:tgtEl>
                                          <p:spTgt spid="37906"/>
                                        </p:tgtEl>
                                        <p:attrNameLst>
                                          <p:attrName>style.visibility</p:attrName>
                                        </p:attrNameLst>
                                      </p:cBhvr>
                                      <p:to>
                                        <p:strVal val="visible"/>
                                      </p:to>
                                    </p:set>
                                    <p:animEffect transition="in" filter="dissolve">
                                      <p:cBhvr>
                                        <p:cTn id="41" dur="500"/>
                                        <p:tgtEl>
                                          <p:spTgt spid="37906"/>
                                        </p:tgtEl>
                                      </p:cBhvr>
                                    </p:animEffect>
                                  </p:childTnLst>
                                </p:cTn>
                              </p:par>
                              <p:par>
                                <p:cTn id="42" presetID="9" presetClass="entr" presetSubtype="0" fill="hold" grpId="0" nodeType="withEffect">
                                  <p:stCondLst>
                                    <p:cond delay="0"/>
                                  </p:stCondLst>
                                  <p:childTnLst>
                                    <p:set>
                                      <p:cBhvr>
                                        <p:cTn id="43" dur="1" fill="hold">
                                          <p:stCondLst>
                                            <p:cond delay="0"/>
                                          </p:stCondLst>
                                        </p:cTn>
                                        <p:tgtEl>
                                          <p:spTgt spid="37907"/>
                                        </p:tgtEl>
                                        <p:attrNameLst>
                                          <p:attrName>style.visibility</p:attrName>
                                        </p:attrNameLst>
                                      </p:cBhvr>
                                      <p:to>
                                        <p:strVal val="visible"/>
                                      </p:to>
                                    </p:set>
                                    <p:animEffect transition="in" filter="dissolve">
                                      <p:cBhvr>
                                        <p:cTn id="44" dur="500"/>
                                        <p:tgtEl>
                                          <p:spTgt spid="37907"/>
                                        </p:tgtEl>
                                      </p:cBhvr>
                                    </p:animEffect>
                                  </p:childTnLst>
                                </p:cTn>
                              </p:par>
                              <p:par>
                                <p:cTn id="45" presetID="9" presetClass="entr" presetSubtype="0" fill="hold" nodeType="withEffect">
                                  <p:stCondLst>
                                    <p:cond delay="0"/>
                                  </p:stCondLst>
                                  <p:childTnLst>
                                    <p:set>
                                      <p:cBhvr>
                                        <p:cTn id="46" dur="1" fill="hold">
                                          <p:stCondLst>
                                            <p:cond delay="0"/>
                                          </p:stCondLst>
                                        </p:cTn>
                                        <p:tgtEl>
                                          <p:spTgt spid="37908"/>
                                        </p:tgtEl>
                                        <p:attrNameLst>
                                          <p:attrName>style.visibility</p:attrName>
                                        </p:attrNameLst>
                                      </p:cBhvr>
                                      <p:to>
                                        <p:strVal val="visible"/>
                                      </p:to>
                                    </p:set>
                                    <p:animEffect transition="in" filter="dissolve">
                                      <p:cBhvr>
                                        <p:cTn id="47" dur="500"/>
                                        <p:tgtEl>
                                          <p:spTgt spid="37908"/>
                                        </p:tgtEl>
                                      </p:cBhvr>
                                    </p:animEffect>
                                  </p:childTnLst>
                                </p:cTn>
                              </p:par>
                              <p:par>
                                <p:cTn id="48" presetID="9" presetClass="entr" presetSubtype="0" fill="hold" nodeType="withEffect">
                                  <p:stCondLst>
                                    <p:cond delay="0"/>
                                  </p:stCondLst>
                                  <p:childTnLst>
                                    <p:set>
                                      <p:cBhvr>
                                        <p:cTn id="49" dur="1" fill="hold">
                                          <p:stCondLst>
                                            <p:cond delay="0"/>
                                          </p:stCondLst>
                                        </p:cTn>
                                        <p:tgtEl>
                                          <p:spTgt spid="37909"/>
                                        </p:tgtEl>
                                        <p:attrNameLst>
                                          <p:attrName>style.visibility</p:attrName>
                                        </p:attrNameLst>
                                      </p:cBhvr>
                                      <p:to>
                                        <p:strVal val="visible"/>
                                      </p:to>
                                    </p:set>
                                    <p:animEffect transition="in" filter="dissolve">
                                      <p:cBhvr>
                                        <p:cTn id="50" dur="500"/>
                                        <p:tgtEl>
                                          <p:spTgt spid="37909"/>
                                        </p:tgtEl>
                                      </p:cBhvr>
                                    </p:animEffect>
                                  </p:childTnLst>
                                </p:cTn>
                              </p:par>
                              <p:par>
                                <p:cTn id="51" presetID="9" presetClass="entr" presetSubtype="0" fill="hold" grpId="0" nodeType="withEffect">
                                  <p:stCondLst>
                                    <p:cond delay="0"/>
                                  </p:stCondLst>
                                  <p:childTnLst>
                                    <p:set>
                                      <p:cBhvr>
                                        <p:cTn id="52" dur="1" fill="hold">
                                          <p:stCondLst>
                                            <p:cond delay="0"/>
                                          </p:stCondLst>
                                        </p:cTn>
                                        <p:tgtEl>
                                          <p:spTgt spid="37912"/>
                                        </p:tgtEl>
                                        <p:attrNameLst>
                                          <p:attrName>style.visibility</p:attrName>
                                        </p:attrNameLst>
                                      </p:cBhvr>
                                      <p:to>
                                        <p:strVal val="visible"/>
                                      </p:to>
                                    </p:set>
                                    <p:animEffect transition="in" filter="dissolve">
                                      <p:cBhvr>
                                        <p:cTn id="53" dur="500"/>
                                        <p:tgtEl>
                                          <p:spTgt spid="37912"/>
                                        </p:tgtEl>
                                      </p:cBhvr>
                                    </p:animEffect>
                                  </p:childTnLst>
                                </p:cTn>
                              </p:par>
                              <p:par>
                                <p:cTn id="54" presetID="9" presetClass="entr" presetSubtype="0" fill="hold" grpId="0" nodeType="withEffect">
                                  <p:stCondLst>
                                    <p:cond delay="0"/>
                                  </p:stCondLst>
                                  <p:childTnLst>
                                    <p:set>
                                      <p:cBhvr>
                                        <p:cTn id="55" dur="1" fill="hold">
                                          <p:stCondLst>
                                            <p:cond delay="0"/>
                                          </p:stCondLst>
                                        </p:cTn>
                                        <p:tgtEl>
                                          <p:spTgt spid="37913"/>
                                        </p:tgtEl>
                                        <p:attrNameLst>
                                          <p:attrName>style.visibility</p:attrName>
                                        </p:attrNameLst>
                                      </p:cBhvr>
                                      <p:to>
                                        <p:strVal val="visible"/>
                                      </p:to>
                                    </p:set>
                                    <p:animEffect transition="in" filter="dissolve">
                                      <p:cBhvr>
                                        <p:cTn id="56" dur="500"/>
                                        <p:tgtEl>
                                          <p:spTgt spid="379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8" grpId="0" bldLvl="0" animBg="1"/>
      <p:bldP spid="37901" grpId="0" bldLvl="0" animBg="1"/>
      <p:bldP spid="37903" grpId="0" bldLvl="0" animBg="1"/>
      <p:bldP spid="37906" grpId="0" bldLvl="0" animBg="1"/>
      <p:bldP spid="37907" grpId="0" bldLvl="0" animBg="1"/>
      <p:bldP spid="37910" grpId="0"/>
      <p:bldP spid="37911" grpId="0"/>
      <p:bldP spid="37912" grpId="0"/>
      <p:bldP spid="37913" grpId="0" bldLvl="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5" name="Rectangle 2"/>
          <p:cNvSpPr/>
          <p:nvPr/>
        </p:nvSpPr>
        <p:spPr>
          <a:xfrm>
            <a:off x="1524000" y="996950"/>
            <a:ext cx="309880" cy="368300"/>
          </a:xfrm>
          <a:prstGeom prst="rect">
            <a:avLst/>
          </a:prstGeom>
          <a:noFill/>
          <a:ln w="9525">
            <a:noFill/>
          </a:ln>
        </p:spPr>
        <p:txBody>
          <a:bodyPr wrap="none" anchor="ctr" anchorCtr="0">
            <a:spAutoFit/>
          </a:bodyPr>
          <a:p>
            <a:endParaRPr lang="zh-CN" altLang="en-US" dirty="0">
              <a:latin typeface="Arial" panose="020B0604020202020204" pitchFamily="34" charset="0"/>
            </a:endParaRPr>
          </a:p>
        </p:txBody>
      </p:sp>
      <p:graphicFrame>
        <p:nvGraphicFramePr>
          <p:cNvPr id="8194" name="Object 3"/>
          <p:cNvGraphicFramePr/>
          <p:nvPr/>
        </p:nvGraphicFramePr>
        <p:xfrm>
          <a:off x="3648075" y="1196975"/>
          <a:ext cx="4916488" cy="5359400"/>
        </p:xfrm>
        <a:graphic>
          <a:graphicData uri="http://schemas.openxmlformats.org/presentationml/2006/ole">
            <mc:AlternateContent xmlns:mc="http://schemas.openxmlformats.org/markup-compatibility/2006">
              <mc:Choice xmlns:v="urn:schemas-microsoft-com:vml" Requires="v">
                <p:oleObj spid="_x0000_s3091" name="" r:id="rId1" imgW="6423660" imgH="7010400" progId="Visio.Drawing.11">
                  <p:embed/>
                </p:oleObj>
              </mc:Choice>
              <mc:Fallback>
                <p:oleObj name="" r:id="rId1" imgW="6423660" imgH="7010400" progId="Visio.Drawing.11">
                  <p:embed/>
                  <p:pic>
                    <p:nvPicPr>
                      <p:cNvPr id="0" name="图片 3090"/>
                      <p:cNvPicPr/>
                      <p:nvPr/>
                    </p:nvPicPr>
                    <p:blipFill>
                      <a:blip r:embed="rId2"/>
                      <a:stretch>
                        <a:fillRect/>
                      </a:stretch>
                    </p:blipFill>
                    <p:spPr>
                      <a:xfrm>
                        <a:off x="3648075" y="1196975"/>
                        <a:ext cx="4916488" cy="5359400"/>
                      </a:xfrm>
                      <a:prstGeom prst="rect">
                        <a:avLst/>
                      </a:prstGeom>
                      <a:noFill/>
                      <a:ln w="38100">
                        <a:noFill/>
                        <a:miter/>
                      </a:ln>
                    </p:spPr>
                  </p:pic>
                </p:oleObj>
              </mc:Fallback>
            </mc:AlternateContent>
          </a:graphicData>
        </a:graphic>
      </p:graphicFrame>
      <p:sp>
        <p:nvSpPr>
          <p:cNvPr id="8196" name="Rectangle 4"/>
          <p:cNvSpPr/>
          <p:nvPr/>
        </p:nvSpPr>
        <p:spPr>
          <a:xfrm>
            <a:off x="1426845" y="330200"/>
            <a:ext cx="4098925" cy="768350"/>
          </a:xfrm>
          <a:prstGeom prst="rect">
            <a:avLst/>
          </a:prstGeom>
          <a:noFill/>
          <a:ln w="9525">
            <a:noFill/>
          </a:ln>
        </p:spPr>
        <p:txBody>
          <a:bodyPr wrap="none" anchor="ctr" anchorCtr="0">
            <a:spAutoFit/>
          </a:bodyPr>
          <a:p>
            <a:r>
              <a:rPr lang="zh-CN" altLang="en-US" sz="4400" b="1" dirty="0">
                <a:solidFill>
                  <a:srgbClr val="006666"/>
                </a:solidFill>
                <a:latin typeface="Tahoma" panose="020B0604030504040204" pitchFamily="34" charset="0"/>
                <a:ea typeface="华文新魏" panose="02010800040101010101" pitchFamily="2" charset="-122"/>
              </a:rPr>
              <a:t>故障树分析示例</a:t>
            </a:r>
            <a:endParaRPr lang="zh-CN" altLang="en-US" sz="4400" b="1" dirty="0">
              <a:solidFill>
                <a:srgbClr val="006666"/>
              </a:solidFill>
              <a:latin typeface="Tahoma" panose="020B0604030504040204" pitchFamily="34" charset="0"/>
              <a:ea typeface="华文新魏" panose="02010800040101010101" pitchFamily="2" charset="-122"/>
            </a:endParaRPr>
          </a:p>
        </p:txBody>
      </p:sp>
      <p:sp>
        <p:nvSpPr>
          <p:cNvPr id="8197" name="Rectangle 5"/>
          <p:cNvSpPr/>
          <p:nvPr/>
        </p:nvSpPr>
        <p:spPr>
          <a:xfrm>
            <a:off x="7680325" y="5730875"/>
            <a:ext cx="1980565" cy="460375"/>
          </a:xfrm>
          <a:prstGeom prst="rect">
            <a:avLst/>
          </a:prstGeom>
          <a:noFill/>
          <a:ln w="9525">
            <a:noFill/>
          </a:ln>
        </p:spPr>
        <p:txBody>
          <a:bodyPr wrap="none" anchor="b" anchorCtr="0">
            <a:spAutoFit/>
          </a:bodyPr>
          <a:p>
            <a:r>
              <a:rPr lang="en-US" altLang="zh-CN" sz="2400" dirty="0">
                <a:latin typeface="Tahoma" panose="020B0604030504040204" pitchFamily="34" charset="0"/>
                <a:ea typeface="华文新魏" panose="02010800040101010101" pitchFamily="2" charset="-122"/>
              </a:rPr>
              <a:t>ATM</a:t>
            </a:r>
            <a:r>
              <a:rPr lang="zh-CN" altLang="en-US" sz="2400" dirty="0">
                <a:latin typeface="Tahoma" panose="020B0604030504040204" pitchFamily="34" charset="0"/>
                <a:ea typeface="华文新魏" panose="02010800040101010101" pitchFamily="2" charset="-122"/>
              </a:rPr>
              <a:t>系统结构</a:t>
            </a:r>
            <a:endParaRPr lang="zh-CN" altLang="en-US" sz="2400" dirty="0">
              <a:latin typeface="Tahoma" panose="020B0604030504040204" pitchFamily="34" charset="0"/>
              <a:ea typeface="华文新魏" panose="02010800040101010101" pitchFamily="2" charset="-122"/>
            </a:endParaRPr>
          </a:p>
        </p:txBody>
      </p:sp>
    </p:spTree>
  </p:cSld>
  <p:clrMapOvr>
    <a:masterClrMapping/>
  </p:clrMapOvr>
  <p:transition>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9218" name="Object 6"/>
          <p:cNvGraphicFramePr/>
          <p:nvPr/>
        </p:nvGraphicFramePr>
        <p:xfrm>
          <a:off x="2311400" y="158115"/>
          <a:ext cx="7129463" cy="6559550"/>
        </p:xfrm>
        <a:graphic>
          <a:graphicData uri="http://schemas.openxmlformats.org/presentationml/2006/ole">
            <mc:AlternateContent xmlns:mc="http://schemas.openxmlformats.org/markup-compatibility/2006">
              <mc:Choice xmlns:v="urn:schemas-microsoft-com:vml" Requires="v">
                <p:oleObj spid="_x0000_s3090" name="" r:id="rId1" imgW="6728460" imgH="6186170" progId="Visio.Drawing.11">
                  <p:embed/>
                </p:oleObj>
              </mc:Choice>
              <mc:Fallback>
                <p:oleObj name="" r:id="rId1" imgW="6728460" imgH="6186170" progId="Visio.Drawing.11">
                  <p:embed/>
                  <p:pic>
                    <p:nvPicPr>
                      <p:cNvPr id="0" name="图片 3089"/>
                      <p:cNvPicPr/>
                      <p:nvPr/>
                    </p:nvPicPr>
                    <p:blipFill>
                      <a:blip r:embed="rId2"/>
                      <a:stretch>
                        <a:fillRect/>
                      </a:stretch>
                    </p:blipFill>
                    <p:spPr>
                      <a:xfrm>
                        <a:off x="2311400" y="158115"/>
                        <a:ext cx="7129463" cy="6559550"/>
                      </a:xfrm>
                      <a:prstGeom prst="rect">
                        <a:avLst/>
                      </a:prstGeom>
                      <a:noFill/>
                      <a:ln w="38100">
                        <a:noFill/>
                        <a:miter/>
                      </a:ln>
                    </p:spPr>
                  </p:pic>
                </p:oleObj>
              </mc:Fallback>
            </mc:AlternateContent>
          </a:graphicData>
        </a:graphic>
      </p:graphicFrame>
    </p:spTree>
  </p:cSld>
  <p:clrMapOvr>
    <a:masterClrMapping/>
  </p:clrMapOvr>
  <p:transition>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4994" name="Rectangle 2"/>
          <p:cNvSpPr>
            <a:spLocks noGrp="1"/>
          </p:cNvSpPr>
          <p:nvPr>
            <p:ph type="title"/>
          </p:nvPr>
        </p:nvSpPr>
        <p:spPr/>
        <p:txBody>
          <a:bodyPr vert="horz" wrap="square" lIns="91440" tIns="45720" rIns="91440" bIns="45720" anchor="ctr" anchorCtr="0"/>
          <a:p>
            <a:r>
              <a:rPr lang="zh-CN" altLang="en-US" dirty="0"/>
              <a:t>软件故障树定性分析</a:t>
            </a:r>
            <a:endParaRPr lang="zh-CN" altLang="en-US" dirty="0"/>
          </a:p>
        </p:txBody>
      </p:sp>
      <p:sp>
        <p:nvSpPr>
          <p:cNvPr id="84995" name="Rectangle 3"/>
          <p:cNvSpPr>
            <a:spLocks noGrp="1"/>
          </p:cNvSpPr>
          <p:nvPr>
            <p:ph idx="1"/>
          </p:nvPr>
        </p:nvSpPr>
        <p:spPr>
          <a:xfrm>
            <a:off x="943610" y="1500505"/>
            <a:ext cx="10102215" cy="4953000"/>
          </a:xfrm>
        </p:spPr>
        <p:txBody>
          <a:bodyPr vert="horz" wrap="square" lIns="91440" tIns="45720" rIns="91440" bIns="45720" anchor="t" anchorCtr="0"/>
          <a:p>
            <a:r>
              <a:rPr lang="zh-CN" altLang="en-US" dirty="0"/>
              <a:t>目的</a:t>
            </a:r>
            <a:endParaRPr lang="zh-CN" altLang="en-US" dirty="0"/>
          </a:p>
          <a:p>
            <a:pPr lvl="1"/>
            <a:r>
              <a:rPr lang="zh-CN" altLang="en-US" dirty="0"/>
              <a:t>软件故障树分析最重要的意义在于，根据分析的结果找出关键性的事故发生的原因，指导软件可靠性、安全性设计以及软件测试，从而提高软件的可靠性和安全性。 </a:t>
            </a:r>
            <a:endParaRPr lang="zh-CN" altLang="en-US" dirty="0"/>
          </a:p>
          <a:p>
            <a:r>
              <a:rPr lang="zh-CN" altLang="en-US" dirty="0"/>
              <a:t>方法</a:t>
            </a:r>
            <a:endParaRPr lang="zh-CN" altLang="en-US" dirty="0"/>
          </a:p>
          <a:p>
            <a:pPr lvl="1"/>
            <a:r>
              <a:rPr lang="zh-CN" altLang="en-US" dirty="0"/>
              <a:t>识别所有</a:t>
            </a:r>
            <a:r>
              <a:rPr lang="zh-CN" altLang="en-US" b="1" dirty="0">
                <a:solidFill>
                  <a:srgbClr val="FF0000"/>
                </a:solidFill>
              </a:rPr>
              <a:t>最小割集</a:t>
            </a:r>
            <a:r>
              <a:rPr lang="zh-CN" altLang="en-US" dirty="0"/>
              <a:t>，并对最小割集进行定性比较，对最小割集及底事件的重要性进行排序。 </a:t>
            </a:r>
            <a:endParaRPr lang="zh-CN" altLang="en-US" dirty="0"/>
          </a:p>
        </p:txBody>
      </p:sp>
    </p:spTree>
  </p:cSld>
  <p:clrMapOvr>
    <a:masterClrMapping/>
  </p:clrMapOvr>
  <p:transition>
    <p:fad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6018" name="Rectangle 2"/>
          <p:cNvSpPr>
            <a:spLocks noGrp="1"/>
          </p:cNvSpPr>
          <p:nvPr>
            <p:ph type="title"/>
          </p:nvPr>
        </p:nvSpPr>
        <p:spPr/>
        <p:txBody>
          <a:bodyPr vert="horz" wrap="square" lIns="91440" tIns="45720" rIns="91440" bIns="45720" anchor="ctr" anchorCtr="0"/>
          <a:p>
            <a:r>
              <a:rPr lang="zh-CN" altLang="en-US" dirty="0"/>
              <a:t>软件故障树定性分析</a:t>
            </a:r>
            <a:endParaRPr lang="zh-CN" altLang="en-US" dirty="0"/>
          </a:p>
        </p:txBody>
      </p:sp>
      <p:sp>
        <p:nvSpPr>
          <p:cNvPr id="41987" name="Rectangle 3"/>
          <p:cNvSpPr>
            <a:spLocks noGrp="1"/>
          </p:cNvSpPr>
          <p:nvPr>
            <p:ph idx="1"/>
          </p:nvPr>
        </p:nvSpPr>
        <p:spPr>
          <a:xfrm>
            <a:off x="1011555" y="1268730"/>
            <a:ext cx="9973945" cy="4864100"/>
          </a:xfrm>
        </p:spPr>
        <p:txBody>
          <a:bodyPr vert="horz" wrap="square" lIns="91440" tIns="45720" rIns="91440" bIns="45720" anchor="t" anchorCtr="0">
            <a:normAutofit lnSpcReduction="10000"/>
          </a:bodyPr>
          <a:p>
            <a:pPr marL="533400" indent="-533400"/>
            <a:r>
              <a:rPr lang="zh-CN" altLang="en-US" b="1" u="sng" dirty="0">
                <a:solidFill>
                  <a:srgbClr val="FF0000"/>
                </a:solidFill>
              </a:rPr>
              <a:t>割集</a:t>
            </a:r>
            <a:r>
              <a:rPr lang="zh-CN" altLang="en-US" dirty="0"/>
              <a:t>：能引起顶事件发生的基本事件集合。</a:t>
            </a:r>
            <a:endParaRPr lang="zh-CN" altLang="en-US" u="sng" dirty="0"/>
          </a:p>
          <a:p>
            <a:pPr marL="533400" indent="-533400"/>
            <a:r>
              <a:rPr lang="zh-CN" altLang="en-US" b="1" u="sng" dirty="0">
                <a:solidFill>
                  <a:srgbClr val="FF0000"/>
                </a:solidFill>
              </a:rPr>
              <a:t>最小割集</a:t>
            </a:r>
            <a:r>
              <a:rPr lang="zh-CN" altLang="en-US" dirty="0"/>
              <a:t>：不包含任何冗余因素的割集。如果去掉最小割集中的任何事件或条件，它就不再成为割集。</a:t>
            </a:r>
            <a:endParaRPr lang="zh-CN" altLang="en-US" dirty="0"/>
          </a:p>
          <a:p>
            <a:pPr marL="914400" lvl="1" indent="-565150"/>
            <a:r>
              <a:rPr lang="zh-CN" altLang="en-US" dirty="0"/>
              <a:t>阶数（割集的元素数量）越小的最小割集越重要；</a:t>
            </a:r>
            <a:endParaRPr lang="zh-CN" altLang="en-US" dirty="0"/>
          </a:p>
          <a:p>
            <a:pPr marL="914400" lvl="1" indent="-565150"/>
            <a:r>
              <a:rPr lang="zh-CN" altLang="en-US" dirty="0"/>
              <a:t>低阶最小割集所包含的底事件比高阶最小割集中的底事件重要；</a:t>
            </a:r>
            <a:endParaRPr lang="zh-CN" altLang="en-US" dirty="0"/>
          </a:p>
          <a:p>
            <a:pPr marL="914400" lvl="1" indent="-565150"/>
            <a:r>
              <a:rPr lang="zh-CN" altLang="en-US" dirty="0"/>
              <a:t>在不同最小割集中重复出现次数越多的底事件越重要。 </a:t>
            </a:r>
            <a:endParaRPr lang="zh-CN" altLang="en-US" dirty="0"/>
          </a:p>
        </p:txBody>
      </p:sp>
      <p:sp>
        <p:nvSpPr>
          <p:cNvPr id="86020" name="Rectangle 4"/>
          <p:cNvSpPr/>
          <p:nvPr/>
        </p:nvSpPr>
        <p:spPr>
          <a:xfrm>
            <a:off x="1524000" y="2025650"/>
            <a:ext cx="309880" cy="368300"/>
          </a:xfrm>
          <a:prstGeom prst="rect">
            <a:avLst/>
          </a:prstGeom>
          <a:noFill/>
          <a:ln w="9525">
            <a:noFill/>
          </a:ln>
        </p:spPr>
        <p:txBody>
          <a:bodyPr wrap="none" anchor="ctr" anchorCtr="0">
            <a:spAutoFit/>
          </a:bodyPr>
          <a:p>
            <a:endParaRPr lang="zh-CN" altLang="en-US" dirty="0">
              <a:latin typeface="Arial" panose="020B0604020202020204" pitchFamily="34" charset="0"/>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3" fill="hold" grpId="0" nodeType="clickEffect">
                                  <p:stCondLst>
                                    <p:cond delay="0"/>
                                  </p:stCondLst>
                                  <p:childTnLst>
                                    <p:set>
                                      <p:cBhvr>
                                        <p:cTn id="6" dur="1" fill="hold">
                                          <p:stCondLst>
                                            <p:cond delay="0"/>
                                          </p:stCondLst>
                                        </p:cTn>
                                        <p:tgtEl>
                                          <p:spTgt spid="41987">
                                            <p:txEl>
                                              <p:charRg st="0" end="20"/>
                                            </p:txEl>
                                          </p:spTgt>
                                        </p:tgtEl>
                                        <p:attrNameLst>
                                          <p:attrName>style.visibility</p:attrName>
                                        </p:attrNameLst>
                                      </p:cBhvr>
                                      <p:to>
                                        <p:strVal val="visible"/>
                                      </p:to>
                                    </p:set>
                                    <p:animEffect transition="in" filter="strips(upRight)">
                                      <p:cBhvr>
                                        <p:cTn id="7" dur="500"/>
                                        <p:tgtEl>
                                          <p:spTgt spid="41987">
                                            <p:txEl>
                                              <p:charRg st="0" end="2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3" fill="hold" grpId="0" nodeType="clickEffect">
                                  <p:stCondLst>
                                    <p:cond delay="0"/>
                                  </p:stCondLst>
                                  <p:childTnLst>
                                    <p:set>
                                      <p:cBhvr>
                                        <p:cTn id="11" dur="1" fill="hold">
                                          <p:stCondLst>
                                            <p:cond delay="0"/>
                                          </p:stCondLst>
                                        </p:cTn>
                                        <p:tgtEl>
                                          <p:spTgt spid="41987">
                                            <p:txEl>
                                              <p:charRg st="20" end="66"/>
                                            </p:txEl>
                                          </p:spTgt>
                                        </p:tgtEl>
                                        <p:attrNameLst>
                                          <p:attrName>style.visibility</p:attrName>
                                        </p:attrNameLst>
                                      </p:cBhvr>
                                      <p:to>
                                        <p:strVal val="visible"/>
                                      </p:to>
                                    </p:set>
                                    <p:animEffect transition="in" filter="strips(upRight)">
                                      <p:cBhvr>
                                        <p:cTn id="12" dur="500"/>
                                        <p:tgtEl>
                                          <p:spTgt spid="41987">
                                            <p:txEl>
                                              <p:charRg st="20" end="66"/>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3" fill="hold" grpId="0" nodeType="clickEffect">
                                  <p:stCondLst>
                                    <p:cond delay="0"/>
                                  </p:stCondLst>
                                  <p:childTnLst>
                                    <p:set>
                                      <p:cBhvr>
                                        <p:cTn id="16" dur="1" fill="hold">
                                          <p:stCondLst>
                                            <p:cond delay="0"/>
                                          </p:stCondLst>
                                        </p:cTn>
                                        <p:tgtEl>
                                          <p:spTgt spid="41987">
                                            <p:txEl>
                                              <p:charRg st="66" end="80"/>
                                            </p:txEl>
                                          </p:spTgt>
                                        </p:tgtEl>
                                        <p:attrNameLst>
                                          <p:attrName>style.visibility</p:attrName>
                                        </p:attrNameLst>
                                      </p:cBhvr>
                                      <p:to>
                                        <p:strVal val="visible"/>
                                      </p:to>
                                    </p:set>
                                    <p:animEffect transition="in" filter="strips(upRight)">
                                      <p:cBhvr>
                                        <p:cTn id="17" dur="500"/>
                                        <p:tgtEl>
                                          <p:spTgt spid="41987">
                                            <p:txEl>
                                              <p:charRg st="66" end="8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3" fill="hold" grpId="0" nodeType="clickEffect">
                                  <p:stCondLst>
                                    <p:cond delay="0"/>
                                  </p:stCondLst>
                                  <p:childTnLst>
                                    <p:set>
                                      <p:cBhvr>
                                        <p:cTn id="21" dur="1" fill="hold">
                                          <p:stCondLst>
                                            <p:cond delay="0"/>
                                          </p:stCondLst>
                                        </p:cTn>
                                        <p:tgtEl>
                                          <p:spTgt spid="41987">
                                            <p:txEl>
                                              <p:charRg st="80" end="109"/>
                                            </p:txEl>
                                          </p:spTgt>
                                        </p:tgtEl>
                                        <p:attrNameLst>
                                          <p:attrName>style.visibility</p:attrName>
                                        </p:attrNameLst>
                                      </p:cBhvr>
                                      <p:to>
                                        <p:strVal val="visible"/>
                                      </p:to>
                                    </p:set>
                                    <p:animEffect transition="in" filter="strips(upRight)">
                                      <p:cBhvr>
                                        <p:cTn id="22" dur="500"/>
                                        <p:tgtEl>
                                          <p:spTgt spid="41987">
                                            <p:txEl>
                                              <p:charRg st="80" end="109"/>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8" presetClass="entr" presetSubtype="3" fill="hold" grpId="0" nodeType="clickEffect">
                                  <p:stCondLst>
                                    <p:cond delay="0"/>
                                  </p:stCondLst>
                                  <p:childTnLst>
                                    <p:set>
                                      <p:cBhvr>
                                        <p:cTn id="26" dur="1" fill="hold">
                                          <p:stCondLst>
                                            <p:cond delay="0"/>
                                          </p:stCondLst>
                                        </p:cTn>
                                        <p:tgtEl>
                                          <p:spTgt spid="41987">
                                            <p:txEl>
                                              <p:charRg st="109" end="135"/>
                                            </p:txEl>
                                          </p:spTgt>
                                        </p:tgtEl>
                                        <p:attrNameLst>
                                          <p:attrName>style.visibility</p:attrName>
                                        </p:attrNameLst>
                                      </p:cBhvr>
                                      <p:to>
                                        <p:strVal val="visible"/>
                                      </p:to>
                                    </p:set>
                                    <p:animEffect transition="in" filter="strips(upRight)">
                                      <p:cBhvr>
                                        <p:cTn id="27" dur="500"/>
                                        <p:tgtEl>
                                          <p:spTgt spid="41987">
                                            <p:txEl>
                                              <p:charRg st="109" end="13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87"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43011" name="Object 3"/>
          <p:cNvGraphicFramePr/>
          <p:nvPr>
            <p:ph sz="half" idx="1"/>
          </p:nvPr>
        </p:nvGraphicFramePr>
        <p:xfrm>
          <a:off x="1784985" y="495300"/>
          <a:ext cx="6000115" cy="5999480"/>
        </p:xfrm>
        <a:graphic>
          <a:graphicData uri="http://schemas.openxmlformats.org/presentationml/2006/ole">
            <mc:AlternateContent xmlns:mc="http://schemas.openxmlformats.org/markup-compatibility/2006">
              <mc:Choice xmlns:v="urn:schemas-microsoft-com:vml" Requires="v">
                <p:oleObj spid="_x0000_s3092" name="" r:id="rId1" imgW="4206875" imgH="5048885" progId="Visio.Drawing.6">
                  <p:embed/>
                </p:oleObj>
              </mc:Choice>
              <mc:Fallback>
                <p:oleObj name="" r:id="rId1" imgW="4206875" imgH="5048885" progId="Visio.Drawing.6">
                  <p:embed/>
                  <p:pic>
                    <p:nvPicPr>
                      <p:cNvPr id="0" name="图片 3091"/>
                      <p:cNvPicPr/>
                      <p:nvPr/>
                    </p:nvPicPr>
                    <p:blipFill>
                      <a:blip r:embed="rId2"/>
                      <a:stretch>
                        <a:fillRect/>
                      </a:stretch>
                    </p:blipFill>
                    <p:spPr>
                      <a:xfrm>
                        <a:off x="1784985" y="495300"/>
                        <a:ext cx="6000115" cy="5999480"/>
                      </a:xfrm>
                      <a:prstGeom prst="rect">
                        <a:avLst/>
                      </a:prstGeom>
                      <a:noFill/>
                      <a:ln w="38100">
                        <a:miter/>
                      </a:ln>
                    </p:spPr>
                  </p:pic>
                </p:oleObj>
              </mc:Fallback>
            </mc:AlternateContent>
          </a:graphicData>
        </a:graphic>
      </p:graphicFrame>
      <p:sp>
        <p:nvSpPr>
          <p:cNvPr id="43012" name="Text Box 4"/>
          <p:cNvSpPr txBox="1"/>
          <p:nvPr/>
        </p:nvSpPr>
        <p:spPr>
          <a:xfrm>
            <a:off x="7624763" y="2907030"/>
            <a:ext cx="4465637" cy="521970"/>
          </a:xfrm>
          <a:prstGeom prst="rect">
            <a:avLst/>
          </a:prstGeom>
          <a:noFill/>
          <a:ln w="9525">
            <a:noFill/>
          </a:ln>
        </p:spPr>
        <p:txBody>
          <a:bodyPr anchor="b" anchorCtr="0">
            <a:spAutoFit/>
          </a:bodyPr>
          <a:p>
            <a:pPr>
              <a:spcBef>
                <a:spcPct val="50000"/>
              </a:spcBef>
            </a:pPr>
            <a:r>
              <a:rPr lang="zh-CN" altLang="en-US" sz="2800" b="1" dirty="0">
                <a:latin typeface="Tahoma" panose="020B0604030504040204" pitchFamily="34" charset="0"/>
                <a:ea typeface="华文新魏" panose="02010800040101010101" pitchFamily="2" charset="-122"/>
              </a:rPr>
              <a:t>最小割集：</a:t>
            </a:r>
            <a:r>
              <a:rPr lang="zh-CN" altLang="en-US" sz="2000" b="1" dirty="0">
                <a:latin typeface="Tahoma" panose="020B0604030504040204" pitchFamily="34" charset="0"/>
                <a:ea typeface="华文新魏" panose="02010800040101010101" pitchFamily="2" charset="-122"/>
              </a:rPr>
              <a:t> </a:t>
            </a:r>
            <a:r>
              <a:rPr lang="en-US" altLang="zh-CN" sz="2000" b="1" dirty="0">
                <a:latin typeface="Tahoma" panose="020B0604030504040204" pitchFamily="34" charset="0"/>
                <a:ea typeface="华文新魏" panose="02010800040101010101" pitchFamily="2" charset="-122"/>
              </a:rPr>
              <a:t>{A1}     {A2,A3} </a:t>
            </a:r>
            <a:endParaRPr lang="en-US" altLang="zh-CN" sz="2000" b="1" dirty="0">
              <a:latin typeface="Tahoma" panose="020B0604030504040204" pitchFamily="34" charset="0"/>
              <a:ea typeface="华文新魏" panose="02010800040101010101" pitchFamily="2" charset="-122"/>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3011"/>
                                        </p:tgtEl>
                                        <p:attrNameLst>
                                          <p:attrName>style.visibility</p:attrName>
                                        </p:attrNameLst>
                                      </p:cBhvr>
                                      <p:to>
                                        <p:strVal val="visible"/>
                                      </p:to>
                                    </p:set>
                                    <p:animEffect transition="in" filter="dissolve">
                                      <p:cBhvr>
                                        <p:cTn id="7" dur="500"/>
                                        <p:tgtEl>
                                          <p:spTgt spid="43011"/>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3012"/>
                                        </p:tgtEl>
                                        <p:attrNameLst>
                                          <p:attrName>style.visibility</p:attrName>
                                        </p:attrNameLst>
                                      </p:cBhvr>
                                      <p:to>
                                        <p:strVal val="visible"/>
                                      </p:to>
                                    </p:set>
                                    <p:animEffect transition="in" filter="dissolve">
                                      <p:cBhvr>
                                        <p:cTn id="12" dur="500"/>
                                        <p:tgtEl>
                                          <p:spTgt spid="430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2"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45059" name="Object 3"/>
          <p:cNvGraphicFramePr/>
          <p:nvPr>
            <p:ph sz="half" idx="1"/>
          </p:nvPr>
        </p:nvGraphicFramePr>
        <p:xfrm>
          <a:off x="1406525" y="1362710"/>
          <a:ext cx="4690110" cy="5177790"/>
        </p:xfrm>
        <a:graphic>
          <a:graphicData uri="http://schemas.openxmlformats.org/presentationml/2006/ole">
            <mc:AlternateContent xmlns:mc="http://schemas.openxmlformats.org/markup-compatibility/2006">
              <mc:Choice xmlns:v="urn:schemas-microsoft-com:vml" Requires="v">
                <p:oleObj spid="_x0000_s3093" name="" r:id="rId1" imgW="4206875" imgH="5048885" progId="Visio.Drawing.6">
                  <p:embed/>
                </p:oleObj>
              </mc:Choice>
              <mc:Fallback>
                <p:oleObj name="" r:id="rId1" imgW="4206875" imgH="5048885" progId="Visio.Drawing.6">
                  <p:embed/>
                  <p:pic>
                    <p:nvPicPr>
                      <p:cNvPr id="0" name="图片 3092"/>
                      <p:cNvPicPr/>
                      <p:nvPr/>
                    </p:nvPicPr>
                    <p:blipFill>
                      <a:blip r:embed="rId2"/>
                      <a:stretch>
                        <a:fillRect/>
                      </a:stretch>
                    </p:blipFill>
                    <p:spPr>
                      <a:xfrm>
                        <a:off x="1406525" y="1362710"/>
                        <a:ext cx="4690110" cy="5177790"/>
                      </a:xfrm>
                      <a:prstGeom prst="rect">
                        <a:avLst/>
                      </a:prstGeom>
                      <a:noFill/>
                      <a:ln w="38100">
                        <a:miter/>
                      </a:ln>
                    </p:spPr>
                  </p:pic>
                </p:oleObj>
              </mc:Fallback>
            </mc:AlternateContent>
          </a:graphicData>
        </a:graphic>
      </p:graphicFrame>
      <p:sp>
        <p:nvSpPr>
          <p:cNvPr id="11267" name="Rectangle 2"/>
          <p:cNvSpPr>
            <a:spLocks noGrp="1"/>
          </p:cNvSpPr>
          <p:nvPr>
            <p:ph type="title"/>
          </p:nvPr>
        </p:nvSpPr>
        <p:spPr/>
        <p:txBody>
          <a:bodyPr vert="horz" wrap="square" lIns="91440" tIns="45720" rIns="91440" bIns="45720" anchor="ctr" anchorCtr="0"/>
          <a:p>
            <a:r>
              <a:rPr lang="zh-CN" altLang="en-US" dirty="0"/>
              <a:t>下行法</a:t>
            </a:r>
            <a:endParaRPr lang="zh-CN" altLang="en-US" dirty="0"/>
          </a:p>
        </p:txBody>
      </p:sp>
      <p:graphicFrame>
        <p:nvGraphicFramePr>
          <p:cNvPr id="11268" name="内容占位符 11267"/>
          <p:cNvGraphicFramePr/>
          <p:nvPr>
            <p:ph sz="half" idx="2"/>
          </p:nvPr>
        </p:nvGraphicFramePr>
        <p:xfrm>
          <a:off x="6600508" y="1362393"/>
          <a:ext cx="4752975" cy="4719320"/>
        </p:xfrm>
        <a:graphic>
          <a:graphicData uri="http://schemas.openxmlformats.org/drawingml/2006/table">
            <a:tbl>
              <a:tblPr>
                <a:tableStyleId>{5940675A-B579-460E-94D1-54222C63F5DA}</a:tableStyleId>
              </a:tblPr>
              <a:tblGrid>
                <a:gridCol w="951230"/>
                <a:gridCol w="987425"/>
                <a:gridCol w="912495"/>
                <a:gridCol w="951230"/>
                <a:gridCol w="950595"/>
              </a:tblGrid>
              <a:tr h="887730">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defTabSz="957580" eaLnBrk="0" hangingPunct="0">
                        <a:spcBef>
                          <a:spcPct val="20000"/>
                        </a:spcBef>
                        <a:buClr>
                          <a:srgbClr val="800000"/>
                        </a:buClr>
                        <a:buFont typeface="Wingdings" panose="05000000000000000000" pitchFamily="2" charset="2"/>
                        <a:buNone/>
                      </a:pPr>
                      <a:r>
                        <a:rPr lang="zh-CN" altLang="en-US" sz="2400" dirty="0"/>
                        <a:t>步骤</a:t>
                      </a:r>
                      <a:endParaRPr lang="zh-CN" altLang="en-US" sz="2400" dirty="0"/>
                    </a:p>
                  </a:txBody>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defTabSz="957580" eaLnBrk="0" hangingPunct="0">
                        <a:spcBef>
                          <a:spcPct val="20000"/>
                        </a:spcBef>
                        <a:buClr>
                          <a:srgbClr val="800000"/>
                        </a:buClr>
                        <a:buFont typeface="Wingdings" panose="05000000000000000000" pitchFamily="2" charset="2"/>
                        <a:buNone/>
                      </a:pPr>
                      <a:r>
                        <a:rPr lang="en-US" altLang="zh-CN" sz="2400" dirty="0"/>
                        <a:t>1</a:t>
                      </a:r>
                      <a:endParaRPr lang="zh-CN" altLang="en-US" sz="2400" dirty="0"/>
                    </a:p>
                  </a:txBody>
                  <a:tcPr>
                    <a:solidFill>
                      <a:schemeClr val="accent1">
                        <a:alpha val="5000"/>
                      </a:schemeClr>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defTabSz="957580" eaLnBrk="0" hangingPunct="0">
                        <a:spcBef>
                          <a:spcPct val="20000"/>
                        </a:spcBef>
                        <a:buClr>
                          <a:srgbClr val="800000"/>
                        </a:buClr>
                        <a:buFont typeface="Wingdings" panose="05000000000000000000" pitchFamily="2" charset="2"/>
                        <a:buNone/>
                      </a:pPr>
                      <a:r>
                        <a:rPr lang="en-US" altLang="zh-CN" sz="2400" dirty="0"/>
                        <a:t>2</a:t>
                      </a:r>
                      <a:endParaRPr lang="en-US" altLang="zh-CN" sz="2400" dirty="0"/>
                    </a:p>
                  </a:txBody>
                  <a:tcPr>
                    <a:solidFill>
                      <a:srgbClr val="C00000">
                        <a:alpha val="13000"/>
                      </a:srgbClr>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defTabSz="957580" eaLnBrk="0" hangingPunct="0">
                        <a:spcBef>
                          <a:spcPct val="20000"/>
                        </a:spcBef>
                        <a:buClr>
                          <a:srgbClr val="800000"/>
                        </a:buClr>
                        <a:buFont typeface="Wingdings" panose="05000000000000000000" pitchFamily="2" charset="2"/>
                        <a:buNone/>
                      </a:pPr>
                      <a:r>
                        <a:rPr lang="en-US" altLang="zh-CN" sz="2400" dirty="0"/>
                        <a:t>3</a:t>
                      </a:r>
                      <a:endParaRPr lang="en-US" altLang="zh-CN" sz="2400" dirty="0"/>
                    </a:p>
                  </a:txBody>
                  <a:tcPr>
                    <a:solidFill>
                      <a:srgbClr val="00B050">
                        <a:alpha val="13000"/>
                      </a:srgbClr>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defTabSz="957580" eaLnBrk="0" hangingPunct="0">
                        <a:spcBef>
                          <a:spcPct val="20000"/>
                        </a:spcBef>
                        <a:buClr>
                          <a:srgbClr val="800000"/>
                        </a:buClr>
                        <a:buFont typeface="Wingdings" panose="05000000000000000000" pitchFamily="2" charset="2"/>
                        <a:buNone/>
                      </a:pPr>
                      <a:r>
                        <a:rPr lang="en-US" altLang="zh-CN" sz="2400" dirty="0"/>
                        <a:t>4</a:t>
                      </a:r>
                      <a:endParaRPr lang="en-US" altLang="zh-CN" sz="2400" dirty="0"/>
                    </a:p>
                  </a:txBody>
                  <a:tcPr>
                    <a:solidFill>
                      <a:srgbClr val="7030A0">
                        <a:alpha val="13000"/>
                      </a:srgbClr>
                    </a:solidFill>
                  </a:tcPr>
                </a:tc>
              </a:tr>
              <a:tr h="956945">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defTabSz="957580" eaLnBrk="0" hangingPunct="0">
                        <a:spcBef>
                          <a:spcPct val="20000"/>
                        </a:spcBef>
                        <a:buClr>
                          <a:srgbClr val="800000"/>
                        </a:buClr>
                        <a:buFont typeface="Wingdings" panose="05000000000000000000" pitchFamily="2" charset="2"/>
                        <a:buNone/>
                      </a:pPr>
                      <a:endParaRPr lang="zh-CN" altLang="zh-CN" sz="2400" dirty="0"/>
                    </a:p>
                  </a:txBody>
                  <a:tcPr/>
                </a:tc>
                <a:tc rowSpan="4">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defTabSz="957580" eaLnBrk="0" hangingPunct="0">
                        <a:spcBef>
                          <a:spcPct val="20000"/>
                        </a:spcBef>
                        <a:buClr>
                          <a:srgbClr val="800000"/>
                        </a:buClr>
                        <a:buFont typeface="Wingdings" panose="05000000000000000000" pitchFamily="2" charset="2"/>
                        <a:buNone/>
                      </a:pPr>
                      <a:r>
                        <a:rPr lang="en-US" altLang="zh-CN" sz="2400" dirty="0"/>
                        <a:t>G</a:t>
                      </a:r>
                      <a:r>
                        <a:rPr lang="en-US" altLang="zh-CN" sz="2400" baseline="-25000" dirty="0"/>
                        <a:t>2</a:t>
                      </a:r>
                      <a:r>
                        <a:rPr lang="en-US" altLang="zh-CN" sz="2400" dirty="0"/>
                        <a:t> G</a:t>
                      </a:r>
                      <a:r>
                        <a:rPr lang="en-US" altLang="zh-CN" sz="2400" baseline="-25000" dirty="0"/>
                        <a:t>3</a:t>
                      </a:r>
                      <a:endParaRPr lang="en-US" altLang="zh-CN" sz="2400" baseline="-25000" dirty="0"/>
                    </a:p>
                  </a:txBody>
                  <a:tcPr>
                    <a:solidFill>
                      <a:schemeClr val="accent1">
                        <a:alpha val="5000"/>
                      </a:schemeClr>
                    </a:solidFill>
                  </a:tcPr>
                </a:tc>
                <a:tc rowSpan="2">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defTabSz="957580" eaLnBrk="0" hangingPunct="0">
                        <a:spcBef>
                          <a:spcPct val="20000"/>
                        </a:spcBef>
                        <a:buClr>
                          <a:srgbClr val="800000"/>
                        </a:buClr>
                        <a:buFont typeface="Wingdings" panose="05000000000000000000" pitchFamily="2" charset="2"/>
                        <a:buNone/>
                      </a:pPr>
                      <a:r>
                        <a:rPr lang="en-US" altLang="zh-CN" sz="2400" dirty="0"/>
                        <a:t>A</a:t>
                      </a:r>
                      <a:r>
                        <a:rPr lang="en-US" altLang="zh-CN" sz="2400" baseline="-25000" dirty="0"/>
                        <a:t>1</a:t>
                      </a:r>
                      <a:r>
                        <a:rPr lang="en-US" altLang="zh-CN" sz="2400" dirty="0"/>
                        <a:t>G</a:t>
                      </a:r>
                      <a:r>
                        <a:rPr lang="en-US" altLang="zh-CN" sz="2400" baseline="-25000" dirty="0"/>
                        <a:t>3</a:t>
                      </a:r>
                      <a:endParaRPr lang="en-US" altLang="zh-CN" sz="2400" baseline="-25000" dirty="0"/>
                    </a:p>
                  </a:txBody>
                  <a:tcPr>
                    <a:solidFill>
                      <a:srgbClr val="C00000">
                        <a:alpha val="13000"/>
                      </a:srgbClr>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defTabSz="957580" eaLnBrk="0" hangingPunct="0">
                        <a:spcBef>
                          <a:spcPct val="20000"/>
                        </a:spcBef>
                        <a:buClr>
                          <a:srgbClr val="800000"/>
                        </a:buClr>
                        <a:buFont typeface="Wingdings" panose="05000000000000000000" pitchFamily="2" charset="2"/>
                        <a:buNone/>
                      </a:pPr>
                      <a:r>
                        <a:rPr lang="en-US" altLang="zh-CN" sz="2400" dirty="0"/>
                        <a:t>A</a:t>
                      </a:r>
                      <a:r>
                        <a:rPr lang="en-US" altLang="zh-CN" sz="2400" baseline="-25000" dirty="0"/>
                        <a:t>1</a:t>
                      </a:r>
                      <a:r>
                        <a:rPr lang="en-US" altLang="zh-CN" sz="2400" dirty="0"/>
                        <a:t>A</a:t>
                      </a:r>
                      <a:r>
                        <a:rPr lang="en-US" altLang="zh-CN" sz="2400" baseline="-25000" dirty="0"/>
                        <a:t>1</a:t>
                      </a:r>
                      <a:endParaRPr lang="en-US" altLang="zh-CN" sz="2400" baseline="-25000" dirty="0"/>
                    </a:p>
                  </a:txBody>
                  <a:tcPr>
                    <a:solidFill>
                      <a:srgbClr val="00B050">
                        <a:alpha val="13000"/>
                      </a:srgbClr>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defTabSz="957580" eaLnBrk="0" hangingPunct="0">
                        <a:spcBef>
                          <a:spcPct val="20000"/>
                        </a:spcBef>
                        <a:buClr>
                          <a:srgbClr val="800000"/>
                        </a:buClr>
                        <a:buFont typeface="Wingdings" panose="05000000000000000000" pitchFamily="2" charset="2"/>
                        <a:buNone/>
                      </a:pPr>
                      <a:r>
                        <a:rPr lang="en-US" altLang="zh-CN" sz="2400" dirty="0"/>
                        <a:t>A</a:t>
                      </a:r>
                      <a:r>
                        <a:rPr lang="en-US" altLang="zh-CN" sz="2400" baseline="-25000" dirty="0"/>
                        <a:t>1</a:t>
                      </a:r>
                      <a:endParaRPr lang="en-US" altLang="zh-CN" sz="2400" baseline="-25000" dirty="0"/>
                    </a:p>
                  </a:txBody>
                  <a:tcPr>
                    <a:solidFill>
                      <a:srgbClr val="7030A0">
                        <a:alpha val="13000"/>
                      </a:srgbClr>
                    </a:solidFill>
                  </a:tcPr>
                </a:tc>
              </a:tr>
              <a:tr h="958215">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defTabSz="957580" eaLnBrk="0" hangingPunct="0">
                        <a:spcBef>
                          <a:spcPct val="20000"/>
                        </a:spcBef>
                        <a:buClr>
                          <a:srgbClr val="800000"/>
                        </a:buClr>
                        <a:buFont typeface="Wingdings" panose="05000000000000000000" pitchFamily="2" charset="2"/>
                        <a:buNone/>
                      </a:pPr>
                      <a:endParaRPr lang="zh-CN" altLang="zh-CN" sz="2400" dirty="0"/>
                    </a:p>
                  </a:txBody>
                  <a:tcPr/>
                </a:tc>
                <a:tc vMerge="1">
                  <a:tcPr/>
                </a:tc>
                <a:tc vMerge="1">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defTabSz="957580" eaLnBrk="0" hangingPunct="0">
                        <a:spcBef>
                          <a:spcPct val="20000"/>
                        </a:spcBef>
                        <a:buClr>
                          <a:srgbClr val="800000"/>
                        </a:buClr>
                        <a:buFont typeface="Wingdings" panose="05000000000000000000" pitchFamily="2" charset="2"/>
                        <a:buNone/>
                      </a:pPr>
                      <a:r>
                        <a:rPr lang="en-US" altLang="zh-CN" sz="2400" dirty="0"/>
                        <a:t>A</a:t>
                      </a:r>
                      <a:r>
                        <a:rPr lang="en-US" altLang="zh-CN" sz="2400" baseline="-25000" dirty="0"/>
                        <a:t>1</a:t>
                      </a:r>
                      <a:r>
                        <a:rPr lang="en-US" altLang="zh-CN" sz="2400" dirty="0"/>
                        <a:t>A</a:t>
                      </a:r>
                      <a:r>
                        <a:rPr lang="en-US" altLang="zh-CN" sz="2400" baseline="-25000" dirty="0"/>
                        <a:t>3</a:t>
                      </a:r>
                      <a:endParaRPr lang="en-US" altLang="zh-CN" sz="2400" baseline="-25000" dirty="0"/>
                    </a:p>
                  </a:txBody>
                  <a:tcPr>
                    <a:solidFill>
                      <a:srgbClr val="00B050">
                        <a:alpha val="13000"/>
                      </a:srgbClr>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defTabSz="957580" eaLnBrk="0" hangingPunct="0">
                        <a:spcBef>
                          <a:spcPct val="20000"/>
                        </a:spcBef>
                        <a:buClr>
                          <a:srgbClr val="800000"/>
                        </a:buClr>
                        <a:buFont typeface="Wingdings" panose="05000000000000000000" pitchFamily="2" charset="2"/>
                        <a:buNone/>
                      </a:pPr>
                      <a:r>
                        <a:rPr lang="en-US" altLang="zh-CN" sz="2400" dirty="0"/>
                        <a:t>A</a:t>
                      </a:r>
                      <a:r>
                        <a:rPr lang="en-US" altLang="zh-CN" sz="2400" baseline="-25000" dirty="0"/>
                        <a:t>1</a:t>
                      </a:r>
                      <a:r>
                        <a:rPr lang="en-US" altLang="zh-CN" sz="2400" dirty="0"/>
                        <a:t>A</a:t>
                      </a:r>
                      <a:r>
                        <a:rPr lang="en-US" altLang="zh-CN" sz="2400" baseline="-25000" dirty="0"/>
                        <a:t>3</a:t>
                      </a:r>
                      <a:endParaRPr lang="en-US" altLang="zh-CN" sz="2400" baseline="-25000" dirty="0"/>
                    </a:p>
                  </a:txBody>
                  <a:tcPr>
                    <a:solidFill>
                      <a:srgbClr val="7030A0">
                        <a:alpha val="13000"/>
                      </a:srgbClr>
                    </a:solidFill>
                  </a:tcPr>
                </a:tc>
              </a:tr>
              <a:tr h="957580">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defTabSz="957580" eaLnBrk="0" hangingPunct="0">
                        <a:spcBef>
                          <a:spcPct val="20000"/>
                        </a:spcBef>
                        <a:buClr>
                          <a:srgbClr val="800000"/>
                        </a:buClr>
                        <a:buFont typeface="Wingdings" panose="05000000000000000000" pitchFamily="2" charset="2"/>
                        <a:buNone/>
                      </a:pPr>
                      <a:endParaRPr lang="zh-CN" altLang="zh-CN" sz="2400" dirty="0"/>
                    </a:p>
                  </a:txBody>
                  <a:tcPr/>
                </a:tc>
                <a:tc vMerge="1">
                  <a:tcPr/>
                </a:tc>
                <a:tc rowSpan="2">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defTabSz="957580" eaLnBrk="0" hangingPunct="0">
                        <a:spcBef>
                          <a:spcPct val="20000"/>
                        </a:spcBef>
                        <a:buClr>
                          <a:srgbClr val="800000"/>
                        </a:buClr>
                        <a:buFont typeface="Wingdings" panose="05000000000000000000" pitchFamily="2" charset="2"/>
                        <a:buNone/>
                      </a:pPr>
                      <a:r>
                        <a:rPr lang="en-US" altLang="zh-CN" sz="2400" dirty="0">
                          <a:sym typeface="+mn-ea"/>
                        </a:rPr>
                        <a:t>A</a:t>
                      </a:r>
                      <a:r>
                        <a:rPr lang="en-US" altLang="zh-CN" sz="2400" baseline="-25000" dirty="0">
                          <a:sym typeface="+mn-ea"/>
                        </a:rPr>
                        <a:t>2</a:t>
                      </a:r>
                      <a:r>
                        <a:rPr lang="en-US" altLang="zh-CN" sz="2400" dirty="0">
                          <a:sym typeface="+mn-ea"/>
                        </a:rPr>
                        <a:t>G</a:t>
                      </a:r>
                      <a:r>
                        <a:rPr lang="en-US" altLang="zh-CN" sz="2400" baseline="-25000" dirty="0">
                          <a:sym typeface="+mn-ea"/>
                        </a:rPr>
                        <a:t>3</a:t>
                      </a:r>
                      <a:endParaRPr lang="zh-CN" altLang="zh-CN" sz="2400" dirty="0"/>
                    </a:p>
                  </a:txBody>
                  <a:tcPr>
                    <a:solidFill>
                      <a:srgbClr val="C00000">
                        <a:alpha val="13000"/>
                      </a:srgbClr>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defTabSz="957580" eaLnBrk="0" hangingPunct="0">
                        <a:spcBef>
                          <a:spcPct val="20000"/>
                        </a:spcBef>
                        <a:buClr>
                          <a:srgbClr val="800000"/>
                        </a:buClr>
                        <a:buFont typeface="Wingdings" panose="05000000000000000000" pitchFamily="2" charset="2"/>
                        <a:buNone/>
                      </a:pPr>
                      <a:r>
                        <a:rPr lang="en-US" altLang="zh-CN" sz="2400" dirty="0"/>
                        <a:t>A</a:t>
                      </a:r>
                      <a:r>
                        <a:rPr lang="en-US" altLang="zh-CN" sz="2400" baseline="-25000" dirty="0"/>
                        <a:t>2</a:t>
                      </a:r>
                      <a:r>
                        <a:rPr lang="en-US" altLang="zh-CN" sz="2400" dirty="0"/>
                        <a:t>A</a:t>
                      </a:r>
                      <a:r>
                        <a:rPr lang="en-US" altLang="zh-CN" sz="2400" baseline="-25000" dirty="0"/>
                        <a:t>1</a:t>
                      </a:r>
                      <a:endParaRPr lang="en-US" altLang="zh-CN" sz="2400" baseline="-25000" dirty="0"/>
                    </a:p>
                  </a:txBody>
                  <a:tcPr>
                    <a:solidFill>
                      <a:srgbClr val="00B050">
                        <a:alpha val="13000"/>
                      </a:srgbClr>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defTabSz="957580" eaLnBrk="0" hangingPunct="0">
                        <a:spcBef>
                          <a:spcPct val="20000"/>
                        </a:spcBef>
                        <a:buClr>
                          <a:srgbClr val="800000"/>
                        </a:buClr>
                        <a:buFont typeface="Wingdings" panose="05000000000000000000" pitchFamily="2" charset="2"/>
                        <a:buNone/>
                      </a:pPr>
                      <a:r>
                        <a:rPr lang="en-US" altLang="zh-CN" sz="2400" dirty="0"/>
                        <a:t>A</a:t>
                      </a:r>
                      <a:r>
                        <a:rPr lang="en-US" altLang="zh-CN" sz="2400" baseline="-25000" dirty="0"/>
                        <a:t>1</a:t>
                      </a:r>
                      <a:r>
                        <a:rPr lang="en-US" altLang="zh-CN" sz="2400" dirty="0"/>
                        <a:t>A</a:t>
                      </a:r>
                      <a:r>
                        <a:rPr lang="en-US" altLang="zh-CN" sz="2400" baseline="-25000" dirty="0"/>
                        <a:t>2</a:t>
                      </a:r>
                      <a:endParaRPr lang="en-US" altLang="zh-CN" sz="2400" baseline="-25000" dirty="0"/>
                    </a:p>
                  </a:txBody>
                  <a:tcPr>
                    <a:solidFill>
                      <a:srgbClr val="7030A0">
                        <a:alpha val="13000"/>
                      </a:srgbClr>
                    </a:solidFill>
                  </a:tcPr>
                </a:tc>
              </a:tr>
              <a:tr h="958850">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defTabSz="957580" eaLnBrk="0" hangingPunct="0">
                        <a:spcBef>
                          <a:spcPct val="20000"/>
                        </a:spcBef>
                        <a:buClr>
                          <a:srgbClr val="800000"/>
                        </a:buClr>
                        <a:buFont typeface="Wingdings" panose="05000000000000000000" pitchFamily="2" charset="2"/>
                        <a:buNone/>
                      </a:pPr>
                      <a:endParaRPr lang="zh-CN" altLang="zh-CN" sz="2400" dirty="0"/>
                    </a:p>
                  </a:txBody>
                  <a:tcPr/>
                </a:tc>
                <a:tc vMerge="1">
                  <a:tcPr/>
                </a:tc>
                <a:tc vMerge="1">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defTabSz="957580" eaLnBrk="0" hangingPunct="0">
                        <a:spcBef>
                          <a:spcPct val="20000"/>
                        </a:spcBef>
                        <a:buClr>
                          <a:srgbClr val="800000"/>
                        </a:buClr>
                        <a:buFont typeface="Wingdings" panose="05000000000000000000" pitchFamily="2" charset="2"/>
                        <a:buNone/>
                      </a:pPr>
                      <a:r>
                        <a:rPr lang="en-US" altLang="zh-CN" sz="2400" dirty="0"/>
                        <a:t>A</a:t>
                      </a:r>
                      <a:r>
                        <a:rPr lang="en-US" altLang="zh-CN" sz="2400" baseline="-25000" dirty="0"/>
                        <a:t>2</a:t>
                      </a:r>
                      <a:r>
                        <a:rPr lang="en-US" altLang="zh-CN" sz="2400" dirty="0"/>
                        <a:t>A</a:t>
                      </a:r>
                      <a:r>
                        <a:rPr lang="en-US" altLang="zh-CN" sz="2400" baseline="-25000" dirty="0"/>
                        <a:t>3</a:t>
                      </a:r>
                      <a:endParaRPr lang="en-US" altLang="zh-CN" sz="2400" baseline="-25000" dirty="0"/>
                    </a:p>
                  </a:txBody>
                  <a:tcPr>
                    <a:solidFill>
                      <a:srgbClr val="00B050">
                        <a:alpha val="13000"/>
                      </a:srgbClr>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defTabSz="957580" eaLnBrk="0" hangingPunct="0">
                        <a:spcBef>
                          <a:spcPct val="20000"/>
                        </a:spcBef>
                        <a:buClr>
                          <a:srgbClr val="800000"/>
                        </a:buClr>
                        <a:buFont typeface="Wingdings" panose="05000000000000000000" pitchFamily="2" charset="2"/>
                        <a:buNone/>
                      </a:pPr>
                      <a:r>
                        <a:rPr lang="en-US" altLang="zh-CN" sz="2400" dirty="0"/>
                        <a:t>A</a:t>
                      </a:r>
                      <a:r>
                        <a:rPr lang="en-US" altLang="zh-CN" sz="2400" baseline="-25000" dirty="0"/>
                        <a:t>2</a:t>
                      </a:r>
                      <a:r>
                        <a:rPr lang="en-US" altLang="zh-CN" sz="2400" dirty="0"/>
                        <a:t>A</a:t>
                      </a:r>
                      <a:r>
                        <a:rPr lang="en-US" altLang="zh-CN" sz="2400" baseline="-25000" dirty="0"/>
                        <a:t>3</a:t>
                      </a:r>
                      <a:endParaRPr lang="en-US" altLang="zh-CN" sz="2400" baseline="-25000" dirty="0"/>
                    </a:p>
                  </a:txBody>
                  <a:tcPr>
                    <a:solidFill>
                      <a:srgbClr val="7030A0">
                        <a:alpha val="13000"/>
                      </a:srgbClr>
                    </a:solidFill>
                  </a:tcPr>
                </a:tc>
              </a:tr>
            </a:tbl>
          </a:graphicData>
        </a:graphic>
      </p:graphicFrame>
      <p:sp>
        <p:nvSpPr>
          <p:cNvPr id="45060" name="Text Box 4"/>
          <p:cNvSpPr txBox="1"/>
          <p:nvPr/>
        </p:nvSpPr>
        <p:spPr>
          <a:xfrm>
            <a:off x="1774825" y="6018530"/>
            <a:ext cx="4465638" cy="521970"/>
          </a:xfrm>
          <a:prstGeom prst="rect">
            <a:avLst/>
          </a:prstGeom>
          <a:noFill/>
          <a:ln w="9525">
            <a:noFill/>
          </a:ln>
        </p:spPr>
        <p:txBody>
          <a:bodyPr anchor="b" anchorCtr="0">
            <a:spAutoFit/>
          </a:bodyPr>
          <a:p>
            <a:pPr>
              <a:spcBef>
                <a:spcPct val="50000"/>
              </a:spcBef>
            </a:pPr>
            <a:r>
              <a:rPr lang="zh-CN" altLang="en-US" sz="2800" b="1" dirty="0">
                <a:solidFill>
                  <a:srgbClr val="0070C0"/>
                </a:solidFill>
                <a:latin typeface="Tahoma" panose="020B0604030504040204" pitchFamily="34" charset="0"/>
                <a:ea typeface="华文新魏" panose="02010800040101010101" pitchFamily="2" charset="-122"/>
              </a:rPr>
              <a:t>最小割集：</a:t>
            </a:r>
            <a:r>
              <a:rPr lang="zh-CN" altLang="en-US" sz="2000" b="1" dirty="0">
                <a:solidFill>
                  <a:srgbClr val="0070C0"/>
                </a:solidFill>
                <a:latin typeface="Tahoma" panose="020B0604030504040204" pitchFamily="34" charset="0"/>
                <a:ea typeface="华文新魏" panose="02010800040101010101" pitchFamily="2" charset="-122"/>
              </a:rPr>
              <a:t> </a:t>
            </a:r>
            <a:r>
              <a:rPr lang="en-US" altLang="zh-CN" sz="2000" b="1" dirty="0">
                <a:solidFill>
                  <a:srgbClr val="0070C0"/>
                </a:solidFill>
                <a:latin typeface="Tahoma" panose="020B0604030504040204" pitchFamily="34" charset="0"/>
                <a:ea typeface="华文新魏" panose="02010800040101010101" pitchFamily="2" charset="-122"/>
              </a:rPr>
              <a:t>{A1}     {A2,A3} </a:t>
            </a:r>
            <a:endParaRPr lang="en-US" altLang="zh-CN" sz="2000" b="1" dirty="0">
              <a:solidFill>
                <a:srgbClr val="0070C0"/>
              </a:solidFill>
              <a:latin typeface="Tahoma" panose="020B0604030504040204" pitchFamily="34" charset="0"/>
              <a:ea typeface="华文新魏" panose="02010800040101010101" pitchFamily="2" charset="-122"/>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45059"/>
                                        </p:tgtEl>
                                        <p:attrNameLst>
                                          <p:attrName>style.visibility</p:attrName>
                                        </p:attrNameLst>
                                      </p:cBhvr>
                                      <p:to>
                                        <p:strVal val="visible"/>
                                      </p:to>
                                    </p:set>
                                    <p:animEffect transition="in" filter="dissolve">
                                      <p:cBhvr>
                                        <p:cTn id="7" dur="500"/>
                                        <p:tgtEl>
                                          <p:spTgt spid="4505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1268"/>
                                        </p:tgtEl>
                                        <p:attrNameLst>
                                          <p:attrName>style.visibility</p:attrName>
                                        </p:attrNameLst>
                                      </p:cBhvr>
                                      <p:to>
                                        <p:strVal val="visible"/>
                                      </p:to>
                                    </p:set>
                                    <p:animEffect transition="in" filter="wipe(left)">
                                      <p:cBhvr>
                                        <p:cTn id="12" dur="500"/>
                                        <p:tgtEl>
                                          <p:spTgt spid="11268"/>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45060"/>
                                        </p:tgtEl>
                                        <p:attrNameLst>
                                          <p:attrName>style.visibility</p:attrName>
                                        </p:attrNameLst>
                                      </p:cBhvr>
                                      <p:to>
                                        <p:strVal val="visible"/>
                                      </p:to>
                                    </p:set>
                                    <p:animEffect transition="in" filter="dissolve">
                                      <p:cBhvr>
                                        <p:cTn id="17" dur="500"/>
                                        <p:tgtEl>
                                          <p:spTgt spid="450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60"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47107" name="Object 3"/>
          <p:cNvGraphicFramePr/>
          <p:nvPr>
            <p:ph sz="half" idx="1"/>
          </p:nvPr>
        </p:nvGraphicFramePr>
        <p:xfrm>
          <a:off x="1423035" y="1615440"/>
          <a:ext cx="4391660" cy="4925060"/>
        </p:xfrm>
        <a:graphic>
          <a:graphicData uri="http://schemas.openxmlformats.org/presentationml/2006/ole">
            <mc:AlternateContent xmlns:mc="http://schemas.openxmlformats.org/markup-compatibility/2006">
              <mc:Choice xmlns:v="urn:schemas-microsoft-com:vml" Requires="v">
                <p:oleObj spid="_x0000_s3094" name="" r:id="rId1" imgW="4206875" imgH="5048885" progId="Visio.Drawing.6">
                  <p:embed/>
                </p:oleObj>
              </mc:Choice>
              <mc:Fallback>
                <p:oleObj name="" r:id="rId1" imgW="4206875" imgH="5048885" progId="Visio.Drawing.6">
                  <p:embed/>
                  <p:pic>
                    <p:nvPicPr>
                      <p:cNvPr id="0" name="图片 3093"/>
                      <p:cNvPicPr/>
                      <p:nvPr/>
                    </p:nvPicPr>
                    <p:blipFill>
                      <a:blip r:embed="rId2"/>
                      <a:stretch>
                        <a:fillRect/>
                      </a:stretch>
                    </p:blipFill>
                    <p:spPr>
                      <a:xfrm>
                        <a:off x="1423035" y="1615440"/>
                        <a:ext cx="4391660" cy="4925060"/>
                      </a:xfrm>
                      <a:prstGeom prst="rect">
                        <a:avLst/>
                      </a:prstGeom>
                      <a:noFill/>
                      <a:ln w="38100">
                        <a:miter/>
                      </a:ln>
                    </p:spPr>
                  </p:pic>
                </p:oleObj>
              </mc:Fallback>
            </mc:AlternateContent>
          </a:graphicData>
        </a:graphic>
      </p:graphicFrame>
      <p:sp>
        <p:nvSpPr>
          <p:cNvPr id="12291" name="Rectangle 2"/>
          <p:cNvSpPr>
            <a:spLocks noGrp="1"/>
          </p:cNvSpPr>
          <p:nvPr>
            <p:ph type="title"/>
          </p:nvPr>
        </p:nvSpPr>
        <p:spPr/>
        <p:txBody>
          <a:bodyPr vert="horz" wrap="square" lIns="91440" tIns="45720" rIns="91440" bIns="45720" anchor="ctr" anchorCtr="0"/>
          <a:p>
            <a:r>
              <a:rPr lang="zh-CN" altLang="en-US" dirty="0"/>
              <a:t>上行法</a:t>
            </a:r>
            <a:endParaRPr lang="zh-CN" altLang="en-US" dirty="0"/>
          </a:p>
        </p:txBody>
      </p:sp>
      <p:graphicFrame>
        <p:nvGraphicFramePr>
          <p:cNvPr id="47109" name="Group 5"/>
          <p:cNvGraphicFramePr>
            <a:graphicFrameLocks noGrp="1"/>
          </p:cNvGraphicFramePr>
          <p:nvPr>
            <p:ph sz="half" idx="1"/>
          </p:nvPr>
        </p:nvGraphicFramePr>
        <p:xfrm>
          <a:off x="6232843" y="1509713"/>
          <a:ext cx="4537075" cy="3585845"/>
        </p:xfrm>
        <a:graphic>
          <a:graphicData uri="http://schemas.openxmlformats.org/drawingml/2006/table">
            <a:tbl>
              <a:tblPr/>
              <a:tblGrid>
                <a:gridCol w="4537075"/>
              </a:tblGrid>
              <a:tr h="3585845">
                <a:tc>
                  <a:txBody>
                    <a:bodyPr/>
                    <a:lstStyle/>
                    <a:p>
                      <a:pPr marL="0" marR="0" lvl="0" indent="0" algn="l" defTabSz="957580" rtl="0" eaLnBrk="0" fontAlgn="base" latinLnBrk="0" hangingPunct="0">
                        <a:lnSpc>
                          <a:spcPct val="100000"/>
                        </a:lnSpc>
                        <a:spcBef>
                          <a:spcPct val="20000"/>
                        </a:spcBef>
                        <a:spcAft>
                          <a:spcPct val="0"/>
                        </a:spcAft>
                        <a:buClr>
                          <a:srgbClr val="800000"/>
                        </a:buClr>
                        <a:buSzTx/>
                        <a:buFont typeface="Wingdings" panose="05000000000000000000" pitchFamily="2" charset="2"/>
                        <a:buNone/>
                      </a:pPr>
                      <a:r>
                        <a:rPr kumimoji="0" lang="en-US" altLang="zh-CN" sz="2400" b="1" i="0" u="none" strike="noStrike" cap="none" normalizeH="0" baseline="0" smtClean="0">
                          <a:ln>
                            <a:noFill/>
                          </a:ln>
                          <a:solidFill>
                            <a:schemeClr val="tx1"/>
                          </a:solidFill>
                          <a:effectLst/>
                          <a:latin typeface="楷体_GB2312" pitchFamily="49" charset="-122"/>
                          <a:ea typeface="楷体_GB2312" pitchFamily="49" charset="-122"/>
                        </a:rPr>
                        <a:t>G</a:t>
                      </a:r>
                      <a:r>
                        <a:rPr kumimoji="0" lang="en-US" altLang="zh-CN" sz="2400" b="1" i="0" u="none" strike="noStrike" cap="none" normalizeH="0" baseline="-25000" smtClean="0">
                          <a:ln>
                            <a:noFill/>
                          </a:ln>
                          <a:solidFill>
                            <a:schemeClr val="tx1"/>
                          </a:solidFill>
                          <a:effectLst/>
                          <a:latin typeface="楷体_GB2312" pitchFamily="49" charset="-122"/>
                          <a:ea typeface="楷体_GB2312" pitchFamily="49" charset="-122"/>
                        </a:rPr>
                        <a:t>2</a:t>
                      </a:r>
                      <a:r>
                        <a:rPr kumimoji="0" lang="zh-CN" altLang="en-US" sz="2400" b="1" i="0" u="none" strike="noStrike" cap="none" normalizeH="0" baseline="0" smtClean="0">
                          <a:ln>
                            <a:noFill/>
                          </a:ln>
                          <a:solidFill>
                            <a:schemeClr val="tx1"/>
                          </a:solidFill>
                          <a:effectLst/>
                          <a:latin typeface="楷体_GB2312" pitchFamily="49" charset="-122"/>
                          <a:ea typeface="楷体_GB2312" pitchFamily="49" charset="-122"/>
                        </a:rPr>
                        <a:t>＝</a:t>
                      </a:r>
                      <a:r>
                        <a:rPr kumimoji="0" lang="en-US" altLang="zh-CN" sz="2400" b="1" i="0" u="none" strike="noStrike" cap="none" normalizeH="0" baseline="0" smtClean="0">
                          <a:ln>
                            <a:noFill/>
                          </a:ln>
                          <a:solidFill>
                            <a:schemeClr val="tx1"/>
                          </a:solidFill>
                          <a:effectLst/>
                          <a:latin typeface="楷体_GB2312" pitchFamily="49" charset="-122"/>
                          <a:ea typeface="楷体_GB2312" pitchFamily="49" charset="-122"/>
                        </a:rPr>
                        <a:t>A</a:t>
                      </a:r>
                      <a:r>
                        <a:rPr kumimoji="0" lang="en-US" altLang="zh-CN" sz="2400" b="1" i="0" u="none" strike="noStrike" cap="none" normalizeH="0" baseline="-25000" smtClean="0">
                          <a:ln>
                            <a:noFill/>
                          </a:ln>
                          <a:solidFill>
                            <a:schemeClr val="tx1"/>
                          </a:solidFill>
                          <a:effectLst/>
                          <a:latin typeface="楷体_GB2312" pitchFamily="49" charset="-122"/>
                          <a:ea typeface="楷体_GB2312" pitchFamily="49" charset="-122"/>
                        </a:rPr>
                        <a:t>1 </a:t>
                      </a:r>
                      <a:r>
                        <a:rPr kumimoji="0" lang="zh-CN" altLang="en-US" sz="2400" b="1" i="0" u="none" strike="noStrike" cap="none" normalizeH="0" baseline="0" smtClean="0">
                          <a:ln>
                            <a:noFill/>
                          </a:ln>
                          <a:solidFill>
                            <a:schemeClr val="tx1"/>
                          </a:solidFill>
                          <a:effectLst/>
                          <a:latin typeface="楷体_GB2312" pitchFamily="49" charset="-122"/>
                          <a:ea typeface="楷体_GB2312" pitchFamily="49" charset="-122"/>
                        </a:rPr>
                        <a:t>＋</a:t>
                      </a:r>
                      <a:r>
                        <a:rPr kumimoji="0" lang="en-US" altLang="zh-CN" sz="2400" b="1" i="0" u="none" strike="noStrike" cap="none" normalizeH="0" baseline="0" smtClean="0">
                          <a:ln>
                            <a:noFill/>
                          </a:ln>
                          <a:solidFill>
                            <a:schemeClr val="tx1"/>
                          </a:solidFill>
                          <a:effectLst/>
                          <a:latin typeface="楷体_GB2312" pitchFamily="49" charset="-122"/>
                          <a:ea typeface="楷体_GB2312" pitchFamily="49" charset="-122"/>
                        </a:rPr>
                        <a:t>A</a:t>
                      </a:r>
                      <a:r>
                        <a:rPr kumimoji="0" lang="en-US" altLang="zh-CN" sz="2400" b="1" i="0" u="none" strike="noStrike" cap="none" normalizeH="0" baseline="-25000" smtClean="0">
                          <a:ln>
                            <a:noFill/>
                          </a:ln>
                          <a:solidFill>
                            <a:schemeClr val="tx1"/>
                          </a:solidFill>
                          <a:effectLst/>
                          <a:latin typeface="楷体_GB2312" pitchFamily="49" charset="-122"/>
                          <a:ea typeface="楷体_GB2312" pitchFamily="49" charset="-122"/>
                        </a:rPr>
                        <a:t>2</a:t>
                      </a:r>
                      <a:endParaRPr kumimoji="0" lang="en-US" altLang="zh-CN" sz="2400" b="1" i="0" u="none" strike="noStrike" cap="none" normalizeH="0" baseline="0" smtClean="0">
                        <a:ln>
                          <a:noFill/>
                        </a:ln>
                        <a:solidFill>
                          <a:schemeClr val="tx1"/>
                        </a:solidFill>
                        <a:effectLst/>
                        <a:latin typeface="楷体_GB2312" pitchFamily="49" charset="-122"/>
                        <a:ea typeface="楷体_GB2312" pitchFamily="49" charset="-122"/>
                      </a:endParaRPr>
                    </a:p>
                    <a:p>
                      <a:pPr marL="0" marR="0" lvl="0" indent="0" algn="l" defTabSz="957580" rtl="0" eaLnBrk="0" fontAlgn="base" latinLnBrk="0" hangingPunct="0">
                        <a:lnSpc>
                          <a:spcPct val="100000"/>
                        </a:lnSpc>
                        <a:spcBef>
                          <a:spcPct val="20000"/>
                        </a:spcBef>
                        <a:spcAft>
                          <a:spcPct val="0"/>
                        </a:spcAft>
                        <a:buClr>
                          <a:srgbClr val="800000"/>
                        </a:buClr>
                        <a:buSzTx/>
                        <a:buFont typeface="Wingdings" panose="05000000000000000000" pitchFamily="2" charset="2"/>
                        <a:buNone/>
                      </a:pPr>
                      <a:r>
                        <a:rPr kumimoji="0" lang="en-US" altLang="zh-CN" sz="2400" b="1" i="0" u="none" strike="noStrike" cap="none" normalizeH="0" baseline="0" smtClean="0">
                          <a:ln>
                            <a:noFill/>
                          </a:ln>
                          <a:solidFill>
                            <a:schemeClr val="tx1"/>
                          </a:solidFill>
                          <a:effectLst/>
                          <a:latin typeface="楷体_GB2312" pitchFamily="49" charset="-122"/>
                          <a:ea typeface="楷体_GB2312" pitchFamily="49" charset="-122"/>
                        </a:rPr>
                        <a:t>G</a:t>
                      </a:r>
                      <a:r>
                        <a:rPr kumimoji="0" lang="en-US" altLang="zh-CN" sz="2400" b="1" i="0" u="none" strike="noStrike" cap="none" normalizeH="0" baseline="-25000" smtClean="0">
                          <a:ln>
                            <a:noFill/>
                          </a:ln>
                          <a:solidFill>
                            <a:schemeClr val="tx1"/>
                          </a:solidFill>
                          <a:effectLst/>
                          <a:latin typeface="楷体_GB2312" pitchFamily="49" charset="-122"/>
                          <a:ea typeface="楷体_GB2312" pitchFamily="49" charset="-122"/>
                        </a:rPr>
                        <a:t>3</a:t>
                      </a:r>
                      <a:r>
                        <a:rPr kumimoji="0" lang="zh-CN" altLang="en-US" sz="2400" b="1" i="0" u="none" strike="noStrike" cap="none" normalizeH="0" baseline="0" smtClean="0">
                          <a:ln>
                            <a:noFill/>
                          </a:ln>
                          <a:solidFill>
                            <a:schemeClr val="tx1"/>
                          </a:solidFill>
                          <a:effectLst/>
                          <a:latin typeface="楷体_GB2312" pitchFamily="49" charset="-122"/>
                          <a:ea typeface="楷体_GB2312" pitchFamily="49" charset="-122"/>
                        </a:rPr>
                        <a:t>＝</a:t>
                      </a:r>
                      <a:r>
                        <a:rPr kumimoji="0" lang="en-US" altLang="zh-CN" sz="2400" b="1" i="0" u="none" strike="noStrike" cap="none" normalizeH="0" baseline="0" smtClean="0">
                          <a:ln>
                            <a:noFill/>
                          </a:ln>
                          <a:solidFill>
                            <a:schemeClr val="tx1"/>
                          </a:solidFill>
                          <a:effectLst/>
                          <a:latin typeface="楷体_GB2312" pitchFamily="49" charset="-122"/>
                          <a:ea typeface="楷体_GB2312" pitchFamily="49" charset="-122"/>
                        </a:rPr>
                        <a:t>A</a:t>
                      </a:r>
                      <a:r>
                        <a:rPr kumimoji="0" lang="en-US" altLang="zh-CN" sz="2400" b="1" i="0" u="none" strike="noStrike" cap="none" normalizeH="0" baseline="-25000" smtClean="0">
                          <a:ln>
                            <a:noFill/>
                          </a:ln>
                          <a:solidFill>
                            <a:schemeClr val="tx1"/>
                          </a:solidFill>
                          <a:effectLst/>
                          <a:latin typeface="楷体_GB2312" pitchFamily="49" charset="-122"/>
                          <a:ea typeface="楷体_GB2312" pitchFamily="49" charset="-122"/>
                        </a:rPr>
                        <a:t>1 </a:t>
                      </a:r>
                      <a:r>
                        <a:rPr kumimoji="0" lang="zh-CN" altLang="en-US" sz="2400" b="1" i="0" u="none" strike="noStrike" cap="none" normalizeH="0" baseline="0" smtClean="0">
                          <a:ln>
                            <a:noFill/>
                          </a:ln>
                          <a:solidFill>
                            <a:schemeClr val="tx1"/>
                          </a:solidFill>
                          <a:effectLst/>
                          <a:latin typeface="楷体_GB2312" pitchFamily="49" charset="-122"/>
                          <a:ea typeface="楷体_GB2312" pitchFamily="49" charset="-122"/>
                        </a:rPr>
                        <a:t>＋</a:t>
                      </a:r>
                      <a:r>
                        <a:rPr kumimoji="0" lang="en-US" altLang="zh-CN" sz="2400" b="1" i="0" u="none" strike="noStrike" cap="none" normalizeH="0" baseline="0" smtClean="0">
                          <a:ln>
                            <a:noFill/>
                          </a:ln>
                          <a:solidFill>
                            <a:schemeClr val="tx1"/>
                          </a:solidFill>
                          <a:effectLst/>
                          <a:latin typeface="楷体_GB2312" pitchFamily="49" charset="-122"/>
                          <a:ea typeface="楷体_GB2312" pitchFamily="49" charset="-122"/>
                        </a:rPr>
                        <a:t>A</a:t>
                      </a:r>
                      <a:r>
                        <a:rPr kumimoji="0" lang="en-US" altLang="zh-CN" sz="2400" b="1" i="0" u="none" strike="noStrike" cap="none" normalizeH="0" baseline="-25000" smtClean="0">
                          <a:ln>
                            <a:noFill/>
                          </a:ln>
                          <a:solidFill>
                            <a:schemeClr val="tx1"/>
                          </a:solidFill>
                          <a:effectLst/>
                          <a:latin typeface="楷体_GB2312" pitchFamily="49" charset="-122"/>
                          <a:ea typeface="楷体_GB2312" pitchFamily="49" charset="-122"/>
                        </a:rPr>
                        <a:t>3</a:t>
                      </a:r>
                      <a:endParaRPr kumimoji="0" lang="en-US" altLang="zh-CN" sz="2400" b="1" i="0" u="none" strike="noStrike" cap="none" normalizeH="0" baseline="0" smtClean="0">
                        <a:ln>
                          <a:noFill/>
                        </a:ln>
                        <a:solidFill>
                          <a:schemeClr val="tx1"/>
                        </a:solidFill>
                        <a:effectLst/>
                        <a:latin typeface="楷体_GB2312" pitchFamily="49" charset="-122"/>
                        <a:ea typeface="楷体_GB2312" pitchFamily="49" charset="-122"/>
                      </a:endParaRPr>
                    </a:p>
                    <a:p>
                      <a:pPr marL="0" marR="0" lvl="0" indent="0" algn="l" defTabSz="957580" rtl="0" eaLnBrk="0" fontAlgn="base" latinLnBrk="0" hangingPunct="0">
                        <a:lnSpc>
                          <a:spcPct val="100000"/>
                        </a:lnSpc>
                        <a:spcBef>
                          <a:spcPct val="20000"/>
                        </a:spcBef>
                        <a:spcAft>
                          <a:spcPct val="0"/>
                        </a:spcAft>
                        <a:buClr>
                          <a:srgbClr val="800000"/>
                        </a:buClr>
                        <a:buSzTx/>
                        <a:buFont typeface="Wingdings" panose="05000000000000000000" pitchFamily="2" charset="2"/>
                        <a:buNone/>
                      </a:pPr>
                      <a:r>
                        <a:rPr kumimoji="0" lang="en-US" altLang="zh-CN" sz="2400" b="1" i="0" u="none" strike="noStrike" cap="none" normalizeH="0" baseline="0" smtClean="0">
                          <a:ln>
                            <a:noFill/>
                          </a:ln>
                          <a:solidFill>
                            <a:schemeClr val="tx1"/>
                          </a:solidFill>
                          <a:effectLst/>
                          <a:latin typeface="楷体_GB2312" pitchFamily="49" charset="-122"/>
                          <a:ea typeface="楷体_GB2312" pitchFamily="49" charset="-122"/>
                        </a:rPr>
                        <a:t>G1</a:t>
                      </a:r>
                      <a:r>
                        <a:rPr kumimoji="0" lang="zh-CN" altLang="en-US" sz="2400" b="1" i="0" u="none" strike="noStrike" cap="none" normalizeH="0" baseline="0" smtClean="0">
                          <a:ln>
                            <a:noFill/>
                          </a:ln>
                          <a:solidFill>
                            <a:schemeClr val="tx1"/>
                          </a:solidFill>
                          <a:effectLst/>
                          <a:latin typeface="楷体_GB2312" pitchFamily="49" charset="-122"/>
                          <a:ea typeface="楷体_GB2312" pitchFamily="49" charset="-122"/>
                        </a:rPr>
                        <a:t>＝</a:t>
                      </a:r>
                      <a:r>
                        <a:rPr kumimoji="0" lang="en-US" altLang="zh-CN" sz="2400" b="1" i="0" u="none" strike="noStrike" cap="none" normalizeH="0" baseline="0" smtClean="0">
                          <a:ln>
                            <a:noFill/>
                          </a:ln>
                          <a:solidFill>
                            <a:schemeClr val="tx1"/>
                          </a:solidFill>
                          <a:effectLst/>
                          <a:latin typeface="楷体_GB2312" pitchFamily="49" charset="-122"/>
                          <a:ea typeface="楷体_GB2312" pitchFamily="49" charset="-122"/>
                        </a:rPr>
                        <a:t> </a:t>
                      </a:r>
                      <a:r>
                        <a:rPr lang="en-US" altLang="zh-CN" sz="2400" b="1" smtClean="0">
                          <a:ln>
                            <a:noFill/>
                          </a:ln>
                          <a:effectLst/>
                          <a:latin typeface="楷体_GB2312" pitchFamily="49" charset="-122"/>
                          <a:ea typeface="楷体_GB2312" pitchFamily="49" charset="-122"/>
                          <a:sym typeface="+mn-ea"/>
                        </a:rPr>
                        <a:t>G</a:t>
                      </a:r>
                      <a:r>
                        <a:rPr lang="en-US" altLang="zh-CN" sz="2400" b="1" baseline="-25000" smtClean="0">
                          <a:ln>
                            <a:noFill/>
                          </a:ln>
                          <a:effectLst/>
                          <a:latin typeface="楷体_GB2312" pitchFamily="49" charset="-122"/>
                          <a:ea typeface="楷体_GB2312" pitchFamily="49" charset="-122"/>
                          <a:sym typeface="+mn-ea"/>
                        </a:rPr>
                        <a:t>2</a:t>
                      </a:r>
                      <a:r>
                        <a:rPr lang="en-US" altLang="zh-CN" sz="2400" b="1" smtClean="0">
                          <a:ln>
                            <a:noFill/>
                          </a:ln>
                          <a:effectLst/>
                          <a:latin typeface="楷体_GB2312" pitchFamily="49" charset="-122"/>
                          <a:ea typeface="楷体_GB2312" pitchFamily="49" charset="-122"/>
                          <a:sym typeface="+mn-ea"/>
                        </a:rPr>
                        <a:t>G</a:t>
                      </a:r>
                      <a:r>
                        <a:rPr lang="en-US" altLang="zh-CN" sz="2400" b="1" baseline="-25000" smtClean="0">
                          <a:ln>
                            <a:noFill/>
                          </a:ln>
                          <a:effectLst/>
                          <a:latin typeface="楷体_GB2312" pitchFamily="49" charset="-122"/>
                          <a:ea typeface="楷体_GB2312" pitchFamily="49" charset="-122"/>
                          <a:sym typeface="+mn-ea"/>
                        </a:rPr>
                        <a:t>3 </a:t>
                      </a:r>
                      <a:r>
                        <a:rPr kumimoji="0" lang="en-US" altLang="zh-CN" sz="2400" b="1" i="0" u="none" strike="noStrike" cap="none" normalizeH="0" baseline="0" smtClean="0">
                          <a:ln>
                            <a:noFill/>
                          </a:ln>
                          <a:solidFill>
                            <a:schemeClr val="tx1"/>
                          </a:solidFill>
                          <a:effectLst/>
                          <a:latin typeface="楷体_GB2312" pitchFamily="49" charset="-122"/>
                          <a:ea typeface="楷体_GB2312" pitchFamily="49" charset="-122"/>
                        </a:rPr>
                        <a:t>=(A</a:t>
                      </a:r>
                      <a:r>
                        <a:rPr kumimoji="0" lang="en-US" altLang="zh-CN" sz="2400" b="1" i="0" u="none" strike="noStrike" cap="none" normalizeH="0" baseline="-25000" smtClean="0">
                          <a:ln>
                            <a:noFill/>
                          </a:ln>
                          <a:solidFill>
                            <a:schemeClr val="tx1"/>
                          </a:solidFill>
                          <a:effectLst/>
                          <a:latin typeface="楷体_GB2312" pitchFamily="49" charset="-122"/>
                          <a:ea typeface="楷体_GB2312" pitchFamily="49" charset="-122"/>
                        </a:rPr>
                        <a:t>1 </a:t>
                      </a:r>
                      <a:r>
                        <a:rPr kumimoji="0" lang="zh-CN" altLang="en-US" sz="2400" b="1" i="0" u="none" strike="noStrike" cap="none" normalizeH="0" baseline="0" smtClean="0">
                          <a:ln>
                            <a:noFill/>
                          </a:ln>
                          <a:solidFill>
                            <a:schemeClr val="tx1"/>
                          </a:solidFill>
                          <a:effectLst/>
                          <a:latin typeface="楷体_GB2312" pitchFamily="49" charset="-122"/>
                          <a:ea typeface="楷体_GB2312" pitchFamily="49" charset="-122"/>
                        </a:rPr>
                        <a:t>＋</a:t>
                      </a:r>
                      <a:r>
                        <a:rPr kumimoji="0" lang="en-US" altLang="zh-CN" sz="2400" b="1" i="0" u="none" strike="noStrike" cap="none" normalizeH="0" baseline="0" smtClean="0">
                          <a:ln>
                            <a:noFill/>
                          </a:ln>
                          <a:solidFill>
                            <a:schemeClr val="tx1"/>
                          </a:solidFill>
                          <a:effectLst/>
                          <a:latin typeface="楷体_GB2312" pitchFamily="49" charset="-122"/>
                          <a:ea typeface="楷体_GB2312" pitchFamily="49" charset="-122"/>
                        </a:rPr>
                        <a:t>A</a:t>
                      </a:r>
                      <a:r>
                        <a:rPr kumimoji="0" lang="en-US" altLang="zh-CN" sz="2400" b="1" i="0" u="none" strike="noStrike" cap="none" normalizeH="0" baseline="-25000" smtClean="0">
                          <a:ln>
                            <a:noFill/>
                          </a:ln>
                          <a:solidFill>
                            <a:schemeClr val="tx1"/>
                          </a:solidFill>
                          <a:effectLst/>
                          <a:latin typeface="楷体_GB2312" pitchFamily="49" charset="-122"/>
                          <a:ea typeface="楷体_GB2312" pitchFamily="49" charset="-122"/>
                        </a:rPr>
                        <a:t>2</a:t>
                      </a:r>
                      <a:r>
                        <a:rPr kumimoji="0" lang="en-US" altLang="zh-CN" sz="2400" b="1" i="0" u="none" strike="noStrike" cap="none" normalizeH="0" baseline="0" smtClean="0">
                          <a:ln>
                            <a:noFill/>
                          </a:ln>
                          <a:solidFill>
                            <a:schemeClr val="tx1"/>
                          </a:solidFill>
                          <a:effectLst/>
                          <a:latin typeface="楷体_GB2312" pitchFamily="49" charset="-122"/>
                          <a:ea typeface="楷体_GB2312" pitchFamily="49" charset="-122"/>
                        </a:rPr>
                        <a:t>)(A</a:t>
                      </a:r>
                      <a:r>
                        <a:rPr kumimoji="0" lang="en-US" altLang="zh-CN" sz="2400" b="1" i="0" u="none" strike="noStrike" cap="none" normalizeH="0" baseline="-25000" smtClean="0">
                          <a:ln>
                            <a:noFill/>
                          </a:ln>
                          <a:solidFill>
                            <a:schemeClr val="tx1"/>
                          </a:solidFill>
                          <a:effectLst/>
                          <a:latin typeface="楷体_GB2312" pitchFamily="49" charset="-122"/>
                          <a:ea typeface="楷体_GB2312" pitchFamily="49" charset="-122"/>
                        </a:rPr>
                        <a:t>1 </a:t>
                      </a:r>
                      <a:r>
                        <a:rPr kumimoji="0" lang="zh-CN" altLang="en-US" sz="2400" b="1" i="0" u="none" strike="noStrike" cap="none" normalizeH="0" baseline="0" smtClean="0">
                          <a:ln>
                            <a:noFill/>
                          </a:ln>
                          <a:solidFill>
                            <a:schemeClr val="tx1"/>
                          </a:solidFill>
                          <a:effectLst/>
                          <a:latin typeface="楷体_GB2312" pitchFamily="49" charset="-122"/>
                          <a:ea typeface="楷体_GB2312" pitchFamily="49" charset="-122"/>
                        </a:rPr>
                        <a:t>＋</a:t>
                      </a:r>
                      <a:r>
                        <a:rPr kumimoji="0" lang="en-US" altLang="zh-CN" sz="2400" b="1" i="0" u="none" strike="noStrike" cap="none" normalizeH="0" baseline="0" smtClean="0">
                          <a:ln>
                            <a:noFill/>
                          </a:ln>
                          <a:solidFill>
                            <a:schemeClr val="tx1"/>
                          </a:solidFill>
                          <a:effectLst/>
                          <a:latin typeface="楷体_GB2312" pitchFamily="49" charset="-122"/>
                          <a:ea typeface="楷体_GB2312" pitchFamily="49" charset="-122"/>
                        </a:rPr>
                        <a:t>A</a:t>
                      </a:r>
                      <a:r>
                        <a:rPr kumimoji="0" lang="en-US" altLang="zh-CN" sz="2400" b="1" i="0" u="none" strike="noStrike" cap="none" normalizeH="0" baseline="-25000" smtClean="0">
                          <a:ln>
                            <a:noFill/>
                          </a:ln>
                          <a:solidFill>
                            <a:schemeClr val="tx1"/>
                          </a:solidFill>
                          <a:effectLst/>
                          <a:latin typeface="楷体_GB2312" pitchFamily="49" charset="-122"/>
                          <a:ea typeface="楷体_GB2312" pitchFamily="49" charset="-122"/>
                        </a:rPr>
                        <a:t>3</a:t>
                      </a:r>
                      <a:r>
                        <a:rPr kumimoji="0" lang="en-US" altLang="zh-CN" sz="2400" b="1" i="0" u="none" strike="noStrike" cap="none" normalizeH="0" baseline="0" smtClean="0">
                          <a:ln>
                            <a:noFill/>
                          </a:ln>
                          <a:solidFill>
                            <a:schemeClr val="tx1"/>
                          </a:solidFill>
                          <a:effectLst/>
                          <a:latin typeface="楷体_GB2312" pitchFamily="49" charset="-122"/>
                          <a:ea typeface="楷体_GB2312" pitchFamily="49" charset="-122"/>
                        </a:rPr>
                        <a:t>)</a:t>
                      </a:r>
                      <a:endParaRPr kumimoji="0" lang="en-US" altLang="zh-CN" sz="2400" b="1" i="0" u="none" strike="noStrike" cap="none" normalizeH="0" baseline="0" smtClean="0">
                        <a:ln>
                          <a:noFill/>
                        </a:ln>
                        <a:solidFill>
                          <a:schemeClr val="tx1"/>
                        </a:solidFill>
                        <a:effectLst/>
                        <a:latin typeface="楷体_GB2312" pitchFamily="49" charset="-122"/>
                        <a:ea typeface="楷体_GB2312" pitchFamily="49" charset="-122"/>
                      </a:endParaRPr>
                    </a:p>
                    <a:p>
                      <a:pPr marL="0" marR="0" lvl="0" indent="0" algn="l" defTabSz="957580" rtl="0" eaLnBrk="0" fontAlgn="base" latinLnBrk="0" hangingPunct="0">
                        <a:lnSpc>
                          <a:spcPct val="100000"/>
                        </a:lnSpc>
                        <a:spcBef>
                          <a:spcPct val="20000"/>
                        </a:spcBef>
                        <a:spcAft>
                          <a:spcPct val="0"/>
                        </a:spcAft>
                        <a:buClr>
                          <a:srgbClr val="800000"/>
                        </a:buClr>
                        <a:buSzTx/>
                        <a:buFont typeface="Wingdings" panose="05000000000000000000" pitchFamily="2" charset="2"/>
                        <a:buNone/>
                      </a:pPr>
                      <a:r>
                        <a:rPr kumimoji="0" lang="en-US" altLang="zh-CN" sz="2400" b="1" i="0" u="none" strike="noStrike" cap="none" normalizeH="0" baseline="0" smtClean="0">
                          <a:ln>
                            <a:noFill/>
                          </a:ln>
                          <a:solidFill>
                            <a:schemeClr val="tx1"/>
                          </a:solidFill>
                          <a:effectLst/>
                          <a:latin typeface="楷体_GB2312" pitchFamily="49" charset="-122"/>
                          <a:ea typeface="楷体_GB2312" pitchFamily="49" charset="-122"/>
                        </a:rPr>
                        <a:t>= A</a:t>
                      </a:r>
                      <a:r>
                        <a:rPr kumimoji="0" lang="en-US" altLang="zh-CN" sz="2400" b="1" i="0" u="none" strike="noStrike" cap="none" normalizeH="0" baseline="-25000" smtClean="0">
                          <a:ln>
                            <a:noFill/>
                          </a:ln>
                          <a:solidFill>
                            <a:schemeClr val="tx1"/>
                          </a:solidFill>
                          <a:effectLst/>
                          <a:latin typeface="楷体_GB2312" pitchFamily="49" charset="-122"/>
                          <a:ea typeface="楷体_GB2312" pitchFamily="49" charset="-122"/>
                        </a:rPr>
                        <a:t>1</a:t>
                      </a:r>
                      <a:r>
                        <a:rPr kumimoji="0" lang="en-US" altLang="zh-CN" sz="2400" b="1" i="0" u="none" strike="noStrike" cap="none" normalizeH="0" baseline="0" smtClean="0">
                          <a:ln>
                            <a:noFill/>
                          </a:ln>
                          <a:solidFill>
                            <a:schemeClr val="tx1"/>
                          </a:solidFill>
                          <a:effectLst/>
                          <a:latin typeface="楷体_GB2312" pitchFamily="49" charset="-122"/>
                          <a:ea typeface="楷体_GB2312" pitchFamily="49" charset="-122"/>
                        </a:rPr>
                        <a:t>+A</a:t>
                      </a:r>
                      <a:r>
                        <a:rPr kumimoji="0" lang="en-US" altLang="zh-CN" sz="2400" b="1" i="0" u="none" strike="noStrike" cap="none" normalizeH="0" baseline="-25000" smtClean="0">
                          <a:ln>
                            <a:noFill/>
                          </a:ln>
                          <a:solidFill>
                            <a:schemeClr val="tx1"/>
                          </a:solidFill>
                          <a:effectLst/>
                          <a:latin typeface="楷体_GB2312" pitchFamily="49" charset="-122"/>
                          <a:ea typeface="楷体_GB2312" pitchFamily="49" charset="-122"/>
                        </a:rPr>
                        <a:t>1</a:t>
                      </a:r>
                      <a:r>
                        <a:rPr kumimoji="0" lang="en-US" altLang="zh-CN" sz="2400" b="1" i="0" u="none" strike="noStrike" cap="none" normalizeH="0" baseline="0" smtClean="0">
                          <a:ln>
                            <a:noFill/>
                          </a:ln>
                          <a:solidFill>
                            <a:schemeClr val="tx1"/>
                          </a:solidFill>
                          <a:effectLst/>
                          <a:latin typeface="楷体_GB2312" pitchFamily="49" charset="-122"/>
                          <a:ea typeface="楷体_GB2312" pitchFamily="49" charset="-122"/>
                        </a:rPr>
                        <a:t>A</a:t>
                      </a:r>
                      <a:r>
                        <a:rPr kumimoji="0" lang="en-US" altLang="zh-CN" sz="2400" b="1" i="0" u="none" strike="noStrike" cap="none" normalizeH="0" baseline="-25000" smtClean="0">
                          <a:ln>
                            <a:noFill/>
                          </a:ln>
                          <a:solidFill>
                            <a:schemeClr val="tx1"/>
                          </a:solidFill>
                          <a:effectLst/>
                          <a:latin typeface="楷体_GB2312" pitchFamily="49" charset="-122"/>
                          <a:ea typeface="楷体_GB2312" pitchFamily="49" charset="-122"/>
                        </a:rPr>
                        <a:t>3 </a:t>
                      </a:r>
                      <a:r>
                        <a:rPr kumimoji="0" lang="en-US" altLang="zh-CN" sz="2400" b="1" i="0" u="none" strike="noStrike" cap="none" normalizeH="0" baseline="0" smtClean="0">
                          <a:ln>
                            <a:noFill/>
                          </a:ln>
                          <a:solidFill>
                            <a:schemeClr val="tx1"/>
                          </a:solidFill>
                          <a:effectLst/>
                          <a:latin typeface="楷体_GB2312" pitchFamily="49" charset="-122"/>
                          <a:ea typeface="楷体_GB2312" pitchFamily="49" charset="-122"/>
                        </a:rPr>
                        <a:t>+A</a:t>
                      </a:r>
                      <a:r>
                        <a:rPr kumimoji="0" lang="en-US" altLang="zh-CN" sz="2400" b="1" i="0" u="none" strike="noStrike" cap="none" normalizeH="0" baseline="-25000" smtClean="0">
                          <a:ln>
                            <a:noFill/>
                          </a:ln>
                          <a:solidFill>
                            <a:schemeClr val="tx1"/>
                          </a:solidFill>
                          <a:effectLst/>
                          <a:latin typeface="楷体_GB2312" pitchFamily="49" charset="-122"/>
                          <a:ea typeface="楷体_GB2312" pitchFamily="49" charset="-122"/>
                        </a:rPr>
                        <a:t>1</a:t>
                      </a:r>
                      <a:r>
                        <a:rPr kumimoji="0" lang="en-US" altLang="zh-CN" sz="2400" b="1" i="0" u="none" strike="noStrike" cap="none" normalizeH="0" baseline="0" smtClean="0">
                          <a:ln>
                            <a:noFill/>
                          </a:ln>
                          <a:solidFill>
                            <a:schemeClr val="tx1"/>
                          </a:solidFill>
                          <a:effectLst/>
                          <a:latin typeface="楷体_GB2312" pitchFamily="49" charset="-122"/>
                          <a:ea typeface="楷体_GB2312" pitchFamily="49" charset="-122"/>
                        </a:rPr>
                        <a:t>A</a:t>
                      </a:r>
                      <a:r>
                        <a:rPr kumimoji="0" lang="en-US" altLang="zh-CN" sz="2400" b="1" i="0" u="none" strike="noStrike" cap="none" normalizeH="0" baseline="-25000" smtClean="0">
                          <a:ln>
                            <a:noFill/>
                          </a:ln>
                          <a:solidFill>
                            <a:schemeClr val="tx1"/>
                          </a:solidFill>
                          <a:effectLst/>
                          <a:latin typeface="楷体_GB2312" pitchFamily="49" charset="-122"/>
                          <a:ea typeface="楷体_GB2312" pitchFamily="49" charset="-122"/>
                        </a:rPr>
                        <a:t>2 </a:t>
                      </a:r>
                      <a:r>
                        <a:rPr kumimoji="0" lang="en-US" altLang="zh-CN" sz="2400" b="1" i="0" u="none" strike="noStrike" cap="none" normalizeH="0" baseline="0" smtClean="0">
                          <a:ln>
                            <a:noFill/>
                          </a:ln>
                          <a:solidFill>
                            <a:schemeClr val="tx1"/>
                          </a:solidFill>
                          <a:effectLst/>
                          <a:latin typeface="楷体_GB2312" pitchFamily="49" charset="-122"/>
                          <a:ea typeface="楷体_GB2312" pitchFamily="49" charset="-122"/>
                        </a:rPr>
                        <a:t>+ A</a:t>
                      </a:r>
                      <a:r>
                        <a:rPr kumimoji="0" lang="en-US" altLang="zh-CN" sz="2400" b="1" i="0" u="none" strike="noStrike" cap="none" normalizeH="0" baseline="-25000" smtClean="0">
                          <a:ln>
                            <a:noFill/>
                          </a:ln>
                          <a:solidFill>
                            <a:schemeClr val="tx1"/>
                          </a:solidFill>
                          <a:effectLst/>
                          <a:latin typeface="楷体_GB2312" pitchFamily="49" charset="-122"/>
                          <a:ea typeface="楷体_GB2312" pitchFamily="49" charset="-122"/>
                        </a:rPr>
                        <a:t>2</a:t>
                      </a:r>
                      <a:r>
                        <a:rPr kumimoji="0" lang="en-US" altLang="zh-CN" sz="2400" b="1" i="0" u="none" strike="noStrike" cap="none" normalizeH="0" baseline="0" smtClean="0">
                          <a:ln>
                            <a:noFill/>
                          </a:ln>
                          <a:solidFill>
                            <a:schemeClr val="tx1"/>
                          </a:solidFill>
                          <a:effectLst/>
                          <a:latin typeface="楷体_GB2312" pitchFamily="49" charset="-122"/>
                          <a:ea typeface="楷体_GB2312" pitchFamily="49" charset="-122"/>
                        </a:rPr>
                        <a:t>A</a:t>
                      </a:r>
                      <a:r>
                        <a:rPr kumimoji="0" lang="en-US" altLang="zh-CN" sz="2400" b="1" i="0" u="none" strike="noStrike" cap="none" normalizeH="0" baseline="-25000" smtClean="0">
                          <a:ln>
                            <a:noFill/>
                          </a:ln>
                          <a:solidFill>
                            <a:schemeClr val="tx1"/>
                          </a:solidFill>
                          <a:effectLst/>
                          <a:latin typeface="楷体_GB2312" pitchFamily="49" charset="-122"/>
                          <a:ea typeface="楷体_GB2312" pitchFamily="49" charset="-122"/>
                        </a:rPr>
                        <a:t>3</a:t>
                      </a:r>
                      <a:endParaRPr kumimoji="0" lang="en-US" altLang="zh-CN" sz="2400" b="1" i="0" u="none" strike="noStrike" cap="none" normalizeH="0" baseline="-25000" smtClean="0">
                        <a:ln>
                          <a:noFill/>
                        </a:ln>
                        <a:solidFill>
                          <a:schemeClr val="tx1"/>
                        </a:solidFill>
                        <a:effectLst/>
                        <a:latin typeface="楷体_GB2312" pitchFamily="49" charset="-122"/>
                        <a:ea typeface="楷体_GB2312" pitchFamily="49" charset="-122"/>
                      </a:endParaRPr>
                    </a:p>
                    <a:p>
                      <a:pPr marL="0" marR="0" lvl="0" indent="0" algn="l" defTabSz="957580" rtl="0" eaLnBrk="0" fontAlgn="base" latinLnBrk="0" hangingPunct="0">
                        <a:lnSpc>
                          <a:spcPct val="100000"/>
                        </a:lnSpc>
                        <a:spcBef>
                          <a:spcPct val="20000"/>
                        </a:spcBef>
                        <a:spcAft>
                          <a:spcPct val="0"/>
                        </a:spcAft>
                        <a:buClr>
                          <a:srgbClr val="800000"/>
                        </a:buClr>
                        <a:buSzTx/>
                        <a:buFont typeface="Wingdings" panose="05000000000000000000" pitchFamily="2" charset="2"/>
                        <a:buNone/>
                      </a:pPr>
                      <a:endParaRPr kumimoji="0" lang="en-US" altLang="zh-CN" sz="2400" b="1" i="0" u="none" strike="noStrike" cap="none" normalizeH="0" baseline="0" smtClean="0">
                        <a:ln>
                          <a:noFill/>
                        </a:ln>
                        <a:solidFill>
                          <a:schemeClr val="tx1"/>
                        </a:solidFill>
                        <a:effectLst/>
                        <a:latin typeface="楷体_GB2312" pitchFamily="49" charset="-122"/>
                        <a:ea typeface="楷体_GB2312" pitchFamily="49" charset="-122"/>
                      </a:endParaRPr>
                    </a:p>
                  </a:txBody>
                  <a:tcPr horzOverflow="overflow">
                    <a:lnL cap="flat">
                      <a:noFill/>
                    </a:lnL>
                    <a:lnR cap="flat">
                      <a:noFill/>
                    </a:lnR>
                    <a:lnT cap="flat">
                      <a:noFill/>
                    </a:lnT>
                    <a:lnB cap="flat">
                      <a:noFill/>
                    </a:lnB>
                    <a:lnTlToBr>
                      <a:noFill/>
                    </a:lnTlToBr>
                    <a:lnBlToTr>
                      <a:noFill/>
                    </a:lnBlToTr>
                    <a:noFill/>
                  </a:tcPr>
                </a:tc>
              </a:tr>
            </a:tbl>
          </a:graphicData>
        </a:graphic>
      </p:graphicFrame>
      <p:sp>
        <p:nvSpPr>
          <p:cNvPr id="47108" name="Text Box 4"/>
          <p:cNvSpPr txBox="1"/>
          <p:nvPr/>
        </p:nvSpPr>
        <p:spPr>
          <a:xfrm>
            <a:off x="2135188" y="6018530"/>
            <a:ext cx="4465637" cy="521970"/>
          </a:xfrm>
          <a:prstGeom prst="rect">
            <a:avLst/>
          </a:prstGeom>
          <a:noFill/>
          <a:ln w="9525">
            <a:noFill/>
          </a:ln>
        </p:spPr>
        <p:txBody>
          <a:bodyPr anchor="b" anchorCtr="0">
            <a:spAutoFit/>
          </a:bodyPr>
          <a:p>
            <a:pPr>
              <a:spcBef>
                <a:spcPct val="50000"/>
              </a:spcBef>
            </a:pPr>
            <a:r>
              <a:rPr lang="zh-CN" altLang="en-US" sz="2800" b="1" dirty="0">
                <a:solidFill>
                  <a:srgbClr val="0070C0"/>
                </a:solidFill>
                <a:latin typeface="Tahoma" panose="020B0604030504040204" pitchFamily="34" charset="0"/>
                <a:ea typeface="华文新魏" panose="02010800040101010101" pitchFamily="2" charset="-122"/>
              </a:rPr>
              <a:t>最小割集：</a:t>
            </a:r>
            <a:r>
              <a:rPr lang="zh-CN" altLang="en-US" sz="2000" b="1" dirty="0">
                <a:solidFill>
                  <a:srgbClr val="0070C0"/>
                </a:solidFill>
                <a:latin typeface="Tahoma" panose="020B0604030504040204" pitchFamily="34" charset="0"/>
                <a:ea typeface="华文新魏" panose="02010800040101010101" pitchFamily="2" charset="-122"/>
              </a:rPr>
              <a:t> </a:t>
            </a:r>
            <a:r>
              <a:rPr lang="en-US" altLang="zh-CN" sz="2000" b="1" dirty="0">
                <a:solidFill>
                  <a:srgbClr val="0070C0"/>
                </a:solidFill>
                <a:latin typeface="Tahoma" panose="020B0604030504040204" pitchFamily="34" charset="0"/>
                <a:ea typeface="华文新魏" panose="02010800040101010101" pitchFamily="2" charset="-122"/>
              </a:rPr>
              <a:t>{A1}     {A2,A3} </a:t>
            </a:r>
            <a:endParaRPr lang="en-US" altLang="zh-CN" sz="2000" b="1" dirty="0">
              <a:solidFill>
                <a:srgbClr val="0070C0"/>
              </a:solidFill>
              <a:latin typeface="Tahoma" panose="020B0604030504040204" pitchFamily="34" charset="0"/>
              <a:ea typeface="华文新魏" panose="02010800040101010101" pitchFamily="2" charset="-122"/>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47107"/>
                                        </p:tgtEl>
                                        <p:attrNameLst>
                                          <p:attrName>style.visibility</p:attrName>
                                        </p:attrNameLst>
                                      </p:cBhvr>
                                      <p:to>
                                        <p:strVal val="visible"/>
                                      </p:to>
                                    </p:set>
                                    <p:animEffect transition="in" filter="dissolve">
                                      <p:cBhvr>
                                        <p:cTn id="7" dur="500"/>
                                        <p:tgtEl>
                                          <p:spTgt spid="4710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7109"/>
                                        </p:tgtEl>
                                        <p:attrNameLst>
                                          <p:attrName>style.visibility</p:attrName>
                                        </p:attrNameLst>
                                      </p:cBhvr>
                                      <p:to>
                                        <p:strVal val="visible"/>
                                      </p:to>
                                    </p:set>
                                    <p:animEffect transition="in" filter="wipe(left)">
                                      <p:cBhvr>
                                        <p:cTn id="12" dur="500"/>
                                        <p:tgtEl>
                                          <p:spTgt spid="47109"/>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47108"/>
                                        </p:tgtEl>
                                        <p:attrNameLst>
                                          <p:attrName>style.visibility</p:attrName>
                                        </p:attrNameLst>
                                      </p:cBhvr>
                                      <p:to>
                                        <p:strVal val="visible"/>
                                      </p:to>
                                    </p:set>
                                    <p:animEffect transition="in" filter="dissolve">
                                      <p:cBhvr>
                                        <p:cTn id="17" dur="500"/>
                                        <p:tgtEl>
                                          <p:spTgt spid="471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8"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2" name="Rectangle 2"/>
          <p:cNvSpPr>
            <a:spLocks noGrp="1"/>
          </p:cNvSpPr>
          <p:nvPr>
            <p:ph type="title"/>
          </p:nvPr>
        </p:nvSpPr>
        <p:spPr/>
        <p:txBody>
          <a:bodyPr vert="horz" wrap="square" lIns="91440" tIns="45720" rIns="91440" bIns="45720" anchor="ctr" anchorCtr="0"/>
          <a:p>
            <a:r>
              <a:rPr lang="zh-CN" altLang="en-US" dirty="0"/>
              <a:t>软件故障树定量分析</a:t>
            </a:r>
            <a:endParaRPr lang="zh-CN" altLang="en-US" dirty="0"/>
          </a:p>
        </p:txBody>
      </p:sp>
      <p:sp>
        <p:nvSpPr>
          <p:cNvPr id="49155" name="Rectangle 3"/>
          <p:cNvSpPr>
            <a:spLocks noGrp="1"/>
          </p:cNvSpPr>
          <p:nvPr>
            <p:ph idx="1"/>
          </p:nvPr>
        </p:nvSpPr>
        <p:spPr/>
        <p:txBody>
          <a:bodyPr vert="horz" wrap="square" lIns="91440" tIns="45720" rIns="91440" bIns="45720" anchor="t" anchorCtr="0"/>
          <a:p>
            <a:r>
              <a:rPr lang="zh-CN" altLang="en-US" dirty="0"/>
              <a:t>目的</a:t>
            </a:r>
            <a:endParaRPr lang="zh-CN" altLang="en-US" dirty="0"/>
          </a:p>
          <a:p>
            <a:pPr lvl="1"/>
            <a:r>
              <a:rPr lang="zh-CN" altLang="en-US" dirty="0"/>
              <a:t>软件故障树定量分析的目的是计算或估计软件故障顶事件发生的概率。</a:t>
            </a:r>
            <a:endParaRPr lang="zh-CN" altLang="en-US" dirty="0"/>
          </a:p>
          <a:p>
            <a:r>
              <a:rPr lang="zh-CN" altLang="en-US" dirty="0"/>
              <a:t>方法</a:t>
            </a:r>
            <a:endParaRPr lang="zh-CN" altLang="en-US" dirty="0"/>
          </a:p>
          <a:p>
            <a:pPr lvl="1"/>
            <a:r>
              <a:rPr lang="zh-CN" altLang="en-US" dirty="0"/>
              <a:t>如果每一个底事件的发生概率是已知的，可根据软件故障树的逻辑关系，计算顶事件的发生概率。</a:t>
            </a:r>
            <a:endParaRPr lang="zh-CN" altLang="en-US" dirty="0"/>
          </a:p>
          <a:p>
            <a:r>
              <a:rPr lang="zh-CN" altLang="en-US" dirty="0"/>
              <a:t>软件故障树分析的</a:t>
            </a:r>
            <a:r>
              <a:rPr lang="zh-CN" altLang="en-US" sz="3600" dirty="0">
                <a:solidFill>
                  <a:srgbClr val="006666"/>
                </a:solidFill>
                <a:ea typeface="华文新魏" panose="02010800040101010101" pitchFamily="2" charset="-122"/>
              </a:rPr>
              <a:t>重点在于定性分析</a:t>
            </a:r>
            <a:r>
              <a:rPr lang="zh-CN" altLang="en-US" dirty="0"/>
              <a:t>，而非定量分析。</a:t>
            </a:r>
            <a:endParaRPr lang="zh-CN" altLang="en-US"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3" fill="hold" nodeType="clickEffect">
                                  <p:stCondLst>
                                    <p:cond delay="0"/>
                                  </p:stCondLst>
                                  <p:childTnLst>
                                    <p:set>
                                      <p:cBhvr>
                                        <p:cTn id="6" dur="1" fill="hold">
                                          <p:stCondLst>
                                            <p:cond delay="0"/>
                                          </p:stCondLst>
                                        </p:cTn>
                                        <p:tgtEl>
                                          <p:spTgt spid="49155">
                                            <p:txEl>
                                              <p:charRg st="0" end="3"/>
                                            </p:txEl>
                                          </p:spTgt>
                                        </p:tgtEl>
                                        <p:attrNameLst>
                                          <p:attrName>style.visibility</p:attrName>
                                        </p:attrNameLst>
                                      </p:cBhvr>
                                      <p:to>
                                        <p:strVal val="visible"/>
                                      </p:to>
                                    </p:set>
                                    <p:animEffect transition="in" filter="strips(upRight)">
                                      <p:cBhvr>
                                        <p:cTn id="7" dur="500"/>
                                        <p:tgtEl>
                                          <p:spTgt spid="49155">
                                            <p:txEl>
                                              <p:charRg st="0" end="3"/>
                                            </p:txEl>
                                          </p:spTgt>
                                        </p:tgtEl>
                                      </p:cBhvr>
                                    </p:animEffect>
                                  </p:childTnLst>
                                </p:cTn>
                              </p:par>
                              <p:par>
                                <p:cTn id="8" presetID="18" presetClass="entr" presetSubtype="3" fill="hold" nodeType="withEffect">
                                  <p:stCondLst>
                                    <p:cond delay="0"/>
                                  </p:stCondLst>
                                  <p:childTnLst>
                                    <p:set>
                                      <p:cBhvr>
                                        <p:cTn id="9" dur="1" fill="hold">
                                          <p:stCondLst>
                                            <p:cond delay="0"/>
                                          </p:stCondLst>
                                        </p:cTn>
                                        <p:tgtEl>
                                          <p:spTgt spid="49155">
                                            <p:txEl>
                                              <p:charRg st="3" end="35"/>
                                            </p:txEl>
                                          </p:spTgt>
                                        </p:tgtEl>
                                        <p:attrNameLst>
                                          <p:attrName>style.visibility</p:attrName>
                                        </p:attrNameLst>
                                      </p:cBhvr>
                                      <p:to>
                                        <p:strVal val="visible"/>
                                      </p:to>
                                    </p:set>
                                    <p:animEffect transition="in" filter="strips(upRight)">
                                      <p:cBhvr>
                                        <p:cTn id="10" dur="500"/>
                                        <p:tgtEl>
                                          <p:spTgt spid="49155">
                                            <p:txEl>
                                              <p:charRg st="3" end="35"/>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8" presetClass="entr" presetSubtype="3" fill="hold" nodeType="clickEffect">
                                  <p:stCondLst>
                                    <p:cond delay="0"/>
                                  </p:stCondLst>
                                  <p:childTnLst>
                                    <p:set>
                                      <p:cBhvr>
                                        <p:cTn id="14" dur="1" fill="hold">
                                          <p:stCondLst>
                                            <p:cond delay="0"/>
                                          </p:stCondLst>
                                        </p:cTn>
                                        <p:tgtEl>
                                          <p:spTgt spid="49155">
                                            <p:txEl>
                                              <p:charRg st="35" end="38"/>
                                            </p:txEl>
                                          </p:spTgt>
                                        </p:tgtEl>
                                        <p:attrNameLst>
                                          <p:attrName>style.visibility</p:attrName>
                                        </p:attrNameLst>
                                      </p:cBhvr>
                                      <p:to>
                                        <p:strVal val="visible"/>
                                      </p:to>
                                    </p:set>
                                    <p:animEffect transition="in" filter="strips(upRight)">
                                      <p:cBhvr>
                                        <p:cTn id="15" dur="500"/>
                                        <p:tgtEl>
                                          <p:spTgt spid="49155">
                                            <p:txEl>
                                              <p:charRg st="35" end="38"/>
                                            </p:txEl>
                                          </p:spTgt>
                                        </p:tgtEl>
                                      </p:cBhvr>
                                    </p:animEffect>
                                  </p:childTnLst>
                                </p:cTn>
                              </p:par>
                              <p:par>
                                <p:cTn id="16" presetID="18" presetClass="entr" presetSubtype="3" fill="hold" nodeType="withEffect">
                                  <p:stCondLst>
                                    <p:cond delay="0"/>
                                  </p:stCondLst>
                                  <p:childTnLst>
                                    <p:set>
                                      <p:cBhvr>
                                        <p:cTn id="17" dur="1" fill="hold">
                                          <p:stCondLst>
                                            <p:cond delay="0"/>
                                          </p:stCondLst>
                                        </p:cTn>
                                        <p:tgtEl>
                                          <p:spTgt spid="49155">
                                            <p:txEl>
                                              <p:charRg st="38" end="82"/>
                                            </p:txEl>
                                          </p:spTgt>
                                        </p:tgtEl>
                                        <p:attrNameLst>
                                          <p:attrName>style.visibility</p:attrName>
                                        </p:attrNameLst>
                                      </p:cBhvr>
                                      <p:to>
                                        <p:strVal val="visible"/>
                                      </p:to>
                                    </p:set>
                                    <p:animEffect transition="in" filter="strips(upRight)">
                                      <p:cBhvr>
                                        <p:cTn id="18" dur="500"/>
                                        <p:tgtEl>
                                          <p:spTgt spid="49155">
                                            <p:txEl>
                                              <p:charRg st="38" end="8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8" presetClass="entr" presetSubtype="3" fill="hold" nodeType="clickEffect">
                                  <p:stCondLst>
                                    <p:cond delay="0"/>
                                  </p:stCondLst>
                                  <p:childTnLst>
                                    <p:set>
                                      <p:cBhvr>
                                        <p:cTn id="22" dur="1" fill="hold">
                                          <p:stCondLst>
                                            <p:cond delay="0"/>
                                          </p:stCondLst>
                                        </p:cTn>
                                        <p:tgtEl>
                                          <p:spTgt spid="49155">
                                            <p:txEl>
                                              <p:charRg st="82" end="107"/>
                                            </p:txEl>
                                          </p:spTgt>
                                        </p:tgtEl>
                                        <p:attrNameLst>
                                          <p:attrName>style.visibility</p:attrName>
                                        </p:attrNameLst>
                                      </p:cBhvr>
                                      <p:to>
                                        <p:strVal val="visible"/>
                                      </p:to>
                                    </p:set>
                                    <p:animEffect transition="in" filter="strips(upRight)">
                                      <p:cBhvr>
                                        <p:cTn id="23" dur="500"/>
                                        <p:tgtEl>
                                          <p:spTgt spid="49155">
                                            <p:txEl>
                                              <p:charRg st="82" end="10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8066" name="Rectangle 2"/>
          <p:cNvSpPr>
            <a:spLocks noGrp="1"/>
          </p:cNvSpPr>
          <p:nvPr>
            <p:ph type="title"/>
          </p:nvPr>
        </p:nvSpPr>
        <p:spPr>
          <a:xfrm>
            <a:off x="900430" y="274955"/>
            <a:ext cx="10681970" cy="1143000"/>
          </a:xfrm>
        </p:spPr>
        <p:txBody>
          <a:bodyPr vert="horz" wrap="square" lIns="91440" tIns="45720" rIns="91440" bIns="45720" anchor="ctr" anchorCtr="0"/>
          <a:p>
            <a:r>
              <a:rPr lang="zh-CN" altLang="en-US" sz="4400" dirty="0" smtClean="0">
                <a:solidFill>
                  <a:srgbClr val="C00000"/>
                </a:solidFill>
              </a:rPr>
              <a:t>SFMEA与SFTA的区别与联系</a:t>
            </a:r>
            <a:endParaRPr lang="zh-CN" altLang="en-US" sz="4400" dirty="0" smtClean="0">
              <a:solidFill>
                <a:srgbClr val="C00000"/>
              </a:solidFill>
            </a:endParaRPr>
          </a:p>
        </p:txBody>
      </p:sp>
      <p:graphicFrame>
        <p:nvGraphicFramePr>
          <p:cNvPr id="51231" name="Group 31"/>
          <p:cNvGraphicFramePr>
            <a:graphicFrameLocks noGrp="1"/>
          </p:cNvGraphicFramePr>
          <p:nvPr>
            <p:ph type="tbl" idx="1"/>
            <p:custDataLst>
              <p:tags r:id="rId1"/>
            </p:custDataLst>
          </p:nvPr>
        </p:nvGraphicFramePr>
        <p:xfrm>
          <a:off x="963930" y="1239520"/>
          <a:ext cx="9998710" cy="5278755"/>
        </p:xfrm>
        <a:graphic>
          <a:graphicData uri="http://schemas.openxmlformats.org/drawingml/2006/table">
            <a:tbl>
              <a:tblPr/>
              <a:tblGrid>
                <a:gridCol w="877570"/>
                <a:gridCol w="906145"/>
                <a:gridCol w="4009390"/>
                <a:gridCol w="4205605"/>
              </a:tblGrid>
              <a:tr h="507365">
                <a:tc gridSpan="2">
                  <a:txBody>
                    <a:bodyPr/>
                    <a:lstStyle/>
                    <a:p>
                      <a:pPr marL="0" marR="0" lvl="0" indent="0" algn="l" defTabSz="914400" rtl="0" eaLnBrk="1" fontAlgn="base" latinLnBrk="0" hangingPunct="1">
                        <a:lnSpc>
                          <a:spcPct val="105000"/>
                        </a:lnSpc>
                        <a:spcBef>
                          <a:spcPct val="0"/>
                        </a:spcBef>
                        <a:spcAft>
                          <a:spcPct val="0"/>
                        </a:spcAft>
                        <a:buClrTx/>
                        <a:buSzTx/>
                        <a:buFontTx/>
                        <a:buNone/>
                      </a:pPr>
                      <a:endPara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2">
                        <a:lumMod val="20000"/>
                        <a:lumOff val="80000"/>
                      </a:schemeClr>
                    </a:solidFill>
                  </a:tcPr>
                </a:tc>
                <a:tc hMerge="1">
                  <a:tcPr/>
                </a:tc>
                <a:tc>
                  <a:txBody>
                    <a:bodyPr/>
                    <a:lstStyle/>
                    <a:p>
                      <a:pPr marL="0" marR="0" lvl="0" indent="0" algn="ctr" defTabSz="914400" rtl="0" eaLnBrk="1" fontAlgn="base" latinLnBrk="0" hangingPunct="1">
                        <a:lnSpc>
                          <a:spcPct val="105000"/>
                        </a:lnSpc>
                        <a:spcBef>
                          <a:spcPct val="0"/>
                        </a:spcBef>
                        <a:spcAft>
                          <a:spcPct val="0"/>
                        </a:spcAft>
                        <a:buClrTx/>
                        <a:buSzTx/>
                        <a:buFontTx/>
                        <a:buNone/>
                      </a:pPr>
                      <a:r>
                        <a:rPr kumimoji="1"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SFMEA</a:t>
                      </a:r>
                      <a:endParaRPr kumimoji="1"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p>
                      <a:pPr marL="0" marR="0" lvl="0" indent="0" algn="ctr" defTabSz="914400" rtl="0" eaLnBrk="1" fontAlgn="base" latinLnBrk="0" hangingPunct="1">
                        <a:lnSpc>
                          <a:spcPct val="105000"/>
                        </a:lnSpc>
                        <a:spcBef>
                          <a:spcPct val="0"/>
                        </a:spcBef>
                        <a:spcAft>
                          <a:spcPct val="0"/>
                        </a:spcAft>
                        <a:buClrTx/>
                        <a:buSzTx/>
                        <a:buFontTx/>
                        <a:buNone/>
                      </a:pPr>
                      <a:r>
                        <a:rPr kumimoji="1"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SFTA</a:t>
                      </a:r>
                      <a:endParaRPr kumimoji="1"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2">
                        <a:lumMod val="20000"/>
                        <a:lumOff val="80000"/>
                      </a:schemeClr>
                    </a:solidFill>
                  </a:tcPr>
                </a:tc>
              </a:tr>
              <a:tr h="2088515">
                <a:tc rowSpan="3">
                  <a:txBody>
                    <a:bodyPr/>
                    <a:lstStyle/>
                    <a:p>
                      <a:pPr marL="0" marR="0" lvl="0" indent="0" algn="ctr" defTabSz="914400" rtl="0" eaLnBrk="1" fontAlgn="base" latinLnBrk="0" hangingPunct="1">
                        <a:lnSpc>
                          <a:spcPct val="105000"/>
                        </a:lnSpc>
                        <a:spcBef>
                          <a:spcPct val="0"/>
                        </a:spcBef>
                        <a:spcAft>
                          <a:spcPct val="0"/>
                        </a:spcAft>
                        <a:buClrTx/>
                        <a:buSzTx/>
                        <a:buFontTx/>
                        <a:buNone/>
                      </a:pPr>
                      <a:r>
                        <a:rPr kumimoji="1" lang="zh-CN" altLang="en-US" sz="2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区别</a:t>
                      </a:r>
                      <a:endParaRPr kumimoji="1" lang="zh-CN" altLang="en-US" sz="2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t" latinLnBrk="0" hangingPunct="1">
                        <a:lnSpc>
                          <a:spcPct val="105000"/>
                        </a:lnSpc>
                        <a:spcBef>
                          <a:spcPct val="0"/>
                        </a:spcBef>
                        <a:spcAft>
                          <a:spcPct val="0"/>
                        </a:spcAft>
                        <a:buClrTx/>
                        <a:buSzTx/>
                        <a:buFontTx/>
                        <a:buNone/>
                      </a:pPr>
                      <a:r>
                        <a:rPr kumimoji="1" lang="zh-CN" altLang="en-US" sz="2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分析方法</a:t>
                      </a:r>
                      <a:endParaRPr kumimoji="1" lang="zh-CN" altLang="en-US" sz="2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5000"/>
                        </a:lnSpc>
                        <a:spcBef>
                          <a:spcPct val="0"/>
                        </a:spcBef>
                        <a:spcAft>
                          <a:spcPct val="0"/>
                        </a:spcAft>
                        <a:buClrTx/>
                        <a:buSzTx/>
                        <a:buFontTx/>
                        <a:buNone/>
                      </a:pPr>
                      <a:r>
                        <a:rPr kumimoji="1" lang="zh-CN" altLang="en-US" sz="2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由系统的最低分析层次，分析潜在的失效模式及原因，自底向上分析对系统产生的影响，即</a:t>
                      </a:r>
                      <a:r>
                        <a:rPr kumimoji="0" lang="zh-CN" altLang="en-US" sz="2200" b="1" i="0" u="none" strike="noStrike" cap="none" normalizeH="0" baseline="0" smtClean="0">
                          <a:ln>
                            <a:noFill/>
                          </a:ln>
                          <a:solidFill>
                            <a:srgbClr val="006666"/>
                          </a:solidFill>
                          <a:effectLst/>
                          <a:latin typeface="Arial" panose="020B0604020202020204" pitchFamily="34" charset="0"/>
                          <a:ea typeface="华文新魏" panose="02010800040101010101" pitchFamily="2" charset="-122"/>
                        </a:rPr>
                        <a:t>由因到果</a:t>
                      </a:r>
                      <a:r>
                        <a:rPr kumimoji="1" lang="zh-CN" altLang="en-US" sz="2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t>
                      </a:r>
                      <a:endParaRPr kumimoji="1" lang="zh-CN" altLang="en-US" sz="2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5000"/>
                        </a:lnSpc>
                        <a:spcBef>
                          <a:spcPct val="0"/>
                        </a:spcBef>
                        <a:spcAft>
                          <a:spcPct val="0"/>
                        </a:spcAft>
                        <a:buClrTx/>
                        <a:buSzTx/>
                        <a:buFontTx/>
                        <a:buNone/>
                      </a:pPr>
                      <a:r>
                        <a:rPr kumimoji="1" lang="zh-CN" altLang="en-US" sz="2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是一种自顶向下的分析方法，从系统不希望发生的事件（顶事件）开始，向下逐步追查导致顶事件发生的原因，直到基本事件（底事件），即</a:t>
                      </a:r>
                      <a:r>
                        <a:rPr kumimoji="0" lang="zh-CN" altLang="en-US" sz="2200" b="1" i="0" u="none" strike="noStrike" cap="none" normalizeH="0" baseline="0" smtClean="0">
                          <a:ln>
                            <a:noFill/>
                          </a:ln>
                          <a:solidFill>
                            <a:srgbClr val="006666"/>
                          </a:solidFill>
                          <a:effectLst/>
                          <a:latin typeface="Arial" panose="020B0604020202020204" pitchFamily="34" charset="0"/>
                          <a:ea typeface="华文新魏" panose="02010800040101010101" pitchFamily="2" charset="-122"/>
                        </a:rPr>
                        <a:t>由果到因</a:t>
                      </a:r>
                      <a:r>
                        <a:rPr kumimoji="1" lang="zh-CN" altLang="en-US" sz="2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t>
                      </a:r>
                      <a:endParaRPr kumimoji="1" lang="zh-CN" altLang="en-US" sz="2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943610">
                <a:tc vMerge="1">
                  <a:tcPr/>
                </a:tc>
                <a:tc>
                  <a:txBody>
                    <a:bodyPr/>
                    <a:lstStyle/>
                    <a:p>
                      <a:pPr marL="0" marR="0" lvl="0" indent="0" algn="ctr" defTabSz="914400" rtl="0" eaLnBrk="1" fontAlgn="base" latinLnBrk="0" hangingPunct="1">
                        <a:lnSpc>
                          <a:spcPct val="105000"/>
                        </a:lnSpc>
                        <a:spcBef>
                          <a:spcPct val="0"/>
                        </a:spcBef>
                        <a:spcAft>
                          <a:spcPct val="0"/>
                        </a:spcAft>
                        <a:buClrTx/>
                        <a:buSzTx/>
                        <a:buFontTx/>
                        <a:buNone/>
                      </a:pPr>
                      <a:r>
                        <a:rPr kumimoji="1" lang="zh-CN" altLang="en-US" sz="2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分析级别</a:t>
                      </a:r>
                      <a:endParaRPr kumimoji="1" lang="zh-CN" altLang="en-US" sz="2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5000"/>
                        </a:lnSpc>
                        <a:spcBef>
                          <a:spcPct val="0"/>
                        </a:spcBef>
                        <a:spcAft>
                          <a:spcPct val="0"/>
                        </a:spcAft>
                        <a:buClrTx/>
                        <a:buSzTx/>
                        <a:buFontTx/>
                        <a:buNone/>
                      </a:pPr>
                      <a:r>
                        <a:rPr kumimoji="1" lang="en-US" altLang="zh-CN" sz="2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SFMEA</a:t>
                      </a:r>
                      <a:r>
                        <a:rPr kumimoji="1" lang="zh-CN" altLang="en-US" sz="2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分析的最低级别可以是实现一定功能的</a:t>
                      </a:r>
                      <a:r>
                        <a:rPr kumimoji="0" lang="zh-CN" altLang="en-US" sz="2200" b="1" i="0" u="none" strike="noStrike" cap="none" normalizeH="0" baseline="0" smtClean="0">
                          <a:ln>
                            <a:noFill/>
                          </a:ln>
                          <a:solidFill>
                            <a:srgbClr val="006666"/>
                          </a:solidFill>
                          <a:effectLst/>
                          <a:latin typeface="Arial" panose="020B0604020202020204" pitchFamily="34" charset="0"/>
                          <a:ea typeface="华文新魏" panose="02010800040101010101" pitchFamily="2" charset="-122"/>
                        </a:rPr>
                        <a:t>模块</a:t>
                      </a:r>
                      <a:r>
                        <a:rPr kumimoji="1" lang="zh-CN" altLang="en-US" sz="2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t>
                      </a:r>
                      <a:endParaRPr kumimoji="1" lang="zh-CN" altLang="en-US" sz="2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5000"/>
                        </a:lnSpc>
                        <a:spcBef>
                          <a:spcPct val="0"/>
                        </a:spcBef>
                        <a:spcAft>
                          <a:spcPct val="0"/>
                        </a:spcAft>
                        <a:buClrTx/>
                        <a:buSzTx/>
                        <a:buFontTx/>
                        <a:buNone/>
                      </a:pPr>
                      <a:r>
                        <a:rPr kumimoji="1" lang="zh-CN" altLang="en-US" sz="2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最低分析级别可以是程序的</a:t>
                      </a:r>
                      <a:r>
                        <a:rPr kumimoji="0" lang="zh-CN" altLang="en-US" sz="2200" b="1" i="0" u="none" strike="noStrike" cap="none" normalizeH="0" baseline="0" smtClean="0">
                          <a:ln>
                            <a:noFill/>
                          </a:ln>
                          <a:solidFill>
                            <a:srgbClr val="006666"/>
                          </a:solidFill>
                          <a:effectLst/>
                          <a:latin typeface="Arial" panose="020B0604020202020204" pitchFamily="34" charset="0"/>
                          <a:ea typeface="华文新魏" panose="02010800040101010101" pitchFamily="2" charset="-122"/>
                        </a:rPr>
                        <a:t>语句</a:t>
                      </a:r>
                      <a:r>
                        <a:rPr kumimoji="1" lang="zh-CN" altLang="en-US" sz="2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t>
                      </a:r>
                      <a:endParaRPr kumimoji="1" lang="zh-CN" altLang="en-US" sz="2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057910">
                <a:tc vMerge="1">
                  <a:tcPr/>
                </a:tc>
                <a:tc>
                  <a:txBody>
                    <a:bodyPr/>
                    <a:lstStyle/>
                    <a:p>
                      <a:pPr marL="0" marR="0" lvl="0" indent="0" algn="ctr" defTabSz="914400" rtl="0" eaLnBrk="1" fontAlgn="base" latinLnBrk="0" hangingPunct="1">
                        <a:lnSpc>
                          <a:spcPct val="105000"/>
                        </a:lnSpc>
                        <a:spcBef>
                          <a:spcPct val="0"/>
                        </a:spcBef>
                        <a:spcAft>
                          <a:spcPct val="0"/>
                        </a:spcAft>
                        <a:buClrTx/>
                        <a:buSzTx/>
                        <a:buFontTx/>
                        <a:buNone/>
                      </a:pPr>
                      <a:r>
                        <a:rPr kumimoji="1" lang="zh-CN" altLang="en-US" sz="2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分析对象</a:t>
                      </a:r>
                      <a:endParaRPr kumimoji="1" lang="zh-CN" altLang="en-US" sz="2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5000"/>
                        </a:lnSpc>
                        <a:spcBef>
                          <a:spcPct val="0"/>
                        </a:spcBef>
                        <a:spcAft>
                          <a:spcPct val="0"/>
                        </a:spcAft>
                        <a:buClrTx/>
                        <a:buSzTx/>
                        <a:buFontTx/>
                        <a:buNone/>
                      </a:pPr>
                      <a:r>
                        <a:rPr kumimoji="1" lang="en-US" altLang="zh-CN" sz="2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SFMEA</a:t>
                      </a:r>
                      <a:r>
                        <a:rPr kumimoji="1" lang="zh-CN" altLang="en-US" sz="2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用于分析系统和子系统所有可能的失效模式和原因。</a:t>
                      </a:r>
                      <a:endParaRPr kumimoji="1" lang="zh-CN" altLang="en-US" sz="2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5000"/>
                        </a:lnSpc>
                        <a:spcBef>
                          <a:spcPct val="0"/>
                        </a:spcBef>
                        <a:spcAft>
                          <a:spcPct val="0"/>
                        </a:spcAft>
                        <a:buClrTx/>
                        <a:buSzTx/>
                        <a:buFontTx/>
                        <a:buNone/>
                      </a:pPr>
                      <a:r>
                        <a:rPr kumimoji="1" lang="en-US" altLang="zh-CN" sz="2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SFTA</a:t>
                      </a:r>
                      <a:r>
                        <a:rPr kumimoji="1" lang="zh-CN" altLang="en-US" sz="2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只分析顶层的故障事件。</a:t>
                      </a:r>
                      <a:endParaRPr kumimoji="1" lang="zh-CN" altLang="en-US" sz="2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681355">
                <a:tc>
                  <a:txBody>
                    <a:bodyPr/>
                    <a:lstStyle/>
                    <a:p>
                      <a:pPr marL="0" marR="0" lvl="0" indent="0" algn="ctr" defTabSz="914400" rtl="0" eaLnBrk="1" fontAlgn="base" latinLnBrk="0" hangingPunct="1">
                        <a:lnSpc>
                          <a:spcPct val="105000"/>
                        </a:lnSpc>
                        <a:spcBef>
                          <a:spcPct val="0"/>
                        </a:spcBef>
                        <a:spcAft>
                          <a:spcPct val="0"/>
                        </a:spcAft>
                        <a:buClrTx/>
                        <a:buSzTx/>
                        <a:buFontTx/>
                        <a:buNone/>
                      </a:pPr>
                      <a:r>
                        <a:rPr kumimoji="1" lang="zh-CN" altLang="en-US" sz="2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联系</a:t>
                      </a:r>
                      <a:endParaRPr kumimoji="1" lang="zh-CN" altLang="en-US" sz="2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3">
                  <a:txBody>
                    <a:bodyPr/>
                    <a:lstStyle/>
                    <a:p>
                      <a:pPr marL="0" marR="0" lvl="0" indent="0" algn="l" defTabSz="914400" rtl="0" eaLnBrk="1" fontAlgn="base" latinLnBrk="0" hangingPunct="1">
                        <a:lnSpc>
                          <a:spcPct val="105000"/>
                        </a:lnSpc>
                        <a:spcBef>
                          <a:spcPct val="0"/>
                        </a:spcBef>
                        <a:spcAft>
                          <a:spcPct val="0"/>
                        </a:spcAft>
                        <a:buClrTx/>
                        <a:buSzTx/>
                        <a:buFontTx/>
                        <a:buNone/>
                      </a:pPr>
                      <a:r>
                        <a:rPr kumimoji="1" lang="zh-CN" altLang="en-US" sz="2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将</a:t>
                      </a:r>
                      <a:r>
                        <a:rPr kumimoji="1" lang="en-US" altLang="zh-CN" sz="2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SFMEA</a:t>
                      </a:r>
                      <a:r>
                        <a:rPr kumimoji="1" lang="zh-CN" altLang="en-US" sz="2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和</a:t>
                      </a:r>
                      <a:r>
                        <a:rPr kumimoji="1" lang="en-US" altLang="zh-CN" sz="2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SFTA</a:t>
                      </a:r>
                      <a:r>
                        <a:rPr kumimoji="1" lang="zh-CN" altLang="en-US" sz="2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相综合，是一种有效的软件可靠性分析方法。</a:t>
                      </a:r>
                      <a:endParaRPr kumimoji="1" lang="zh-CN" altLang="en-US" sz="2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cPr/>
                </a:tc>
                <a:tc hMerge="1">
                  <a:tcPr/>
                </a:tc>
              </a:tr>
            </a:tbl>
          </a:graphicData>
        </a:graphic>
      </p:graphicFrame>
    </p:spTree>
  </p:cSld>
  <p:clrMapOvr>
    <a:masterClrMapping/>
  </p:clrMapOvr>
  <p:transition>
    <p:fad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p:cNvPicPr>
            <a:picLocks noChangeAspect="1"/>
          </p:cNvPicPr>
          <p:nvPr/>
        </p:nvPicPr>
        <p:blipFill>
          <a:blip r:embed="rId1"/>
          <a:stretch>
            <a:fillRect/>
          </a:stretch>
        </p:blipFill>
        <p:spPr>
          <a:xfrm>
            <a:off x="5307965" y="81280"/>
            <a:ext cx="6106795" cy="6684645"/>
          </a:xfrm>
          <a:prstGeom prst="rect">
            <a:avLst/>
          </a:prstGeom>
        </p:spPr>
      </p:pic>
      <p:pic>
        <p:nvPicPr>
          <p:cNvPr id="5" name="图片 4"/>
          <p:cNvPicPr>
            <a:picLocks noChangeAspect="1"/>
          </p:cNvPicPr>
          <p:nvPr/>
        </p:nvPicPr>
        <p:blipFill>
          <a:blip r:embed="rId2"/>
          <a:stretch>
            <a:fillRect/>
          </a:stretch>
        </p:blipFill>
        <p:spPr>
          <a:xfrm>
            <a:off x="1403985" y="2395220"/>
            <a:ext cx="1038225" cy="732790"/>
          </a:xfrm>
          <a:prstGeom prst="rect">
            <a:avLst/>
          </a:prstGeom>
        </p:spPr>
      </p:pic>
      <p:pic>
        <p:nvPicPr>
          <p:cNvPr id="6" name="图片 5"/>
          <p:cNvPicPr>
            <a:picLocks noChangeAspect="1"/>
          </p:cNvPicPr>
          <p:nvPr/>
        </p:nvPicPr>
        <p:blipFill>
          <a:blip r:embed="rId3"/>
          <a:stretch>
            <a:fillRect/>
          </a:stretch>
        </p:blipFill>
        <p:spPr>
          <a:xfrm>
            <a:off x="1587500" y="4105275"/>
            <a:ext cx="963295" cy="749300"/>
          </a:xfrm>
          <a:prstGeom prst="rect">
            <a:avLst/>
          </a:prstGeom>
        </p:spPr>
      </p:pic>
      <p:sp>
        <p:nvSpPr>
          <p:cNvPr id="7" name="文本框 6"/>
          <p:cNvSpPr txBox="1"/>
          <p:nvPr/>
        </p:nvSpPr>
        <p:spPr>
          <a:xfrm>
            <a:off x="2442210" y="2606040"/>
            <a:ext cx="988060" cy="521970"/>
          </a:xfrm>
          <a:prstGeom prst="rect">
            <a:avLst/>
          </a:prstGeom>
          <a:noFill/>
        </p:spPr>
        <p:txBody>
          <a:bodyPr wrap="square" rtlCol="0" anchor="t">
            <a:spAutoFit/>
          </a:bodyPr>
          <a:p>
            <a:r>
              <a:rPr lang="zh-CN" altLang="en-US" sz="2800">
                <a:sym typeface="+mn-ea"/>
              </a:rPr>
              <a:t>与门</a:t>
            </a:r>
            <a:endParaRPr lang="zh-CN" altLang="en-US" sz="2800">
              <a:sym typeface="+mn-ea"/>
            </a:endParaRPr>
          </a:p>
        </p:txBody>
      </p:sp>
      <p:sp>
        <p:nvSpPr>
          <p:cNvPr id="8" name="文本框 7"/>
          <p:cNvSpPr txBox="1"/>
          <p:nvPr/>
        </p:nvSpPr>
        <p:spPr>
          <a:xfrm>
            <a:off x="2569210" y="4218940"/>
            <a:ext cx="1151890" cy="521970"/>
          </a:xfrm>
          <a:prstGeom prst="rect">
            <a:avLst/>
          </a:prstGeom>
          <a:noFill/>
        </p:spPr>
        <p:txBody>
          <a:bodyPr wrap="square" rtlCol="0" anchor="t">
            <a:spAutoFit/>
          </a:bodyPr>
          <a:p>
            <a:r>
              <a:rPr lang="zh-CN" altLang="en-US" sz="2800">
                <a:sym typeface="+mn-ea"/>
              </a:rPr>
              <a:t>或门</a:t>
            </a:r>
            <a:endParaRPr lang="zh-CN" altLang="en-US" sz="2800">
              <a:sym typeface="+mn-ea"/>
            </a:endParaRPr>
          </a:p>
        </p:txBody>
      </p:sp>
      <p:sp>
        <p:nvSpPr>
          <p:cNvPr id="9" name="文本框 8"/>
          <p:cNvSpPr txBox="1"/>
          <p:nvPr/>
        </p:nvSpPr>
        <p:spPr>
          <a:xfrm>
            <a:off x="717550" y="1318260"/>
            <a:ext cx="5203825" cy="521970"/>
          </a:xfrm>
          <a:prstGeom prst="rect">
            <a:avLst/>
          </a:prstGeom>
          <a:noFill/>
        </p:spPr>
        <p:txBody>
          <a:bodyPr wrap="square" rtlCol="0" anchor="t">
            <a:spAutoFit/>
          </a:bodyPr>
          <a:p>
            <a:r>
              <a:rPr lang="zh-CN" altLang="en-US" sz="2800">
                <a:sym typeface="+mn-ea"/>
              </a:rPr>
              <a:t>应用故障树分析方法求最小割集</a:t>
            </a:r>
            <a:endParaRPr lang="zh-CN" altLang="en-US" sz="2800">
              <a:sym typeface="+mn-ea"/>
            </a:endParaRPr>
          </a:p>
        </p:txBody>
      </p:sp>
      <p:sp>
        <p:nvSpPr>
          <p:cNvPr id="2" name="标题 1"/>
          <p:cNvSpPr>
            <a:spLocks noGrp="1"/>
          </p:cNvSpPr>
          <p:nvPr>
            <p:ph type="title"/>
          </p:nvPr>
        </p:nvSpPr>
        <p:spPr/>
        <p:txBody>
          <a:bodyPr/>
          <a:p>
            <a:r>
              <a:rPr lang="zh-CN" altLang="en-US">
                <a:sym typeface="+mn-ea"/>
              </a:rPr>
              <a:t>本章作业</a:t>
            </a:r>
            <a:r>
              <a:rPr lang="zh-CN" altLang="en-US" sz="4000">
                <a:sym typeface="+mn-ea"/>
              </a:rPr>
              <a:t>（课堂完成）</a:t>
            </a:r>
            <a:endParaRPr lang="zh-CN" altLang="en-US" sz="4000">
              <a:sym typeface="+mn-ea"/>
            </a:endParaRPr>
          </a:p>
        </p:txBody>
      </p:sp>
    </p:spTree>
  </p:cSld>
  <p:clrMapOvr>
    <a:masterClrMapping/>
  </p:clrMapOvr>
  <p:transition spd="me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本章</a:t>
            </a:r>
            <a:r>
              <a:rPr lang="zh-CN" altLang="en-US"/>
              <a:t>作业</a:t>
            </a:r>
            <a:endParaRPr lang="zh-CN" altLang="en-US"/>
          </a:p>
        </p:txBody>
      </p:sp>
      <p:sp>
        <p:nvSpPr>
          <p:cNvPr id="3" name="内容占位符 2"/>
          <p:cNvSpPr>
            <a:spLocks noGrp="1"/>
          </p:cNvSpPr>
          <p:nvPr>
            <p:ph idx="1"/>
          </p:nvPr>
        </p:nvSpPr>
        <p:spPr>
          <a:xfrm>
            <a:off x="838200" y="1538605"/>
            <a:ext cx="10515600" cy="1546225"/>
          </a:xfrm>
        </p:spPr>
        <p:txBody>
          <a:bodyPr>
            <a:normAutofit/>
          </a:bodyPr>
          <a:p>
            <a:r>
              <a:rPr lang="zh-CN" altLang="en-US">
                <a:sym typeface="+mn-ea"/>
              </a:rPr>
              <a:t>针对一款软件，进行</a:t>
            </a:r>
            <a:r>
              <a:rPr lang="zh-CN" altLang="en-US">
                <a:sym typeface="+mn-ea"/>
              </a:rPr>
              <a:t>软件失效模式和影响分析，用下表进行统计结果，识别至少</a:t>
            </a:r>
            <a:r>
              <a:rPr lang="en-US" altLang="zh-CN">
                <a:sym typeface="+mn-ea"/>
              </a:rPr>
              <a:t>10</a:t>
            </a:r>
            <a:r>
              <a:rPr lang="zh-CN" altLang="en-US">
                <a:sym typeface="+mn-ea"/>
              </a:rPr>
              <a:t>个失效模式</a:t>
            </a:r>
            <a:endParaRPr lang="zh-CN" altLang="en-US">
              <a:sym typeface="+mn-ea"/>
            </a:endParaRPr>
          </a:p>
        </p:txBody>
      </p:sp>
      <p:graphicFrame>
        <p:nvGraphicFramePr>
          <p:cNvPr id="78851" name="表格 78850"/>
          <p:cNvGraphicFramePr/>
          <p:nvPr>
            <p:custDataLst>
              <p:tags r:id="rId1"/>
            </p:custDataLst>
          </p:nvPr>
        </p:nvGraphicFramePr>
        <p:xfrm>
          <a:off x="929640" y="3084830"/>
          <a:ext cx="10119360" cy="2534285"/>
        </p:xfrm>
        <a:graphic>
          <a:graphicData uri="http://schemas.openxmlformats.org/drawingml/2006/table">
            <a:tbl>
              <a:tblPr/>
              <a:tblGrid>
                <a:gridCol w="683260"/>
                <a:gridCol w="2614930"/>
                <a:gridCol w="2159635"/>
                <a:gridCol w="1565910"/>
                <a:gridCol w="3095625"/>
              </a:tblGrid>
              <a:tr h="532765">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lnSpc>
                          <a:spcPct val="110000"/>
                        </a:lnSpc>
                        <a:buNone/>
                      </a:pPr>
                      <a:r>
                        <a:rPr lang="zh-CN" altLang="en-US" sz="2400" b="1" dirty="0">
                          <a:latin typeface="Arial" panose="020B0604020202020204" pitchFamily="34" charset="0"/>
                        </a:rPr>
                        <a:t>编号</a:t>
                      </a:r>
                      <a:endParaRPr lang="zh-CN" altLang="en-US" sz="2400" b="1" dirty="0">
                        <a:latin typeface="Arial" panose="020B0604020202020204" pitchFamily="34" charset="0"/>
                      </a:endParaRPr>
                    </a:p>
                  </a:txBody>
                  <a:tcPr marL="0" marR="0" anchor="ctr" anchorCtr="1">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2">
                        <a:lumMod val="20000"/>
                        <a:lumOff val="80000"/>
                      </a:schemeClr>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lnSpc>
                          <a:spcPct val="110000"/>
                        </a:lnSpc>
                        <a:buNone/>
                      </a:pPr>
                      <a:r>
                        <a:rPr lang="zh-CN" altLang="en-US" sz="2400" b="1" dirty="0">
                          <a:latin typeface="Arial" panose="020B0604020202020204" pitchFamily="34" charset="0"/>
                        </a:rPr>
                        <a:t>失效模式</a:t>
                      </a:r>
                      <a:endParaRPr lang="zh-CN" altLang="en-US" sz="2400" b="1" dirty="0">
                        <a:latin typeface="Arial" panose="020B0604020202020204" pitchFamily="34" charset="0"/>
                      </a:endParaRPr>
                    </a:p>
                  </a:txBody>
                  <a:tcPr marL="0" marR="0"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2">
                        <a:lumMod val="20000"/>
                        <a:lumOff val="80000"/>
                      </a:schemeClr>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lnSpc>
                          <a:spcPct val="110000"/>
                        </a:lnSpc>
                        <a:buNone/>
                      </a:pPr>
                      <a:r>
                        <a:rPr lang="zh-CN" altLang="en-US" sz="2400" b="1" dirty="0">
                          <a:latin typeface="Arial" panose="020B0604020202020204" pitchFamily="34" charset="0"/>
                        </a:rPr>
                        <a:t>失效影响</a:t>
                      </a:r>
                      <a:endParaRPr lang="zh-CN" altLang="en-US" sz="2400" b="1" dirty="0">
                        <a:latin typeface="Arial" panose="020B0604020202020204" pitchFamily="34" charset="0"/>
                      </a:endParaRPr>
                    </a:p>
                  </a:txBody>
                  <a:tcPr marL="0" marR="0"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2">
                        <a:lumMod val="20000"/>
                        <a:lumOff val="80000"/>
                      </a:schemeClr>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lnSpc>
                          <a:spcPct val="110000"/>
                        </a:lnSpc>
                        <a:buNone/>
                      </a:pPr>
                      <a:r>
                        <a:rPr lang="zh-CN" altLang="en-US" sz="2400" b="1" dirty="0">
                          <a:latin typeface="Arial" panose="020B0604020202020204" pitchFamily="34" charset="0"/>
                        </a:rPr>
                        <a:t>严重性 </a:t>
                      </a:r>
                      <a:endParaRPr lang="zh-CN" altLang="en-US" sz="2400" b="1" dirty="0">
                        <a:latin typeface="Arial" panose="020B0604020202020204" pitchFamily="34" charset="0"/>
                      </a:endParaRPr>
                    </a:p>
                  </a:txBody>
                  <a:tcPr marL="0" marR="0"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2">
                        <a:lumMod val="20000"/>
                        <a:lumOff val="80000"/>
                      </a:schemeClr>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lnSpc>
                          <a:spcPct val="110000"/>
                        </a:lnSpc>
                        <a:buNone/>
                      </a:pPr>
                      <a:r>
                        <a:rPr lang="zh-CN" altLang="en-US" sz="2400" b="1" dirty="0">
                          <a:latin typeface="Arial" panose="020B0604020202020204" pitchFamily="34" charset="0"/>
                        </a:rPr>
                        <a:t>措施 </a:t>
                      </a:r>
                      <a:endParaRPr lang="zh-CN" altLang="en-US" sz="2400" b="1" dirty="0">
                        <a:latin typeface="Arial" panose="020B0604020202020204" pitchFamily="34" charset="0"/>
                      </a:endParaRPr>
                    </a:p>
                  </a:txBody>
                  <a:tcPr marL="0" marR="0" anchor="ctr" anchorCtr="1">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2">
                        <a:lumMod val="20000"/>
                        <a:lumOff val="80000"/>
                      </a:schemeClr>
                    </a:solidFill>
                  </a:tcPr>
                </a:tc>
              </a:tr>
              <a:tr h="615950">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lnSpc>
                          <a:spcPct val="110000"/>
                        </a:lnSpc>
                        <a:buNone/>
                      </a:pPr>
                      <a:r>
                        <a:rPr lang="en-US" altLang="zh-CN" sz="2000" dirty="0">
                          <a:solidFill>
                            <a:schemeClr val="tx1"/>
                          </a:solidFill>
                          <a:latin typeface="Arial" panose="020B0604020202020204" pitchFamily="34" charset="0"/>
                        </a:rPr>
                        <a:t>1</a:t>
                      </a:r>
                      <a:endParaRPr lang="en-US" altLang="zh-CN" sz="2000" dirty="0">
                        <a:solidFill>
                          <a:schemeClr val="tx1"/>
                        </a:solidFill>
                        <a:latin typeface="Arial" panose="020B0604020202020204" pitchFamily="34" charset="0"/>
                      </a:endParaRPr>
                    </a:p>
                  </a:txBody>
                  <a:tcPr anchor="ctr" anchorCtr="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eaLnBrk="1" hangingPunct="1">
                        <a:lnSpc>
                          <a:spcPct val="110000"/>
                        </a:lnSpc>
                        <a:buNone/>
                      </a:pPr>
                      <a:endParaRPr lang="zh-CN" altLang="en-US" sz="2000" dirty="0">
                        <a:solidFill>
                          <a:schemeClr val="tx1"/>
                        </a:solidFill>
                        <a:latin typeface="Arial" panose="020B0604020202020204" pitchFamily="34" charset="0"/>
                      </a:endParaRPr>
                    </a:p>
                  </a:txBody>
                  <a:tcPr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eaLnBrk="1" hangingPunct="1">
                        <a:lnSpc>
                          <a:spcPct val="110000"/>
                        </a:lnSpc>
                        <a:buNone/>
                      </a:pPr>
                      <a:endParaRPr lang="zh-CN" altLang="en-US" sz="2000" dirty="0">
                        <a:solidFill>
                          <a:schemeClr val="tx1"/>
                        </a:solidFill>
                        <a:latin typeface="Arial" panose="020B0604020202020204" pitchFamily="34" charset="0"/>
                      </a:endParaRPr>
                    </a:p>
                  </a:txBody>
                  <a:tcPr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lnSpc>
                          <a:spcPct val="110000"/>
                        </a:lnSpc>
                        <a:buNone/>
                      </a:pPr>
                      <a:endParaRPr lang="zh-CN" altLang="en-US" sz="2000" dirty="0">
                        <a:solidFill>
                          <a:schemeClr val="tx1"/>
                        </a:solidFill>
                        <a:latin typeface="Arial" panose="020B0604020202020204" pitchFamily="34" charset="0"/>
                      </a:endParaRPr>
                    </a:p>
                  </a:txBody>
                  <a:tcPr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eaLnBrk="1" hangingPunct="1">
                        <a:lnSpc>
                          <a:spcPct val="110000"/>
                        </a:lnSpc>
                        <a:buNone/>
                      </a:pPr>
                      <a:endParaRPr lang="zh-CN" altLang="en-US" sz="2000" dirty="0">
                        <a:solidFill>
                          <a:schemeClr val="tx1"/>
                        </a:solidFill>
                        <a:latin typeface="Arial" panose="020B0604020202020204" pitchFamily="34" charset="0"/>
                      </a:endParaRPr>
                    </a:p>
                  </a:txBody>
                  <a:tcPr anchor="ctr" anchorCtr="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638810">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lnSpc>
                          <a:spcPct val="110000"/>
                        </a:lnSpc>
                        <a:buNone/>
                      </a:pPr>
                      <a:r>
                        <a:rPr lang="en-US" altLang="zh-CN" sz="2000" dirty="0">
                          <a:solidFill>
                            <a:schemeClr val="tx1"/>
                          </a:solidFill>
                          <a:latin typeface="Arial" panose="020B0604020202020204" pitchFamily="34" charset="0"/>
                        </a:rPr>
                        <a:t>2</a:t>
                      </a:r>
                      <a:endParaRPr lang="en-US" altLang="zh-CN" sz="2000" dirty="0">
                        <a:solidFill>
                          <a:schemeClr val="tx1"/>
                        </a:solidFill>
                        <a:latin typeface="Arial" panose="020B0604020202020204" pitchFamily="34" charset="0"/>
                      </a:endParaRPr>
                    </a:p>
                  </a:txBody>
                  <a:tcPr anchor="ctr" anchorCtr="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eaLnBrk="1" hangingPunct="1">
                        <a:lnSpc>
                          <a:spcPct val="110000"/>
                        </a:lnSpc>
                        <a:buNone/>
                      </a:pPr>
                      <a:endParaRPr lang="zh-CN" altLang="en-US" sz="2000" dirty="0">
                        <a:solidFill>
                          <a:schemeClr val="tx1"/>
                        </a:solidFill>
                        <a:latin typeface="Arial" panose="020B0604020202020204" pitchFamily="34" charset="0"/>
                      </a:endParaRPr>
                    </a:p>
                  </a:txBody>
                  <a:tcPr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eaLnBrk="1" hangingPunct="1">
                        <a:lnSpc>
                          <a:spcPct val="110000"/>
                        </a:lnSpc>
                        <a:buNone/>
                      </a:pPr>
                      <a:endParaRPr lang="zh-CN" altLang="en-US" sz="2000" dirty="0">
                        <a:solidFill>
                          <a:schemeClr val="tx1"/>
                        </a:solidFill>
                        <a:latin typeface="Arial" panose="020B0604020202020204" pitchFamily="34" charset="0"/>
                      </a:endParaRPr>
                    </a:p>
                  </a:txBody>
                  <a:tcPr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lnSpc>
                          <a:spcPct val="110000"/>
                        </a:lnSpc>
                        <a:buNone/>
                      </a:pPr>
                      <a:endParaRPr lang="zh-CN" altLang="en-US" sz="2000" dirty="0">
                        <a:solidFill>
                          <a:schemeClr val="tx1"/>
                        </a:solidFill>
                        <a:latin typeface="Arial" panose="020B0604020202020204" pitchFamily="34" charset="0"/>
                      </a:endParaRPr>
                    </a:p>
                  </a:txBody>
                  <a:tcPr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eaLnBrk="1" hangingPunct="1">
                        <a:lnSpc>
                          <a:spcPct val="110000"/>
                        </a:lnSpc>
                        <a:buNone/>
                      </a:pPr>
                      <a:endParaRPr lang="zh-CN" altLang="en-US" sz="2000" dirty="0">
                        <a:solidFill>
                          <a:schemeClr val="tx1"/>
                        </a:solidFill>
                        <a:latin typeface="Arial" panose="020B0604020202020204" pitchFamily="34" charset="0"/>
                      </a:endParaRPr>
                    </a:p>
                  </a:txBody>
                  <a:tcPr anchor="ctr" anchorCtr="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746760">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lnSpc>
                          <a:spcPct val="110000"/>
                        </a:lnSpc>
                        <a:buNone/>
                      </a:pPr>
                      <a:r>
                        <a:rPr lang="en-US" altLang="zh-CN" sz="2000" dirty="0">
                          <a:solidFill>
                            <a:schemeClr val="tx1"/>
                          </a:solidFill>
                          <a:latin typeface="Arial" panose="020B0604020202020204" pitchFamily="34" charset="0"/>
                        </a:rPr>
                        <a:t>3</a:t>
                      </a:r>
                      <a:endParaRPr lang="en-US" altLang="zh-CN" sz="2000" dirty="0">
                        <a:solidFill>
                          <a:schemeClr val="tx1"/>
                        </a:solidFill>
                        <a:latin typeface="Arial" panose="020B0604020202020204" pitchFamily="34" charset="0"/>
                      </a:endParaRPr>
                    </a:p>
                  </a:txBody>
                  <a:tcPr anchor="ctr" anchorCtr="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eaLnBrk="1" hangingPunct="1">
                        <a:lnSpc>
                          <a:spcPct val="110000"/>
                        </a:lnSpc>
                        <a:buNone/>
                      </a:pPr>
                      <a:endParaRPr lang="zh-CN" altLang="en-US" sz="2000"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endParaRPr>
                    </a:p>
                  </a:txBody>
                  <a:tcPr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eaLnBrk="1" hangingPunct="1">
                        <a:lnSpc>
                          <a:spcPct val="110000"/>
                        </a:lnSpc>
                        <a:buNone/>
                      </a:pPr>
                      <a:endParaRPr lang="zh-CN" altLang="en-US" sz="2000"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endParaRPr>
                    </a:p>
                  </a:txBody>
                  <a:tcPr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lnSpc>
                          <a:spcPct val="110000"/>
                        </a:lnSpc>
                        <a:buNone/>
                      </a:pPr>
                      <a:endParaRPr lang="zh-CN" altLang="en-US" sz="2000" dirty="0">
                        <a:solidFill>
                          <a:schemeClr val="tx1"/>
                        </a:solidFill>
                        <a:latin typeface="Arial" panose="020B0604020202020204" pitchFamily="34" charset="0"/>
                      </a:endParaRPr>
                    </a:p>
                  </a:txBody>
                  <a:tcPr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eaLnBrk="1" hangingPunct="1">
                        <a:lnSpc>
                          <a:spcPct val="110000"/>
                        </a:lnSpc>
                        <a:buNone/>
                      </a:pPr>
                      <a:endParaRPr lang="zh-CN" altLang="en-US" sz="2000"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endParaRPr>
                    </a:p>
                  </a:txBody>
                  <a:tcPr anchor="ctr" anchorCtr="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spTree>
  </p:cSld>
  <p:clrMapOvr>
    <a:masterClrMapping/>
  </p:clrMapOvr>
</p:sld>
</file>

<file path=ppt/tags/tag1.xml><?xml version="1.0" encoding="utf-8"?>
<p:tagLst xmlns:p="http://schemas.openxmlformats.org/presentationml/2006/main">
  <p:tag name="KSO_WM_BEAUTIFY_FLAG" val=""/>
  <p:tag name="TABLE_ENDDRAG_ORIGIN_RECT" val="612*301"/>
  <p:tag name="TABLE_ENDDRAG_RECT" val="174*170*612*301"/>
</p:tagLst>
</file>

<file path=ppt/tags/tag2.xml><?xml version="1.0" encoding="utf-8"?>
<p:tagLst xmlns:p="http://schemas.openxmlformats.org/presentationml/2006/main">
  <p:tag name="TABLE_ENDDRAG_ORIGIN_RECT" val="844*439"/>
  <p:tag name="TABLE_ENDDRAG_RECT" val="61*92*844*439"/>
</p:tagLst>
</file>

<file path=ppt/tags/tag3.xml><?xml version="1.0" encoding="utf-8"?>
<p:tagLst xmlns:p="http://schemas.openxmlformats.org/presentationml/2006/main">
  <p:tag name="TABLE_ENDDRAG_ORIGIN_RECT" val="787*415"/>
  <p:tag name="TABLE_ENDDRAG_RECT" val="75*92*787*415"/>
</p:tagLst>
</file>

<file path=ppt/tags/tag4.xml><?xml version="1.0" encoding="utf-8"?>
<p:tagLst xmlns:p="http://schemas.openxmlformats.org/presentationml/2006/main">
  <p:tag name="TABLE_ENDDRAG_ORIGIN_RECT" val="796*199"/>
  <p:tag name="TABLE_ENDDRAG_RECT" val="49*214*796*199"/>
  <p:tag name="KSO_WM_BEAUTIFY_FLAG" val=""/>
</p:tagLst>
</file>

<file path=ppt/tags/tag5.xml><?xml version="1.0" encoding="utf-8"?>
<p:tagLst xmlns:p="http://schemas.openxmlformats.org/presentationml/2006/main">
  <p:tag name="KSO_WPP_MARK_KEY" val="7bd29f46-b8e6-4582-857c-02eb3b47549f"/>
  <p:tag name="COMMONDATA" val="eyJoZGlkIjoiZDlmYmZlNjU0NDY4OWU0NzAyMDE4YmM1Yjk4MjJkYzAifQ=="/>
  <p:tag name="commondata" val="eyJoZGlkIjoiNGVhMGEzMzFmYzE0NDk3ZTNmMGYzOThhM2NhOTZlNTgifQ=="/>
</p:tagLst>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lang="zh-CN" altLang="en-US" sz="2000"/>
        </a:defPPr>
      </a:lstStyle>
      <a:style>
        <a:lnRef idx="2">
          <a:schemeClr val="accent1">
            <a:lumMod val="75000"/>
          </a:schemeClr>
        </a:lnRef>
        <a:fillRef idx="1">
          <a:schemeClr val="accent1"/>
        </a:fillRef>
        <a:effectRef idx="0">
          <a:srgbClr val="FFFFFF"/>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6107</Words>
  <Application>WPS 演示</Application>
  <PresentationFormat>宽屏</PresentationFormat>
  <Paragraphs>842</Paragraphs>
  <Slides>48</Slides>
  <Notes>0</Notes>
  <HiddenSlides>0</HiddenSlides>
  <MMClips>0</MMClips>
  <ScaleCrop>false</ScaleCrop>
  <HeadingPairs>
    <vt:vector size="8" baseType="variant">
      <vt:variant>
        <vt:lpstr>已用的字体</vt:lpstr>
      </vt:variant>
      <vt:variant>
        <vt:i4>15</vt:i4>
      </vt:variant>
      <vt:variant>
        <vt:lpstr>主题</vt:lpstr>
      </vt:variant>
      <vt:variant>
        <vt:i4>1</vt:i4>
      </vt:variant>
      <vt:variant>
        <vt:lpstr>嵌入 OLE 服务器</vt:lpstr>
      </vt:variant>
      <vt:variant>
        <vt:i4>15</vt:i4>
      </vt:variant>
      <vt:variant>
        <vt:lpstr>幻灯片标题</vt:lpstr>
      </vt:variant>
      <vt:variant>
        <vt:i4>48</vt:i4>
      </vt:variant>
    </vt:vector>
  </HeadingPairs>
  <TitlesOfParts>
    <vt:vector size="79" baseType="lpstr">
      <vt:lpstr>Arial</vt:lpstr>
      <vt:lpstr>宋体</vt:lpstr>
      <vt:lpstr>Wingdings</vt:lpstr>
      <vt:lpstr>Times New Roman</vt:lpstr>
      <vt:lpstr>Arial</vt:lpstr>
      <vt:lpstr>Calibri Light</vt:lpstr>
      <vt:lpstr>Calibri</vt:lpstr>
      <vt:lpstr>微软雅黑</vt:lpstr>
      <vt:lpstr>Arial Unicode MS</vt:lpstr>
      <vt:lpstr>楷体_GB2312</vt:lpstr>
      <vt:lpstr>新宋体</vt:lpstr>
      <vt:lpstr>黑体</vt:lpstr>
      <vt:lpstr>Times New Roman</vt:lpstr>
      <vt:lpstr>Tahoma</vt:lpstr>
      <vt:lpstr>华文新魏</vt:lpstr>
      <vt:lpstr>Office 主题</vt:lpstr>
      <vt:lpstr>Visio.Drawing.11</vt:lpstr>
      <vt:lpstr>Visio.Drawing.6</vt:lpstr>
      <vt:lpstr>Visio.Drawing.11</vt:lpstr>
      <vt:lpstr>Visio.Drawing.11</vt:lpstr>
      <vt:lpstr>Visio.Drawing.6</vt:lpstr>
      <vt:lpstr>Visio.Drawing.6</vt:lpstr>
      <vt:lpstr>Visio.Drawing.6</vt:lpstr>
      <vt:lpstr>Visio.Drawing.11</vt:lpstr>
      <vt:lpstr>Visio.Drawing.11</vt:lpstr>
      <vt:lpstr>Visio.Drawing.6</vt:lpstr>
      <vt:lpstr>Visio.Drawing.6</vt:lpstr>
      <vt:lpstr>Visio.Drawing.6</vt:lpstr>
      <vt:lpstr>Visio.Drawing.6</vt:lpstr>
      <vt:lpstr>Visio.Drawing.6</vt:lpstr>
      <vt:lpstr>Visio.Drawing.6</vt:lpstr>
      <vt:lpstr>第4章 软件可靠性分析</vt:lpstr>
      <vt:lpstr>内容</vt:lpstr>
      <vt:lpstr>引言</vt:lpstr>
      <vt:lpstr>引言</vt:lpstr>
      <vt:lpstr>4.1 软件失效模式和影响分析（SFMEA）</vt:lpstr>
      <vt:lpstr>4.1 软件失效模式和影响分析（SFMEA）</vt:lpstr>
      <vt:lpstr>IEEE软件异常分类</vt:lpstr>
      <vt:lpstr>4.1 软件失效模式和影响分析（SFMEA）</vt:lpstr>
      <vt:lpstr>4.1 软件失效模式和影响分析（SFMEA）</vt:lpstr>
      <vt:lpstr>4.1 软件失效模式和影响分析（SFMEA）</vt:lpstr>
      <vt:lpstr>4.1 软件失效模式和影响分析（SFMEA）</vt:lpstr>
      <vt:lpstr>4.1 软件失效模式和影响分析（SFMEA）</vt:lpstr>
      <vt:lpstr>4.1 软件失效模式和影响分析（SFMEA）</vt:lpstr>
      <vt:lpstr>4.1 软件失效模式和影响分析（SFMEA）</vt:lpstr>
      <vt:lpstr>4.1 软件失效模式和影响分析（SFMEA）</vt:lpstr>
      <vt:lpstr>4.1 软件失效模式和影响分析（SFMEA）</vt:lpstr>
      <vt:lpstr>4.1 软件失效模式和影响分析（SFMEA）</vt:lpstr>
      <vt:lpstr>4.1 软件失效模式和影响分析（SFMEA）</vt:lpstr>
      <vt:lpstr>4.1 软件失效模式和影响分析（SFMEA）</vt:lpstr>
      <vt:lpstr>4.1 软件失效模式和影响分析（SFMEA）</vt:lpstr>
      <vt:lpstr>SFMEA工作表格 </vt:lpstr>
      <vt:lpstr>SFMEA实例 （1/5）</vt:lpstr>
      <vt:lpstr>SFMEA实例 （1/5）</vt:lpstr>
      <vt:lpstr>SFMEA实例 （1/5）</vt:lpstr>
      <vt:lpstr>SFMEA实例 （1/5）</vt:lpstr>
      <vt:lpstr>SFMEA实例 （1/5）</vt:lpstr>
      <vt:lpstr>SFMEA实例 （1/5）</vt:lpstr>
      <vt:lpstr>SFMEA实例 （3/5）</vt:lpstr>
      <vt:lpstr>SFMEA实例（4/5）</vt:lpstr>
      <vt:lpstr>SFMEA实例 （5/5）</vt:lpstr>
      <vt:lpstr>详细级SFMEA步骤</vt:lpstr>
      <vt:lpstr>4.1 软件失效模式和影响分析（SFMEA）</vt:lpstr>
      <vt:lpstr>4.1 软件失效模式和影响分析（SFMEA）</vt:lpstr>
      <vt:lpstr>4.2 软件故障树分析（SFTA）</vt:lpstr>
      <vt:lpstr>4.2 软件故障树分析（SFTA）</vt:lpstr>
      <vt:lpstr>4.2 软件故障树分析（SFTA）</vt:lpstr>
      <vt:lpstr>故障树符号(部分)</vt:lpstr>
      <vt:lpstr>PowerPoint 演示文稿</vt:lpstr>
      <vt:lpstr>PowerPoint 演示文稿</vt:lpstr>
      <vt:lpstr>软件故障树定性分析</vt:lpstr>
      <vt:lpstr>软件故障树定性分析</vt:lpstr>
      <vt:lpstr>PowerPoint 演示文稿</vt:lpstr>
      <vt:lpstr>下行法</vt:lpstr>
      <vt:lpstr>上行法</vt:lpstr>
      <vt:lpstr>软件故障树定量分析</vt:lpstr>
      <vt:lpstr>SFMEA与SFTA的区别与联系</vt:lpstr>
      <vt:lpstr>本章作业（课堂完成）</vt:lpstr>
      <vt:lpstr>本章作业</vt:lpstr>
    </vt:vector>
  </TitlesOfParts>
  <Company>Microsoft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第1章 软件分析概要</dc:title>
  <dc:creator>Microsoft</dc:creator>
  <cp:lastModifiedBy>董玉坤</cp:lastModifiedBy>
  <cp:revision>164</cp:revision>
  <dcterms:created xsi:type="dcterms:W3CDTF">2022-08-08T01:51:00Z</dcterms:created>
  <dcterms:modified xsi:type="dcterms:W3CDTF">2024-11-02T02:15:02Z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E9266E9539684B88B8E38D15771F6DA7_12</vt:lpwstr>
  </property>
  <property fmtid="{D5CDD505-2E9C-101B-9397-08002B2CF9AE}" pid="3" name="KSOProductBuildVer">
    <vt:lpwstr>2052-12.1.0.18608</vt:lpwstr>
  </property>
</Properties>
</file>