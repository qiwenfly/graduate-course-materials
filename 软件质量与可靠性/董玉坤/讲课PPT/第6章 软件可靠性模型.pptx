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3"/>
    <p:sldId id="257" r:id="rId4"/>
    <p:sldId id="812" r:id="rId5"/>
    <p:sldId id="914" r:id="rId6"/>
    <p:sldId id="915" r:id="rId7"/>
    <p:sldId id="704" r:id="rId8"/>
    <p:sldId id="705" r:id="rId9"/>
    <p:sldId id="916" r:id="rId10"/>
    <p:sldId id="706" r:id="rId11"/>
    <p:sldId id="707" r:id="rId12"/>
    <p:sldId id="708" r:id="rId13"/>
    <p:sldId id="709" r:id="rId14"/>
    <p:sldId id="867" r:id="rId15"/>
    <p:sldId id="710" r:id="rId16"/>
    <p:sldId id="711" r:id="rId17"/>
    <p:sldId id="712" r:id="rId18"/>
    <p:sldId id="713" r:id="rId19"/>
    <p:sldId id="770" r:id="rId20"/>
    <p:sldId id="714" r:id="rId21"/>
    <p:sldId id="715" r:id="rId22"/>
    <p:sldId id="716" r:id="rId23"/>
    <p:sldId id="717" r:id="rId24"/>
    <p:sldId id="718" r:id="rId25"/>
    <p:sldId id="719" r:id="rId26"/>
    <p:sldId id="813" r:id="rId27"/>
    <p:sldId id="720" r:id="rId28"/>
    <p:sldId id="675" r:id="rId29"/>
    <p:sldId id="814" r:id="rId30"/>
    <p:sldId id="815" r:id="rId31"/>
    <p:sldId id="722" r:id="rId32"/>
    <p:sldId id="723" r:id="rId33"/>
    <p:sldId id="724" r:id="rId34"/>
    <p:sldId id="725" r:id="rId35"/>
    <p:sldId id="726" r:id="rId36"/>
    <p:sldId id="816" r:id="rId37"/>
    <p:sldId id="817" r:id="rId38"/>
    <p:sldId id="818" r:id="rId39"/>
    <p:sldId id="819" r:id="rId40"/>
    <p:sldId id="820" r:id="rId41"/>
    <p:sldId id="821" r:id="rId42"/>
    <p:sldId id="822" r:id="rId43"/>
    <p:sldId id="823" r:id="rId44"/>
    <p:sldId id="727" r:id="rId45"/>
    <p:sldId id="824" r:id="rId46"/>
    <p:sldId id="825" r:id="rId47"/>
    <p:sldId id="826" r:id="rId48"/>
    <p:sldId id="827" r:id="rId49"/>
    <p:sldId id="828" r:id="rId50"/>
    <p:sldId id="829" r:id="rId51"/>
    <p:sldId id="760" r:id="rId52"/>
    <p:sldId id="761" r:id="rId53"/>
    <p:sldId id="762" r:id="rId54"/>
    <p:sldId id="763" r:id="rId55"/>
    <p:sldId id="764" r:id="rId56"/>
    <p:sldId id="765" r:id="rId57"/>
    <p:sldId id="766" r:id="rId58"/>
    <p:sldId id="767" r:id="rId59"/>
    <p:sldId id="768" r:id="rId60"/>
    <p:sldId id="769" r:id="rId61"/>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6" Type="http://schemas.openxmlformats.org/officeDocument/2006/relationships/tags" Target="tags/tag216.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notesMaster" Target="notesMasters/notesMaster1.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38605"/>
            <a:ext cx="10515600" cy="4638675"/>
          </a:xfrm>
        </p:spPr>
        <p:txBody>
          <a:bodyPr/>
          <a:lstStyle>
            <a:lvl1pPr eaLnBrk="1" fontAlgn="auto" latinLnBrk="0" hangingPunct="1">
              <a:lnSpc>
                <a:spcPct val="130000"/>
              </a:lnSpc>
              <a:defRPr/>
            </a:lvl1pPr>
            <a:lvl2pPr eaLnBrk="1" fontAlgn="auto" latinLnBrk="0" hangingPunct="1">
              <a:lnSpc>
                <a:spcPct val="130000"/>
              </a:lnSpc>
              <a:defRPr/>
            </a:lvl2pPr>
            <a:lvl3pPr eaLnBrk="1" fontAlgn="auto" latinLnBrk="0" hangingPunct="1">
              <a:lnSpc>
                <a:spcPct val="130000"/>
              </a:lnSpc>
              <a:defRPr/>
            </a:lvl3pPr>
            <a:lvl4pPr eaLnBrk="1" fontAlgn="auto" latinLnBrk="0" hangingPunct="1">
              <a:lnSpc>
                <a:spcPct val="130000"/>
              </a:lnSpc>
              <a:defRPr/>
            </a:lvl4pPr>
            <a:lvl5pPr eaLnBrk="1" fontAlgn="auto" latinLnBrk="0" hangingPunct="1">
              <a:lnSpc>
                <a:spcPct val="130000"/>
              </a:lnSpc>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smtClean="0"/>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1"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1"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72201"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fld id="{BB962C8B-B14F-4D97-AF65-F5344CB8AC3E}" type="datetime1">
              <a:rPr lang="ja-JP" altLang="en-US" dirty="0"/>
            </a:fld>
            <a:endParaRPr lang="ja-JP" altLang="en-US" dirty="0"/>
          </a:p>
        </p:txBody>
      </p:sp>
      <p:sp>
        <p:nvSpPr>
          <p:cNvPr id="7" name="页脚占位符 6"/>
          <p:cNvSpPr>
            <a:spLocks noGrp="1"/>
          </p:cNvSpPr>
          <p:nvPr>
            <p:ph type="ftr" sz="quarter" idx="11"/>
          </p:nvPr>
        </p:nvSpPr>
        <p:spPr/>
        <p:txBody>
          <a:bodyPr/>
          <a:lstStyle/>
          <a:p>
            <a:pPr lvl="0" eaLnBrk="1" hangingPunct="1"/>
            <a:endParaRPr lang="zh-CN" altLang="en-US" dirty="0"/>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transition>
    <p:blinds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1"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1"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fld id="{BB962C8B-B14F-4D97-AF65-F5344CB8AC3E}" type="datetime1">
              <a:rPr lang="ja-JP" altLang="en-US" dirty="0"/>
            </a:fld>
            <a:endParaRPr lang="ja-JP" altLang="en-US" dirty="0"/>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D90DF-7CA0-4224-96EF-983A14E1413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tags" Target="../tags/tag2.xml"/><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9" Type="http://schemas.openxmlformats.org/officeDocument/2006/relationships/image" Target="../media/image6.wmf"/><Relationship Id="rId8" Type="http://schemas.openxmlformats.org/officeDocument/2006/relationships/oleObject" Target="../embeddings/oleObject5.bin"/><Relationship Id="rId7" Type="http://schemas.openxmlformats.org/officeDocument/2006/relationships/tags" Target="../tags/tag5.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tags" Target="../tags/tag4.xml"/><Relationship Id="rId3" Type="http://schemas.openxmlformats.org/officeDocument/2006/relationships/image" Target="../media/image4.wmf"/><Relationship Id="rId2" Type="http://schemas.openxmlformats.org/officeDocument/2006/relationships/oleObject" Target="../embeddings/oleObject3.bin"/><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image" Target="../media/image4.wmf"/><Relationship Id="rId6" Type="http://schemas.openxmlformats.org/officeDocument/2006/relationships/oleObject" Target="../embeddings/oleObject6.bin"/><Relationship Id="rId5" Type="http://schemas.openxmlformats.org/officeDocument/2006/relationships/tags" Target="../tags/tag6.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2" Type="http://schemas.openxmlformats.org/officeDocument/2006/relationships/slideLayout" Target="../slideLayouts/slideLayout2.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4" Type="http://schemas.openxmlformats.org/officeDocument/2006/relationships/slideLayout" Target="../slideLayouts/slideLayout2.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4" Type="http://schemas.openxmlformats.org/officeDocument/2006/relationships/slideLayout" Target="../slideLayouts/slideLayout2.xml"/><Relationship Id="rId33" Type="http://schemas.openxmlformats.org/officeDocument/2006/relationships/tags" Target="../tags/tag66.xml"/><Relationship Id="rId32" Type="http://schemas.openxmlformats.org/officeDocument/2006/relationships/tags" Target="../tags/tag65.xml"/><Relationship Id="rId31" Type="http://schemas.openxmlformats.org/officeDocument/2006/relationships/tags" Target="../tags/tag64.xml"/><Relationship Id="rId30" Type="http://schemas.openxmlformats.org/officeDocument/2006/relationships/tags" Target="../tags/tag63.xml"/><Relationship Id="rId3" Type="http://schemas.openxmlformats.org/officeDocument/2006/relationships/tags" Target="../tags/tag36.xml"/><Relationship Id="rId29" Type="http://schemas.openxmlformats.org/officeDocument/2006/relationships/tags" Target="../tags/tag62.xml"/><Relationship Id="rId28" Type="http://schemas.openxmlformats.org/officeDocument/2006/relationships/tags" Target="../tags/tag61.xml"/><Relationship Id="rId27" Type="http://schemas.openxmlformats.org/officeDocument/2006/relationships/tags" Target="../tags/tag60.xml"/><Relationship Id="rId26" Type="http://schemas.openxmlformats.org/officeDocument/2006/relationships/tags" Target="../tags/tag59.xml"/><Relationship Id="rId25" Type="http://schemas.openxmlformats.org/officeDocument/2006/relationships/tags" Target="../tags/tag58.xml"/><Relationship Id="rId24" Type="http://schemas.openxmlformats.org/officeDocument/2006/relationships/tags" Target="../tags/tag57.xml"/><Relationship Id="rId23" Type="http://schemas.openxmlformats.org/officeDocument/2006/relationships/tags" Target="../tags/tag56.xml"/><Relationship Id="rId22" Type="http://schemas.openxmlformats.org/officeDocument/2006/relationships/tags" Target="../tags/tag55.xml"/><Relationship Id="rId21" Type="http://schemas.openxmlformats.org/officeDocument/2006/relationships/tags" Target="../tags/tag54.xml"/><Relationship Id="rId20" Type="http://schemas.openxmlformats.org/officeDocument/2006/relationships/tags" Target="../tags/tag53.xml"/><Relationship Id="rId2" Type="http://schemas.openxmlformats.org/officeDocument/2006/relationships/tags" Target="../tags/tag35.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6" Type="http://schemas.openxmlformats.org/officeDocument/2006/relationships/slideLayout" Target="../slideLayouts/slideLayout2.xml"/><Relationship Id="rId55" Type="http://schemas.openxmlformats.org/officeDocument/2006/relationships/tags" Target="../tags/tag121.xml"/><Relationship Id="rId54" Type="http://schemas.openxmlformats.org/officeDocument/2006/relationships/tags" Target="../tags/tag120.xml"/><Relationship Id="rId53" Type="http://schemas.openxmlformats.org/officeDocument/2006/relationships/tags" Target="../tags/tag119.xml"/><Relationship Id="rId52" Type="http://schemas.openxmlformats.org/officeDocument/2006/relationships/tags" Target="../tags/tag118.xml"/><Relationship Id="rId51" Type="http://schemas.openxmlformats.org/officeDocument/2006/relationships/tags" Target="../tags/tag117.xml"/><Relationship Id="rId50" Type="http://schemas.openxmlformats.org/officeDocument/2006/relationships/tags" Target="../tags/tag116.xml"/><Relationship Id="rId5" Type="http://schemas.openxmlformats.org/officeDocument/2006/relationships/tags" Target="../tags/tag71.xml"/><Relationship Id="rId49" Type="http://schemas.openxmlformats.org/officeDocument/2006/relationships/tags" Target="../tags/tag115.xml"/><Relationship Id="rId48" Type="http://schemas.openxmlformats.org/officeDocument/2006/relationships/tags" Target="../tags/tag114.xml"/><Relationship Id="rId47" Type="http://schemas.openxmlformats.org/officeDocument/2006/relationships/tags" Target="../tags/tag113.xml"/><Relationship Id="rId46" Type="http://schemas.openxmlformats.org/officeDocument/2006/relationships/tags" Target="../tags/tag112.xml"/><Relationship Id="rId45" Type="http://schemas.openxmlformats.org/officeDocument/2006/relationships/tags" Target="../tags/tag111.xml"/><Relationship Id="rId44" Type="http://schemas.openxmlformats.org/officeDocument/2006/relationships/tags" Target="../tags/tag110.xml"/><Relationship Id="rId43" Type="http://schemas.openxmlformats.org/officeDocument/2006/relationships/tags" Target="../tags/tag109.xml"/><Relationship Id="rId42" Type="http://schemas.openxmlformats.org/officeDocument/2006/relationships/tags" Target="../tags/tag108.xml"/><Relationship Id="rId41" Type="http://schemas.openxmlformats.org/officeDocument/2006/relationships/tags" Target="../tags/tag107.xml"/><Relationship Id="rId40" Type="http://schemas.openxmlformats.org/officeDocument/2006/relationships/tags" Target="../tags/tag106.xml"/><Relationship Id="rId4" Type="http://schemas.openxmlformats.org/officeDocument/2006/relationships/tags" Target="../tags/tag70.xml"/><Relationship Id="rId39" Type="http://schemas.openxmlformats.org/officeDocument/2006/relationships/tags" Target="../tags/tag105.xml"/><Relationship Id="rId38" Type="http://schemas.openxmlformats.org/officeDocument/2006/relationships/tags" Target="../tags/tag104.xml"/><Relationship Id="rId37" Type="http://schemas.openxmlformats.org/officeDocument/2006/relationships/tags" Target="../tags/tag103.xml"/><Relationship Id="rId36" Type="http://schemas.openxmlformats.org/officeDocument/2006/relationships/tags" Target="../tags/tag102.xml"/><Relationship Id="rId35" Type="http://schemas.openxmlformats.org/officeDocument/2006/relationships/tags" Target="../tags/tag101.xml"/><Relationship Id="rId34" Type="http://schemas.openxmlformats.org/officeDocument/2006/relationships/tags" Target="../tags/tag100.xml"/><Relationship Id="rId33" Type="http://schemas.openxmlformats.org/officeDocument/2006/relationships/tags" Target="../tags/tag99.xml"/><Relationship Id="rId32" Type="http://schemas.openxmlformats.org/officeDocument/2006/relationships/tags" Target="../tags/tag98.xml"/><Relationship Id="rId31" Type="http://schemas.openxmlformats.org/officeDocument/2006/relationships/tags" Target="../tags/tag97.xml"/><Relationship Id="rId30" Type="http://schemas.openxmlformats.org/officeDocument/2006/relationships/tags" Target="../tags/tag96.xml"/><Relationship Id="rId3" Type="http://schemas.openxmlformats.org/officeDocument/2006/relationships/tags" Target="../tags/tag69.xml"/><Relationship Id="rId29" Type="http://schemas.openxmlformats.org/officeDocument/2006/relationships/tags" Target="../tags/tag95.xml"/><Relationship Id="rId28" Type="http://schemas.openxmlformats.org/officeDocument/2006/relationships/tags" Target="../tags/tag94.xml"/><Relationship Id="rId27" Type="http://schemas.openxmlformats.org/officeDocument/2006/relationships/tags" Target="../tags/tag93.xml"/><Relationship Id="rId26" Type="http://schemas.openxmlformats.org/officeDocument/2006/relationships/tags" Target="../tags/tag92.xml"/><Relationship Id="rId25" Type="http://schemas.openxmlformats.org/officeDocument/2006/relationships/tags" Target="../tags/tag91.xml"/><Relationship Id="rId24" Type="http://schemas.openxmlformats.org/officeDocument/2006/relationships/tags" Target="../tags/tag90.xml"/><Relationship Id="rId23" Type="http://schemas.openxmlformats.org/officeDocument/2006/relationships/tags" Target="../tags/tag89.xml"/><Relationship Id="rId22" Type="http://schemas.openxmlformats.org/officeDocument/2006/relationships/tags" Target="../tags/tag88.xml"/><Relationship Id="rId21" Type="http://schemas.openxmlformats.org/officeDocument/2006/relationships/tags" Target="../tags/tag87.xml"/><Relationship Id="rId20" Type="http://schemas.openxmlformats.org/officeDocument/2006/relationships/tags" Target="../tags/tag86.xml"/><Relationship Id="rId2" Type="http://schemas.openxmlformats.org/officeDocument/2006/relationships/tags" Target="../tags/tag68.xml"/><Relationship Id="rId19" Type="http://schemas.openxmlformats.org/officeDocument/2006/relationships/tags" Target="../tags/tag85.xml"/><Relationship Id="rId18" Type="http://schemas.openxmlformats.org/officeDocument/2006/relationships/tags" Target="../tags/tag84.xml"/><Relationship Id="rId17" Type="http://schemas.openxmlformats.org/officeDocument/2006/relationships/tags" Target="../tags/tag83.xml"/><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5.wmf"/><Relationship Id="rId2" Type="http://schemas.openxmlformats.org/officeDocument/2006/relationships/oleObject" Target="../embeddings/oleObject10.bin"/><Relationship Id="rId1" Type="http://schemas.openxmlformats.org/officeDocument/2006/relationships/tags" Target="../tags/tag130.xml"/></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2.bin"/><Relationship Id="rId4" Type="http://schemas.openxmlformats.org/officeDocument/2006/relationships/tags" Target="../tags/tag132.xml"/><Relationship Id="rId3" Type="http://schemas.openxmlformats.org/officeDocument/2006/relationships/image" Target="../media/image15.wmf"/><Relationship Id="rId2" Type="http://schemas.openxmlformats.org/officeDocument/2006/relationships/oleObject" Target="../embeddings/oleObject11.bin"/><Relationship Id="rId1" Type="http://schemas.openxmlformats.org/officeDocument/2006/relationships/tags" Target="../tags/tag13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3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3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tags" Target="../tags/tag135.xml"/></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18.wmf"/><Relationship Id="rId2" Type="http://schemas.openxmlformats.org/officeDocument/2006/relationships/oleObject" Target="../embeddings/oleObject13.bin"/><Relationship Id="rId1" Type="http://schemas.openxmlformats.org/officeDocument/2006/relationships/tags" Target="../tags/tag137.xml"/></Relationships>
</file>

<file path=ppt/slides/_rels/slide32.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1" Type="http://schemas.openxmlformats.org/officeDocument/2006/relationships/vmlDrawing" Target="../drawings/vmlDrawing10.vml"/><Relationship Id="rId20" Type="http://schemas.openxmlformats.org/officeDocument/2006/relationships/slideLayout" Target="../slideLayouts/slideLayout2.xml"/><Relationship Id="rId2" Type="http://schemas.openxmlformats.org/officeDocument/2006/relationships/tags" Target="../tags/tag139.xml"/><Relationship Id="rId19" Type="http://schemas.openxmlformats.org/officeDocument/2006/relationships/image" Target="../media/image20.wmf"/><Relationship Id="rId18" Type="http://schemas.openxmlformats.org/officeDocument/2006/relationships/oleObject" Target="../embeddings/oleObject15.bin"/><Relationship Id="rId17" Type="http://schemas.openxmlformats.org/officeDocument/2006/relationships/tags" Target="../tags/tag152.xml"/><Relationship Id="rId16" Type="http://schemas.openxmlformats.org/officeDocument/2006/relationships/image" Target="../media/image19.wmf"/><Relationship Id="rId15" Type="http://schemas.openxmlformats.org/officeDocument/2006/relationships/oleObject" Target="../embeddings/oleObject14.bin"/><Relationship Id="rId14" Type="http://schemas.openxmlformats.org/officeDocument/2006/relationships/tags" Target="../tags/tag151.xml"/><Relationship Id="rId13" Type="http://schemas.openxmlformats.org/officeDocument/2006/relationships/tags" Target="../tags/tag150.xml"/><Relationship Id="rId12" Type="http://schemas.openxmlformats.org/officeDocument/2006/relationships/tags" Target="../tags/tag14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tags" Target="../tags/tag138.xml"/></Relationships>
</file>

<file path=ppt/slides/_rels/slide33.x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oleObject" Target="../embeddings/oleObject18.bin"/><Relationship Id="rId7" Type="http://schemas.openxmlformats.org/officeDocument/2006/relationships/tags" Target="../tags/tag155.x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tags" Target="../tags/tag154.xml"/><Relationship Id="rId3" Type="http://schemas.openxmlformats.org/officeDocument/2006/relationships/image" Target="../media/image21.wmf"/><Relationship Id="rId2" Type="http://schemas.openxmlformats.org/officeDocument/2006/relationships/oleObject" Target="../embeddings/oleObject16.bin"/><Relationship Id="rId11" Type="http://schemas.openxmlformats.org/officeDocument/2006/relationships/vmlDrawing" Target="../drawings/vmlDrawing11.vml"/><Relationship Id="rId10" Type="http://schemas.openxmlformats.org/officeDocument/2006/relationships/slideLayout" Target="../slideLayouts/slideLayout2.xml"/><Relationship Id="rId1" Type="http://schemas.openxmlformats.org/officeDocument/2006/relationships/tags" Target="../tags/tag153.xml"/></Relationships>
</file>

<file path=ppt/slides/_rels/slide34.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21.bin"/><Relationship Id="rId7" Type="http://schemas.openxmlformats.org/officeDocument/2006/relationships/tags" Target="../tags/tag158.xml"/><Relationship Id="rId6" Type="http://schemas.openxmlformats.org/officeDocument/2006/relationships/image" Target="../media/image25.wmf"/><Relationship Id="rId5" Type="http://schemas.openxmlformats.org/officeDocument/2006/relationships/oleObject" Target="../embeddings/oleObject20.bin"/><Relationship Id="rId4" Type="http://schemas.openxmlformats.org/officeDocument/2006/relationships/tags" Target="../tags/tag157.xml"/><Relationship Id="rId3" Type="http://schemas.openxmlformats.org/officeDocument/2006/relationships/image" Target="../media/image24.wmf"/><Relationship Id="rId2" Type="http://schemas.openxmlformats.org/officeDocument/2006/relationships/oleObject" Target="../embeddings/oleObject19.bin"/><Relationship Id="rId11" Type="http://schemas.openxmlformats.org/officeDocument/2006/relationships/vmlDrawing" Target="../drawings/vmlDrawing12.vml"/><Relationship Id="rId10" Type="http://schemas.openxmlformats.org/officeDocument/2006/relationships/slideLayout" Target="../slideLayouts/slideLayout2.xml"/><Relationship Id="rId1" Type="http://schemas.openxmlformats.org/officeDocument/2006/relationships/tags" Target="../tags/tag15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159.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tags" Target="../tags/tag160.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tags" Target="../tags/tag16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tags" Target="../tags/tag16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tags" Target="../tags/tag16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5" Type="http://schemas.openxmlformats.org/officeDocument/2006/relationships/slideLayout" Target="../slideLayouts/slideLayout2.xml"/><Relationship Id="rId34" Type="http://schemas.openxmlformats.org/officeDocument/2006/relationships/tags" Target="../tags/tag199.xml"/><Relationship Id="rId33" Type="http://schemas.openxmlformats.org/officeDocument/2006/relationships/tags" Target="../tags/tag198.xml"/><Relationship Id="rId32" Type="http://schemas.openxmlformats.org/officeDocument/2006/relationships/tags" Target="../tags/tag197.xml"/><Relationship Id="rId31" Type="http://schemas.openxmlformats.org/officeDocument/2006/relationships/tags" Target="../tags/tag196.xml"/><Relationship Id="rId30" Type="http://schemas.openxmlformats.org/officeDocument/2006/relationships/tags" Target="../tags/tag195.xml"/><Relationship Id="rId3" Type="http://schemas.openxmlformats.org/officeDocument/2006/relationships/tags" Target="../tags/tag168.xml"/><Relationship Id="rId29" Type="http://schemas.openxmlformats.org/officeDocument/2006/relationships/tags" Target="../tags/tag194.xml"/><Relationship Id="rId28" Type="http://schemas.openxmlformats.org/officeDocument/2006/relationships/tags" Target="../tags/tag193.xml"/><Relationship Id="rId27" Type="http://schemas.openxmlformats.org/officeDocument/2006/relationships/tags" Target="../tags/tag192.xml"/><Relationship Id="rId26" Type="http://schemas.openxmlformats.org/officeDocument/2006/relationships/tags" Target="../tags/tag191.xml"/><Relationship Id="rId25" Type="http://schemas.openxmlformats.org/officeDocument/2006/relationships/tags" Target="../tags/tag190.xml"/><Relationship Id="rId24" Type="http://schemas.openxmlformats.org/officeDocument/2006/relationships/tags" Target="../tags/tag189.xml"/><Relationship Id="rId23" Type="http://schemas.openxmlformats.org/officeDocument/2006/relationships/tags" Target="../tags/tag188.xml"/><Relationship Id="rId22" Type="http://schemas.openxmlformats.org/officeDocument/2006/relationships/tags" Target="../tags/tag187.xml"/><Relationship Id="rId21" Type="http://schemas.openxmlformats.org/officeDocument/2006/relationships/tags" Target="../tags/tag186.xml"/><Relationship Id="rId20" Type="http://schemas.openxmlformats.org/officeDocument/2006/relationships/tags" Target="../tags/tag185.xml"/><Relationship Id="rId2" Type="http://schemas.openxmlformats.org/officeDocument/2006/relationships/tags" Target="../tags/tag167.xml"/><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tags" Target="../tags/tag179.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tags" Target="../tags/tag16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2.xml"/><Relationship Id="rId7" Type="http://schemas.openxmlformats.org/officeDocument/2006/relationships/image" Target="../media/image35.wmf"/><Relationship Id="rId6" Type="http://schemas.openxmlformats.org/officeDocument/2006/relationships/oleObject" Target="../embeddings/oleObject23.bin"/><Relationship Id="rId5" Type="http://schemas.openxmlformats.org/officeDocument/2006/relationships/tags" Target="../tags/tag202.xml"/><Relationship Id="rId4" Type="http://schemas.openxmlformats.org/officeDocument/2006/relationships/image" Target="../media/image34.wmf"/><Relationship Id="rId3" Type="http://schemas.openxmlformats.org/officeDocument/2006/relationships/oleObject" Target="../embeddings/oleObject22.bin"/><Relationship Id="rId2" Type="http://schemas.openxmlformats.org/officeDocument/2006/relationships/tags" Target="../tags/tag201.xml"/><Relationship Id="rId1" Type="http://schemas.openxmlformats.org/officeDocument/2006/relationships/tags" Target="../tags/tag200.xml"/></Relationships>
</file>

<file path=ppt/slides/_rels/slide58.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4" Type="http://schemas.openxmlformats.org/officeDocument/2006/relationships/slideLayout" Target="../slideLayouts/slideLayout2.xml"/><Relationship Id="rId13" Type="http://schemas.openxmlformats.org/officeDocument/2006/relationships/tags" Target="../tags/tag215.xml"/><Relationship Id="rId12" Type="http://schemas.openxmlformats.org/officeDocument/2006/relationships/tags" Target="../tags/tag214.xml"/><Relationship Id="rId11" Type="http://schemas.openxmlformats.org/officeDocument/2006/relationships/tags" Target="../tags/tag213.xml"/><Relationship Id="rId10" Type="http://schemas.openxmlformats.org/officeDocument/2006/relationships/tags" Target="../tags/tag212.xml"/><Relationship Id="rId1" Type="http://schemas.openxmlformats.org/officeDocument/2006/relationships/tags" Target="../tags/tag20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6</a:t>
            </a:r>
            <a:r>
              <a:rPr lang="zh-CN" altLang="en-US" dirty="0" smtClean="0"/>
              <a:t>章 软件可靠性</a:t>
            </a:r>
            <a:r>
              <a:rPr lang="zh-CN" altLang="en-US" dirty="0" smtClean="0"/>
              <a:t>模型</a:t>
            </a:r>
            <a:endParaRPr lang="zh-CN" altLang="en-US" dirty="0" smtClean="0"/>
          </a:p>
        </p:txBody>
      </p:sp>
      <p:sp>
        <p:nvSpPr>
          <p:cNvPr id="3" name="副标题 2"/>
          <p:cNvSpPr>
            <a:spLocks noGrp="1"/>
          </p:cNvSpPr>
          <p:nvPr>
            <p:ph type="subTitle" idx="1"/>
          </p:nvPr>
        </p:nvSpPr>
        <p:spPr>
          <a:xfrm>
            <a:off x="2667000" y="3934558"/>
            <a:ext cx="6858000" cy="866042"/>
          </a:xfrm>
        </p:spPr>
        <p:txBody>
          <a:bodyPr>
            <a:normAutofit lnSpcReduction="10000"/>
          </a:bodyPr>
          <a:lstStyle/>
          <a:p>
            <a:r>
              <a:rPr lang="zh-CN" altLang="en-US" dirty="0" smtClean="0"/>
              <a:t>中国石油大学（华东）</a:t>
            </a:r>
            <a:endParaRPr lang="zh-CN" altLang="en-US" dirty="0" smtClean="0"/>
          </a:p>
          <a:p>
            <a:r>
              <a:rPr lang="zh-CN" altLang="en-US" dirty="0"/>
              <a:t>青岛软件学院、计算机科学与技术</a:t>
            </a:r>
            <a:r>
              <a:rPr lang="zh-CN" altLang="en-US" dirty="0"/>
              <a:t>学院</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C00000"/>
                </a:solidFill>
              </a:rPr>
              <a:t>内容</a:t>
            </a:r>
            <a:endParaRPr lang="zh-CN" altLang="en-US" dirty="0" smtClean="0">
              <a:solidFill>
                <a:srgbClr val="C00000"/>
              </a:solidFill>
            </a:endParaRPr>
          </a:p>
        </p:txBody>
      </p:sp>
      <p:sp>
        <p:nvSpPr>
          <p:cNvPr id="3" name="内容占位符 2"/>
          <p:cNvSpPr>
            <a:spLocks noGrp="1"/>
          </p:cNvSpPr>
          <p:nvPr>
            <p:ph idx="1"/>
          </p:nvPr>
        </p:nvSpPr>
        <p:spPr/>
        <p:txBody>
          <a:bodyPr>
            <a:normAutofit lnSpcReduction="10000"/>
          </a:bodyPr>
          <a:lstStyle/>
          <a:p>
            <a:r>
              <a:rPr lang="en-US" altLang="zh-CN" dirty="0" smtClean="0"/>
              <a:t>1</a:t>
            </a:r>
            <a:r>
              <a:rPr lang="en-US" altLang="zh-CN" dirty="0"/>
              <a:t>. </a:t>
            </a:r>
            <a:r>
              <a:rPr lang="zh-CN" altLang="en-US" dirty="0"/>
              <a:t>软件可靠性度量</a:t>
            </a:r>
            <a:endParaRPr lang="zh-CN" altLang="en-US" dirty="0"/>
          </a:p>
          <a:p>
            <a:r>
              <a:rPr lang="en-US" altLang="zh-CN" dirty="0"/>
              <a:t>2. </a:t>
            </a:r>
            <a:r>
              <a:rPr lang="zh-CN" altLang="en-US" dirty="0"/>
              <a:t>软件可靠性</a:t>
            </a:r>
            <a:r>
              <a:rPr lang="zh-CN" altLang="en-US" dirty="0">
                <a:sym typeface="+mn-ea"/>
              </a:rPr>
              <a:t>数据收集过程</a:t>
            </a:r>
            <a:endParaRPr lang="zh-CN" altLang="en-US" dirty="0">
              <a:sym typeface="+mn-ea"/>
            </a:endParaRPr>
          </a:p>
          <a:p>
            <a:r>
              <a:rPr lang="en-US" altLang="zh-CN" dirty="0">
                <a:sym typeface="+mn-ea"/>
              </a:rPr>
              <a:t>3. </a:t>
            </a:r>
            <a:r>
              <a:rPr lang="zh-CN" altLang="en-US" dirty="0">
                <a:sym typeface="+mn-ea"/>
              </a:rPr>
              <a:t>软件的运行剖面</a:t>
            </a:r>
            <a:endParaRPr lang="zh-CN" altLang="en-US" dirty="0">
              <a:sym typeface="+mn-ea"/>
            </a:endParaRPr>
          </a:p>
          <a:p>
            <a:r>
              <a:rPr lang="en-US" altLang="zh-CN" dirty="0">
                <a:sym typeface="+mn-ea"/>
              </a:rPr>
              <a:t>4. </a:t>
            </a:r>
            <a:r>
              <a:rPr lang="zh-CN" altLang="en-US" dirty="0">
                <a:sym typeface="+mn-ea"/>
              </a:rPr>
              <a:t>软件可靠性模型及应用</a:t>
            </a:r>
            <a:endParaRPr lang="zh-CN" altLang="en-US" dirty="0">
              <a:sym typeface="+mn-ea"/>
            </a:endParaRPr>
          </a:p>
          <a:p>
            <a:r>
              <a:rPr lang="en-US" altLang="zh-CN" dirty="0">
                <a:sym typeface="+mn-ea"/>
              </a:rPr>
              <a:t>5. </a:t>
            </a:r>
            <a:r>
              <a:rPr lang="zh-CN" altLang="en-US" dirty="0">
                <a:sym typeface="+mn-ea"/>
              </a:rPr>
              <a:t>软件故障数据的趋向性分析</a:t>
            </a:r>
            <a:endParaRPr lang="en-US" altLang="zh-CN"/>
          </a:p>
          <a:p>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a:solidFill>
                  <a:srgbClr val="C00000"/>
                </a:solidFill>
              </a:rPr>
              <a:t>引言</a:t>
            </a:r>
            <a:endParaRPr lang="zh-CN" altLang="en-US">
              <a:solidFill>
                <a:srgbClr val="C00000"/>
              </a:solidFill>
            </a:endParaRPr>
          </a:p>
        </p:txBody>
      </p:sp>
      <p:sp>
        <p:nvSpPr>
          <p:cNvPr id="3" name="内容占位符 2"/>
          <p:cNvSpPr>
            <a:spLocks noGrp="1"/>
          </p:cNvSpPr>
          <p:nvPr>
            <p:ph idx="1"/>
          </p:nvPr>
        </p:nvSpPr>
        <p:spPr>
          <a:xfrm>
            <a:off x="838200" y="1538605"/>
            <a:ext cx="7045960" cy="4638675"/>
          </a:xfrm>
        </p:spPr>
        <p:txBody>
          <a:bodyPr>
            <a:normAutofit fontScale="90000"/>
          </a:bodyPr>
          <a:p>
            <a:pPr marL="228600" lvl="1" algn="l">
              <a:spcBef>
                <a:spcPts val="1000"/>
              </a:spcBef>
              <a:buClrTx/>
              <a:buSzTx/>
            </a:pPr>
            <a:r>
              <a:rPr lang="en-US" altLang="zh-CN" sz="2800">
                <a:sym typeface="+mn-ea"/>
              </a:rPr>
              <a:t>软件可靠性建模过程是根据软件过去的故障行为建立软件</a:t>
            </a:r>
            <a:r>
              <a:rPr lang="en-US" altLang="zh-CN" sz="2800" b="1">
                <a:solidFill>
                  <a:srgbClr val="FF0000"/>
                </a:solidFill>
                <a:sym typeface="+mn-ea"/>
              </a:rPr>
              <a:t>可靠性数学模型</a:t>
            </a:r>
            <a:r>
              <a:rPr lang="en-US" altLang="zh-CN" sz="2800">
                <a:sym typeface="+mn-ea"/>
              </a:rPr>
              <a:t>的过程</a:t>
            </a:r>
            <a:endParaRPr lang="en-US" altLang="zh-CN" sz="2800"/>
          </a:p>
          <a:p>
            <a:pPr marL="228600" lvl="1" algn="l">
              <a:spcBef>
                <a:spcPts val="1000"/>
              </a:spcBef>
              <a:buClrTx/>
              <a:buSzTx/>
            </a:pPr>
            <a:r>
              <a:rPr lang="en-US" altLang="zh-CN" sz="2800">
                <a:sym typeface="+mn-ea"/>
              </a:rPr>
              <a:t>建模的目的是为了预计软件将来的故障行为</a:t>
            </a:r>
            <a:endParaRPr lang="en-US" altLang="zh-CN" sz="2800"/>
          </a:p>
          <a:p>
            <a:pPr marL="228600" lvl="1" algn="l">
              <a:spcBef>
                <a:spcPts val="1000"/>
              </a:spcBef>
              <a:buClrTx/>
              <a:buSzTx/>
            </a:pPr>
            <a:r>
              <a:rPr lang="en-US" altLang="zh-CN" sz="2800">
                <a:sym typeface="+mn-ea"/>
              </a:rPr>
              <a:t>建模过程包括以下步骤：</a:t>
            </a:r>
            <a:endParaRPr lang="en-US" altLang="zh-CN" sz="2800"/>
          </a:p>
          <a:p>
            <a:pPr marL="914400" lvl="1" indent="-457200" algn="l">
              <a:buClrTx/>
              <a:buSzTx/>
              <a:buFont typeface="+mj-ea"/>
              <a:buAutoNum type="circleNumDbPlain"/>
            </a:pPr>
            <a:r>
              <a:rPr lang="en-US" altLang="zh-CN" sz="2400">
                <a:sym typeface="+mn-ea"/>
              </a:rPr>
              <a:t>通过度量获得历史数据</a:t>
            </a:r>
            <a:endParaRPr lang="en-US" altLang="zh-CN" sz="2400"/>
          </a:p>
          <a:p>
            <a:pPr marL="914400" lvl="1" indent="-457200" algn="l">
              <a:buClrTx/>
              <a:buSzTx/>
              <a:buFont typeface="+mj-ea"/>
              <a:buAutoNum type="circleNumDbPlain"/>
            </a:pPr>
            <a:r>
              <a:rPr lang="en-US" altLang="zh-CN" sz="2400">
                <a:sym typeface="+mn-ea"/>
              </a:rPr>
              <a:t>对故障数据进行分析，拟合成概率分布函数</a:t>
            </a:r>
            <a:endParaRPr lang="en-US" altLang="zh-CN" sz="2400"/>
          </a:p>
          <a:p>
            <a:pPr marL="914400" lvl="1" indent="-457200" algn="l">
              <a:buClrTx/>
              <a:buSzTx/>
              <a:buFont typeface="+mj-ea"/>
              <a:buAutoNum type="circleNumDbPlain"/>
            </a:pPr>
            <a:r>
              <a:rPr lang="en-US" altLang="zh-CN" sz="2400">
                <a:sym typeface="+mn-ea"/>
              </a:rPr>
              <a:t>对拟合函数进行参数分析</a:t>
            </a:r>
            <a:endParaRPr lang="en-US" altLang="zh-CN" sz="2400"/>
          </a:p>
          <a:p>
            <a:pPr marL="914400" lvl="1" indent="-457200" algn="l">
              <a:buClrTx/>
              <a:buSzTx/>
              <a:buFont typeface="+mj-ea"/>
              <a:buAutoNum type="circleNumDbPlain"/>
            </a:pPr>
            <a:r>
              <a:rPr lang="en-US" altLang="zh-CN" sz="2400">
                <a:sym typeface="+mn-ea"/>
              </a:rPr>
              <a:t>确定所期望的可靠性度量值并预测可能故障行为</a:t>
            </a:r>
            <a:endParaRPr lang="en-US" altLang="zh-CN" sz="2400"/>
          </a:p>
          <a:p>
            <a:endParaRPr lang="en-US" altLang="zh-CN"/>
          </a:p>
        </p:txBody>
      </p:sp>
      <p:pic>
        <p:nvPicPr>
          <p:cNvPr id="4" name="图片 3"/>
          <p:cNvPicPr>
            <a:picLocks noChangeAspect="1"/>
          </p:cNvPicPr>
          <p:nvPr/>
        </p:nvPicPr>
        <p:blipFill>
          <a:blip r:embed="rId1"/>
          <a:stretch>
            <a:fillRect/>
          </a:stretch>
        </p:blipFill>
        <p:spPr>
          <a:xfrm>
            <a:off x="8006715" y="2258060"/>
            <a:ext cx="4185285" cy="30740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a:t>
            </a:r>
            <a:r>
              <a:rPr lang="en-US" altLang="zh-CN">
                <a:solidFill>
                  <a:srgbClr val="C00000"/>
                </a:solidFill>
                <a:sym typeface="+mn-ea"/>
              </a:rPr>
              <a:t>软件可靠性度量</a:t>
            </a:r>
            <a:endParaRPr lang="zh-CN" altLang="en-US"/>
          </a:p>
        </p:txBody>
      </p:sp>
      <p:sp>
        <p:nvSpPr>
          <p:cNvPr id="3" name="内容占位符 2"/>
          <p:cNvSpPr>
            <a:spLocks noGrp="1"/>
          </p:cNvSpPr>
          <p:nvPr>
            <p:ph idx="1"/>
          </p:nvPr>
        </p:nvSpPr>
        <p:spPr>
          <a:xfrm>
            <a:off x="838200" y="1538605"/>
            <a:ext cx="10515600" cy="956310"/>
          </a:xfrm>
        </p:spPr>
        <p:txBody>
          <a:bodyPr/>
          <a:p>
            <a:r>
              <a:rPr lang="zh-CN" altLang="en-US"/>
              <a:t>为何</a:t>
            </a:r>
            <a:r>
              <a:rPr lang="zh-CN" altLang="en-US"/>
              <a:t>度量？</a:t>
            </a:r>
            <a:endParaRPr lang="zh-CN" altLang="en-US"/>
          </a:p>
          <a:p>
            <a:endParaRPr lang="zh-CN" altLang="en-US"/>
          </a:p>
        </p:txBody>
      </p:sp>
      <p:sp>
        <p:nvSpPr>
          <p:cNvPr id="4" name="矩形 3"/>
          <p:cNvSpPr/>
          <p:nvPr/>
        </p:nvSpPr>
        <p:spPr>
          <a:xfrm>
            <a:off x="1287780" y="2435225"/>
            <a:ext cx="3566795" cy="504190"/>
          </a:xfrm>
          <a:prstGeom prst="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solidFill>
                  <a:srgbClr val="002060"/>
                </a:solidFill>
                <a:sym typeface="+mn-ea"/>
              </a:rPr>
              <a:t>对于管理人员</a:t>
            </a:r>
            <a:endParaRPr lang="zh-CN" altLang="en-US" sz="2000" b="1">
              <a:solidFill>
                <a:srgbClr val="002060"/>
              </a:solidFill>
              <a:sym typeface="+mn-ea"/>
            </a:endParaRPr>
          </a:p>
        </p:txBody>
      </p:sp>
      <p:sp>
        <p:nvSpPr>
          <p:cNvPr id="5" name="矩形 4"/>
          <p:cNvSpPr/>
          <p:nvPr/>
        </p:nvSpPr>
        <p:spPr>
          <a:xfrm>
            <a:off x="1287780" y="2939415"/>
            <a:ext cx="3566795" cy="2965450"/>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2000"/>
          </a:p>
        </p:txBody>
      </p:sp>
      <p:sp>
        <p:nvSpPr>
          <p:cNvPr id="6" name="文本框 5"/>
          <p:cNvSpPr txBox="1"/>
          <p:nvPr/>
        </p:nvSpPr>
        <p:spPr>
          <a:xfrm>
            <a:off x="1031875" y="3046730"/>
            <a:ext cx="3596640" cy="2751455"/>
          </a:xfrm>
          <a:prstGeom prst="rect">
            <a:avLst/>
          </a:prstGeom>
          <a:noFill/>
        </p:spPr>
        <p:txBody>
          <a:bodyPr wrap="square" rtlCol="0" anchor="t">
            <a:noAutofit/>
          </a:bodyPr>
          <a:p>
            <a:pPr marL="742950" lvl="1" indent="-285750" fontAlgn="auto">
              <a:spcBef>
                <a:spcPts val="600"/>
              </a:spcBef>
              <a:buFont typeface="Wingdings" panose="05000000000000000000" charset="0"/>
              <a:buChar char="ü"/>
            </a:pPr>
            <a:r>
              <a:rPr lang="zh-CN" altLang="en-US" sz="2200">
                <a:sym typeface="+mn-ea"/>
              </a:rPr>
              <a:t>没有量化指标就无法恰当的考核产品的可靠性水平，考核员工的工作</a:t>
            </a:r>
            <a:endParaRPr lang="zh-CN" altLang="en-US" sz="2200"/>
          </a:p>
          <a:p>
            <a:pPr marL="742950" lvl="1" indent="-285750" fontAlgn="auto">
              <a:spcBef>
                <a:spcPts val="600"/>
              </a:spcBef>
              <a:buFont typeface="Wingdings" panose="05000000000000000000" charset="0"/>
              <a:buChar char="ü"/>
            </a:pPr>
            <a:r>
              <a:rPr lang="zh-CN" altLang="en-US" sz="2200">
                <a:sym typeface="+mn-ea"/>
              </a:rPr>
              <a:t>不进行度量就无法准确了解工作的进展程度，从而无法做出科学的管理决策</a:t>
            </a:r>
            <a:endParaRPr lang="zh-CN" altLang="en-US" sz="2200">
              <a:sym typeface="+mn-ea"/>
            </a:endParaRPr>
          </a:p>
        </p:txBody>
      </p:sp>
      <p:sp>
        <p:nvSpPr>
          <p:cNvPr id="7" name="矩形 6"/>
          <p:cNvSpPr/>
          <p:nvPr/>
        </p:nvSpPr>
        <p:spPr>
          <a:xfrm>
            <a:off x="6395720" y="2435225"/>
            <a:ext cx="3566795" cy="504190"/>
          </a:xfrm>
          <a:prstGeom prst="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solidFill>
                  <a:srgbClr val="002060"/>
                </a:solidFill>
                <a:sym typeface="+mn-ea"/>
              </a:rPr>
              <a:t>对于用户</a:t>
            </a:r>
            <a:endParaRPr lang="zh-CN" altLang="en-US" sz="2000" b="1">
              <a:solidFill>
                <a:srgbClr val="002060"/>
              </a:solidFill>
              <a:sym typeface="+mn-ea"/>
            </a:endParaRPr>
          </a:p>
        </p:txBody>
      </p:sp>
      <p:sp>
        <p:nvSpPr>
          <p:cNvPr id="8" name="矩形 7"/>
          <p:cNvSpPr/>
          <p:nvPr/>
        </p:nvSpPr>
        <p:spPr>
          <a:xfrm>
            <a:off x="6395720" y="2939415"/>
            <a:ext cx="3566795" cy="2965450"/>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2000"/>
          </a:p>
        </p:txBody>
      </p:sp>
      <p:sp>
        <p:nvSpPr>
          <p:cNvPr id="9" name="文本框 8"/>
          <p:cNvSpPr txBox="1"/>
          <p:nvPr/>
        </p:nvSpPr>
        <p:spPr>
          <a:xfrm>
            <a:off x="6139815" y="3046730"/>
            <a:ext cx="3596640" cy="2751455"/>
          </a:xfrm>
          <a:prstGeom prst="rect">
            <a:avLst/>
          </a:prstGeom>
          <a:noFill/>
        </p:spPr>
        <p:txBody>
          <a:bodyPr wrap="square" rtlCol="0" anchor="t">
            <a:noAutofit/>
          </a:bodyPr>
          <a:p>
            <a:pPr marL="742950" lvl="1" indent="-285750" algn="l">
              <a:spcBef>
                <a:spcPts val="600"/>
              </a:spcBef>
              <a:buClrTx/>
              <a:buSzTx/>
              <a:buFont typeface="Wingdings" panose="05000000000000000000" charset="0"/>
              <a:buChar char="ü"/>
            </a:pPr>
            <a:r>
              <a:rPr lang="zh-CN" altLang="en-US" sz="2200">
                <a:sym typeface="+mn-ea"/>
              </a:rPr>
              <a:t>无法知道交付的软件产品的可靠性是否可以接受</a:t>
            </a:r>
            <a:endParaRPr lang="zh-CN" altLang="en-US" sz="2200"/>
          </a:p>
          <a:p>
            <a:pPr marL="742950" lvl="1" indent="-285750" algn="l">
              <a:spcBef>
                <a:spcPts val="600"/>
              </a:spcBef>
              <a:buClrTx/>
              <a:buSzTx/>
              <a:buFont typeface="Wingdings" panose="05000000000000000000" charset="0"/>
              <a:buChar char="ü"/>
            </a:pPr>
            <a:r>
              <a:rPr lang="zh-CN" altLang="en-US" sz="2200">
                <a:sym typeface="+mn-ea"/>
              </a:rPr>
              <a:t>难以在购买产品之前从可靠与否的角度对产品进行比较</a:t>
            </a:r>
            <a:endParaRPr lang="zh-CN" altLang="en-US" sz="220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sp>
        <p:nvSpPr>
          <p:cNvPr id="3" name="内容占位符 2"/>
          <p:cNvSpPr>
            <a:spLocks noGrp="1"/>
          </p:cNvSpPr>
          <p:nvPr>
            <p:ph idx="1"/>
          </p:nvPr>
        </p:nvSpPr>
        <p:spPr/>
        <p:txBody>
          <a:bodyPr/>
          <a:p>
            <a:r>
              <a:rPr lang="zh-CN" altLang="en-US"/>
              <a:t>软件可靠性度量的描述</a:t>
            </a:r>
            <a:r>
              <a:rPr lang="zh-CN" altLang="en-US"/>
              <a:t>要求：</a:t>
            </a:r>
            <a:endParaRPr lang="zh-CN" altLang="en-US"/>
          </a:p>
          <a:p>
            <a:pPr lvl="1"/>
            <a:endParaRPr lang="zh-CN" altLang="en-US"/>
          </a:p>
        </p:txBody>
      </p:sp>
      <p:sp>
        <p:nvSpPr>
          <p:cNvPr id="4" name="矩形 3"/>
          <p:cNvSpPr/>
          <p:nvPr/>
        </p:nvSpPr>
        <p:spPr>
          <a:xfrm>
            <a:off x="551180" y="2542540"/>
            <a:ext cx="3566795" cy="887095"/>
          </a:xfrm>
          <a:prstGeom prst="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2000" b="1">
                <a:solidFill>
                  <a:srgbClr val="002060"/>
                </a:solidFill>
                <a:sym typeface="+mn-ea"/>
              </a:rPr>
              <a:t>定量要求应该是面向用户，</a:t>
            </a:r>
            <a:endParaRPr lang="zh-CN" altLang="en-US" sz="2000" b="1">
              <a:solidFill>
                <a:srgbClr val="002060"/>
              </a:solidFill>
              <a:sym typeface="+mn-ea"/>
            </a:endParaRPr>
          </a:p>
          <a:p>
            <a:pPr lvl="0" algn="ctr">
              <a:buClrTx/>
              <a:buSzTx/>
              <a:buFontTx/>
            </a:pPr>
            <a:r>
              <a:rPr lang="zh-CN" altLang="en-US" sz="2000" b="1">
                <a:solidFill>
                  <a:srgbClr val="002060"/>
                </a:solidFill>
                <a:sym typeface="+mn-ea"/>
              </a:rPr>
              <a:t>即用户可观测得到的</a:t>
            </a:r>
            <a:endParaRPr lang="zh-CN" altLang="en-US" sz="2000" b="1">
              <a:solidFill>
                <a:srgbClr val="002060"/>
              </a:solidFill>
              <a:sym typeface="+mn-ea"/>
            </a:endParaRPr>
          </a:p>
        </p:txBody>
      </p:sp>
      <p:sp>
        <p:nvSpPr>
          <p:cNvPr id="5" name="矩形 4"/>
          <p:cNvSpPr/>
          <p:nvPr/>
        </p:nvSpPr>
        <p:spPr>
          <a:xfrm>
            <a:off x="551180" y="3503930"/>
            <a:ext cx="3566795" cy="2965450"/>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2000"/>
          </a:p>
        </p:txBody>
      </p:sp>
      <p:sp>
        <p:nvSpPr>
          <p:cNvPr id="7" name="矩形 6"/>
          <p:cNvSpPr/>
          <p:nvPr/>
        </p:nvSpPr>
        <p:spPr>
          <a:xfrm>
            <a:off x="4369435" y="2542540"/>
            <a:ext cx="3566795" cy="887730"/>
          </a:xfrm>
          <a:prstGeom prst="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2000" b="1">
                <a:solidFill>
                  <a:srgbClr val="002060"/>
                </a:solidFill>
                <a:sym typeface="+mn-ea"/>
              </a:rPr>
              <a:t>定量要求应该是可测量的</a:t>
            </a:r>
            <a:endParaRPr lang="zh-CN" altLang="en-US" sz="2000" b="1">
              <a:solidFill>
                <a:srgbClr val="002060"/>
              </a:solidFill>
              <a:sym typeface="+mn-ea"/>
            </a:endParaRPr>
          </a:p>
        </p:txBody>
      </p:sp>
      <p:sp>
        <p:nvSpPr>
          <p:cNvPr id="8" name="矩形 7"/>
          <p:cNvSpPr/>
          <p:nvPr/>
        </p:nvSpPr>
        <p:spPr>
          <a:xfrm>
            <a:off x="4369435" y="3503930"/>
            <a:ext cx="3566795" cy="2965450"/>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2000"/>
          </a:p>
        </p:txBody>
      </p:sp>
      <p:sp>
        <p:nvSpPr>
          <p:cNvPr id="10" name="矩形 9"/>
          <p:cNvSpPr/>
          <p:nvPr/>
        </p:nvSpPr>
        <p:spPr>
          <a:xfrm>
            <a:off x="8197850" y="2542540"/>
            <a:ext cx="3566795" cy="887730"/>
          </a:xfrm>
          <a:prstGeom prst="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solidFill>
                  <a:srgbClr val="002060"/>
                </a:solidFill>
                <a:sym typeface="+mn-ea"/>
              </a:rPr>
              <a:t>定量要求应给出单边置信区间和相应的置信度</a:t>
            </a:r>
            <a:endParaRPr lang="zh-CN" altLang="en-US" sz="2000" b="1">
              <a:solidFill>
                <a:srgbClr val="002060"/>
              </a:solidFill>
              <a:sym typeface="+mn-ea"/>
            </a:endParaRPr>
          </a:p>
        </p:txBody>
      </p:sp>
      <p:sp>
        <p:nvSpPr>
          <p:cNvPr id="11" name="矩形 10"/>
          <p:cNvSpPr/>
          <p:nvPr/>
        </p:nvSpPr>
        <p:spPr>
          <a:xfrm>
            <a:off x="8197850" y="3503930"/>
            <a:ext cx="3566795" cy="2965450"/>
          </a:xfrm>
          <a:prstGeom prst="rect">
            <a:avLst/>
          </a:prstGeom>
          <a:solidFill>
            <a:schemeClr val="accent2">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endParaRPr lang="zh-CN" altLang="en-US" sz="2000"/>
          </a:p>
        </p:txBody>
      </p:sp>
      <p:sp>
        <p:nvSpPr>
          <p:cNvPr id="13" name="文本框 12"/>
          <p:cNvSpPr txBox="1"/>
          <p:nvPr/>
        </p:nvSpPr>
        <p:spPr>
          <a:xfrm>
            <a:off x="721995" y="3700145"/>
            <a:ext cx="3255645" cy="1183640"/>
          </a:xfrm>
          <a:prstGeom prst="rect">
            <a:avLst/>
          </a:prstGeom>
          <a:noFill/>
        </p:spPr>
        <p:txBody>
          <a:bodyPr wrap="square" rtlCol="0" anchor="t">
            <a:spAutoFit/>
          </a:bodyPr>
          <a:p>
            <a:pPr indent="0" fontAlgn="auto">
              <a:spcBef>
                <a:spcPts val="600"/>
              </a:spcBef>
            </a:pPr>
            <a:r>
              <a:rPr lang="zh-CN" altLang="en-US" sz="2200">
                <a:sym typeface="+mn-ea"/>
              </a:rPr>
              <a:t>例子：</a:t>
            </a:r>
            <a:endParaRPr lang="zh-CN" altLang="en-US" sz="2200">
              <a:sym typeface="+mn-ea"/>
            </a:endParaRPr>
          </a:p>
          <a:p>
            <a:pPr indent="0" fontAlgn="auto">
              <a:spcBef>
                <a:spcPts val="600"/>
              </a:spcBef>
            </a:pPr>
            <a:r>
              <a:rPr lang="zh-CN" altLang="en-US" sz="2200">
                <a:sym typeface="+mn-ea"/>
              </a:rPr>
              <a:t>软件的缺陷数小于每千行代码</a:t>
            </a:r>
            <a:r>
              <a:rPr lang="en-US" altLang="zh-CN" sz="2200">
                <a:sym typeface="+mn-ea"/>
              </a:rPr>
              <a:t>10</a:t>
            </a:r>
            <a:r>
              <a:rPr lang="zh-CN" altLang="en-US" sz="2200">
                <a:sym typeface="+mn-ea"/>
              </a:rPr>
              <a:t>个</a:t>
            </a:r>
            <a:endParaRPr lang="zh-CN" altLang="en-US" sz="2200">
              <a:sym typeface="+mn-ea"/>
            </a:endParaRPr>
          </a:p>
        </p:txBody>
      </p:sp>
      <p:sp>
        <p:nvSpPr>
          <p:cNvPr id="14" name="文本框 13"/>
          <p:cNvSpPr txBox="1"/>
          <p:nvPr/>
        </p:nvSpPr>
        <p:spPr>
          <a:xfrm>
            <a:off x="4460240" y="3700145"/>
            <a:ext cx="3374390" cy="2538095"/>
          </a:xfrm>
          <a:prstGeom prst="rect">
            <a:avLst/>
          </a:prstGeom>
          <a:noFill/>
        </p:spPr>
        <p:txBody>
          <a:bodyPr wrap="square" rtlCol="0" anchor="t">
            <a:spAutoFit/>
          </a:bodyPr>
          <a:p>
            <a:pPr indent="0" fontAlgn="auto">
              <a:spcBef>
                <a:spcPts val="600"/>
              </a:spcBef>
            </a:pPr>
            <a:r>
              <a:rPr lang="zh-CN" altLang="en-US" sz="2200">
                <a:sym typeface="+mn-ea"/>
              </a:rPr>
              <a:t>例子：</a:t>
            </a:r>
            <a:endParaRPr lang="zh-CN" altLang="en-US" sz="2200">
              <a:sym typeface="+mn-ea"/>
            </a:endParaRPr>
          </a:p>
          <a:p>
            <a:pPr indent="0" fontAlgn="auto">
              <a:spcBef>
                <a:spcPts val="600"/>
              </a:spcBef>
            </a:pPr>
            <a:r>
              <a:rPr lang="zh-CN" altLang="en-US" sz="2200">
                <a:sym typeface="+mn-ea"/>
              </a:rPr>
              <a:t>某公司开发一个软件，其可靠性定量要求描述为：可靠性由关键部件的</a:t>
            </a:r>
            <a:r>
              <a:rPr lang="en-US" altLang="zh-CN" sz="2200">
                <a:sym typeface="+mn-ea"/>
              </a:rPr>
              <a:t>MTTF</a:t>
            </a:r>
            <a:r>
              <a:rPr lang="zh-CN" altLang="en-US" sz="2200">
                <a:sym typeface="+mn-ea"/>
              </a:rPr>
              <a:t>值度量，在规定的运行条件下，软件</a:t>
            </a:r>
            <a:r>
              <a:rPr lang="en-US" altLang="zh-CN" sz="2200">
                <a:sym typeface="+mn-ea"/>
              </a:rPr>
              <a:t>MTTF</a:t>
            </a:r>
            <a:r>
              <a:rPr lang="zh-CN" altLang="en-US" sz="2200">
                <a:sym typeface="+mn-ea"/>
              </a:rPr>
              <a:t>大于或等于</a:t>
            </a:r>
            <a:r>
              <a:rPr lang="en-US" altLang="zh-CN" sz="2200">
                <a:sym typeface="+mn-ea"/>
              </a:rPr>
              <a:t>720</a:t>
            </a:r>
            <a:r>
              <a:rPr lang="zh-CN" altLang="en-US" sz="2200">
                <a:sym typeface="+mn-ea"/>
              </a:rPr>
              <a:t>小时的概率为</a:t>
            </a:r>
            <a:r>
              <a:rPr lang="en-US" altLang="zh-CN" sz="2200">
                <a:sym typeface="+mn-ea"/>
              </a:rPr>
              <a:t>90%</a:t>
            </a:r>
            <a:r>
              <a:rPr lang="zh-CN" altLang="en-US" sz="2200">
                <a:sym typeface="+mn-ea"/>
              </a:rPr>
              <a:t>。</a:t>
            </a:r>
            <a:endParaRPr lang="zh-CN" altLang="en-US" sz="2200">
              <a:sym typeface="+mn-ea"/>
            </a:endParaRPr>
          </a:p>
        </p:txBody>
      </p:sp>
      <p:sp>
        <p:nvSpPr>
          <p:cNvPr id="15" name="文本框 14"/>
          <p:cNvSpPr txBox="1"/>
          <p:nvPr/>
        </p:nvSpPr>
        <p:spPr>
          <a:xfrm>
            <a:off x="8241030" y="3639185"/>
            <a:ext cx="3374390" cy="1522095"/>
          </a:xfrm>
          <a:prstGeom prst="rect">
            <a:avLst/>
          </a:prstGeom>
          <a:noFill/>
        </p:spPr>
        <p:txBody>
          <a:bodyPr wrap="square" rtlCol="0" anchor="t">
            <a:spAutoFit/>
          </a:bodyPr>
          <a:p>
            <a:pPr indent="0" fontAlgn="auto">
              <a:spcBef>
                <a:spcPts val="600"/>
              </a:spcBef>
            </a:pPr>
            <a:r>
              <a:rPr lang="zh-CN" altLang="en-US" sz="2200">
                <a:sym typeface="+mn-ea"/>
              </a:rPr>
              <a:t>例子：</a:t>
            </a:r>
            <a:endParaRPr lang="zh-CN" altLang="en-US" sz="2200">
              <a:sym typeface="+mn-ea"/>
            </a:endParaRPr>
          </a:p>
          <a:p>
            <a:pPr indent="0" fontAlgn="auto">
              <a:spcBef>
                <a:spcPts val="600"/>
              </a:spcBef>
            </a:pPr>
            <a:r>
              <a:rPr lang="zh-CN" altLang="en-US" sz="2200">
                <a:sym typeface="+mn-ea"/>
              </a:rPr>
              <a:t>如除给出单边置信区间</a:t>
            </a:r>
            <a:r>
              <a:rPr lang="en-US" altLang="zh-CN" sz="2200">
                <a:sym typeface="+mn-ea"/>
              </a:rPr>
              <a:t>[720, +</a:t>
            </a:r>
            <a:r>
              <a:rPr lang="en-US" altLang="zh-CN" sz="2200">
                <a:latin typeface="微软雅黑" panose="020B0503020204020204" charset="-122"/>
                <a:ea typeface="微软雅黑" panose="020B0503020204020204" charset="-122"/>
                <a:sym typeface="+mn-ea"/>
              </a:rPr>
              <a:t>∞</a:t>
            </a:r>
            <a:r>
              <a:rPr lang="en-US" altLang="zh-CN" sz="2200">
                <a:sym typeface="+mn-ea"/>
              </a:rPr>
              <a:t>]</a:t>
            </a:r>
            <a:r>
              <a:rPr lang="zh-CN" altLang="en-US" sz="2200">
                <a:sym typeface="+mn-ea"/>
              </a:rPr>
              <a:t>外，还应给出相应的置信度</a:t>
            </a:r>
            <a:r>
              <a:rPr lang="en-US" altLang="zh-CN" sz="2200">
                <a:sym typeface="+mn-ea"/>
              </a:rPr>
              <a:t>90%</a:t>
            </a:r>
            <a:r>
              <a:rPr lang="zh-CN" altLang="en-US" sz="2200">
                <a:sym typeface="+mn-ea"/>
              </a:rPr>
              <a:t>。</a:t>
            </a:r>
            <a:endParaRPr lang="zh-CN" altLang="en-US" sz="220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a:t>
            </a:r>
            <a:r>
              <a:rPr lang="en-US" altLang="zh-CN">
                <a:solidFill>
                  <a:srgbClr val="C00000"/>
                </a:solidFill>
                <a:sym typeface="+mn-ea"/>
              </a:rPr>
              <a:t>软件可靠性度量</a:t>
            </a:r>
            <a:endParaRPr lang="zh-CN" altLang="en-US"/>
          </a:p>
        </p:txBody>
      </p:sp>
      <p:sp>
        <p:nvSpPr>
          <p:cNvPr id="3" name="内容占位符 2"/>
          <p:cNvSpPr>
            <a:spLocks noGrp="1"/>
          </p:cNvSpPr>
          <p:nvPr>
            <p:ph idx="1"/>
          </p:nvPr>
        </p:nvSpPr>
        <p:spPr/>
        <p:txBody>
          <a:bodyPr/>
          <a:p>
            <a:r>
              <a:rPr lang="zh-CN" altLang="en-US" sz="2400" dirty="0">
                <a:latin typeface="Times New Roman" panose="02020603050405020304" pitchFamily="18" charset="0"/>
                <a:ea typeface="宋体" panose="02010600030101010101" pitchFamily="2" charset="-122"/>
                <a:sym typeface="+mn-ea"/>
              </a:rPr>
              <a:t>软件可靠性</a:t>
            </a:r>
            <a:r>
              <a:rPr lang="en-US" altLang="zh-CN" sz="2400" i="1" err="1">
                <a:latin typeface="Times New Roman" panose="02020603050405020304" pitchFamily="18" charset="0"/>
                <a:ea typeface="宋体" panose="02010600030101010101" pitchFamily="2" charset="-122"/>
                <a:sym typeface="+mn-ea"/>
              </a:rPr>
              <a:t>R</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可定义为：在给定条件下，在时间</a:t>
            </a:r>
            <a:r>
              <a:rPr lang="en-US" altLang="zh-CN" sz="2400">
                <a:latin typeface="Times New Roman" panose="02020603050405020304" pitchFamily="18" charset="0"/>
                <a:ea typeface="宋体" panose="02010600030101010101" pitchFamily="2" charset="-122"/>
                <a:sym typeface="+mn-ea"/>
              </a:rPr>
              <a:t>[0, </a:t>
            </a:r>
            <a:r>
              <a:rPr lang="en-US" altLang="zh-CN" sz="2400" i="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内，软件无故障运行的概率</a:t>
            </a:r>
            <a:endParaRPr lang="en-US" altLang="zh-CN" sz="2400"/>
          </a:p>
          <a:p>
            <a:r>
              <a:rPr lang="zh-CN" altLang="en-US" sz="2400" dirty="0">
                <a:latin typeface="Times New Roman" panose="02020603050405020304" pitchFamily="18" charset="0"/>
                <a:ea typeface="宋体" panose="02010600030101010101" pitchFamily="2" charset="-122"/>
                <a:sym typeface="+mn-ea"/>
              </a:rPr>
              <a:t>若用</a:t>
            </a:r>
            <a:r>
              <a:rPr lang="en-US" altLang="zh-CN" sz="2400">
                <a:latin typeface="Times New Roman" panose="02020603050405020304" pitchFamily="18" charset="0"/>
                <a:ea typeface="宋体" panose="02010600030101010101" pitchFamily="2" charset="-122"/>
                <a:sym typeface="+mn-ea"/>
              </a:rPr>
              <a:t>T</a:t>
            </a:r>
            <a:r>
              <a:rPr lang="zh-CN" altLang="en-US" sz="2400" dirty="0">
                <a:latin typeface="Times New Roman" panose="02020603050405020304" pitchFamily="18" charset="0"/>
                <a:ea typeface="宋体" panose="02010600030101010101" pitchFamily="2" charset="-122"/>
                <a:sym typeface="+mn-ea"/>
              </a:rPr>
              <a:t>表示软件无故障运行的时间间隔，</a:t>
            </a:r>
            <a:r>
              <a:rPr lang="en-US" altLang="zh-CN" sz="2400" i="1" err="1">
                <a:latin typeface="Times New Roman" panose="02020603050405020304" pitchFamily="18" charset="0"/>
                <a:ea typeface="宋体" panose="02010600030101010101" pitchFamily="2" charset="-122"/>
                <a:sym typeface="+mn-ea"/>
              </a:rPr>
              <a:t>F</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为</a:t>
            </a:r>
            <a:r>
              <a:rPr lang="en-US" altLang="zh-CN" sz="2400">
                <a:latin typeface="Times New Roman" panose="02020603050405020304" pitchFamily="18" charset="0"/>
                <a:ea typeface="宋体" panose="02010600030101010101" pitchFamily="2" charset="-122"/>
                <a:sym typeface="+mn-ea"/>
              </a:rPr>
              <a:t>T</a:t>
            </a:r>
            <a:r>
              <a:rPr lang="zh-CN" altLang="en-US" sz="2400" dirty="0">
                <a:latin typeface="Times New Roman" panose="02020603050405020304" pitchFamily="18" charset="0"/>
                <a:ea typeface="宋体" panose="02010600030101010101" pitchFamily="2" charset="-122"/>
                <a:sym typeface="+mn-ea"/>
              </a:rPr>
              <a:t>的累积分布函数，则软件可靠性可表示为：</a:t>
            </a:r>
            <a:r>
              <a:rPr lang="en-US" altLang="zh-CN" sz="2400" dirty="0">
                <a:latin typeface="Times New Roman" panose="02020603050405020304" pitchFamily="18" charset="0"/>
                <a:ea typeface="宋体" panose="02010600030101010101" pitchFamily="2" charset="-122"/>
                <a:sym typeface="+mn-ea"/>
              </a:rPr>
              <a:t>                    </a:t>
            </a:r>
            <a:r>
              <a:rPr lang="en-US" altLang="zh-CN" sz="2400" i="1" err="1">
                <a:latin typeface="Times New Roman" panose="02020603050405020304" pitchFamily="18" charset="0"/>
                <a:ea typeface="宋体" panose="02010600030101010101" pitchFamily="2" charset="-122"/>
                <a:sym typeface="+mn-ea"/>
              </a:rPr>
              <a:t>R</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)=1-</a:t>
            </a:r>
            <a:r>
              <a:rPr lang="en-US" altLang="zh-CN" sz="2400" i="1">
                <a:latin typeface="Times New Roman" panose="02020603050405020304" pitchFamily="18" charset="0"/>
                <a:ea typeface="宋体" panose="02010600030101010101" pitchFamily="2" charset="-122"/>
                <a:sym typeface="+mn-ea"/>
              </a:rPr>
              <a:t>F</a:t>
            </a:r>
            <a:r>
              <a:rPr lang="en-US" altLang="zh-CN" sz="2400">
                <a:latin typeface="Times New Roman" panose="02020603050405020304" pitchFamily="18" charset="0"/>
                <a:ea typeface="宋体" panose="02010600030101010101" pitchFamily="2" charset="-122"/>
                <a:sym typeface="+mn-ea"/>
              </a:rPr>
              <a:t>(</a:t>
            </a:r>
            <a:r>
              <a:rPr lang="en-US" altLang="zh-CN" sz="2400" i="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 	</a:t>
            </a:r>
            <a:r>
              <a:rPr lang="en-US" altLang="zh-CN" sz="2400" i="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≥0</a:t>
            </a:r>
            <a:endParaRPr lang="en-US" altLang="zh-CN" sz="2400">
              <a:latin typeface="Times New Roman" panose="02020603050405020304" pitchFamily="18" charset="0"/>
              <a:ea typeface="宋体" panose="02010600030101010101" pitchFamily="2" charset="-122"/>
            </a:endParaRPr>
          </a:p>
          <a:p>
            <a:pPr>
              <a:spcBef>
                <a:spcPts val="1600"/>
              </a:spcBef>
            </a:pPr>
            <a:r>
              <a:rPr lang="zh-CN" altLang="en-US" sz="2400" dirty="0">
                <a:latin typeface="Times New Roman" panose="02020603050405020304" pitchFamily="18" charset="0"/>
                <a:ea typeface="宋体" panose="02010600030101010101" pitchFamily="2" charset="-122"/>
                <a:sym typeface="+mn-ea"/>
              </a:rPr>
              <a:t>故障率函数</a:t>
            </a:r>
            <a:r>
              <a:rPr lang="en-US" altLang="zh-CN" sz="2400" err="1">
                <a:latin typeface="Times New Roman" panose="02020603050405020304" pitchFamily="18" charset="0"/>
                <a:ea typeface="宋体" panose="02010600030101010101" pitchFamily="2" charset="-122"/>
                <a:sym typeface="+mn-ea"/>
              </a:rPr>
              <a:t>λ(</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为：</a:t>
            </a:r>
            <a:endParaRPr lang="zh-CN" altLang="en-US" sz="2400" dirty="0">
              <a:latin typeface="Times New Roman" panose="02020603050405020304" pitchFamily="18" charset="0"/>
              <a:ea typeface="宋体" panose="02010600030101010101" pitchFamily="2" charset="-122"/>
              <a:sym typeface="+mn-ea"/>
            </a:endParaRPr>
          </a:p>
          <a:p>
            <a:endParaRPr lang="en-US" altLang="zh-CN" sz="2400">
              <a:latin typeface="Times New Roman" panose="02020603050405020304" pitchFamily="18" charset="0"/>
              <a:ea typeface="宋体" panose="02010600030101010101" pitchFamily="2" charset="-122"/>
            </a:endParaRPr>
          </a:p>
          <a:p>
            <a:pPr lvl="1"/>
            <a:r>
              <a:rPr lang="zh-CN" altLang="en-US" sz="2055" dirty="0">
                <a:latin typeface="Times New Roman" panose="02020603050405020304" pitchFamily="18" charset="0"/>
                <a:ea typeface="宋体" panose="02010600030101010101" pitchFamily="2" charset="-122"/>
                <a:sym typeface="+mn-ea"/>
              </a:rPr>
              <a:t>其中，</a:t>
            </a:r>
            <a:r>
              <a:rPr lang="en-US" altLang="zh-CN" sz="2055" i="1" err="1">
                <a:latin typeface="Times New Roman" panose="02020603050405020304" pitchFamily="18" charset="0"/>
                <a:ea typeface="宋体" panose="02010600030101010101" pitchFamily="2" charset="-122"/>
                <a:sym typeface="+mn-ea"/>
              </a:rPr>
              <a:t>f</a:t>
            </a:r>
            <a:r>
              <a:rPr lang="en-US" altLang="zh-CN" sz="2055" err="1">
                <a:latin typeface="Times New Roman" panose="02020603050405020304" pitchFamily="18" charset="0"/>
                <a:ea typeface="宋体" panose="02010600030101010101" pitchFamily="2" charset="-122"/>
                <a:sym typeface="+mn-ea"/>
              </a:rPr>
              <a:t>(</a:t>
            </a:r>
            <a:r>
              <a:rPr lang="en-US" altLang="zh-CN" sz="2055" i="1" err="1">
                <a:latin typeface="Times New Roman" panose="02020603050405020304" pitchFamily="18" charset="0"/>
                <a:ea typeface="宋体" panose="02010600030101010101" pitchFamily="2" charset="-122"/>
                <a:sym typeface="+mn-ea"/>
              </a:rPr>
              <a:t>t</a:t>
            </a:r>
            <a:r>
              <a:rPr lang="en-US" altLang="zh-CN" sz="2055">
                <a:latin typeface="Times New Roman" panose="02020603050405020304" pitchFamily="18" charset="0"/>
                <a:ea typeface="宋体" panose="02010600030101010101" pitchFamily="2" charset="-122"/>
                <a:sym typeface="+mn-ea"/>
              </a:rPr>
              <a:t>)</a:t>
            </a:r>
            <a:r>
              <a:rPr lang="zh-CN" altLang="en-US" sz="2055" dirty="0">
                <a:latin typeface="Times New Roman" panose="02020603050405020304" pitchFamily="18" charset="0"/>
                <a:ea typeface="宋体" panose="02010600030101010101" pitchFamily="2" charset="-122"/>
                <a:sym typeface="+mn-ea"/>
              </a:rPr>
              <a:t>为</a:t>
            </a:r>
            <a:r>
              <a:rPr lang="en-US" altLang="zh-CN" sz="2055" i="1" err="1">
                <a:latin typeface="Times New Roman" panose="02020603050405020304" pitchFamily="18" charset="0"/>
                <a:ea typeface="宋体" panose="02010600030101010101" pitchFamily="2" charset="-122"/>
                <a:sym typeface="+mn-ea"/>
              </a:rPr>
              <a:t>F</a:t>
            </a:r>
            <a:r>
              <a:rPr lang="en-US" altLang="zh-CN" sz="2055" err="1">
                <a:latin typeface="Times New Roman" panose="02020603050405020304" pitchFamily="18" charset="0"/>
                <a:ea typeface="宋体" panose="02010600030101010101" pitchFamily="2" charset="-122"/>
                <a:sym typeface="+mn-ea"/>
              </a:rPr>
              <a:t>(</a:t>
            </a:r>
            <a:r>
              <a:rPr lang="en-US" altLang="zh-CN" sz="2055" i="1" err="1">
                <a:latin typeface="Times New Roman" panose="02020603050405020304" pitchFamily="18" charset="0"/>
                <a:ea typeface="宋体" panose="02010600030101010101" pitchFamily="2" charset="-122"/>
                <a:sym typeface="+mn-ea"/>
              </a:rPr>
              <a:t>t</a:t>
            </a:r>
            <a:r>
              <a:rPr lang="en-US" altLang="zh-CN" sz="2055">
                <a:latin typeface="Times New Roman" panose="02020603050405020304" pitchFamily="18" charset="0"/>
                <a:ea typeface="宋体" panose="02010600030101010101" pitchFamily="2" charset="-122"/>
                <a:sym typeface="+mn-ea"/>
              </a:rPr>
              <a:t>)</a:t>
            </a:r>
            <a:r>
              <a:rPr lang="zh-CN" altLang="en-US" sz="2055" dirty="0">
                <a:latin typeface="Times New Roman" panose="02020603050405020304" pitchFamily="18" charset="0"/>
                <a:ea typeface="宋体" panose="02010600030101010101" pitchFamily="2" charset="-122"/>
                <a:sym typeface="+mn-ea"/>
              </a:rPr>
              <a:t>的函数密度，即：</a:t>
            </a:r>
            <a:endParaRPr lang="en-US" altLang="zh-CN" sz="2055">
              <a:latin typeface="Times New Roman" panose="02020603050405020304" pitchFamily="18" charset="0"/>
              <a:ea typeface="宋体" panose="02010600030101010101" pitchFamily="2" charset="-122"/>
            </a:endParaRPr>
          </a:p>
        </p:txBody>
      </p:sp>
      <p:graphicFrame>
        <p:nvGraphicFramePr>
          <p:cNvPr id="113668" name="内容占位符 113667"/>
          <p:cNvGraphicFramePr/>
          <p:nvPr>
            <p:ph sz="quarter" idx="2"/>
            <p:custDataLst>
              <p:tags r:id="rId1"/>
            </p:custDataLst>
          </p:nvPr>
        </p:nvGraphicFramePr>
        <p:xfrm>
          <a:off x="3942715" y="3742055"/>
          <a:ext cx="4280535" cy="785495"/>
        </p:xfrm>
        <a:graphic>
          <a:graphicData uri="http://schemas.openxmlformats.org/presentationml/2006/ole">
            <mc:AlternateContent xmlns:mc="http://schemas.openxmlformats.org/markup-compatibility/2006">
              <mc:Choice xmlns:v="urn:schemas-microsoft-com:vml" Requires="v">
                <p:oleObj spid="_x0000_s3083" name="" r:id="rId2" imgW="2082800" imgH="419100" progId="Equation.3">
                  <p:embed/>
                </p:oleObj>
              </mc:Choice>
              <mc:Fallback>
                <p:oleObj name="" r:id="rId2" imgW="2082800" imgH="419100" progId="Equation.3">
                  <p:embed/>
                  <p:pic>
                    <p:nvPicPr>
                      <p:cNvPr id="0" name="图片 3082"/>
                      <p:cNvPicPr/>
                      <p:nvPr/>
                    </p:nvPicPr>
                    <p:blipFill>
                      <a:blip r:embed="rId3"/>
                      <a:stretch>
                        <a:fillRect/>
                      </a:stretch>
                    </p:blipFill>
                    <p:spPr>
                      <a:xfrm>
                        <a:off x="3942715" y="3742055"/>
                        <a:ext cx="4280535" cy="785495"/>
                      </a:xfrm>
                      <a:prstGeom prst="rect">
                        <a:avLst/>
                      </a:prstGeom>
                      <a:solidFill>
                        <a:schemeClr val="bg1"/>
                      </a:solidFill>
                      <a:ln w="38100">
                        <a:miter/>
                      </a:ln>
                    </p:spPr>
                  </p:pic>
                </p:oleObj>
              </mc:Fallback>
            </mc:AlternateContent>
          </a:graphicData>
        </a:graphic>
      </p:graphicFrame>
      <p:graphicFrame>
        <p:nvGraphicFramePr>
          <p:cNvPr id="113671" name="内容占位符 113670"/>
          <p:cNvGraphicFramePr/>
          <p:nvPr>
            <p:ph sz="quarter" idx="3"/>
            <p:custDataLst>
              <p:tags r:id="rId4"/>
            </p:custDataLst>
          </p:nvPr>
        </p:nvGraphicFramePr>
        <p:xfrm>
          <a:off x="5818188" y="4766628"/>
          <a:ext cx="1854200" cy="839787"/>
        </p:xfrm>
        <a:graphic>
          <a:graphicData uri="http://schemas.openxmlformats.org/presentationml/2006/ole">
            <mc:AlternateContent xmlns:mc="http://schemas.openxmlformats.org/markup-compatibility/2006">
              <mc:Choice xmlns:v="urn:schemas-microsoft-com:vml" Requires="v">
                <p:oleObj spid="_x0000_s3084" name="" r:id="rId5" imgW="901065" imgH="393700" progId="Equation.3">
                  <p:embed/>
                </p:oleObj>
              </mc:Choice>
              <mc:Fallback>
                <p:oleObj name="" r:id="rId5" imgW="901065" imgH="393700" progId="Equation.3">
                  <p:embed/>
                  <p:pic>
                    <p:nvPicPr>
                      <p:cNvPr id="0" name="图片 3083"/>
                      <p:cNvPicPr/>
                      <p:nvPr/>
                    </p:nvPicPr>
                    <p:blipFill>
                      <a:blip r:embed="rId6"/>
                      <a:stretch>
                        <a:fillRect/>
                      </a:stretch>
                    </p:blipFill>
                    <p:spPr>
                      <a:xfrm>
                        <a:off x="5818188" y="4766628"/>
                        <a:ext cx="1854200" cy="839787"/>
                      </a:xfrm>
                      <a:prstGeom prst="rect">
                        <a:avLst/>
                      </a:prstGeom>
                      <a:noFill/>
                      <a:ln w="38100">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sp>
        <p:nvSpPr>
          <p:cNvPr id="3" name="内容占位符 2"/>
          <p:cNvSpPr>
            <a:spLocks noGrp="1"/>
          </p:cNvSpPr>
          <p:nvPr>
            <p:ph idx="1"/>
          </p:nvPr>
        </p:nvSpPr>
        <p:spPr/>
        <p:txBody>
          <a:bodyPr/>
          <a:p>
            <a:r>
              <a:rPr lang="en-US" altLang="zh-CN" sz="2400" i="1" err="1">
                <a:latin typeface="Times New Roman" panose="02020603050405020304" pitchFamily="18" charset="0"/>
                <a:ea typeface="宋体" panose="02010600030101010101" pitchFamily="2" charset="-122"/>
                <a:sym typeface="+mn-ea"/>
              </a:rPr>
              <a:t>λ</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err="1">
                <a:latin typeface="Times New Roman" panose="02020603050405020304" pitchFamily="18" charset="0"/>
                <a:ea typeface="宋体" panose="02010600030101010101" pitchFamily="2" charset="-122"/>
                <a:sym typeface="+mn-ea"/>
              </a:rPr>
              <a:t>)Δ</a:t>
            </a:r>
            <a:r>
              <a:rPr lang="en-US" altLang="zh-CN" sz="2400" i="1" err="1">
                <a:latin typeface="Times New Roman" panose="02020603050405020304" pitchFamily="18" charset="0"/>
                <a:ea typeface="宋体" panose="02010600030101010101" pitchFamily="2" charset="-122"/>
                <a:sym typeface="+mn-ea"/>
              </a:rPr>
              <a:t>t</a:t>
            </a:r>
            <a:r>
              <a:rPr lang="zh-CN" altLang="en-US" sz="2400" dirty="0">
                <a:latin typeface="Times New Roman" panose="02020603050405020304" pitchFamily="18" charset="0"/>
                <a:ea typeface="宋体" panose="02010600030101010101" pitchFamily="2" charset="-122"/>
                <a:sym typeface="+mn-ea"/>
              </a:rPr>
              <a:t>是在时间</a:t>
            </a:r>
            <a:r>
              <a:rPr lang="en-US" altLang="zh-CN" sz="2400">
                <a:latin typeface="Times New Roman" panose="02020603050405020304" pitchFamily="18" charset="0"/>
                <a:ea typeface="宋体" panose="02010600030101010101" pitchFamily="2" charset="-122"/>
                <a:sym typeface="+mn-ea"/>
              </a:rPr>
              <a:t>[0</a:t>
            </a:r>
            <a:r>
              <a:rPr lang="zh-CN" altLang="en-US" sz="2400" dirty="0">
                <a:latin typeface="Times New Roman" panose="02020603050405020304" pitchFamily="18" charset="0"/>
                <a:ea typeface="宋体" panose="02010600030101010101" pitchFamily="2" charset="-122"/>
                <a:sym typeface="+mn-ea"/>
              </a:rPr>
              <a:t>，</a:t>
            </a:r>
            <a:r>
              <a:rPr lang="en-US" altLang="zh-CN" sz="2400" i="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内软件正常运行，在</a:t>
            </a:r>
            <a:r>
              <a:rPr lang="en-US" altLang="zh-CN" sz="2400">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err="1">
                <a:latin typeface="Times New Roman" panose="02020603050405020304" pitchFamily="18" charset="0"/>
                <a:ea typeface="宋体" panose="02010600030101010101" pitchFamily="2" charset="-122"/>
                <a:sym typeface="+mn-ea"/>
              </a:rPr>
              <a:t>+Δ</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内发生故障的条件概率，可得：</a:t>
            </a:r>
            <a:endParaRPr lang="zh-CN" altLang="en-US" sz="2400" dirty="0">
              <a:latin typeface="Times New Roman" panose="02020603050405020304" pitchFamily="18" charset="0"/>
              <a:ea typeface="宋体" panose="02010600030101010101" pitchFamily="2" charset="-122"/>
              <a:sym typeface="+mn-ea"/>
            </a:endParaRPr>
          </a:p>
          <a:p>
            <a:endParaRPr lang="zh-CN" altLang="en-US" sz="2400" dirty="0">
              <a:latin typeface="Times New Roman" panose="02020603050405020304" pitchFamily="18" charset="0"/>
              <a:ea typeface="宋体" panose="02010600030101010101" pitchFamily="2" charset="-122"/>
              <a:sym typeface="+mn-ea"/>
            </a:endParaRPr>
          </a:p>
          <a:p>
            <a:r>
              <a:rPr lang="zh-CN" altLang="en-US" sz="2400" dirty="0">
                <a:latin typeface="Times New Roman" panose="02020603050405020304" pitchFamily="18" charset="0"/>
                <a:ea typeface="宋体" panose="02010600030101010101" pitchFamily="2" charset="-122"/>
                <a:sym typeface="+mn-ea"/>
              </a:rPr>
              <a:t>密度函数</a:t>
            </a:r>
            <a:r>
              <a:rPr lang="en-US" altLang="zh-CN" sz="2400" i="1" err="1">
                <a:latin typeface="Times New Roman" panose="02020603050405020304" pitchFamily="18" charset="0"/>
                <a:ea typeface="宋体" panose="02010600030101010101" pitchFamily="2" charset="-122"/>
                <a:sym typeface="+mn-ea"/>
              </a:rPr>
              <a:t>f</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、累积分布函数</a:t>
            </a:r>
            <a:r>
              <a:rPr lang="en-US" altLang="zh-CN" sz="2400" i="1" err="1">
                <a:latin typeface="Times New Roman" panose="02020603050405020304" pitchFamily="18" charset="0"/>
                <a:ea typeface="宋体" panose="02010600030101010101" pitchFamily="2" charset="-122"/>
                <a:sym typeface="+mn-ea"/>
              </a:rPr>
              <a:t>F</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、可靠性函数</a:t>
            </a:r>
            <a:r>
              <a:rPr lang="en-US" altLang="zh-CN" sz="2400" i="1" err="1">
                <a:latin typeface="Times New Roman" panose="02020603050405020304" pitchFamily="18" charset="0"/>
                <a:ea typeface="宋体" panose="02010600030101010101" pitchFamily="2" charset="-122"/>
                <a:sym typeface="+mn-ea"/>
              </a:rPr>
              <a:t>R</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和故障率函数</a:t>
            </a:r>
            <a:r>
              <a:rPr lang="en-US" altLang="zh-CN" sz="2400" i="1" err="1">
                <a:latin typeface="Times New Roman" panose="02020603050405020304" pitchFamily="18" charset="0"/>
                <a:ea typeface="宋体" panose="02010600030101010101" pitchFamily="2" charset="-122"/>
                <a:sym typeface="+mn-ea"/>
              </a:rPr>
              <a:t>λ</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紧密相关，一般可由任一个惟一地确定另外三个，例如若</a:t>
            </a:r>
            <a:r>
              <a:rPr lang="en-US" altLang="zh-CN" sz="2400" i="1" err="1">
                <a:latin typeface="Times New Roman" panose="02020603050405020304" pitchFamily="18" charset="0"/>
                <a:ea typeface="宋体" panose="02010600030101010101" pitchFamily="2" charset="-122"/>
                <a:sym typeface="+mn-ea"/>
              </a:rPr>
              <a:t>λ</a:t>
            </a:r>
            <a:r>
              <a:rPr lang="en-US" altLang="zh-CN" sz="2400" err="1">
                <a:latin typeface="Times New Roman" panose="02020603050405020304" pitchFamily="18" charset="0"/>
                <a:ea typeface="宋体" panose="02010600030101010101" pitchFamily="2" charset="-122"/>
                <a:sym typeface="+mn-ea"/>
              </a:rPr>
              <a:t>(</a:t>
            </a:r>
            <a:r>
              <a:rPr lang="en-US" altLang="zh-CN" sz="2400" i="1" err="1">
                <a:latin typeface="Times New Roman" panose="02020603050405020304" pitchFamily="18" charset="0"/>
                <a:ea typeface="宋体" panose="02010600030101010101" pitchFamily="2" charset="-122"/>
                <a:sym typeface="+mn-ea"/>
              </a:rPr>
              <a:t>t</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给定，则：</a:t>
            </a:r>
            <a:endParaRPr lang="en-US" altLang="zh-CN" sz="2400"/>
          </a:p>
          <a:p>
            <a:pPr marL="522605" lvl="1" indent="0">
              <a:spcBef>
                <a:spcPct val="25000"/>
              </a:spcBef>
              <a:buClr>
                <a:schemeClr val="accent1"/>
              </a:buClr>
              <a:buSzPct val="65000"/>
              <a:buFont typeface="Wingdings" panose="05000000000000000000" pitchFamily="2" charset="2"/>
              <a:buNone/>
            </a:pPr>
            <a:endParaRPr lang="zh-CN" altLang="en-US" dirty="0">
              <a:latin typeface="Times New Roman" panose="02020603050405020304" pitchFamily="18" charset="0"/>
              <a:ea typeface="宋体" panose="02010600030101010101" pitchFamily="2" charset="-122"/>
            </a:endParaRPr>
          </a:p>
          <a:p>
            <a:endParaRPr lang="zh-CN" altLang="en-US" dirty="0">
              <a:latin typeface="Times New Roman" panose="02020603050405020304" pitchFamily="18" charset="0"/>
              <a:ea typeface="宋体" panose="02010600030101010101" pitchFamily="2" charset="-122"/>
            </a:endParaRPr>
          </a:p>
        </p:txBody>
      </p:sp>
      <p:graphicFrame>
        <p:nvGraphicFramePr>
          <p:cNvPr id="116740" name="对象 116739"/>
          <p:cNvGraphicFramePr/>
          <p:nvPr>
            <p:custDataLst>
              <p:tags r:id="rId1"/>
            </p:custDataLst>
          </p:nvPr>
        </p:nvGraphicFramePr>
        <p:xfrm>
          <a:off x="2589372" y="2195513"/>
          <a:ext cx="6124575" cy="863600"/>
        </p:xfrm>
        <a:graphic>
          <a:graphicData uri="http://schemas.openxmlformats.org/presentationml/2006/ole">
            <mc:AlternateContent xmlns:mc="http://schemas.openxmlformats.org/markup-compatibility/2006">
              <mc:Choice xmlns:v="urn:schemas-microsoft-com:vml" Requires="v">
                <p:oleObj spid="_x0000_s3096" name="" r:id="rId2" imgW="2971800" imgH="419100" progId="Equation.3">
                  <p:embed/>
                </p:oleObj>
              </mc:Choice>
              <mc:Fallback>
                <p:oleObj name="" r:id="rId2" imgW="2971800" imgH="419100" progId="Equation.3">
                  <p:embed/>
                  <p:pic>
                    <p:nvPicPr>
                      <p:cNvPr id="0" name="图片 3095"/>
                      <p:cNvPicPr/>
                      <p:nvPr/>
                    </p:nvPicPr>
                    <p:blipFill>
                      <a:blip r:embed="rId3"/>
                      <a:stretch>
                        <a:fillRect/>
                      </a:stretch>
                    </p:blipFill>
                    <p:spPr>
                      <a:xfrm>
                        <a:off x="2589372" y="2195513"/>
                        <a:ext cx="6124575" cy="863600"/>
                      </a:xfrm>
                      <a:prstGeom prst="rect">
                        <a:avLst/>
                      </a:prstGeom>
                      <a:noFill/>
                      <a:ln w="38100">
                        <a:miter/>
                      </a:ln>
                    </p:spPr>
                  </p:pic>
                </p:oleObj>
              </mc:Fallback>
            </mc:AlternateContent>
          </a:graphicData>
        </a:graphic>
      </p:graphicFrame>
      <p:graphicFrame>
        <p:nvGraphicFramePr>
          <p:cNvPr id="116745" name="内容占位符 116744"/>
          <p:cNvGraphicFramePr/>
          <p:nvPr>
            <p:ph sz="quarter" idx="2"/>
            <p:custDataLst>
              <p:tags r:id="rId4"/>
            </p:custDataLst>
          </p:nvPr>
        </p:nvGraphicFramePr>
        <p:xfrm>
          <a:off x="3948748" y="4406265"/>
          <a:ext cx="3059112" cy="746125"/>
        </p:xfrm>
        <a:graphic>
          <a:graphicData uri="http://schemas.openxmlformats.org/presentationml/2006/ole">
            <mc:AlternateContent xmlns:mc="http://schemas.openxmlformats.org/markup-compatibility/2006">
              <mc:Choice xmlns:v="urn:schemas-microsoft-com:vml" Requires="v">
                <p:oleObj spid="_x0000_s3094" name="" r:id="rId5" imgW="1383665" imgH="330200" progId="Equation.3">
                  <p:embed/>
                </p:oleObj>
              </mc:Choice>
              <mc:Fallback>
                <p:oleObj name="" r:id="rId5" imgW="1383665" imgH="330200" progId="Equation.3">
                  <p:embed/>
                  <p:pic>
                    <p:nvPicPr>
                      <p:cNvPr id="0" name="图片 3093"/>
                      <p:cNvPicPr/>
                      <p:nvPr/>
                    </p:nvPicPr>
                    <p:blipFill>
                      <a:blip r:embed="rId6"/>
                      <a:stretch>
                        <a:fillRect/>
                      </a:stretch>
                    </p:blipFill>
                    <p:spPr>
                      <a:xfrm>
                        <a:off x="3948748" y="4406265"/>
                        <a:ext cx="3059112" cy="746125"/>
                      </a:xfrm>
                      <a:prstGeom prst="rect">
                        <a:avLst/>
                      </a:prstGeom>
                      <a:noFill/>
                      <a:ln w="38100">
                        <a:miter/>
                      </a:ln>
                    </p:spPr>
                  </p:pic>
                </p:oleObj>
              </mc:Fallback>
            </mc:AlternateContent>
          </a:graphicData>
        </a:graphic>
      </p:graphicFrame>
      <p:graphicFrame>
        <p:nvGraphicFramePr>
          <p:cNvPr id="116748" name="内容占位符 116747"/>
          <p:cNvGraphicFramePr/>
          <p:nvPr>
            <p:ph sz="quarter" idx="3"/>
            <p:custDataLst>
              <p:tags r:id="rId7"/>
            </p:custDataLst>
          </p:nvPr>
        </p:nvGraphicFramePr>
        <p:xfrm>
          <a:off x="3948748" y="5289868"/>
          <a:ext cx="3440112" cy="698500"/>
        </p:xfrm>
        <a:graphic>
          <a:graphicData uri="http://schemas.openxmlformats.org/presentationml/2006/ole">
            <mc:AlternateContent xmlns:mc="http://schemas.openxmlformats.org/markup-compatibility/2006">
              <mc:Choice xmlns:v="urn:schemas-microsoft-com:vml" Requires="v">
                <p:oleObj spid="_x0000_s3097" name="" r:id="rId8" imgW="1650365" imgH="330200" progId="Equation.3">
                  <p:embed/>
                </p:oleObj>
              </mc:Choice>
              <mc:Fallback>
                <p:oleObj name="" r:id="rId8" imgW="1650365" imgH="330200" progId="Equation.3">
                  <p:embed/>
                  <p:pic>
                    <p:nvPicPr>
                      <p:cNvPr id="0" name="图片 3096"/>
                      <p:cNvPicPr/>
                      <p:nvPr/>
                    </p:nvPicPr>
                    <p:blipFill>
                      <a:blip r:embed="rId9"/>
                      <a:stretch>
                        <a:fillRect/>
                      </a:stretch>
                    </p:blipFill>
                    <p:spPr>
                      <a:xfrm>
                        <a:off x="3948748" y="5289868"/>
                        <a:ext cx="3440112" cy="698500"/>
                      </a:xfrm>
                      <a:prstGeom prst="rect">
                        <a:avLst/>
                      </a:prstGeom>
                      <a:noFill/>
                      <a:ln w="38100">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a:t>
            </a:r>
            <a:r>
              <a:rPr lang="en-US" altLang="zh-CN">
                <a:solidFill>
                  <a:srgbClr val="C00000"/>
                </a:solidFill>
                <a:sym typeface="+mn-ea"/>
              </a:rPr>
              <a:t>软件可靠性度量</a:t>
            </a:r>
            <a:endParaRPr lang="zh-CN" altLang="en-US"/>
          </a:p>
        </p:txBody>
      </p:sp>
      <p:sp>
        <p:nvSpPr>
          <p:cNvPr id="4" name="内容占位符 3"/>
          <p:cNvSpPr/>
          <p:nvPr>
            <p:ph idx="1"/>
          </p:nvPr>
        </p:nvSpPr>
        <p:spPr/>
        <p:txBody>
          <a:bodyPr/>
          <a:p>
            <a:r>
              <a:rPr lang="zh-CN" altLang="en-US" dirty="0">
                <a:latin typeface="Times New Roman" panose="02020603050405020304" pitchFamily="18" charset="0"/>
                <a:ea typeface="宋体" panose="02010600030101010101" pitchFamily="2" charset="-122"/>
                <a:sym typeface="+mn-ea"/>
              </a:rPr>
              <a:t>密度函数</a:t>
            </a:r>
            <a:r>
              <a:rPr lang="en-US" altLang="zh-CN" i="1" err="1">
                <a:latin typeface="Times New Roman" panose="02020603050405020304" pitchFamily="18" charset="0"/>
                <a:ea typeface="宋体" panose="02010600030101010101" pitchFamily="2" charset="-122"/>
                <a:sym typeface="+mn-ea"/>
              </a:rPr>
              <a:t>f</a:t>
            </a:r>
            <a:r>
              <a:rPr lang="en-US" altLang="zh-CN" err="1">
                <a:latin typeface="Times New Roman" panose="02020603050405020304" pitchFamily="18" charset="0"/>
                <a:ea typeface="宋体" panose="02010600030101010101" pitchFamily="2" charset="-122"/>
                <a:sym typeface="+mn-ea"/>
              </a:rPr>
              <a:t>(</a:t>
            </a:r>
            <a:r>
              <a:rPr lang="en-US" altLang="zh-CN" i="1" err="1">
                <a:latin typeface="Times New Roman" panose="02020603050405020304" pitchFamily="18" charset="0"/>
                <a:ea typeface="宋体" panose="02010600030101010101" pitchFamily="2" charset="-122"/>
                <a:sym typeface="+mn-ea"/>
              </a:rPr>
              <a:t>t</a:t>
            </a:r>
            <a:r>
              <a:rPr lang="en-US" altLang="zh-CN">
                <a:latin typeface="Times New Roman" panose="02020603050405020304" pitchFamily="18" charset="0"/>
                <a:ea typeface="宋体" panose="02010600030101010101" pitchFamily="2" charset="-122"/>
                <a:sym typeface="+mn-ea"/>
              </a:rPr>
              <a:t>)</a:t>
            </a:r>
            <a:r>
              <a:rPr lang="zh-CN" altLang="en-US" dirty="0">
                <a:latin typeface="Times New Roman" panose="02020603050405020304" pitchFamily="18" charset="0"/>
                <a:ea typeface="宋体" panose="02010600030101010101" pitchFamily="2" charset="-122"/>
                <a:sym typeface="+mn-ea"/>
              </a:rPr>
              <a:t>、累积分布函数</a:t>
            </a:r>
            <a:r>
              <a:rPr lang="en-US" altLang="zh-CN" i="1" err="1">
                <a:latin typeface="Times New Roman" panose="02020603050405020304" pitchFamily="18" charset="0"/>
                <a:ea typeface="宋体" panose="02010600030101010101" pitchFamily="2" charset="-122"/>
                <a:sym typeface="+mn-ea"/>
              </a:rPr>
              <a:t>F</a:t>
            </a:r>
            <a:r>
              <a:rPr lang="en-US" altLang="zh-CN" err="1">
                <a:latin typeface="Times New Roman" panose="02020603050405020304" pitchFamily="18" charset="0"/>
                <a:ea typeface="宋体" panose="02010600030101010101" pitchFamily="2" charset="-122"/>
                <a:sym typeface="+mn-ea"/>
              </a:rPr>
              <a:t>(</a:t>
            </a:r>
            <a:r>
              <a:rPr lang="en-US" altLang="zh-CN" i="1" err="1">
                <a:latin typeface="Times New Roman" panose="02020603050405020304" pitchFamily="18" charset="0"/>
                <a:ea typeface="宋体" panose="02010600030101010101" pitchFamily="2" charset="-122"/>
                <a:sym typeface="+mn-ea"/>
              </a:rPr>
              <a:t>t</a:t>
            </a:r>
            <a:r>
              <a:rPr lang="en-US" altLang="zh-CN">
                <a:latin typeface="Times New Roman" panose="02020603050405020304" pitchFamily="18" charset="0"/>
                <a:ea typeface="宋体" panose="02010600030101010101" pitchFamily="2" charset="-122"/>
                <a:sym typeface="+mn-ea"/>
              </a:rPr>
              <a:t>)</a:t>
            </a:r>
            <a:r>
              <a:rPr lang="zh-CN" altLang="en-US" dirty="0">
                <a:latin typeface="Times New Roman" panose="02020603050405020304" pitchFamily="18" charset="0"/>
                <a:ea typeface="宋体" panose="02010600030101010101" pitchFamily="2" charset="-122"/>
                <a:sym typeface="+mn-ea"/>
              </a:rPr>
              <a:t>、可靠性函数</a:t>
            </a:r>
            <a:r>
              <a:rPr lang="en-US" altLang="zh-CN" i="1" err="1">
                <a:latin typeface="Times New Roman" panose="02020603050405020304" pitchFamily="18" charset="0"/>
                <a:ea typeface="宋体" panose="02010600030101010101" pitchFamily="2" charset="-122"/>
                <a:sym typeface="+mn-ea"/>
              </a:rPr>
              <a:t>R</a:t>
            </a:r>
            <a:r>
              <a:rPr lang="en-US" altLang="zh-CN" err="1">
                <a:latin typeface="Times New Roman" panose="02020603050405020304" pitchFamily="18" charset="0"/>
                <a:ea typeface="宋体" panose="02010600030101010101" pitchFamily="2" charset="-122"/>
                <a:sym typeface="+mn-ea"/>
              </a:rPr>
              <a:t>(</a:t>
            </a:r>
            <a:r>
              <a:rPr lang="en-US" altLang="zh-CN" i="1" err="1">
                <a:latin typeface="Times New Roman" panose="02020603050405020304" pitchFamily="18" charset="0"/>
                <a:ea typeface="宋体" panose="02010600030101010101" pitchFamily="2" charset="-122"/>
                <a:sym typeface="+mn-ea"/>
              </a:rPr>
              <a:t>t</a:t>
            </a:r>
            <a:r>
              <a:rPr lang="en-US" altLang="zh-CN">
                <a:latin typeface="Times New Roman" panose="02020603050405020304" pitchFamily="18" charset="0"/>
                <a:ea typeface="宋体" panose="02010600030101010101" pitchFamily="2" charset="-122"/>
                <a:sym typeface="+mn-ea"/>
              </a:rPr>
              <a:t>)</a:t>
            </a:r>
            <a:r>
              <a:rPr lang="zh-CN" altLang="en-US" dirty="0">
                <a:latin typeface="Times New Roman" panose="02020603050405020304" pitchFamily="18" charset="0"/>
                <a:ea typeface="宋体" panose="02010600030101010101" pitchFamily="2" charset="-122"/>
                <a:sym typeface="+mn-ea"/>
              </a:rPr>
              <a:t>和故障率函数</a:t>
            </a:r>
            <a:r>
              <a:rPr lang="en-US" altLang="zh-CN" i="1" err="1">
                <a:latin typeface="Times New Roman" panose="02020603050405020304" pitchFamily="18" charset="0"/>
                <a:ea typeface="宋体" panose="02010600030101010101" pitchFamily="2" charset="-122"/>
                <a:sym typeface="+mn-ea"/>
              </a:rPr>
              <a:t>λ</a:t>
            </a:r>
            <a:r>
              <a:rPr lang="en-US" altLang="zh-CN" err="1">
                <a:latin typeface="Times New Roman" panose="02020603050405020304" pitchFamily="18" charset="0"/>
                <a:ea typeface="宋体" panose="02010600030101010101" pitchFamily="2" charset="-122"/>
                <a:sym typeface="+mn-ea"/>
              </a:rPr>
              <a:t>(</a:t>
            </a:r>
            <a:r>
              <a:rPr lang="en-US" altLang="zh-CN" i="1" err="1">
                <a:latin typeface="Times New Roman" panose="02020603050405020304" pitchFamily="18" charset="0"/>
                <a:ea typeface="宋体" panose="02010600030101010101" pitchFamily="2" charset="-122"/>
                <a:sym typeface="+mn-ea"/>
              </a:rPr>
              <a:t>t</a:t>
            </a:r>
            <a:r>
              <a:rPr lang="en-US" altLang="zh-CN">
                <a:latin typeface="Times New Roman" panose="02020603050405020304" pitchFamily="18" charset="0"/>
                <a:ea typeface="宋体" panose="02010600030101010101" pitchFamily="2" charset="-122"/>
                <a:sym typeface="+mn-ea"/>
              </a:rPr>
              <a:t>)</a:t>
            </a:r>
            <a:endParaRPr lang="zh-CN" altLang="en-US"/>
          </a:p>
        </p:txBody>
      </p:sp>
      <p:pic>
        <p:nvPicPr>
          <p:cNvPr id="5" name="图片 4"/>
          <p:cNvPicPr>
            <a:picLocks noChangeAspect="1"/>
          </p:cNvPicPr>
          <p:nvPr/>
        </p:nvPicPr>
        <p:blipFill>
          <a:blip r:embed="rId1"/>
          <a:stretch>
            <a:fillRect/>
          </a:stretch>
        </p:blipFill>
        <p:spPr>
          <a:xfrm>
            <a:off x="993140" y="2385695"/>
            <a:ext cx="2343150" cy="419100"/>
          </a:xfrm>
          <a:prstGeom prst="rect">
            <a:avLst/>
          </a:prstGeom>
          <a:ln>
            <a:solidFill>
              <a:schemeClr val="accent1"/>
            </a:solidFill>
          </a:ln>
        </p:spPr>
      </p:pic>
      <p:pic>
        <p:nvPicPr>
          <p:cNvPr id="6" name="图片 5"/>
          <p:cNvPicPr>
            <a:picLocks noChangeAspect="1"/>
          </p:cNvPicPr>
          <p:nvPr/>
        </p:nvPicPr>
        <p:blipFill>
          <a:blip r:embed="rId2"/>
          <a:stretch>
            <a:fillRect/>
          </a:stretch>
        </p:blipFill>
        <p:spPr>
          <a:xfrm>
            <a:off x="7147560" y="2312035"/>
            <a:ext cx="4295775" cy="838200"/>
          </a:xfrm>
          <a:prstGeom prst="rect">
            <a:avLst/>
          </a:prstGeom>
          <a:ln>
            <a:solidFill>
              <a:schemeClr val="accent1"/>
            </a:solidFill>
          </a:ln>
        </p:spPr>
      </p:pic>
      <p:pic>
        <p:nvPicPr>
          <p:cNvPr id="7" name="图片 6"/>
          <p:cNvPicPr>
            <a:picLocks noChangeAspect="1"/>
          </p:cNvPicPr>
          <p:nvPr/>
        </p:nvPicPr>
        <p:blipFill>
          <a:blip r:embed="rId3"/>
          <a:stretch>
            <a:fillRect/>
          </a:stretch>
        </p:blipFill>
        <p:spPr>
          <a:xfrm>
            <a:off x="4207510" y="2312035"/>
            <a:ext cx="1857375" cy="800100"/>
          </a:xfrm>
          <a:prstGeom prst="rect">
            <a:avLst/>
          </a:prstGeom>
          <a:ln>
            <a:solidFill>
              <a:schemeClr val="accent1"/>
            </a:solidFill>
          </a:ln>
        </p:spPr>
      </p:pic>
      <p:pic>
        <p:nvPicPr>
          <p:cNvPr id="9" name="图片 8"/>
          <p:cNvPicPr>
            <a:picLocks noChangeAspect="1"/>
          </p:cNvPicPr>
          <p:nvPr/>
        </p:nvPicPr>
        <p:blipFill>
          <a:blip r:embed="rId4"/>
          <a:stretch>
            <a:fillRect/>
          </a:stretch>
        </p:blipFill>
        <p:spPr>
          <a:xfrm>
            <a:off x="727710" y="3150235"/>
            <a:ext cx="2874010" cy="1353185"/>
          </a:xfrm>
          <a:prstGeom prst="rect">
            <a:avLst/>
          </a:prstGeom>
          <a:ln>
            <a:solidFill>
              <a:schemeClr val="accent1"/>
            </a:solidFill>
          </a:ln>
        </p:spPr>
      </p:pic>
      <p:graphicFrame>
        <p:nvGraphicFramePr>
          <p:cNvPr id="10" name="表格 9"/>
          <p:cNvGraphicFramePr/>
          <p:nvPr/>
        </p:nvGraphicFramePr>
        <p:xfrm>
          <a:off x="1576705" y="5010785"/>
          <a:ext cx="8533765" cy="1524000"/>
        </p:xfrm>
        <a:graphic>
          <a:graphicData uri="http://schemas.openxmlformats.org/drawingml/2006/table">
            <a:tbl>
              <a:tblPr firstRow="1" bandRow="1">
                <a:tableStyleId>{5C22544A-7EE6-4342-B048-85BDC9FD1C3A}</a:tableStyleId>
              </a:tblPr>
              <a:tblGrid>
                <a:gridCol w="2132965"/>
                <a:gridCol w="2132965"/>
                <a:gridCol w="2132965"/>
                <a:gridCol w="2132965"/>
              </a:tblGrid>
              <a:tr h="381000">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R</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λ</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r>
              <a:tr h="381000">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r>
              <a:tr h="381000">
                <a:tc>
                  <a:txBody>
                    <a:bodyPr/>
                    <a:p>
                      <a:pPr>
                        <a:buNone/>
                      </a:pPr>
                      <a:r>
                        <a:rPr lang="en-US" altLang="zh-CN" sz="1800" i="1" err="1">
                          <a:latin typeface="Times New Roman" panose="02020603050405020304" pitchFamily="18" charset="0"/>
                          <a:ea typeface="宋体" panose="02010600030101010101" pitchFamily="2" charset="-122"/>
                          <a:sym typeface="+mn-ea"/>
                        </a:rPr>
                        <a:t>R</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R</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R</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r>
              <a:tr h="381000">
                <a:tc>
                  <a:txBody>
                    <a:bodyPr/>
                    <a:p>
                      <a:pPr>
                        <a:buNone/>
                      </a:pPr>
                      <a:r>
                        <a:rPr lang="en-US" altLang="zh-CN" sz="1800" i="1" err="1">
                          <a:latin typeface="Times New Roman" panose="02020603050405020304" pitchFamily="18" charset="0"/>
                          <a:ea typeface="宋体" panose="02010600030101010101" pitchFamily="2" charset="-122"/>
                          <a:sym typeface="+mn-ea"/>
                        </a:rPr>
                        <a:t>λ</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λ</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λ</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c>
                  <a:txBody>
                    <a:bodyPr/>
                    <a:p>
                      <a:pPr>
                        <a:buNone/>
                      </a:pPr>
                      <a:r>
                        <a:rPr lang="en-US" altLang="zh-CN" sz="1800" i="1" err="1">
                          <a:latin typeface="Times New Roman" panose="02020603050405020304" pitchFamily="18" charset="0"/>
                          <a:ea typeface="宋体" panose="02010600030101010101" pitchFamily="2" charset="-122"/>
                          <a:sym typeface="+mn-ea"/>
                        </a:rPr>
                        <a:t>f</a:t>
                      </a:r>
                      <a:r>
                        <a:rPr lang="en-US" altLang="zh-CN" sz="1800" err="1">
                          <a:latin typeface="Times New Roman" panose="02020603050405020304" pitchFamily="18" charset="0"/>
                          <a:ea typeface="宋体" panose="02010600030101010101" pitchFamily="2" charset="-122"/>
                          <a:sym typeface="+mn-ea"/>
                        </a:rPr>
                        <a:t>(</a:t>
                      </a:r>
                      <a:r>
                        <a:rPr lang="en-US" altLang="zh-CN" sz="1800" i="1" err="1">
                          <a:latin typeface="Times New Roman" panose="02020603050405020304" pitchFamily="18" charset="0"/>
                          <a:ea typeface="宋体" panose="02010600030101010101" pitchFamily="2" charset="-122"/>
                          <a:sym typeface="+mn-ea"/>
                        </a:rPr>
                        <a:t>t</a:t>
                      </a:r>
                      <a:r>
                        <a:rPr lang="en-US" altLang="zh-CN" sz="1800">
                          <a:latin typeface="Times New Roman" panose="02020603050405020304" pitchFamily="18" charset="0"/>
                          <a:ea typeface="宋体" panose="02010600030101010101" pitchFamily="2" charset="-122"/>
                          <a:sym typeface="+mn-ea"/>
                        </a:rPr>
                        <a:t>)=</a:t>
                      </a:r>
                      <a:endParaRPr lang="zh-CN" altLang="en-US"/>
                    </a:p>
                  </a:txBody>
                  <a:tcPr/>
                </a:tc>
              </a:tr>
            </a:tbl>
          </a:graphicData>
        </a:graphic>
      </p:graphicFrame>
      <p:graphicFrame>
        <p:nvGraphicFramePr>
          <p:cNvPr id="116740" name="对象 116739"/>
          <p:cNvGraphicFramePr/>
          <p:nvPr>
            <p:custDataLst>
              <p:tags r:id="rId5"/>
            </p:custDataLst>
          </p:nvPr>
        </p:nvGraphicFramePr>
        <p:xfrm>
          <a:off x="4256247" y="3428683"/>
          <a:ext cx="6124575" cy="863600"/>
        </p:xfrm>
        <a:graphic>
          <a:graphicData uri="http://schemas.openxmlformats.org/presentationml/2006/ole">
            <mc:AlternateContent xmlns:mc="http://schemas.openxmlformats.org/markup-compatibility/2006">
              <mc:Choice xmlns:v="urn:schemas-microsoft-com:vml" Requires="v">
                <p:oleObj spid="_x0000_s3096" name="" r:id="rId6" imgW="2971800" imgH="419100" progId="Equation.3">
                  <p:embed/>
                </p:oleObj>
              </mc:Choice>
              <mc:Fallback>
                <p:oleObj name="" r:id="rId6" imgW="2971800" imgH="419100" progId="Equation.3">
                  <p:embed/>
                  <p:pic>
                    <p:nvPicPr>
                      <p:cNvPr id="0" name="图片 3095"/>
                      <p:cNvPicPr/>
                      <p:nvPr/>
                    </p:nvPicPr>
                    <p:blipFill>
                      <a:blip r:embed="rId7"/>
                      <a:stretch>
                        <a:fillRect/>
                      </a:stretch>
                    </p:blipFill>
                    <p:spPr>
                      <a:xfrm>
                        <a:off x="4256247" y="3428683"/>
                        <a:ext cx="6124575" cy="863600"/>
                      </a:xfrm>
                      <a:prstGeom prst="rect">
                        <a:avLst/>
                      </a:prstGeom>
                      <a:noFill/>
                      <a:ln w="12700">
                        <a:solidFill>
                          <a:schemeClr val="accent1"/>
                        </a:solid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sp>
        <p:nvSpPr>
          <p:cNvPr id="3" name="内容占位符 2"/>
          <p:cNvSpPr>
            <a:spLocks noGrp="1"/>
          </p:cNvSpPr>
          <p:nvPr>
            <p:ph idx="1"/>
          </p:nvPr>
        </p:nvSpPr>
        <p:spPr>
          <a:xfrm>
            <a:off x="838200" y="1538605"/>
            <a:ext cx="10744835" cy="4638675"/>
          </a:xfrm>
        </p:spPr>
        <p:txBody>
          <a:bodyPr/>
          <a:p>
            <a:pPr marL="0" lvl="1"/>
            <a:r>
              <a:rPr lang="zh-CN" altLang="en-US" sz="2800" dirty="0">
                <a:latin typeface="Times New Roman" panose="02020603050405020304" pitchFamily="18" charset="0"/>
                <a:ea typeface="宋体" panose="02010600030101010101" pitchFamily="2" charset="-122"/>
                <a:sym typeface="+mn-ea"/>
              </a:rPr>
              <a:t>根据</a:t>
            </a:r>
            <a:r>
              <a:rPr lang="en-US" altLang="zh-CN" sz="2800" i="1" err="1">
                <a:latin typeface="Times New Roman" panose="02020603050405020304" pitchFamily="18" charset="0"/>
                <a:ea typeface="宋体" panose="02010600030101010101" pitchFamily="2" charset="-122"/>
                <a:sym typeface="+mn-ea"/>
              </a:rPr>
              <a:t>f</a:t>
            </a:r>
            <a:r>
              <a:rPr lang="en-US" altLang="zh-CN" sz="2800" err="1">
                <a:latin typeface="Times New Roman" panose="02020603050405020304" pitchFamily="18" charset="0"/>
                <a:ea typeface="宋体" panose="02010600030101010101" pitchFamily="2" charset="-122"/>
                <a:sym typeface="+mn-ea"/>
              </a:rPr>
              <a:t>(</a:t>
            </a:r>
            <a:r>
              <a:rPr lang="en-US" altLang="zh-CN" sz="2800" i="1" err="1">
                <a:latin typeface="Times New Roman" panose="02020603050405020304" pitchFamily="18" charset="0"/>
                <a:ea typeface="宋体" panose="02010600030101010101" pitchFamily="2" charset="-122"/>
                <a:sym typeface="+mn-ea"/>
              </a:rPr>
              <a:t>t</a:t>
            </a:r>
            <a:r>
              <a:rPr lang="en-US" altLang="zh-CN" sz="2800">
                <a:latin typeface="Times New Roman" panose="02020603050405020304" pitchFamily="18" charset="0"/>
                <a:ea typeface="宋体" panose="02010600030101010101" pitchFamily="2" charset="-122"/>
                <a:sym typeface="+mn-ea"/>
              </a:rPr>
              <a:t>)</a:t>
            </a:r>
            <a:r>
              <a:rPr lang="zh-CN" altLang="en-US" sz="2800" dirty="0">
                <a:latin typeface="Times New Roman" panose="02020603050405020304" pitchFamily="18" charset="0"/>
                <a:ea typeface="宋体" panose="02010600030101010101" pitchFamily="2" charset="-122"/>
                <a:sym typeface="+mn-ea"/>
              </a:rPr>
              <a:t>或</a:t>
            </a:r>
            <a:r>
              <a:rPr lang="en-US" altLang="zh-CN" sz="2800" i="1" err="1">
                <a:latin typeface="Times New Roman" panose="02020603050405020304" pitchFamily="18" charset="0"/>
                <a:ea typeface="宋体" panose="02010600030101010101" pitchFamily="2" charset="-122"/>
                <a:sym typeface="+mn-ea"/>
              </a:rPr>
              <a:t>R</a:t>
            </a:r>
            <a:r>
              <a:rPr lang="en-US" altLang="zh-CN" sz="2800" err="1">
                <a:latin typeface="Times New Roman" panose="02020603050405020304" pitchFamily="18" charset="0"/>
                <a:ea typeface="宋体" panose="02010600030101010101" pitchFamily="2" charset="-122"/>
                <a:sym typeface="+mn-ea"/>
              </a:rPr>
              <a:t>(</a:t>
            </a:r>
            <a:r>
              <a:rPr lang="en-US" altLang="zh-CN" sz="2800" i="1" err="1">
                <a:latin typeface="Times New Roman" panose="02020603050405020304" pitchFamily="18" charset="0"/>
                <a:ea typeface="宋体" panose="02010600030101010101" pitchFamily="2" charset="-122"/>
                <a:sym typeface="+mn-ea"/>
              </a:rPr>
              <a:t>t</a:t>
            </a:r>
            <a:r>
              <a:rPr lang="en-US" altLang="zh-CN" sz="2800">
                <a:latin typeface="Times New Roman" panose="02020603050405020304" pitchFamily="18" charset="0"/>
                <a:ea typeface="宋体" panose="02010600030101010101" pitchFamily="2" charset="-122"/>
                <a:sym typeface="+mn-ea"/>
              </a:rPr>
              <a:t>)</a:t>
            </a:r>
            <a:r>
              <a:rPr lang="zh-CN" altLang="en-US" sz="2800" dirty="0">
                <a:latin typeface="Times New Roman" panose="02020603050405020304" pitchFamily="18" charset="0"/>
                <a:ea typeface="宋体" panose="02010600030101010101" pitchFamily="2" charset="-122"/>
                <a:sym typeface="+mn-ea"/>
              </a:rPr>
              <a:t>可计算平均失效时间函数</a:t>
            </a:r>
            <a:r>
              <a:rPr lang="en-US" altLang="zh-CN" sz="2800">
                <a:latin typeface="Times New Roman" panose="02020603050405020304" pitchFamily="18" charset="0"/>
                <a:ea typeface="宋体" panose="02010600030101010101" pitchFamily="2" charset="-122"/>
                <a:sym typeface="+mn-ea"/>
              </a:rPr>
              <a:t>MTTF</a:t>
            </a:r>
            <a:r>
              <a:rPr lang="zh-CN" altLang="en-US" sz="2800" dirty="0">
                <a:latin typeface="Times New Roman" panose="02020603050405020304" pitchFamily="18" charset="0"/>
                <a:ea typeface="宋体" panose="02010600030101010101" pitchFamily="2" charset="-122"/>
                <a:sym typeface="+mn-ea"/>
              </a:rPr>
              <a:t>，从而预测故障时间</a:t>
            </a:r>
            <a:endParaRPr lang="zh-CN" altLang="en-US" sz="2800" dirty="0">
              <a:latin typeface="Times New Roman" panose="02020603050405020304" pitchFamily="18" charset="0"/>
              <a:ea typeface="宋体" panose="02010600030101010101" pitchFamily="2" charset="-122"/>
            </a:endParaRPr>
          </a:p>
          <a:p>
            <a:endParaRPr lang="en-US" altLang="zh-CN"/>
          </a:p>
          <a:p>
            <a:endParaRPr lang="en-US" altLang="zh-CN"/>
          </a:p>
        </p:txBody>
      </p:sp>
      <p:graphicFrame>
        <p:nvGraphicFramePr>
          <p:cNvPr id="116751" name="对象 116750"/>
          <p:cNvGraphicFramePr/>
          <p:nvPr>
            <p:custDataLst>
              <p:tags r:id="rId1"/>
            </p:custDataLst>
          </p:nvPr>
        </p:nvGraphicFramePr>
        <p:xfrm>
          <a:off x="3549333" y="2482850"/>
          <a:ext cx="4497387" cy="795338"/>
        </p:xfrm>
        <a:graphic>
          <a:graphicData uri="http://schemas.openxmlformats.org/presentationml/2006/ole">
            <mc:AlternateContent xmlns:mc="http://schemas.openxmlformats.org/markup-compatibility/2006">
              <mc:Choice xmlns:v="urn:schemas-microsoft-com:vml" Requires="v">
                <p:oleObj spid="_x0000_s3095" name="" r:id="rId2" imgW="1866265" imgH="330200" progId="Equation.3">
                  <p:embed/>
                </p:oleObj>
              </mc:Choice>
              <mc:Fallback>
                <p:oleObj name="" r:id="rId2" imgW="1866265" imgH="330200" progId="Equation.3">
                  <p:embed/>
                  <p:pic>
                    <p:nvPicPr>
                      <p:cNvPr id="0" name="图片 3094"/>
                      <p:cNvPicPr/>
                      <p:nvPr/>
                    </p:nvPicPr>
                    <p:blipFill>
                      <a:blip r:embed="rId3"/>
                      <a:stretch>
                        <a:fillRect/>
                      </a:stretch>
                    </p:blipFill>
                    <p:spPr>
                      <a:xfrm>
                        <a:off x="3549333" y="2482850"/>
                        <a:ext cx="4497387" cy="795338"/>
                      </a:xfrm>
                      <a:prstGeom prst="rect">
                        <a:avLst/>
                      </a:prstGeom>
                      <a:noFill/>
                      <a:ln w="38100">
                        <a:noFill/>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sp>
        <p:nvSpPr>
          <p:cNvPr id="3" name="内容占位符 2"/>
          <p:cNvSpPr>
            <a:spLocks noGrp="1"/>
          </p:cNvSpPr>
          <p:nvPr>
            <p:ph idx="1"/>
          </p:nvPr>
        </p:nvSpPr>
        <p:spPr/>
        <p:txBody>
          <a:bodyPr/>
          <a:p>
            <a:r>
              <a:rPr lang="zh-CN" altLang="en-US" dirty="0">
                <a:ea typeface="宋体" panose="02010600030101010101" pitchFamily="2" charset="-122"/>
                <a:sym typeface="+mn-ea"/>
              </a:rPr>
              <a:t>软件可靠性度量模型：指数分布</a:t>
            </a:r>
            <a:endParaRPr lang="zh-CN" altLang="en-US" dirty="0">
              <a:ea typeface="宋体" panose="02010600030101010101" pitchFamily="2" charset="-122"/>
              <a:sym typeface="+mn-ea"/>
            </a:endParaRPr>
          </a:p>
          <a:p>
            <a:pPr lvl="1" algn="l">
              <a:spcBef>
                <a:spcPts val="500"/>
              </a:spcBef>
              <a:buClrTx/>
              <a:buSzTx/>
            </a:pPr>
            <a:r>
              <a:rPr lang="en-US" altLang="zh-CN">
                <a:sym typeface="+mn-ea"/>
              </a:rPr>
              <a:t>密度函数为</a:t>
            </a:r>
            <a:r>
              <a:rPr lang="zh-CN" altLang="en-US">
                <a:sym typeface="+mn-ea"/>
              </a:rPr>
              <a:t>：</a:t>
            </a:r>
            <a:endParaRPr lang="en-US" altLang="zh-CN"/>
          </a:p>
          <a:p>
            <a:pPr lvl="1" algn="l">
              <a:spcBef>
                <a:spcPts val="500"/>
              </a:spcBef>
              <a:buClrTx/>
              <a:buSzTx/>
            </a:pPr>
            <a:endParaRPr lang="en-US" altLang="zh-CN" sz="1600">
              <a:sym typeface="+mn-ea"/>
            </a:endParaRPr>
          </a:p>
          <a:p>
            <a:pPr lvl="1" algn="l">
              <a:spcBef>
                <a:spcPts val="500"/>
              </a:spcBef>
              <a:buClrTx/>
              <a:buSzTx/>
            </a:pPr>
            <a:r>
              <a:rPr lang="en-US" altLang="zh-CN">
                <a:sym typeface="+mn-ea"/>
              </a:rPr>
              <a:t>分布函数为</a:t>
            </a:r>
            <a:r>
              <a:rPr lang="zh-CN" altLang="en-US"/>
              <a:t>：</a:t>
            </a:r>
            <a:endParaRPr lang="en-US" altLang="zh-CN"/>
          </a:p>
          <a:p>
            <a:pPr lvl="1" algn="l">
              <a:spcBef>
                <a:spcPts val="500"/>
              </a:spcBef>
              <a:buClrTx/>
              <a:buSzTx/>
            </a:pPr>
            <a:endParaRPr lang="en-US" altLang="zh-CN" sz="1200">
              <a:sym typeface="+mn-ea"/>
            </a:endParaRPr>
          </a:p>
          <a:p>
            <a:pPr lvl="1" algn="l">
              <a:spcBef>
                <a:spcPts val="500"/>
              </a:spcBef>
              <a:buClrTx/>
              <a:buSzTx/>
            </a:pPr>
            <a:r>
              <a:rPr lang="en-US" altLang="zh-CN">
                <a:sym typeface="+mn-ea"/>
              </a:rPr>
              <a:t>故障率函数为</a:t>
            </a:r>
            <a:r>
              <a:rPr lang="zh-CN" altLang="en-US" dirty="0">
                <a:ea typeface="宋体" panose="02010600030101010101" pitchFamily="2" charset="-122"/>
                <a:sym typeface="+mn-ea"/>
              </a:rPr>
              <a:t>（常数）</a:t>
            </a:r>
            <a:r>
              <a:rPr lang="zh-CN" altLang="en-US">
                <a:sym typeface="+mn-ea"/>
              </a:rPr>
              <a:t>：</a:t>
            </a:r>
            <a:r>
              <a:rPr lang="en-US" altLang="zh-CN">
                <a:sym typeface="+mn-ea"/>
              </a:rPr>
              <a:t>	</a:t>
            </a:r>
            <a:endParaRPr lang="en-US" altLang="zh-CN"/>
          </a:p>
        </p:txBody>
      </p:sp>
      <p:sp>
        <p:nvSpPr>
          <p:cNvPr id="4" name="文本框 3"/>
          <p:cNvSpPr txBox="1"/>
          <p:nvPr/>
        </p:nvSpPr>
        <p:spPr>
          <a:xfrm>
            <a:off x="1172845" y="5274310"/>
            <a:ext cx="9121140" cy="829945"/>
          </a:xfrm>
          <a:prstGeom prst="rect">
            <a:avLst/>
          </a:prstGeom>
          <a:noFill/>
        </p:spPr>
        <p:txBody>
          <a:bodyPr wrap="square" rtlCol="0" anchor="t">
            <a:spAutoFit/>
          </a:bodyPr>
          <a:p>
            <a:pPr marL="522605" lvl="1" indent="0" fontAlgn="auto">
              <a:spcBef>
                <a:spcPts val="0"/>
              </a:spcBef>
              <a:buClr>
                <a:schemeClr val="accent1"/>
              </a:buClr>
              <a:buSzPct val="65000"/>
              <a:buFont typeface="Wingdings" panose="05000000000000000000" pitchFamily="2" charset="2"/>
              <a:buNone/>
            </a:pPr>
            <a:r>
              <a:rPr lang="zh-CN" altLang="en-US" sz="2400" dirty="0">
                <a:solidFill>
                  <a:srgbClr val="FF3300"/>
                </a:solidFill>
                <a:ea typeface="黑体" panose="02010609060101010101" pitchFamily="2" charset="-122"/>
                <a:sym typeface="+mn-ea"/>
              </a:rPr>
              <a:t>具有指数寿命分布的软件产品（故障率为常数）没有老化现象，符合不需要维护的软件的运行情况</a:t>
            </a:r>
            <a:endParaRPr lang="zh-CN" altLang="en-US" sz="2400" dirty="0">
              <a:solidFill>
                <a:srgbClr val="FF3300"/>
              </a:solidFill>
              <a:ea typeface="黑体" panose="02010609060101010101" pitchFamily="2" charset="-122"/>
              <a:sym typeface="+mn-ea"/>
            </a:endParaRPr>
          </a:p>
        </p:txBody>
      </p:sp>
      <p:graphicFrame>
        <p:nvGraphicFramePr>
          <p:cNvPr id="123908" name="内容占位符 123907"/>
          <p:cNvGraphicFramePr/>
          <p:nvPr>
            <p:ph sz="half" idx="2"/>
            <p:custDataLst>
              <p:tags r:id="rId1"/>
            </p:custDataLst>
          </p:nvPr>
        </p:nvGraphicFramePr>
        <p:xfrm>
          <a:off x="4839970" y="1935798"/>
          <a:ext cx="2124075" cy="2765425"/>
        </p:xfrm>
        <a:graphic>
          <a:graphicData uri="http://schemas.openxmlformats.org/presentationml/2006/ole">
            <mc:AlternateContent xmlns:mc="http://schemas.openxmlformats.org/markup-compatibility/2006">
              <mc:Choice xmlns:v="urn:schemas-microsoft-com:vml" Requires="v">
                <p:oleObj spid="_x0000_s3093" name="" r:id="rId2" imgW="862965" imgH="1104265" progId="Equation.3">
                  <p:embed/>
                </p:oleObj>
              </mc:Choice>
              <mc:Fallback>
                <p:oleObj name="" r:id="rId2" imgW="862965" imgH="1104265" progId="Equation.3">
                  <p:embed/>
                  <p:pic>
                    <p:nvPicPr>
                      <p:cNvPr id="0" name="图片 3092"/>
                      <p:cNvPicPr/>
                      <p:nvPr/>
                    </p:nvPicPr>
                    <p:blipFill>
                      <a:blip r:embed="rId3"/>
                      <a:stretch>
                        <a:fillRect/>
                      </a:stretch>
                    </p:blipFill>
                    <p:spPr>
                      <a:xfrm>
                        <a:off x="4839970" y="1935798"/>
                        <a:ext cx="2124075" cy="2765425"/>
                      </a:xfrm>
                      <a:prstGeom prst="rect">
                        <a:avLst/>
                      </a:prstGeom>
                      <a:noFill/>
                      <a:ln w="38100">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sp>
        <p:nvSpPr>
          <p:cNvPr id="3" name="内容占位符 2"/>
          <p:cNvSpPr>
            <a:spLocks noGrp="1"/>
          </p:cNvSpPr>
          <p:nvPr>
            <p:ph idx="1"/>
          </p:nvPr>
        </p:nvSpPr>
        <p:spPr/>
        <p:txBody>
          <a:bodyPr>
            <a:normAutofit fontScale="90000"/>
          </a:bodyPr>
          <a:p>
            <a:r>
              <a:rPr lang="zh-CN" altLang="en-US" sz="2800" dirty="0">
                <a:ea typeface="宋体" panose="02010600030101010101" pitchFamily="2" charset="-122"/>
                <a:sym typeface="+mn-ea"/>
              </a:rPr>
              <a:t>软件可靠性度量模型：</a:t>
            </a:r>
            <a:r>
              <a:rPr lang="en-US" altLang="zh-CN" err="1">
                <a:ea typeface="宋体" panose="02010600030101010101" pitchFamily="2" charset="-122"/>
                <a:sym typeface="+mn-ea"/>
              </a:rPr>
              <a:t>Weibull</a:t>
            </a:r>
            <a:r>
              <a:rPr lang="zh-CN" altLang="en-US" dirty="0">
                <a:ea typeface="宋体" panose="02010600030101010101" pitchFamily="2" charset="-122"/>
                <a:sym typeface="+mn-ea"/>
              </a:rPr>
              <a:t>分布</a:t>
            </a:r>
            <a:endParaRPr lang="zh-CN" altLang="en-US" dirty="0">
              <a:ea typeface="宋体" panose="02010600030101010101" pitchFamily="2" charset="-122"/>
              <a:sym typeface="+mn-ea"/>
            </a:endParaRPr>
          </a:p>
          <a:p>
            <a:pPr lvl="1" algn="l">
              <a:buClrTx/>
              <a:buSzTx/>
            </a:pPr>
            <a:r>
              <a:rPr lang="en-US" altLang="zh-CN" sz="2400">
                <a:sym typeface="+mn-ea"/>
              </a:rPr>
              <a:t>Weibull是更常用的分布，在许多工程领域的可靠性分析中都广泛应用，如轴承磨损、河流泛滥等</a:t>
            </a:r>
            <a:r>
              <a:rPr lang="zh-CN" altLang="en-US" sz="2400">
                <a:sym typeface="+mn-ea"/>
              </a:rPr>
              <a:t>。</a:t>
            </a:r>
            <a:r>
              <a:rPr lang="en-US" altLang="zh-CN" sz="2400">
                <a:sym typeface="+mn-ea"/>
              </a:rPr>
              <a:t>Weibull分布有两个参数α、β（β为1时变为指数函数）</a:t>
            </a:r>
            <a:endParaRPr lang="en-US" altLang="zh-CN" sz="2400"/>
          </a:p>
          <a:p>
            <a:pPr lvl="1"/>
            <a:endParaRPr lang="en-US" altLang="zh-CN" sz="1100">
              <a:sym typeface="+mn-ea"/>
            </a:endParaRPr>
          </a:p>
          <a:p>
            <a:pPr lvl="1"/>
            <a:r>
              <a:rPr lang="en-US" altLang="zh-CN">
                <a:sym typeface="+mn-ea"/>
              </a:rPr>
              <a:t>密度函数为</a:t>
            </a:r>
            <a:r>
              <a:rPr lang="zh-CN" altLang="en-US">
                <a:sym typeface="+mn-ea"/>
              </a:rPr>
              <a:t>：</a:t>
            </a:r>
            <a:endParaRPr lang="en-US" altLang="zh-CN"/>
          </a:p>
          <a:p>
            <a:pPr lvl="1" algn="l">
              <a:spcBef>
                <a:spcPts val="500"/>
              </a:spcBef>
              <a:buClrTx/>
              <a:buSzTx/>
            </a:pPr>
            <a:endParaRPr lang="en-US" altLang="zh-CN" sz="3600">
              <a:sym typeface="+mn-ea"/>
            </a:endParaRPr>
          </a:p>
          <a:p>
            <a:pPr lvl="1" algn="l">
              <a:spcBef>
                <a:spcPts val="500"/>
              </a:spcBef>
              <a:buClrTx/>
              <a:buSzTx/>
            </a:pPr>
            <a:r>
              <a:rPr lang="en-US" altLang="zh-CN">
                <a:sym typeface="+mn-ea"/>
              </a:rPr>
              <a:t>分布函数为</a:t>
            </a:r>
            <a:r>
              <a:rPr lang="zh-CN" altLang="en-US">
                <a:sym typeface="+mn-ea"/>
              </a:rPr>
              <a:t>：</a:t>
            </a:r>
            <a:endParaRPr lang="en-US" altLang="zh-CN"/>
          </a:p>
          <a:p>
            <a:pPr lvl="1" algn="l">
              <a:spcBef>
                <a:spcPts val="500"/>
              </a:spcBef>
              <a:buClrTx/>
              <a:buSzTx/>
            </a:pPr>
            <a:endParaRPr lang="en-US" altLang="zh-CN">
              <a:sym typeface="+mn-ea"/>
            </a:endParaRPr>
          </a:p>
          <a:p>
            <a:pPr lvl="1" algn="l">
              <a:spcBef>
                <a:spcPts val="500"/>
              </a:spcBef>
              <a:buClrTx/>
              <a:buSzTx/>
            </a:pPr>
            <a:r>
              <a:rPr lang="en-US" altLang="zh-CN">
                <a:sym typeface="+mn-ea"/>
              </a:rPr>
              <a:t>故障率函数为</a:t>
            </a:r>
            <a:r>
              <a:rPr lang="zh-CN" altLang="en-US" dirty="0">
                <a:ea typeface="宋体" panose="02010600030101010101" pitchFamily="2" charset="-122"/>
                <a:sym typeface="+mn-ea"/>
              </a:rPr>
              <a:t>（常数）</a:t>
            </a:r>
            <a:r>
              <a:rPr lang="zh-CN" altLang="en-US">
                <a:sym typeface="+mn-ea"/>
              </a:rPr>
              <a:t>：</a:t>
            </a:r>
            <a:r>
              <a:rPr lang="en-US" altLang="zh-CN">
                <a:sym typeface="+mn-ea"/>
              </a:rPr>
              <a:t>	</a:t>
            </a:r>
            <a:endParaRPr lang="en-US" altLang="zh-CN"/>
          </a:p>
          <a:p>
            <a:endParaRPr lang="en-US" altLang="zh-CN"/>
          </a:p>
        </p:txBody>
      </p:sp>
      <p:graphicFrame>
        <p:nvGraphicFramePr>
          <p:cNvPr id="125956" name="内容占位符 125955"/>
          <p:cNvGraphicFramePr/>
          <p:nvPr>
            <p:ph sz="half" idx="2"/>
            <p:custDataLst>
              <p:tags r:id="rId1"/>
            </p:custDataLst>
          </p:nvPr>
        </p:nvGraphicFramePr>
        <p:xfrm>
          <a:off x="4873625" y="2862580"/>
          <a:ext cx="4733925" cy="3387725"/>
        </p:xfrm>
        <a:graphic>
          <a:graphicData uri="http://schemas.openxmlformats.org/presentationml/2006/ole">
            <mc:AlternateContent xmlns:mc="http://schemas.openxmlformats.org/markup-compatibility/2006">
              <mc:Choice xmlns:v="urn:schemas-microsoft-com:vml" Requires="v">
                <p:oleObj spid="_x0000_s3098" name="" r:id="rId2" imgW="1968500" imgH="1384300" progId="Equation.3">
                  <p:embed/>
                </p:oleObj>
              </mc:Choice>
              <mc:Fallback>
                <p:oleObj name="" r:id="rId2" imgW="1968500" imgH="1384300" progId="Equation.3">
                  <p:embed/>
                  <p:pic>
                    <p:nvPicPr>
                      <p:cNvPr id="0" name="图片 3097"/>
                      <p:cNvPicPr/>
                      <p:nvPr/>
                    </p:nvPicPr>
                    <p:blipFill>
                      <a:blip r:embed="rId3"/>
                      <a:stretch>
                        <a:fillRect/>
                      </a:stretch>
                    </p:blipFill>
                    <p:spPr>
                      <a:xfrm>
                        <a:off x="4873625" y="2862580"/>
                        <a:ext cx="4733925" cy="3387725"/>
                      </a:xfrm>
                      <a:prstGeom prst="rect">
                        <a:avLst/>
                      </a:prstGeom>
                      <a:noFill/>
                      <a:ln w="38100">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grpSp>
        <p:nvGrpSpPr>
          <p:cNvPr id="128020" name="组合 128019"/>
          <p:cNvGrpSpPr/>
          <p:nvPr/>
        </p:nvGrpSpPr>
        <p:grpSpPr>
          <a:xfrm>
            <a:off x="2217738" y="1256348"/>
            <a:ext cx="7407275" cy="5454650"/>
            <a:chOff x="677" y="391"/>
            <a:chExt cx="4666" cy="3436"/>
          </a:xfrm>
        </p:grpSpPr>
        <p:sp>
          <p:nvSpPr>
            <p:cNvPr id="128004" name="直接连接符 128003"/>
            <p:cNvSpPr/>
            <p:nvPr>
              <p:custDataLst>
                <p:tags r:id="rId1"/>
              </p:custDataLst>
            </p:nvPr>
          </p:nvSpPr>
          <p:spPr>
            <a:xfrm flipV="1">
              <a:off x="1033" y="391"/>
              <a:ext cx="0" cy="3175"/>
            </a:xfrm>
            <a:prstGeom prst="line">
              <a:avLst/>
            </a:prstGeom>
            <a:ln w="9525" cap="flat" cmpd="sng">
              <a:solidFill>
                <a:schemeClr val="tx1"/>
              </a:solidFill>
              <a:prstDash val="solid"/>
              <a:headEnd type="none" w="med" len="med"/>
              <a:tailEnd type="triangle" w="med" len="med"/>
            </a:ln>
          </p:spPr>
        </p:sp>
        <p:sp>
          <p:nvSpPr>
            <p:cNvPr id="128005" name="直接连接符 128004"/>
            <p:cNvSpPr/>
            <p:nvPr>
              <p:custDataLst>
                <p:tags r:id="rId2"/>
              </p:custDataLst>
            </p:nvPr>
          </p:nvSpPr>
          <p:spPr>
            <a:xfrm>
              <a:off x="1033" y="3566"/>
              <a:ext cx="4219" cy="0"/>
            </a:xfrm>
            <a:prstGeom prst="line">
              <a:avLst/>
            </a:prstGeom>
            <a:ln w="9525" cap="flat" cmpd="sng">
              <a:solidFill>
                <a:schemeClr val="tx1"/>
              </a:solidFill>
              <a:prstDash val="solid"/>
              <a:headEnd type="none" w="med" len="med"/>
              <a:tailEnd type="triangle" w="med" len="med"/>
            </a:ln>
          </p:spPr>
        </p:sp>
        <p:sp>
          <p:nvSpPr>
            <p:cNvPr id="128010" name="任意多边形 128009"/>
            <p:cNvSpPr/>
            <p:nvPr>
              <p:custDataLst>
                <p:tags r:id="rId3"/>
              </p:custDataLst>
            </p:nvPr>
          </p:nvSpPr>
          <p:spPr>
            <a:xfrm>
              <a:off x="1079" y="618"/>
              <a:ext cx="4264" cy="2903"/>
            </a:xfrm>
            <a:custGeom>
              <a:avLst/>
              <a:gdLst/>
              <a:ahLst/>
              <a:cxnLst/>
              <a:pathLst>
                <a:path w="3720" h="1519">
                  <a:moveTo>
                    <a:pt x="0" y="0"/>
                  </a:moveTo>
                  <a:cubicBezTo>
                    <a:pt x="143" y="510"/>
                    <a:pt x="287" y="1021"/>
                    <a:pt x="907" y="1270"/>
                  </a:cubicBezTo>
                  <a:cubicBezTo>
                    <a:pt x="1527" y="1519"/>
                    <a:pt x="2623" y="1508"/>
                    <a:pt x="3720" y="1497"/>
                  </a:cubicBezTo>
                </a:path>
              </a:pathLst>
            </a:custGeom>
            <a:noFill/>
            <a:ln w="38100" cap="rnd" cmpd="sng">
              <a:solidFill>
                <a:schemeClr val="hlink"/>
              </a:solidFill>
              <a:prstDash val="sysDot"/>
              <a:headEnd type="none" w="med" len="med"/>
              <a:tailEnd type="none" w="med" len="med"/>
            </a:ln>
          </p:spPr>
          <p:txBody>
            <a:bodyPr/>
            <a:p>
              <a:endParaRPr lang="zh-CN" altLang="en-US"/>
            </a:p>
          </p:txBody>
        </p:sp>
        <p:sp>
          <p:nvSpPr>
            <p:cNvPr id="128011" name="任意多边形 128010"/>
            <p:cNvSpPr/>
            <p:nvPr>
              <p:custDataLst>
                <p:tags r:id="rId4"/>
              </p:custDataLst>
            </p:nvPr>
          </p:nvSpPr>
          <p:spPr>
            <a:xfrm>
              <a:off x="1033" y="2387"/>
              <a:ext cx="4174" cy="1134"/>
            </a:xfrm>
            <a:custGeom>
              <a:avLst/>
              <a:gdLst/>
              <a:ahLst/>
              <a:cxnLst/>
              <a:pathLst>
                <a:path w="4174" h="1134">
                  <a:moveTo>
                    <a:pt x="0" y="0"/>
                  </a:moveTo>
                  <a:cubicBezTo>
                    <a:pt x="400" y="291"/>
                    <a:pt x="801" y="582"/>
                    <a:pt x="1497" y="771"/>
                  </a:cubicBezTo>
                  <a:cubicBezTo>
                    <a:pt x="2193" y="960"/>
                    <a:pt x="3183" y="1047"/>
                    <a:pt x="4174" y="1134"/>
                  </a:cubicBezTo>
                </a:path>
              </a:pathLst>
            </a:custGeom>
            <a:noFill/>
            <a:ln w="38100" cap="flat" cmpd="sng">
              <a:solidFill>
                <a:srgbClr val="FF3300"/>
              </a:solidFill>
              <a:prstDash val="solid"/>
              <a:headEnd type="none" w="med" len="med"/>
              <a:tailEnd type="none" w="med" len="med"/>
            </a:ln>
          </p:spPr>
          <p:txBody>
            <a:bodyPr/>
            <a:p>
              <a:endParaRPr lang="zh-CN" altLang="en-US"/>
            </a:p>
          </p:txBody>
        </p:sp>
        <p:sp>
          <p:nvSpPr>
            <p:cNvPr id="128012" name="任意多边形 128011"/>
            <p:cNvSpPr/>
            <p:nvPr>
              <p:custDataLst>
                <p:tags r:id="rId5"/>
              </p:custDataLst>
            </p:nvPr>
          </p:nvSpPr>
          <p:spPr>
            <a:xfrm>
              <a:off x="1033" y="2100"/>
              <a:ext cx="4005" cy="1433"/>
            </a:xfrm>
            <a:custGeom>
              <a:avLst/>
              <a:gdLst/>
              <a:ahLst/>
              <a:cxnLst/>
              <a:pathLst>
                <a:path w="4005" h="1433">
                  <a:moveTo>
                    <a:pt x="0" y="1421"/>
                  </a:moveTo>
                  <a:cubicBezTo>
                    <a:pt x="174" y="1194"/>
                    <a:pt x="665" y="116"/>
                    <a:pt x="1047" y="58"/>
                  </a:cubicBezTo>
                  <a:cubicBezTo>
                    <a:pt x="1429" y="0"/>
                    <a:pt x="1801" y="843"/>
                    <a:pt x="2294" y="1072"/>
                  </a:cubicBezTo>
                  <a:cubicBezTo>
                    <a:pt x="2787" y="1301"/>
                    <a:pt x="3649" y="1358"/>
                    <a:pt x="4005" y="1433"/>
                  </a:cubicBezTo>
                </a:path>
              </a:pathLst>
            </a:custGeom>
            <a:noFill/>
            <a:ln w="38100" cap="flat" cmpd="sng">
              <a:solidFill>
                <a:schemeClr val="tx1"/>
              </a:solidFill>
              <a:prstDash val="dash"/>
              <a:headEnd type="none" w="med" len="med"/>
              <a:tailEnd type="none" w="med" len="med"/>
            </a:ln>
          </p:spPr>
          <p:txBody>
            <a:bodyPr/>
            <a:p>
              <a:endParaRPr lang="zh-CN" altLang="en-US"/>
            </a:p>
          </p:txBody>
        </p:sp>
        <p:sp>
          <p:nvSpPr>
            <p:cNvPr id="128014" name="任意多边形 128013"/>
            <p:cNvSpPr/>
            <p:nvPr>
              <p:custDataLst>
                <p:tags r:id="rId6"/>
              </p:custDataLst>
            </p:nvPr>
          </p:nvSpPr>
          <p:spPr>
            <a:xfrm>
              <a:off x="1033" y="1071"/>
              <a:ext cx="3675" cy="2465"/>
            </a:xfrm>
            <a:custGeom>
              <a:avLst/>
              <a:gdLst/>
              <a:ahLst/>
              <a:cxnLst/>
              <a:pathLst>
                <a:path w="2858" h="1195">
                  <a:moveTo>
                    <a:pt x="0" y="1180"/>
                  </a:moveTo>
                  <a:cubicBezTo>
                    <a:pt x="121" y="1187"/>
                    <a:pt x="243" y="1195"/>
                    <a:pt x="409" y="998"/>
                  </a:cubicBezTo>
                  <a:cubicBezTo>
                    <a:pt x="575" y="801"/>
                    <a:pt x="794" y="0"/>
                    <a:pt x="998" y="0"/>
                  </a:cubicBezTo>
                  <a:cubicBezTo>
                    <a:pt x="1202" y="0"/>
                    <a:pt x="1323" y="801"/>
                    <a:pt x="1633" y="998"/>
                  </a:cubicBezTo>
                  <a:cubicBezTo>
                    <a:pt x="1943" y="1195"/>
                    <a:pt x="2400" y="1187"/>
                    <a:pt x="2858" y="1180"/>
                  </a:cubicBezTo>
                </a:path>
              </a:pathLst>
            </a:custGeom>
            <a:noFill/>
            <a:ln w="38100" cap="flat" cmpd="sng">
              <a:solidFill>
                <a:schemeClr val="tx1"/>
              </a:solidFill>
              <a:prstDash val="sysDot"/>
              <a:headEnd type="none" w="med" len="med"/>
              <a:tailEnd type="none" w="med" len="med"/>
            </a:ln>
          </p:spPr>
          <p:txBody>
            <a:bodyPr/>
            <a:p>
              <a:endParaRPr lang="zh-CN" altLang="en-US"/>
            </a:p>
          </p:txBody>
        </p:sp>
        <p:sp>
          <p:nvSpPr>
            <p:cNvPr id="128015" name="文本框 128014"/>
            <p:cNvSpPr txBox="1"/>
            <p:nvPr>
              <p:custDataLst>
                <p:tags r:id="rId7"/>
              </p:custDataLst>
            </p:nvPr>
          </p:nvSpPr>
          <p:spPr>
            <a:xfrm>
              <a:off x="2213" y="1891"/>
              <a:ext cx="319" cy="232"/>
            </a:xfrm>
            <a:prstGeom prst="rect">
              <a:avLst/>
            </a:prstGeom>
            <a:noFill/>
            <a:ln w="9525">
              <a:noFill/>
            </a:ln>
          </p:spPr>
          <p:txBody>
            <a:bodyPr wrap="none" anchor="t" anchorCtr="0">
              <a:spAutoFit/>
            </a:bodyPr>
            <a:p>
              <a:pPr eaLnBrk="1" hangingPunct="1"/>
              <a:r>
                <a:rPr lang="en-US" altLang="zh-CN">
                  <a:latin typeface="Comic Sans MS" panose="030F0702030302020204" pitchFamily="66" charset="0"/>
                </a:rPr>
                <a:t>β</a:t>
              </a:r>
              <a:r>
                <a:rPr lang="en-US" altLang="zh-CN">
                  <a:latin typeface="Comic Sans MS" panose="030F0702030302020204" pitchFamily="66" charset="0"/>
                  <a:ea typeface="宋体" panose="02010600030101010101" pitchFamily="2" charset="-122"/>
                </a:rPr>
                <a:t>&gt;1</a:t>
              </a:r>
              <a:endParaRPr lang="en-US" altLang="zh-CN">
                <a:latin typeface="Comic Sans MS" panose="030F0702030302020204" pitchFamily="66" charset="0"/>
                <a:ea typeface="宋体" panose="02010600030101010101" pitchFamily="2" charset="-122"/>
              </a:endParaRPr>
            </a:p>
          </p:txBody>
        </p:sp>
        <p:sp>
          <p:nvSpPr>
            <p:cNvPr id="128016" name="文本框 128015"/>
            <p:cNvSpPr txBox="1"/>
            <p:nvPr>
              <p:custDataLst>
                <p:tags r:id="rId8"/>
              </p:custDataLst>
            </p:nvPr>
          </p:nvSpPr>
          <p:spPr>
            <a:xfrm>
              <a:off x="1260" y="1392"/>
              <a:ext cx="319" cy="232"/>
            </a:xfrm>
            <a:prstGeom prst="rect">
              <a:avLst/>
            </a:prstGeom>
            <a:noFill/>
            <a:ln w="9525">
              <a:noFill/>
            </a:ln>
          </p:spPr>
          <p:txBody>
            <a:bodyPr wrap="none" anchor="t" anchorCtr="0">
              <a:spAutoFit/>
            </a:bodyPr>
            <a:p>
              <a:pPr eaLnBrk="1" hangingPunct="1"/>
              <a:r>
                <a:rPr lang="en-US" altLang="zh-CN">
                  <a:latin typeface="Comic Sans MS" panose="030F0702030302020204" pitchFamily="66" charset="0"/>
                </a:rPr>
                <a:t>β</a:t>
              </a:r>
              <a:r>
                <a:rPr lang="en-US" altLang="zh-CN">
                  <a:latin typeface="Comic Sans MS" panose="030F0702030302020204" pitchFamily="66" charset="0"/>
                  <a:ea typeface="宋体" panose="02010600030101010101" pitchFamily="2" charset="-122"/>
                </a:rPr>
                <a:t>&lt;1</a:t>
              </a:r>
              <a:endParaRPr lang="en-US" altLang="zh-CN">
                <a:latin typeface="Comic Sans MS" panose="030F0702030302020204" pitchFamily="66" charset="0"/>
                <a:ea typeface="宋体" panose="02010600030101010101" pitchFamily="2" charset="-122"/>
              </a:endParaRPr>
            </a:p>
          </p:txBody>
        </p:sp>
        <p:sp>
          <p:nvSpPr>
            <p:cNvPr id="128017" name="文本框 128016"/>
            <p:cNvSpPr txBox="1"/>
            <p:nvPr>
              <p:custDataLst>
                <p:tags r:id="rId9"/>
              </p:custDataLst>
            </p:nvPr>
          </p:nvSpPr>
          <p:spPr>
            <a:xfrm>
              <a:off x="2349" y="2843"/>
              <a:ext cx="338" cy="232"/>
            </a:xfrm>
            <a:prstGeom prst="rect">
              <a:avLst/>
            </a:prstGeom>
            <a:noFill/>
            <a:ln w="9525">
              <a:noFill/>
            </a:ln>
          </p:spPr>
          <p:txBody>
            <a:bodyPr wrap="none" anchor="t" anchorCtr="0">
              <a:spAutoFit/>
            </a:bodyPr>
            <a:p>
              <a:pPr eaLnBrk="1" hangingPunct="1"/>
              <a:r>
                <a:rPr lang="en-US" altLang="zh-CN">
                  <a:latin typeface="Comic Sans MS" panose="030F0702030302020204" pitchFamily="66" charset="0"/>
                </a:rPr>
                <a:t>β</a:t>
              </a:r>
              <a:r>
                <a:rPr lang="en-US" altLang="zh-CN">
                  <a:latin typeface="Comic Sans MS" panose="030F0702030302020204" pitchFamily="66" charset="0"/>
                  <a:ea typeface="宋体" panose="02010600030101010101" pitchFamily="2" charset="-122"/>
                </a:rPr>
                <a:t>=1</a:t>
              </a:r>
              <a:endParaRPr lang="en-US" altLang="zh-CN">
                <a:latin typeface="Comic Sans MS" panose="030F0702030302020204" pitchFamily="66" charset="0"/>
                <a:ea typeface="宋体" panose="02010600030101010101" pitchFamily="2" charset="-122"/>
              </a:endParaRPr>
            </a:p>
          </p:txBody>
        </p:sp>
        <p:sp>
          <p:nvSpPr>
            <p:cNvPr id="128018" name="文本框 128017"/>
            <p:cNvSpPr txBox="1"/>
            <p:nvPr>
              <p:custDataLst>
                <p:tags r:id="rId10"/>
              </p:custDataLst>
            </p:nvPr>
          </p:nvSpPr>
          <p:spPr>
            <a:xfrm>
              <a:off x="2155" y="3537"/>
              <a:ext cx="206" cy="290"/>
            </a:xfrm>
            <a:prstGeom prst="rect">
              <a:avLst/>
            </a:prstGeom>
            <a:noFill/>
            <a:ln w="9525">
              <a:noFill/>
            </a:ln>
          </p:spPr>
          <p:txBody>
            <a:bodyPr wrap="none" anchor="t" anchorCtr="0">
              <a:spAutoFit/>
            </a:bodyPr>
            <a:p>
              <a:pPr eaLnBrk="1" hangingPunct="1"/>
              <a:r>
                <a:rPr lang="en-US" altLang="zh-CN" sz="2400" i="1">
                  <a:latin typeface="Comic Sans MS" panose="030F0702030302020204" pitchFamily="66" charset="0"/>
                  <a:ea typeface="宋体" panose="02010600030101010101" pitchFamily="2" charset="-122"/>
                </a:rPr>
                <a:t>t</a:t>
              </a:r>
              <a:endParaRPr lang="en-US" altLang="zh-CN" sz="2400" i="1">
                <a:latin typeface="Comic Sans MS" panose="030F0702030302020204" pitchFamily="66" charset="0"/>
                <a:ea typeface="宋体" panose="02010600030101010101" pitchFamily="2" charset="-122"/>
              </a:endParaRPr>
            </a:p>
          </p:txBody>
        </p:sp>
        <p:sp>
          <p:nvSpPr>
            <p:cNvPr id="128019" name="文本框 128018"/>
            <p:cNvSpPr txBox="1"/>
            <p:nvPr>
              <p:custDataLst>
                <p:tags r:id="rId11"/>
              </p:custDataLst>
            </p:nvPr>
          </p:nvSpPr>
          <p:spPr>
            <a:xfrm rot="16200000">
              <a:off x="233" y="1617"/>
              <a:ext cx="1177" cy="290"/>
            </a:xfrm>
            <a:prstGeom prst="rect">
              <a:avLst/>
            </a:prstGeom>
            <a:noFill/>
            <a:ln w="9525">
              <a:noFill/>
            </a:ln>
          </p:spPr>
          <p:txBody>
            <a:bodyPr wrap="none" anchor="t" anchorCtr="0">
              <a:spAutoFit/>
            </a:bodyPr>
            <a:p>
              <a:pPr eaLnBrk="1" hangingPunct="1"/>
              <a:r>
                <a:rPr lang="en-US" altLang="zh-CN" sz="2400" err="1">
                  <a:latin typeface="Comic Sans MS" panose="030F0702030302020204" pitchFamily="66" charset="0"/>
                  <a:ea typeface="宋体" panose="02010600030101010101" pitchFamily="2" charset="-122"/>
                </a:rPr>
                <a:t>Weibull</a:t>
              </a:r>
              <a:r>
                <a:rPr lang="zh-CN" altLang="en-US" sz="2400" dirty="0">
                  <a:latin typeface="Comic Sans MS" panose="030F0702030302020204" pitchFamily="66" charset="0"/>
                  <a:ea typeface="宋体" panose="02010600030101010101" pitchFamily="2" charset="-122"/>
                </a:rPr>
                <a:t>分布</a:t>
              </a:r>
              <a:endParaRPr lang="zh-CN" altLang="en-US" sz="2400" dirty="0">
                <a:latin typeface="Comic Sans MS" panose="030F0702030302020204" pitchFamily="66" charset="0"/>
                <a:ea typeface="宋体" panose="02010600030101010101" pitchFamily="2"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6.1 软件可靠性度量</a:t>
            </a:r>
            <a:endParaRPr lang="zh-CN" altLang="en-US"/>
          </a:p>
        </p:txBody>
      </p:sp>
      <p:grpSp>
        <p:nvGrpSpPr>
          <p:cNvPr id="128020" name="组合 128019"/>
          <p:cNvGrpSpPr/>
          <p:nvPr/>
        </p:nvGrpSpPr>
        <p:grpSpPr>
          <a:xfrm>
            <a:off x="2217738" y="1256348"/>
            <a:ext cx="7407275" cy="5454650"/>
            <a:chOff x="677" y="391"/>
            <a:chExt cx="4666" cy="3436"/>
          </a:xfrm>
        </p:grpSpPr>
        <p:sp>
          <p:nvSpPr>
            <p:cNvPr id="128004" name="直接连接符 128003"/>
            <p:cNvSpPr/>
            <p:nvPr>
              <p:custDataLst>
                <p:tags r:id="rId1"/>
              </p:custDataLst>
            </p:nvPr>
          </p:nvSpPr>
          <p:spPr>
            <a:xfrm flipV="1">
              <a:off x="1033" y="391"/>
              <a:ext cx="0" cy="3175"/>
            </a:xfrm>
            <a:prstGeom prst="line">
              <a:avLst/>
            </a:prstGeom>
            <a:ln w="9525" cap="flat" cmpd="sng">
              <a:solidFill>
                <a:schemeClr val="tx1"/>
              </a:solidFill>
              <a:prstDash val="solid"/>
              <a:headEnd type="none" w="med" len="med"/>
              <a:tailEnd type="triangle" w="med" len="med"/>
            </a:ln>
          </p:spPr>
        </p:sp>
        <p:sp>
          <p:nvSpPr>
            <p:cNvPr id="128005" name="直接连接符 128004"/>
            <p:cNvSpPr/>
            <p:nvPr>
              <p:custDataLst>
                <p:tags r:id="rId2"/>
              </p:custDataLst>
            </p:nvPr>
          </p:nvSpPr>
          <p:spPr>
            <a:xfrm>
              <a:off x="1033" y="3566"/>
              <a:ext cx="4219" cy="0"/>
            </a:xfrm>
            <a:prstGeom prst="line">
              <a:avLst/>
            </a:prstGeom>
            <a:ln w="9525" cap="flat" cmpd="sng">
              <a:solidFill>
                <a:schemeClr val="tx1"/>
              </a:solidFill>
              <a:prstDash val="solid"/>
              <a:headEnd type="none" w="med" len="med"/>
              <a:tailEnd type="triangle" w="med" len="med"/>
            </a:ln>
          </p:spPr>
        </p:sp>
        <p:sp>
          <p:nvSpPr>
            <p:cNvPr id="128010" name="任意多边形 128009"/>
            <p:cNvSpPr/>
            <p:nvPr>
              <p:custDataLst>
                <p:tags r:id="rId3"/>
              </p:custDataLst>
            </p:nvPr>
          </p:nvSpPr>
          <p:spPr>
            <a:xfrm>
              <a:off x="1079" y="618"/>
              <a:ext cx="4264" cy="2903"/>
            </a:xfrm>
            <a:custGeom>
              <a:avLst/>
              <a:gdLst/>
              <a:ahLst/>
              <a:cxnLst/>
              <a:pathLst>
                <a:path w="3720" h="1519">
                  <a:moveTo>
                    <a:pt x="0" y="0"/>
                  </a:moveTo>
                  <a:cubicBezTo>
                    <a:pt x="143" y="510"/>
                    <a:pt x="287" y="1021"/>
                    <a:pt x="907" y="1270"/>
                  </a:cubicBezTo>
                  <a:cubicBezTo>
                    <a:pt x="1527" y="1519"/>
                    <a:pt x="2623" y="1508"/>
                    <a:pt x="3720" y="1497"/>
                  </a:cubicBezTo>
                </a:path>
              </a:pathLst>
            </a:custGeom>
            <a:noFill/>
            <a:ln w="38100" cap="rnd" cmpd="sng">
              <a:solidFill>
                <a:schemeClr val="hlink"/>
              </a:solidFill>
              <a:prstDash val="sysDot"/>
              <a:headEnd type="none" w="med" len="med"/>
              <a:tailEnd type="none" w="med" len="med"/>
            </a:ln>
          </p:spPr>
          <p:txBody>
            <a:bodyPr/>
            <a:p>
              <a:endParaRPr lang="zh-CN" altLang="en-US"/>
            </a:p>
          </p:txBody>
        </p:sp>
        <p:sp>
          <p:nvSpPr>
            <p:cNvPr id="128011" name="任意多边形 128010"/>
            <p:cNvSpPr/>
            <p:nvPr>
              <p:custDataLst>
                <p:tags r:id="rId4"/>
              </p:custDataLst>
            </p:nvPr>
          </p:nvSpPr>
          <p:spPr>
            <a:xfrm>
              <a:off x="1033" y="2387"/>
              <a:ext cx="4174" cy="1134"/>
            </a:xfrm>
            <a:custGeom>
              <a:avLst/>
              <a:gdLst/>
              <a:ahLst/>
              <a:cxnLst/>
              <a:pathLst>
                <a:path w="4174" h="1134">
                  <a:moveTo>
                    <a:pt x="0" y="0"/>
                  </a:moveTo>
                  <a:cubicBezTo>
                    <a:pt x="400" y="291"/>
                    <a:pt x="801" y="582"/>
                    <a:pt x="1497" y="771"/>
                  </a:cubicBezTo>
                  <a:cubicBezTo>
                    <a:pt x="2193" y="960"/>
                    <a:pt x="3183" y="1047"/>
                    <a:pt x="4174" y="1134"/>
                  </a:cubicBezTo>
                </a:path>
              </a:pathLst>
            </a:custGeom>
            <a:noFill/>
            <a:ln w="38100" cap="flat" cmpd="sng">
              <a:solidFill>
                <a:srgbClr val="FF3300"/>
              </a:solidFill>
              <a:prstDash val="solid"/>
              <a:headEnd type="none" w="med" len="med"/>
              <a:tailEnd type="none" w="med" len="med"/>
            </a:ln>
          </p:spPr>
          <p:txBody>
            <a:bodyPr/>
            <a:p>
              <a:endParaRPr lang="zh-CN" altLang="en-US"/>
            </a:p>
          </p:txBody>
        </p:sp>
        <p:sp>
          <p:nvSpPr>
            <p:cNvPr id="128012" name="任意多边形 128011"/>
            <p:cNvSpPr/>
            <p:nvPr>
              <p:custDataLst>
                <p:tags r:id="rId5"/>
              </p:custDataLst>
            </p:nvPr>
          </p:nvSpPr>
          <p:spPr>
            <a:xfrm>
              <a:off x="1033" y="2100"/>
              <a:ext cx="4005" cy="1433"/>
            </a:xfrm>
            <a:custGeom>
              <a:avLst/>
              <a:gdLst/>
              <a:ahLst/>
              <a:cxnLst/>
              <a:pathLst>
                <a:path w="4005" h="1433">
                  <a:moveTo>
                    <a:pt x="0" y="1421"/>
                  </a:moveTo>
                  <a:cubicBezTo>
                    <a:pt x="174" y="1194"/>
                    <a:pt x="665" y="116"/>
                    <a:pt x="1047" y="58"/>
                  </a:cubicBezTo>
                  <a:cubicBezTo>
                    <a:pt x="1429" y="0"/>
                    <a:pt x="1801" y="843"/>
                    <a:pt x="2294" y="1072"/>
                  </a:cubicBezTo>
                  <a:cubicBezTo>
                    <a:pt x="2787" y="1301"/>
                    <a:pt x="3649" y="1358"/>
                    <a:pt x="4005" y="1433"/>
                  </a:cubicBezTo>
                </a:path>
              </a:pathLst>
            </a:custGeom>
            <a:noFill/>
            <a:ln w="38100" cap="flat" cmpd="sng">
              <a:solidFill>
                <a:schemeClr val="tx1"/>
              </a:solidFill>
              <a:prstDash val="dash"/>
              <a:headEnd type="none" w="med" len="med"/>
              <a:tailEnd type="none" w="med" len="med"/>
            </a:ln>
          </p:spPr>
          <p:txBody>
            <a:bodyPr/>
            <a:p>
              <a:endParaRPr lang="zh-CN" altLang="en-US"/>
            </a:p>
          </p:txBody>
        </p:sp>
        <p:sp>
          <p:nvSpPr>
            <p:cNvPr id="128014" name="任意多边形 128013"/>
            <p:cNvSpPr/>
            <p:nvPr>
              <p:custDataLst>
                <p:tags r:id="rId6"/>
              </p:custDataLst>
            </p:nvPr>
          </p:nvSpPr>
          <p:spPr>
            <a:xfrm>
              <a:off x="1033" y="1071"/>
              <a:ext cx="3675" cy="2465"/>
            </a:xfrm>
            <a:custGeom>
              <a:avLst/>
              <a:gdLst/>
              <a:ahLst/>
              <a:cxnLst/>
              <a:pathLst>
                <a:path w="2858" h="1195">
                  <a:moveTo>
                    <a:pt x="0" y="1180"/>
                  </a:moveTo>
                  <a:cubicBezTo>
                    <a:pt x="121" y="1187"/>
                    <a:pt x="243" y="1195"/>
                    <a:pt x="409" y="998"/>
                  </a:cubicBezTo>
                  <a:cubicBezTo>
                    <a:pt x="575" y="801"/>
                    <a:pt x="794" y="0"/>
                    <a:pt x="998" y="0"/>
                  </a:cubicBezTo>
                  <a:cubicBezTo>
                    <a:pt x="1202" y="0"/>
                    <a:pt x="1323" y="801"/>
                    <a:pt x="1633" y="998"/>
                  </a:cubicBezTo>
                  <a:cubicBezTo>
                    <a:pt x="1943" y="1195"/>
                    <a:pt x="2400" y="1187"/>
                    <a:pt x="2858" y="1180"/>
                  </a:cubicBezTo>
                </a:path>
              </a:pathLst>
            </a:custGeom>
            <a:noFill/>
            <a:ln w="38100" cap="flat" cmpd="sng">
              <a:solidFill>
                <a:schemeClr val="tx1"/>
              </a:solidFill>
              <a:prstDash val="sysDot"/>
              <a:headEnd type="none" w="med" len="med"/>
              <a:tailEnd type="none" w="med" len="med"/>
            </a:ln>
          </p:spPr>
          <p:txBody>
            <a:bodyPr/>
            <a:p>
              <a:endParaRPr lang="zh-CN" altLang="en-US"/>
            </a:p>
          </p:txBody>
        </p:sp>
        <p:sp>
          <p:nvSpPr>
            <p:cNvPr id="128015" name="文本框 128014"/>
            <p:cNvSpPr txBox="1"/>
            <p:nvPr>
              <p:custDataLst>
                <p:tags r:id="rId7"/>
              </p:custDataLst>
            </p:nvPr>
          </p:nvSpPr>
          <p:spPr>
            <a:xfrm>
              <a:off x="2213" y="1891"/>
              <a:ext cx="319" cy="232"/>
            </a:xfrm>
            <a:prstGeom prst="rect">
              <a:avLst/>
            </a:prstGeom>
            <a:noFill/>
            <a:ln w="9525">
              <a:noFill/>
            </a:ln>
          </p:spPr>
          <p:txBody>
            <a:bodyPr wrap="none" anchor="t" anchorCtr="0">
              <a:spAutoFit/>
            </a:bodyPr>
            <a:p>
              <a:pPr eaLnBrk="1" hangingPunct="1"/>
              <a:r>
                <a:rPr lang="en-US" altLang="zh-CN">
                  <a:latin typeface="Comic Sans MS" panose="030F0702030302020204" pitchFamily="66" charset="0"/>
                </a:rPr>
                <a:t>β</a:t>
              </a:r>
              <a:r>
                <a:rPr lang="en-US" altLang="zh-CN">
                  <a:latin typeface="Comic Sans MS" panose="030F0702030302020204" pitchFamily="66" charset="0"/>
                  <a:ea typeface="宋体" panose="02010600030101010101" pitchFamily="2" charset="-122"/>
                </a:rPr>
                <a:t>&gt;1</a:t>
              </a:r>
              <a:endParaRPr lang="en-US" altLang="zh-CN">
                <a:latin typeface="Comic Sans MS" panose="030F0702030302020204" pitchFamily="66" charset="0"/>
                <a:ea typeface="宋体" panose="02010600030101010101" pitchFamily="2" charset="-122"/>
              </a:endParaRPr>
            </a:p>
          </p:txBody>
        </p:sp>
        <p:sp>
          <p:nvSpPr>
            <p:cNvPr id="128016" name="文本框 128015"/>
            <p:cNvSpPr txBox="1"/>
            <p:nvPr>
              <p:custDataLst>
                <p:tags r:id="rId8"/>
              </p:custDataLst>
            </p:nvPr>
          </p:nvSpPr>
          <p:spPr>
            <a:xfrm>
              <a:off x="1260" y="1392"/>
              <a:ext cx="319" cy="232"/>
            </a:xfrm>
            <a:prstGeom prst="rect">
              <a:avLst/>
            </a:prstGeom>
            <a:noFill/>
            <a:ln w="9525">
              <a:noFill/>
            </a:ln>
          </p:spPr>
          <p:txBody>
            <a:bodyPr wrap="none" anchor="t" anchorCtr="0">
              <a:spAutoFit/>
            </a:bodyPr>
            <a:p>
              <a:pPr eaLnBrk="1" hangingPunct="1"/>
              <a:r>
                <a:rPr lang="en-US" altLang="zh-CN">
                  <a:latin typeface="Comic Sans MS" panose="030F0702030302020204" pitchFamily="66" charset="0"/>
                </a:rPr>
                <a:t>β</a:t>
              </a:r>
              <a:r>
                <a:rPr lang="en-US" altLang="zh-CN">
                  <a:latin typeface="Comic Sans MS" panose="030F0702030302020204" pitchFamily="66" charset="0"/>
                  <a:ea typeface="宋体" panose="02010600030101010101" pitchFamily="2" charset="-122"/>
                </a:rPr>
                <a:t>&lt;1</a:t>
              </a:r>
              <a:endParaRPr lang="en-US" altLang="zh-CN">
                <a:latin typeface="Comic Sans MS" panose="030F0702030302020204" pitchFamily="66" charset="0"/>
                <a:ea typeface="宋体" panose="02010600030101010101" pitchFamily="2" charset="-122"/>
              </a:endParaRPr>
            </a:p>
          </p:txBody>
        </p:sp>
        <p:sp>
          <p:nvSpPr>
            <p:cNvPr id="128017" name="文本框 128016"/>
            <p:cNvSpPr txBox="1"/>
            <p:nvPr>
              <p:custDataLst>
                <p:tags r:id="rId9"/>
              </p:custDataLst>
            </p:nvPr>
          </p:nvSpPr>
          <p:spPr>
            <a:xfrm>
              <a:off x="2349" y="2843"/>
              <a:ext cx="338" cy="232"/>
            </a:xfrm>
            <a:prstGeom prst="rect">
              <a:avLst/>
            </a:prstGeom>
            <a:noFill/>
            <a:ln w="9525">
              <a:noFill/>
            </a:ln>
          </p:spPr>
          <p:txBody>
            <a:bodyPr wrap="none" anchor="t" anchorCtr="0">
              <a:spAutoFit/>
            </a:bodyPr>
            <a:p>
              <a:pPr eaLnBrk="1" hangingPunct="1"/>
              <a:r>
                <a:rPr lang="en-US" altLang="zh-CN">
                  <a:latin typeface="Comic Sans MS" panose="030F0702030302020204" pitchFamily="66" charset="0"/>
                </a:rPr>
                <a:t>β</a:t>
              </a:r>
              <a:r>
                <a:rPr lang="en-US" altLang="zh-CN">
                  <a:latin typeface="Comic Sans MS" panose="030F0702030302020204" pitchFamily="66" charset="0"/>
                  <a:ea typeface="宋体" panose="02010600030101010101" pitchFamily="2" charset="-122"/>
                </a:rPr>
                <a:t>=1</a:t>
              </a:r>
              <a:endParaRPr lang="en-US" altLang="zh-CN">
                <a:latin typeface="Comic Sans MS" panose="030F0702030302020204" pitchFamily="66" charset="0"/>
                <a:ea typeface="宋体" panose="02010600030101010101" pitchFamily="2" charset="-122"/>
              </a:endParaRPr>
            </a:p>
          </p:txBody>
        </p:sp>
        <p:sp>
          <p:nvSpPr>
            <p:cNvPr id="128018" name="文本框 128017"/>
            <p:cNvSpPr txBox="1"/>
            <p:nvPr>
              <p:custDataLst>
                <p:tags r:id="rId10"/>
              </p:custDataLst>
            </p:nvPr>
          </p:nvSpPr>
          <p:spPr>
            <a:xfrm>
              <a:off x="2155" y="3537"/>
              <a:ext cx="206" cy="290"/>
            </a:xfrm>
            <a:prstGeom prst="rect">
              <a:avLst/>
            </a:prstGeom>
            <a:noFill/>
            <a:ln w="9525">
              <a:noFill/>
            </a:ln>
          </p:spPr>
          <p:txBody>
            <a:bodyPr wrap="none" anchor="t" anchorCtr="0">
              <a:spAutoFit/>
            </a:bodyPr>
            <a:p>
              <a:pPr eaLnBrk="1" hangingPunct="1"/>
              <a:r>
                <a:rPr lang="en-US" altLang="zh-CN" sz="2400" i="1">
                  <a:latin typeface="Comic Sans MS" panose="030F0702030302020204" pitchFamily="66" charset="0"/>
                  <a:ea typeface="宋体" panose="02010600030101010101" pitchFamily="2" charset="-122"/>
                </a:rPr>
                <a:t>t</a:t>
              </a:r>
              <a:endParaRPr lang="en-US" altLang="zh-CN" sz="2400" i="1">
                <a:latin typeface="Comic Sans MS" panose="030F0702030302020204" pitchFamily="66" charset="0"/>
                <a:ea typeface="宋体" panose="02010600030101010101" pitchFamily="2" charset="-122"/>
              </a:endParaRPr>
            </a:p>
          </p:txBody>
        </p:sp>
        <p:sp>
          <p:nvSpPr>
            <p:cNvPr id="128019" name="文本框 128018"/>
            <p:cNvSpPr txBox="1"/>
            <p:nvPr>
              <p:custDataLst>
                <p:tags r:id="rId11"/>
              </p:custDataLst>
            </p:nvPr>
          </p:nvSpPr>
          <p:spPr>
            <a:xfrm rot="16200000">
              <a:off x="233" y="1617"/>
              <a:ext cx="1177" cy="290"/>
            </a:xfrm>
            <a:prstGeom prst="rect">
              <a:avLst/>
            </a:prstGeom>
            <a:noFill/>
            <a:ln w="9525">
              <a:noFill/>
            </a:ln>
          </p:spPr>
          <p:txBody>
            <a:bodyPr wrap="none" anchor="t" anchorCtr="0">
              <a:spAutoFit/>
            </a:bodyPr>
            <a:p>
              <a:pPr eaLnBrk="1" hangingPunct="1"/>
              <a:r>
                <a:rPr lang="en-US" altLang="zh-CN" sz="2400" err="1">
                  <a:latin typeface="Comic Sans MS" panose="030F0702030302020204" pitchFamily="66" charset="0"/>
                  <a:ea typeface="宋体" panose="02010600030101010101" pitchFamily="2" charset="-122"/>
                </a:rPr>
                <a:t>Weibull</a:t>
              </a:r>
              <a:r>
                <a:rPr lang="zh-CN" altLang="en-US" sz="2400" dirty="0">
                  <a:latin typeface="Comic Sans MS" panose="030F0702030302020204" pitchFamily="66" charset="0"/>
                  <a:ea typeface="宋体" panose="02010600030101010101" pitchFamily="2" charset="-122"/>
                </a:rPr>
                <a:t>分布</a:t>
              </a:r>
              <a:endParaRPr lang="zh-CN" altLang="en-US" sz="2400" dirty="0">
                <a:latin typeface="Comic Sans MS" panose="030F0702030302020204" pitchFamily="66" charset="0"/>
                <a:ea typeface="宋体" panose="02010600030101010101" pitchFamily="2" charset="-122"/>
              </a:endParaRPr>
            </a:p>
          </p:txBody>
        </p:sp>
      </p:grpSp>
      <p:sp>
        <p:nvSpPr>
          <p:cNvPr id="128021" name="文本框 128020"/>
          <p:cNvSpPr txBox="1"/>
          <p:nvPr>
            <p:custDataLst>
              <p:tags r:id="rId12"/>
            </p:custDataLst>
          </p:nvPr>
        </p:nvSpPr>
        <p:spPr>
          <a:xfrm>
            <a:off x="6403023" y="1472248"/>
            <a:ext cx="4076065" cy="1076325"/>
          </a:xfrm>
          <a:prstGeom prst="rect">
            <a:avLst/>
          </a:prstGeom>
          <a:noFill/>
          <a:ln w="9525">
            <a:noFill/>
          </a:ln>
        </p:spPr>
        <p:txBody>
          <a:bodyPr wrap="none" anchor="t" anchorCtr="0">
            <a:spAutoFit/>
          </a:bodyPr>
          <a:p>
            <a:pPr eaLnBrk="1" hangingPunct="1"/>
            <a:r>
              <a:rPr lang="en-US" altLang="zh-CN" sz="3200">
                <a:latin typeface="Comic Sans MS" panose="030F0702030302020204" pitchFamily="66" charset="0"/>
                <a:ea typeface="黑体" panose="02010609060101010101" pitchFamily="2" charset="-122"/>
              </a:rPr>
              <a:t>β=1</a:t>
            </a:r>
            <a:r>
              <a:rPr lang="zh-CN" altLang="en-US" sz="3200" dirty="0">
                <a:latin typeface="Comic Sans MS" panose="030F0702030302020204" pitchFamily="66" charset="0"/>
                <a:ea typeface="黑体" panose="02010609060101010101" pitchFamily="2" charset="-122"/>
              </a:rPr>
              <a:t>时变为指数分布</a:t>
            </a:r>
            <a:endParaRPr lang="zh-CN" altLang="en-US" sz="3200" dirty="0">
              <a:latin typeface="Comic Sans MS" panose="030F0702030302020204" pitchFamily="66" charset="0"/>
              <a:ea typeface="黑体" panose="02010609060101010101" pitchFamily="2" charset="-122"/>
            </a:endParaRPr>
          </a:p>
          <a:p>
            <a:pPr eaLnBrk="1" hangingPunct="1"/>
            <a:r>
              <a:rPr lang="en-US" altLang="zh-CN" sz="3200">
                <a:latin typeface="Comic Sans MS" panose="030F0702030302020204" pitchFamily="66" charset="0"/>
                <a:ea typeface="黑体" panose="02010609060101010101" pitchFamily="2" charset="-122"/>
              </a:rPr>
              <a:t>β=2</a:t>
            </a:r>
            <a:r>
              <a:rPr lang="zh-CN" altLang="en-US" sz="3200" dirty="0">
                <a:latin typeface="Comic Sans MS" panose="030F0702030302020204" pitchFamily="66" charset="0"/>
                <a:ea typeface="黑体" panose="02010609060101010101" pitchFamily="2" charset="-122"/>
              </a:rPr>
              <a:t>时为</a:t>
            </a:r>
            <a:r>
              <a:rPr lang="en-US" altLang="zh-CN" sz="3200">
                <a:latin typeface="Comic Sans MS" panose="030F0702030302020204" pitchFamily="66" charset="0"/>
                <a:ea typeface="黑体" panose="02010609060101010101" pitchFamily="2" charset="-122"/>
              </a:rPr>
              <a:t>Rayleigh</a:t>
            </a:r>
            <a:r>
              <a:rPr lang="zh-CN" altLang="en-US" sz="3200" dirty="0">
                <a:latin typeface="Comic Sans MS" panose="030F0702030302020204" pitchFamily="66" charset="0"/>
                <a:ea typeface="黑体" panose="02010609060101010101" pitchFamily="2" charset="-122"/>
              </a:rPr>
              <a:t>分布</a:t>
            </a:r>
            <a:endParaRPr lang="zh-CN" altLang="en-US" sz="3200" dirty="0">
              <a:latin typeface="Comic Sans MS" panose="030F0702030302020204" pitchFamily="66" charset="0"/>
              <a:ea typeface="黑体" panose="02010609060101010101" pitchFamily="2" charset="-122"/>
            </a:endParaRPr>
          </a:p>
        </p:txBody>
      </p:sp>
      <p:sp>
        <p:nvSpPr>
          <p:cNvPr id="128022" name="矩形 128021"/>
          <p:cNvSpPr/>
          <p:nvPr>
            <p:custDataLst>
              <p:tags r:id="rId13"/>
            </p:custDataLst>
          </p:nvPr>
        </p:nvSpPr>
        <p:spPr>
          <a:xfrm>
            <a:off x="6618923" y="2551748"/>
            <a:ext cx="4808537" cy="1198880"/>
          </a:xfrm>
          <a:prstGeom prst="rect">
            <a:avLst/>
          </a:prstGeom>
          <a:noFill/>
          <a:ln w="9525">
            <a:noFill/>
          </a:ln>
        </p:spPr>
        <p:txBody>
          <a:bodyPr>
            <a:spAutoFit/>
          </a:bodyPr>
          <a:p>
            <a:pPr lvl="1" eaLnBrk="1" hangingPunct="1">
              <a:spcBef>
                <a:spcPct val="20000"/>
              </a:spcBef>
            </a:pPr>
            <a:r>
              <a:rPr lang="zh-CN" altLang="en-US" sz="2400" dirty="0">
                <a:latin typeface="Comic Sans MS" panose="030F0702030302020204" pitchFamily="66" charset="0"/>
                <a:ea typeface="宋体" panose="02010600030101010101" pitchFamily="2" charset="-122"/>
              </a:rPr>
              <a:t>研究表明，软件项目的生命周期模式、项目的缺陷移除模式等都很好地符合</a:t>
            </a:r>
            <a:r>
              <a:rPr lang="en-US" altLang="zh-CN" sz="2400">
                <a:latin typeface="Comic Sans MS" panose="030F0702030302020204" pitchFamily="66" charset="0"/>
                <a:ea typeface="宋体" panose="02010600030101010101" pitchFamily="2" charset="-122"/>
              </a:rPr>
              <a:t>Rayleigh</a:t>
            </a:r>
            <a:r>
              <a:rPr lang="zh-CN" altLang="en-US" sz="2400" dirty="0">
                <a:latin typeface="Comic Sans MS" panose="030F0702030302020204" pitchFamily="66" charset="0"/>
                <a:ea typeface="宋体" panose="02010600030101010101" pitchFamily="2" charset="-122"/>
              </a:rPr>
              <a:t>模型</a:t>
            </a:r>
            <a:endParaRPr lang="en-US" altLang="zh-CN" sz="2400">
              <a:latin typeface="Comic Sans MS" panose="030F0702030302020204" pitchFamily="66"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6.2 软件可靠性数据收集过程</a:t>
            </a:r>
            <a:endParaRPr lang="en-US" altLang="zh-CN">
              <a:solidFill>
                <a:srgbClr val="C00000"/>
              </a:solidFill>
            </a:endParaRPr>
          </a:p>
        </p:txBody>
      </p:sp>
      <p:sp>
        <p:nvSpPr>
          <p:cNvPr id="3" name="内容占位符 2"/>
          <p:cNvSpPr>
            <a:spLocks noGrp="1"/>
          </p:cNvSpPr>
          <p:nvPr>
            <p:ph idx="1"/>
          </p:nvPr>
        </p:nvSpPr>
        <p:spPr/>
        <p:txBody>
          <a:bodyPr>
            <a:normAutofit lnSpcReduction="20000"/>
          </a:bodyPr>
          <a:p>
            <a:pPr algn="l">
              <a:buClrTx/>
              <a:buSzTx/>
            </a:pPr>
            <a:r>
              <a:rPr lang="en-US" altLang="zh-CN" sz="2800">
                <a:sym typeface="+mn-ea"/>
              </a:rPr>
              <a:t>数据收集和分析是度量软件可靠性的最重要的先决条件，任何可靠性度量的有效性都与数据收集的有效性直接相关，数据收集过程必须有计划、有组织地进行</a:t>
            </a:r>
            <a:endParaRPr lang="en-US" altLang="zh-CN" sz="2800"/>
          </a:p>
          <a:p>
            <a:pPr algn="l">
              <a:buClrTx/>
              <a:buSzTx/>
            </a:pPr>
            <a:r>
              <a:rPr lang="en-US" altLang="zh-CN" sz="2800">
                <a:sym typeface="+mn-ea"/>
              </a:rPr>
              <a:t>与软件可靠性相关的数据包括：</a:t>
            </a:r>
            <a:endParaRPr lang="en-US" altLang="zh-CN" sz="2800"/>
          </a:p>
          <a:p>
            <a:pPr lvl="2" algn="l">
              <a:spcBef>
                <a:spcPts val="1000"/>
              </a:spcBef>
              <a:buClrTx/>
              <a:buSzTx/>
            </a:pPr>
            <a:r>
              <a:rPr lang="en-US" altLang="zh-CN" sz="2330" b="1">
                <a:solidFill>
                  <a:srgbClr val="FF0000"/>
                </a:solidFill>
                <a:sym typeface="+mn-ea"/>
              </a:rPr>
              <a:t>缺陷数据</a:t>
            </a:r>
            <a:endParaRPr lang="en-US" altLang="zh-CN" sz="2330"/>
          </a:p>
          <a:p>
            <a:pPr lvl="2" algn="l">
              <a:spcBef>
                <a:spcPts val="1000"/>
              </a:spcBef>
              <a:buClrTx/>
              <a:buSzTx/>
            </a:pPr>
            <a:r>
              <a:rPr lang="en-US" altLang="zh-CN" sz="2330" b="1">
                <a:solidFill>
                  <a:srgbClr val="FF0000"/>
                </a:solidFill>
                <a:sym typeface="+mn-ea"/>
              </a:rPr>
              <a:t>过程数据</a:t>
            </a:r>
            <a:endParaRPr lang="en-US" altLang="zh-CN" sz="2330"/>
          </a:p>
          <a:p>
            <a:pPr lvl="2" algn="l">
              <a:spcBef>
                <a:spcPts val="1000"/>
              </a:spcBef>
              <a:buClrTx/>
              <a:buSzTx/>
            </a:pPr>
            <a:r>
              <a:rPr lang="en-US" altLang="zh-CN" sz="2330" b="1">
                <a:solidFill>
                  <a:srgbClr val="FF0000"/>
                </a:solidFill>
                <a:sym typeface="+mn-ea"/>
              </a:rPr>
              <a:t>产品数据</a:t>
            </a:r>
            <a:r>
              <a:rPr lang="en-US" altLang="zh-CN" sz="2330">
                <a:sym typeface="+mn-ea"/>
              </a:rPr>
              <a:t>：如规模、功能、性能等</a:t>
            </a:r>
            <a:endParaRPr lang="en-US" altLang="zh-CN" sz="2330"/>
          </a:p>
          <a:p>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6.2 软件可靠性数据收集过程</a:t>
            </a:r>
            <a:endParaRPr lang="zh-CN" altLang="en-US"/>
          </a:p>
        </p:txBody>
      </p:sp>
      <p:sp>
        <p:nvSpPr>
          <p:cNvPr id="130051" name="文本占位符 130050"/>
          <p:cNvSpPr>
            <a:spLocks noGrp="1"/>
          </p:cNvSpPr>
          <p:nvPr>
            <p:ph type="body" idx="1"/>
            <p:custDataLst>
              <p:tags r:id="rId1"/>
            </p:custDataLst>
          </p:nvPr>
        </p:nvSpPr>
        <p:spPr>
          <a:xfrm>
            <a:off x="937895" y="1762125"/>
            <a:ext cx="2944495" cy="3456940"/>
          </a:xfrm>
        </p:spPr>
        <p:txBody>
          <a:bodyPr>
            <a:normAutofit lnSpcReduction="20000"/>
          </a:bodyPr>
          <a:p>
            <a:pPr marL="0" indent="0">
              <a:lnSpc>
                <a:spcPct val="140000"/>
              </a:lnSpc>
              <a:buNone/>
            </a:pPr>
            <a:r>
              <a:rPr lang="en-US" altLang="zh-CN" sz="2600" dirty="0">
                <a:ea typeface="宋体" panose="02010600030101010101" pitchFamily="2" charset="-122"/>
              </a:rPr>
              <a:t>     </a:t>
            </a:r>
            <a:r>
              <a:rPr lang="zh-CN" altLang="en-US" sz="2600" dirty="0">
                <a:ea typeface="宋体" panose="02010600030101010101" pitchFamily="2" charset="-122"/>
              </a:rPr>
              <a:t>缺陷数据的收集常采用问答、报告形式，即发放问题报告表格要求有关人员填写，收集并分析问题报告表格形成统计数据</a:t>
            </a:r>
            <a:endParaRPr lang="en-US" altLang="zh-CN" sz="2600">
              <a:ea typeface="宋体" panose="02010600030101010101" pitchFamily="2" charset="-122"/>
            </a:endParaRPr>
          </a:p>
        </p:txBody>
      </p:sp>
      <p:grpSp>
        <p:nvGrpSpPr>
          <p:cNvPr id="130090" name="组合 130089"/>
          <p:cNvGrpSpPr/>
          <p:nvPr/>
        </p:nvGrpSpPr>
        <p:grpSpPr>
          <a:xfrm>
            <a:off x="4471035" y="1690053"/>
            <a:ext cx="6149975" cy="4443412"/>
            <a:chOff x="1118" y="1207"/>
            <a:chExt cx="3874" cy="2799"/>
          </a:xfrm>
        </p:grpSpPr>
        <p:sp>
          <p:nvSpPr>
            <p:cNvPr id="130052" name="矩形 130051"/>
            <p:cNvSpPr/>
            <p:nvPr>
              <p:custDataLst>
                <p:tags r:id="rId2"/>
              </p:custDataLst>
            </p:nvPr>
          </p:nvSpPr>
          <p:spPr>
            <a:xfrm>
              <a:off x="1487" y="1207"/>
              <a:ext cx="90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检测到的缺陷</a:t>
              </a:r>
              <a:endParaRPr lang="zh-CN" altLang="en-US" dirty="0">
                <a:solidFill>
                  <a:schemeClr val="bg1"/>
                </a:solidFill>
                <a:ea typeface="黑体" panose="02010609060101010101" pitchFamily="2" charset="-122"/>
              </a:endParaRPr>
            </a:p>
          </p:txBody>
        </p:sp>
        <p:sp>
          <p:nvSpPr>
            <p:cNvPr id="130053" name="矩形 130052"/>
            <p:cNvSpPr/>
            <p:nvPr>
              <p:custDataLst>
                <p:tags r:id="rId3"/>
              </p:custDataLst>
            </p:nvPr>
          </p:nvSpPr>
          <p:spPr>
            <a:xfrm>
              <a:off x="1487" y="1525"/>
              <a:ext cx="90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已记录的缺陷</a:t>
              </a:r>
              <a:endParaRPr lang="zh-CN" altLang="en-US" dirty="0">
                <a:solidFill>
                  <a:schemeClr val="bg1"/>
                </a:solidFill>
                <a:ea typeface="黑体" panose="02010609060101010101" pitchFamily="2" charset="-122"/>
              </a:endParaRPr>
            </a:p>
          </p:txBody>
        </p:sp>
        <p:sp>
          <p:nvSpPr>
            <p:cNvPr id="130054" name="矩形 130053"/>
            <p:cNvSpPr/>
            <p:nvPr>
              <p:custDataLst>
                <p:tags r:id="rId4"/>
              </p:custDataLst>
            </p:nvPr>
          </p:nvSpPr>
          <p:spPr>
            <a:xfrm>
              <a:off x="1487" y="1842"/>
              <a:ext cx="90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已评审的缺陷</a:t>
              </a:r>
              <a:endParaRPr lang="zh-CN" altLang="en-US" dirty="0">
                <a:solidFill>
                  <a:schemeClr val="bg1"/>
                </a:solidFill>
                <a:ea typeface="黑体" panose="02010609060101010101" pitchFamily="2" charset="-122"/>
              </a:endParaRPr>
            </a:p>
          </p:txBody>
        </p:sp>
        <p:sp>
          <p:nvSpPr>
            <p:cNvPr id="130055" name="流程图: 决策 130054"/>
            <p:cNvSpPr/>
            <p:nvPr>
              <p:custDataLst>
                <p:tags r:id="rId5"/>
              </p:custDataLst>
            </p:nvPr>
          </p:nvSpPr>
          <p:spPr>
            <a:xfrm>
              <a:off x="1442" y="2115"/>
              <a:ext cx="998" cy="40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确认？</a:t>
              </a:r>
              <a:endParaRPr lang="zh-CN" altLang="en-US" dirty="0">
                <a:solidFill>
                  <a:schemeClr val="bg1"/>
                </a:solidFill>
                <a:ea typeface="黑体" panose="02010609060101010101" pitchFamily="2" charset="-122"/>
              </a:endParaRPr>
            </a:p>
          </p:txBody>
        </p:sp>
        <p:sp>
          <p:nvSpPr>
            <p:cNvPr id="130056" name="矩形 130055"/>
            <p:cNvSpPr/>
            <p:nvPr>
              <p:custDataLst>
                <p:tags r:id="rId6"/>
              </p:custDataLst>
            </p:nvPr>
          </p:nvSpPr>
          <p:spPr>
            <a:xfrm>
              <a:off x="2757" y="2160"/>
              <a:ext cx="726" cy="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结束</a:t>
              </a:r>
              <a:endParaRPr lang="zh-CN" altLang="en-US" dirty="0">
                <a:solidFill>
                  <a:schemeClr val="bg1"/>
                </a:solidFill>
                <a:ea typeface="黑体" panose="02010609060101010101" pitchFamily="2" charset="-122"/>
              </a:endParaRPr>
            </a:p>
          </p:txBody>
        </p:sp>
        <p:sp>
          <p:nvSpPr>
            <p:cNvPr id="130057" name="矩形 130056"/>
            <p:cNvSpPr/>
            <p:nvPr>
              <p:custDataLst>
                <p:tags r:id="rId7"/>
              </p:custDataLst>
            </p:nvPr>
          </p:nvSpPr>
          <p:spPr>
            <a:xfrm>
              <a:off x="1487" y="2614"/>
              <a:ext cx="907" cy="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缺陷报告</a:t>
              </a:r>
              <a:endParaRPr lang="zh-CN" altLang="en-US" dirty="0">
                <a:solidFill>
                  <a:schemeClr val="bg1"/>
                </a:solidFill>
                <a:ea typeface="黑体" panose="02010609060101010101" pitchFamily="2" charset="-122"/>
              </a:endParaRPr>
            </a:p>
          </p:txBody>
        </p:sp>
        <p:sp>
          <p:nvSpPr>
            <p:cNvPr id="130058" name="流程图: 决策 130057"/>
            <p:cNvSpPr/>
            <p:nvPr>
              <p:custDataLst>
                <p:tags r:id="rId8"/>
              </p:custDataLst>
            </p:nvPr>
          </p:nvSpPr>
          <p:spPr>
            <a:xfrm>
              <a:off x="1442" y="3022"/>
              <a:ext cx="998" cy="40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采取措施？</a:t>
              </a:r>
              <a:endParaRPr lang="zh-CN" altLang="en-US" dirty="0">
                <a:solidFill>
                  <a:schemeClr val="bg1"/>
                </a:solidFill>
                <a:ea typeface="黑体" panose="02010609060101010101" pitchFamily="2" charset="-122"/>
              </a:endParaRPr>
            </a:p>
          </p:txBody>
        </p:sp>
        <p:sp>
          <p:nvSpPr>
            <p:cNvPr id="130059" name="流程图: 决策 130058"/>
            <p:cNvSpPr/>
            <p:nvPr>
              <p:custDataLst>
                <p:tags r:id="rId9"/>
              </p:custDataLst>
            </p:nvPr>
          </p:nvSpPr>
          <p:spPr>
            <a:xfrm>
              <a:off x="3710" y="2115"/>
              <a:ext cx="998" cy="409"/>
            </a:xfrm>
            <a:prstGeom prst="flowChartDecision">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通过验证？</a:t>
              </a:r>
              <a:endParaRPr lang="zh-CN" altLang="en-US" dirty="0">
                <a:solidFill>
                  <a:schemeClr val="bg1"/>
                </a:solidFill>
                <a:ea typeface="黑体" panose="02010609060101010101" pitchFamily="2" charset="-122"/>
              </a:endParaRPr>
            </a:p>
          </p:txBody>
        </p:sp>
        <p:sp>
          <p:nvSpPr>
            <p:cNvPr id="130061" name="矩形 130060"/>
            <p:cNvSpPr/>
            <p:nvPr>
              <p:custDataLst>
                <p:tags r:id="rId10"/>
              </p:custDataLst>
            </p:nvPr>
          </p:nvSpPr>
          <p:spPr>
            <a:xfrm>
              <a:off x="2666" y="3067"/>
              <a:ext cx="907" cy="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记录不采取</a:t>
              </a:r>
              <a:endParaRPr lang="zh-CN" altLang="en-US" dirty="0">
                <a:solidFill>
                  <a:schemeClr val="bg1"/>
                </a:solidFill>
                <a:ea typeface="黑体" panose="02010609060101010101" pitchFamily="2" charset="-122"/>
              </a:endParaRPr>
            </a:p>
            <a:p>
              <a:pPr algn="ctr" eaLnBrk="1" hangingPunct="1"/>
              <a:r>
                <a:rPr lang="zh-CN" altLang="en-US" dirty="0">
                  <a:solidFill>
                    <a:schemeClr val="bg1"/>
                  </a:solidFill>
                  <a:ea typeface="黑体" panose="02010609060101010101" pitchFamily="2" charset="-122"/>
                </a:rPr>
                <a:t>措施的原因</a:t>
              </a:r>
              <a:endParaRPr lang="zh-CN" altLang="en-US" dirty="0">
                <a:solidFill>
                  <a:schemeClr val="bg1"/>
                </a:solidFill>
                <a:ea typeface="黑体" panose="02010609060101010101" pitchFamily="2" charset="-122"/>
              </a:endParaRPr>
            </a:p>
          </p:txBody>
        </p:sp>
        <p:sp>
          <p:nvSpPr>
            <p:cNvPr id="130062" name="矩形 130061"/>
            <p:cNvSpPr/>
            <p:nvPr>
              <p:custDataLst>
                <p:tags r:id="rId11"/>
              </p:custDataLst>
            </p:nvPr>
          </p:nvSpPr>
          <p:spPr>
            <a:xfrm>
              <a:off x="1487" y="3521"/>
              <a:ext cx="907" cy="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记录纠正</a:t>
              </a:r>
              <a:endParaRPr lang="zh-CN" altLang="en-US" dirty="0">
                <a:solidFill>
                  <a:schemeClr val="bg1"/>
                </a:solidFill>
                <a:ea typeface="黑体" panose="02010609060101010101" pitchFamily="2" charset="-122"/>
              </a:endParaRPr>
            </a:p>
          </p:txBody>
        </p:sp>
        <p:sp>
          <p:nvSpPr>
            <p:cNvPr id="130063" name="矩形 130062"/>
            <p:cNvSpPr/>
            <p:nvPr>
              <p:custDataLst>
                <p:tags r:id="rId12"/>
              </p:custDataLst>
            </p:nvPr>
          </p:nvSpPr>
          <p:spPr>
            <a:xfrm>
              <a:off x="3755" y="2614"/>
              <a:ext cx="907" cy="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验证</a:t>
              </a:r>
              <a:endParaRPr lang="zh-CN" altLang="en-US" dirty="0">
                <a:solidFill>
                  <a:schemeClr val="bg1"/>
                </a:solidFill>
                <a:ea typeface="黑体" panose="02010609060101010101" pitchFamily="2" charset="-122"/>
              </a:endParaRPr>
            </a:p>
          </p:txBody>
        </p:sp>
        <p:sp>
          <p:nvSpPr>
            <p:cNvPr id="130064" name="矩形 130063"/>
            <p:cNvSpPr/>
            <p:nvPr>
              <p:custDataLst>
                <p:tags r:id="rId13"/>
              </p:custDataLst>
            </p:nvPr>
          </p:nvSpPr>
          <p:spPr>
            <a:xfrm>
              <a:off x="3755" y="3067"/>
              <a:ext cx="907" cy="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ea typeface="黑体" panose="02010609060101010101" pitchFamily="2" charset="-122"/>
                </a:rPr>
                <a:t>问题报告</a:t>
              </a:r>
              <a:endParaRPr lang="zh-CN" altLang="en-US" dirty="0">
                <a:solidFill>
                  <a:schemeClr val="bg1"/>
                </a:solidFill>
                <a:ea typeface="黑体" panose="02010609060101010101" pitchFamily="2" charset="-122"/>
              </a:endParaRPr>
            </a:p>
          </p:txBody>
        </p:sp>
        <p:sp>
          <p:nvSpPr>
            <p:cNvPr id="130065" name="直接连接符 130064"/>
            <p:cNvSpPr/>
            <p:nvPr>
              <p:custDataLst>
                <p:tags r:id="rId14"/>
              </p:custDataLst>
            </p:nvPr>
          </p:nvSpPr>
          <p:spPr>
            <a:xfrm>
              <a:off x="1941" y="1434"/>
              <a:ext cx="0" cy="91"/>
            </a:xfrm>
            <a:prstGeom prst="line">
              <a:avLst/>
            </a:prstGeom>
            <a:ln w="9525" cap="flat" cmpd="sng">
              <a:solidFill>
                <a:schemeClr val="tx1"/>
              </a:solidFill>
              <a:prstDash val="solid"/>
              <a:headEnd type="none" w="med" len="med"/>
              <a:tailEnd type="triangle" w="med" len="med"/>
            </a:ln>
          </p:spPr>
        </p:sp>
        <p:sp>
          <p:nvSpPr>
            <p:cNvPr id="130066" name="直接连接符 130065"/>
            <p:cNvSpPr/>
            <p:nvPr>
              <p:custDataLst>
                <p:tags r:id="rId15"/>
              </p:custDataLst>
            </p:nvPr>
          </p:nvSpPr>
          <p:spPr>
            <a:xfrm>
              <a:off x="1941" y="1752"/>
              <a:ext cx="0" cy="90"/>
            </a:xfrm>
            <a:prstGeom prst="line">
              <a:avLst/>
            </a:prstGeom>
            <a:ln w="9525" cap="flat" cmpd="sng">
              <a:solidFill>
                <a:schemeClr val="tx1"/>
              </a:solidFill>
              <a:prstDash val="solid"/>
              <a:headEnd type="none" w="med" len="med"/>
              <a:tailEnd type="triangle" w="med" len="med"/>
            </a:ln>
          </p:spPr>
        </p:sp>
        <p:sp>
          <p:nvSpPr>
            <p:cNvPr id="130067" name="直接连接符 130066"/>
            <p:cNvSpPr/>
            <p:nvPr>
              <p:custDataLst>
                <p:tags r:id="rId16"/>
              </p:custDataLst>
            </p:nvPr>
          </p:nvSpPr>
          <p:spPr>
            <a:xfrm>
              <a:off x="1941" y="2069"/>
              <a:ext cx="0" cy="46"/>
            </a:xfrm>
            <a:prstGeom prst="line">
              <a:avLst/>
            </a:prstGeom>
            <a:ln w="9525" cap="flat" cmpd="sng">
              <a:solidFill>
                <a:schemeClr val="tx1"/>
              </a:solidFill>
              <a:prstDash val="solid"/>
              <a:headEnd type="none" w="med" len="med"/>
              <a:tailEnd type="triangle" w="med" len="med"/>
            </a:ln>
          </p:spPr>
        </p:sp>
        <p:sp>
          <p:nvSpPr>
            <p:cNvPr id="130068" name="直接连接符 130067"/>
            <p:cNvSpPr/>
            <p:nvPr>
              <p:custDataLst>
                <p:tags r:id="rId17"/>
              </p:custDataLst>
            </p:nvPr>
          </p:nvSpPr>
          <p:spPr>
            <a:xfrm>
              <a:off x="1941" y="2523"/>
              <a:ext cx="0" cy="91"/>
            </a:xfrm>
            <a:prstGeom prst="line">
              <a:avLst/>
            </a:prstGeom>
            <a:ln w="9525" cap="flat" cmpd="sng">
              <a:solidFill>
                <a:schemeClr val="tx1"/>
              </a:solidFill>
              <a:prstDash val="solid"/>
              <a:headEnd type="none" w="med" len="med"/>
              <a:tailEnd type="triangle" w="med" len="med"/>
            </a:ln>
          </p:spPr>
        </p:sp>
        <p:sp>
          <p:nvSpPr>
            <p:cNvPr id="130069" name="直接连接符 130068"/>
            <p:cNvSpPr/>
            <p:nvPr>
              <p:custDataLst>
                <p:tags r:id="rId18"/>
              </p:custDataLst>
            </p:nvPr>
          </p:nvSpPr>
          <p:spPr>
            <a:xfrm>
              <a:off x="2440" y="2296"/>
              <a:ext cx="317" cy="0"/>
            </a:xfrm>
            <a:prstGeom prst="line">
              <a:avLst/>
            </a:prstGeom>
            <a:ln w="9525" cap="flat" cmpd="sng">
              <a:solidFill>
                <a:schemeClr val="tx1"/>
              </a:solidFill>
              <a:prstDash val="solid"/>
              <a:headEnd type="none" w="med" len="med"/>
              <a:tailEnd type="triangle" w="med" len="med"/>
            </a:ln>
          </p:spPr>
        </p:sp>
        <p:sp>
          <p:nvSpPr>
            <p:cNvPr id="130070" name="直接连接符 130069"/>
            <p:cNvSpPr/>
            <p:nvPr>
              <p:custDataLst>
                <p:tags r:id="rId19"/>
              </p:custDataLst>
            </p:nvPr>
          </p:nvSpPr>
          <p:spPr>
            <a:xfrm>
              <a:off x="2394" y="3203"/>
              <a:ext cx="272" cy="0"/>
            </a:xfrm>
            <a:prstGeom prst="line">
              <a:avLst/>
            </a:prstGeom>
            <a:ln w="9525" cap="flat" cmpd="sng">
              <a:solidFill>
                <a:schemeClr val="tx1"/>
              </a:solidFill>
              <a:prstDash val="solid"/>
              <a:headEnd type="none" w="med" len="med"/>
              <a:tailEnd type="triangle" w="med" len="med"/>
            </a:ln>
          </p:spPr>
        </p:sp>
        <p:sp>
          <p:nvSpPr>
            <p:cNvPr id="130071" name="直接连接符 130070"/>
            <p:cNvSpPr/>
            <p:nvPr>
              <p:custDataLst>
                <p:tags r:id="rId20"/>
              </p:custDataLst>
            </p:nvPr>
          </p:nvSpPr>
          <p:spPr>
            <a:xfrm>
              <a:off x="3574" y="3249"/>
              <a:ext cx="181" cy="0"/>
            </a:xfrm>
            <a:prstGeom prst="line">
              <a:avLst/>
            </a:prstGeom>
            <a:ln w="9525" cap="flat" cmpd="sng">
              <a:solidFill>
                <a:schemeClr val="tx1"/>
              </a:solidFill>
              <a:prstDash val="solid"/>
              <a:headEnd type="none" w="med" len="med"/>
              <a:tailEnd type="triangle" w="med" len="med"/>
            </a:ln>
          </p:spPr>
        </p:sp>
        <p:sp>
          <p:nvSpPr>
            <p:cNvPr id="130072" name="直接连接符 130071"/>
            <p:cNvSpPr/>
            <p:nvPr>
              <p:custDataLst>
                <p:tags r:id="rId21"/>
              </p:custDataLst>
            </p:nvPr>
          </p:nvSpPr>
          <p:spPr>
            <a:xfrm flipH="1">
              <a:off x="3483" y="2296"/>
              <a:ext cx="227" cy="0"/>
            </a:xfrm>
            <a:prstGeom prst="line">
              <a:avLst/>
            </a:prstGeom>
            <a:ln w="9525" cap="flat" cmpd="sng">
              <a:solidFill>
                <a:schemeClr val="tx1"/>
              </a:solidFill>
              <a:prstDash val="solid"/>
              <a:headEnd type="none" w="med" len="med"/>
              <a:tailEnd type="triangle" w="med" len="med"/>
            </a:ln>
          </p:spPr>
        </p:sp>
        <p:sp>
          <p:nvSpPr>
            <p:cNvPr id="130073" name="直接连接符 130072"/>
            <p:cNvSpPr/>
            <p:nvPr>
              <p:custDataLst>
                <p:tags r:id="rId22"/>
              </p:custDataLst>
            </p:nvPr>
          </p:nvSpPr>
          <p:spPr>
            <a:xfrm flipV="1">
              <a:off x="4209" y="2523"/>
              <a:ext cx="0" cy="91"/>
            </a:xfrm>
            <a:prstGeom prst="line">
              <a:avLst/>
            </a:prstGeom>
            <a:ln w="9525" cap="flat" cmpd="sng">
              <a:solidFill>
                <a:schemeClr val="tx1"/>
              </a:solidFill>
              <a:prstDash val="solid"/>
              <a:headEnd type="none" w="med" len="med"/>
              <a:tailEnd type="triangle" w="med" len="med"/>
            </a:ln>
          </p:spPr>
        </p:sp>
        <p:sp>
          <p:nvSpPr>
            <p:cNvPr id="130074" name="直接连接符 130073"/>
            <p:cNvSpPr/>
            <p:nvPr>
              <p:custDataLst>
                <p:tags r:id="rId23"/>
              </p:custDataLst>
            </p:nvPr>
          </p:nvSpPr>
          <p:spPr>
            <a:xfrm flipV="1">
              <a:off x="4163" y="2976"/>
              <a:ext cx="0" cy="91"/>
            </a:xfrm>
            <a:prstGeom prst="line">
              <a:avLst/>
            </a:prstGeom>
            <a:ln w="9525" cap="flat" cmpd="sng">
              <a:solidFill>
                <a:schemeClr val="tx1"/>
              </a:solidFill>
              <a:prstDash val="solid"/>
              <a:headEnd type="none" w="med" len="med"/>
              <a:tailEnd type="triangle" w="med" len="med"/>
            </a:ln>
          </p:spPr>
        </p:sp>
        <p:sp>
          <p:nvSpPr>
            <p:cNvPr id="130075" name="直接连接符 130074"/>
            <p:cNvSpPr/>
            <p:nvPr>
              <p:custDataLst>
                <p:tags r:id="rId24"/>
              </p:custDataLst>
            </p:nvPr>
          </p:nvSpPr>
          <p:spPr>
            <a:xfrm>
              <a:off x="1941" y="2976"/>
              <a:ext cx="0" cy="46"/>
            </a:xfrm>
            <a:prstGeom prst="line">
              <a:avLst/>
            </a:prstGeom>
            <a:ln w="9525" cap="flat" cmpd="sng">
              <a:solidFill>
                <a:schemeClr val="tx1"/>
              </a:solidFill>
              <a:prstDash val="solid"/>
              <a:headEnd type="none" w="med" len="med"/>
              <a:tailEnd type="triangle" w="med" len="med"/>
            </a:ln>
          </p:spPr>
        </p:sp>
        <p:sp>
          <p:nvSpPr>
            <p:cNvPr id="130076" name="直接连接符 130075"/>
            <p:cNvSpPr/>
            <p:nvPr>
              <p:custDataLst>
                <p:tags r:id="rId25"/>
              </p:custDataLst>
            </p:nvPr>
          </p:nvSpPr>
          <p:spPr>
            <a:xfrm>
              <a:off x="1941" y="3430"/>
              <a:ext cx="0" cy="91"/>
            </a:xfrm>
            <a:prstGeom prst="line">
              <a:avLst/>
            </a:prstGeom>
            <a:ln w="9525" cap="flat" cmpd="sng">
              <a:solidFill>
                <a:schemeClr val="tx1"/>
              </a:solidFill>
              <a:prstDash val="solid"/>
              <a:headEnd type="none" w="med" len="med"/>
              <a:tailEnd type="triangle" w="med" len="med"/>
            </a:ln>
          </p:spPr>
        </p:sp>
        <p:sp>
          <p:nvSpPr>
            <p:cNvPr id="130077" name="任意多边形 130076"/>
            <p:cNvSpPr/>
            <p:nvPr>
              <p:custDataLst>
                <p:tags r:id="rId26"/>
              </p:custDataLst>
            </p:nvPr>
          </p:nvSpPr>
          <p:spPr>
            <a:xfrm>
              <a:off x="2394" y="3430"/>
              <a:ext cx="1769" cy="275"/>
            </a:xfrm>
            <a:custGeom>
              <a:avLst/>
              <a:gdLst/>
              <a:ahLst/>
              <a:cxnLst/>
              <a:pathLst>
                <a:path w="1769" h="275">
                  <a:moveTo>
                    <a:pt x="0" y="272"/>
                  </a:moveTo>
                  <a:lnTo>
                    <a:pt x="1758" y="275"/>
                  </a:lnTo>
                  <a:lnTo>
                    <a:pt x="1769" y="0"/>
                  </a:lnTo>
                </a:path>
              </a:pathLst>
            </a:custGeom>
            <a:noFill/>
            <a:ln w="9525" cap="flat" cmpd="sng">
              <a:solidFill>
                <a:schemeClr val="tx1"/>
              </a:solidFill>
              <a:prstDash val="solid"/>
              <a:headEnd type="none" w="med" len="med"/>
              <a:tailEnd type="triangle" w="med" len="med"/>
            </a:ln>
          </p:spPr>
          <p:txBody>
            <a:bodyPr/>
            <a:p>
              <a:endParaRPr lang="zh-CN" altLang="en-US">
                <a:solidFill>
                  <a:schemeClr val="bg1"/>
                </a:solidFill>
              </a:endParaRPr>
            </a:p>
          </p:txBody>
        </p:sp>
        <p:sp>
          <p:nvSpPr>
            <p:cNvPr id="130083" name="任意多边形 130082"/>
            <p:cNvSpPr/>
            <p:nvPr>
              <p:custDataLst>
                <p:tags r:id="rId27"/>
              </p:custDataLst>
            </p:nvPr>
          </p:nvSpPr>
          <p:spPr>
            <a:xfrm>
              <a:off x="1118" y="2338"/>
              <a:ext cx="3757" cy="1668"/>
            </a:xfrm>
            <a:custGeom>
              <a:avLst/>
              <a:gdLst/>
              <a:ahLst/>
              <a:cxnLst/>
              <a:pathLst>
                <a:path w="3757" h="1668">
                  <a:moveTo>
                    <a:pt x="3590" y="3"/>
                  </a:moveTo>
                  <a:lnTo>
                    <a:pt x="3757" y="0"/>
                  </a:lnTo>
                  <a:lnTo>
                    <a:pt x="3757" y="1668"/>
                  </a:lnTo>
                  <a:lnTo>
                    <a:pt x="0" y="1668"/>
                  </a:lnTo>
                  <a:lnTo>
                    <a:pt x="0" y="0"/>
                  </a:lnTo>
                  <a:lnTo>
                    <a:pt x="324" y="4"/>
                  </a:lnTo>
                </a:path>
              </a:pathLst>
            </a:custGeom>
            <a:noFill/>
            <a:ln w="9525" cap="flat" cmpd="sng">
              <a:solidFill>
                <a:schemeClr val="tx1"/>
              </a:solidFill>
              <a:prstDash val="solid"/>
              <a:headEnd type="none" w="med" len="med"/>
              <a:tailEnd type="triangle" w="med" len="med"/>
            </a:ln>
          </p:spPr>
          <p:txBody>
            <a:bodyPr/>
            <a:p>
              <a:endParaRPr lang="zh-CN" altLang="en-US">
                <a:solidFill>
                  <a:schemeClr val="bg1"/>
                </a:solidFill>
              </a:endParaRPr>
            </a:p>
          </p:txBody>
        </p:sp>
        <p:sp>
          <p:nvSpPr>
            <p:cNvPr id="130084" name="文本框 130083"/>
            <p:cNvSpPr txBox="1"/>
            <p:nvPr>
              <p:custDataLst>
                <p:tags r:id="rId28"/>
              </p:custDataLst>
            </p:nvPr>
          </p:nvSpPr>
          <p:spPr>
            <a:xfrm>
              <a:off x="2427" y="2082"/>
              <a:ext cx="284" cy="232"/>
            </a:xfrm>
            <a:prstGeom prst="rect">
              <a:avLst/>
            </a:prstGeom>
            <a:noFill/>
            <a:ln w="9525">
              <a:noFill/>
            </a:ln>
          </p:spPr>
          <p:txBody>
            <a:bodyPr wrap="none" anchor="t" anchorCtr="0">
              <a:spAutoFit/>
            </a:bodyPr>
            <a:p>
              <a:pPr eaLnBrk="1" hangingPunct="1"/>
              <a:r>
                <a:rPr lang="en-US" altLang="zh-CN">
                  <a:solidFill>
                    <a:schemeClr val="bg1"/>
                  </a:solidFill>
                  <a:ea typeface="黑体" panose="02010609060101010101" pitchFamily="2" charset="-122"/>
                </a:rPr>
                <a:t>No</a:t>
              </a:r>
              <a:endParaRPr lang="en-US" altLang="zh-CN">
                <a:solidFill>
                  <a:schemeClr val="bg1"/>
                </a:solidFill>
                <a:ea typeface="黑体" panose="02010609060101010101" pitchFamily="2" charset="-122"/>
              </a:endParaRPr>
            </a:p>
          </p:txBody>
        </p:sp>
        <p:sp>
          <p:nvSpPr>
            <p:cNvPr id="130085" name="文本框 130084"/>
            <p:cNvSpPr txBox="1"/>
            <p:nvPr>
              <p:custDataLst>
                <p:tags r:id="rId29"/>
              </p:custDataLst>
            </p:nvPr>
          </p:nvSpPr>
          <p:spPr>
            <a:xfrm>
              <a:off x="4708" y="2068"/>
              <a:ext cx="284" cy="232"/>
            </a:xfrm>
            <a:prstGeom prst="rect">
              <a:avLst/>
            </a:prstGeom>
            <a:noFill/>
            <a:ln w="9525">
              <a:noFill/>
            </a:ln>
          </p:spPr>
          <p:txBody>
            <a:bodyPr wrap="none" anchor="t" anchorCtr="0">
              <a:spAutoFit/>
            </a:bodyPr>
            <a:p>
              <a:pPr eaLnBrk="1" hangingPunct="1"/>
              <a:r>
                <a:rPr lang="en-US" altLang="zh-CN">
                  <a:solidFill>
                    <a:schemeClr val="bg1"/>
                  </a:solidFill>
                  <a:ea typeface="黑体" panose="02010609060101010101" pitchFamily="2" charset="-122"/>
                </a:rPr>
                <a:t>No</a:t>
              </a:r>
              <a:endParaRPr lang="en-US" altLang="zh-CN">
                <a:solidFill>
                  <a:schemeClr val="bg1"/>
                </a:solidFill>
                <a:ea typeface="黑体" panose="02010609060101010101" pitchFamily="2" charset="-122"/>
              </a:endParaRPr>
            </a:p>
          </p:txBody>
        </p:sp>
        <p:sp>
          <p:nvSpPr>
            <p:cNvPr id="130086" name="文本框 130085"/>
            <p:cNvSpPr txBox="1"/>
            <p:nvPr>
              <p:custDataLst>
                <p:tags r:id="rId30"/>
              </p:custDataLst>
            </p:nvPr>
          </p:nvSpPr>
          <p:spPr>
            <a:xfrm>
              <a:off x="2394" y="2975"/>
              <a:ext cx="284" cy="232"/>
            </a:xfrm>
            <a:prstGeom prst="rect">
              <a:avLst/>
            </a:prstGeom>
            <a:noFill/>
            <a:ln w="9525">
              <a:noFill/>
            </a:ln>
          </p:spPr>
          <p:txBody>
            <a:bodyPr wrap="none" anchor="t" anchorCtr="0">
              <a:spAutoFit/>
            </a:bodyPr>
            <a:p>
              <a:pPr eaLnBrk="1" hangingPunct="1"/>
              <a:r>
                <a:rPr lang="en-US" altLang="zh-CN">
                  <a:solidFill>
                    <a:schemeClr val="bg1"/>
                  </a:solidFill>
                  <a:ea typeface="黑体" panose="02010609060101010101" pitchFamily="2" charset="-122"/>
                </a:rPr>
                <a:t>No</a:t>
              </a:r>
              <a:endParaRPr lang="en-US" altLang="zh-CN">
                <a:solidFill>
                  <a:schemeClr val="bg1"/>
                </a:solidFill>
                <a:ea typeface="黑体" panose="02010609060101010101" pitchFamily="2" charset="-122"/>
              </a:endParaRPr>
            </a:p>
          </p:txBody>
        </p:sp>
        <p:sp>
          <p:nvSpPr>
            <p:cNvPr id="130087" name="文本框 130086"/>
            <p:cNvSpPr txBox="1"/>
            <p:nvPr>
              <p:custDataLst>
                <p:tags r:id="rId31"/>
              </p:custDataLst>
            </p:nvPr>
          </p:nvSpPr>
          <p:spPr>
            <a:xfrm>
              <a:off x="2077" y="2386"/>
              <a:ext cx="303" cy="232"/>
            </a:xfrm>
            <a:prstGeom prst="rect">
              <a:avLst/>
            </a:prstGeom>
            <a:noFill/>
            <a:ln w="9525">
              <a:noFill/>
            </a:ln>
          </p:spPr>
          <p:txBody>
            <a:bodyPr wrap="none" anchor="t" anchorCtr="0">
              <a:spAutoFit/>
            </a:bodyPr>
            <a:p>
              <a:pPr eaLnBrk="1" hangingPunct="1"/>
              <a:r>
                <a:rPr lang="en-US" altLang="zh-CN">
                  <a:solidFill>
                    <a:schemeClr val="bg1"/>
                  </a:solidFill>
                  <a:ea typeface="黑体" panose="02010609060101010101" pitchFamily="2" charset="-122"/>
                </a:rPr>
                <a:t>Yes</a:t>
              </a:r>
              <a:endParaRPr lang="en-US" altLang="zh-CN">
                <a:solidFill>
                  <a:schemeClr val="bg1"/>
                </a:solidFill>
                <a:ea typeface="黑体" panose="02010609060101010101" pitchFamily="2" charset="-122"/>
              </a:endParaRPr>
            </a:p>
          </p:txBody>
        </p:sp>
        <p:sp>
          <p:nvSpPr>
            <p:cNvPr id="130088" name="文本框 130087"/>
            <p:cNvSpPr txBox="1"/>
            <p:nvPr>
              <p:custDataLst>
                <p:tags r:id="rId32"/>
              </p:custDataLst>
            </p:nvPr>
          </p:nvSpPr>
          <p:spPr>
            <a:xfrm>
              <a:off x="2031" y="3293"/>
              <a:ext cx="303" cy="232"/>
            </a:xfrm>
            <a:prstGeom prst="rect">
              <a:avLst/>
            </a:prstGeom>
            <a:noFill/>
            <a:ln w="9525">
              <a:noFill/>
            </a:ln>
          </p:spPr>
          <p:txBody>
            <a:bodyPr wrap="none" anchor="t" anchorCtr="0">
              <a:spAutoFit/>
            </a:bodyPr>
            <a:p>
              <a:pPr eaLnBrk="1" hangingPunct="1"/>
              <a:r>
                <a:rPr lang="en-US" altLang="zh-CN">
                  <a:solidFill>
                    <a:schemeClr val="bg1"/>
                  </a:solidFill>
                  <a:ea typeface="黑体" panose="02010609060101010101" pitchFamily="2" charset="-122"/>
                </a:rPr>
                <a:t>Yes</a:t>
              </a:r>
              <a:endParaRPr lang="en-US" altLang="zh-CN">
                <a:solidFill>
                  <a:schemeClr val="bg1"/>
                </a:solidFill>
                <a:ea typeface="黑体" panose="02010609060101010101" pitchFamily="2" charset="-122"/>
              </a:endParaRPr>
            </a:p>
          </p:txBody>
        </p:sp>
        <p:sp>
          <p:nvSpPr>
            <p:cNvPr id="130089" name="文本框 130088"/>
            <p:cNvSpPr txBox="1"/>
            <p:nvPr>
              <p:custDataLst>
                <p:tags r:id="rId33"/>
              </p:custDataLst>
            </p:nvPr>
          </p:nvSpPr>
          <p:spPr>
            <a:xfrm>
              <a:off x="3483" y="2068"/>
              <a:ext cx="303" cy="232"/>
            </a:xfrm>
            <a:prstGeom prst="rect">
              <a:avLst/>
            </a:prstGeom>
            <a:noFill/>
            <a:ln w="9525">
              <a:noFill/>
            </a:ln>
          </p:spPr>
          <p:txBody>
            <a:bodyPr wrap="none" anchor="t" anchorCtr="0">
              <a:spAutoFit/>
            </a:bodyPr>
            <a:p>
              <a:pPr eaLnBrk="1" hangingPunct="1"/>
              <a:r>
                <a:rPr lang="en-US" altLang="zh-CN">
                  <a:solidFill>
                    <a:schemeClr val="bg1"/>
                  </a:solidFill>
                  <a:ea typeface="黑体" panose="02010609060101010101" pitchFamily="2" charset="-122"/>
                </a:rPr>
                <a:t>Yes</a:t>
              </a:r>
              <a:endParaRPr lang="en-US" altLang="zh-CN">
                <a:solidFill>
                  <a:schemeClr val="bg1"/>
                </a:solidFill>
                <a:ea typeface="黑体" panose="02010609060101010101" pitchFamily="2"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6.2 软件可靠性数据收集过程</a:t>
            </a:r>
            <a:endParaRPr lang="zh-CN" altLang="en-US"/>
          </a:p>
        </p:txBody>
      </p:sp>
      <p:sp>
        <p:nvSpPr>
          <p:cNvPr id="3" name="内容占位符 2"/>
          <p:cNvSpPr>
            <a:spLocks noGrp="1"/>
          </p:cNvSpPr>
          <p:nvPr>
            <p:ph idx="1"/>
          </p:nvPr>
        </p:nvSpPr>
        <p:spPr/>
        <p:txBody>
          <a:bodyPr>
            <a:normAutofit fontScale="90000"/>
          </a:bodyPr>
          <a:p>
            <a:pPr algn="l">
              <a:spcBef>
                <a:spcPts val="1000"/>
              </a:spcBef>
              <a:buClrTx/>
              <a:buSzTx/>
            </a:pPr>
            <a:r>
              <a:rPr lang="zh-CN" altLang="en-US" dirty="0">
                <a:sym typeface="+mn-ea"/>
              </a:rPr>
              <a:t>与软件可靠性测试过程相关的数据包括：</a:t>
            </a:r>
            <a:endParaRPr lang="zh-CN" altLang="en-US" dirty="0"/>
          </a:p>
          <a:p>
            <a:pPr lvl="1" algn="l">
              <a:spcBef>
                <a:spcPts val="1000"/>
              </a:spcBef>
              <a:buClrTx/>
              <a:buSzTx/>
            </a:pPr>
            <a:r>
              <a:rPr lang="zh-CN" altLang="en-US" b="1" dirty="0">
                <a:solidFill>
                  <a:srgbClr val="FF0000"/>
                </a:solidFill>
                <a:sym typeface="+mn-ea"/>
              </a:rPr>
              <a:t>CPU时间</a:t>
            </a:r>
            <a:r>
              <a:rPr lang="zh-CN" altLang="en-US" dirty="0">
                <a:sym typeface="+mn-ea"/>
              </a:rPr>
              <a:t>：具有与人无关性，但易忽略人的工作（如评审等）</a:t>
            </a:r>
            <a:endParaRPr lang="zh-CN" altLang="en-US" dirty="0"/>
          </a:p>
          <a:p>
            <a:pPr lvl="1" algn="l">
              <a:spcBef>
                <a:spcPts val="1000"/>
              </a:spcBef>
              <a:buClrTx/>
              <a:buSzTx/>
            </a:pPr>
            <a:r>
              <a:rPr lang="zh-CN" altLang="en-US" b="1" dirty="0">
                <a:solidFill>
                  <a:srgbClr val="FF0000"/>
                </a:solidFill>
                <a:sym typeface="+mn-ea"/>
              </a:rPr>
              <a:t>日历时间</a:t>
            </a:r>
            <a:r>
              <a:rPr lang="zh-CN" altLang="en-US" dirty="0">
                <a:sym typeface="+mn-ea"/>
              </a:rPr>
              <a:t>：优点是易于收集，但没有考虑阶段特征，如某些技术在某阶段更有效</a:t>
            </a:r>
            <a:endParaRPr lang="zh-CN" altLang="en-US" dirty="0"/>
          </a:p>
          <a:p>
            <a:pPr lvl="1" algn="l">
              <a:spcBef>
                <a:spcPts val="1000"/>
              </a:spcBef>
              <a:buClrTx/>
              <a:buSzTx/>
            </a:pPr>
            <a:r>
              <a:rPr lang="zh-CN" altLang="en-US" b="1" dirty="0">
                <a:solidFill>
                  <a:srgbClr val="FF0000"/>
                </a:solidFill>
                <a:sym typeface="+mn-ea"/>
              </a:rPr>
              <a:t>运行时间</a:t>
            </a:r>
            <a:r>
              <a:rPr lang="zh-CN" altLang="en-US" dirty="0">
                <a:sym typeface="+mn-ea"/>
              </a:rPr>
              <a:t>：是为测试而运行软件的总时间，也未考虑阶段特征</a:t>
            </a:r>
            <a:endParaRPr lang="zh-CN" altLang="en-US" dirty="0"/>
          </a:p>
          <a:p>
            <a:pPr lvl="1" algn="l">
              <a:spcBef>
                <a:spcPts val="1000"/>
              </a:spcBef>
              <a:buClrTx/>
              <a:buSzTx/>
            </a:pPr>
            <a:r>
              <a:rPr lang="zh-CN" altLang="en-US" b="1" dirty="0">
                <a:solidFill>
                  <a:srgbClr val="002060"/>
                </a:solidFill>
                <a:sym typeface="+mn-ea"/>
              </a:rPr>
              <a:t>其他数据</a:t>
            </a:r>
            <a:r>
              <a:rPr lang="zh-CN" altLang="en-US" dirty="0">
                <a:sym typeface="+mn-ea"/>
              </a:rPr>
              <a:t>：包括平均修复时间、完成每个过程活动的人数、软件生命期各阶段所用时间百分比、各阶段所消耗的资源数量、各阶段的开始、截止日期、各阶段修复一个缺陷所需的工作量、各功能模块的缺陷数，等等</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a:t>
            </a:r>
            <a:r>
              <a:rPr lang="zh-CN" altLang="en-US">
                <a:solidFill>
                  <a:srgbClr val="C00000"/>
                </a:solidFill>
                <a:sym typeface="+mn-ea"/>
              </a:rPr>
              <a:t>剖面</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20000"/>
          </a:bodyPr>
          <a:p>
            <a:pPr marL="228600" lvl="1" algn="l" defTabSz="914400">
              <a:spcBef>
                <a:spcPts val="1000"/>
              </a:spcBef>
              <a:buClrTx/>
              <a:buSzTx/>
            </a:pPr>
            <a:r>
              <a:rPr lang="en-US" altLang="zh-CN" sz="2800">
                <a:sym typeface="+mn-ea"/>
              </a:rPr>
              <a:t>软件可靠性建模需要具备三个条件：</a:t>
            </a:r>
            <a:endParaRPr lang="en-US" altLang="zh-CN" sz="2800"/>
          </a:p>
          <a:p>
            <a:pPr lvl="2" algn="l" defTabSz="914400">
              <a:spcBef>
                <a:spcPts val="1000"/>
              </a:spcBef>
              <a:buClrTx/>
              <a:buSzTx/>
            </a:pPr>
            <a:r>
              <a:rPr lang="en-US" altLang="zh-CN" sz="2330">
                <a:sym typeface="+mn-ea"/>
              </a:rPr>
              <a:t>软件运行时间基准（日历时间、运行时间、CPU时间）</a:t>
            </a:r>
            <a:endParaRPr lang="en-US" altLang="zh-CN" sz="2330"/>
          </a:p>
          <a:p>
            <a:pPr lvl="2" algn="l" defTabSz="914400">
              <a:spcBef>
                <a:spcPts val="1000"/>
              </a:spcBef>
              <a:buClrTx/>
              <a:buSzTx/>
            </a:pPr>
            <a:r>
              <a:rPr lang="en-US" altLang="zh-CN" sz="2330">
                <a:sym typeface="+mn-ea"/>
              </a:rPr>
              <a:t>软件运行过程收集的数据，是建模基础</a:t>
            </a:r>
            <a:endParaRPr lang="en-US" altLang="zh-CN" sz="2330"/>
          </a:p>
          <a:p>
            <a:pPr lvl="2" algn="l" defTabSz="914400">
              <a:spcBef>
                <a:spcPts val="1000"/>
              </a:spcBef>
              <a:buClrTx/>
              <a:buSzTx/>
            </a:pPr>
            <a:r>
              <a:rPr lang="en-US" altLang="zh-CN" sz="2330">
                <a:sym typeface="+mn-ea"/>
              </a:rPr>
              <a:t>软件功能和运行环境</a:t>
            </a:r>
            <a:endParaRPr lang="en-US" altLang="zh-CN" sz="2330"/>
          </a:p>
          <a:p>
            <a:pPr marL="228600" lvl="1" algn="l" defTabSz="914400">
              <a:spcBef>
                <a:spcPts val="1000"/>
              </a:spcBef>
              <a:buClrTx/>
              <a:buSzTx/>
            </a:pPr>
            <a:r>
              <a:rPr lang="en-US" altLang="zh-CN" sz="2800" b="1">
                <a:solidFill>
                  <a:srgbClr val="FF0000"/>
                </a:solidFill>
                <a:sym typeface="+mn-ea"/>
              </a:rPr>
              <a:t>软件运行剖面</a:t>
            </a:r>
            <a:r>
              <a:rPr lang="en-US" altLang="zh-CN" sz="2800">
                <a:sym typeface="+mn-ea"/>
              </a:rPr>
              <a:t>用于定量描述软件的用户运行环境，即软件的功能和各功能的使用概率</a:t>
            </a:r>
            <a:endParaRPr lang="en-US" altLang="zh-CN" sz="2800"/>
          </a:p>
          <a:p>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运行剖面</a:t>
            </a:r>
            <a:endParaRPr lang="zh-CN" altLang="en-US"/>
          </a:p>
        </p:txBody>
      </p:sp>
      <p:sp>
        <p:nvSpPr>
          <p:cNvPr id="6" name="矩形 5"/>
          <p:cNvSpPr/>
          <p:nvPr>
            <p:custDataLst>
              <p:tags r:id="rId1"/>
            </p:custDataLst>
          </p:nvPr>
        </p:nvSpPr>
        <p:spPr bwMode="auto">
          <a:xfrm>
            <a:off x="4267200" y="1600200"/>
            <a:ext cx="2286000" cy="4572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用户使用软件的方式</a:t>
            </a:r>
            <a:endParaRPr lang="zh-CN" altLang="en-US" b="1" i="0" smtClean="0"/>
          </a:p>
        </p:txBody>
      </p:sp>
      <p:sp>
        <p:nvSpPr>
          <p:cNvPr id="7" name="矩形 6"/>
          <p:cNvSpPr/>
          <p:nvPr>
            <p:custDataLst>
              <p:tags r:id="rId2"/>
            </p:custDataLst>
          </p:nvPr>
        </p:nvSpPr>
        <p:spPr bwMode="auto">
          <a:xfrm>
            <a:off x="2743200" y="2286000"/>
            <a:ext cx="12954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系统模式</a:t>
            </a:r>
            <a:r>
              <a:rPr lang="en-US" altLang="zh-CN" b="1" i="0" smtClean="0"/>
              <a:t>1</a:t>
            </a:r>
            <a:endParaRPr lang="en-US" altLang="zh-CN" b="1" i="0" smtClean="0"/>
          </a:p>
          <a:p>
            <a:pPr algn="ctr" eaLnBrk="1" hangingPunct="1">
              <a:defRPr/>
            </a:pPr>
            <a:r>
              <a:rPr lang="en-US" altLang="zh-CN" b="1" i="0" smtClean="0"/>
              <a:t>0.6</a:t>
            </a:r>
            <a:endParaRPr lang="zh-CN" altLang="en-US" b="1" i="0" smtClean="0"/>
          </a:p>
        </p:txBody>
      </p:sp>
      <p:sp>
        <p:nvSpPr>
          <p:cNvPr id="8" name="矩形 7"/>
          <p:cNvSpPr/>
          <p:nvPr>
            <p:custDataLst>
              <p:tags r:id="rId3"/>
            </p:custDataLst>
          </p:nvPr>
        </p:nvSpPr>
        <p:spPr bwMode="auto">
          <a:xfrm>
            <a:off x="6781800" y="2286000"/>
            <a:ext cx="12954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系统模式</a:t>
            </a:r>
            <a:r>
              <a:rPr lang="en-US" altLang="zh-CN" b="1" i="0" smtClean="0"/>
              <a:t>2</a:t>
            </a:r>
            <a:endParaRPr lang="en-US" altLang="zh-CN" b="1" i="0" smtClean="0"/>
          </a:p>
          <a:p>
            <a:pPr algn="ctr" eaLnBrk="1" hangingPunct="1">
              <a:defRPr/>
            </a:pPr>
            <a:r>
              <a:rPr lang="en-US" altLang="zh-CN" b="1" i="0" smtClean="0"/>
              <a:t>0.4</a:t>
            </a:r>
            <a:endParaRPr lang="zh-CN" altLang="en-US" b="1" i="0" smtClean="0"/>
          </a:p>
        </p:txBody>
      </p:sp>
      <p:sp>
        <p:nvSpPr>
          <p:cNvPr id="9" name="矩形 8"/>
          <p:cNvSpPr/>
          <p:nvPr>
            <p:custDataLst>
              <p:tags r:id="rId4"/>
            </p:custDataLst>
          </p:nvPr>
        </p:nvSpPr>
        <p:spPr bwMode="auto">
          <a:xfrm>
            <a:off x="1981200" y="30480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1</a:t>
            </a:r>
            <a:endParaRPr lang="en-US" altLang="zh-CN" b="1" i="0" smtClean="0"/>
          </a:p>
          <a:p>
            <a:pPr algn="ctr" eaLnBrk="1" hangingPunct="1">
              <a:defRPr/>
            </a:pPr>
            <a:r>
              <a:rPr lang="en-US" altLang="zh-CN" b="1" i="0" smtClean="0"/>
              <a:t>0.2</a:t>
            </a:r>
            <a:endParaRPr lang="zh-CN" altLang="en-US" b="1" i="0" smtClean="0"/>
          </a:p>
        </p:txBody>
      </p:sp>
      <p:sp>
        <p:nvSpPr>
          <p:cNvPr id="10" name="矩形 9"/>
          <p:cNvSpPr/>
          <p:nvPr>
            <p:custDataLst>
              <p:tags r:id="rId5"/>
            </p:custDataLst>
          </p:nvPr>
        </p:nvSpPr>
        <p:spPr bwMode="auto">
          <a:xfrm>
            <a:off x="2971800" y="30480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2</a:t>
            </a:r>
            <a:endParaRPr lang="en-US" altLang="zh-CN" b="1" i="0" smtClean="0"/>
          </a:p>
          <a:p>
            <a:pPr algn="ctr" eaLnBrk="1" hangingPunct="1">
              <a:defRPr/>
            </a:pPr>
            <a:r>
              <a:rPr lang="en-US" altLang="zh-CN" b="1" i="0" smtClean="0"/>
              <a:t>0.5</a:t>
            </a:r>
            <a:endParaRPr lang="zh-CN" altLang="en-US" b="1" i="0" smtClean="0"/>
          </a:p>
        </p:txBody>
      </p:sp>
      <p:sp>
        <p:nvSpPr>
          <p:cNvPr id="11" name="矩形 10"/>
          <p:cNvSpPr/>
          <p:nvPr>
            <p:custDataLst>
              <p:tags r:id="rId6"/>
            </p:custDataLst>
          </p:nvPr>
        </p:nvSpPr>
        <p:spPr bwMode="auto">
          <a:xfrm>
            <a:off x="3962400" y="30480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3</a:t>
            </a:r>
            <a:endParaRPr lang="en-US" altLang="zh-CN" b="1" i="0" smtClean="0"/>
          </a:p>
          <a:p>
            <a:pPr algn="ctr" eaLnBrk="1" hangingPunct="1">
              <a:defRPr/>
            </a:pPr>
            <a:r>
              <a:rPr lang="en-US" altLang="zh-CN" b="1" i="0" smtClean="0"/>
              <a:t>0.3</a:t>
            </a:r>
            <a:endParaRPr lang="zh-CN" altLang="en-US" b="1" i="0" smtClean="0"/>
          </a:p>
        </p:txBody>
      </p:sp>
      <p:sp>
        <p:nvSpPr>
          <p:cNvPr id="12" name="矩形 11"/>
          <p:cNvSpPr/>
          <p:nvPr>
            <p:custDataLst>
              <p:tags r:id="rId7"/>
            </p:custDataLst>
          </p:nvPr>
        </p:nvSpPr>
        <p:spPr bwMode="auto">
          <a:xfrm>
            <a:off x="6019800" y="30480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4</a:t>
            </a:r>
            <a:endParaRPr lang="en-US" altLang="zh-CN" b="1" i="0" smtClean="0"/>
          </a:p>
          <a:p>
            <a:pPr algn="ctr" eaLnBrk="1" hangingPunct="1">
              <a:defRPr/>
            </a:pPr>
            <a:r>
              <a:rPr lang="en-US" altLang="zh-CN" b="1" i="0" smtClean="0"/>
              <a:t>0.2</a:t>
            </a:r>
            <a:endParaRPr lang="zh-CN" altLang="en-US" b="1" i="0" smtClean="0"/>
          </a:p>
        </p:txBody>
      </p:sp>
      <p:sp>
        <p:nvSpPr>
          <p:cNvPr id="13" name="矩形 12"/>
          <p:cNvSpPr/>
          <p:nvPr>
            <p:custDataLst>
              <p:tags r:id="rId8"/>
            </p:custDataLst>
          </p:nvPr>
        </p:nvSpPr>
        <p:spPr bwMode="auto">
          <a:xfrm>
            <a:off x="7048500" y="30480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2</a:t>
            </a:r>
            <a:endParaRPr lang="en-US" altLang="zh-CN" b="1" i="0" smtClean="0"/>
          </a:p>
          <a:p>
            <a:pPr algn="ctr" eaLnBrk="1" hangingPunct="1">
              <a:defRPr/>
            </a:pPr>
            <a:r>
              <a:rPr lang="en-US" altLang="zh-CN" b="1" i="0" smtClean="0"/>
              <a:t>0.2</a:t>
            </a:r>
            <a:endParaRPr lang="zh-CN" altLang="en-US" b="1" i="0" smtClean="0"/>
          </a:p>
        </p:txBody>
      </p:sp>
      <p:sp>
        <p:nvSpPr>
          <p:cNvPr id="14" name="矩形 13"/>
          <p:cNvSpPr/>
          <p:nvPr>
            <p:custDataLst>
              <p:tags r:id="rId9"/>
            </p:custDataLst>
          </p:nvPr>
        </p:nvSpPr>
        <p:spPr bwMode="auto">
          <a:xfrm>
            <a:off x="8077200" y="30480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5</a:t>
            </a:r>
            <a:endParaRPr lang="en-US" altLang="zh-CN" b="1" i="0" smtClean="0"/>
          </a:p>
          <a:p>
            <a:pPr algn="ctr" eaLnBrk="1" hangingPunct="1">
              <a:defRPr/>
            </a:pPr>
            <a:r>
              <a:rPr lang="en-US" altLang="zh-CN" b="1" i="0" smtClean="0"/>
              <a:t>0.4</a:t>
            </a:r>
            <a:endParaRPr lang="zh-CN" altLang="en-US" b="1" i="0" smtClean="0"/>
          </a:p>
        </p:txBody>
      </p:sp>
      <p:sp>
        <p:nvSpPr>
          <p:cNvPr id="15" name="矩形 14"/>
          <p:cNvSpPr/>
          <p:nvPr>
            <p:custDataLst>
              <p:tags r:id="rId10"/>
            </p:custDataLst>
          </p:nvPr>
        </p:nvSpPr>
        <p:spPr bwMode="auto">
          <a:xfrm>
            <a:off x="2057400" y="38481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1</a:t>
            </a:r>
            <a:endParaRPr lang="en-US" altLang="zh-CN" b="1" i="0" smtClean="0"/>
          </a:p>
          <a:p>
            <a:pPr algn="ctr" eaLnBrk="1" hangingPunct="1">
              <a:defRPr/>
            </a:pPr>
            <a:r>
              <a:rPr lang="en-US" altLang="zh-CN" b="1" i="0" smtClean="0"/>
              <a:t>0.12</a:t>
            </a:r>
            <a:endParaRPr lang="zh-CN" altLang="en-US" b="1" i="0" smtClean="0"/>
          </a:p>
        </p:txBody>
      </p:sp>
      <p:sp>
        <p:nvSpPr>
          <p:cNvPr id="16" name="矩形 15"/>
          <p:cNvSpPr/>
          <p:nvPr>
            <p:custDataLst>
              <p:tags r:id="rId11"/>
            </p:custDataLst>
          </p:nvPr>
        </p:nvSpPr>
        <p:spPr bwMode="auto">
          <a:xfrm>
            <a:off x="3962400" y="38481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2</a:t>
            </a:r>
            <a:endParaRPr lang="en-US" altLang="zh-CN" b="1" i="0" smtClean="0"/>
          </a:p>
          <a:p>
            <a:pPr algn="ctr" eaLnBrk="1" hangingPunct="1">
              <a:defRPr/>
            </a:pPr>
            <a:r>
              <a:rPr lang="en-US" altLang="zh-CN" b="1" i="0" smtClean="0"/>
              <a:t>0.38</a:t>
            </a:r>
            <a:endParaRPr lang="zh-CN" altLang="en-US" b="1" i="0" smtClean="0"/>
          </a:p>
        </p:txBody>
      </p:sp>
      <p:sp>
        <p:nvSpPr>
          <p:cNvPr id="17" name="矩形 16"/>
          <p:cNvSpPr/>
          <p:nvPr>
            <p:custDataLst>
              <p:tags r:id="rId12"/>
            </p:custDataLst>
          </p:nvPr>
        </p:nvSpPr>
        <p:spPr bwMode="auto">
          <a:xfrm>
            <a:off x="5338763" y="38481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3</a:t>
            </a:r>
            <a:endParaRPr lang="en-US" altLang="zh-CN" b="1" i="0" smtClean="0"/>
          </a:p>
          <a:p>
            <a:pPr algn="ctr" eaLnBrk="1" hangingPunct="1">
              <a:defRPr/>
            </a:pPr>
            <a:r>
              <a:rPr lang="en-US" altLang="zh-CN" b="1" i="0" smtClean="0"/>
              <a:t>0.18</a:t>
            </a:r>
            <a:endParaRPr lang="zh-CN" altLang="en-US" b="1" i="0" smtClean="0"/>
          </a:p>
        </p:txBody>
      </p:sp>
      <p:sp>
        <p:nvSpPr>
          <p:cNvPr id="18" name="矩形 17"/>
          <p:cNvSpPr/>
          <p:nvPr>
            <p:custDataLst>
              <p:tags r:id="rId13"/>
            </p:custDataLst>
          </p:nvPr>
        </p:nvSpPr>
        <p:spPr bwMode="auto">
          <a:xfrm>
            <a:off x="6264275" y="38481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4</a:t>
            </a:r>
            <a:endParaRPr lang="en-US" altLang="zh-CN" b="1" i="0" smtClean="0"/>
          </a:p>
          <a:p>
            <a:pPr algn="ctr" eaLnBrk="1" hangingPunct="1">
              <a:defRPr/>
            </a:pPr>
            <a:r>
              <a:rPr lang="en-US" altLang="zh-CN" b="1" i="0" smtClean="0"/>
              <a:t>0.16</a:t>
            </a:r>
            <a:endParaRPr lang="zh-CN" altLang="en-US" b="1" i="0" smtClean="0"/>
          </a:p>
        </p:txBody>
      </p:sp>
      <p:sp>
        <p:nvSpPr>
          <p:cNvPr id="19" name="矩形 18"/>
          <p:cNvSpPr/>
          <p:nvPr>
            <p:custDataLst>
              <p:tags r:id="rId14"/>
            </p:custDataLst>
          </p:nvPr>
        </p:nvSpPr>
        <p:spPr bwMode="auto">
          <a:xfrm>
            <a:off x="7696200" y="38481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功能</a:t>
            </a:r>
            <a:r>
              <a:rPr lang="en-US" altLang="zh-CN" b="1" i="0" smtClean="0"/>
              <a:t>5</a:t>
            </a:r>
            <a:endParaRPr lang="en-US" altLang="zh-CN" b="1" i="0" smtClean="0"/>
          </a:p>
          <a:p>
            <a:pPr algn="ctr" eaLnBrk="1" hangingPunct="1">
              <a:defRPr/>
            </a:pPr>
            <a:r>
              <a:rPr lang="en-US" altLang="zh-CN" b="1" i="0" smtClean="0"/>
              <a:t>0.16</a:t>
            </a:r>
            <a:endParaRPr lang="zh-CN" altLang="en-US" b="1" i="0" smtClean="0"/>
          </a:p>
        </p:txBody>
      </p:sp>
      <p:sp>
        <p:nvSpPr>
          <p:cNvPr id="20" name="矩形 19"/>
          <p:cNvSpPr/>
          <p:nvPr>
            <p:custDataLst>
              <p:tags r:id="rId15"/>
            </p:custDataLst>
          </p:nvPr>
        </p:nvSpPr>
        <p:spPr bwMode="auto">
          <a:xfrm>
            <a:off x="1600200"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1</a:t>
            </a:r>
            <a:endParaRPr lang="en-US" altLang="zh-CN" b="1" i="0" smtClean="0"/>
          </a:p>
          <a:p>
            <a:pPr algn="ctr" eaLnBrk="1" hangingPunct="1">
              <a:defRPr/>
            </a:pPr>
            <a:r>
              <a:rPr lang="en-US" altLang="zh-CN" b="1" i="0" smtClean="0"/>
              <a:t>0.1</a:t>
            </a:r>
            <a:endParaRPr lang="zh-CN" altLang="en-US" b="1" i="0" smtClean="0"/>
          </a:p>
        </p:txBody>
      </p:sp>
      <p:sp>
        <p:nvSpPr>
          <p:cNvPr id="21" name="矩形 20"/>
          <p:cNvSpPr/>
          <p:nvPr>
            <p:custDataLst>
              <p:tags r:id="rId16"/>
            </p:custDataLst>
          </p:nvPr>
        </p:nvSpPr>
        <p:spPr bwMode="auto">
          <a:xfrm>
            <a:off x="2536825"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2</a:t>
            </a:r>
            <a:endParaRPr lang="en-US" altLang="zh-CN" b="1" i="0" smtClean="0"/>
          </a:p>
          <a:p>
            <a:pPr algn="ctr" eaLnBrk="1" hangingPunct="1">
              <a:defRPr/>
            </a:pPr>
            <a:r>
              <a:rPr lang="en-US" altLang="zh-CN" b="1" i="0" smtClean="0"/>
              <a:t>0.9</a:t>
            </a:r>
            <a:endParaRPr lang="zh-CN" altLang="en-US" b="1" i="0" smtClean="0"/>
          </a:p>
        </p:txBody>
      </p:sp>
      <p:sp>
        <p:nvSpPr>
          <p:cNvPr id="22" name="矩形 21"/>
          <p:cNvSpPr/>
          <p:nvPr>
            <p:custDataLst>
              <p:tags r:id="rId17"/>
            </p:custDataLst>
          </p:nvPr>
        </p:nvSpPr>
        <p:spPr bwMode="auto">
          <a:xfrm>
            <a:off x="3471863"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3</a:t>
            </a:r>
            <a:endParaRPr lang="en-US" altLang="zh-CN" b="1" i="0" smtClean="0"/>
          </a:p>
          <a:p>
            <a:pPr algn="ctr" eaLnBrk="1" hangingPunct="1">
              <a:defRPr/>
            </a:pPr>
            <a:r>
              <a:rPr lang="en-US" altLang="zh-CN" b="1" i="0" smtClean="0"/>
              <a:t>0.3</a:t>
            </a:r>
            <a:endParaRPr lang="zh-CN" altLang="en-US" b="1" i="0" smtClean="0"/>
          </a:p>
        </p:txBody>
      </p:sp>
      <p:sp>
        <p:nvSpPr>
          <p:cNvPr id="23" name="矩形 22"/>
          <p:cNvSpPr/>
          <p:nvPr>
            <p:custDataLst>
              <p:tags r:id="rId18"/>
            </p:custDataLst>
          </p:nvPr>
        </p:nvSpPr>
        <p:spPr bwMode="auto">
          <a:xfrm>
            <a:off x="4408488"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4</a:t>
            </a:r>
            <a:endParaRPr lang="en-US" altLang="zh-CN" b="1" i="0" smtClean="0"/>
          </a:p>
          <a:p>
            <a:pPr algn="ctr" eaLnBrk="1" hangingPunct="1">
              <a:defRPr/>
            </a:pPr>
            <a:r>
              <a:rPr lang="en-US" altLang="zh-CN" b="1" i="0" smtClean="0"/>
              <a:t>0.7</a:t>
            </a:r>
            <a:endParaRPr lang="zh-CN" altLang="en-US" b="1" i="0" smtClean="0"/>
          </a:p>
        </p:txBody>
      </p:sp>
      <p:sp>
        <p:nvSpPr>
          <p:cNvPr id="24" name="矩形 23"/>
          <p:cNvSpPr/>
          <p:nvPr>
            <p:custDataLst>
              <p:tags r:id="rId19"/>
            </p:custDataLst>
          </p:nvPr>
        </p:nvSpPr>
        <p:spPr bwMode="auto">
          <a:xfrm>
            <a:off x="5338763"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5</a:t>
            </a:r>
            <a:endParaRPr lang="en-US" altLang="zh-CN" b="1" i="0" smtClean="0"/>
          </a:p>
          <a:p>
            <a:pPr algn="ctr" eaLnBrk="1" hangingPunct="1">
              <a:defRPr/>
            </a:pPr>
            <a:r>
              <a:rPr lang="en-US" altLang="zh-CN" b="1" i="0" smtClean="0"/>
              <a:t>1.0</a:t>
            </a:r>
            <a:endParaRPr lang="zh-CN" altLang="en-US" b="1" i="0" smtClean="0"/>
          </a:p>
        </p:txBody>
      </p:sp>
      <p:sp>
        <p:nvSpPr>
          <p:cNvPr id="25" name="矩形 24"/>
          <p:cNvSpPr/>
          <p:nvPr>
            <p:custDataLst>
              <p:tags r:id="rId20"/>
            </p:custDataLst>
          </p:nvPr>
        </p:nvSpPr>
        <p:spPr bwMode="auto">
          <a:xfrm>
            <a:off x="6264275"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6</a:t>
            </a:r>
            <a:endParaRPr lang="en-US" altLang="zh-CN" b="1" i="0" smtClean="0"/>
          </a:p>
          <a:p>
            <a:pPr algn="ctr" eaLnBrk="1" hangingPunct="1">
              <a:defRPr/>
            </a:pPr>
            <a:r>
              <a:rPr lang="en-US" altLang="zh-CN" b="1" i="0" smtClean="0"/>
              <a:t>1.0</a:t>
            </a:r>
            <a:endParaRPr lang="zh-CN" altLang="en-US" b="1" i="0" smtClean="0"/>
          </a:p>
        </p:txBody>
      </p:sp>
      <p:sp>
        <p:nvSpPr>
          <p:cNvPr id="26" name="矩形 25"/>
          <p:cNvSpPr/>
          <p:nvPr>
            <p:custDataLst>
              <p:tags r:id="rId21"/>
            </p:custDataLst>
          </p:nvPr>
        </p:nvSpPr>
        <p:spPr bwMode="auto">
          <a:xfrm>
            <a:off x="7216775"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7</a:t>
            </a:r>
            <a:endParaRPr lang="en-US" altLang="zh-CN" b="1" i="0" smtClean="0"/>
          </a:p>
          <a:p>
            <a:pPr algn="ctr" eaLnBrk="1" hangingPunct="1">
              <a:defRPr/>
            </a:pPr>
            <a:r>
              <a:rPr lang="en-US" altLang="zh-CN" b="1" i="0" smtClean="0"/>
              <a:t>0.4</a:t>
            </a:r>
            <a:endParaRPr lang="zh-CN" altLang="en-US" b="1" i="0" smtClean="0"/>
          </a:p>
        </p:txBody>
      </p:sp>
      <p:sp>
        <p:nvSpPr>
          <p:cNvPr id="27" name="矩形 26"/>
          <p:cNvSpPr/>
          <p:nvPr>
            <p:custDataLst>
              <p:tags r:id="rId22"/>
            </p:custDataLst>
          </p:nvPr>
        </p:nvSpPr>
        <p:spPr bwMode="auto">
          <a:xfrm>
            <a:off x="8153400" y="47244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8</a:t>
            </a:r>
            <a:endParaRPr lang="en-US" altLang="zh-CN" b="1" i="0" smtClean="0"/>
          </a:p>
          <a:p>
            <a:pPr algn="ctr" eaLnBrk="1" hangingPunct="1">
              <a:defRPr/>
            </a:pPr>
            <a:r>
              <a:rPr lang="en-US" altLang="zh-CN" b="1" i="0" smtClean="0"/>
              <a:t>0.6</a:t>
            </a:r>
            <a:endParaRPr lang="zh-CN" altLang="en-US" b="1" i="0" smtClean="0"/>
          </a:p>
        </p:txBody>
      </p:sp>
      <p:sp>
        <p:nvSpPr>
          <p:cNvPr id="28" name="矩形 27"/>
          <p:cNvSpPr/>
          <p:nvPr>
            <p:custDataLst>
              <p:tags r:id="rId23"/>
            </p:custDataLst>
          </p:nvPr>
        </p:nvSpPr>
        <p:spPr bwMode="auto">
          <a:xfrm>
            <a:off x="1600200"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1</a:t>
            </a:r>
            <a:endParaRPr lang="en-US" altLang="zh-CN" b="1" i="0" smtClean="0"/>
          </a:p>
          <a:p>
            <a:pPr algn="ctr" eaLnBrk="1" hangingPunct="1">
              <a:defRPr/>
            </a:pPr>
            <a:r>
              <a:rPr lang="en-US" altLang="zh-CN" b="1" i="0" smtClean="0"/>
              <a:t>0.012</a:t>
            </a:r>
            <a:endParaRPr lang="zh-CN" altLang="en-US" b="1" i="0" smtClean="0"/>
          </a:p>
        </p:txBody>
      </p:sp>
      <p:sp>
        <p:nvSpPr>
          <p:cNvPr id="29" name="矩形 28"/>
          <p:cNvSpPr/>
          <p:nvPr>
            <p:custDataLst>
              <p:tags r:id="rId24"/>
            </p:custDataLst>
          </p:nvPr>
        </p:nvSpPr>
        <p:spPr bwMode="auto">
          <a:xfrm>
            <a:off x="2536825"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2</a:t>
            </a:r>
            <a:endParaRPr lang="en-US" altLang="zh-CN" b="1" i="0" smtClean="0"/>
          </a:p>
          <a:p>
            <a:pPr algn="ctr" eaLnBrk="1" hangingPunct="1">
              <a:defRPr/>
            </a:pPr>
            <a:r>
              <a:rPr lang="en-US" altLang="zh-CN" b="1" i="0" smtClean="0"/>
              <a:t>0.108</a:t>
            </a:r>
            <a:endParaRPr lang="zh-CN" altLang="en-US" b="1" i="0" smtClean="0"/>
          </a:p>
        </p:txBody>
      </p:sp>
      <p:sp>
        <p:nvSpPr>
          <p:cNvPr id="30" name="矩形 29"/>
          <p:cNvSpPr/>
          <p:nvPr>
            <p:custDataLst>
              <p:tags r:id="rId25"/>
            </p:custDataLst>
          </p:nvPr>
        </p:nvSpPr>
        <p:spPr bwMode="auto">
          <a:xfrm>
            <a:off x="3471863"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3</a:t>
            </a:r>
            <a:endParaRPr lang="en-US" altLang="zh-CN" b="1" i="0" smtClean="0"/>
          </a:p>
          <a:p>
            <a:pPr algn="ctr" eaLnBrk="1" hangingPunct="1">
              <a:defRPr/>
            </a:pPr>
            <a:r>
              <a:rPr lang="en-US" altLang="zh-CN" b="1" i="0" smtClean="0"/>
              <a:t>0.114</a:t>
            </a:r>
            <a:endParaRPr lang="zh-CN" altLang="en-US" b="1" i="0" smtClean="0"/>
          </a:p>
        </p:txBody>
      </p:sp>
      <p:sp>
        <p:nvSpPr>
          <p:cNvPr id="31" name="矩形 30"/>
          <p:cNvSpPr/>
          <p:nvPr>
            <p:custDataLst>
              <p:tags r:id="rId26"/>
            </p:custDataLst>
          </p:nvPr>
        </p:nvSpPr>
        <p:spPr bwMode="auto">
          <a:xfrm>
            <a:off x="4408488"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4</a:t>
            </a:r>
            <a:endParaRPr lang="en-US" altLang="zh-CN" b="1" i="0" smtClean="0"/>
          </a:p>
          <a:p>
            <a:pPr algn="ctr" eaLnBrk="1" hangingPunct="1">
              <a:defRPr/>
            </a:pPr>
            <a:r>
              <a:rPr lang="en-US" altLang="zh-CN" b="1" i="0" smtClean="0"/>
              <a:t>0.266</a:t>
            </a:r>
            <a:endParaRPr lang="zh-CN" altLang="en-US" b="1" i="0" smtClean="0"/>
          </a:p>
        </p:txBody>
      </p:sp>
      <p:sp>
        <p:nvSpPr>
          <p:cNvPr id="32" name="矩形 31"/>
          <p:cNvSpPr/>
          <p:nvPr>
            <p:custDataLst>
              <p:tags r:id="rId27"/>
            </p:custDataLst>
          </p:nvPr>
        </p:nvSpPr>
        <p:spPr bwMode="auto">
          <a:xfrm>
            <a:off x="5345113"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5</a:t>
            </a:r>
            <a:endParaRPr lang="en-US" altLang="zh-CN" b="1" i="0" smtClean="0"/>
          </a:p>
          <a:p>
            <a:pPr algn="ctr" eaLnBrk="1" hangingPunct="1">
              <a:defRPr/>
            </a:pPr>
            <a:r>
              <a:rPr lang="en-US" altLang="zh-CN" b="1" i="0" smtClean="0"/>
              <a:t>0.18</a:t>
            </a:r>
            <a:endParaRPr lang="zh-CN" altLang="en-US" b="1" i="0" smtClean="0"/>
          </a:p>
        </p:txBody>
      </p:sp>
      <p:sp>
        <p:nvSpPr>
          <p:cNvPr id="33" name="矩形 32"/>
          <p:cNvSpPr/>
          <p:nvPr>
            <p:custDataLst>
              <p:tags r:id="rId28"/>
            </p:custDataLst>
          </p:nvPr>
        </p:nvSpPr>
        <p:spPr bwMode="auto">
          <a:xfrm>
            <a:off x="6281738"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6</a:t>
            </a:r>
            <a:endParaRPr lang="en-US" altLang="zh-CN" b="1" i="0" smtClean="0"/>
          </a:p>
          <a:p>
            <a:pPr algn="ctr" eaLnBrk="1" hangingPunct="1">
              <a:defRPr/>
            </a:pPr>
            <a:r>
              <a:rPr lang="en-US" altLang="zh-CN" b="1" i="0" smtClean="0"/>
              <a:t>0.16</a:t>
            </a:r>
            <a:endParaRPr lang="zh-CN" altLang="en-US" b="1" i="0" smtClean="0"/>
          </a:p>
        </p:txBody>
      </p:sp>
      <p:sp>
        <p:nvSpPr>
          <p:cNvPr id="34" name="矩形 33"/>
          <p:cNvSpPr/>
          <p:nvPr>
            <p:custDataLst>
              <p:tags r:id="rId29"/>
            </p:custDataLst>
          </p:nvPr>
        </p:nvSpPr>
        <p:spPr bwMode="auto">
          <a:xfrm>
            <a:off x="7216775"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7</a:t>
            </a:r>
            <a:endParaRPr lang="en-US" altLang="zh-CN" b="1" i="0" smtClean="0"/>
          </a:p>
          <a:p>
            <a:pPr algn="ctr" eaLnBrk="1" hangingPunct="1">
              <a:defRPr/>
            </a:pPr>
            <a:r>
              <a:rPr lang="en-US" altLang="zh-CN" b="1" i="0" smtClean="0"/>
              <a:t>0.064</a:t>
            </a:r>
            <a:endParaRPr lang="zh-CN" altLang="en-US" b="1" i="0" smtClean="0"/>
          </a:p>
        </p:txBody>
      </p:sp>
      <p:sp>
        <p:nvSpPr>
          <p:cNvPr id="35" name="矩形 34"/>
          <p:cNvSpPr/>
          <p:nvPr>
            <p:custDataLst>
              <p:tags r:id="rId30"/>
            </p:custDataLst>
          </p:nvPr>
        </p:nvSpPr>
        <p:spPr bwMode="auto">
          <a:xfrm>
            <a:off x="8153400" y="5562600"/>
            <a:ext cx="838200" cy="533400"/>
          </a:xfrm>
          <a:prstGeom prst="rect">
            <a:avLst/>
          </a:prstGeom>
          <a:solidFill>
            <a:schemeClr val="bg1">
              <a:lumMod val="95000"/>
            </a:schemeClr>
          </a:solidFill>
          <a:ln w="9525" cap="flat" cmpd="sng" algn="ctr">
            <a:solidFill>
              <a:srgbClr val="0000FF"/>
            </a:solidFill>
            <a:prstDash val="solid"/>
            <a:round/>
            <a:headEnd type="none" w="med" len="med"/>
            <a:tailEnd type="none" w="med" len="med"/>
          </a:ln>
          <a:effectLst/>
        </p:spPr>
        <p:txBody>
          <a:bodyPr anchor="ctr" anchorCtr="1"/>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i="0" smtClean="0"/>
              <a:t>运行</a:t>
            </a:r>
            <a:r>
              <a:rPr lang="en-US" altLang="zh-CN" b="1" i="0" smtClean="0"/>
              <a:t>8</a:t>
            </a:r>
            <a:endParaRPr lang="en-US" altLang="zh-CN" b="1" i="0" smtClean="0"/>
          </a:p>
          <a:p>
            <a:pPr algn="ctr" eaLnBrk="1" hangingPunct="1">
              <a:defRPr/>
            </a:pPr>
            <a:r>
              <a:rPr lang="en-US" altLang="zh-CN" b="1" i="0" smtClean="0"/>
              <a:t>0.096</a:t>
            </a:r>
            <a:endParaRPr lang="zh-CN" altLang="en-US" b="1" i="0" smtClean="0"/>
          </a:p>
        </p:txBody>
      </p:sp>
      <p:cxnSp>
        <p:nvCxnSpPr>
          <p:cNvPr id="37" name="直接箭头连接符 36"/>
          <p:cNvCxnSpPr>
            <a:cxnSpLocks noChangeShapeType="1"/>
            <a:stCxn id="15" idx="2"/>
            <a:endCxn id="20" idx="0"/>
          </p:cNvCxnSpPr>
          <p:nvPr>
            <p:custDataLst>
              <p:tags r:id="rId31"/>
            </p:custDataLst>
          </p:nvPr>
        </p:nvCxnSpPr>
        <p:spPr bwMode="auto">
          <a:xfrm rot="5400000">
            <a:off x="2076450" y="4324350"/>
            <a:ext cx="342900" cy="4572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9" name="直接箭头连接符 38"/>
          <p:cNvCxnSpPr>
            <a:cxnSpLocks noChangeShapeType="1"/>
            <a:stCxn id="15" idx="2"/>
            <a:endCxn id="21" idx="0"/>
          </p:cNvCxnSpPr>
          <p:nvPr>
            <p:custDataLst>
              <p:tags r:id="rId32"/>
            </p:custDataLst>
          </p:nvPr>
        </p:nvCxnSpPr>
        <p:spPr bwMode="auto">
          <a:xfrm rot="16200000" flipH="1">
            <a:off x="2544763" y="4313237"/>
            <a:ext cx="342900" cy="479425"/>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1" name="直接箭头连接符 40"/>
          <p:cNvCxnSpPr>
            <a:cxnSpLocks noChangeShapeType="1"/>
            <a:stCxn id="16" idx="2"/>
            <a:endCxn id="22" idx="0"/>
          </p:cNvCxnSpPr>
          <p:nvPr>
            <p:custDataLst>
              <p:tags r:id="rId33"/>
            </p:custDataLst>
          </p:nvPr>
        </p:nvCxnSpPr>
        <p:spPr bwMode="auto">
          <a:xfrm rot="5400000">
            <a:off x="3964782" y="4307681"/>
            <a:ext cx="342900" cy="490537"/>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3" name="直接箭头连接符 42"/>
          <p:cNvCxnSpPr>
            <a:cxnSpLocks noChangeShapeType="1"/>
            <a:stCxn id="16" idx="2"/>
            <a:endCxn id="23" idx="0"/>
          </p:cNvCxnSpPr>
          <p:nvPr>
            <p:custDataLst>
              <p:tags r:id="rId34"/>
            </p:custDataLst>
          </p:nvPr>
        </p:nvCxnSpPr>
        <p:spPr bwMode="auto">
          <a:xfrm rot="16200000" flipH="1">
            <a:off x="4433094" y="4329906"/>
            <a:ext cx="342900" cy="4460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5" name="直接箭头连接符 44"/>
          <p:cNvCxnSpPr>
            <a:cxnSpLocks noChangeShapeType="1"/>
          </p:cNvCxnSpPr>
          <p:nvPr>
            <p:custDataLst>
              <p:tags r:id="rId35"/>
            </p:custDataLst>
          </p:nvPr>
        </p:nvCxnSpPr>
        <p:spPr bwMode="auto">
          <a:xfrm rot="5400000">
            <a:off x="5587207" y="4553744"/>
            <a:ext cx="342900" cy="1587"/>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7" name="直接箭头连接符 46"/>
          <p:cNvCxnSpPr>
            <a:cxnSpLocks noChangeShapeType="1"/>
          </p:cNvCxnSpPr>
          <p:nvPr>
            <p:custDataLst>
              <p:tags r:id="rId36"/>
            </p:custDataLst>
          </p:nvPr>
        </p:nvCxnSpPr>
        <p:spPr bwMode="auto">
          <a:xfrm rot="5400000">
            <a:off x="6512719" y="4553744"/>
            <a:ext cx="342900" cy="1588"/>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9" name="直接箭头连接符 48"/>
          <p:cNvCxnSpPr>
            <a:cxnSpLocks noChangeShapeType="1"/>
            <a:stCxn id="19" idx="2"/>
            <a:endCxn id="26" idx="0"/>
          </p:cNvCxnSpPr>
          <p:nvPr>
            <p:custDataLst>
              <p:tags r:id="rId37"/>
            </p:custDataLst>
          </p:nvPr>
        </p:nvCxnSpPr>
        <p:spPr bwMode="auto">
          <a:xfrm rot="5400000">
            <a:off x="7704138" y="4313237"/>
            <a:ext cx="342900" cy="479425"/>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51" name="直接箭头连接符 50"/>
          <p:cNvCxnSpPr>
            <a:cxnSpLocks noChangeShapeType="1"/>
            <a:stCxn id="19" idx="2"/>
            <a:endCxn id="27" idx="0"/>
          </p:cNvCxnSpPr>
          <p:nvPr>
            <p:custDataLst>
              <p:tags r:id="rId38"/>
            </p:custDataLst>
          </p:nvPr>
        </p:nvCxnSpPr>
        <p:spPr bwMode="auto">
          <a:xfrm rot="16200000" flipH="1">
            <a:off x="8172450" y="4324350"/>
            <a:ext cx="342900" cy="4572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53" name="直接箭头连接符 52"/>
          <p:cNvCxnSpPr>
            <a:cxnSpLocks noChangeShapeType="1"/>
            <a:stCxn id="6" idx="1"/>
            <a:endCxn id="7" idx="0"/>
          </p:cNvCxnSpPr>
          <p:nvPr>
            <p:custDataLst>
              <p:tags r:id="rId39"/>
            </p:custDataLst>
          </p:nvPr>
        </p:nvCxnSpPr>
        <p:spPr bwMode="auto">
          <a:xfrm rot="10800000" flipV="1">
            <a:off x="3390900" y="1828800"/>
            <a:ext cx="876300" cy="4572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55" name="直接箭头连接符 54"/>
          <p:cNvCxnSpPr>
            <a:cxnSpLocks noChangeShapeType="1"/>
            <a:stCxn id="6" idx="3"/>
            <a:endCxn id="8" idx="0"/>
          </p:cNvCxnSpPr>
          <p:nvPr>
            <p:custDataLst>
              <p:tags r:id="rId40"/>
            </p:custDataLst>
          </p:nvPr>
        </p:nvCxnSpPr>
        <p:spPr bwMode="auto">
          <a:xfrm>
            <a:off x="6553200" y="1828800"/>
            <a:ext cx="876300" cy="4572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57" name="直接箭头连接符 56"/>
          <p:cNvCxnSpPr>
            <a:cxnSpLocks noChangeShapeType="1"/>
            <a:stCxn id="7" idx="2"/>
            <a:endCxn id="9" idx="0"/>
          </p:cNvCxnSpPr>
          <p:nvPr>
            <p:custDataLst>
              <p:tags r:id="rId41"/>
            </p:custDataLst>
          </p:nvPr>
        </p:nvCxnSpPr>
        <p:spPr bwMode="auto">
          <a:xfrm rot="5400000">
            <a:off x="2781300" y="2438400"/>
            <a:ext cx="228600" cy="9906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59" name="直接箭头连接符 58"/>
          <p:cNvCxnSpPr>
            <a:cxnSpLocks noChangeShapeType="1"/>
            <a:stCxn id="7" idx="2"/>
            <a:endCxn id="10" idx="0"/>
          </p:cNvCxnSpPr>
          <p:nvPr>
            <p:custDataLst>
              <p:tags r:id="rId42"/>
            </p:custDataLst>
          </p:nvPr>
        </p:nvCxnSpPr>
        <p:spPr bwMode="auto">
          <a:xfrm rot="5400000">
            <a:off x="3276601" y="2933700"/>
            <a:ext cx="228600" cy="3175"/>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61" name="直接箭头连接符 60"/>
          <p:cNvCxnSpPr>
            <a:cxnSpLocks noChangeShapeType="1"/>
            <a:stCxn id="7" idx="2"/>
            <a:endCxn id="11" idx="0"/>
          </p:cNvCxnSpPr>
          <p:nvPr>
            <p:custDataLst>
              <p:tags r:id="rId43"/>
            </p:custDataLst>
          </p:nvPr>
        </p:nvCxnSpPr>
        <p:spPr bwMode="auto">
          <a:xfrm rot="16200000" flipH="1">
            <a:off x="3771900" y="2438400"/>
            <a:ext cx="228600" cy="9906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63" name="直接箭头连接符 62"/>
          <p:cNvCxnSpPr>
            <a:cxnSpLocks noChangeShapeType="1"/>
            <a:stCxn id="8" idx="2"/>
            <a:endCxn id="12" idx="0"/>
          </p:cNvCxnSpPr>
          <p:nvPr>
            <p:custDataLst>
              <p:tags r:id="rId44"/>
            </p:custDataLst>
          </p:nvPr>
        </p:nvCxnSpPr>
        <p:spPr bwMode="auto">
          <a:xfrm rot="5400000">
            <a:off x="6819900" y="2438400"/>
            <a:ext cx="228600" cy="9906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65" name="直接箭头连接符 64"/>
          <p:cNvCxnSpPr>
            <a:cxnSpLocks noChangeShapeType="1"/>
            <a:stCxn id="8" idx="2"/>
            <a:endCxn id="13" idx="0"/>
          </p:cNvCxnSpPr>
          <p:nvPr>
            <p:custDataLst>
              <p:tags r:id="rId45"/>
            </p:custDataLst>
          </p:nvPr>
        </p:nvCxnSpPr>
        <p:spPr bwMode="auto">
          <a:xfrm rot="16200000" flipH="1">
            <a:off x="7334250" y="2914650"/>
            <a:ext cx="228600" cy="381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67" name="直接箭头连接符 66"/>
          <p:cNvCxnSpPr>
            <a:cxnSpLocks noChangeShapeType="1"/>
            <a:stCxn id="8" idx="2"/>
            <a:endCxn id="14" idx="0"/>
          </p:cNvCxnSpPr>
          <p:nvPr>
            <p:custDataLst>
              <p:tags r:id="rId46"/>
            </p:custDataLst>
          </p:nvPr>
        </p:nvCxnSpPr>
        <p:spPr bwMode="auto">
          <a:xfrm rot="16200000" flipH="1">
            <a:off x="7848600" y="2400300"/>
            <a:ext cx="228600" cy="106680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69" name="直接连接符 68"/>
          <p:cNvCxnSpPr>
            <a:cxnSpLocks noChangeShapeType="1"/>
          </p:cNvCxnSpPr>
          <p:nvPr>
            <p:custDataLst>
              <p:tags r:id="rId47"/>
            </p:custDataLst>
          </p:nvPr>
        </p:nvCxnSpPr>
        <p:spPr bwMode="auto">
          <a:xfrm>
            <a:off x="1676400" y="3733800"/>
            <a:ext cx="7239000" cy="1588"/>
          </a:xfrm>
          <a:prstGeom prst="line">
            <a:avLst/>
          </a:prstGeom>
          <a:noFill/>
          <a:ln w="31750" algn="ctr">
            <a:solidFill>
              <a:srgbClr val="A50021"/>
            </a:solidFill>
            <a:round/>
          </a:ln>
          <a:extLst>
            <a:ext uri="{909E8E84-426E-40DD-AFC4-6F175D3DCCD1}">
              <a14:hiddenFill xmlns:a14="http://schemas.microsoft.com/office/drawing/2010/main">
                <a:noFill/>
              </a14:hiddenFill>
            </a:ext>
          </a:extLst>
        </p:spPr>
      </p:cxnSp>
      <p:cxnSp>
        <p:nvCxnSpPr>
          <p:cNvPr id="70" name="直接连接符 69"/>
          <p:cNvCxnSpPr>
            <a:cxnSpLocks noChangeShapeType="1"/>
          </p:cNvCxnSpPr>
          <p:nvPr>
            <p:custDataLst>
              <p:tags r:id="rId48"/>
            </p:custDataLst>
          </p:nvPr>
        </p:nvCxnSpPr>
        <p:spPr bwMode="auto">
          <a:xfrm>
            <a:off x="1676400" y="5408613"/>
            <a:ext cx="7239000" cy="1587"/>
          </a:xfrm>
          <a:prstGeom prst="line">
            <a:avLst/>
          </a:prstGeom>
          <a:noFill/>
          <a:ln w="31750" algn="ctr">
            <a:solidFill>
              <a:srgbClr val="A50021"/>
            </a:solidFill>
            <a:round/>
          </a:ln>
          <a:extLst>
            <a:ext uri="{909E8E84-426E-40DD-AFC4-6F175D3DCCD1}">
              <a14:hiddenFill xmlns:a14="http://schemas.microsoft.com/office/drawing/2010/main">
                <a:noFill/>
              </a14:hiddenFill>
            </a:ext>
          </a:extLst>
        </p:spPr>
      </p:cxnSp>
      <p:sp>
        <p:nvSpPr>
          <p:cNvPr id="71" name="矩形 70"/>
          <p:cNvSpPr>
            <a:spLocks noChangeArrowheads="1"/>
          </p:cNvSpPr>
          <p:nvPr>
            <p:custDataLst>
              <p:tags r:id="rId49"/>
            </p:custDataLst>
          </p:nvPr>
        </p:nvSpPr>
        <p:spPr bwMode="auto">
          <a:xfrm>
            <a:off x="9280525" y="23622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0000FF"/>
                </a:solidFill>
                <a:ea typeface="宋体" panose="02010600030101010101" pitchFamily="2" charset="-122"/>
              </a:rPr>
              <a:t>系统模式剖面</a:t>
            </a:r>
            <a:endParaRPr lang="zh-CN" altLang="en-US" sz="1800" b="1" i="0">
              <a:solidFill>
                <a:srgbClr val="0000FF"/>
              </a:solidFill>
              <a:ea typeface="宋体" panose="02010600030101010101" pitchFamily="2" charset="-122"/>
            </a:endParaRPr>
          </a:p>
        </p:txBody>
      </p:sp>
      <p:sp>
        <p:nvSpPr>
          <p:cNvPr id="72" name="矩形 71"/>
          <p:cNvSpPr>
            <a:spLocks noChangeArrowheads="1"/>
          </p:cNvSpPr>
          <p:nvPr>
            <p:custDataLst>
              <p:tags r:id="rId50"/>
            </p:custDataLst>
          </p:nvPr>
        </p:nvSpPr>
        <p:spPr bwMode="auto">
          <a:xfrm>
            <a:off x="9280525" y="2906713"/>
            <a:ext cx="1676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A50021"/>
                </a:solidFill>
                <a:ea typeface="宋体" panose="02010600030101010101" pitchFamily="2" charset="-122"/>
              </a:rPr>
              <a:t>系统模式下的功能剖面</a:t>
            </a:r>
            <a:endParaRPr lang="zh-CN" altLang="en-US" sz="1800" b="1" i="0">
              <a:solidFill>
                <a:srgbClr val="A50021"/>
              </a:solidFill>
              <a:ea typeface="宋体" panose="02010600030101010101" pitchFamily="2" charset="-122"/>
            </a:endParaRPr>
          </a:p>
        </p:txBody>
      </p:sp>
      <p:sp>
        <p:nvSpPr>
          <p:cNvPr id="73" name="矩形 72"/>
          <p:cNvSpPr>
            <a:spLocks noChangeArrowheads="1"/>
          </p:cNvSpPr>
          <p:nvPr>
            <p:custDataLst>
              <p:tags r:id="rId51"/>
            </p:custDataLst>
          </p:nvPr>
        </p:nvSpPr>
        <p:spPr bwMode="auto">
          <a:xfrm>
            <a:off x="9280525" y="3516313"/>
            <a:ext cx="167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0000FF"/>
                </a:solidFill>
                <a:ea typeface="宋体" panose="02010600030101010101" pitchFamily="2" charset="-122"/>
              </a:rPr>
              <a:t>功能合并</a:t>
            </a:r>
            <a:endParaRPr lang="zh-CN" altLang="en-US" sz="1800" b="1" i="0">
              <a:solidFill>
                <a:srgbClr val="0000FF"/>
              </a:solidFill>
              <a:ea typeface="宋体" panose="02010600030101010101" pitchFamily="2" charset="-122"/>
            </a:endParaRPr>
          </a:p>
        </p:txBody>
      </p:sp>
      <p:sp>
        <p:nvSpPr>
          <p:cNvPr id="74" name="矩形 73"/>
          <p:cNvSpPr>
            <a:spLocks noChangeArrowheads="1"/>
          </p:cNvSpPr>
          <p:nvPr>
            <p:custDataLst>
              <p:tags r:id="rId52"/>
            </p:custDataLst>
          </p:nvPr>
        </p:nvSpPr>
        <p:spPr bwMode="auto">
          <a:xfrm>
            <a:off x="9280525" y="3821113"/>
            <a:ext cx="1676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A50021"/>
                </a:solidFill>
                <a:ea typeface="宋体" panose="02010600030101010101" pitchFamily="2" charset="-122"/>
              </a:rPr>
              <a:t>软件的功能剖面</a:t>
            </a:r>
            <a:endParaRPr lang="zh-CN" altLang="en-US" sz="1800" b="1" i="0">
              <a:solidFill>
                <a:srgbClr val="A50021"/>
              </a:solidFill>
              <a:ea typeface="宋体" panose="02010600030101010101" pitchFamily="2" charset="-122"/>
            </a:endParaRPr>
          </a:p>
        </p:txBody>
      </p:sp>
      <p:sp>
        <p:nvSpPr>
          <p:cNvPr id="75" name="矩形 74"/>
          <p:cNvSpPr>
            <a:spLocks noChangeArrowheads="1"/>
          </p:cNvSpPr>
          <p:nvPr>
            <p:custDataLst>
              <p:tags r:id="rId53"/>
            </p:custDataLst>
          </p:nvPr>
        </p:nvSpPr>
        <p:spPr bwMode="auto">
          <a:xfrm>
            <a:off x="9280525" y="4659313"/>
            <a:ext cx="1676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0000FF"/>
                </a:solidFill>
                <a:ea typeface="宋体" panose="02010600030101010101" pitchFamily="2" charset="-122"/>
              </a:rPr>
              <a:t>功能下的运行剖面</a:t>
            </a:r>
            <a:endParaRPr lang="zh-CN" altLang="en-US" sz="1800" b="1" i="0">
              <a:solidFill>
                <a:srgbClr val="0000FF"/>
              </a:solidFill>
              <a:ea typeface="宋体" panose="02010600030101010101" pitchFamily="2" charset="-122"/>
            </a:endParaRPr>
          </a:p>
        </p:txBody>
      </p:sp>
      <p:sp>
        <p:nvSpPr>
          <p:cNvPr id="76" name="矩形 75"/>
          <p:cNvSpPr>
            <a:spLocks noChangeArrowheads="1"/>
          </p:cNvSpPr>
          <p:nvPr>
            <p:custDataLst>
              <p:tags r:id="rId54"/>
            </p:custDataLst>
          </p:nvPr>
        </p:nvSpPr>
        <p:spPr bwMode="auto">
          <a:xfrm>
            <a:off x="9280525" y="5192713"/>
            <a:ext cx="1676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A50021"/>
                </a:solidFill>
                <a:ea typeface="宋体" panose="02010600030101010101" pitchFamily="2" charset="-122"/>
              </a:rPr>
              <a:t>整理运行剖面</a:t>
            </a:r>
            <a:endParaRPr lang="zh-CN" altLang="en-US" sz="1800" b="1" i="0">
              <a:solidFill>
                <a:srgbClr val="A50021"/>
              </a:solidFill>
              <a:ea typeface="宋体" panose="02010600030101010101" pitchFamily="2" charset="-122"/>
            </a:endParaRPr>
          </a:p>
        </p:txBody>
      </p:sp>
      <p:sp>
        <p:nvSpPr>
          <p:cNvPr id="77" name="矩形 76"/>
          <p:cNvSpPr>
            <a:spLocks noChangeArrowheads="1"/>
          </p:cNvSpPr>
          <p:nvPr>
            <p:custDataLst>
              <p:tags r:id="rId55"/>
            </p:custDataLst>
          </p:nvPr>
        </p:nvSpPr>
        <p:spPr bwMode="auto">
          <a:xfrm>
            <a:off x="9280525" y="5573713"/>
            <a:ext cx="1676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6600"/>
              </a:buClr>
              <a:buSzPct val="75000"/>
              <a:buFont typeface="Wingdings" panose="05000000000000000000" pitchFamily="2" charset="2"/>
              <a:buChar char="l"/>
              <a:defRPr sz="2800">
                <a:solidFill>
                  <a:schemeClr val="tx1"/>
                </a:solidFill>
                <a:latin typeface="Arial" panose="020B0604020202020204" pitchFamily="34" charset="0"/>
                <a:ea typeface="黑体" panose="02010609060101010101" pitchFamily="2" charset="-122"/>
              </a:defRPr>
            </a:lvl1pPr>
            <a:lvl2pPr marL="742950" indent="-285750">
              <a:spcBef>
                <a:spcPct val="20000"/>
              </a:spcBef>
              <a:buClr>
                <a:srgbClr val="008000"/>
              </a:buClr>
              <a:buSzPct val="70000"/>
              <a:buFont typeface="Wingdings" panose="05000000000000000000" pitchFamily="2" charset="2"/>
              <a:buChar char="Ø"/>
              <a:defRPr sz="2400" b="1">
                <a:solidFill>
                  <a:schemeClr val="accent2"/>
                </a:solidFill>
                <a:latin typeface="Arial" panose="020B0604020202020204" pitchFamily="34" charset="0"/>
                <a:ea typeface="楷体_GB2312" pitchFamily="49" charset="-122"/>
                <a:cs typeface="楷体_GB2312" pitchFamily="49" charset="-122"/>
              </a:defRPr>
            </a:lvl2pPr>
            <a:lvl3pPr marL="1143000" indent="-228600">
              <a:spcBef>
                <a:spcPct val="20000"/>
              </a:spcBef>
              <a:buClr>
                <a:srgbClr val="008000"/>
              </a:buClr>
              <a:buFont typeface="Wingdings" panose="05000000000000000000" pitchFamily="2" charset="2"/>
              <a:buChar char="ü"/>
              <a:defRPr sz="2400" b="1">
                <a:solidFill>
                  <a:schemeClr val="tx1"/>
                </a:solidFill>
                <a:latin typeface="Arial" panose="020B0604020202020204" pitchFamily="34" charset="0"/>
                <a:ea typeface="黑体" panose="02010609060101010101" pitchFamily="2" charset="-122"/>
                <a:cs typeface="楷体_GB2312" pitchFamily="49" charset="-122"/>
              </a:defRPr>
            </a:lvl3pPr>
            <a:lvl4pPr marL="1600200" indent="-228600">
              <a:spcBef>
                <a:spcPct val="20000"/>
              </a:spcBef>
              <a:buClr>
                <a:srgbClr val="008000"/>
              </a:buClr>
              <a:buFont typeface="Arial" panose="020B0604020202020204" pitchFamily="34" charset="0"/>
              <a:buChar char="–"/>
              <a:defRPr sz="2000">
                <a:solidFill>
                  <a:schemeClr val="tx1"/>
                </a:solidFill>
                <a:latin typeface="Arial" panose="020B0604020202020204" pitchFamily="34" charset="0"/>
                <a:ea typeface="宋体" panose="02010600030101010101" pitchFamily="2" charset="-122"/>
                <a:cs typeface="楷体_GB2312" pitchFamily="49"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cs typeface="楷体_GB2312" pitchFamily="49" charset="-122"/>
              </a:defRPr>
            </a:lvl9pPr>
          </a:lstStyle>
          <a:p>
            <a:pPr eaLnBrk="1" hangingPunct="1">
              <a:spcBef>
                <a:spcPct val="0"/>
              </a:spcBef>
              <a:buClrTx/>
              <a:buSzTx/>
              <a:buFontTx/>
              <a:buNone/>
            </a:pPr>
            <a:r>
              <a:rPr lang="zh-CN" altLang="en-US" sz="1800" b="1" i="0">
                <a:solidFill>
                  <a:srgbClr val="0000FF"/>
                </a:solidFill>
                <a:ea typeface="宋体" panose="02010600030101010101" pitchFamily="2" charset="-122"/>
              </a:rPr>
              <a:t>软件的运行剖面</a:t>
            </a:r>
            <a:endParaRPr lang="zh-CN" altLang="en-US" sz="1800" b="1" i="0">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par>
                                <p:cTn id="14" presetID="9" presetClass="entr" presetSubtype="0" fill="hold"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dissolve">
                                      <p:cBhvr>
                                        <p:cTn id="16" dur="500"/>
                                        <p:tgtEl>
                                          <p:spTgt spid="53"/>
                                        </p:tgtEl>
                                      </p:cBhvr>
                                    </p:animEffect>
                                  </p:childTnLst>
                                </p:cTn>
                              </p:par>
                              <p:par>
                                <p:cTn id="17" presetID="9"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dissolve">
                                      <p:cBhvr>
                                        <p:cTn id="19" dur="500"/>
                                        <p:tgtEl>
                                          <p:spTgt spid="5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dissolve">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dissolve">
                                      <p:cBhvr>
                                        <p:cTn id="36" dur="500"/>
                                        <p:tgtEl>
                                          <p:spTgt spid="12"/>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dissolve">
                                      <p:cBhvr>
                                        <p:cTn id="42" dur="500"/>
                                        <p:tgtEl>
                                          <p:spTgt spid="14"/>
                                        </p:tgtEl>
                                      </p:cBhvr>
                                    </p:animEffect>
                                  </p:childTnLst>
                                </p:cTn>
                              </p:par>
                              <p:par>
                                <p:cTn id="43" presetID="9"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dissolve">
                                      <p:cBhvr>
                                        <p:cTn id="45" dur="500"/>
                                        <p:tgtEl>
                                          <p:spTgt spid="57"/>
                                        </p:tgtEl>
                                      </p:cBhvr>
                                    </p:animEffect>
                                  </p:childTnLst>
                                </p:cTn>
                              </p:par>
                              <p:par>
                                <p:cTn id="46" presetID="9" presetClass="entr" presetSubtype="0" fill="hold" nodeType="with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dissolve">
                                      <p:cBhvr>
                                        <p:cTn id="48" dur="500"/>
                                        <p:tgtEl>
                                          <p:spTgt spid="59"/>
                                        </p:tgtEl>
                                      </p:cBhvr>
                                    </p:animEffect>
                                  </p:childTnLst>
                                </p:cTn>
                              </p:par>
                              <p:par>
                                <p:cTn id="49" presetID="9" presetClass="entr" presetSubtype="0" fill="hold" nodeType="with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dissolve">
                                      <p:cBhvr>
                                        <p:cTn id="51" dur="500"/>
                                        <p:tgtEl>
                                          <p:spTgt spid="61"/>
                                        </p:tgtEl>
                                      </p:cBhvr>
                                    </p:animEffect>
                                  </p:childTnLst>
                                </p:cTn>
                              </p:par>
                              <p:par>
                                <p:cTn id="52" presetID="9" presetClass="entr" presetSubtype="0"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Effect transition="in" filter="dissolve">
                                      <p:cBhvr>
                                        <p:cTn id="54" dur="500"/>
                                        <p:tgtEl>
                                          <p:spTgt spid="63"/>
                                        </p:tgtEl>
                                      </p:cBhvr>
                                    </p:animEffect>
                                  </p:childTnLst>
                                </p:cTn>
                              </p:par>
                              <p:par>
                                <p:cTn id="55" presetID="9" presetClass="entr" presetSubtype="0" fill="hold" nodeType="with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dissolve">
                                      <p:cBhvr>
                                        <p:cTn id="57" dur="500"/>
                                        <p:tgtEl>
                                          <p:spTgt spid="65"/>
                                        </p:tgtEl>
                                      </p:cBhvr>
                                    </p:animEffect>
                                  </p:childTnLst>
                                </p:cTn>
                              </p:par>
                              <p:par>
                                <p:cTn id="58" presetID="9" presetClass="entr" presetSubtype="0" fill="hold" nodeType="withEffect">
                                  <p:stCondLst>
                                    <p:cond delay="0"/>
                                  </p:stCondLst>
                                  <p:childTnLst>
                                    <p:set>
                                      <p:cBhvr>
                                        <p:cTn id="59" dur="1" fill="hold">
                                          <p:stCondLst>
                                            <p:cond delay="0"/>
                                          </p:stCondLst>
                                        </p:cTn>
                                        <p:tgtEl>
                                          <p:spTgt spid="67"/>
                                        </p:tgtEl>
                                        <p:attrNameLst>
                                          <p:attrName>style.visibility</p:attrName>
                                        </p:attrNameLst>
                                      </p:cBhvr>
                                      <p:to>
                                        <p:strVal val="visible"/>
                                      </p:to>
                                    </p:set>
                                    <p:animEffect transition="in" filter="dissolve">
                                      <p:cBhvr>
                                        <p:cTn id="60" dur="500"/>
                                        <p:tgtEl>
                                          <p:spTgt spid="67"/>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dissolve">
                                      <p:cBhvr>
                                        <p:cTn id="63" dur="500"/>
                                        <p:tgtEl>
                                          <p:spTgt spid="72"/>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69"/>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dissolve">
                                      <p:cBhvr>
                                        <p:cTn id="74" dur="500"/>
                                        <p:tgtEl>
                                          <p:spTgt spid="15"/>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dissolve">
                                      <p:cBhvr>
                                        <p:cTn id="77" dur="500"/>
                                        <p:tgtEl>
                                          <p:spTgt spid="16"/>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dissolve">
                                      <p:cBhvr>
                                        <p:cTn id="80" dur="500"/>
                                        <p:tgtEl>
                                          <p:spTgt spid="17"/>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dissolve">
                                      <p:cBhvr>
                                        <p:cTn id="83" dur="500"/>
                                        <p:tgtEl>
                                          <p:spTgt spid="18"/>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dissolve">
                                      <p:cBhvr>
                                        <p:cTn id="86" dur="500"/>
                                        <p:tgtEl>
                                          <p:spTgt spid="19"/>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74"/>
                                        </p:tgtEl>
                                        <p:attrNameLst>
                                          <p:attrName>style.visibility</p:attrName>
                                        </p:attrNameLst>
                                      </p:cBhvr>
                                      <p:to>
                                        <p:strVal val="visible"/>
                                      </p:to>
                                    </p:set>
                                    <p:animEffect transition="in" filter="dissolve">
                                      <p:cBhvr>
                                        <p:cTn id="89" dur="500"/>
                                        <p:tgtEl>
                                          <p:spTgt spid="74"/>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dissolve">
                                      <p:cBhvr>
                                        <p:cTn id="94" dur="500"/>
                                        <p:tgtEl>
                                          <p:spTgt spid="20"/>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dissolve">
                                      <p:cBhvr>
                                        <p:cTn id="97" dur="500"/>
                                        <p:tgtEl>
                                          <p:spTgt spid="21"/>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dissolve">
                                      <p:cBhvr>
                                        <p:cTn id="100" dur="500"/>
                                        <p:tgtEl>
                                          <p:spTgt spid="22"/>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dissolve">
                                      <p:cBhvr>
                                        <p:cTn id="103" dur="500"/>
                                        <p:tgtEl>
                                          <p:spTgt spid="23"/>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dissolve">
                                      <p:cBhvr>
                                        <p:cTn id="106" dur="500"/>
                                        <p:tgtEl>
                                          <p:spTgt spid="24"/>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dissolve">
                                      <p:cBhvr>
                                        <p:cTn id="109" dur="500"/>
                                        <p:tgtEl>
                                          <p:spTgt spid="25"/>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dissolve">
                                      <p:cBhvr>
                                        <p:cTn id="112" dur="500"/>
                                        <p:tgtEl>
                                          <p:spTgt spid="26"/>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dissolve">
                                      <p:cBhvr>
                                        <p:cTn id="115" dur="500"/>
                                        <p:tgtEl>
                                          <p:spTgt spid="27"/>
                                        </p:tgtEl>
                                      </p:cBhvr>
                                    </p:animEffect>
                                  </p:childTnLst>
                                </p:cTn>
                              </p:par>
                              <p:par>
                                <p:cTn id="116" presetID="9" presetClass="entr" presetSubtype="0" fill="hold" nodeType="withEffect">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dissolve">
                                      <p:cBhvr>
                                        <p:cTn id="118" dur="500"/>
                                        <p:tgtEl>
                                          <p:spTgt spid="37"/>
                                        </p:tgtEl>
                                      </p:cBhvr>
                                    </p:animEffect>
                                  </p:childTnLst>
                                </p:cTn>
                              </p:par>
                              <p:par>
                                <p:cTn id="119" presetID="9" presetClass="entr" presetSubtype="0" fill="hold" nodeType="with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dissolve">
                                      <p:cBhvr>
                                        <p:cTn id="121" dur="500"/>
                                        <p:tgtEl>
                                          <p:spTgt spid="39"/>
                                        </p:tgtEl>
                                      </p:cBhvr>
                                    </p:animEffect>
                                  </p:childTnLst>
                                </p:cTn>
                              </p:par>
                              <p:par>
                                <p:cTn id="122" presetID="9" presetClass="entr" presetSubtype="0" fill="hold"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dissolve">
                                      <p:cBhvr>
                                        <p:cTn id="124" dur="500"/>
                                        <p:tgtEl>
                                          <p:spTgt spid="41"/>
                                        </p:tgtEl>
                                      </p:cBhvr>
                                    </p:animEffect>
                                  </p:childTnLst>
                                </p:cTn>
                              </p:par>
                              <p:par>
                                <p:cTn id="125" presetID="9" presetClass="entr" presetSubtype="0" fill="hold"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dissolve">
                                      <p:cBhvr>
                                        <p:cTn id="127" dur="500"/>
                                        <p:tgtEl>
                                          <p:spTgt spid="43"/>
                                        </p:tgtEl>
                                      </p:cBhvr>
                                    </p:animEffect>
                                  </p:childTnLst>
                                </p:cTn>
                              </p:par>
                              <p:par>
                                <p:cTn id="128" presetID="9" presetClass="entr" presetSubtype="0" fill="hold" nodeType="with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dissolve">
                                      <p:cBhvr>
                                        <p:cTn id="130" dur="500"/>
                                        <p:tgtEl>
                                          <p:spTgt spid="45"/>
                                        </p:tgtEl>
                                      </p:cBhvr>
                                    </p:animEffect>
                                  </p:childTnLst>
                                </p:cTn>
                              </p:par>
                              <p:par>
                                <p:cTn id="131" presetID="9" presetClass="entr" presetSubtype="0" fill="hold"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dissolve">
                                      <p:cBhvr>
                                        <p:cTn id="133" dur="500"/>
                                        <p:tgtEl>
                                          <p:spTgt spid="47"/>
                                        </p:tgtEl>
                                      </p:cBhvr>
                                    </p:animEffect>
                                  </p:childTnLst>
                                </p:cTn>
                              </p:par>
                              <p:par>
                                <p:cTn id="134" presetID="9"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dissolve">
                                      <p:cBhvr>
                                        <p:cTn id="136" dur="500"/>
                                        <p:tgtEl>
                                          <p:spTgt spid="49"/>
                                        </p:tgtEl>
                                      </p:cBhvr>
                                    </p:animEffect>
                                  </p:childTnLst>
                                </p:cTn>
                              </p:par>
                              <p:par>
                                <p:cTn id="137" presetID="9" presetClass="entr" presetSubtype="0" fill="hold"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dissolve">
                                      <p:cBhvr>
                                        <p:cTn id="139" dur="500"/>
                                        <p:tgtEl>
                                          <p:spTgt spid="51"/>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75"/>
                                        </p:tgtEl>
                                        <p:attrNameLst>
                                          <p:attrName>style.visibility</p:attrName>
                                        </p:attrNameLst>
                                      </p:cBhvr>
                                      <p:to>
                                        <p:strVal val="visible"/>
                                      </p:to>
                                    </p:set>
                                    <p:animEffect transition="in" filter="dissolve">
                                      <p:cBhvr>
                                        <p:cTn id="142" dur="500"/>
                                        <p:tgtEl>
                                          <p:spTgt spid="75"/>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70"/>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grpId="0" nodeType="clickEffect">
                                  <p:stCondLst>
                                    <p:cond delay="0"/>
                                  </p:stCondLst>
                                  <p:childTnLst>
                                    <p:set>
                                      <p:cBhvr>
                                        <p:cTn id="152" dur="1" fill="hold">
                                          <p:stCondLst>
                                            <p:cond delay="0"/>
                                          </p:stCondLst>
                                        </p:cTn>
                                        <p:tgtEl>
                                          <p:spTgt spid="28"/>
                                        </p:tgtEl>
                                        <p:attrNameLst>
                                          <p:attrName>style.visibility</p:attrName>
                                        </p:attrNameLst>
                                      </p:cBhvr>
                                      <p:to>
                                        <p:strVal val="visible"/>
                                      </p:to>
                                    </p:set>
                                    <p:animEffect transition="in" filter="dissolve">
                                      <p:cBhvr>
                                        <p:cTn id="153" dur="500"/>
                                        <p:tgtEl>
                                          <p:spTgt spid="28"/>
                                        </p:tgtEl>
                                      </p:cBhvr>
                                    </p:animEffect>
                                  </p:childTnLst>
                                </p:cTn>
                              </p:par>
                              <p:par>
                                <p:cTn id="154" presetID="9" presetClass="entr" presetSubtype="0" fill="hold" grpId="0" nodeType="withEffect">
                                  <p:stCondLst>
                                    <p:cond delay="0"/>
                                  </p:stCondLst>
                                  <p:childTnLst>
                                    <p:set>
                                      <p:cBhvr>
                                        <p:cTn id="155" dur="1" fill="hold">
                                          <p:stCondLst>
                                            <p:cond delay="0"/>
                                          </p:stCondLst>
                                        </p:cTn>
                                        <p:tgtEl>
                                          <p:spTgt spid="29"/>
                                        </p:tgtEl>
                                        <p:attrNameLst>
                                          <p:attrName>style.visibility</p:attrName>
                                        </p:attrNameLst>
                                      </p:cBhvr>
                                      <p:to>
                                        <p:strVal val="visible"/>
                                      </p:to>
                                    </p:set>
                                    <p:animEffect transition="in" filter="dissolve">
                                      <p:cBhvr>
                                        <p:cTn id="156" dur="500"/>
                                        <p:tgtEl>
                                          <p:spTgt spid="29"/>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0"/>
                                        </p:tgtEl>
                                        <p:attrNameLst>
                                          <p:attrName>style.visibility</p:attrName>
                                        </p:attrNameLst>
                                      </p:cBhvr>
                                      <p:to>
                                        <p:strVal val="visible"/>
                                      </p:to>
                                    </p:set>
                                    <p:animEffect transition="in" filter="dissolve">
                                      <p:cBhvr>
                                        <p:cTn id="159" dur="500"/>
                                        <p:tgtEl>
                                          <p:spTgt spid="30"/>
                                        </p:tgtEl>
                                      </p:cBhvr>
                                    </p:animEffect>
                                  </p:childTnLst>
                                </p:cTn>
                              </p:par>
                              <p:par>
                                <p:cTn id="160" presetID="9" presetClass="entr" presetSubtype="0" fill="hold" grpId="0" nodeType="withEffect">
                                  <p:stCondLst>
                                    <p:cond delay="0"/>
                                  </p:stCondLst>
                                  <p:childTnLst>
                                    <p:set>
                                      <p:cBhvr>
                                        <p:cTn id="161" dur="1" fill="hold">
                                          <p:stCondLst>
                                            <p:cond delay="0"/>
                                          </p:stCondLst>
                                        </p:cTn>
                                        <p:tgtEl>
                                          <p:spTgt spid="31"/>
                                        </p:tgtEl>
                                        <p:attrNameLst>
                                          <p:attrName>style.visibility</p:attrName>
                                        </p:attrNameLst>
                                      </p:cBhvr>
                                      <p:to>
                                        <p:strVal val="visible"/>
                                      </p:to>
                                    </p:set>
                                    <p:animEffect transition="in" filter="dissolve">
                                      <p:cBhvr>
                                        <p:cTn id="162" dur="500"/>
                                        <p:tgtEl>
                                          <p:spTgt spid="31"/>
                                        </p:tgtEl>
                                      </p:cBhvr>
                                    </p:animEffect>
                                  </p:childTnLst>
                                </p:cTn>
                              </p:par>
                              <p:par>
                                <p:cTn id="163" presetID="9" presetClass="entr" presetSubtype="0" fill="hold" grpId="0" nodeType="withEffect">
                                  <p:stCondLst>
                                    <p:cond delay="0"/>
                                  </p:stCondLst>
                                  <p:childTnLst>
                                    <p:set>
                                      <p:cBhvr>
                                        <p:cTn id="164" dur="1" fill="hold">
                                          <p:stCondLst>
                                            <p:cond delay="0"/>
                                          </p:stCondLst>
                                        </p:cTn>
                                        <p:tgtEl>
                                          <p:spTgt spid="32"/>
                                        </p:tgtEl>
                                        <p:attrNameLst>
                                          <p:attrName>style.visibility</p:attrName>
                                        </p:attrNameLst>
                                      </p:cBhvr>
                                      <p:to>
                                        <p:strVal val="visible"/>
                                      </p:to>
                                    </p:set>
                                    <p:animEffect transition="in" filter="dissolve">
                                      <p:cBhvr>
                                        <p:cTn id="165" dur="500"/>
                                        <p:tgtEl>
                                          <p:spTgt spid="32"/>
                                        </p:tgtEl>
                                      </p:cBhvr>
                                    </p:animEffect>
                                  </p:childTnLst>
                                </p:cTn>
                              </p:par>
                              <p:par>
                                <p:cTn id="166" presetID="9" presetClass="entr" presetSubtype="0" fill="hold" grpId="0" nodeType="withEffect">
                                  <p:stCondLst>
                                    <p:cond delay="0"/>
                                  </p:stCondLst>
                                  <p:childTnLst>
                                    <p:set>
                                      <p:cBhvr>
                                        <p:cTn id="167" dur="1" fill="hold">
                                          <p:stCondLst>
                                            <p:cond delay="0"/>
                                          </p:stCondLst>
                                        </p:cTn>
                                        <p:tgtEl>
                                          <p:spTgt spid="33"/>
                                        </p:tgtEl>
                                        <p:attrNameLst>
                                          <p:attrName>style.visibility</p:attrName>
                                        </p:attrNameLst>
                                      </p:cBhvr>
                                      <p:to>
                                        <p:strVal val="visible"/>
                                      </p:to>
                                    </p:set>
                                    <p:animEffect transition="in" filter="dissolve">
                                      <p:cBhvr>
                                        <p:cTn id="168" dur="500"/>
                                        <p:tgtEl>
                                          <p:spTgt spid="33"/>
                                        </p:tgtEl>
                                      </p:cBhvr>
                                    </p:animEffect>
                                  </p:childTnLst>
                                </p:cTn>
                              </p:par>
                              <p:par>
                                <p:cTn id="169" presetID="9" presetClass="entr" presetSubtype="0" fill="hold" grpId="0" nodeType="withEffect">
                                  <p:stCondLst>
                                    <p:cond delay="0"/>
                                  </p:stCondLst>
                                  <p:childTnLst>
                                    <p:set>
                                      <p:cBhvr>
                                        <p:cTn id="170" dur="1" fill="hold">
                                          <p:stCondLst>
                                            <p:cond delay="0"/>
                                          </p:stCondLst>
                                        </p:cTn>
                                        <p:tgtEl>
                                          <p:spTgt spid="34"/>
                                        </p:tgtEl>
                                        <p:attrNameLst>
                                          <p:attrName>style.visibility</p:attrName>
                                        </p:attrNameLst>
                                      </p:cBhvr>
                                      <p:to>
                                        <p:strVal val="visible"/>
                                      </p:to>
                                    </p:set>
                                    <p:animEffect transition="in" filter="dissolve">
                                      <p:cBhvr>
                                        <p:cTn id="171" dur="500"/>
                                        <p:tgtEl>
                                          <p:spTgt spid="34"/>
                                        </p:tgtEl>
                                      </p:cBhvr>
                                    </p:animEffect>
                                  </p:childTnLst>
                                </p:cTn>
                              </p:par>
                              <p:par>
                                <p:cTn id="172" presetID="9" presetClass="entr" presetSubtype="0" fill="hold" grpId="0" nodeType="withEffect">
                                  <p:stCondLst>
                                    <p:cond delay="0"/>
                                  </p:stCondLst>
                                  <p:childTnLst>
                                    <p:set>
                                      <p:cBhvr>
                                        <p:cTn id="173" dur="1" fill="hold">
                                          <p:stCondLst>
                                            <p:cond delay="0"/>
                                          </p:stCondLst>
                                        </p:cTn>
                                        <p:tgtEl>
                                          <p:spTgt spid="35"/>
                                        </p:tgtEl>
                                        <p:attrNameLst>
                                          <p:attrName>style.visibility</p:attrName>
                                        </p:attrNameLst>
                                      </p:cBhvr>
                                      <p:to>
                                        <p:strVal val="visible"/>
                                      </p:to>
                                    </p:set>
                                    <p:animEffect transition="in" filter="dissolve">
                                      <p:cBhvr>
                                        <p:cTn id="174" dur="500"/>
                                        <p:tgtEl>
                                          <p:spTgt spid="35"/>
                                        </p:tgtEl>
                                      </p:cBhvr>
                                    </p:animEffect>
                                  </p:childTnLst>
                                </p:cTn>
                              </p:par>
                              <p:par>
                                <p:cTn id="175" presetID="9" presetClass="entr" presetSubtype="0" fill="hold" grpId="0" nodeType="withEffect">
                                  <p:stCondLst>
                                    <p:cond delay="0"/>
                                  </p:stCondLst>
                                  <p:childTnLst>
                                    <p:set>
                                      <p:cBhvr>
                                        <p:cTn id="176" dur="1" fill="hold">
                                          <p:stCondLst>
                                            <p:cond delay="0"/>
                                          </p:stCondLst>
                                        </p:cTn>
                                        <p:tgtEl>
                                          <p:spTgt spid="77"/>
                                        </p:tgtEl>
                                        <p:attrNameLst>
                                          <p:attrName>style.visibility</p:attrName>
                                        </p:attrNameLst>
                                      </p:cBhvr>
                                      <p:to>
                                        <p:strVal val="visible"/>
                                      </p:to>
                                    </p:set>
                                    <p:animEffect transition="in" filter="dissolve">
                                      <p:cBhvr>
                                        <p:cTn id="17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71" grpId="0"/>
      <p:bldP spid="72" grpId="0"/>
      <p:bldP spid="73" grpId="0"/>
      <p:bldP spid="74" grpId="0"/>
      <p:bldP spid="75" grpId="0"/>
      <p:bldP spid="76" grpId="0"/>
      <p:bldP spid="7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运行剖面</a:t>
            </a:r>
            <a:endParaRPr lang="zh-CN" altLang="en-US"/>
          </a:p>
        </p:txBody>
      </p:sp>
      <p:sp>
        <p:nvSpPr>
          <p:cNvPr id="3" name="内容占位符 2"/>
          <p:cNvSpPr>
            <a:spLocks noGrp="1"/>
          </p:cNvSpPr>
          <p:nvPr>
            <p:ph idx="1"/>
          </p:nvPr>
        </p:nvSpPr>
        <p:spPr>
          <a:xfrm>
            <a:off x="838200" y="1538605"/>
            <a:ext cx="4320540" cy="4638675"/>
          </a:xfrm>
        </p:spPr>
        <p:txBody>
          <a:bodyPr/>
          <a:p>
            <a:r>
              <a:rPr lang="zh-CN" altLang="en-US" dirty="0">
                <a:sym typeface="+mn-ea"/>
              </a:rPr>
              <a:t>软件新系统的运行剖面</a:t>
            </a:r>
            <a:endParaRPr lang="zh-CN" altLang="en-US" dirty="0">
              <a:sym typeface="+mn-ea"/>
            </a:endParaRPr>
          </a:p>
          <a:p>
            <a:pPr lvl="1" algn="l">
              <a:spcBef>
                <a:spcPts val="1000"/>
              </a:spcBef>
              <a:buClrTx/>
              <a:buSzTx/>
            </a:pPr>
            <a:r>
              <a:rPr lang="zh-CN" altLang="en-US" dirty="0">
                <a:sym typeface="+mn-ea"/>
              </a:rPr>
              <a:t>不同的运行模式下各功能的使用概率不同</a:t>
            </a:r>
            <a:endParaRPr lang="zh-CN" altLang="en-US" dirty="0"/>
          </a:p>
          <a:p>
            <a:pPr lvl="1" algn="l">
              <a:spcBef>
                <a:spcPts val="1000"/>
              </a:spcBef>
              <a:buClrTx/>
              <a:buSzTx/>
            </a:pPr>
            <a:r>
              <a:rPr lang="zh-CN" altLang="en-US" dirty="0">
                <a:sym typeface="+mn-ea"/>
              </a:rPr>
              <a:t>不同运行模式的出现模式也不同</a:t>
            </a:r>
            <a:endParaRPr lang="zh-CN" altLang="en-US" dirty="0"/>
          </a:p>
          <a:p>
            <a:endParaRPr lang="zh-CN" altLang="en-US" dirty="0"/>
          </a:p>
        </p:txBody>
      </p:sp>
      <p:grpSp>
        <p:nvGrpSpPr>
          <p:cNvPr id="132124" name="组合 132123"/>
          <p:cNvGrpSpPr/>
          <p:nvPr/>
        </p:nvGrpSpPr>
        <p:grpSpPr>
          <a:xfrm>
            <a:off x="5741988" y="1817370"/>
            <a:ext cx="4679950" cy="3519488"/>
            <a:chOff x="3165" y="709"/>
            <a:chExt cx="2948" cy="2217"/>
          </a:xfrm>
        </p:grpSpPr>
        <p:sp>
          <p:nvSpPr>
            <p:cNvPr id="132100" name="直接连接符 132099"/>
            <p:cNvSpPr/>
            <p:nvPr>
              <p:custDataLst>
                <p:tags r:id="rId1"/>
              </p:custDataLst>
            </p:nvPr>
          </p:nvSpPr>
          <p:spPr>
            <a:xfrm flipV="1">
              <a:off x="3483" y="709"/>
              <a:ext cx="0" cy="1995"/>
            </a:xfrm>
            <a:prstGeom prst="line">
              <a:avLst/>
            </a:prstGeom>
            <a:ln w="9525" cap="flat" cmpd="sng">
              <a:solidFill>
                <a:schemeClr val="tx1"/>
              </a:solidFill>
              <a:prstDash val="solid"/>
              <a:headEnd type="none" w="med" len="med"/>
              <a:tailEnd type="triangle" w="med" len="med"/>
            </a:ln>
          </p:spPr>
        </p:sp>
        <p:sp>
          <p:nvSpPr>
            <p:cNvPr id="132101" name="直接连接符 132100"/>
            <p:cNvSpPr/>
            <p:nvPr>
              <p:custDataLst>
                <p:tags r:id="rId2"/>
              </p:custDataLst>
            </p:nvPr>
          </p:nvSpPr>
          <p:spPr>
            <a:xfrm>
              <a:off x="3483" y="2704"/>
              <a:ext cx="2630" cy="0"/>
            </a:xfrm>
            <a:prstGeom prst="line">
              <a:avLst/>
            </a:prstGeom>
            <a:ln w="9525" cap="flat" cmpd="sng">
              <a:solidFill>
                <a:schemeClr val="tx1"/>
              </a:solidFill>
              <a:prstDash val="solid"/>
              <a:headEnd type="none" w="med" len="med"/>
              <a:tailEnd type="triangle" w="med" len="med"/>
            </a:ln>
          </p:spPr>
        </p:sp>
        <p:sp>
          <p:nvSpPr>
            <p:cNvPr id="132102" name="任意多边形 132101"/>
            <p:cNvSpPr/>
            <p:nvPr>
              <p:custDataLst>
                <p:tags r:id="rId3"/>
              </p:custDataLst>
            </p:nvPr>
          </p:nvSpPr>
          <p:spPr>
            <a:xfrm>
              <a:off x="3576" y="1032"/>
              <a:ext cx="2311" cy="1582"/>
            </a:xfrm>
            <a:custGeom>
              <a:avLst/>
              <a:gdLst/>
              <a:ahLst/>
              <a:cxnLst/>
              <a:pathLst>
                <a:path w="2311" h="1582">
                  <a:moveTo>
                    <a:pt x="0" y="0"/>
                  </a:moveTo>
                  <a:lnTo>
                    <a:pt x="172" y="0"/>
                  </a:lnTo>
                  <a:lnTo>
                    <a:pt x="172" y="249"/>
                  </a:lnTo>
                  <a:lnTo>
                    <a:pt x="404" y="249"/>
                  </a:lnTo>
                  <a:lnTo>
                    <a:pt x="404" y="412"/>
                  </a:lnTo>
                  <a:lnTo>
                    <a:pt x="628" y="412"/>
                  </a:lnTo>
                  <a:lnTo>
                    <a:pt x="628" y="533"/>
                  </a:lnTo>
                  <a:lnTo>
                    <a:pt x="860" y="533"/>
                  </a:lnTo>
                  <a:lnTo>
                    <a:pt x="860" y="662"/>
                  </a:lnTo>
                  <a:lnTo>
                    <a:pt x="1084" y="662"/>
                  </a:lnTo>
                  <a:lnTo>
                    <a:pt x="1084" y="808"/>
                  </a:lnTo>
                  <a:lnTo>
                    <a:pt x="1307" y="808"/>
                  </a:lnTo>
                  <a:lnTo>
                    <a:pt x="1307" y="1126"/>
                  </a:lnTo>
                  <a:lnTo>
                    <a:pt x="1548" y="1134"/>
                  </a:lnTo>
                  <a:lnTo>
                    <a:pt x="1556" y="1263"/>
                  </a:lnTo>
                  <a:lnTo>
                    <a:pt x="1763" y="1263"/>
                  </a:lnTo>
                  <a:lnTo>
                    <a:pt x="1763" y="1401"/>
                  </a:lnTo>
                  <a:lnTo>
                    <a:pt x="1986" y="1401"/>
                  </a:lnTo>
                  <a:lnTo>
                    <a:pt x="1986" y="1573"/>
                  </a:lnTo>
                  <a:lnTo>
                    <a:pt x="2311" y="1582"/>
                  </a:lnTo>
                </a:path>
              </a:pathLst>
            </a:custGeom>
            <a:noFill/>
            <a:ln w="38100" cap="flat" cmpd="sng">
              <a:solidFill>
                <a:schemeClr val="tx1"/>
              </a:solidFill>
              <a:prstDash val="solid"/>
              <a:headEnd type="none" w="med" len="med"/>
              <a:tailEnd type="none" w="med" len="med"/>
            </a:ln>
          </p:spPr>
          <p:txBody>
            <a:bodyPr/>
            <a:p>
              <a:endParaRPr lang="zh-CN" altLang="en-US"/>
            </a:p>
          </p:txBody>
        </p:sp>
        <p:sp>
          <p:nvSpPr>
            <p:cNvPr id="132103" name="任意多边形 132102"/>
            <p:cNvSpPr/>
            <p:nvPr>
              <p:custDataLst>
                <p:tags r:id="rId4"/>
              </p:custDataLst>
            </p:nvPr>
          </p:nvSpPr>
          <p:spPr>
            <a:xfrm>
              <a:off x="3528" y="1389"/>
              <a:ext cx="2352" cy="975"/>
            </a:xfrm>
            <a:custGeom>
              <a:avLst/>
              <a:gdLst/>
              <a:ahLst/>
              <a:cxnLst/>
              <a:pathLst>
                <a:path w="2352" h="975">
                  <a:moveTo>
                    <a:pt x="0" y="0"/>
                  </a:moveTo>
                  <a:lnTo>
                    <a:pt x="212" y="12"/>
                  </a:lnTo>
                  <a:lnTo>
                    <a:pt x="220" y="184"/>
                  </a:lnTo>
                  <a:lnTo>
                    <a:pt x="452" y="184"/>
                  </a:lnTo>
                  <a:lnTo>
                    <a:pt x="452" y="356"/>
                  </a:lnTo>
                  <a:lnTo>
                    <a:pt x="899" y="382"/>
                  </a:lnTo>
                  <a:lnTo>
                    <a:pt x="899" y="563"/>
                  </a:lnTo>
                  <a:lnTo>
                    <a:pt x="1140" y="563"/>
                  </a:lnTo>
                  <a:lnTo>
                    <a:pt x="1132" y="691"/>
                  </a:lnTo>
                  <a:lnTo>
                    <a:pt x="1596" y="691"/>
                  </a:lnTo>
                  <a:lnTo>
                    <a:pt x="1587" y="846"/>
                  </a:lnTo>
                  <a:lnTo>
                    <a:pt x="1811" y="829"/>
                  </a:lnTo>
                  <a:lnTo>
                    <a:pt x="1819" y="975"/>
                  </a:lnTo>
                  <a:lnTo>
                    <a:pt x="2352" y="958"/>
                  </a:lnTo>
                </a:path>
              </a:pathLst>
            </a:custGeom>
            <a:noFill/>
            <a:ln w="38100" cap="flat" cmpd="sng">
              <a:solidFill>
                <a:srgbClr val="800080"/>
              </a:solidFill>
              <a:prstDash val="dash"/>
              <a:headEnd type="none" w="med" len="med"/>
              <a:tailEnd type="none" w="med" len="med"/>
            </a:ln>
          </p:spPr>
          <p:txBody>
            <a:bodyPr/>
            <a:p>
              <a:endParaRPr lang="zh-CN" altLang="en-US"/>
            </a:p>
          </p:txBody>
        </p:sp>
        <p:sp>
          <p:nvSpPr>
            <p:cNvPr id="132116" name="文本框 132115"/>
            <p:cNvSpPr txBox="1"/>
            <p:nvPr>
              <p:custDataLst>
                <p:tags r:id="rId5"/>
              </p:custDataLst>
            </p:nvPr>
          </p:nvSpPr>
          <p:spPr>
            <a:xfrm>
              <a:off x="4196" y="1221"/>
              <a:ext cx="778"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运行模式</a:t>
              </a:r>
              <a:r>
                <a:rPr lang="en-US" altLang="zh-CN">
                  <a:latin typeface="Basemic Times" pitchFamily="2" charset="0"/>
                  <a:ea typeface="宋体" panose="02010600030101010101" pitchFamily="2" charset="-122"/>
                </a:rPr>
                <a:t>1</a:t>
              </a:r>
              <a:endParaRPr lang="en-US" altLang="zh-CN">
                <a:latin typeface="Basemic Times" pitchFamily="2" charset="0"/>
                <a:ea typeface="宋体" panose="02010600030101010101" pitchFamily="2" charset="-122"/>
              </a:endParaRPr>
            </a:p>
          </p:txBody>
        </p:sp>
        <p:sp>
          <p:nvSpPr>
            <p:cNvPr id="132121" name="文本框 132120"/>
            <p:cNvSpPr txBox="1"/>
            <p:nvPr>
              <p:custDataLst>
                <p:tags r:id="rId6"/>
              </p:custDataLst>
            </p:nvPr>
          </p:nvSpPr>
          <p:spPr>
            <a:xfrm>
              <a:off x="3800" y="2069"/>
              <a:ext cx="778"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运行模式</a:t>
              </a:r>
              <a:r>
                <a:rPr lang="en-US" altLang="zh-CN">
                  <a:latin typeface="Basemic Times" pitchFamily="2" charset="0"/>
                  <a:ea typeface="宋体" panose="02010600030101010101" pitchFamily="2" charset="-122"/>
                </a:rPr>
                <a:t>2</a:t>
              </a:r>
              <a:endParaRPr lang="en-US" altLang="zh-CN">
                <a:latin typeface="Basemic Times" pitchFamily="2" charset="0"/>
                <a:ea typeface="宋体" panose="02010600030101010101" pitchFamily="2" charset="-122"/>
              </a:endParaRPr>
            </a:p>
          </p:txBody>
        </p:sp>
        <p:sp>
          <p:nvSpPr>
            <p:cNvPr id="132122" name="文本框 132121"/>
            <p:cNvSpPr txBox="1"/>
            <p:nvPr>
              <p:custDataLst>
                <p:tags r:id="rId7"/>
              </p:custDataLst>
            </p:nvPr>
          </p:nvSpPr>
          <p:spPr>
            <a:xfrm>
              <a:off x="5297" y="2694"/>
              <a:ext cx="403"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功能</a:t>
              </a:r>
              <a:endParaRPr lang="zh-CN" altLang="en-US" dirty="0">
                <a:latin typeface="Basemic Times" pitchFamily="2" charset="0"/>
                <a:ea typeface="宋体" panose="02010600030101010101" pitchFamily="2" charset="-122"/>
              </a:endParaRPr>
            </a:p>
          </p:txBody>
        </p:sp>
        <p:sp>
          <p:nvSpPr>
            <p:cNvPr id="132123" name="文本框 132122"/>
            <p:cNvSpPr txBox="1"/>
            <p:nvPr>
              <p:custDataLst>
                <p:tags r:id="rId8"/>
              </p:custDataLst>
            </p:nvPr>
          </p:nvSpPr>
          <p:spPr>
            <a:xfrm>
              <a:off x="3165" y="799"/>
              <a:ext cx="273" cy="1104"/>
            </a:xfrm>
            <a:prstGeom prst="rect">
              <a:avLst/>
            </a:prstGeom>
            <a:noFill/>
            <a:ln w="9525">
              <a:noFill/>
            </a:ln>
          </p:spPr>
          <p:txBody>
            <a:bodyPr>
              <a:spAutoFit/>
            </a:bodyPr>
            <a:p>
              <a:pPr eaLnBrk="1" hangingPunct="1"/>
              <a:r>
                <a:rPr lang="zh-CN" altLang="en-US" dirty="0">
                  <a:latin typeface="Basemic Times" pitchFamily="2" charset="0"/>
                  <a:ea typeface="宋体" panose="02010600030101010101" pitchFamily="2" charset="-122"/>
                </a:rPr>
                <a:t>功能使用概率</a:t>
              </a:r>
              <a:endParaRPr lang="en-US" altLang="zh-CN">
                <a:latin typeface="Basemic Times" pitchFamily="2" charset="0"/>
                <a:ea typeface="宋体" panose="02010600030101010101" pitchFamily="2"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运行剖面</a:t>
            </a:r>
            <a:endParaRPr lang="zh-CN" altLang="en-US"/>
          </a:p>
        </p:txBody>
      </p:sp>
      <p:sp>
        <p:nvSpPr>
          <p:cNvPr id="3" name="内容占位符 2"/>
          <p:cNvSpPr>
            <a:spLocks noGrp="1"/>
          </p:cNvSpPr>
          <p:nvPr>
            <p:ph idx="1"/>
          </p:nvPr>
        </p:nvSpPr>
        <p:spPr>
          <a:xfrm>
            <a:off x="838200" y="1538605"/>
            <a:ext cx="6262370" cy="4638675"/>
          </a:xfrm>
        </p:spPr>
        <p:txBody>
          <a:bodyPr>
            <a:normAutofit lnSpcReduction="20000"/>
          </a:bodyPr>
          <a:p>
            <a:pPr marL="228600" lvl="1" algn="l">
              <a:spcBef>
                <a:spcPts val="1000"/>
              </a:spcBef>
              <a:buClrTx/>
              <a:buSzTx/>
            </a:pPr>
            <a:r>
              <a:rPr lang="en-US" altLang="zh-CN" sz="2800">
                <a:sym typeface="+mn-ea"/>
              </a:rPr>
              <a:t>运行剖面对软件可靠性工程极具价值：</a:t>
            </a:r>
            <a:endParaRPr lang="en-US" altLang="zh-CN" sz="2800"/>
          </a:p>
          <a:p>
            <a:pPr lvl="1" algn="l">
              <a:spcBef>
                <a:spcPts val="1000"/>
              </a:spcBef>
              <a:buClrTx/>
              <a:buSzTx/>
            </a:pPr>
            <a:r>
              <a:rPr lang="en-US" altLang="zh-CN" sz="2200">
                <a:sym typeface="+mn-ea"/>
              </a:rPr>
              <a:t>可为开发过程的资源分配提供参考，有利于提高生产率、可靠性和加快开发速度</a:t>
            </a:r>
            <a:endParaRPr lang="en-US" altLang="zh-CN" sz="2200"/>
          </a:p>
          <a:p>
            <a:pPr lvl="1" algn="l">
              <a:spcBef>
                <a:spcPts val="1000"/>
              </a:spcBef>
              <a:buClrTx/>
              <a:buSzTx/>
            </a:pPr>
            <a:r>
              <a:rPr lang="en-US" altLang="zh-CN" sz="2200">
                <a:sym typeface="+mn-ea"/>
              </a:rPr>
              <a:t>有利于测试，可确保常用功能获得更多测试</a:t>
            </a:r>
            <a:endParaRPr lang="en-US" altLang="zh-CN" sz="2200"/>
          </a:p>
          <a:p>
            <a:pPr lvl="1" algn="l">
              <a:spcBef>
                <a:spcPts val="1000"/>
              </a:spcBef>
              <a:buClrTx/>
              <a:buSzTx/>
            </a:pPr>
            <a:r>
              <a:rPr lang="en-US" altLang="zh-CN" sz="2200">
                <a:sym typeface="+mn-ea"/>
              </a:rPr>
              <a:t>有利于设计测试用例，以发现影响可靠性最大的故障</a:t>
            </a:r>
            <a:endParaRPr lang="en-US" altLang="zh-CN" sz="2200"/>
          </a:p>
          <a:p>
            <a:pPr lvl="1" algn="l">
              <a:spcBef>
                <a:spcPts val="1000"/>
              </a:spcBef>
              <a:buClrTx/>
              <a:buSzTx/>
            </a:pPr>
            <a:r>
              <a:rPr lang="en-US" altLang="zh-CN" sz="2200">
                <a:sym typeface="+mn-ea"/>
              </a:rPr>
              <a:t>根据功能的使用频度可确定开发的优先级</a:t>
            </a:r>
            <a:endParaRPr lang="en-US" altLang="zh-CN" sz="2200"/>
          </a:p>
          <a:p>
            <a:pPr lvl="1" algn="l">
              <a:spcBef>
                <a:spcPts val="1000"/>
              </a:spcBef>
              <a:buClrTx/>
              <a:buSzTx/>
            </a:pPr>
            <a:r>
              <a:rPr lang="en-US" altLang="zh-CN" sz="2200">
                <a:sym typeface="+mn-ea"/>
              </a:rPr>
              <a:t>使功能描述更清晰，便于交流</a:t>
            </a:r>
            <a:endParaRPr lang="en-US" altLang="zh-CN" sz="2200"/>
          </a:p>
          <a:p>
            <a:pPr lvl="1" algn="l">
              <a:spcBef>
                <a:spcPts val="1000"/>
              </a:spcBef>
              <a:buClrTx/>
              <a:buSzTx/>
            </a:pPr>
            <a:r>
              <a:rPr lang="en-US" altLang="zh-CN" sz="2200">
                <a:sym typeface="+mn-ea"/>
              </a:rPr>
              <a:t>有助于用户培训</a:t>
            </a:r>
            <a:endParaRPr lang="en-US" altLang="zh-CN" sz="2200"/>
          </a:p>
          <a:p>
            <a:endParaRPr lang="en-US" altLang="zh-CN" sz="2200"/>
          </a:p>
        </p:txBody>
      </p:sp>
      <p:pic>
        <p:nvPicPr>
          <p:cNvPr id="4" name="图片 3"/>
          <p:cNvPicPr>
            <a:picLocks noChangeAspect="1"/>
          </p:cNvPicPr>
          <p:nvPr/>
        </p:nvPicPr>
        <p:blipFill>
          <a:blip r:embed="rId1"/>
          <a:stretch>
            <a:fillRect/>
          </a:stretch>
        </p:blipFill>
        <p:spPr>
          <a:xfrm>
            <a:off x="7172960" y="1924685"/>
            <a:ext cx="4932045" cy="3009265"/>
          </a:xfrm>
          <a:prstGeom prst="rect">
            <a:avLst/>
          </a:prstGeom>
        </p:spPr>
      </p:pic>
      <p:sp>
        <p:nvSpPr>
          <p:cNvPr id="5" name="文本框 4"/>
          <p:cNvSpPr txBox="1"/>
          <p:nvPr/>
        </p:nvSpPr>
        <p:spPr>
          <a:xfrm>
            <a:off x="8819515" y="5113020"/>
            <a:ext cx="2326005" cy="398780"/>
          </a:xfrm>
          <a:prstGeom prst="rect">
            <a:avLst/>
          </a:prstGeom>
          <a:noFill/>
        </p:spPr>
        <p:txBody>
          <a:bodyPr wrap="square" rtlCol="0" anchor="t">
            <a:spAutoFit/>
          </a:bodyPr>
          <a:p>
            <a:r>
              <a:rPr lang="en-US" altLang="zh-CN" sz="2000">
                <a:solidFill>
                  <a:srgbClr val="C00000"/>
                </a:solidFill>
                <a:sym typeface="+mn-ea"/>
              </a:rPr>
              <a:t>软件</a:t>
            </a:r>
            <a:r>
              <a:rPr lang="zh-CN" altLang="en-US" sz="2000">
                <a:solidFill>
                  <a:srgbClr val="C00000"/>
                </a:solidFill>
                <a:sym typeface="+mn-ea"/>
              </a:rPr>
              <a:t>运行剖面示例</a:t>
            </a:r>
            <a:endParaRPr lang="zh-CN" altLang="en-US" sz="2000">
              <a:solidFill>
                <a:srgbClr val="C00000"/>
              </a:solidFill>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运行剖面</a:t>
            </a:r>
            <a:endParaRPr lang="zh-CN" altLang="en-US"/>
          </a:p>
        </p:txBody>
      </p:sp>
      <p:sp>
        <p:nvSpPr>
          <p:cNvPr id="3" name="内容占位符 2"/>
          <p:cNvSpPr>
            <a:spLocks noGrp="1"/>
          </p:cNvSpPr>
          <p:nvPr>
            <p:ph idx="1"/>
          </p:nvPr>
        </p:nvSpPr>
        <p:spPr/>
        <p:txBody>
          <a:bodyPr/>
          <a:p>
            <a:r>
              <a:rPr lang="zh-CN" altLang="en-US" sz="2400" b="1" dirty="0">
                <a:ea typeface="宋体" panose="02010600030101010101" pitchFamily="2" charset="-122"/>
                <a:sym typeface="+mn-ea"/>
              </a:rPr>
              <a:t>软件运行剖面与可靠性的关系</a:t>
            </a:r>
            <a:endParaRPr lang="zh-CN" altLang="en-US" sz="2400" b="1" dirty="0">
              <a:ea typeface="宋体" panose="02010600030101010101" pitchFamily="2" charset="-122"/>
              <a:sym typeface="+mn-ea"/>
            </a:endParaRPr>
          </a:p>
          <a:p>
            <a:pPr marL="228600" lvl="1" algn="l">
              <a:spcBef>
                <a:spcPts val="1000"/>
              </a:spcBef>
              <a:buClrTx/>
              <a:buSzTx/>
            </a:pPr>
            <a:r>
              <a:rPr lang="zh-CN" altLang="en-US" dirty="0">
                <a:ea typeface="宋体" panose="02010600030101010101" pitchFamily="2" charset="-122"/>
                <a:sym typeface="+mn-ea"/>
              </a:rPr>
              <a:t>软件可靠性度量、评估和预测与软件的某个特定的运行剖面密切相关</a:t>
            </a:r>
            <a:endParaRPr lang="zh-CN" altLang="en-US" dirty="0">
              <a:ea typeface="宋体" panose="02010600030101010101" pitchFamily="2" charset="-122"/>
            </a:endParaRPr>
          </a:p>
          <a:p>
            <a:pPr marL="228600" lvl="1" algn="l">
              <a:spcBef>
                <a:spcPts val="1000"/>
              </a:spcBef>
              <a:buClrTx/>
              <a:buSzTx/>
            </a:pPr>
            <a:r>
              <a:rPr lang="zh-CN" altLang="en-US" dirty="0">
                <a:ea typeface="宋体" panose="02010600030101010101" pitchFamily="2" charset="-122"/>
                <a:sym typeface="+mn-ea"/>
              </a:rPr>
              <a:t>软件测试期间，为节省时间和成本，通常每个运行剖面只测试一次，因而不能反映每个剖面的出现概率，由此获得的可靠性数据也不能反映实际情况</a:t>
            </a:r>
            <a:endParaRPr lang="zh-CN" altLang="en-US" dirty="0">
              <a:ea typeface="宋体" panose="02010600030101010101" pitchFamily="2" charset="-122"/>
            </a:endParaRPr>
          </a:p>
          <a:p>
            <a:pPr marL="228600" lvl="1" algn="l">
              <a:spcBef>
                <a:spcPts val="1000"/>
              </a:spcBef>
              <a:buClrTx/>
              <a:buSzTx/>
            </a:pPr>
            <a:r>
              <a:rPr lang="zh-CN" altLang="en-US" dirty="0">
                <a:ea typeface="宋体" panose="02010600030101010101" pitchFamily="2" charset="-122"/>
                <a:sym typeface="+mn-ea"/>
              </a:rPr>
              <a:t>要将测试期间获得的可靠性值变换为实际值，可用以下公式：</a:t>
            </a:r>
            <a:endParaRPr lang="zh-CN" altLang="en-US" dirty="0">
              <a:ea typeface="宋体" panose="02010600030101010101" pitchFamily="2" charset="-122"/>
              <a:sym typeface="+mn-ea"/>
            </a:endParaRPr>
          </a:p>
          <a:p>
            <a:pPr marL="228600" lvl="1" algn="l">
              <a:spcBef>
                <a:spcPts val="1000"/>
              </a:spcBef>
              <a:buClrTx/>
              <a:buSzTx/>
            </a:pPr>
            <a:endParaRPr lang="zh-CN" altLang="en-US" dirty="0">
              <a:ea typeface="宋体" panose="02010600030101010101" pitchFamily="2" charset="-122"/>
              <a:sym typeface="+mn-ea"/>
            </a:endParaRPr>
          </a:p>
          <a:p>
            <a:pPr marL="457200" lvl="2" algn="l">
              <a:spcBef>
                <a:spcPts val="1000"/>
              </a:spcBef>
              <a:buClrTx/>
              <a:buSzTx/>
            </a:pPr>
            <a:r>
              <a:rPr lang="zh-CN" altLang="en-US" dirty="0">
                <a:latin typeface="Times New Roman" panose="02020603050405020304" pitchFamily="18" charset="0"/>
                <a:ea typeface="宋体" panose="02010600030101010101" pitchFamily="2" charset="-122"/>
                <a:sym typeface="+mn-ea"/>
              </a:rPr>
              <a:t>其中，</a:t>
            </a:r>
            <a:r>
              <a:rPr lang="en-US" altLang="zh-CN" i="1" err="1">
                <a:latin typeface="Times New Roman" panose="02020603050405020304" pitchFamily="18" charset="0"/>
                <a:ea typeface="宋体" panose="02010600030101010101" pitchFamily="2" charset="-122"/>
                <a:sym typeface="+mn-ea"/>
              </a:rPr>
              <a:t>λ</a:t>
            </a:r>
            <a:r>
              <a:rPr lang="en-US" altLang="zh-CN" i="1" baseline="-25000" err="1">
                <a:latin typeface="Times New Roman" panose="02020603050405020304" pitchFamily="18" charset="0"/>
                <a:ea typeface="宋体" panose="02010600030101010101" pitchFamily="2" charset="-122"/>
                <a:sym typeface="+mn-ea"/>
              </a:rPr>
              <a:t>u</a:t>
            </a:r>
            <a:r>
              <a:rPr lang="zh-CN" altLang="en-US" dirty="0">
                <a:latin typeface="Times New Roman" panose="02020603050405020304" pitchFamily="18" charset="0"/>
                <a:ea typeface="宋体" panose="02010600030101010101" pitchFamily="2" charset="-122"/>
                <a:sym typeface="+mn-ea"/>
              </a:rPr>
              <a:t>是实际的用户环境下的故障密度，</a:t>
            </a:r>
            <a:r>
              <a:rPr lang="en-US" altLang="zh-CN" i="1" err="1">
                <a:latin typeface="Times New Roman" panose="02020603050405020304" pitchFamily="18" charset="0"/>
                <a:ea typeface="宋体" panose="02010600030101010101" pitchFamily="2" charset="-122"/>
                <a:sym typeface="+mn-ea"/>
              </a:rPr>
              <a:t>λ</a:t>
            </a:r>
            <a:r>
              <a:rPr lang="en-US" altLang="zh-CN" i="1" baseline="-25000" err="1">
                <a:latin typeface="Times New Roman" panose="02020603050405020304" pitchFamily="18" charset="0"/>
                <a:ea typeface="宋体" panose="02010600030101010101" pitchFamily="2" charset="-122"/>
                <a:sym typeface="+mn-ea"/>
              </a:rPr>
              <a:t>T</a:t>
            </a:r>
            <a:r>
              <a:rPr lang="zh-CN" altLang="en-US" dirty="0">
                <a:latin typeface="Times New Roman" panose="02020603050405020304" pitchFamily="18" charset="0"/>
                <a:ea typeface="宋体" panose="02010600030101010101" pitchFamily="2" charset="-122"/>
                <a:sym typeface="+mn-ea"/>
              </a:rPr>
              <a:t>是测试值，</a:t>
            </a:r>
            <a:r>
              <a:rPr lang="en-US" altLang="zh-CN" i="1">
                <a:latin typeface="Times New Roman" panose="02020603050405020304" pitchFamily="18" charset="0"/>
                <a:ea typeface="宋体" panose="02010600030101010101" pitchFamily="2" charset="-122"/>
                <a:sym typeface="+mn-ea"/>
              </a:rPr>
              <a:t>C</a:t>
            </a:r>
            <a:r>
              <a:rPr lang="zh-CN" altLang="en-US" dirty="0">
                <a:latin typeface="Times New Roman" panose="02020603050405020304" pitchFamily="18" charset="0"/>
                <a:ea typeface="宋体" panose="02010600030101010101" pitchFamily="2" charset="-122"/>
                <a:sym typeface="+mn-ea"/>
              </a:rPr>
              <a:t>为</a:t>
            </a:r>
            <a:r>
              <a:rPr lang="zh-CN" altLang="en-US" b="1" dirty="0">
                <a:solidFill>
                  <a:srgbClr val="FF0000"/>
                </a:solidFill>
                <a:latin typeface="Times New Roman" panose="02020603050405020304" pitchFamily="18" charset="0"/>
                <a:ea typeface="宋体" panose="02010600030101010101" pitchFamily="2" charset="-122"/>
                <a:sym typeface="+mn-ea"/>
              </a:rPr>
              <a:t>测试压缩系数</a:t>
            </a:r>
            <a:endParaRPr lang="zh-CN" altLang="en-US" b="1" dirty="0">
              <a:solidFill>
                <a:srgbClr val="FF0000"/>
              </a:solidFill>
              <a:latin typeface="Times New Roman" panose="02020603050405020304" pitchFamily="18" charset="0"/>
              <a:ea typeface="宋体" panose="02010600030101010101" pitchFamily="2" charset="-122"/>
              <a:sym typeface="+mn-ea"/>
            </a:endParaRPr>
          </a:p>
        </p:txBody>
      </p:sp>
      <p:graphicFrame>
        <p:nvGraphicFramePr>
          <p:cNvPr id="135172" name="内容占位符 135171"/>
          <p:cNvGraphicFramePr/>
          <p:nvPr>
            <p:ph sz="half" idx="2"/>
            <p:custDataLst>
              <p:tags r:id="rId1"/>
            </p:custDataLst>
          </p:nvPr>
        </p:nvGraphicFramePr>
        <p:xfrm>
          <a:off x="5215890" y="4376420"/>
          <a:ext cx="1067435" cy="765175"/>
        </p:xfrm>
        <a:graphic>
          <a:graphicData uri="http://schemas.openxmlformats.org/presentationml/2006/ole">
            <mc:AlternateContent xmlns:mc="http://schemas.openxmlformats.org/markup-compatibility/2006">
              <mc:Choice xmlns:v="urn:schemas-microsoft-com:vml" Requires="v">
                <p:oleObj spid="_x0000_s3080" name="" r:id="rId2" imgW="520700" imgH="393700" progId="Equation.3">
                  <p:embed/>
                </p:oleObj>
              </mc:Choice>
              <mc:Fallback>
                <p:oleObj name="" r:id="rId2" imgW="520700" imgH="393700" progId="Equation.3">
                  <p:embed/>
                  <p:pic>
                    <p:nvPicPr>
                      <p:cNvPr id="0" name="图片 3079"/>
                      <p:cNvPicPr/>
                      <p:nvPr/>
                    </p:nvPicPr>
                    <p:blipFill>
                      <a:blip r:embed="rId3"/>
                      <a:stretch>
                        <a:fillRect/>
                      </a:stretch>
                    </p:blipFill>
                    <p:spPr>
                      <a:xfrm>
                        <a:off x="5215890" y="4376420"/>
                        <a:ext cx="1067435" cy="765175"/>
                      </a:xfrm>
                      <a:prstGeom prst="rect">
                        <a:avLst/>
                      </a:prstGeom>
                      <a:noFill/>
                      <a:ln w="38100">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运行剖面</a:t>
            </a:r>
            <a:endParaRPr lang="zh-CN" altLang="en-US"/>
          </a:p>
        </p:txBody>
      </p:sp>
      <p:sp>
        <p:nvSpPr>
          <p:cNvPr id="3" name="内容占位符 2"/>
          <p:cNvSpPr>
            <a:spLocks noGrp="1"/>
          </p:cNvSpPr>
          <p:nvPr>
            <p:ph idx="1"/>
          </p:nvPr>
        </p:nvSpPr>
        <p:spPr/>
        <p:txBody>
          <a:bodyPr>
            <a:noAutofit/>
          </a:bodyPr>
          <a:p>
            <a:pPr marL="228600" lvl="1" algn="l">
              <a:spcBef>
                <a:spcPts val="1000"/>
              </a:spcBef>
              <a:buClrTx/>
              <a:buSzTx/>
            </a:pPr>
            <a:r>
              <a:rPr lang="en-US" altLang="zh-CN" i="1">
                <a:sym typeface="+mn-ea"/>
              </a:rPr>
              <a:t>C</a:t>
            </a:r>
            <a:r>
              <a:rPr lang="en-US" altLang="zh-CN">
                <a:sym typeface="+mn-ea"/>
              </a:rPr>
              <a:t>的含义是：在覆盖全部输入空间条件下，使用期间所要求的执行时间与测试阶段所要求的执行时间之比</a:t>
            </a:r>
            <a:endParaRPr lang="en-US" altLang="zh-CN"/>
          </a:p>
          <a:p>
            <a:pPr marL="228600" lvl="1" algn="l">
              <a:spcBef>
                <a:spcPts val="1000"/>
              </a:spcBef>
              <a:buClrTx/>
              <a:buSzTx/>
            </a:pPr>
            <a:r>
              <a:rPr lang="en-US" altLang="zh-CN" i="1">
                <a:sym typeface="+mn-ea"/>
              </a:rPr>
              <a:t>C</a:t>
            </a:r>
            <a:r>
              <a:rPr lang="en-US" altLang="zh-CN">
                <a:sym typeface="+mn-ea"/>
              </a:rPr>
              <a:t>的计算公式为：</a:t>
            </a:r>
            <a:endParaRPr lang="en-US" altLang="zh-CN">
              <a:sym typeface="+mn-ea"/>
            </a:endParaRPr>
          </a:p>
          <a:p>
            <a:pPr marL="228600" lvl="1" algn="l">
              <a:spcBef>
                <a:spcPts val="1000"/>
              </a:spcBef>
              <a:buClrTx/>
              <a:buSzTx/>
            </a:pPr>
            <a:endParaRPr lang="en-US" altLang="zh-CN">
              <a:sym typeface="+mn-ea"/>
            </a:endParaRPr>
          </a:p>
          <a:p>
            <a:pPr marL="228600" lvl="1" algn="l">
              <a:spcBef>
                <a:spcPts val="1000"/>
              </a:spcBef>
              <a:buClrTx/>
              <a:buSzTx/>
            </a:pPr>
            <a:endParaRPr lang="en-US" altLang="zh-CN">
              <a:sym typeface="+mn-ea"/>
            </a:endParaRPr>
          </a:p>
          <a:p>
            <a:pPr lvl="1" algn="l">
              <a:lnSpc>
                <a:spcPct val="100000"/>
              </a:lnSpc>
              <a:spcBef>
                <a:spcPts val="1000"/>
              </a:spcBef>
              <a:buClrTx/>
              <a:buSzTx/>
            </a:pPr>
            <a:r>
              <a:rPr lang="en-US" altLang="zh-CN" sz="2200" i="1" err="1">
                <a:latin typeface="Times New Roman" panose="02020603050405020304" pitchFamily="18" charset="0"/>
                <a:ea typeface="宋体" panose="02010600030101010101" pitchFamily="2" charset="-122"/>
                <a:sym typeface="+mn-ea"/>
              </a:rPr>
              <a:t>τ</a:t>
            </a:r>
            <a:r>
              <a:rPr lang="en-US" altLang="zh-CN" sz="2200" i="1" baseline="-25000" err="1">
                <a:latin typeface="Times New Roman" panose="02020603050405020304" pitchFamily="18" charset="0"/>
                <a:ea typeface="宋体" panose="02010600030101010101" pitchFamily="2" charset="-122"/>
                <a:sym typeface="+mn-ea"/>
              </a:rPr>
              <a:t>k</a:t>
            </a:r>
            <a:r>
              <a:rPr lang="zh-CN" altLang="en-US" sz="2200" dirty="0">
                <a:latin typeface="Times New Roman" panose="02020603050405020304" pitchFamily="18" charset="0"/>
                <a:ea typeface="宋体" panose="02010600030101010101" pitchFamily="2" charset="-122"/>
                <a:sym typeface="+mn-ea"/>
              </a:rPr>
              <a:t>为输入状态</a:t>
            </a:r>
            <a:r>
              <a:rPr lang="en-US" altLang="zh-CN" sz="2200">
                <a:latin typeface="Times New Roman" panose="02020603050405020304" pitchFamily="18" charset="0"/>
                <a:ea typeface="宋体" panose="02010600030101010101" pitchFamily="2" charset="-122"/>
                <a:sym typeface="+mn-ea"/>
              </a:rPr>
              <a:t>k</a:t>
            </a:r>
            <a:r>
              <a:rPr lang="zh-CN" altLang="en-US" sz="2200" dirty="0">
                <a:latin typeface="Times New Roman" panose="02020603050405020304" pitchFamily="18" charset="0"/>
                <a:ea typeface="宋体" panose="02010600030101010101" pitchFamily="2" charset="-122"/>
                <a:sym typeface="+mn-ea"/>
              </a:rPr>
              <a:t>运行时的执行时间</a:t>
            </a:r>
            <a:endParaRPr lang="zh-CN" altLang="en-US" sz="2200" dirty="0">
              <a:latin typeface="Times New Roman" panose="02020603050405020304" pitchFamily="18" charset="0"/>
              <a:ea typeface="宋体" panose="02010600030101010101" pitchFamily="2" charset="-122"/>
              <a:sym typeface="+mn-ea"/>
            </a:endParaRPr>
          </a:p>
          <a:p>
            <a:pPr lvl="1" algn="l">
              <a:lnSpc>
                <a:spcPct val="100000"/>
              </a:lnSpc>
              <a:spcBef>
                <a:spcPts val="1000"/>
              </a:spcBef>
              <a:buClrTx/>
              <a:buSzTx/>
            </a:pPr>
            <a:r>
              <a:rPr lang="en-US" altLang="zh-CN" sz="2200" i="1" err="1">
                <a:latin typeface="Times New Roman" panose="02020603050405020304" pitchFamily="18" charset="0"/>
                <a:ea typeface="宋体" panose="02010600030101010101" pitchFamily="2" charset="-122"/>
                <a:sym typeface="+mn-ea"/>
              </a:rPr>
              <a:t>P</a:t>
            </a:r>
            <a:r>
              <a:rPr lang="en-US" altLang="zh-CN" sz="2200" i="1" baseline="-25000" err="1">
                <a:latin typeface="Times New Roman" panose="02020603050405020304" pitchFamily="18" charset="0"/>
                <a:ea typeface="宋体" panose="02010600030101010101" pitchFamily="2" charset="-122"/>
                <a:sym typeface="+mn-ea"/>
              </a:rPr>
              <a:t>k</a:t>
            </a:r>
            <a:r>
              <a:rPr lang="zh-CN" altLang="en-US" sz="2200" dirty="0">
                <a:latin typeface="Times New Roman" panose="02020603050405020304" pitchFamily="18" charset="0"/>
                <a:ea typeface="宋体" panose="02010600030101010101" pitchFamily="2" charset="-122"/>
                <a:sym typeface="+mn-ea"/>
              </a:rPr>
              <a:t>为输入状态</a:t>
            </a:r>
            <a:r>
              <a:rPr lang="en-US" altLang="zh-CN" sz="2200">
                <a:latin typeface="Times New Roman" panose="02020603050405020304" pitchFamily="18" charset="0"/>
                <a:ea typeface="宋体" panose="02010600030101010101" pitchFamily="2" charset="-122"/>
                <a:sym typeface="+mn-ea"/>
              </a:rPr>
              <a:t>k</a:t>
            </a:r>
            <a:r>
              <a:rPr lang="zh-CN" altLang="en-US" sz="2200" dirty="0">
                <a:latin typeface="Times New Roman" panose="02020603050405020304" pitchFamily="18" charset="0"/>
                <a:ea typeface="宋体" panose="02010600030101010101" pitchFamily="2" charset="-122"/>
                <a:sym typeface="+mn-ea"/>
              </a:rPr>
              <a:t>在运行期间的发生概率</a:t>
            </a:r>
            <a:endParaRPr lang="zh-CN" altLang="en-US" sz="2200" dirty="0">
              <a:latin typeface="Times New Roman" panose="02020603050405020304" pitchFamily="18" charset="0"/>
              <a:ea typeface="宋体" panose="02010600030101010101" pitchFamily="2" charset="-122"/>
              <a:sym typeface="+mn-ea"/>
            </a:endParaRPr>
          </a:p>
          <a:p>
            <a:pPr lvl="1" algn="l">
              <a:lnSpc>
                <a:spcPct val="100000"/>
              </a:lnSpc>
              <a:spcBef>
                <a:spcPts val="1000"/>
              </a:spcBef>
              <a:buClrTx/>
              <a:buSzTx/>
            </a:pPr>
            <a:r>
              <a:rPr lang="en-US" altLang="zh-CN" sz="2200" i="1">
                <a:latin typeface="Times New Roman" panose="02020603050405020304" pitchFamily="18" charset="0"/>
                <a:ea typeface="宋体" panose="02010600030101010101" pitchFamily="2" charset="-122"/>
                <a:sym typeface="+mn-ea"/>
              </a:rPr>
              <a:t>Q</a:t>
            </a:r>
            <a:r>
              <a:rPr lang="en-US" altLang="zh-CN" sz="2200" i="1" baseline="-25000">
                <a:latin typeface="Times New Roman" panose="02020603050405020304" pitchFamily="18" charset="0"/>
                <a:ea typeface="宋体" panose="02010600030101010101" pitchFamily="2" charset="-122"/>
                <a:sym typeface="+mn-ea"/>
              </a:rPr>
              <a:t>I</a:t>
            </a:r>
            <a:r>
              <a:rPr lang="zh-CN" altLang="en-US" sz="2200" dirty="0">
                <a:latin typeface="Times New Roman" panose="02020603050405020304" pitchFamily="18" charset="0"/>
                <a:ea typeface="宋体" panose="02010600030101010101" pitchFamily="2" charset="-122"/>
                <a:sym typeface="+mn-ea"/>
              </a:rPr>
              <a:t>为输入状态总数</a:t>
            </a:r>
            <a:endParaRPr lang="zh-CN" altLang="en-US" sz="2200" dirty="0">
              <a:latin typeface="Times New Roman" panose="02020603050405020304" pitchFamily="18" charset="0"/>
              <a:ea typeface="宋体" panose="02010600030101010101" pitchFamily="2" charset="-122"/>
              <a:sym typeface="+mn-ea"/>
            </a:endParaRPr>
          </a:p>
          <a:p>
            <a:pPr lvl="1" algn="l">
              <a:lnSpc>
                <a:spcPct val="100000"/>
              </a:lnSpc>
              <a:spcBef>
                <a:spcPts val="1000"/>
              </a:spcBef>
              <a:buClrTx/>
              <a:buSzTx/>
            </a:pPr>
            <a:r>
              <a:rPr lang="en-US" altLang="zh-CN" sz="2200" i="1" err="1">
                <a:latin typeface="Times New Roman" panose="02020603050405020304" pitchFamily="18" charset="0"/>
                <a:ea typeface="宋体" panose="02010600030101010101" pitchFamily="2" charset="-122"/>
                <a:sym typeface="+mn-ea"/>
              </a:rPr>
              <a:t>P</a:t>
            </a:r>
            <a:r>
              <a:rPr lang="en-US" altLang="zh-CN" sz="2200" i="1" baseline="-25000" err="1">
                <a:latin typeface="Times New Roman" panose="02020603050405020304" pitchFamily="18" charset="0"/>
                <a:ea typeface="宋体" panose="02010600030101010101" pitchFamily="2" charset="-122"/>
                <a:sym typeface="+mn-ea"/>
              </a:rPr>
              <a:t>min</a:t>
            </a:r>
            <a:r>
              <a:rPr lang="zh-CN" altLang="en-US" sz="2200" dirty="0">
                <a:latin typeface="Times New Roman" panose="02020603050405020304" pitchFamily="18" charset="0"/>
                <a:ea typeface="宋体" panose="02010600030101010101" pitchFamily="2" charset="-122"/>
                <a:sym typeface="+mn-ea"/>
              </a:rPr>
              <a:t>为最少发生的输入状态的概率</a:t>
            </a:r>
            <a:endParaRPr lang="zh-CN" altLang="en-US" sz="2200" dirty="0">
              <a:latin typeface="Times New Roman" panose="02020603050405020304" pitchFamily="18" charset="0"/>
              <a:ea typeface="宋体" panose="02010600030101010101" pitchFamily="2" charset="-122"/>
              <a:sym typeface="+mn-ea"/>
            </a:endParaRPr>
          </a:p>
        </p:txBody>
      </p:sp>
      <p:graphicFrame>
        <p:nvGraphicFramePr>
          <p:cNvPr id="135172" name="内容占位符 135171"/>
          <p:cNvGraphicFramePr/>
          <p:nvPr>
            <p:ph sz="half" idx="2"/>
            <p:custDataLst>
              <p:tags r:id="rId1"/>
            </p:custDataLst>
          </p:nvPr>
        </p:nvGraphicFramePr>
        <p:xfrm>
          <a:off x="7320280" y="212090"/>
          <a:ext cx="1715770" cy="1088390"/>
        </p:xfrm>
        <a:graphic>
          <a:graphicData uri="http://schemas.openxmlformats.org/presentationml/2006/ole">
            <mc:AlternateContent xmlns:mc="http://schemas.openxmlformats.org/markup-compatibility/2006">
              <mc:Choice xmlns:v="urn:schemas-microsoft-com:vml" Requires="v">
                <p:oleObj spid="_x0000_s3080" name="" r:id="rId2" imgW="520700" imgH="393700" progId="Equation.3">
                  <p:embed/>
                </p:oleObj>
              </mc:Choice>
              <mc:Fallback>
                <p:oleObj name="" r:id="rId2" imgW="520700" imgH="393700" progId="Equation.3">
                  <p:embed/>
                  <p:pic>
                    <p:nvPicPr>
                      <p:cNvPr id="0" name="图片 3079"/>
                      <p:cNvPicPr/>
                      <p:nvPr/>
                    </p:nvPicPr>
                    <p:blipFill>
                      <a:blip r:embed="rId3"/>
                      <a:stretch>
                        <a:fillRect/>
                      </a:stretch>
                    </p:blipFill>
                    <p:spPr>
                      <a:xfrm>
                        <a:off x="7320280" y="212090"/>
                        <a:ext cx="1715770" cy="1088390"/>
                      </a:xfrm>
                      <a:prstGeom prst="rect">
                        <a:avLst/>
                      </a:prstGeom>
                      <a:noFill/>
                      <a:ln w="38100">
                        <a:miter/>
                      </a:ln>
                    </p:spPr>
                  </p:pic>
                </p:oleObj>
              </mc:Fallback>
            </mc:AlternateContent>
          </a:graphicData>
        </a:graphic>
      </p:graphicFrame>
      <p:graphicFrame>
        <p:nvGraphicFramePr>
          <p:cNvPr id="137220" name="对象 137219"/>
          <p:cNvGraphicFramePr/>
          <p:nvPr>
            <p:custDataLst>
              <p:tags r:id="rId4"/>
            </p:custDataLst>
          </p:nvPr>
        </p:nvGraphicFramePr>
        <p:xfrm>
          <a:off x="3961765" y="2571115"/>
          <a:ext cx="2979738" cy="1716088"/>
        </p:xfrm>
        <a:graphic>
          <a:graphicData uri="http://schemas.openxmlformats.org/presentationml/2006/ole">
            <mc:AlternateContent xmlns:mc="http://schemas.openxmlformats.org/markup-compatibility/2006">
              <mc:Choice xmlns:v="urn:schemas-microsoft-com:vml" Requires="v">
                <p:oleObj spid="_x0000_s3079" name="" r:id="rId5" imgW="888365" imgH="862965" progId="Equation.3">
                  <p:embed/>
                </p:oleObj>
              </mc:Choice>
              <mc:Fallback>
                <p:oleObj name="" r:id="rId5" imgW="888365" imgH="862965" progId="Equation.3">
                  <p:embed/>
                  <p:pic>
                    <p:nvPicPr>
                      <p:cNvPr id="0" name="图片 3078"/>
                      <p:cNvPicPr/>
                      <p:nvPr/>
                    </p:nvPicPr>
                    <p:blipFill>
                      <a:blip r:embed="rId6"/>
                      <a:stretch>
                        <a:fillRect/>
                      </a:stretch>
                    </p:blipFill>
                    <p:spPr>
                      <a:xfrm>
                        <a:off x="3961765" y="2571115"/>
                        <a:ext cx="2979738" cy="1716088"/>
                      </a:xfrm>
                      <a:prstGeom prst="rect">
                        <a:avLst/>
                      </a:prstGeom>
                      <a:noFill/>
                      <a:ln w="38100">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6.3 软件</a:t>
            </a:r>
            <a:r>
              <a:rPr lang="zh-CN" altLang="en-US">
                <a:solidFill>
                  <a:srgbClr val="C00000"/>
                </a:solidFill>
                <a:sym typeface="+mn-ea"/>
              </a:rPr>
              <a:t>运行剖面</a:t>
            </a:r>
            <a:endParaRPr lang="zh-CN" altLang="en-US"/>
          </a:p>
        </p:txBody>
      </p:sp>
      <p:sp>
        <p:nvSpPr>
          <p:cNvPr id="3" name="内容占位符 2"/>
          <p:cNvSpPr>
            <a:spLocks noGrp="1"/>
          </p:cNvSpPr>
          <p:nvPr>
            <p:ph idx="1"/>
          </p:nvPr>
        </p:nvSpPr>
        <p:spPr>
          <a:xfrm>
            <a:off x="180975" y="1538605"/>
            <a:ext cx="6765290" cy="5319395"/>
          </a:xfrm>
        </p:spPr>
        <p:txBody>
          <a:bodyPr>
            <a:normAutofit fontScale="50000"/>
          </a:bodyPr>
          <a:p>
            <a:pPr algn="l">
              <a:lnSpc>
                <a:spcPct val="130000"/>
              </a:lnSpc>
              <a:buClrTx/>
              <a:buSzTx/>
            </a:pPr>
            <a:r>
              <a:rPr lang="en-US" altLang="zh-CN" sz="4800">
                <a:sym typeface="+mn-ea"/>
              </a:rPr>
              <a:t>运行剖面是关于系统如何运行的定量描述，建立步骤为：</a:t>
            </a:r>
            <a:endParaRPr lang="en-US" altLang="zh-CN" sz="4800"/>
          </a:p>
          <a:p>
            <a:pPr marL="914400" lvl="1" indent="-457200" algn="l">
              <a:lnSpc>
                <a:spcPct val="130000"/>
              </a:lnSpc>
              <a:spcBef>
                <a:spcPts val="1000"/>
              </a:spcBef>
              <a:buClrTx/>
              <a:buSzTx/>
              <a:buFont typeface="+mj-ea"/>
              <a:buAutoNum type="circleNumDbPlain"/>
            </a:pPr>
            <a:r>
              <a:rPr lang="en-US" altLang="zh-CN" sz="4000">
                <a:sym typeface="+mn-ea"/>
              </a:rPr>
              <a:t>建立</a:t>
            </a:r>
            <a:r>
              <a:rPr lang="en-US" altLang="zh-CN" sz="4000" b="1">
                <a:solidFill>
                  <a:srgbClr val="FF0000"/>
                </a:solidFill>
                <a:sym typeface="+mn-ea"/>
              </a:rPr>
              <a:t>客户剖面</a:t>
            </a:r>
            <a:r>
              <a:rPr lang="en-US" altLang="zh-CN" sz="4000">
                <a:sym typeface="+mn-ea"/>
              </a:rPr>
              <a:t>：分类描述要获取该系统的客户的使用模式</a:t>
            </a:r>
            <a:endParaRPr lang="en-US" altLang="zh-CN" sz="4000"/>
          </a:p>
          <a:p>
            <a:pPr marL="914400" lvl="1" indent="-457200" algn="l">
              <a:lnSpc>
                <a:spcPct val="130000"/>
              </a:lnSpc>
              <a:spcBef>
                <a:spcPts val="1000"/>
              </a:spcBef>
              <a:buClrTx/>
              <a:buSzTx/>
              <a:buFont typeface="+mj-ea"/>
              <a:buAutoNum type="circleNumDbPlain"/>
            </a:pPr>
            <a:r>
              <a:rPr lang="en-US" altLang="zh-CN" sz="4000">
                <a:sym typeface="+mn-ea"/>
              </a:rPr>
              <a:t>建立</a:t>
            </a:r>
            <a:r>
              <a:rPr lang="en-US" altLang="zh-CN" sz="4000" b="1">
                <a:solidFill>
                  <a:srgbClr val="FF0000"/>
                </a:solidFill>
                <a:sym typeface="+mn-ea"/>
              </a:rPr>
              <a:t>用户剖面</a:t>
            </a:r>
            <a:r>
              <a:rPr lang="en-US" altLang="zh-CN" sz="4000">
                <a:sym typeface="+mn-ea"/>
              </a:rPr>
              <a:t>：分类描述要使用该系统的用户的使用模式</a:t>
            </a:r>
            <a:endParaRPr lang="en-US" altLang="zh-CN" sz="4000"/>
          </a:p>
          <a:p>
            <a:pPr marL="914400" lvl="1" indent="-457200" algn="l">
              <a:lnSpc>
                <a:spcPct val="130000"/>
              </a:lnSpc>
              <a:spcBef>
                <a:spcPts val="1000"/>
              </a:spcBef>
              <a:buClrTx/>
              <a:buSzTx/>
              <a:buFont typeface="+mj-ea"/>
              <a:buAutoNum type="circleNumDbPlain"/>
            </a:pPr>
            <a:r>
              <a:rPr lang="en-US" altLang="zh-CN" sz="4000">
                <a:sym typeface="+mn-ea"/>
              </a:rPr>
              <a:t>定义</a:t>
            </a:r>
            <a:r>
              <a:rPr lang="en-US" altLang="zh-CN" sz="4000" b="1">
                <a:solidFill>
                  <a:srgbClr val="FF0000"/>
                </a:solidFill>
                <a:sym typeface="+mn-ea"/>
              </a:rPr>
              <a:t>系统模式剖面</a:t>
            </a:r>
            <a:r>
              <a:rPr lang="en-US" altLang="zh-CN" sz="4000">
                <a:sym typeface="+mn-ea"/>
              </a:rPr>
              <a:t>：根据执行过程描述系统运行模式</a:t>
            </a:r>
            <a:endParaRPr lang="en-US" altLang="zh-CN" sz="4000"/>
          </a:p>
          <a:p>
            <a:pPr marL="914400" lvl="1" indent="-457200" algn="l">
              <a:lnSpc>
                <a:spcPct val="130000"/>
              </a:lnSpc>
              <a:spcBef>
                <a:spcPts val="1000"/>
              </a:spcBef>
              <a:buClrTx/>
              <a:buSzTx/>
              <a:buFont typeface="+mj-ea"/>
              <a:buAutoNum type="circleNumDbPlain"/>
            </a:pPr>
            <a:r>
              <a:rPr lang="en-US" altLang="zh-CN" sz="4000">
                <a:sym typeface="+mn-ea"/>
              </a:rPr>
              <a:t>确定</a:t>
            </a:r>
            <a:r>
              <a:rPr lang="en-US" altLang="zh-CN" sz="4000" b="1">
                <a:solidFill>
                  <a:srgbClr val="FF0000"/>
                </a:solidFill>
                <a:sym typeface="+mn-ea"/>
              </a:rPr>
              <a:t>功能剖面</a:t>
            </a:r>
            <a:r>
              <a:rPr lang="en-US" altLang="zh-CN" sz="4000">
                <a:sym typeface="+mn-ea"/>
              </a:rPr>
              <a:t>：划分功能并确定各功能的发生概率</a:t>
            </a:r>
            <a:endParaRPr lang="en-US" altLang="zh-CN" sz="4000"/>
          </a:p>
          <a:p>
            <a:pPr marL="914400" lvl="1" indent="-457200" algn="l">
              <a:lnSpc>
                <a:spcPct val="130000"/>
              </a:lnSpc>
              <a:spcBef>
                <a:spcPts val="1000"/>
              </a:spcBef>
              <a:buClrTx/>
              <a:buSzTx/>
              <a:buFont typeface="+mj-ea"/>
              <a:buAutoNum type="circleNumDbPlain"/>
            </a:pPr>
            <a:r>
              <a:rPr lang="en-US" altLang="zh-CN" sz="4000">
                <a:sym typeface="+mn-ea"/>
              </a:rPr>
              <a:t>确定</a:t>
            </a:r>
            <a:r>
              <a:rPr lang="en-US" altLang="zh-CN" sz="4000" b="1">
                <a:solidFill>
                  <a:srgbClr val="FF0000"/>
                </a:solidFill>
                <a:sym typeface="+mn-ea"/>
              </a:rPr>
              <a:t>运行剖面</a:t>
            </a:r>
            <a:r>
              <a:rPr lang="en-US" altLang="zh-CN" sz="4000">
                <a:sym typeface="+mn-ea"/>
              </a:rPr>
              <a:t>：确定系统各运行模式的发生概率</a:t>
            </a:r>
            <a:endParaRPr lang="en-US" altLang="zh-CN" sz="4000">
              <a:sym typeface="+mn-ea"/>
            </a:endParaRPr>
          </a:p>
        </p:txBody>
      </p:sp>
      <p:pic>
        <p:nvPicPr>
          <p:cNvPr id="4" name="图片 3"/>
          <p:cNvPicPr>
            <a:picLocks noChangeAspect="1"/>
          </p:cNvPicPr>
          <p:nvPr/>
        </p:nvPicPr>
        <p:blipFill>
          <a:blip r:embed="rId1"/>
          <a:stretch>
            <a:fillRect/>
          </a:stretch>
        </p:blipFill>
        <p:spPr>
          <a:xfrm>
            <a:off x="7158355" y="2529840"/>
            <a:ext cx="4911725" cy="24288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a:t>
            </a:r>
            <a:r>
              <a:rPr lang="zh-CN" altLang="en-US">
                <a:solidFill>
                  <a:srgbClr val="C00000"/>
                </a:solidFill>
                <a:sym typeface="+mn-ea"/>
              </a:rPr>
              <a:t>应用</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dirty="0">
                <a:ea typeface="宋体" panose="02010600030101010101" pitchFamily="2" charset="-122"/>
                <a:sym typeface="+mn-ea"/>
              </a:rPr>
              <a:t>软件可靠性建模是软件可靠性工程的研究重点</a:t>
            </a:r>
            <a:endParaRPr lang="zh-CN" altLang="en-US" dirty="0">
              <a:ea typeface="宋体" panose="02010600030101010101" pitchFamily="2" charset="-122"/>
              <a:sym typeface="+mn-ea"/>
            </a:endParaRPr>
          </a:p>
          <a:p>
            <a:endParaRPr lang="en-US" altLang="zh-CN"/>
          </a:p>
          <a:p>
            <a:pPr marL="228600" lvl="1" algn="l">
              <a:spcBef>
                <a:spcPts val="1000"/>
              </a:spcBef>
              <a:buClrTx/>
              <a:buSzTx/>
            </a:pPr>
            <a:r>
              <a:rPr lang="en-US" altLang="zh-CN" sz="2800">
                <a:sym typeface="+mn-ea"/>
              </a:rPr>
              <a:t>20世纪70年代，Telinski、Moranda、Shooman等人提出了软件可靠性建模的问题，并使用建立的模型估计软件现在和未来的可靠性</a:t>
            </a:r>
            <a:endParaRPr lang="en-US" altLang="zh-CN" sz="2800"/>
          </a:p>
          <a:p>
            <a:pPr marL="228600" lvl="1" algn="l">
              <a:spcBef>
                <a:spcPts val="1000"/>
              </a:spcBef>
              <a:buClrTx/>
              <a:buSzTx/>
            </a:pPr>
            <a:r>
              <a:rPr lang="en-US" altLang="zh-CN" sz="2800">
                <a:sym typeface="+mn-ea"/>
              </a:rPr>
              <a:t>经近40年的发展，软件可靠性模型已有很多种</a:t>
            </a:r>
            <a:endParaRPr lang="en-US" altLang="zh-CN" sz="2800"/>
          </a:p>
          <a:p>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可靠性模型及应用</a:t>
            </a:r>
            <a:endParaRPr lang="zh-CN" altLang="en-US"/>
          </a:p>
        </p:txBody>
      </p:sp>
      <p:sp>
        <p:nvSpPr>
          <p:cNvPr id="3" name="内容占位符 2"/>
          <p:cNvSpPr>
            <a:spLocks noGrp="1"/>
          </p:cNvSpPr>
          <p:nvPr>
            <p:ph idx="1"/>
          </p:nvPr>
        </p:nvSpPr>
        <p:spPr/>
        <p:txBody>
          <a:bodyPr/>
          <a:p>
            <a:r>
              <a:rPr lang="zh-CN" altLang="en-US"/>
              <a:t>一个软件可靠性模型通常包括以下几个</a:t>
            </a:r>
            <a:r>
              <a:rPr lang="zh-CN" altLang="en-US"/>
              <a:t>部分：</a:t>
            </a:r>
            <a:endParaRPr lang="zh-CN" altLang="en-US"/>
          </a:p>
          <a:p>
            <a:pPr lvl="1"/>
            <a:r>
              <a:rPr lang="zh-CN" altLang="en-US"/>
              <a:t>模型假设</a:t>
            </a:r>
            <a:endParaRPr lang="zh-CN" altLang="en-US"/>
          </a:p>
          <a:p>
            <a:pPr lvl="1"/>
            <a:r>
              <a:rPr lang="zh-CN" altLang="en-US"/>
              <a:t>性能</a:t>
            </a:r>
            <a:r>
              <a:rPr lang="zh-CN" altLang="en-US"/>
              <a:t>度量</a:t>
            </a:r>
            <a:endParaRPr lang="zh-CN" altLang="en-US"/>
          </a:p>
          <a:p>
            <a:pPr lvl="1"/>
            <a:r>
              <a:rPr lang="zh-CN" altLang="en-US"/>
              <a:t>参数估计</a:t>
            </a:r>
            <a:r>
              <a:rPr lang="zh-CN" altLang="en-US"/>
              <a:t>方法</a:t>
            </a:r>
            <a:endParaRPr lang="zh-CN" altLang="en-US"/>
          </a:p>
          <a:p>
            <a:pPr lvl="1"/>
            <a:r>
              <a:rPr lang="zh-CN" altLang="en-US"/>
              <a:t>数据要求</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可靠性模型及应用</a:t>
            </a:r>
            <a:endParaRPr lang="zh-CN" altLang="en-US"/>
          </a:p>
        </p:txBody>
      </p:sp>
      <p:sp>
        <p:nvSpPr>
          <p:cNvPr id="3" name="内容占位符 2"/>
          <p:cNvSpPr>
            <a:spLocks noGrp="1"/>
          </p:cNvSpPr>
          <p:nvPr>
            <p:ph idx="1"/>
          </p:nvPr>
        </p:nvSpPr>
        <p:spPr/>
        <p:txBody>
          <a:bodyPr>
            <a:normAutofit fontScale="90000"/>
          </a:bodyPr>
          <a:p>
            <a:pPr marL="228600" lvl="1" algn="l">
              <a:spcBef>
                <a:spcPts val="1000"/>
              </a:spcBef>
              <a:buClrTx/>
              <a:buSzTx/>
            </a:pPr>
            <a:r>
              <a:rPr lang="en-US" altLang="zh-CN" sz="2800">
                <a:sym typeface="+mn-ea"/>
              </a:rPr>
              <a:t>Musa、Okumoto根据</a:t>
            </a:r>
            <a:r>
              <a:rPr lang="zh-CN" altLang="en-US" sz="2800">
                <a:sym typeface="+mn-ea"/>
              </a:rPr>
              <a:t>软件可靠性</a:t>
            </a:r>
            <a:r>
              <a:rPr lang="en-US" altLang="zh-CN" sz="2800">
                <a:sym typeface="+mn-ea"/>
              </a:rPr>
              <a:t>模型的5个特征进行分类：</a:t>
            </a:r>
            <a:endParaRPr lang="en-US" altLang="zh-CN" sz="2800"/>
          </a:p>
          <a:p>
            <a:pPr marL="685800" lvl="3" algn="l">
              <a:spcBef>
                <a:spcPts val="1000"/>
              </a:spcBef>
              <a:buClrTx/>
              <a:buSzTx/>
            </a:pPr>
            <a:r>
              <a:rPr lang="en-US" altLang="zh-CN" sz="2520" b="1">
                <a:solidFill>
                  <a:srgbClr val="FF0000"/>
                </a:solidFill>
                <a:sym typeface="+mn-ea"/>
              </a:rPr>
              <a:t>时间域（time domain）</a:t>
            </a:r>
            <a:r>
              <a:rPr lang="en-US" altLang="zh-CN" sz="2520">
                <a:sym typeface="+mn-ea"/>
              </a:rPr>
              <a:t>：日历时间、执行时间或CPU时间</a:t>
            </a:r>
            <a:endParaRPr lang="en-US" altLang="zh-CN" sz="2520"/>
          </a:p>
          <a:p>
            <a:pPr marL="685800" lvl="3" algn="l">
              <a:spcBef>
                <a:spcPts val="1000"/>
              </a:spcBef>
              <a:buClrTx/>
              <a:buSzTx/>
            </a:pPr>
            <a:r>
              <a:rPr lang="en-US" altLang="zh-CN" sz="2520" b="1">
                <a:solidFill>
                  <a:srgbClr val="FF0000"/>
                </a:solidFill>
                <a:sym typeface="+mn-ea"/>
              </a:rPr>
              <a:t>类别（Category）</a:t>
            </a:r>
            <a:r>
              <a:rPr lang="en-US" altLang="zh-CN" sz="2520">
                <a:sym typeface="+mn-ea"/>
              </a:rPr>
              <a:t>：软件在无限的时间内可能经历的故障数是有限的还是无限的</a:t>
            </a:r>
            <a:endParaRPr lang="en-US" altLang="zh-CN" sz="2520"/>
          </a:p>
          <a:p>
            <a:pPr marL="685800" lvl="3" algn="l">
              <a:spcBef>
                <a:spcPts val="1000"/>
              </a:spcBef>
              <a:buClrTx/>
              <a:buSzTx/>
            </a:pPr>
            <a:r>
              <a:rPr lang="en-US" altLang="zh-CN" sz="2520" b="1">
                <a:solidFill>
                  <a:srgbClr val="FF0000"/>
                </a:solidFill>
                <a:sym typeface="+mn-ea"/>
              </a:rPr>
              <a:t>型（Type）</a:t>
            </a:r>
            <a:r>
              <a:rPr lang="en-US" altLang="zh-CN" sz="2520">
                <a:sym typeface="+mn-ea"/>
              </a:rPr>
              <a:t>：软件在运行时间 t 时的失效数分布分类</a:t>
            </a:r>
            <a:endParaRPr lang="en-US" altLang="zh-CN" sz="2520"/>
          </a:p>
          <a:p>
            <a:pPr marL="685800" lvl="3" algn="l">
              <a:spcBef>
                <a:spcPts val="1000"/>
              </a:spcBef>
              <a:buClrTx/>
              <a:buSzTx/>
            </a:pPr>
            <a:r>
              <a:rPr lang="en-US" altLang="zh-CN" sz="2520" b="1">
                <a:solidFill>
                  <a:srgbClr val="FF0000"/>
                </a:solidFill>
                <a:sym typeface="+mn-ea"/>
              </a:rPr>
              <a:t>种类（Class）</a:t>
            </a:r>
            <a:r>
              <a:rPr lang="en-US" altLang="zh-CN" sz="2520">
                <a:sym typeface="+mn-ea"/>
              </a:rPr>
              <a:t>：故障密度对时间的函数分布（仅对有限故障类）</a:t>
            </a:r>
            <a:endParaRPr lang="en-US" altLang="zh-CN" sz="2520"/>
          </a:p>
          <a:p>
            <a:pPr marL="685800" lvl="3" algn="l">
              <a:spcBef>
                <a:spcPts val="1000"/>
              </a:spcBef>
              <a:buClrTx/>
              <a:buSzTx/>
            </a:pPr>
            <a:r>
              <a:rPr lang="en-US" altLang="zh-CN" sz="2520" b="1">
                <a:solidFill>
                  <a:srgbClr val="FF0000"/>
                </a:solidFill>
                <a:sym typeface="+mn-ea"/>
              </a:rPr>
              <a:t>族（Family）</a:t>
            </a:r>
            <a:r>
              <a:rPr lang="en-US" altLang="zh-CN" sz="2520">
                <a:sym typeface="+mn-ea"/>
              </a:rPr>
              <a:t>：故障密度对它的期望故障数的函数分布（仅对无限故障类）</a:t>
            </a:r>
            <a:endParaRPr lang="en-US" altLang="zh-CN" sz="2520"/>
          </a:p>
          <a:p>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2550" name="表格 142549"/>
          <p:cNvGraphicFramePr/>
          <p:nvPr/>
        </p:nvGraphicFramePr>
        <p:xfrm>
          <a:off x="1143000" y="0"/>
          <a:ext cx="9906000" cy="6803390"/>
        </p:xfrm>
        <a:graphic>
          <a:graphicData uri="http://schemas.openxmlformats.org/drawingml/2006/table">
            <a:tbl>
              <a:tblPr/>
              <a:tblGrid>
                <a:gridCol w="1981200"/>
                <a:gridCol w="1243330"/>
                <a:gridCol w="1303020"/>
                <a:gridCol w="932180"/>
                <a:gridCol w="1644650"/>
                <a:gridCol w="701675"/>
                <a:gridCol w="2099945"/>
              </a:tblGrid>
              <a:tr h="365760">
                <a:tc gridSpan="7">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b="1" dirty="0">
                          <a:latin typeface="Times New Roman" panose="02020603050405020304" pitchFamily="18" charset="0"/>
                          <a:ea typeface="宋体" panose="02010600030101010101" pitchFamily="2" charset="-122"/>
                        </a:rPr>
                        <a:t>有限故障数模型</a:t>
                      </a:r>
                      <a:endParaRPr lang="zh-CN" altLang="en-US" sz="1800" b="1"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row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种类</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tc gridSpan="6">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型</a:t>
                      </a:r>
                      <a:endParaRPr lang="zh-CN" altLang="en-US" sz="18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泊松分布</a:t>
                      </a:r>
                      <a:endParaRPr lang="zh-CN" altLang="en-US" sz="18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二项式分布</a:t>
                      </a:r>
                      <a:endParaRPr lang="zh-CN" altLang="en-US" sz="18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其他</a:t>
                      </a:r>
                      <a:endParaRPr lang="zh-CN" altLang="en-US" sz="18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F0"/>
                    </a:solid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135382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1800" dirty="0">
                          <a:latin typeface="Times New Roman" panose="02020603050405020304" pitchFamily="18" charset="0"/>
                          <a:ea typeface="宋体" panose="02010600030101010101" pitchFamily="2" charset="-122"/>
                        </a:rPr>
                        <a:t>指数分布</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Mussa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宋体" panose="02010600030101010101" pitchFamily="2" charset="-122"/>
                          <a:cs typeface="Times New Roman" panose="02020603050405020304" pitchFamily="18" charset="0"/>
                        </a:rPr>
                        <a:t>1975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Moranda</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Schneidewind</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Goel-Okumoto</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Jelinski-Moranda</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Shooman</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Goel-Okumoto</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Mussa</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Keiller-Littlewood</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69469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Weibull</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分布</a:t>
                      </a: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Schick-</a:t>
                      </a:r>
                      <a:r>
                        <a:rPr lang="en-US" altLang="zh-CN" sz="1800" err="1">
                          <a:latin typeface="Times New Roman" panose="02020603050405020304" pitchFamily="18" charset="0"/>
                          <a:ea typeface="宋体" panose="02010600030101010101" pitchFamily="2" charset="-122"/>
                          <a:cs typeface="Times New Roman" panose="02020603050405020304" pitchFamily="18" charset="0"/>
                        </a:rPr>
                        <a:t>wolverton</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Wagoner</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C1</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分布</a:t>
                      </a: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Schick-</a:t>
                      </a:r>
                      <a:r>
                        <a:rPr lang="en-US" altLang="zh-CN" sz="1800" err="1">
                          <a:latin typeface="Times New Roman" panose="02020603050405020304" pitchFamily="18" charset="0"/>
                          <a:ea typeface="宋体" panose="02010600030101010101" pitchFamily="2" charset="-122"/>
                          <a:cs typeface="Times New Roman" panose="02020603050405020304" pitchFamily="18" charset="0"/>
                        </a:rPr>
                        <a:t>wolverton</a:t>
                      </a: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1800" dirty="0">
                          <a:latin typeface="Times New Roman" panose="02020603050405020304" pitchFamily="18" charset="0"/>
                          <a:ea typeface="宋体" panose="02010600030101010101" pitchFamily="2" charset="-122"/>
                        </a:rPr>
                        <a:t>帕雷多分布</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Littlewood</a:t>
                      </a:r>
                      <a:endParaRPr lang="en-US" altLang="zh-CN" sz="1800" err="1">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Gamma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分布</a:t>
                      </a: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Y-O-O</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5">
                        <a:lumMod val="20000"/>
                        <a:lumOff val="80000"/>
                        <a:alpha val="50000"/>
                      </a:schemeClr>
                    </a:solid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gridSpan="7">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b="1" dirty="0">
                          <a:latin typeface="Times New Roman" panose="02020603050405020304" pitchFamily="18" charset="0"/>
                          <a:ea typeface="宋体" panose="02010600030101010101" pitchFamily="2" charset="-122"/>
                        </a:rPr>
                        <a:t>无限故障数模型</a:t>
                      </a:r>
                      <a:endParaRPr lang="zh-CN" altLang="en-US" sz="1800" b="1"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row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族</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gridSpan="6">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型</a:t>
                      </a:r>
                      <a:endParaRPr lang="zh-CN" altLang="en-US" sz="18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r>
              <a:tr h="36576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T1</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T2</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T3</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1800" dirty="0">
                          <a:latin typeface="Times New Roman" panose="02020603050405020304" pitchFamily="18" charset="0"/>
                          <a:ea typeface="宋体" panose="02010600030101010101" pitchFamily="2" charset="-122"/>
                        </a:rPr>
                        <a:t>泊松分布</a:t>
                      </a:r>
                      <a:endParaRPr lang="zh-CN" altLang="en-US" sz="18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1800" dirty="0">
                          <a:latin typeface="Times New Roman" panose="02020603050405020304" pitchFamily="18" charset="0"/>
                          <a:ea typeface="宋体" panose="02010600030101010101" pitchFamily="2" charset="-122"/>
                        </a:rPr>
                        <a:t>几何分布</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Moranda</a:t>
                      </a:r>
                      <a:endParaRPr lang="en-US" altLang="zh-CN" sz="1800" err="1">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Mussa-Okumoto</a:t>
                      </a:r>
                      <a:endParaRPr lang="en-US" altLang="zh-CN" sz="1800" err="1">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1800" dirty="0">
                          <a:latin typeface="Times New Roman" panose="02020603050405020304" pitchFamily="18" charset="0"/>
                          <a:ea typeface="宋体" panose="02010600030101010101" pitchFamily="2" charset="-122"/>
                        </a:rPr>
                        <a:t>线性倒数</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Littlewood-Verrall</a:t>
                      </a:r>
                      <a:endParaRPr lang="en-US" altLang="zh-CN" sz="1800" err="1">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1800" dirty="0">
                          <a:latin typeface="Times New Roman" panose="02020603050405020304" pitchFamily="18" charset="0"/>
                          <a:ea typeface="宋体" panose="02010600030101010101" pitchFamily="2" charset="-122"/>
                        </a:rPr>
                        <a:t>二次多项式倒数</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err="1">
                          <a:latin typeface="Times New Roman" panose="02020603050405020304" pitchFamily="18" charset="0"/>
                          <a:ea typeface="宋体" panose="02010600030101010101" pitchFamily="2" charset="-122"/>
                          <a:cs typeface="Times New Roman" panose="02020603050405020304" pitchFamily="18" charset="0"/>
                        </a:rPr>
                        <a:t>Littlewood-Verrall</a:t>
                      </a:r>
                      <a:endParaRPr lang="en-US" altLang="zh-CN" sz="1800" err="1">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r>
              <a:tr h="36576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1800" dirty="0">
                          <a:latin typeface="Times New Roman" panose="02020603050405020304" pitchFamily="18" charset="0"/>
                          <a:ea typeface="宋体" panose="02010600030101010101" pitchFamily="2" charset="-122"/>
                        </a:rPr>
                        <a:t>幂</a:t>
                      </a:r>
                      <a:endParaRPr lang="zh-CN" altLang="en-US" sz="1800"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gridSpan="2">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endParaRPr lang="zh-CN" altLang="en-US" sz="1800" dirty="0">
                        <a:latin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c hMerge="1">
                  <a:tcPr>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1800">
                          <a:latin typeface="Times New Roman" panose="02020603050405020304" pitchFamily="18" charset="0"/>
                          <a:ea typeface="宋体" panose="02010600030101010101" pitchFamily="2" charset="-122"/>
                          <a:cs typeface="Times New Roman" panose="02020603050405020304" pitchFamily="18" charset="0"/>
                        </a:rPr>
                        <a:t>Crow</a:t>
                      </a:r>
                      <a:endParaRPr lang="en-US" altLang="zh-CN" sz="18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20000"/>
                        <a:lumOff val="80000"/>
                        <a:alpha val="50000"/>
                      </a:schemeClr>
                    </a:solidFill>
                  </a:tcPr>
                </a:tc>
              </a:tr>
            </a:tbl>
          </a:graphicData>
        </a:graphic>
      </p:graphicFrame>
    </p:spTree>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74295"/>
            <a:ext cx="10972800" cy="620395"/>
          </a:xfrm>
        </p:spPr>
        <p:txBody>
          <a:bodyPr>
            <a:noAutofit/>
          </a:bodyPr>
          <a:p>
            <a:r>
              <a:rPr lang="en-US" altLang="zh-CN" sz="3200"/>
              <a:t>R-B</a:t>
            </a:r>
            <a:r>
              <a:rPr lang="zh-CN" altLang="en-US" sz="3200"/>
              <a:t>软件可靠性模型分类</a:t>
            </a:r>
            <a:endParaRPr lang="zh-CN" altLang="en-US" sz="3200"/>
          </a:p>
        </p:txBody>
      </p:sp>
      <p:graphicFrame>
        <p:nvGraphicFramePr>
          <p:cNvPr id="4" name="表格 3"/>
          <p:cNvGraphicFramePr/>
          <p:nvPr>
            <p:custDataLst>
              <p:tags r:id="rId1"/>
            </p:custDataLst>
          </p:nvPr>
        </p:nvGraphicFramePr>
        <p:xfrm>
          <a:off x="609600" y="708660"/>
          <a:ext cx="10858500" cy="6096000"/>
        </p:xfrm>
        <a:graphic>
          <a:graphicData uri="http://schemas.openxmlformats.org/drawingml/2006/table">
            <a:tbl>
              <a:tblPr firstRow="1" bandRow="1">
                <a:tableStyleId>{5C22544A-7EE6-4342-B048-85BDC9FD1C3A}</a:tableStyleId>
              </a:tblPr>
              <a:tblGrid>
                <a:gridCol w="1243965"/>
                <a:gridCol w="1208405"/>
                <a:gridCol w="8406130"/>
              </a:tblGrid>
              <a:tr h="381000">
                <a:tc rowSpan="6">
                  <a:txBody>
                    <a:bodyPr/>
                    <a:p>
                      <a:pPr>
                        <a:buNone/>
                      </a:pPr>
                      <a:r>
                        <a:rPr lang="zh-CN" altLang="en-US" b="0">
                          <a:solidFill>
                            <a:schemeClr val="tx1"/>
                          </a:solidFill>
                        </a:rPr>
                        <a:t>排错阶段</a:t>
                      </a:r>
                      <a:endParaRPr lang="zh-CN" altLang="en-US" b="0">
                        <a:solidFill>
                          <a:schemeClr val="tx1"/>
                        </a:solidFill>
                      </a:endParaRPr>
                    </a:p>
                  </a:txBody>
                  <a:tcPr anchor="ctr" anchorCtr="1">
                    <a:solidFill>
                      <a:schemeClr val="accent2">
                        <a:lumMod val="20000"/>
                        <a:lumOff val="80000"/>
                        <a:alpha val="50000"/>
                      </a:schemeClr>
                    </a:solidFill>
                  </a:tcPr>
                </a:tc>
                <a:tc rowSpan="3">
                  <a:txBody>
                    <a:bodyPr/>
                    <a:p>
                      <a:pPr>
                        <a:buNone/>
                      </a:pPr>
                      <a:r>
                        <a:rPr lang="zh-CN" altLang="en-US" b="0">
                          <a:solidFill>
                            <a:schemeClr val="tx1"/>
                          </a:solidFill>
                        </a:rPr>
                        <a:t>错误计</a:t>
                      </a:r>
                      <a:endParaRPr lang="zh-CN" altLang="en-US" b="0">
                        <a:solidFill>
                          <a:schemeClr val="tx1"/>
                        </a:solidFill>
                      </a:endParaRPr>
                    </a:p>
                    <a:p>
                      <a:pPr>
                        <a:buNone/>
                      </a:pPr>
                      <a:r>
                        <a:rPr lang="zh-CN" altLang="en-US" b="0">
                          <a:solidFill>
                            <a:schemeClr val="tx1"/>
                          </a:solidFill>
                        </a:rPr>
                        <a:t>数模型</a:t>
                      </a:r>
                      <a:endParaRPr lang="zh-CN" altLang="en-US" b="0">
                        <a:solidFill>
                          <a:schemeClr val="tx1"/>
                        </a:solidFill>
                      </a:endParaRPr>
                    </a:p>
                  </a:txBody>
                  <a:tcPr anchor="ctr" anchorCtr="1">
                    <a:solidFill>
                      <a:schemeClr val="accent2">
                        <a:lumMod val="20000"/>
                        <a:lumOff val="80000"/>
                        <a:alpha val="50000"/>
                      </a:schemeClr>
                    </a:solidFill>
                  </a:tcPr>
                </a:tc>
                <a:tc>
                  <a:txBody>
                    <a:bodyPr/>
                    <a:p>
                      <a:pPr>
                        <a:buNone/>
                      </a:pPr>
                      <a:r>
                        <a:rPr lang="zh-CN" altLang="en-US" b="0">
                          <a:solidFill>
                            <a:schemeClr val="tx1"/>
                          </a:solidFill>
                        </a:rPr>
                        <a:t>确定型：</a:t>
                      </a:r>
                      <a:r>
                        <a:rPr lang="en-US" altLang="zh-CN" b="0">
                          <a:solidFill>
                            <a:schemeClr val="tx1"/>
                          </a:solidFill>
                        </a:rPr>
                        <a:t>J-M</a:t>
                      </a:r>
                      <a:r>
                        <a:rPr lang="zh-CN" altLang="en-US" b="0">
                          <a:solidFill>
                            <a:schemeClr val="tx1"/>
                          </a:solidFill>
                        </a:rPr>
                        <a:t>线性营养良化、</a:t>
                      </a:r>
                      <a:r>
                        <a:rPr lang="en-US" altLang="zh-CN" b="0">
                          <a:solidFill>
                            <a:schemeClr val="tx1"/>
                          </a:solidFill>
                        </a:rPr>
                        <a:t>Musa</a:t>
                      </a:r>
                      <a:r>
                        <a:rPr lang="zh-CN" altLang="en-US" b="0">
                          <a:solidFill>
                            <a:schemeClr val="tx1"/>
                          </a:solidFill>
                        </a:rPr>
                        <a:t>、</a:t>
                      </a:r>
                      <a:r>
                        <a:rPr lang="en-US" altLang="zh-CN" b="0">
                          <a:solidFill>
                            <a:schemeClr val="tx1"/>
                          </a:solidFill>
                        </a:rPr>
                        <a:t>Shooman</a:t>
                      </a:r>
                      <a:r>
                        <a:rPr lang="zh-CN" altLang="en-US" b="0">
                          <a:solidFill>
                            <a:schemeClr val="tx1"/>
                          </a:solidFill>
                        </a:rPr>
                        <a:t>、</a:t>
                      </a:r>
                      <a:r>
                        <a:rPr lang="en-US" altLang="zh-CN" b="0">
                          <a:solidFill>
                            <a:schemeClr val="tx1"/>
                          </a:solidFill>
                        </a:rPr>
                        <a:t>Schick-Wolverton</a:t>
                      </a:r>
                      <a:r>
                        <a:rPr lang="zh-CN" altLang="en-US" b="0">
                          <a:solidFill>
                            <a:schemeClr val="tx1"/>
                          </a:solidFill>
                        </a:rPr>
                        <a:t>、一般泊松模型</a:t>
                      </a:r>
                      <a:endParaRPr lang="zh-CN" altLang="en-US" b="0">
                        <a:solidFill>
                          <a:schemeClr val="tx1"/>
                        </a:solidFill>
                      </a:endParaRPr>
                    </a:p>
                  </a:txBody>
                  <a:tcPr>
                    <a:solidFill>
                      <a:schemeClr val="accent2">
                        <a:lumMod val="20000"/>
                        <a:lumOff val="80000"/>
                        <a:alpha val="50000"/>
                      </a:schemeClr>
                    </a:solidFill>
                  </a:tcPr>
                </a:tc>
              </a:tr>
              <a:tr h="381000">
                <a:tc vMerge="1">
                  <a:tcPr/>
                </a:tc>
                <a:tc vMerge="1">
                  <a:tcPr/>
                </a:tc>
                <a:tc>
                  <a:txBody>
                    <a:bodyPr/>
                    <a:p>
                      <a:pPr>
                        <a:buNone/>
                      </a:pPr>
                      <a:r>
                        <a:rPr lang="zh-CN" altLang="en-US" b="0"/>
                        <a:t>贝叶斯方法：</a:t>
                      </a:r>
                      <a:r>
                        <a:rPr lang="en-US" altLang="zh-CN" b="0"/>
                        <a:t>Littlewood</a:t>
                      </a:r>
                      <a:endParaRPr lang="en-US" altLang="zh-CN" b="0"/>
                    </a:p>
                  </a:txBody>
                  <a:tcPr>
                    <a:solidFill>
                      <a:schemeClr val="accent2">
                        <a:lumMod val="20000"/>
                        <a:lumOff val="80000"/>
                        <a:alpha val="50000"/>
                      </a:schemeClr>
                    </a:solidFill>
                  </a:tcPr>
                </a:tc>
              </a:tr>
              <a:tr h="381000">
                <a:tc vMerge="1">
                  <a:tcPr/>
                </a:tc>
                <a:tc vMerge="1">
                  <a:tcPr/>
                </a:tc>
                <a:tc>
                  <a:txBody>
                    <a:bodyPr/>
                    <a:p>
                      <a:pPr>
                        <a:buNone/>
                      </a:pPr>
                      <a:r>
                        <a:rPr lang="zh-CN" altLang="en-US"/>
                        <a:t>马尔科夫过程：</a:t>
                      </a:r>
                      <a:r>
                        <a:rPr lang="en-US" altLang="zh-CN"/>
                        <a:t>Trivedi-Shooman</a:t>
                      </a:r>
                      <a:endParaRPr lang="en-US" altLang="zh-CN"/>
                    </a:p>
                  </a:txBody>
                  <a:tcPr>
                    <a:solidFill>
                      <a:schemeClr val="accent2">
                        <a:lumMod val="20000"/>
                        <a:lumOff val="80000"/>
                        <a:alpha val="50000"/>
                      </a:schemeClr>
                    </a:solidFill>
                  </a:tcPr>
                </a:tc>
              </a:tr>
              <a:tr h="381000">
                <a:tc vMerge="1">
                  <a:tcPr/>
                </a:tc>
                <a:tc rowSpan="3">
                  <a:txBody>
                    <a:bodyPr/>
                    <a:p>
                      <a:pPr>
                        <a:buNone/>
                      </a:pPr>
                      <a:r>
                        <a:rPr lang="zh-CN" altLang="en-US"/>
                        <a:t>非计数</a:t>
                      </a:r>
                      <a:endParaRPr lang="zh-CN" altLang="en-US"/>
                    </a:p>
                    <a:p>
                      <a:pPr>
                        <a:buNone/>
                      </a:pPr>
                      <a:r>
                        <a:rPr lang="zh-CN" altLang="en-US"/>
                        <a:t>模型</a:t>
                      </a:r>
                      <a:endParaRPr lang="zh-CN" altLang="en-US"/>
                    </a:p>
                  </a:txBody>
                  <a:tcPr anchor="ctr" anchorCtr="1">
                    <a:solidFill>
                      <a:schemeClr val="accent2">
                        <a:lumMod val="20000"/>
                        <a:lumOff val="80000"/>
                        <a:alpha val="50000"/>
                      </a:schemeClr>
                    </a:solidFill>
                  </a:tcPr>
                </a:tc>
                <a:tc>
                  <a:txBody>
                    <a:bodyPr/>
                    <a:p>
                      <a:pPr>
                        <a:buNone/>
                      </a:pPr>
                      <a:r>
                        <a:rPr lang="zh-CN" altLang="en-US"/>
                        <a:t>确定型：</a:t>
                      </a:r>
                      <a:r>
                        <a:rPr lang="en-US" altLang="zh-CN" sz="1800">
                          <a:solidFill>
                            <a:schemeClr val="tx1"/>
                          </a:solidFill>
                          <a:sym typeface="+mn-ea"/>
                        </a:rPr>
                        <a:t>J-M</a:t>
                      </a:r>
                      <a:r>
                        <a:rPr lang="zh-CN" altLang="en-US" sz="1800">
                          <a:solidFill>
                            <a:schemeClr val="tx1"/>
                          </a:solidFill>
                          <a:sym typeface="+mn-ea"/>
                        </a:rPr>
                        <a:t>线性营养良化、</a:t>
                      </a:r>
                      <a:r>
                        <a:rPr lang="en-US" altLang="zh-CN" sz="1800">
                          <a:solidFill>
                            <a:schemeClr val="tx1"/>
                          </a:solidFill>
                          <a:sym typeface="+mn-ea"/>
                        </a:rPr>
                        <a:t>Halden</a:t>
                      </a:r>
                      <a:r>
                        <a:rPr lang="zh-CN" altLang="en-US" sz="1800">
                          <a:solidFill>
                            <a:schemeClr val="tx1"/>
                          </a:solidFill>
                          <a:sym typeface="+mn-ea"/>
                        </a:rPr>
                        <a:t>计划</a:t>
                      </a:r>
                      <a:endParaRPr lang="zh-CN" altLang="en-US" sz="1800">
                        <a:solidFill>
                          <a:schemeClr val="tx1"/>
                        </a:solidFill>
                        <a:sym typeface="+mn-ea"/>
                      </a:endParaRPr>
                    </a:p>
                  </a:txBody>
                  <a:tcPr>
                    <a:solidFill>
                      <a:schemeClr val="accent2">
                        <a:lumMod val="20000"/>
                        <a:lumOff val="80000"/>
                        <a:alpha val="50000"/>
                      </a:schemeClr>
                    </a:solidFill>
                  </a:tcPr>
                </a:tc>
              </a:tr>
              <a:tr h="381000">
                <a:tc vMerge="1">
                  <a:tcPr/>
                </a:tc>
                <a:tc vMerge="1">
                  <a:tcPr/>
                </a:tc>
                <a:tc>
                  <a:txBody>
                    <a:bodyPr/>
                    <a:p>
                      <a:pPr>
                        <a:buNone/>
                      </a:pPr>
                      <a:r>
                        <a:rPr lang="zh-CN" altLang="en-US"/>
                        <a:t>随机：</a:t>
                      </a:r>
                      <a:r>
                        <a:rPr lang="zh-CN" altLang="en-US"/>
                        <a:t>输入域</a:t>
                      </a:r>
                      <a:endParaRPr lang="zh-CN" altLang="en-US"/>
                    </a:p>
                  </a:txBody>
                  <a:tcPr>
                    <a:solidFill>
                      <a:schemeClr val="accent2">
                        <a:lumMod val="20000"/>
                        <a:lumOff val="80000"/>
                        <a:alpha val="50000"/>
                      </a:schemeClr>
                    </a:solidFill>
                  </a:tcPr>
                </a:tc>
              </a:tr>
              <a:tr h="381000">
                <a:tc vMerge="1">
                  <a:tcPr/>
                </a:tc>
                <a:tc vMerge="1">
                  <a:tcPr/>
                </a:tc>
                <a:tc>
                  <a:txBody>
                    <a:bodyPr/>
                    <a:p>
                      <a:pPr>
                        <a:buNone/>
                      </a:pPr>
                      <a:r>
                        <a:rPr lang="zh-CN" altLang="en-US" sz="1800">
                          <a:sym typeface="+mn-ea"/>
                        </a:rPr>
                        <a:t>贝叶斯方法：</a:t>
                      </a:r>
                      <a:r>
                        <a:rPr lang="en-US" altLang="zh-CN" sz="1800">
                          <a:sym typeface="+mn-ea"/>
                        </a:rPr>
                        <a:t>Littlewood-V</a:t>
                      </a:r>
                      <a:r>
                        <a:rPr lang="en-US" altLang="zh-CN" sz="1800">
                          <a:sym typeface="+mn-ea"/>
                        </a:rPr>
                        <a:t>errall</a:t>
                      </a:r>
                      <a:endParaRPr lang="en-US" altLang="zh-CN" sz="1800">
                        <a:sym typeface="+mn-ea"/>
                      </a:endParaRPr>
                    </a:p>
                  </a:txBody>
                  <a:tcPr>
                    <a:solidFill>
                      <a:schemeClr val="accent2">
                        <a:lumMod val="20000"/>
                        <a:lumOff val="80000"/>
                        <a:alpha val="50000"/>
                      </a:schemeClr>
                    </a:solidFill>
                  </a:tcPr>
                </a:tc>
              </a:tr>
              <a:tr h="381000">
                <a:tc rowSpan="3">
                  <a:txBody>
                    <a:bodyPr/>
                    <a:p>
                      <a:pPr>
                        <a:buNone/>
                      </a:pPr>
                      <a:r>
                        <a:rPr lang="zh-CN" altLang="en-US"/>
                        <a:t>验证阶段</a:t>
                      </a:r>
                      <a:endParaRPr lang="zh-CN" altLang="en-US"/>
                    </a:p>
                  </a:txBody>
                  <a:tcPr anchor="ctr" anchorCtr="1">
                    <a:solidFill>
                      <a:srgbClr val="00B0F0">
                        <a:alpha val="17000"/>
                      </a:srgbClr>
                    </a:solidFill>
                  </a:tcPr>
                </a:tc>
                <a:tc gridSpan="2">
                  <a:txBody>
                    <a:bodyPr/>
                    <a:p>
                      <a:pPr>
                        <a:buNone/>
                      </a:pPr>
                      <a:r>
                        <a:rPr lang="en-US" altLang="zh-CN"/>
                        <a:t>Nelson</a:t>
                      </a:r>
                      <a:endParaRPr lang="en-US" altLang="zh-CN"/>
                    </a:p>
                  </a:txBody>
                  <a:tcPr>
                    <a:solidFill>
                      <a:srgbClr val="00B0F0">
                        <a:alpha val="17000"/>
                      </a:srgbClr>
                    </a:solidFill>
                  </a:tcPr>
                </a:tc>
                <a:tc hMerge="1">
                  <a:tcPr/>
                </a:tc>
              </a:tr>
              <a:tr h="381000">
                <a:tc vMerge="1">
                  <a:tcPr/>
                </a:tc>
                <a:tc gridSpan="2">
                  <a:txBody>
                    <a:bodyPr/>
                    <a:p>
                      <a:pPr>
                        <a:buNone/>
                      </a:pPr>
                      <a:r>
                        <a:rPr lang="en-US" altLang="zh-CN"/>
                        <a:t>Shooman</a:t>
                      </a:r>
                      <a:r>
                        <a:rPr lang="zh-CN" altLang="en-US"/>
                        <a:t>（</a:t>
                      </a:r>
                      <a:r>
                        <a:rPr lang="zh-CN" altLang="en-US"/>
                        <a:t>路径可靠性）</a:t>
                      </a:r>
                      <a:endParaRPr lang="zh-CN" altLang="en-US"/>
                    </a:p>
                  </a:txBody>
                  <a:tcPr>
                    <a:solidFill>
                      <a:srgbClr val="00B0F0">
                        <a:alpha val="17000"/>
                      </a:srgbClr>
                    </a:solidFill>
                  </a:tcPr>
                </a:tc>
                <a:tc hMerge="1">
                  <a:tcPr/>
                </a:tc>
              </a:tr>
              <a:tr h="381000">
                <a:tc vMerge="1">
                  <a:tcPr/>
                </a:tc>
                <a:tc gridSpan="2">
                  <a:txBody>
                    <a:bodyPr/>
                    <a:p>
                      <a:pPr>
                        <a:buNone/>
                      </a:pPr>
                      <a:r>
                        <a:rPr lang="zh-CN" altLang="en-US" sz="1800">
                          <a:sym typeface="+mn-ea"/>
                        </a:rPr>
                        <a:t>输入域</a:t>
                      </a:r>
                      <a:endParaRPr lang="zh-CN" altLang="en-US"/>
                    </a:p>
                  </a:txBody>
                  <a:tcPr>
                    <a:solidFill>
                      <a:srgbClr val="00B0F0">
                        <a:alpha val="17000"/>
                      </a:srgbClr>
                    </a:solidFill>
                  </a:tcPr>
                </a:tc>
                <a:tc hMerge="1">
                  <a:tcPr/>
                </a:tc>
              </a:tr>
              <a:tr h="381000">
                <a:tc rowSpan="2">
                  <a:txBody>
                    <a:bodyPr/>
                    <a:p>
                      <a:pPr>
                        <a:buNone/>
                      </a:pPr>
                      <a:r>
                        <a:rPr lang="zh-CN" altLang="en-US"/>
                        <a:t>操作运</a:t>
                      </a:r>
                      <a:endParaRPr lang="zh-CN" altLang="en-US"/>
                    </a:p>
                    <a:p>
                      <a:pPr>
                        <a:buNone/>
                      </a:pPr>
                      <a:r>
                        <a:rPr lang="zh-CN" altLang="en-US"/>
                        <a:t>行</a:t>
                      </a:r>
                      <a:r>
                        <a:rPr lang="zh-CN" altLang="en-US"/>
                        <a:t>阶段</a:t>
                      </a:r>
                      <a:endParaRPr lang="zh-CN" altLang="en-US"/>
                    </a:p>
                  </a:txBody>
                  <a:tcPr anchor="ctr" anchorCtr="1">
                    <a:solidFill>
                      <a:srgbClr val="FF0000">
                        <a:alpha val="15000"/>
                      </a:srgbClr>
                    </a:solidFill>
                  </a:tcPr>
                </a:tc>
                <a:tc gridSpan="2">
                  <a:txBody>
                    <a:bodyPr/>
                    <a:p>
                      <a:pPr>
                        <a:buNone/>
                      </a:pPr>
                      <a:r>
                        <a:rPr lang="zh-CN" altLang="en-US" sz="1800">
                          <a:sym typeface="+mn-ea"/>
                        </a:rPr>
                        <a:t>输入域</a:t>
                      </a:r>
                      <a:endParaRPr lang="zh-CN" altLang="en-US"/>
                    </a:p>
                  </a:txBody>
                  <a:tcPr>
                    <a:solidFill>
                      <a:srgbClr val="FF0000">
                        <a:alpha val="15000"/>
                      </a:srgbClr>
                    </a:solidFill>
                  </a:tcPr>
                </a:tc>
                <a:tc hMerge="1">
                  <a:tcPr/>
                </a:tc>
              </a:tr>
              <a:tr h="381000">
                <a:tc vMerge="1">
                  <a:tcPr/>
                </a:tc>
                <a:tc gridSpan="2">
                  <a:txBody>
                    <a:bodyPr/>
                    <a:p>
                      <a:pPr>
                        <a:buNone/>
                      </a:pPr>
                      <a:r>
                        <a:rPr lang="zh-CN" altLang="en-US" sz="1800">
                          <a:sym typeface="+mn-ea"/>
                        </a:rPr>
                        <a:t>马尔科夫过程：</a:t>
                      </a:r>
                      <a:r>
                        <a:rPr lang="en-US" altLang="zh-CN" sz="1800">
                          <a:sym typeface="+mn-ea"/>
                        </a:rPr>
                        <a:t>Littlewood</a:t>
                      </a:r>
                      <a:r>
                        <a:rPr lang="zh-CN" altLang="en-US" sz="1800">
                          <a:sym typeface="+mn-ea"/>
                        </a:rPr>
                        <a:t>、</a:t>
                      </a:r>
                      <a:r>
                        <a:rPr lang="en-US" altLang="zh-CN" sz="1800">
                          <a:sym typeface="+mn-ea"/>
                        </a:rPr>
                        <a:t>Cheung</a:t>
                      </a:r>
                      <a:endParaRPr lang="en-US" altLang="zh-CN" sz="1800">
                        <a:sym typeface="+mn-ea"/>
                      </a:endParaRPr>
                    </a:p>
                  </a:txBody>
                  <a:tcPr>
                    <a:solidFill>
                      <a:srgbClr val="FF0000">
                        <a:alpha val="15000"/>
                      </a:srgbClr>
                    </a:solidFill>
                  </a:tcPr>
                </a:tc>
                <a:tc hMerge="1">
                  <a:tcPr/>
                </a:tc>
              </a:tr>
              <a:tr h="381000">
                <a:tc>
                  <a:txBody>
                    <a:bodyPr/>
                    <a:p>
                      <a:pPr>
                        <a:buNone/>
                      </a:pPr>
                      <a:r>
                        <a:rPr lang="zh-CN" altLang="en-US"/>
                        <a:t>维护</a:t>
                      </a:r>
                      <a:r>
                        <a:rPr lang="zh-CN" altLang="en-US"/>
                        <a:t>阶段</a:t>
                      </a:r>
                      <a:endParaRPr lang="zh-CN" altLang="en-US"/>
                    </a:p>
                  </a:txBody>
                  <a:tcPr anchor="ctr" anchorCtr="1">
                    <a:solidFill>
                      <a:schemeClr val="accent6">
                        <a:lumMod val="60000"/>
                        <a:lumOff val="40000"/>
                        <a:alpha val="32000"/>
                      </a:schemeClr>
                    </a:solidFill>
                  </a:tcPr>
                </a:tc>
                <a:tc gridSpan="2">
                  <a:txBody>
                    <a:bodyPr/>
                    <a:p>
                      <a:pPr>
                        <a:buNone/>
                      </a:pPr>
                      <a:r>
                        <a:rPr lang="zh-CN" altLang="en-US" sz="1800">
                          <a:sym typeface="+mn-ea"/>
                        </a:rPr>
                        <a:t>输入域</a:t>
                      </a:r>
                      <a:endParaRPr lang="zh-CN" altLang="en-US"/>
                    </a:p>
                  </a:txBody>
                  <a:tcPr>
                    <a:solidFill>
                      <a:schemeClr val="accent6">
                        <a:lumMod val="60000"/>
                        <a:lumOff val="40000"/>
                        <a:alpha val="32000"/>
                      </a:schemeClr>
                    </a:solidFill>
                  </a:tcPr>
                </a:tc>
                <a:tc hMerge="1">
                  <a:tcPr/>
                </a:tc>
              </a:tr>
              <a:tr h="381000">
                <a:tc rowSpan="4">
                  <a:txBody>
                    <a:bodyPr/>
                    <a:p>
                      <a:pPr>
                        <a:buNone/>
                      </a:pPr>
                      <a:r>
                        <a:rPr lang="zh-CN" altLang="en-US"/>
                        <a:t>正确性</a:t>
                      </a:r>
                      <a:endParaRPr lang="zh-CN" altLang="en-US"/>
                    </a:p>
                    <a:p>
                      <a:pPr>
                        <a:buNone/>
                      </a:pPr>
                      <a:r>
                        <a:rPr lang="zh-CN" altLang="en-US"/>
                        <a:t>测量</a:t>
                      </a:r>
                      <a:endParaRPr lang="zh-CN" altLang="en-US"/>
                    </a:p>
                  </a:txBody>
                  <a:tcPr anchor="ctr" anchorCtr="1">
                    <a:solidFill>
                      <a:srgbClr val="7030A0">
                        <a:alpha val="0"/>
                      </a:srgbClr>
                    </a:solidFill>
                  </a:tcPr>
                </a:tc>
                <a:tc gridSpan="2">
                  <a:txBody>
                    <a:bodyPr/>
                    <a:p>
                      <a:pPr>
                        <a:buNone/>
                      </a:pPr>
                      <a:r>
                        <a:rPr lang="en-US" altLang="zh-CN"/>
                        <a:t>Seeding</a:t>
                      </a:r>
                      <a:r>
                        <a:rPr lang="zh-CN" altLang="en-US"/>
                        <a:t>：</a:t>
                      </a:r>
                      <a:r>
                        <a:rPr lang="en-US" altLang="zh-CN"/>
                        <a:t>Basin</a:t>
                      </a:r>
                      <a:r>
                        <a:rPr lang="zh-CN" altLang="en-US"/>
                        <a:t>、</a:t>
                      </a:r>
                      <a:r>
                        <a:rPr lang="en-US" altLang="zh-CN"/>
                        <a:t>Mill</a:t>
                      </a:r>
                      <a:r>
                        <a:rPr lang="zh-CN" altLang="en-US"/>
                        <a:t>、</a:t>
                      </a:r>
                      <a:r>
                        <a:rPr lang="en-US" altLang="zh-CN"/>
                        <a:t>Demilo-Lipton</a:t>
                      </a:r>
                      <a:endParaRPr lang="en-US" altLang="zh-CN"/>
                    </a:p>
                  </a:txBody>
                  <a:tcPr>
                    <a:solidFill>
                      <a:srgbClr val="7030A0">
                        <a:alpha val="0"/>
                      </a:srgbClr>
                    </a:solidFill>
                  </a:tcPr>
                </a:tc>
                <a:tc hMerge="1">
                  <a:tcPr/>
                </a:tc>
              </a:tr>
              <a:tr h="381000">
                <a:tc vMerge="1">
                  <a:tcPr/>
                </a:tc>
                <a:tc gridSpan="2">
                  <a:txBody>
                    <a:bodyPr/>
                    <a:p>
                      <a:pPr>
                        <a:buNone/>
                      </a:pPr>
                      <a:r>
                        <a:rPr lang="zh-CN" altLang="en-US"/>
                        <a:t>现象学：</a:t>
                      </a:r>
                      <a:r>
                        <a:rPr lang="en-US" altLang="zh-CN"/>
                        <a:t>Healstead</a:t>
                      </a:r>
                      <a:endParaRPr lang="en-US" altLang="zh-CN"/>
                    </a:p>
                  </a:txBody>
                  <a:tcPr>
                    <a:solidFill>
                      <a:srgbClr val="7030A0">
                        <a:alpha val="0"/>
                      </a:srgbClr>
                    </a:solidFill>
                  </a:tcPr>
                </a:tc>
                <a:tc hMerge="1">
                  <a:tcPr/>
                </a:tc>
              </a:tr>
              <a:tr h="381000">
                <a:tc vMerge="1">
                  <a:tcPr/>
                </a:tc>
                <a:tc gridSpan="2">
                  <a:txBody>
                    <a:bodyPr/>
                    <a:p>
                      <a:pPr>
                        <a:buNone/>
                      </a:pPr>
                      <a:r>
                        <a:rPr lang="zh-CN" altLang="en-US"/>
                        <a:t>统计模型：</a:t>
                      </a:r>
                      <a:r>
                        <a:rPr lang="en-US" altLang="zh-CN"/>
                        <a:t>Nelson</a:t>
                      </a:r>
                      <a:r>
                        <a:rPr lang="zh-CN" altLang="en-US"/>
                        <a:t>、</a:t>
                      </a:r>
                      <a:r>
                        <a:rPr lang="en-US" altLang="zh-CN"/>
                        <a:t>Ehrenberger</a:t>
                      </a:r>
                      <a:r>
                        <a:rPr lang="zh-CN" altLang="en-US"/>
                        <a:t>、</a:t>
                      </a:r>
                      <a:r>
                        <a:rPr lang="en-US" altLang="zh-CN"/>
                        <a:t>Brown-Lipow</a:t>
                      </a:r>
                      <a:endParaRPr lang="en-US" altLang="zh-CN"/>
                    </a:p>
                  </a:txBody>
                  <a:tcPr>
                    <a:solidFill>
                      <a:srgbClr val="7030A0">
                        <a:alpha val="0"/>
                      </a:srgbClr>
                    </a:solidFill>
                  </a:tcPr>
                </a:tc>
                <a:tc hMerge="1">
                  <a:tcPr/>
                </a:tc>
              </a:tr>
              <a:tr h="381000">
                <a:tc vMerge="1">
                  <a:tcPr/>
                </a:tc>
                <a:tc gridSpan="2">
                  <a:txBody>
                    <a:bodyPr/>
                    <a:p>
                      <a:pPr>
                        <a:buNone/>
                      </a:pPr>
                      <a:r>
                        <a:rPr lang="zh-CN" altLang="en-US" sz="1800">
                          <a:sym typeface="+mn-ea"/>
                        </a:rPr>
                        <a:t>输入域</a:t>
                      </a:r>
                      <a:endParaRPr lang="zh-CN" altLang="en-US"/>
                    </a:p>
                  </a:txBody>
                  <a:tcPr>
                    <a:solidFill>
                      <a:srgbClr val="7030A0">
                        <a:alpha val="0"/>
                      </a:srgbClr>
                    </a:solidFill>
                  </a:tcPr>
                </a:tc>
                <a:tc hMerge="1">
                  <a:tcPr/>
                </a:tc>
              </a:tr>
            </a:tbl>
          </a:graphicData>
        </a:graphic>
      </p:graphicFrame>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9600" y="74295"/>
            <a:ext cx="10972800" cy="620395"/>
          </a:xfrm>
        </p:spPr>
        <p:txBody>
          <a:bodyPr>
            <a:noAutofit/>
          </a:bodyPr>
          <a:p>
            <a:r>
              <a:rPr lang="zh-CN" altLang="en-US" sz="3200"/>
              <a:t>部分常见</a:t>
            </a:r>
            <a:r>
              <a:rPr lang="zh-CN" altLang="en-US" sz="3200"/>
              <a:t>的模型</a:t>
            </a:r>
            <a:endParaRPr lang="zh-CN" altLang="en-US" sz="3200"/>
          </a:p>
        </p:txBody>
      </p:sp>
      <p:graphicFrame>
        <p:nvGraphicFramePr>
          <p:cNvPr id="3" name="表格 2"/>
          <p:cNvGraphicFramePr/>
          <p:nvPr>
            <p:custDataLst>
              <p:tags r:id="rId1"/>
            </p:custDataLst>
          </p:nvPr>
        </p:nvGraphicFramePr>
        <p:xfrm>
          <a:off x="668020" y="1064895"/>
          <a:ext cx="10142220" cy="5551805"/>
        </p:xfrm>
        <a:graphic>
          <a:graphicData uri="http://schemas.openxmlformats.org/drawingml/2006/table">
            <a:tbl>
              <a:tblPr firstRow="1" bandRow="1">
                <a:tableStyleId>{5C22544A-7EE6-4342-B048-85BDC9FD1C3A}</a:tableStyleId>
              </a:tblPr>
              <a:tblGrid>
                <a:gridCol w="2526030"/>
                <a:gridCol w="1269365"/>
                <a:gridCol w="1269365"/>
                <a:gridCol w="1269365"/>
                <a:gridCol w="1269365"/>
                <a:gridCol w="1269365"/>
                <a:gridCol w="1269365"/>
              </a:tblGrid>
              <a:tr h="377825">
                <a:tc rowSpan="3">
                  <a:txBody>
                    <a:bodyPr/>
                    <a:p>
                      <a:pPr>
                        <a:buNone/>
                      </a:pPr>
                      <a:r>
                        <a:rPr lang="zh-CN" altLang="en-US"/>
                        <a:t>模型</a:t>
                      </a:r>
                      <a:endParaRPr lang="zh-CN" altLang="en-US"/>
                    </a:p>
                  </a:txBody>
                  <a:tcPr anchor="ctr" anchorCtr="1"/>
                </a:tc>
                <a:tc gridSpan="3">
                  <a:txBody>
                    <a:bodyPr/>
                    <a:p>
                      <a:pPr>
                        <a:buNone/>
                      </a:pPr>
                      <a:r>
                        <a:rPr lang="zh-CN" altLang="en-US"/>
                        <a:t>动态</a:t>
                      </a:r>
                      <a:endParaRPr lang="zh-CN" altLang="en-US"/>
                    </a:p>
                  </a:txBody>
                  <a:tcPr anchor="ctr" anchorCtr="1"/>
                </a:tc>
                <a:tc hMerge="1">
                  <a:tcPr/>
                </a:tc>
                <a:tc hMerge="1">
                  <a:tcPr/>
                </a:tc>
                <a:tc gridSpan="3">
                  <a:txBody>
                    <a:bodyPr/>
                    <a:p>
                      <a:pPr>
                        <a:buNone/>
                      </a:pPr>
                      <a:r>
                        <a:rPr lang="zh-CN" altLang="en-US"/>
                        <a:t>静态</a:t>
                      </a:r>
                      <a:endParaRPr lang="zh-CN" altLang="en-US"/>
                    </a:p>
                  </a:txBody>
                  <a:tcPr anchor="ctr" anchorCtr="1"/>
                </a:tc>
                <a:tc hMerge="1">
                  <a:tcPr/>
                </a:tc>
                <a:tc hMerge="1">
                  <a:tcPr/>
                </a:tc>
              </a:tr>
              <a:tr h="377825">
                <a:tc vMerge="1">
                  <a:tcPr/>
                </a:tc>
                <a:tc gridSpan="2">
                  <a:txBody>
                    <a:bodyPr/>
                    <a:p>
                      <a:pPr>
                        <a:buNone/>
                      </a:pPr>
                      <a:r>
                        <a:rPr lang="zh-CN" altLang="en-US"/>
                        <a:t>宏观模型</a:t>
                      </a:r>
                      <a:endParaRPr lang="zh-CN" altLang="en-US"/>
                    </a:p>
                  </a:txBody>
                  <a:tcPr anchor="ctr" anchorCtr="1"/>
                </a:tc>
                <a:tc hMerge="1">
                  <a:tcPr/>
                </a:tc>
                <a:tc rowSpan="2">
                  <a:txBody>
                    <a:bodyPr/>
                    <a:p>
                      <a:pPr>
                        <a:buNone/>
                      </a:pPr>
                      <a:r>
                        <a:rPr lang="zh-CN" altLang="en-US"/>
                        <a:t>微观模型</a:t>
                      </a:r>
                      <a:endParaRPr lang="zh-CN" altLang="en-US"/>
                    </a:p>
                  </a:txBody>
                  <a:tcPr anchor="ctr" anchorCtr="1"/>
                </a:tc>
                <a:tc rowSpan="2">
                  <a:txBody>
                    <a:bodyPr/>
                    <a:p>
                      <a:pPr>
                        <a:buNone/>
                      </a:pPr>
                      <a:r>
                        <a:rPr lang="zh-CN" altLang="en-US"/>
                        <a:t>缺陷播</a:t>
                      </a:r>
                      <a:endParaRPr lang="zh-CN" altLang="en-US"/>
                    </a:p>
                    <a:p>
                      <a:pPr>
                        <a:buNone/>
                      </a:pPr>
                      <a:r>
                        <a:rPr lang="zh-CN" altLang="en-US"/>
                        <a:t>种</a:t>
                      </a:r>
                      <a:r>
                        <a:rPr lang="zh-CN" altLang="en-US"/>
                        <a:t>模型</a:t>
                      </a:r>
                      <a:endParaRPr lang="zh-CN" altLang="en-US"/>
                    </a:p>
                  </a:txBody>
                  <a:tcPr anchor="ctr" anchorCtr="1"/>
                </a:tc>
                <a:tc rowSpan="2">
                  <a:txBody>
                    <a:bodyPr/>
                    <a:p>
                      <a:pPr>
                        <a:buNone/>
                      </a:pPr>
                      <a:r>
                        <a:rPr lang="zh-CN" altLang="en-US"/>
                        <a:t>数据域</a:t>
                      </a:r>
                      <a:r>
                        <a:rPr lang="zh-CN" altLang="en-US"/>
                        <a:t>模型</a:t>
                      </a:r>
                      <a:endParaRPr lang="zh-CN" altLang="en-US"/>
                    </a:p>
                  </a:txBody>
                  <a:tcPr anchor="ctr" anchorCtr="1"/>
                </a:tc>
                <a:tc rowSpan="2">
                  <a:txBody>
                    <a:bodyPr/>
                    <a:p>
                      <a:pPr>
                        <a:buNone/>
                      </a:pPr>
                      <a:r>
                        <a:rPr lang="zh-CN" altLang="en-US"/>
                        <a:t>经验模型</a:t>
                      </a:r>
                      <a:endParaRPr lang="zh-CN" altLang="en-US"/>
                    </a:p>
                  </a:txBody>
                  <a:tcPr anchor="ctr" anchorCtr="1"/>
                </a:tc>
              </a:tr>
              <a:tr h="377825">
                <a:tc vMerge="1">
                  <a:tcPr/>
                </a:tc>
                <a:tc>
                  <a:txBody>
                    <a:bodyPr/>
                    <a:p>
                      <a:pPr>
                        <a:buNone/>
                      </a:pPr>
                      <a:r>
                        <a:rPr lang="zh-CN" altLang="en-US"/>
                        <a:t>故障时间</a:t>
                      </a:r>
                      <a:endParaRPr lang="zh-CN" altLang="en-US"/>
                    </a:p>
                  </a:txBody>
                  <a:tcPr anchor="ctr" anchorCtr="1"/>
                </a:tc>
                <a:tc>
                  <a:txBody>
                    <a:bodyPr/>
                    <a:p>
                      <a:pPr>
                        <a:buNone/>
                      </a:pPr>
                      <a:r>
                        <a:rPr lang="zh-CN" altLang="en-US"/>
                        <a:t>故障</a:t>
                      </a:r>
                      <a:r>
                        <a:rPr lang="zh-CN" altLang="en-US"/>
                        <a:t>计数</a:t>
                      </a:r>
                      <a:endParaRPr lang="zh-CN" altLang="en-US"/>
                    </a:p>
                  </a:txBody>
                  <a:tcPr anchor="ctr" anchorCtr="1"/>
                </a:tc>
                <a:tc vMerge="1">
                  <a:tcPr/>
                </a:tc>
                <a:tc vMerge="1">
                  <a:tcPr/>
                </a:tc>
                <a:tc vMerge="1">
                  <a:tcPr/>
                </a:tc>
                <a:tc vMerge="1">
                  <a:tcPr/>
                </a:tc>
              </a:tr>
              <a:tr h="377825">
                <a:tc>
                  <a:txBody>
                    <a:bodyPr/>
                    <a:p>
                      <a:pPr>
                        <a:buNone/>
                      </a:pPr>
                      <a:r>
                        <a:rPr lang="en-US" altLang="zh-CN"/>
                        <a:t>J-M</a:t>
                      </a:r>
                      <a:endParaRPr lang="en-US" altLang="zh-CN"/>
                    </a:p>
                  </a:txBody>
                  <a:tcPr anchor="ctr" anchorCtr="1">
                    <a:solidFill>
                      <a:srgbClr val="00B0F0">
                        <a:alpha val="25000"/>
                      </a:srgbClr>
                    </a:solidFill>
                  </a:tcPr>
                </a:tc>
                <a:tc>
                  <a:txBody>
                    <a:bodyPr/>
                    <a:p>
                      <a:pPr>
                        <a:buNone/>
                      </a:pPr>
                      <a:r>
                        <a:rPr lang="zh-CN" altLang="en-US">
                          <a:latin typeface="微软雅黑" panose="020B0503020204020204" charset="-122"/>
                          <a:ea typeface="微软雅黑" panose="020B0503020204020204" charset="-122"/>
                        </a:rPr>
                        <a:t>√</a:t>
                      </a:r>
                      <a:endParaRPr lang="zh-CN" altLang="en-US">
                        <a:latin typeface="微软雅黑" panose="020B0503020204020204" charset="-122"/>
                        <a:ea typeface="微软雅黑" panose="020B0503020204020204" charset="-122"/>
                      </a:endParaRPr>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Schick-Wovertion</a:t>
                      </a:r>
                      <a:endParaRPr lang="en-US" altLang="zh-CN"/>
                    </a:p>
                  </a:txBody>
                  <a:tcPr anchor="ctr" anchorCtr="1">
                    <a:solidFill>
                      <a:srgbClr val="00B0F0">
                        <a:alpha val="25000"/>
                      </a:srgbClr>
                    </a:solidFill>
                  </a:tcPr>
                </a:tc>
                <a:tc>
                  <a:txBody>
                    <a:bodyPr/>
                    <a:p>
                      <a:pPr>
                        <a:buNone/>
                      </a:pPr>
                      <a:r>
                        <a:rPr lang="zh-CN" altLang="en-US"/>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Moranda</a:t>
                      </a:r>
                      <a:r>
                        <a:rPr lang="zh-CN" altLang="en-US"/>
                        <a:t>几何</a:t>
                      </a:r>
                      <a:endParaRPr lang="zh-CN" altLang="en-US"/>
                    </a:p>
                  </a:txBody>
                  <a:tcPr anchor="ctr" anchorCtr="1">
                    <a:solidFill>
                      <a:srgbClr val="00B0F0">
                        <a:alpha val="25000"/>
                      </a:srgbClr>
                    </a:solidFill>
                  </a:tcPr>
                </a:tc>
                <a:tc>
                  <a:txBody>
                    <a:bodyPr/>
                    <a:p>
                      <a:pPr>
                        <a:buNone/>
                      </a:pPr>
                      <a:r>
                        <a:rPr lang="zh-CN" altLang="en-US"/>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Musa</a:t>
                      </a:r>
                      <a:r>
                        <a:rPr lang="zh-CN" altLang="en-US"/>
                        <a:t>执行时间</a:t>
                      </a:r>
                      <a:endParaRPr lang="zh-CN" altLang="en-US"/>
                    </a:p>
                  </a:txBody>
                  <a:tcPr anchor="ctr" anchorCtr="1">
                    <a:solidFill>
                      <a:srgbClr val="00B0F0">
                        <a:alpha val="25000"/>
                      </a:srgbClr>
                    </a:solidFill>
                  </a:tcPr>
                </a:tc>
                <a:tc>
                  <a:txBody>
                    <a:bodyPr/>
                    <a:p>
                      <a:pPr>
                        <a:buNone/>
                      </a:pPr>
                      <a:r>
                        <a:rPr lang="zh-CN" altLang="en-US"/>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Littlewood-Verrall</a:t>
                      </a:r>
                      <a:endParaRPr lang="en-US" altLang="zh-CN"/>
                    </a:p>
                  </a:txBody>
                  <a:tcPr anchor="ctr" anchorCtr="1">
                    <a:solidFill>
                      <a:srgbClr val="00B0F0">
                        <a:alpha val="25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Goel-Okumoto NHPP</a:t>
                      </a:r>
                      <a:endParaRPr lang="en-US" altLang="zh-CN"/>
                    </a:p>
                  </a:txBody>
                  <a:tcPr anchor="ctr" anchorCtr="1">
                    <a:solidFill>
                      <a:srgbClr val="00B0F0">
                        <a:alpha val="25000"/>
                      </a:srgbClr>
                    </a:solidFill>
                  </a:tcPr>
                </a:tc>
                <a:tc>
                  <a:txBody>
                    <a:bodyPr/>
                    <a:p>
                      <a:pPr>
                        <a:buNone/>
                      </a:pPr>
                      <a:endParaRPr lang="zh-CN" altLang="en-US"/>
                    </a:p>
                  </a:txBody>
                  <a:tcPr anchor="ctr" anchorCtr="1">
                    <a:solidFill>
                      <a:srgbClr val="FFC000">
                        <a:alpha val="19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Moranda</a:t>
                      </a:r>
                      <a:r>
                        <a:rPr lang="zh-CN" altLang="en-US"/>
                        <a:t>几何</a:t>
                      </a:r>
                      <a:r>
                        <a:rPr lang="en-US" altLang="zh-CN"/>
                        <a:t>Possion</a:t>
                      </a:r>
                      <a:endParaRPr lang="en-US" altLang="zh-CN"/>
                    </a:p>
                  </a:txBody>
                  <a:tcPr anchor="ctr" anchorCtr="1">
                    <a:solidFill>
                      <a:srgbClr val="00B0F0">
                        <a:alpha val="25000"/>
                      </a:srgbClr>
                    </a:solidFill>
                  </a:tcPr>
                </a:tc>
                <a:tc>
                  <a:txBody>
                    <a:bodyPr/>
                    <a:p>
                      <a:pPr>
                        <a:buNone/>
                      </a:pPr>
                      <a:endParaRPr lang="zh-CN" altLang="en-US"/>
                    </a:p>
                  </a:txBody>
                  <a:tcPr anchor="ctr" anchorCtr="1">
                    <a:solidFill>
                      <a:srgbClr val="FFC000">
                        <a:alpha val="19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Shooman</a:t>
                      </a:r>
                      <a:endParaRPr lang="en-US" altLang="zh-CN"/>
                    </a:p>
                  </a:txBody>
                  <a:tcPr anchor="ctr" anchorCtr="1">
                    <a:solidFill>
                      <a:srgbClr val="00B0F0">
                        <a:alpha val="25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zh-CN" altLang="en-US"/>
                        <a:t>超几何</a:t>
                      </a:r>
                      <a:endParaRPr lang="zh-CN" altLang="en-US"/>
                    </a:p>
                  </a:txBody>
                  <a:tcPr anchor="ctr" anchorCtr="1">
                    <a:solidFill>
                      <a:srgbClr val="00B0F0">
                        <a:alpha val="25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Neison</a:t>
                      </a:r>
                      <a:endParaRPr lang="en-US" altLang="zh-CN"/>
                    </a:p>
                  </a:txBody>
                  <a:tcPr anchor="ctr" anchorCtr="1">
                    <a:solidFill>
                      <a:srgbClr val="00B0F0">
                        <a:alpha val="25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r>
              <a:tr h="377825">
                <a:tc>
                  <a:txBody>
                    <a:bodyPr/>
                    <a:p>
                      <a:pPr>
                        <a:buNone/>
                      </a:pPr>
                      <a:r>
                        <a:rPr lang="en-US" altLang="zh-CN"/>
                        <a:t>Halstead</a:t>
                      </a:r>
                      <a:endParaRPr lang="en-US" altLang="zh-CN"/>
                    </a:p>
                  </a:txBody>
                  <a:tcPr anchor="ctr" anchorCtr="1">
                    <a:solidFill>
                      <a:srgbClr val="00B0F0">
                        <a:alpha val="25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FFC000">
                        <a:alpha val="19000"/>
                      </a:srgbClr>
                    </a:solidFill>
                  </a:tcPr>
                </a:tc>
                <a:tc>
                  <a:txBody>
                    <a:bodyPr/>
                    <a:p>
                      <a:pPr>
                        <a:buNone/>
                      </a:pPr>
                      <a:endParaRPr lang="zh-CN" altLang="en-US"/>
                    </a:p>
                  </a:txBody>
                  <a:tcPr anchor="ctr" anchorCtr="1">
                    <a:solidFill>
                      <a:srgbClr val="C00000">
                        <a:alpha val="13000"/>
                      </a:srgbClr>
                    </a:solidFill>
                  </a:tcPr>
                </a:tc>
                <a:tc>
                  <a:txBody>
                    <a:bodyPr/>
                    <a:p>
                      <a:pPr>
                        <a:buNone/>
                      </a:pPr>
                      <a:endParaRPr lang="zh-CN" altLang="en-US"/>
                    </a:p>
                  </a:txBody>
                  <a:tcPr anchor="ctr" anchorCtr="1">
                    <a:solidFill>
                      <a:srgbClr val="C00000">
                        <a:alpha val="13000"/>
                      </a:srgbClr>
                    </a:solidFill>
                  </a:tcPr>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solidFill>
                      <a:srgbClr val="C00000">
                        <a:alpha val="13000"/>
                      </a:srgbClr>
                    </a:solidFill>
                  </a:tcPr>
                </a:tc>
              </a:tr>
            </a:tbl>
          </a:graphicData>
        </a:graphic>
      </p:graphicFrame>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可靠性模型及应用</a:t>
            </a:r>
            <a:endParaRPr lang="zh-CN" altLang="en-US"/>
          </a:p>
        </p:txBody>
      </p:sp>
      <p:sp>
        <p:nvSpPr>
          <p:cNvPr id="3" name="内容占位符 2"/>
          <p:cNvSpPr>
            <a:spLocks noGrp="1"/>
          </p:cNvSpPr>
          <p:nvPr>
            <p:ph idx="1"/>
          </p:nvPr>
        </p:nvSpPr>
        <p:spPr>
          <a:xfrm>
            <a:off x="838200" y="1538605"/>
            <a:ext cx="10515600" cy="1019810"/>
          </a:xfrm>
        </p:spPr>
        <p:txBody>
          <a:bodyPr/>
          <a:p>
            <a:r>
              <a:rPr lang="zh-CN" altLang="en-US" dirty="0">
                <a:sym typeface="+mn-ea"/>
              </a:rPr>
              <a:t>软件可靠性模型参数</a:t>
            </a:r>
            <a:endParaRPr lang="zh-CN" altLang="en-US"/>
          </a:p>
        </p:txBody>
      </p:sp>
      <p:sp>
        <p:nvSpPr>
          <p:cNvPr id="144387" name="文本占位符 144386"/>
          <p:cNvSpPr>
            <a:spLocks noGrp="1"/>
          </p:cNvSpPr>
          <p:nvPr>
            <p:custDataLst>
              <p:tags r:id="rId1"/>
            </p:custDataLst>
          </p:nvPr>
        </p:nvSpPr>
        <p:spPr>
          <a:xfrm>
            <a:off x="507365" y="2423160"/>
            <a:ext cx="6042025" cy="3828415"/>
          </a:xfrm>
          <a:prstGeom prst="rect">
            <a:avLst/>
          </a:prstGeom>
          <a:solidFill>
            <a:schemeClr val="accent2">
              <a:lumMod val="20000"/>
              <a:lumOff val="80000"/>
            </a:schemeClr>
          </a:solidFill>
          <a:ln>
            <a:solidFill>
              <a:schemeClr val="accent1"/>
            </a:solidFill>
          </a:ln>
        </p:spPr>
        <p:txBody>
          <a:bodyPr vert="horz" lIns="91440" tIns="45720" rIns="91440" bIns="45720" rtlCol="0"/>
          <a:lstStyle>
            <a:lvl1pPr marL="228600" indent="-228600" algn="l" defTabSz="914400" rtl="0" eaLnBrk="1" fontAlgn="auto" latinLnBrk="0" hangingPunct="1">
              <a:lnSpc>
                <a:spcPct val="13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fontAlgn="auto" latinLnBrk="0" hangingPunct="1">
              <a:lnSpc>
                <a:spcPct val="13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fontAlgn="auto" latinLnBrk="0" hangingPunct="1">
              <a:lnSpc>
                <a:spcPct val="13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110000"/>
              </a:lnSpc>
              <a:spcBef>
                <a:spcPts val="400"/>
              </a:spcBef>
              <a:buFont typeface="+mj-ea"/>
              <a:buAutoNum type="circleNumDbPlain"/>
            </a:pPr>
            <a:r>
              <a:rPr lang="en-US" altLang="zh-CN" sz="2400">
                <a:latin typeface="Times New Roman" panose="02020603050405020304" pitchFamily="18" charset="0"/>
                <a:ea typeface="宋体" panose="02010600030101010101" pitchFamily="2" charset="-122"/>
              </a:rPr>
              <a:t>ETF</a:t>
            </a:r>
            <a:r>
              <a:rPr lang="zh-CN" altLang="en-US" sz="2400" dirty="0">
                <a:latin typeface="Times New Roman" panose="02020603050405020304" pitchFamily="18" charset="0"/>
                <a:ea typeface="宋体" panose="02010600030101010101" pitchFamily="2" charset="-122"/>
              </a:rPr>
              <a:t>：软件中固有缺陷数，是固定的</a:t>
            </a:r>
            <a:endParaRPr lang="en-US" altLang="zh-CN" sz="2400">
              <a:latin typeface="Times New Roman" panose="02020603050405020304" pitchFamily="18" charset="0"/>
              <a:ea typeface="宋体" panose="02010600030101010101" pitchFamily="2" charset="-122"/>
            </a:endParaRPr>
          </a:p>
          <a:p>
            <a:pPr marL="342900" lvl="0" indent="-342900">
              <a:lnSpc>
                <a:spcPct val="110000"/>
              </a:lnSpc>
              <a:spcBef>
                <a:spcPts val="400"/>
              </a:spcBef>
              <a:buFont typeface="+mj-ea"/>
              <a:buAutoNum type="circleNumDbPlain"/>
            </a:pPr>
            <a:r>
              <a:rPr lang="en-US" altLang="zh-CN" sz="2400">
                <a:latin typeface="Times New Roman" panose="02020603050405020304" pitchFamily="18" charset="0"/>
                <a:ea typeface="宋体" panose="02010600030101010101" pitchFamily="2" charset="-122"/>
              </a:rPr>
              <a:t>ETV</a:t>
            </a:r>
            <a:r>
              <a:rPr lang="zh-CN" altLang="en-US" sz="2400" dirty="0">
                <a:latin typeface="Times New Roman" panose="02020603050405020304" pitchFamily="18" charset="0"/>
                <a:ea typeface="宋体" panose="02010600030101010101" pitchFamily="2" charset="-122"/>
              </a:rPr>
              <a:t>：同上，是变化的，在开发、维护过程中随时添加</a:t>
            </a:r>
            <a:endParaRPr lang="zh-CN" altLang="en-US" sz="2400" dirty="0">
              <a:latin typeface="Times New Roman" panose="02020603050405020304" pitchFamily="18" charset="0"/>
              <a:ea typeface="宋体" panose="02010600030101010101" pitchFamily="2" charset="-122"/>
            </a:endParaRPr>
          </a:p>
          <a:p>
            <a:pPr marL="342900" lvl="0" indent="-342900">
              <a:lnSpc>
                <a:spcPct val="110000"/>
              </a:lnSpc>
              <a:spcBef>
                <a:spcPts val="400"/>
              </a:spcBef>
              <a:buFont typeface="+mj-ea"/>
              <a:buAutoNum type="circleNumDbPlain"/>
            </a:pPr>
            <a:r>
              <a:rPr lang="en-US" altLang="zh-CN" sz="2400" err="1">
                <a:latin typeface="Times New Roman" panose="02020603050405020304" pitchFamily="18" charset="0"/>
                <a:ea typeface="宋体" panose="02010600030101010101" pitchFamily="2" charset="-122"/>
              </a:rPr>
              <a:t>EC(</a:t>
            </a:r>
            <a:r>
              <a:rPr lang="en-US" altLang="zh-CN" sz="2400" i="1" err="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：某时刻已纠正的缺陷数</a:t>
            </a:r>
            <a:endParaRPr lang="zh-CN" altLang="en-US" sz="2400" dirty="0">
              <a:latin typeface="Times New Roman" panose="02020603050405020304" pitchFamily="18" charset="0"/>
              <a:ea typeface="宋体" panose="02010600030101010101" pitchFamily="2" charset="-122"/>
            </a:endParaRPr>
          </a:p>
          <a:p>
            <a:pPr marL="342900" lvl="0" indent="-342900">
              <a:lnSpc>
                <a:spcPct val="110000"/>
              </a:lnSpc>
              <a:spcBef>
                <a:spcPts val="400"/>
              </a:spcBef>
              <a:buFont typeface="+mj-ea"/>
              <a:buAutoNum type="circleNumDbPlain"/>
            </a:pPr>
            <a:r>
              <a:rPr lang="en-US" altLang="zh-CN" sz="2400" err="1">
                <a:latin typeface="Times New Roman" panose="02020603050405020304" pitchFamily="18" charset="0"/>
                <a:ea typeface="宋体" panose="02010600030101010101" pitchFamily="2" charset="-122"/>
              </a:rPr>
              <a:t>ED(</a:t>
            </a:r>
            <a:r>
              <a:rPr lang="en-US" altLang="zh-CN" sz="2400" i="1" err="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：某时刻已发现的缺陷数</a:t>
            </a:r>
            <a:endParaRPr lang="zh-CN" altLang="en-US" sz="2400" dirty="0">
              <a:latin typeface="Times New Roman" panose="02020603050405020304" pitchFamily="18" charset="0"/>
              <a:ea typeface="宋体" panose="02010600030101010101" pitchFamily="2" charset="-122"/>
            </a:endParaRPr>
          </a:p>
          <a:p>
            <a:pPr marL="342900" lvl="0" indent="-342900">
              <a:lnSpc>
                <a:spcPct val="110000"/>
              </a:lnSpc>
              <a:spcBef>
                <a:spcPts val="400"/>
              </a:spcBef>
              <a:buFont typeface="+mj-ea"/>
              <a:buAutoNum type="circleNumDbPlain"/>
            </a:pPr>
            <a:r>
              <a:rPr lang="en-US" altLang="zh-CN" sz="2400" i="1">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：在修正缺陷过程中测试的循环次数，常假定</a:t>
            </a:r>
            <a:br>
              <a:rPr lang="zh-CN" altLang="en-US" sz="2400" dirty="0">
                <a:latin typeface="Times New Roman" panose="02020603050405020304" pitchFamily="18" charset="0"/>
                <a:ea typeface="宋体" panose="02010600030101010101" pitchFamily="2" charset="-122"/>
              </a:rPr>
            </a:br>
            <a:r>
              <a:rPr lang="zh-CN" altLang="en-US" sz="2400" dirty="0">
                <a:latin typeface="Times New Roman" panose="02020603050405020304" pitchFamily="18" charset="0"/>
                <a:ea typeface="宋体" panose="02010600030101010101" pitchFamily="2" charset="-122"/>
              </a:rPr>
              <a:t>              </a:t>
            </a: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a:t>
            </a:r>
            <a:r>
              <a:rPr lang="en-US" altLang="zh-CN" sz="2400" err="1">
                <a:latin typeface="Times New Roman" panose="02020603050405020304" pitchFamily="18" charset="0"/>
                <a:ea typeface="宋体" panose="02010600030101010101" pitchFamily="2" charset="-122"/>
              </a:rPr>
              <a:t>ED(</a:t>
            </a:r>
            <a:r>
              <a:rPr lang="en-US" altLang="zh-CN" sz="2400" i="1" err="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r>
              <a:rPr lang="en-US" altLang="zh-CN" sz="2400" err="1">
                <a:latin typeface="Times New Roman" panose="02020603050405020304" pitchFamily="18" charset="0"/>
                <a:ea typeface="宋体" panose="02010600030101010101" pitchFamily="2" charset="-122"/>
              </a:rPr>
              <a:t>EC(</a:t>
            </a:r>
            <a:r>
              <a:rPr lang="en-US" altLang="zh-CN" sz="2400" i="1" err="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a:p>
            <a:pPr marL="342900" lvl="0" indent="-342900">
              <a:lnSpc>
                <a:spcPct val="90000"/>
              </a:lnSpc>
              <a:buFont typeface="+mj-ea"/>
              <a:buAutoNum type="circleNumDbPlain"/>
            </a:pPr>
            <a:endParaRPr lang="zh-CN" altLang="en-US" sz="2400" dirty="0">
              <a:latin typeface="Times New Roman" panose="02020603050405020304" pitchFamily="18" charset="0"/>
              <a:ea typeface="宋体" panose="02010600030101010101" pitchFamily="2" charset="-122"/>
            </a:endParaRPr>
          </a:p>
        </p:txBody>
      </p:sp>
      <p:sp>
        <p:nvSpPr>
          <p:cNvPr id="4" name="文本占位符 144386"/>
          <p:cNvSpPr>
            <a:spLocks noGrp="1"/>
          </p:cNvSpPr>
          <p:nvPr>
            <p:custDataLst>
              <p:tags r:id="rId2"/>
            </p:custDataLst>
          </p:nvPr>
        </p:nvSpPr>
        <p:spPr>
          <a:xfrm>
            <a:off x="7035800" y="2423160"/>
            <a:ext cx="4625975" cy="3828415"/>
          </a:xfrm>
          <a:prstGeom prst="rect">
            <a:avLst/>
          </a:prstGeom>
          <a:solidFill>
            <a:schemeClr val="accent2">
              <a:lumMod val="20000"/>
              <a:lumOff val="80000"/>
            </a:schemeClr>
          </a:solidFill>
          <a:ln>
            <a:solidFill>
              <a:schemeClr val="accent1"/>
            </a:solidFill>
          </a:ln>
        </p:spPr>
        <p:txBody>
          <a:bodyPr vert="horz" lIns="91440" tIns="107950" rIns="91440" bIns="45720" rtlCol="0"/>
          <a:lstStyle>
            <a:lvl1pPr marL="228600" indent="-228600" algn="l" defTabSz="914400" rtl="0" eaLnBrk="1" fontAlgn="auto" latinLnBrk="0" hangingPunct="1">
              <a:lnSpc>
                <a:spcPct val="13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fontAlgn="auto" latinLnBrk="0" hangingPunct="1">
              <a:lnSpc>
                <a:spcPct val="13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fontAlgn="auto" latinLnBrk="0" hangingPunct="1">
              <a:lnSpc>
                <a:spcPct val="13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0" indent="-457200">
              <a:lnSpc>
                <a:spcPts val="2880"/>
              </a:lnSpc>
              <a:spcBef>
                <a:spcPts val="400"/>
              </a:spcBef>
              <a:buFont typeface="+mj-ea"/>
              <a:buAutoNum type="circleNumDbPlain" startAt="6"/>
            </a:pPr>
            <a:r>
              <a:rPr lang="en-US" altLang="zh-CN" sz="2400" err="1">
                <a:latin typeface="Times New Roman" panose="02020603050405020304" pitchFamily="18" charset="0"/>
                <a:ea typeface="宋体" panose="02010600030101010101" pitchFamily="2" charset="-122"/>
                <a:sym typeface="+mn-ea"/>
              </a:rPr>
              <a:t>EC(p</a:t>
            </a:r>
            <a:r>
              <a:rPr lang="en-US" altLang="zh-CN" sz="2400">
                <a:latin typeface="Times New Roman" panose="02020603050405020304" pitchFamily="18" charset="0"/>
                <a:ea typeface="宋体" panose="02010600030101010101" pitchFamily="2" charset="-122"/>
                <a:sym typeface="+mn-ea"/>
              </a:rPr>
              <a:t>)</a:t>
            </a:r>
            <a:r>
              <a:rPr lang="zh-CN" altLang="en-US" sz="2400" dirty="0">
                <a:latin typeface="Times New Roman" panose="02020603050405020304" pitchFamily="18" charset="0"/>
                <a:ea typeface="宋体" panose="02010600030101010101" pitchFamily="2" charset="-122"/>
                <a:sym typeface="+mn-ea"/>
              </a:rPr>
              <a:t>：直到第</a:t>
            </a:r>
            <a:r>
              <a:rPr lang="en-US" altLang="zh-CN" sz="2400" i="1">
                <a:latin typeface="Times New Roman" panose="02020603050405020304" pitchFamily="18" charset="0"/>
                <a:ea typeface="宋体" panose="02010600030101010101" pitchFamily="2" charset="-122"/>
                <a:sym typeface="+mn-ea"/>
              </a:rPr>
              <a:t>p</a:t>
            </a:r>
            <a:r>
              <a:rPr lang="zh-CN" altLang="en-US" sz="2400" dirty="0">
                <a:latin typeface="Times New Roman" panose="02020603050405020304" pitchFamily="18" charset="0"/>
                <a:ea typeface="宋体" panose="02010600030101010101" pitchFamily="2" charset="-122"/>
                <a:sym typeface="+mn-ea"/>
              </a:rPr>
              <a:t>次测试才修正的缺陷数</a:t>
            </a:r>
            <a:endParaRPr lang="zh-CN" altLang="en-US" sz="2400" dirty="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a:latin typeface="Times New Roman" panose="02020603050405020304" pitchFamily="18" charset="0"/>
                <a:ea typeface="宋体" panose="02010600030101010101" pitchFamily="2" charset="-122"/>
              </a:rPr>
              <a:t>λ</a:t>
            </a:r>
            <a:r>
              <a:rPr lang="en-US" altLang="zh-CN" sz="2400" baseline="-25000">
                <a:latin typeface="Times New Roman" panose="02020603050405020304" pitchFamily="18" charset="0"/>
                <a:ea typeface="宋体" panose="02010600030101010101" pitchFamily="2" charset="-122"/>
              </a:rPr>
              <a:t>0</a:t>
            </a:r>
            <a:r>
              <a:rPr lang="zh-CN" altLang="en-US" sz="2400" dirty="0">
                <a:latin typeface="Times New Roman" panose="02020603050405020304" pitchFamily="18" charset="0"/>
                <a:ea typeface="宋体" panose="02010600030101010101" pitchFamily="2" charset="-122"/>
              </a:rPr>
              <a:t>：起始故障率</a:t>
            </a:r>
            <a:endParaRPr lang="zh-CN" altLang="en-US" sz="2400" dirty="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err="1">
                <a:latin typeface="Times New Roman" panose="02020603050405020304" pitchFamily="18" charset="0"/>
                <a:ea typeface="宋体" panose="02010600030101010101" pitchFamily="2" charset="-122"/>
              </a:rPr>
              <a:t>λ</a:t>
            </a:r>
            <a:r>
              <a:rPr lang="en-US" altLang="zh-CN" sz="2400" i="1" baseline="-25000" err="1">
                <a:latin typeface="Times New Roman" panose="02020603050405020304" pitchFamily="18" charset="0"/>
                <a:ea typeface="宋体" panose="02010600030101010101" pitchFamily="2" charset="-122"/>
              </a:rPr>
              <a:t>p</a:t>
            </a:r>
            <a:r>
              <a:rPr lang="zh-CN" altLang="en-US" sz="2400" dirty="0">
                <a:latin typeface="Times New Roman" panose="02020603050405020304" pitchFamily="18" charset="0"/>
                <a:ea typeface="宋体" panose="02010600030101010101" pitchFamily="2" charset="-122"/>
              </a:rPr>
              <a:t>：当前故障率</a:t>
            </a:r>
            <a:endParaRPr lang="en-US" altLang="zh-CN" sz="240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a:latin typeface="Times New Roman" panose="02020603050405020304" pitchFamily="18" charset="0"/>
                <a:ea typeface="宋体" panose="02010600030101010101" pitchFamily="2" charset="-122"/>
              </a:rPr>
              <a:t>θ</a:t>
            </a:r>
            <a:r>
              <a:rPr lang="zh-CN" altLang="en-US" sz="2400" dirty="0">
                <a:latin typeface="Times New Roman" panose="02020603050405020304" pitchFamily="18" charset="0"/>
                <a:ea typeface="宋体" panose="02010600030101010101" pitchFamily="2" charset="-122"/>
              </a:rPr>
              <a:t>：故障率的变化</a:t>
            </a:r>
            <a:endParaRPr lang="zh-CN" altLang="en-US" sz="2400" dirty="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a:latin typeface="Times New Roman" panose="02020603050405020304" pitchFamily="18" charset="0"/>
                <a:ea typeface="宋体" panose="02010600030101010101" pitchFamily="2" charset="-122"/>
              </a:rPr>
              <a:t>τ</a:t>
            </a:r>
            <a:r>
              <a:rPr lang="zh-CN" altLang="en-US" sz="2400" dirty="0">
                <a:latin typeface="Times New Roman" panose="02020603050405020304" pitchFamily="18" charset="0"/>
                <a:ea typeface="宋体" panose="02010600030101010101" pitchFamily="2" charset="-122"/>
              </a:rPr>
              <a:t>：累计执行时间</a:t>
            </a:r>
            <a:endParaRPr lang="zh-CN" altLang="en-US" sz="2400" dirty="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a:latin typeface="Times New Roman" panose="02020603050405020304" pitchFamily="18" charset="0"/>
                <a:ea typeface="宋体" panose="02010600030101010101" pitchFamily="2" charset="-122"/>
              </a:rPr>
              <a:t>α</a:t>
            </a:r>
            <a:r>
              <a:rPr lang="zh-CN" altLang="en-US" sz="2400" dirty="0">
                <a:latin typeface="Times New Roman" panose="02020603050405020304" pitchFamily="18" charset="0"/>
                <a:ea typeface="宋体" panose="02010600030101010101" pitchFamily="2" charset="-122"/>
              </a:rPr>
              <a:t>：增长率</a:t>
            </a:r>
            <a:endParaRPr lang="zh-CN" altLang="en-US" sz="2400" dirty="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：测试用例运行总数</a:t>
            </a:r>
            <a:endParaRPr lang="zh-CN" altLang="en-US" sz="2400" dirty="0">
              <a:latin typeface="Times New Roman" panose="02020603050405020304" pitchFamily="18" charset="0"/>
              <a:ea typeface="宋体" panose="02010600030101010101" pitchFamily="2" charset="-122"/>
            </a:endParaRPr>
          </a:p>
          <a:p>
            <a:pPr marL="457200" lvl="0" indent="-457200">
              <a:lnSpc>
                <a:spcPts val="2880"/>
              </a:lnSpc>
              <a:spcBef>
                <a:spcPts val="400"/>
              </a:spcBef>
              <a:buFont typeface="+mj-ea"/>
              <a:buAutoNum type="circleNumDbPlain" startAt="6"/>
            </a:pPr>
            <a:r>
              <a:rPr lang="en-US" altLang="zh-CN" sz="2400" i="1">
                <a:latin typeface="Times New Roman" panose="02020603050405020304" pitchFamily="18" charset="0"/>
                <a:ea typeface="宋体" panose="02010600030101010101" pitchFamily="2" charset="-122"/>
              </a:rPr>
              <a:t>S</a:t>
            </a:r>
            <a:r>
              <a:rPr lang="zh-CN" altLang="en-US" sz="2400" dirty="0">
                <a:latin typeface="Times New Roman" panose="02020603050405020304" pitchFamily="18" charset="0"/>
                <a:ea typeface="宋体" panose="02010600030101010101" pitchFamily="2" charset="-122"/>
              </a:rPr>
              <a:t>：成功的测试用例运行总数</a:t>
            </a:r>
            <a:endParaRPr lang="zh-CN" altLang="en-US" sz="2400" dirty="0">
              <a:latin typeface="Times New Roman" panose="02020603050405020304" pitchFamily="18"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可靠性模型及应用：</a:t>
            </a:r>
            <a:r>
              <a:rPr lang="en-US" altLang="zh-CN" b="1">
                <a:solidFill>
                  <a:srgbClr val="C00000"/>
                </a:solidFill>
                <a:ea typeface="宋体" panose="02010600030101010101" pitchFamily="2" charset="-122"/>
                <a:sym typeface="+mn-ea"/>
              </a:rPr>
              <a:t>Musa</a:t>
            </a:r>
            <a:r>
              <a:rPr lang="zh-CN" altLang="en-US" b="1" dirty="0">
                <a:solidFill>
                  <a:srgbClr val="C00000"/>
                </a:solidFill>
                <a:ea typeface="宋体" panose="02010600030101010101" pitchFamily="2" charset="-122"/>
                <a:sym typeface="+mn-ea"/>
              </a:rPr>
              <a:t>模型</a:t>
            </a:r>
            <a:endParaRPr lang="zh-CN" altLang="en-US"/>
          </a:p>
        </p:txBody>
      </p:sp>
      <p:sp>
        <p:nvSpPr>
          <p:cNvPr id="3" name="内容占位符 2"/>
          <p:cNvSpPr>
            <a:spLocks noGrp="1"/>
          </p:cNvSpPr>
          <p:nvPr>
            <p:ph idx="1"/>
          </p:nvPr>
        </p:nvSpPr>
        <p:spPr/>
        <p:txBody>
          <a:bodyPr>
            <a:normAutofit/>
          </a:bodyPr>
          <a:p>
            <a:r>
              <a:rPr lang="en-US" altLang="zh-CN" b="1">
                <a:solidFill>
                  <a:srgbClr val="C00000"/>
                </a:solidFill>
                <a:ea typeface="宋体" panose="02010600030101010101" pitchFamily="2" charset="-122"/>
                <a:sym typeface="+mn-ea"/>
              </a:rPr>
              <a:t>Musa</a:t>
            </a:r>
            <a:r>
              <a:rPr lang="zh-CN" altLang="en-US" b="1" dirty="0">
                <a:solidFill>
                  <a:srgbClr val="C00000"/>
                </a:solidFill>
                <a:ea typeface="宋体" panose="02010600030101010101" pitchFamily="2" charset="-122"/>
                <a:sym typeface="+mn-ea"/>
              </a:rPr>
              <a:t>模型</a:t>
            </a:r>
            <a:r>
              <a:rPr lang="zh-CN" altLang="en-US" dirty="0">
                <a:ea typeface="宋体" panose="02010600030101010101" pitchFamily="2" charset="-122"/>
                <a:sym typeface="+mn-ea"/>
              </a:rPr>
              <a:t>是一个</a:t>
            </a:r>
            <a:r>
              <a:rPr lang="zh-CN" altLang="en-US" dirty="0">
                <a:ea typeface="宋体" panose="02010600030101010101" pitchFamily="2" charset="-122"/>
                <a:sym typeface="+mn-ea"/>
              </a:rPr>
              <a:t>基本模型，假设：</a:t>
            </a:r>
            <a:endParaRPr lang="zh-CN" altLang="en-US" dirty="0">
              <a:ea typeface="宋体" panose="02010600030101010101" pitchFamily="2" charset="-122"/>
              <a:sym typeface="+mn-ea"/>
            </a:endParaRPr>
          </a:p>
          <a:p>
            <a:pPr marL="971550" lvl="3" indent="-514350" algn="l">
              <a:spcBef>
                <a:spcPts val="1000"/>
              </a:spcBef>
              <a:buClrTx/>
              <a:buSzTx/>
              <a:buFont typeface="+mj-ea"/>
              <a:buAutoNum type="circleNumDbPlain"/>
            </a:pPr>
            <a:r>
              <a:rPr lang="en-US" altLang="zh-CN" sz="2520">
                <a:solidFill>
                  <a:schemeClr val="tx1"/>
                </a:solidFill>
                <a:ea typeface="宋体" panose="02010600030101010101" pitchFamily="2" charset="-122"/>
                <a:sym typeface="+mn-ea"/>
              </a:rPr>
              <a:t>每个缺陷对故障率的贡献是相同的；</a:t>
            </a:r>
            <a:endParaRPr lang="en-US" altLang="zh-CN" sz="2520">
              <a:solidFill>
                <a:schemeClr val="tx1"/>
              </a:solidFill>
              <a:ea typeface="宋体" panose="02010600030101010101" pitchFamily="2" charset="-122"/>
              <a:sym typeface="+mn-ea"/>
            </a:endParaRPr>
          </a:p>
          <a:p>
            <a:pPr marL="971550" lvl="3" indent="-514350" algn="l">
              <a:spcBef>
                <a:spcPts val="1000"/>
              </a:spcBef>
              <a:buClrTx/>
              <a:buSzTx/>
              <a:buFont typeface="+mj-ea"/>
              <a:buAutoNum type="circleNumDbPlain"/>
            </a:pPr>
            <a:r>
              <a:rPr lang="en-US" altLang="zh-CN" sz="2520">
                <a:solidFill>
                  <a:schemeClr val="tx1"/>
                </a:solidFill>
                <a:ea typeface="宋体" panose="02010600030101010101" pitchFamily="2" charset="-122"/>
                <a:sym typeface="+mn-ea"/>
              </a:rPr>
              <a:t>每修正一个缺陷故障率均匀地减少，即故障率对时间的导数是常数；</a:t>
            </a:r>
            <a:endParaRPr lang="en-US" altLang="zh-CN" sz="2520">
              <a:solidFill>
                <a:schemeClr val="tx1"/>
              </a:solidFill>
              <a:ea typeface="宋体" panose="02010600030101010101" pitchFamily="2" charset="-122"/>
              <a:sym typeface="+mn-ea"/>
            </a:endParaRPr>
          </a:p>
          <a:p>
            <a:pPr marL="971550" lvl="3" indent="-514350" algn="l">
              <a:spcBef>
                <a:spcPts val="1000"/>
              </a:spcBef>
              <a:buClrTx/>
              <a:buSzTx/>
              <a:buFont typeface="+mj-ea"/>
              <a:buAutoNum type="circleNumDbPlain"/>
            </a:pPr>
            <a:r>
              <a:rPr lang="en-US" altLang="zh-CN" sz="2520">
                <a:solidFill>
                  <a:schemeClr val="tx1"/>
                </a:solidFill>
                <a:ea typeface="宋体" panose="02010600030101010101" pitchFamily="2" charset="-122"/>
                <a:sym typeface="+mn-ea"/>
              </a:rPr>
              <a:t>软件固有的故障总数是有限的，但不固定，即修正缺陷时可能产生新缺陷</a:t>
            </a:r>
            <a:endParaRPr lang="en-US" altLang="zh-CN" sz="2520">
              <a:solidFill>
                <a:schemeClr val="tx1"/>
              </a:solidFill>
              <a:ea typeface="宋体" panose="02010600030101010101" pitchFamily="2" charset="-122"/>
            </a:endParaRPr>
          </a:p>
          <a:p>
            <a:pPr marL="228600" lvl="2" algn="l">
              <a:spcBef>
                <a:spcPts val="1000"/>
              </a:spcBef>
              <a:buClrTx/>
              <a:buSzTx/>
            </a:pPr>
            <a:r>
              <a:rPr lang="en-US" altLang="zh-CN" sz="2800" b="1">
                <a:solidFill>
                  <a:srgbClr val="C00000"/>
                </a:solidFill>
                <a:ea typeface="宋体" panose="02010600030101010101" pitchFamily="2" charset="-122"/>
                <a:sym typeface="+mn-ea"/>
              </a:rPr>
              <a:t>Musa模型：</a:t>
            </a:r>
            <a:endParaRPr lang="en-US" altLang="zh-CN" sz="2800" b="1">
              <a:solidFill>
                <a:srgbClr val="C00000"/>
              </a:solidFill>
              <a:ea typeface="宋体" panose="02010600030101010101" pitchFamily="2" charset="-122"/>
            </a:endParaRPr>
          </a:p>
          <a:p>
            <a:endParaRPr lang="en-US" altLang="zh-CN"/>
          </a:p>
        </p:txBody>
      </p:sp>
      <p:graphicFrame>
        <p:nvGraphicFramePr>
          <p:cNvPr id="145412" name="内容占位符 145411"/>
          <p:cNvGraphicFramePr/>
          <p:nvPr>
            <p:ph sz="half" idx="2"/>
            <p:custDataLst>
              <p:tags r:id="rId1"/>
            </p:custDataLst>
          </p:nvPr>
        </p:nvGraphicFramePr>
        <p:xfrm>
          <a:off x="3484245" y="4685665"/>
          <a:ext cx="2433638" cy="1127125"/>
        </p:xfrm>
        <a:graphic>
          <a:graphicData uri="http://schemas.openxmlformats.org/presentationml/2006/ole">
            <mc:AlternateContent xmlns:mc="http://schemas.openxmlformats.org/markup-compatibility/2006">
              <mc:Choice xmlns:v="urn:schemas-microsoft-com:vml" Requires="v">
                <p:oleObj spid="_x0000_s3085" name="" r:id="rId2" imgW="812165" imgH="368300" progId="Equation.3">
                  <p:embed/>
                </p:oleObj>
              </mc:Choice>
              <mc:Fallback>
                <p:oleObj name="" r:id="rId2" imgW="812165" imgH="368300" progId="Equation.3">
                  <p:embed/>
                  <p:pic>
                    <p:nvPicPr>
                      <p:cNvPr id="0" name="图片 3084"/>
                      <p:cNvPicPr/>
                      <p:nvPr/>
                    </p:nvPicPr>
                    <p:blipFill>
                      <a:blip r:embed="rId3"/>
                      <a:stretch>
                        <a:fillRect/>
                      </a:stretch>
                    </p:blipFill>
                    <p:spPr>
                      <a:xfrm>
                        <a:off x="3484245" y="4685665"/>
                        <a:ext cx="2433638" cy="1127125"/>
                      </a:xfrm>
                      <a:prstGeom prst="rect">
                        <a:avLst/>
                      </a:prstGeom>
                      <a:noFill/>
                      <a:ln w="38100">
                        <a:miter/>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可靠性模型及应用：</a:t>
            </a:r>
            <a:r>
              <a:rPr lang="en-US" altLang="zh-CN" b="1">
                <a:solidFill>
                  <a:srgbClr val="C00000"/>
                </a:solidFill>
                <a:ea typeface="宋体" panose="02010600030101010101" pitchFamily="2" charset="-122"/>
                <a:sym typeface="+mn-ea"/>
              </a:rPr>
              <a:t>Musa</a:t>
            </a:r>
            <a:r>
              <a:rPr lang="zh-CN" altLang="en-US" b="1" dirty="0">
                <a:solidFill>
                  <a:srgbClr val="C00000"/>
                </a:solidFill>
                <a:ea typeface="宋体" panose="02010600030101010101" pitchFamily="2" charset="-122"/>
                <a:sym typeface="+mn-ea"/>
              </a:rPr>
              <a:t>模型</a:t>
            </a:r>
            <a:endParaRPr lang="en-US" altLang="zh-CN">
              <a:solidFill>
                <a:srgbClr val="C00000"/>
              </a:solidFill>
              <a:sym typeface="+mn-ea"/>
            </a:endParaRPr>
          </a:p>
        </p:txBody>
      </p:sp>
      <p:sp>
        <p:nvSpPr>
          <p:cNvPr id="3" name="内容占位符 2"/>
          <p:cNvSpPr>
            <a:spLocks noGrp="1"/>
          </p:cNvSpPr>
          <p:nvPr>
            <p:ph idx="1"/>
          </p:nvPr>
        </p:nvSpPr>
        <p:spPr>
          <a:xfrm>
            <a:off x="838200" y="1538605"/>
            <a:ext cx="5358130" cy="4638675"/>
          </a:xfrm>
        </p:spPr>
        <p:txBody>
          <a:bodyPr/>
          <a:p>
            <a:pPr>
              <a:lnSpc>
                <a:spcPct val="120000"/>
              </a:lnSpc>
            </a:pPr>
            <a:r>
              <a:rPr lang="zh-CN" altLang="en-US" sz="2400" dirty="0">
                <a:latin typeface="Times New Roman" panose="02020603050405020304" pitchFamily="18" charset="0"/>
                <a:ea typeface="宋体" panose="02010600030101010101" pitchFamily="2" charset="-122"/>
                <a:sym typeface="+mn-ea"/>
              </a:rPr>
              <a:t>利用基本模型可估计要达到某可靠性目标还必须要发现（检测出）的缺陷数和需要的时间，有助于计划人力和时间</a:t>
            </a:r>
            <a:endParaRPr lang="zh-CN" altLang="en-US" sz="2400" dirty="0">
              <a:latin typeface="Times New Roman" panose="02020603050405020304" pitchFamily="18" charset="0"/>
              <a:ea typeface="宋体" panose="02010600030101010101" pitchFamily="2" charset="-122"/>
              <a:sym typeface="+mn-ea"/>
            </a:endParaRPr>
          </a:p>
          <a:p>
            <a:pPr>
              <a:lnSpc>
                <a:spcPct val="120000"/>
              </a:lnSpc>
            </a:pPr>
            <a:r>
              <a:rPr lang="zh-CN" altLang="en-US" sz="2400" dirty="0">
                <a:latin typeface="Times New Roman" panose="02020603050405020304" pitchFamily="18" charset="0"/>
                <a:ea typeface="宋体" panose="02010600030101010101" pitchFamily="2" charset="-122"/>
                <a:sym typeface="+mn-ea"/>
              </a:rPr>
              <a:t>设要达到的可靠性目标为</a:t>
            </a:r>
            <a:r>
              <a:rPr lang="en-US" altLang="zh-CN" sz="2400" i="1" err="1">
                <a:latin typeface="Times New Roman" panose="02020603050405020304" pitchFamily="18" charset="0"/>
                <a:ea typeface="宋体" panose="02010600030101010101" pitchFamily="2" charset="-122"/>
                <a:sym typeface="+mn-ea"/>
              </a:rPr>
              <a:t>λ</a:t>
            </a:r>
            <a:r>
              <a:rPr lang="en-US" altLang="zh-CN" sz="2400" i="1" baseline="-25000" err="1">
                <a:latin typeface="Times New Roman" panose="02020603050405020304" pitchFamily="18" charset="0"/>
                <a:ea typeface="宋体" panose="02010600030101010101" pitchFamily="2" charset="-122"/>
                <a:sym typeface="+mn-ea"/>
              </a:rPr>
              <a:t>f</a:t>
            </a:r>
            <a:r>
              <a:rPr lang="zh-CN" altLang="en-US" sz="2400" dirty="0">
                <a:latin typeface="Times New Roman" panose="02020603050405020304" pitchFamily="18" charset="0"/>
                <a:ea typeface="宋体" panose="02010600030101010101" pitchFamily="2" charset="-122"/>
                <a:sym typeface="+mn-ea"/>
              </a:rPr>
              <a:t>，则需发现的故障数</a:t>
            </a:r>
            <a:r>
              <a:rPr lang="en-US" altLang="zh-CN" sz="2400" i="1" err="1">
                <a:latin typeface="Times New Roman" panose="02020603050405020304" pitchFamily="18" charset="0"/>
                <a:ea typeface="宋体" panose="02010600030101010101" pitchFamily="2" charset="-122"/>
                <a:sym typeface="+mn-ea"/>
              </a:rPr>
              <a:t>N</a:t>
            </a:r>
            <a:r>
              <a:rPr lang="en-US" altLang="zh-CN" sz="2400" i="1" baseline="-25000" err="1">
                <a:latin typeface="Times New Roman" panose="02020603050405020304" pitchFamily="18" charset="0"/>
                <a:ea typeface="宋体" panose="02010600030101010101" pitchFamily="2" charset="-122"/>
                <a:sym typeface="+mn-ea"/>
              </a:rPr>
              <a:t>f</a:t>
            </a:r>
            <a:r>
              <a:rPr lang="zh-CN" altLang="en-US" sz="2400" dirty="0">
                <a:latin typeface="Times New Roman" panose="02020603050405020304" pitchFamily="18" charset="0"/>
                <a:ea typeface="宋体" panose="02010600030101010101" pitchFamily="2" charset="-122"/>
                <a:sym typeface="+mn-ea"/>
              </a:rPr>
              <a:t>为：</a:t>
            </a:r>
            <a:endParaRPr lang="zh-CN" altLang="en-US" sz="2400" dirty="0">
              <a:latin typeface="Times New Roman" panose="02020603050405020304" pitchFamily="18" charset="0"/>
              <a:ea typeface="宋体" panose="02010600030101010101" pitchFamily="2" charset="-122"/>
              <a:sym typeface="+mn-ea"/>
            </a:endParaRPr>
          </a:p>
          <a:p>
            <a:pPr>
              <a:lnSpc>
                <a:spcPct val="120000"/>
              </a:lnSpc>
            </a:pPr>
            <a:endParaRPr lang="zh-CN" altLang="en-US" sz="2400" dirty="0">
              <a:latin typeface="Times New Roman" panose="02020603050405020304" pitchFamily="18" charset="0"/>
              <a:ea typeface="宋体" panose="02010600030101010101" pitchFamily="2" charset="-122"/>
              <a:sym typeface="+mn-ea"/>
            </a:endParaRPr>
          </a:p>
          <a:p>
            <a:pPr>
              <a:lnSpc>
                <a:spcPct val="120000"/>
              </a:lnSpc>
            </a:pPr>
            <a:r>
              <a:rPr lang="zh-CN" altLang="en-US" sz="2400" dirty="0">
                <a:latin typeface="Times New Roman" panose="02020603050405020304" pitchFamily="18" charset="0"/>
                <a:ea typeface="宋体" panose="02010600030101010101" pitchFamily="2" charset="-122"/>
                <a:sym typeface="+mn-ea"/>
              </a:rPr>
              <a:t>为达到这一目标所需时间</a:t>
            </a:r>
            <a:r>
              <a:rPr lang="en-US" altLang="zh-CN" sz="2400" i="1" err="1">
                <a:latin typeface="Times New Roman" panose="02020603050405020304" pitchFamily="18" charset="0"/>
                <a:ea typeface="宋体" panose="02010600030101010101" pitchFamily="2" charset="-122"/>
                <a:sym typeface="+mn-ea"/>
              </a:rPr>
              <a:t>T</a:t>
            </a:r>
            <a:r>
              <a:rPr lang="en-US" altLang="zh-CN" sz="2400" i="1" baseline="-25000" err="1">
                <a:latin typeface="Times New Roman" panose="02020603050405020304" pitchFamily="18" charset="0"/>
                <a:ea typeface="宋体" panose="02010600030101010101" pitchFamily="2" charset="-122"/>
                <a:sym typeface="+mn-ea"/>
              </a:rPr>
              <a:t>f</a:t>
            </a:r>
            <a:r>
              <a:rPr lang="zh-CN" altLang="en-US" sz="2400" dirty="0">
                <a:latin typeface="Times New Roman" panose="02020603050405020304" pitchFamily="18" charset="0"/>
                <a:ea typeface="宋体" panose="02010600030101010101" pitchFamily="2" charset="-122"/>
                <a:sym typeface="+mn-ea"/>
              </a:rPr>
              <a:t>为：</a:t>
            </a:r>
            <a:endParaRPr lang="zh-CN" altLang="en-US" sz="2400" dirty="0">
              <a:latin typeface="Times New Roman" panose="02020603050405020304" pitchFamily="18" charset="0"/>
              <a:ea typeface="宋体" panose="02010600030101010101" pitchFamily="2" charset="-122"/>
              <a:sym typeface="+mn-ea"/>
            </a:endParaRPr>
          </a:p>
        </p:txBody>
      </p:sp>
      <p:grpSp>
        <p:nvGrpSpPr>
          <p:cNvPr id="147479" name="组合 147478"/>
          <p:cNvGrpSpPr/>
          <p:nvPr/>
        </p:nvGrpSpPr>
        <p:grpSpPr>
          <a:xfrm>
            <a:off x="6595428" y="1428115"/>
            <a:ext cx="4470400" cy="5048251"/>
            <a:chOff x="3423" y="210"/>
            <a:chExt cx="2816" cy="3180"/>
          </a:xfrm>
        </p:grpSpPr>
        <p:sp>
          <p:nvSpPr>
            <p:cNvPr id="147466" name="直接连接符 147465"/>
            <p:cNvSpPr/>
            <p:nvPr>
              <p:custDataLst>
                <p:tags r:id="rId1"/>
              </p:custDataLst>
            </p:nvPr>
          </p:nvSpPr>
          <p:spPr>
            <a:xfrm flipV="1">
              <a:off x="3423" y="799"/>
              <a:ext cx="0" cy="2314"/>
            </a:xfrm>
            <a:prstGeom prst="line">
              <a:avLst/>
            </a:prstGeom>
            <a:ln w="9525" cap="flat" cmpd="sng">
              <a:solidFill>
                <a:schemeClr val="tx1"/>
              </a:solidFill>
              <a:prstDash val="solid"/>
              <a:headEnd type="none" w="med" len="med"/>
              <a:tailEnd type="triangle" w="med" len="med"/>
            </a:ln>
          </p:spPr>
        </p:sp>
        <p:sp>
          <p:nvSpPr>
            <p:cNvPr id="147467" name="直接连接符 147466"/>
            <p:cNvSpPr/>
            <p:nvPr>
              <p:custDataLst>
                <p:tags r:id="rId2"/>
              </p:custDataLst>
            </p:nvPr>
          </p:nvSpPr>
          <p:spPr>
            <a:xfrm>
              <a:off x="3423" y="3113"/>
              <a:ext cx="2495" cy="0"/>
            </a:xfrm>
            <a:prstGeom prst="line">
              <a:avLst/>
            </a:prstGeom>
            <a:ln w="9525" cap="flat" cmpd="sng">
              <a:solidFill>
                <a:schemeClr val="tx1"/>
              </a:solidFill>
              <a:prstDash val="solid"/>
              <a:headEnd type="none" w="med" len="med"/>
              <a:tailEnd type="triangle" w="med" len="med"/>
            </a:ln>
          </p:spPr>
        </p:sp>
        <p:sp>
          <p:nvSpPr>
            <p:cNvPr id="147468" name="任意多边形 147467"/>
            <p:cNvSpPr/>
            <p:nvPr>
              <p:custDataLst>
                <p:tags r:id="rId3"/>
              </p:custDataLst>
            </p:nvPr>
          </p:nvSpPr>
          <p:spPr>
            <a:xfrm>
              <a:off x="3423" y="890"/>
              <a:ext cx="2495" cy="2223"/>
            </a:xfrm>
            <a:custGeom>
              <a:avLst/>
              <a:gdLst/>
              <a:ahLst/>
              <a:cxnLst/>
              <a:pathLst>
                <a:path w="2268" h="1633">
                  <a:moveTo>
                    <a:pt x="0" y="1633"/>
                  </a:moveTo>
                  <a:cubicBezTo>
                    <a:pt x="132" y="1255"/>
                    <a:pt x="264" y="877"/>
                    <a:pt x="408" y="635"/>
                  </a:cubicBezTo>
                  <a:cubicBezTo>
                    <a:pt x="552" y="393"/>
                    <a:pt x="552" y="287"/>
                    <a:pt x="862" y="181"/>
                  </a:cubicBezTo>
                  <a:cubicBezTo>
                    <a:pt x="1172" y="75"/>
                    <a:pt x="1720" y="37"/>
                    <a:pt x="2268" y="0"/>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147469" name="直接连接符 147468"/>
            <p:cNvSpPr/>
            <p:nvPr>
              <p:custDataLst>
                <p:tags r:id="rId4"/>
              </p:custDataLst>
            </p:nvPr>
          </p:nvSpPr>
          <p:spPr>
            <a:xfrm>
              <a:off x="4421" y="1117"/>
              <a:ext cx="0" cy="1996"/>
            </a:xfrm>
            <a:prstGeom prst="line">
              <a:avLst/>
            </a:prstGeom>
            <a:ln w="9525" cap="flat" cmpd="sng">
              <a:solidFill>
                <a:schemeClr val="tx1"/>
              </a:solidFill>
              <a:prstDash val="lgDash"/>
              <a:headEnd type="none" w="med" len="med"/>
              <a:tailEnd type="none" w="med" len="med"/>
            </a:ln>
          </p:spPr>
        </p:sp>
        <p:sp>
          <p:nvSpPr>
            <p:cNvPr id="147470" name="直接连接符 147469"/>
            <p:cNvSpPr/>
            <p:nvPr>
              <p:custDataLst>
                <p:tags r:id="rId5"/>
              </p:custDataLst>
            </p:nvPr>
          </p:nvSpPr>
          <p:spPr>
            <a:xfrm>
              <a:off x="5691" y="935"/>
              <a:ext cx="0" cy="2178"/>
            </a:xfrm>
            <a:prstGeom prst="line">
              <a:avLst/>
            </a:prstGeom>
            <a:ln w="9525" cap="flat" cmpd="sng">
              <a:solidFill>
                <a:schemeClr val="tx1"/>
              </a:solidFill>
              <a:prstDash val="lgDash"/>
              <a:headEnd type="none" w="med" len="med"/>
              <a:tailEnd type="none" w="med" len="med"/>
            </a:ln>
          </p:spPr>
        </p:sp>
        <p:sp>
          <p:nvSpPr>
            <p:cNvPr id="147471" name="直接连接符 147470"/>
            <p:cNvSpPr/>
            <p:nvPr>
              <p:custDataLst>
                <p:tags r:id="rId6"/>
              </p:custDataLst>
            </p:nvPr>
          </p:nvSpPr>
          <p:spPr>
            <a:xfrm>
              <a:off x="4421" y="1117"/>
              <a:ext cx="1270" cy="0"/>
            </a:xfrm>
            <a:prstGeom prst="line">
              <a:avLst/>
            </a:prstGeom>
            <a:ln w="9525" cap="flat" cmpd="sng">
              <a:solidFill>
                <a:schemeClr val="tx1"/>
              </a:solidFill>
              <a:prstDash val="dash"/>
              <a:headEnd type="none" w="med" len="med"/>
              <a:tailEnd type="none" w="med" len="med"/>
            </a:ln>
          </p:spPr>
        </p:sp>
        <p:sp>
          <p:nvSpPr>
            <p:cNvPr id="147472" name="文本框 147471"/>
            <p:cNvSpPr txBox="1"/>
            <p:nvPr>
              <p:custDataLst>
                <p:tags r:id="rId7"/>
              </p:custDataLst>
            </p:nvPr>
          </p:nvSpPr>
          <p:spPr>
            <a:xfrm>
              <a:off x="4073" y="1752"/>
              <a:ext cx="691" cy="581"/>
            </a:xfrm>
            <a:prstGeom prst="rect">
              <a:avLst/>
            </a:prstGeom>
            <a:solidFill>
              <a:schemeClr val="accent1"/>
            </a:solidFill>
            <a:ln w="9525">
              <a:noFill/>
            </a:ln>
          </p:spPr>
          <p:txBody>
            <a:bodyPr wrap="none" anchor="t" anchorCtr="0">
              <a:spAutoFit/>
            </a:bodyPr>
            <a:p>
              <a:pPr eaLnBrk="1" hangingPunct="1"/>
              <a:r>
                <a:rPr lang="zh-CN" altLang="en-US" dirty="0">
                  <a:solidFill>
                    <a:schemeClr val="bg1"/>
                  </a:solidFill>
                  <a:latin typeface="Basemic Times" pitchFamily="2" charset="0"/>
                  <a:ea typeface="宋体" panose="02010600030101010101" pitchFamily="2" charset="-122"/>
                </a:rPr>
                <a:t>当前已检</a:t>
              </a:r>
              <a:endParaRPr lang="zh-CN" altLang="en-US" dirty="0">
                <a:solidFill>
                  <a:schemeClr val="bg1"/>
                </a:solidFill>
                <a:latin typeface="Basemic Times" pitchFamily="2" charset="0"/>
                <a:ea typeface="宋体" panose="02010600030101010101" pitchFamily="2" charset="-122"/>
              </a:endParaRPr>
            </a:p>
            <a:p>
              <a:pPr eaLnBrk="1" hangingPunct="1"/>
              <a:r>
                <a:rPr lang="zh-CN" altLang="en-US" dirty="0">
                  <a:solidFill>
                    <a:schemeClr val="bg1"/>
                  </a:solidFill>
                  <a:latin typeface="Basemic Times" pitchFamily="2" charset="0"/>
                  <a:ea typeface="宋体" panose="02010600030101010101" pitchFamily="2" charset="-122"/>
                </a:rPr>
                <a:t>测出的累</a:t>
              </a:r>
              <a:endParaRPr lang="zh-CN" altLang="en-US" dirty="0">
                <a:solidFill>
                  <a:schemeClr val="bg1"/>
                </a:solidFill>
                <a:latin typeface="Basemic Times" pitchFamily="2" charset="0"/>
                <a:ea typeface="宋体" panose="02010600030101010101" pitchFamily="2" charset="-122"/>
              </a:endParaRPr>
            </a:p>
            <a:p>
              <a:pPr eaLnBrk="1" hangingPunct="1"/>
              <a:r>
                <a:rPr lang="zh-CN" altLang="en-US" dirty="0">
                  <a:solidFill>
                    <a:schemeClr val="bg1"/>
                  </a:solidFill>
                  <a:latin typeface="Basemic Times" pitchFamily="2" charset="0"/>
                  <a:ea typeface="宋体" panose="02010600030101010101" pitchFamily="2" charset="-122"/>
                </a:rPr>
                <a:t>积缺陷数</a:t>
              </a:r>
              <a:endParaRPr lang="zh-CN" altLang="en-US" dirty="0">
                <a:solidFill>
                  <a:schemeClr val="bg1"/>
                </a:solidFill>
                <a:latin typeface="Basemic Times" pitchFamily="2" charset="0"/>
                <a:ea typeface="宋体" panose="02010600030101010101" pitchFamily="2" charset="-122"/>
              </a:endParaRPr>
            </a:p>
          </p:txBody>
        </p:sp>
        <p:sp>
          <p:nvSpPr>
            <p:cNvPr id="147473" name="文本框 147472"/>
            <p:cNvSpPr txBox="1"/>
            <p:nvPr>
              <p:custDataLst>
                <p:tags r:id="rId8"/>
              </p:custDataLst>
            </p:nvPr>
          </p:nvSpPr>
          <p:spPr>
            <a:xfrm>
              <a:off x="5116" y="1706"/>
              <a:ext cx="1123" cy="755"/>
            </a:xfrm>
            <a:prstGeom prst="rect">
              <a:avLst/>
            </a:prstGeom>
            <a:solidFill>
              <a:schemeClr val="accent1"/>
            </a:solidFill>
            <a:ln w="9525">
              <a:noFill/>
            </a:ln>
          </p:spPr>
          <p:txBody>
            <a:bodyPr wrap="none" anchor="t" anchorCtr="0">
              <a:spAutoFit/>
            </a:bodyPr>
            <a:p>
              <a:pPr eaLnBrk="1" hangingPunct="1"/>
              <a:r>
                <a:rPr lang="zh-CN" altLang="en-US" dirty="0">
                  <a:solidFill>
                    <a:schemeClr val="bg1"/>
                  </a:solidFill>
                  <a:latin typeface="Basemic Times" pitchFamily="2" charset="0"/>
                  <a:ea typeface="宋体" panose="02010600030101010101" pitchFamily="2" charset="-122"/>
                </a:rPr>
                <a:t>为达到故障率目</a:t>
              </a:r>
              <a:endParaRPr lang="zh-CN" altLang="en-US" dirty="0">
                <a:solidFill>
                  <a:schemeClr val="bg1"/>
                </a:solidFill>
                <a:latin typeface="Basemic Times" pitchFamily="2" charset="0"/>
                <a:ea typeface="宋体" panose="02010600030101010101" pitchFamily="2" charset="-122"/>
              </a:endParaRPr>
            </a:p>
            <a:p>
              <a:pPr eaLnBrk="1" hangingPunct="1"/>
              <a:r>
                <a:rPr lang="zh-CN" altLang="en-US" dirty="0">
                  <a:solidFill>
                    <a:schemeClr val="bg1"/>
                  </a:solidFill>
                  <a:latin typeface="Basemic Times" pitchFamily="2" charset="0"/>
                  <a:ea typeface="宋体" panose="02010600030101010101" pitchFamily="2" charset="-122"/>
                </a:rPr>
                <a:t>标或</a:t>
              </a:r>
              <a:r>
                <a:rPr lang="en-US" altLang="zh-CN">
                  <a:solidFill>
                    <a:schemeClr val="bg1"/>
                  </a:solidFill>
                  <a:latin typeface="Basemic Times" pitchFamily="2" charset="0"/>
                  <a:ea typeface="宋体" panose="02010600030101010101" pitchFamily="2" charset="-122"/>
                </a:rPr>
                <a:t>MTTF</a:t>
              </a:r>
              <a:r>
                <a:rPr lang="zh-CN" altLang="en-US" dirty="0">
                  <a:solidFill>
                    <a:schemeClr val="bg1"/>
                  </a:solidFill>
                  <a:latin typeface="Basemic Times" pitchFamily="2" charset="0"/>
                  <a:ea typeface="宋体" panose="02010600030101010101" pitchFamily="2" charset="-122"/>
                </a:rPr>
                <a:t>目标</a:t>
              </a:r>
              <a:endParaRPr lang="zh-CN" altLang="en-US" dirty="0">
                <a:solidFill>
                  <a:schemeClr val="bg1"/>
                </a:solidFill>
                <a:latin typeface="Basemic Times" pitchFamily="2" charset="0"/>
                <a:ea typeface="宋体" panose="02010600030101010101" pitchFamily="2" charset="-122"/>
              </a:endParaRPr>
            </a:p>
            <a:p>
              <a:pPr eaLnBrk="1" hangingPunct="1"/>
              <a:r>
                <a:rPr lang="zh-CN" altLang="en-US" dirty="0">
                  <a:solidFill>
                    <a:schemeClr val="bg1"/>
                  </a:solidFill>
                  <a:latin typeface="Basemic Times" pitchFamily="2" charset="0"/>
                  <a:ea typeface="宋体" panose="02010600030101010101" pitchFamily="2" charset="-122"/>
                </a:rPr>
                <a:t>必须要检出的累</a:t>
              </a:r>
              <a:endParaRPr lang="zh-CN" altLang="en-US" dirty="0">
                <a:solidFill>
                  <a:schemeClr val="bg1"/>
                </a:solidFill>
                <a:latin typeface="Basemic Times" pitchFamily="2" charset="0"/>
                <a:ea typeface="宋体" panose="02010600030101010101" pitchFamily="2" charset="-122"/>
              </a:endParaRPr>
            </a:p>
            <a:p>
              <a:pPr eaLnBrk="1" hangingPunct="1"/>
              <a:r>
                <a:rPr lang="zh-CN" altLang="en-US" dirty="0">
                  <a:solidFill>
                    <a:schemeClr val="bg1"/>
                  </a:solidFill>
                  <a:latin typeface="Basemic Times" pitchFamily="2" charset="0"/>
                  <a:ea typeface="宋体" panose="02010600030101010101" pitchFamily="2" charset="-122"/>
                </a:rPr>
                <a:t>计缺陷数</a:t>
              </a:r>
              <a:endParaRPr lang="zh-CN" altLang="en-US" dirty="0">
                <a:solidFill>
                  <a:schemeClr val="bg1"/>
                </a:solidFill>
                <a:latin typeface="Basemic Times" pitchFamily="2" charset="0"/>
                <a:ea typeface="宋体" panose="02010600030101010101" pitchFamily="2" charset="-122"/>
              </a:endParaRPr>
            </a:p>
          </p:txBody>
        </p:sp>
        <p:sp>
          <p:nvSpPr>
            <p:cNvPr id="147474" name="文本框 147473"/>
            <p:cNvSpPr txBox="1"/>
            <p:nvPr>
              <p:custDataLst>
                <p:tags r:id="rId9"/>
              </p:custDataLst>
            </p:nvPr>
          </p:nvSpPr>
          <p:spPr>
            <a:xfrm>
              <a:off x="4254" y="210"/>
              <a:ext cx="862" cy="581"/>
            </a:xfrm>
            <a:prstGeom prst="rect">
              <a:avLst/>
            </a:prstGeom>
            <a:solidFill>
              <a:schemeClr val="accent1"/>
            </a:solidFill>
            <a:ln w="9525">
              <a:noFill/>
            </a:ln>
          </p:spPr>
          <p:txBody>
            <a:bodyPr>
              <a:spAutoFit/>
            </a:bodyPr>
            <a:p>
              <a:pPr eaLnBrk="1" hangingPunct="1"/>
              <a:r>
                <a:rPr lang="zh-CN" altLang="en-US" dirty="0">
                  <a:solidFill>
                    <a:schemeClr val="bg1"/>
                  </a:solidFill>
                  <a:latin typeface="Basemic Times" pitchFamily="2" charset="0"/>
                  <a:ea typeface="宋体" panose="02010600030101010101" pitchFamily="2" charset="-122"/>
                </a:rPr>
                <a:t>为达到目标还需检测出的缺陷数</a:t>
              </a:r>
              <a:endParaRPr lang="zh-CN" altLang="en-US" dirty="0">
                <a:solidFill>
                  <a:schemeClr val="bg1"/>
                </a:solidFill>
                <a:latin typeface="Basemic Times" pitchFamily="2" charset="0"/>
                <a:ea typeface="宋体" panose="02010600030101010101" pitchFamily="2" charset="-122"/>
              </a:endParaRPr>
            </a:p>
          </p:txBody>
        </p:sp>
        <p:sp>
          <p:nvSpPr>
            <p:cNvPr id="147475" name="直接连接符 147474"/>
            <p:cNvSpPr/>
            <p:nvPr>
              <p:custDataLst>
                <p:tags r:id="rId10"/>
              </p:custDataLst>
            </p:nvPr>
          </p:nvSpPr>
          <p:spPr>
            <a:xfrm>
              <a:off x="5161" y="799"/>
              <a:ext cx="499" cy="227"/>
            </a:xfrm>
            <a:prstGeom prst="line">
              <a:avLst/>
            </a:prstGeom>
            <a:ln w="9525" cap="flat" cmpd="sng">
              <a:solidFill>
                <a:schemeClr val="tx1"/>
              </a:solidFill>
              <a:prstDash val="solid"/>
              <a:headEnd type="none" w="med" len="med"/>
              <a:tailEnd type="triangle" w="med" len="med"/>
            </a:ln>
          </p:spPr>
        </p:sp>
        <p:sp>
          <p:nvSpPr>
            <p:cNvPr id="147476" name="文本框 147475"/>
            <p:cNvSpPr txBox="1"/>
            <p:nvPr>
              <p:custDataLst>
                <p:tags r:id="rId11"/>
              </p:custDataLst>
            </p:nvPr>
          </p:nvSpPr>
          <p:spPr>
            <a:xfrm>
              <a:off x="4662" y="1117"/>
              <a:ext cx="835" cy="406"/>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为达到目标</a:t>
              </a:r>
              <a:endParaRPr lang="zh-CN" altLang="en-US" dirty="0">
                <a:latin typeface="Basemic Times" pitchFamily="2" charset="0"/>
                <a:ea typeface="宋体" panose="02010600030101010101" pitchFamily="2" charset="-122"/>
              </a:endParaRPr>
            </a:p>
            <a:p>
              <a:pPr eaLnBrk="1" hangingPunct="1"/>
              <a:r>
                <a:rPr lang="zh-CN" altLang="en-US" dirty="0">
                  <a:latin typeface="Basemic Times" pitchFamily="2" charset="0"/>
                  <a:ea typeface="宋体" panose="02010600030101010101" pitchFamily="2" charset="-122"/>
                </a:rPr>
                <a:t>需要的时间</a:t>
              </a:r>
              <a:endParaRPr lang="en-US" altLang="zh-CN">
                <a:latin typeface="Basemic Times" pitchFamily="2" charset="0"/>
                <a:ea typeface="宋体" panose="02010600030101010101" pitchFamily="2" charset="-122"/>
              </a:endParaRPr>
            </a:p>
          </p:txBody>
        </p:sp>
        <p:sp>
          <p:nvSpPr>
            <p:cNvPr id="147477" name="文本框 147476"/>
            <p:cNvSpPr txBox="1"/>
            <p:nvPr>
              <p:custDataLst>
                <p:tags r:id="rId12"/>
              </p:custDataLst>
            </p:nvPr>
          </p:nvSpPr>
          <p:spPr>
            <a:xfrm>
              <a:off x="5161" y="3158"/>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测试时间</a:t>
              </a:r>
              <a:endParaRPr lang="en-US" altLang="zh-CN">
                <a:latin typeface="Basemic Times" pitchFamily="2" charset="0"/>
                <a:ea typeface="宋体" panose="02010600030101010101" pitchFamily="2" charset="-122"/>
              </a:endParaRPr>
            </a:p>
          </p:txBody>
        </p:sp>
        <p:sp>
          <p:nvSpPr>
            <p:cNvPr id="147478" name="文本框 147477"/>
            <p:cNvSpPr txBox="1"/>
            <p:nvPr>
              <p:custDataLst>
                <p:tags r:id="rId13"/>
              </p:custDataLst>
            </p:nvPr>
          </p:nvSpPr>
          <p:spPr>
            <a:xfrm>
              <a:off x="3438" y="709"/>
              <a:ext cx="547" cy="581"/>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已检出</a:t>
              </a:r>
              <a:endParaRPr lang="zh-CN" altLang="en-US" dirty="0">
                <a:latin typeface="Basemic Times" pitchFamily="2" charset="0"/>
                <a:ea typeface="宋体" panose="02010600030101010101" pitchFamily="2" charset="-122"/>
              </a:endParaRPr>
            </a:p>
            <a:p>
              <a:pPr eaLnBrk="1" hangingPunct="1"/>
              <a:r>
                <a:rPr lang="zh-CN" altLang="en-US" dirty="0">
                  <a:latin typeface="Basemic Times" pitchFamily="2" charset="0"/>
                  <a:ea typeface="宋体" panose="02010600030101010101" pitchFamily="2" charset="-122"/>
                </a:rPr>
                <a:t>的累计</a:t>
              </a:r>
              <a:endParaRPr lang="zh-CN" altLang="en-US" dirty="0">
                <a:latin typeface="Basemic Times" pitchFamily="2" charset="0"/>
                <a:ea typeface="宋体" panose="02010600030101010101" pitchFamily="2" charset="-122"/>
              </a:endParaRPr>
            </a:p>
            <a:p>
              <a:pPr eaLnBrk="1" hangingPunct="1"/>
              <a:r>
                <a:rPr lang="zh-CN" altLang="en-US" dirty="0">
                  <a:latin typeface="Basemic Times" pitchFamily="2" charset="0"/>
                  <a:ea typeface="宋体" panose="02010600030101010101" pitchFamily="2" charset="-122"/>
                </a:rPr>
                <a:t>缺陷数</a:t>
              </a:r>
              <a:endParaRPr lang="zh-CN" altLang="en-US" dirty="0">
                <a:latin typeface="Basemic Times" pitchFamily="2" charset="0"/>
                <a:ea typeface="宋体" panose="02010600030101010101" pitchFamily="2" charset="-122"/>
              </a:endParaRPr>
            </a:p>
          </p:txBody>
        </p:sp>
      </p:grpSp>
      <p:graphicFrame>
        <p:nvGraphicFramePr>
          <p:cNvPr id="147460" name="内容占位符 147459"/>
          <p:cNvGraphicFramePr/>
          <p:nvPr>
            <p:ph sz="quarter" idx="2"/>
            <p:custDataLst>
              <p:tags r:id="rId14"/>
            </p:custDataLst>
          </p:nvPr>
        </p:nvGraphicFramePr>
        <p:xfrm>
          <a:off x="3449955" y="4012565"/>
          <a:ext cx="2228850" cy="958850"/>
        </p:xfrm>
        <a:graphic>
          <a:graphicData uri="http://schemas.openxmlformats.org/presentationml/2006/ole">
            <mc:AlternateContent xmlns:mc="http://schemas.openxmlformats.org/markup-compatibility/2006">
              <mc:Choice xmlns:v="urn:schemas-microsoft-com:vml" Requires="v">
                <p:oleObj spid="_x0000_s3086" name="" r:id="rId15" imgW="1053465" imgH="444500" progId="Equation.3">
                  <p:embed/>
                </p:oleObj>
              </mc:Choice>
              <mc:Fallback>
                <p:oleObj name="" r:id="rId15" imgW="1053465" imgH="444500" progId="Equation.3">
                  <p:embed/>
                  <p:pic>
                    <p:nvPicPr>
                      <p:cNvPr id="0" name="图片 3085"/>
                      <p:cNvPicPr/>
                      <p:nvPr/>
                    </p:nvPicPr>
                    <p:blipFill>
                      <a:blip r:embed="rId16"/>
                      <a:stretch>
                        <a:fillRect/>
                      </a:stretch>
                    </p:blipFill>
                    <p:spPr>
                      <a:xfrm>
                        <a:off x="3449955" y="4012565"/>
                        <a:ext cx="2228850" cy="958850"/>
                      </a:xfrm>
                      <a:prstGeom prst="rect">
                        <a:avLst/>
                      </a:prstGeom>
                      <a:noFill/>
                      <a:ln w="38100">
                        <a:miter/>
                      </a:ln>
                    </p:spPr>
                  </p:pic>
                </p:oleObj>
              </mc:Fallback>
            </mc:AlternateContent>
          </a:graphicData>
        </a:graphic>
      </p:graphicFrame>
      <p:graphicFrame>
        <p:nvGraphicFramePr>
          <p:cNvPr id="147463" name="内容占位符 147462"/>
          <p:cNvGraphicFramePr/>
          <p:nvPr>
            <p:ph sz="quarter" idx="3"/>
            <p:custDataLst>
              <p:tags r:id="rId17"/>
            </p:custDataLst>
          </p:nvPr>
        </p:nvGraphicFramePr>
        <p:xfrm>
          <a:off x="2441575" y="5408930"/>
          <a:ext cx="1882775" cy="1039813"/>
        </p:xfrm>
        <a:graphic>
          <a:graphicData uri="http://schemas.openxmlformats.org/presentationml/2006/ole">
            <mc:AlternateContent xmlns:mc="http://schemas.openxmlformats.org/markup-compatibility/2006">
              <mc:Choice xmlns:v="urn:schemas-microsoft-com:vml" Requires="v">
                <p:oleObj spid="_x0000_s3087" name="" r:id="rId18" imgW="824865" imgH="444500" progId="Equation.3">
                  <p:embed/>
                </p:oleObj>
              </mc:Choice>
              <mc:Fallback>
                <p:oleObj name="" r:id="rId18" imgW="824865" imgH="444500" progId="Equation.3">
                  <p:embed/>
                  <p:pic>
                    <p:nvPicPr>
                      <p:cNvPr id="0" name="图片 3086"/>
                      <p:cNvPicPr/>
                      <p:nvPr/>
                    </p:nvPicPr>
                    <p:blipFill>
                      <a:blip r:embed="rId19"/>
                      <a:stretch>
                        <a:fillRect/>
                      </a:stretch>
                    </p:blipFill>
                    <p:spPr>
                      <a:xfrm>
                        <a:off x="2441575" y="5408930"/>
                        <a:ext cx="1882775" cy="1039813"/>
                      </a:xfrm>
                      <a:prstGeom prst="rect">
                        <a:avLst/>
                      </a:prstGeom>
                      <a:noFill/>
                      <a:ln w="38100">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6.4 软件</a:t>
            </a:r>
            <a:r>
              <a:rPr lang="zh-CN" altLang="en-US">
                <a:solidFill>
                  <a:srgbClr val="C00000"/>
                </a:solidFill>
                <a:sym typeface="+mn-ea"/>
              </a:rPr>
              <a:t>可靠性模型及应用：</a:t>
            </a:r>
            <a:r>
              <a:rPr lang="zh-CN" altLang="en-US" b="1">
                <a:solidFill>
                  <a:srgbClr val="C00000"/>
                </a:solidFill>
                <a:ea typeface="宋体" panose="02010600030101010101" pitchFamily="2" charset="-122"/>
                <a:sym typeface="+mn-ea"/>
              </a:rPr>
              <a:t>对数</a:t>
            </a:r>
            <a:r>
              <a:rPr lang="zh-CN" altLang="en-US" b="1" dirty="0">
                <a:solidFill>
                  <a:srgbClr val="C00000"/>
                </a:solidFill>
                <a:ea typeface="宋体" panose="02010600030101010101" pitchFamily="2" charset="-122"/>
                <a:sym typeface="+mn-ea"/>
              </a:rPr>
              <a:t>模型</a:t>
            </a:r>
            <a:endParaRPr lang="zh-CN" altLang="en-US"/>
          </a:p>
        </p:txBody>
      </p:sp>
      <p:sp>
        <p:nvSpPr>
          <p:cNvPr id="3" name="内容占位符 2"/>
          <p:cNvSpPr>
            <a:spLocks noGrp="1"/>
          </p:cNvSpPr>
          <p:nvPr>
            <p:ph idx="1"/>
          </p:nvPr>
        </p:nvSpPr>
        <p:spPr>
          <a:xfrm>
            <a:off x="838200" y="1538605"/>
            <a:ext cx="4305300" cy="4638675"/>
          </a:xfrm>
        </p:spPr>
        <p:txBody>
          <a:bodyPr/>
          <a:p>
            <a:r>
              <a:rPr lang="zh-CN" altLang="en-US"/>
              <a:t>对数模型假设：</a:t>
            </a:r>
            <a:endParaRPr lang="en-US" altLang="zh-CN"/>
          </a:p>
          <a:p>
            <a:pPr marL="742950" lvl="3" indent="-514350">
              <a:buFont typeface="+mj-ea"/>
              <a:buAutoNum type="circleNumDbPlain"/>
            </a:pPr>
            <a:r>
              <a:rPr lang="zh-CN" altLang="en-US" sz="2520" dirty="0">
                <a:latin typeface="Times New Roman" panose="02020603050405020304" pitchFamily="18" charset="0"/>
                <a:ea typeface="宋体" panose="02010600030101010101" pitchFamily="2" charset="-122"/>
                <a:sym typeface="+mn-ea"/>
              </a:rPr>
              <a:t>每个缺陷对故障率的贡献不同；</a:t>
            </a:r>
            <a:endParaRPr lang="zh-CN" altLang="en-US" sz="2520" dirty="0">
              <a:latin typeface="Times New Roman" panose="02020603050405020304" pitchFamily="18" charset="0"/>
              <a:ea typeface="宋体" panose="02010600030101010101" pitchFamily="2" charset="-122"/>
              <a:sym typeface="+mn-ea"/>
            </a:endParaRPr>
          </a:p>
          <a:p>
            <a:pPr marL="742950" lvl="3" indent="-514350">
              <a:buFont typeface="+mj-ea"/>
              <a:buAutoNum type="circleNumDbPlain"/>
            </a:pPr>
            <a:r>
              <a:rPr lang="zh-CN" altLang="en-US" sz="2520" dirty="0">
                <a:latin typeface="Times New Roman" panose="02020603050405020304" pitchFamily="18" charset="0"/>
                <a:ea typeface="宋体" panose="02010600030101010101" pitchFamily="2" charset="-122"/>
                <a:sym typeface="+mn-ea"/>
              </a:rPr>
              <a:t>常用的功能的缺陷可及早被检出，故障率的变化随时间减少；</a:t>
            </a:r>
            <a:endParaRPr lang="en-US" altLang="zh-CN" sz="2520" dirty="0">
              <a:latin typeface="Times New Roman" panose="02020603050405020304" pitchFamily="18" charset="0"/>
              <a:ea typeface="宋体" panose="02010600030101010101" pitchFamily="2" charset="-122"/>
              <a:sym typeface="+mn-ea"/>
            </a:endParaRPr>
          </a:p>
          <a:p>
            <a:pPr marL="742950" lvl="3" indent="-514350">
              <a:buFont typeface="+mj-ea"/>
              <a:buAutoNum type="circleNumDbPlain"/>
            </a:pPr>
            <a:r>
              <a:rPr lang="zh-CN" altLang="en-US" sz="2520" dirty="0">
                <a:latin typeface="Times New Roman" panose="02020603050405020304" pitchFamily="18" charset="0"/>
                <a:ea typeface="宋体" panose="02010600030101010101" pitchFamily="2" charset="-122"/>
                <a:sym typeface="+mn-ea"/>
              </a:rPr>
              <a:t>软件固有的故障总数是无限的</a:t>
            </a:r>
            <a:endParaRPr lang="zh-CN" altLang="en-US" sz="2520" dirty="0">
              <a:latin typeface="Times New Roman" panose="02020603050405020304" pitchFamily="18" charset="0"/>
              <a:ea typeface="宋体" panose="02010600030101010101" pitchFamily="2" charset="-122"/>
            </a:endParaRPr>
          </a:p>
          <a:p>
            <a:endParaRPr lang="en-US" altLang="zh-CN"/>
          </a:p>
        </p:txBody>
      </p:sp>
      <p:sp>
        <p:nvSpPr>
          <p:cNvPr id="4" name="文本框 3"/>
          <p:cNvSpPr txBox="1"/>
          <p:nvPr/>
        </p:nvSpPr>
        <p:spPr>
          <a:xfrm>
            <a:off x="7513955" y="1776095"/>
            <a:ext cx="2195195" cy="460375"/>
          </a:xfrm>
          <a:prstGeom prst="rect">
            <a:avLst/>
          </a:prstGeom>
          <a:noFill/>
        </p:spPr>
        <p:txBody>
          <a:bodyPr wrap="square" rtlCol="0" anchor="t">
            <a:spAutoFit/>
          </a:bodyPr>
          <a:p>
            <a:r>
              <a:rPr lang="zh-CN" altLang="en-US" sz="2400" dirty="0">
                <a:latin typeface="Times New Roman" panose="02020603050405020304" pitchFamily="18" charset="0"/>
                <a:ea typeface="宋体" panose="02010600030101010101" pitchFamily="2" charset="-122"/>
                <a:sym typeface="+mn-ea"/>
              </a:rPr>
              <a:t>对数模型：</a:t>
            </a:r>
            <a:endParaRPr lang="zh-CN" altLang="en-US" sz="2400" dirty="0">
              <a:latin typeface="Times New Roman" panose="02020603050405020304" pitchFamily="18" charset="0"/>
              <a:ea typeface="宋体" panose="02010600030101010101" pitchFamily="2" charset="-122"/>
              <a:sym typeface="+mn-ea"/>
            </a:endParaRPr>
          </a:p>
        </p:txBody>
      </p:sp>
      <p:graphicFrame>
        <p:nvGraphicFramePr>
          <p:cNvPr id="150532" name="内容占位符 150531"/>
          <p:cNvGraphicFramePr/>
          <p:nvPr>
            <p:ph sz="quarter" idx="2"/>
            <p:custDataLst>
              <p:tags r:id="rId1"/>
            </p:custDataLst>
          </p:nvPr>
        </p:nvGraphicFramePr>
        <p:xfrm>
          <a:off x="7194550" y="2307273"/>
          <a:ext cx="2298700" cy="1192212"/>
        </p:xfrm>
        <a:graphic>
          <a:graphicData uri="http://schemas.openxmlformats.org/presentationml/2006/ole">
            <mc:AlternateContent xmlns:mc="http://schemas.openxmlformats.org/markup-compatibility/2006">
              <mc:Choice xmlns:v="urn:schemas-microsoft-com:vml" Requires="v">
                <p:oleObj spid="_x0000_s3089" name="" r:id="rId2" imgW="850265" imgH="431800" progId="Equation.3">
                  <p:embed/>
                </p:oleObj>
              </mc:Choice>
              <mc:Fallback>
                <p:oleObj name="" r:id="rId2" imgW="850265" imgH="431800" progId="Equation.3">
                  <p:embed/>
                  <p:pic>
                    <p:nvPicPr>
                      <p:cNvPr id="0" name="图片 3088"/>
                      <p:cNvPicPr/>
                      <p:nvPr/>
                    </p:nvPicPr>
                    <p:blipFill>
                      <a:blip r:embed="rId3"/>
                      <a:stretch>
                        <a:fillRect/>
                      </a:stretch>
                    </p:blipFill>
                    <p:spPr>
                      <a:xfrm>
                        <a:off x="7194550" y="2307273"/>
                        <a:ext cx="2298700" cy="1192212"/>
                      </a:xfrm>
                      <a:prstGeom prst="rect">
                        <a:avLst/>
                      </a:prstGeom>
                      <a:noFill/>
                      <a:ln w="38100">
                        <a:miter/>
                      </a:ln>
                    </p:spPr>
                  </p:pic>
                </p:oleObj>
              </mc:Fallback>
            </mc:AlternateContent>
          </a:graphicData>
        </a:graphic>
      </p:graphicFrame>
      <p:graphicFrame>
        <p:nvGraphicFramePr>
          <p:cNvPr id="150535" name="内容占位符 150534"/>
          <p:cNvGraphicFramePr/>
          <p:nvPr>
            <p:ph sz="quarter" idx="3"/>
            <p:custDataLst>
              <p:tags r:id="rId4"/>
            </p:custDataLst>
          </p:nvPr>
        </p:nvGraphicFramePr>
        <p:xfrm>
          <a:off x="7481570" y="3499168"/>
          <a:ext cx="2227263" cy="955675"/>
        </p:xfrm>
        <a:graphic>
          <a:graphicData uri="http://schemas.openxmlformats.org/presentationml/2006/ole">
            <mc:AlternateContent xmlns:mc="http://schemas.openxmlformats.org/markup-compatibility/2006">
              <mc:Choice xmlns:v="urn:schemas-microsoft-com:vml" Requires="v">
                <p:oleObj spid="_x0000_s3088" name="" r:id="rId5" imgW="1053465" imgH="444500" progId="Equation.3">
                  <p:embed/>
                </p:oleObj>
              </mc:Choice>
              <mc:Fallback>
                <p:oleObj name="" r:id="rId5" imgW="1053465" imgH="444500" progId="Equation.3">
                  <p:embed/>
                  <p:pic>
                    <p:nvPicPr>
                      <p:cNvPr id="0" name="图片 3087"/>
                      <p:cNvPicPr/>
                      <p:nvPr/>
                    </p:nvPicPr>
                    <p:blipFill>
                      <a:blip r:embed="rId6"/>
                      <a:stretch>
                        <a:fillRect/>
                      </a:stretch>
                    </p:blipFill>
                    <p:spPr>
                      <a:xfrm>
                        <a:off x="7481570" y="3499168"/>
                        <a:ext cx="2227263" cy="955675"/>
                      </a:xfrm>
                      <a:prstGeom prst="rect">
                        <a:avLst/>
                      </a:prstGeom>
                      <a:noFill/>
                      <a:ln w="38100">
                        <a:miter/>
                      </a:ln>
                    </p:spPr>
                  </p:pic>
                </p:oleObj>
              </mc:Fallback>
            </mc:AlternateContent>
          </a:graphicData>
        </a:graphic>
      </p:graphicFrame>
      <p:graphicFrame>
        <p:nvGraphicFramePr>
          <p:cNvPr id="150538" name="对象 150537"/>
          <p:cNvGraphicFramePr/>
          <p:nvPr>
            <p:custDataLst>
              <p:tags r:id="rId7"/>
            </p:custDataLst>
          </p:nvPr>
        </p:nvGraphicFramePr>
        <p:xfrm>
          <a:off x="7483158" y="4796155"/>
          <a:ext cx="1943100" cy="1106488"/>
        </p:xfrm>
        <a:graphic>
          <a:graphicData uri="http://schemas.openxmlformats.org/presentationml/2006/ole">
            <mc:AlternateContent xmlns:mc="http://schemas.openxmlformats.org/markup-compatibility/2006">
              <mc:Choice xmlns:v="urn:schemas-microsoft-com:vml" Requires="v">
                <p:oleObj spid="_x0000_s3090" name="" r:id="rId8" imgW="825500" imgH="469900" progId="Equation.3">
                  <p:embed/>
                </p:oleObj>
              </mc:Choice>
              <mc:Fallback>
                <p:oleObj name="" r:id="rId8" imgW="825500" imgH="469900" progId="Equation.3">
                  <p:embed/>
                  <p:pic>
                    <p:nvPicPr>
                      <p:cNvPr id="0" name="图片 3089"/>
                      <p:cNvPicPr/>
                      <p:nvPr/>
                    </p:nvPicPr>
                    <p:blipFill>
                      <a:blip r:embed="rId9"/>
                      <a:stretch>
                        <a:fillRect/>
                      </a:stretch>
                    </p:blipFill>
                    <p:spPr>
                      <a:xfrm>
                        <a:off x="7483158" y="4796155"/>
                        <a:ext cx="1943100" cy="1106488"/>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fontScale="90000"/>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zh-CN" altLang="en-US">
                <a:solidFill>
                  <a:srgbClr val="C00000"/>
                </a:solidFill>
                <a:latin typeface="Times New Roman" panose="02020603050405020304" pitchFamily="18" charset="0"/>
                <a:cs typeface="Times New Roman" panose="02020603050405020304" pitchFamily="18" charset="0"/>
                <a:sym typeface="+mn-ea"/>
              </a:rPr>
              <a:t>Goel-Okumoto</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Autofit/>
          </a:bodyPr>
          <a:p>
            <a:r>
              <a:rPr lang="en-US" altLang="zh-CN" sz="2400" err="1">
                <a:ea typeface="宋体" panose="02010600030101010101" pitchFamily="2" charset="-122"/>
                <a:sym typeface="+mn-ea"/>
              </a:rPr>
              <a:t>Goel-Okumoto</a:t>
            </a:r>
            <a:r>
              <a:rPr lang="zh-CN" altLang="en-US" sz="2400" dirty="0">
                <a:ea typeface="宋体" panose="02010600030101010101" pitchFamily="2" charset="-122"/>
                <a:sym typeface="+mn-ea"/>
              </a:rPr>
              <a:t>模型假设：</a:t>
            </a:r>
            <a:r>
              <a:rPr lang="zh-CN" altLang="en-US" sz="2400" dirty="0">
                <a:ea typeface="宋体" panose="02010600030101010101" pitchFamily="2" charset="-122"/>
                <a:sym typeface="+mn-ea"/>
              </a:rPr>
              <a:t>缺陷对时间的分布是非时对齐的，即发现的缺陷不一定会立即消除（适用于开发早期）</a:t>
            </a:r>
            <a:endParaRPr lang="zh-CN" altLang="en-US" sz="2400" dirty="0">
              <a:ea typeface="宋体" panose="02010600030101010101" pitchFamily="2" charset="-122"/>
              <a:sym typeface="+mn-ea"/>
            </a:endParaRPr>
          </a:p>
          <a:p>
            <a:r>
              <a:rPr lang="zh-CN" altLang="en-US" sz="2400" dirty="0">
                <a:ea typeface="宋体" panose="02010600030101010101" pitchFamily="2" charset="-122"/>
                <a:sym typeface="+mn-ea"/>
              </a:rPr>
              <a:t>基本模型：</a:t>
            </a:r>
            <a:endParaRPr lang="zh-CN" altLang="en-US" sz="2400" dirty="0">
              <a:ea typeface="宋体" panose="02010600030101010101" pitchFamily="2" charset="-122"/>
            </a:endParaRPr>
          </a:p>
          <a:p>
            <a:pPr lvl="3">
              <a:spcBef>
                <a:spcPct val="25000"/>
              </a:spcBef>
              <a:buClr>
                <a:schemeClr val="hlink"/>
              </a:buClr>
              <a:buSzPct val="55000"/>
              <a:buFont typeface="Wingdings" panose="05000000000000000000" pitchFamily="2" charset="2"/>
              <a:buNone/>
            </a:pPr>
            <a:r>
              <a:rPr lang="zh-CN" altLang="en-US" sz="2160" dirty="0">
                <a:ea typeface="宋体" panose="02010600030101010101" pitchFamily="2" charset="-122"/>
                <a:sym typeface="+mn-ea"/>
              </a:rPr>
              <a:t>其中，</a:t>
            </a:r>
            <a:r>
              <a:rPr lang="en-US" altLang="zh-CN" sz="2160" err="1">
                <a:ea typeface="宋体" panose="02010600030101010101" pitchFamily="2" charset="-122"/>
                <a:sym typeface="+mn-ea"/>
              </a:rPr>
              <a:t>ab</a:t>
            </a:r>
            <a:r>
              <a:rPr lang="zh-CN" altLang="en-US" sz="2160" dirty="0">
                <a:ea typeface="宋体" panose="02010600030101010101" pitchFamily="2" charset="-122"/>
                <a:sym typeface="+mn-ea"/>
              </a:rPr>
              <a:t>为常数，与单位时间内发生的缺陷有关</a:t>
            </a:r>
            <a:endParaRPr lang="zh-CN" altLang="en-US" sz="2160" dirty="0">
              <a:ea typeface="宋体" panose="02010600030101010101" pitchFamily="2" charset="-122"/>
            </a:endParaRPr>
          </a:p>
          <a:p>
            <a:pPr lvl="2">
              <a:spcBef>
                <a:spcPct val="25000"/>
              </a:spcBef>
              <a:buClr>
                <a:schemeClr val="hlink"/>
              </a:buClr>
              <a:buSzPct val="55000"/>
              <a:buFont typeface="Wingdings" panose="05000000000000000000" pitchFamily="2" charset="2"/>
              <a:buNone/>
            </a:pPr>
            <a:r>
              <a:rPr lang="zh-CN" altLang="en-US" sz="2400" dirty="0">
                <a:ea typeface="宋体" panose="02010600030101010101" pitchFamily="2" charset="-122"/>
                <a:sym typeface="+mn-ea"/>
              </a:rPr>
              <a:t>可得：</a:t>
            </a:r>
            <a:endParaRPr lang="zh-CN" altLang="en-US" sz="2400" dirty="0">
              <a:ea typeface="宋体" panose="02010600030101010101" pitchFamily="2" charset="-122"/>
            </a:endParaRPr>
          </a:p>
          <a:p>
            <a:pPr lvl="2">
              <a:spcBef>
                <a:spcPct val="25000"/>
              </a:spcBef>
              <a:buClr>
                <a:schemeClr val="hlink"/>
              </a:buClr>
              <a:buSzPct val="55000"/>
              <a:buFont typeface="Wingdings" panose="05000000000000000000" pitchFamily="2" charset="2"/>
              <a:buNone/>
            </a:pPr>
            <a:r>
              <a:rPr lang="zh-CN" altLang="en-US" sz="2400" dirty="0">
                <a:ea typeface="宋体" panose="02010600030101010101" pitchFamily="2" charset="-122"/>
                <a:sym typeface="+mn-ea"/>
              </a:rPr>
              <a:t>修正模型：</a:t>
            </a:r>
            <a:endParaRPr lang="zh-CN" altLang="en-US" sz="2400" dirty="0">
              <a:ea typeface="宋体" panose="02010600030101010101" pitchFamily="2" charset="-122"/>
            </a:endParaRPr>
          </a:p>
          <a:p>
            <a:pPr lvl="2">
              <a:spcBef>
                <a:spcPct val="25000"/>
              </a:spcBef>
              <a:buClr>
                <a:schemeClr val="hlink"/>
              </a:buClr>
              <a:buSzPct val="55000"/>
              <a:buFont typeface="Wingdings" panose="05000000000000000000" pitchFamily="2" charset="2"/>
              <a:buNone/>
            </a:pPr>
            <a:endParaRPr lang="en-US" altLang="zh-CN" sz="2400">
              <a:ea typeface="宋体" panose="02010600030101010101" pitchFamily="2" charset="-122"/>
            </a:endParaRPr>
          </a:p>
          <a:p>
            <a:pPr lvl="2">
              <a:spcBef>
                <a:spcPct val="25000"/>
              </a:spcBef>
              <a:buClr>
                <a:schemeClr val="hlink"/>
              </a:buClr>
              <a:buSzPct val="55000"/>
              <a:buFont typeface="Wingdings" panose="05000000000000000000" pitchFamily="2" charset="2"/>
              <a:buNone/>
            </a:pPr>
            <a:r>
              <a:rPr lang="zh-CN" altLang="en-US" sz="2400" dirty="0">
                <a:ea typeface="宋体" panose="02010600030101010101" pitchFamily="2" charset="-122"/>
                <a:sym typeface="+mn-ea"/>
              </a:rPr>
              <a:t>故障密度函数为</a:t>
            </a:r>
            <a:r>
              <a:rPr lang="en-US" altLang="zh-CN" sz="2400" err="1">
                <a:ea typeface="宋体" panose="02010600030101010101" pitchFamily="2" charset="-122"/>
                <a:sym typeface="+mn-ea"/>
              </a:rPr>
              <a:t>Weibull</a:t>
            </a:r>
            <a:r>
              <a:rPr lang="zh-CN" altLang="en-US" sz="2400" dirty="0">
                <a:ea typeface="宋体" panose="02010600030101010101" pitchFamily="2" charset="-122"/>
                <a:sym typeface="+mn-ea"/>
              </a:rPr>
              <a:t>分布</a:t>
            </a:r>
            <a:endParaRPr lang="en-US" altLang="zh-CN" sz="2400">
              <a:ea typeface="宋体" panose="02010600030101010101" pitchFamily="2" charset="-122"/>
            </a:endParaRPr>
          </a:p>
          <a:p>
            <a:endParaRPr lang="en-US" altLang="zh-CN" sz="2400">
              <a:ea typeface="宋体" panose="02010600030101010101" pitchFamily="2" charset="-122"/>
            </a:endParaRPr>
          </a:p>
        </p:txBody>
      </p:sp>
      <p:graphicFrame>
        <p:nvGraphicFramePr>
          <p:cNvPr id="153604" name="内容占位符 153603"/>
          <p:cNvGraphicFramePr/>
          <p:nvPr>
            <p:ph sz="quarter" idx="2"/>
            <p:custDataLst>
              <p:tags r:id="rId1"/>
            </p:custDataLst>
          </p:nvPr>
        </p:nvGraphicFramePr>
        <p:xfrm>
          <a:off x="2944495" y="2631440"/>
          <a:ext cx="2646045" cy="631190"/>
        </p:xfrm>
        <a:graphic>
          <a:graphicData uri="http://schemas.openxmlformats.org/presentationml/2006/ole">
            <mc:AlternateContent xmlns:mc="http://schemas.openxmlformats.org/markup-compatibility/2006">
              <mc:Choice xmlns:v="urn:schemas-microsoft-com:vml" Requires="v">
                <p:oleObj spid="_x0000_s3082" name="" r:id="rId2" imgW="799465" imgH="228600" progId="Equation.3">
                  <p:embed/>
                </p:oleObj>
              </mc:Choice>
              <mc:Fallback>
                <p:oleObj name="" r:id="rId2" imgW="799465" imgH="228600" progId="Equation.3">
                  <p:embed/>
                  <p:pic>
                    <p:nvPicPr>
                      <p:cNvPr id="0" name="图片 3081"/>
                      <p:cNvPicPr/>
                      <p:nvPr/>
                    </p:nvPicPr>
                    <p:blipFill>
                      <a:blip r:embed="rId3"/>
                      <a:stretch>
                        <a:fillRect/>
                      </a:stretch>
                    </p:blipFill>
                    <p:spPr>
                      <a:xfrm>
                        <a:off x="2944495" y="2631440"/>
                        <a:ext cx="2646045" cy="631190"/>
                      </a:xfrm>
                      <a:prstGeom prst="rect">
                        <a:avLst/>
                      </a:prstGeom>
                      <a:noFill/>
                      <a:ln w="38100">
                        <a:miter/>
                      </a:ln>
                    </p:spPr>
                  </p:pic>
                </p:oleObj>
              </mc:Fallback>
            </mc:AlternateContent>
          </a:graphicData>
        </a:graphic>
      </p:graphicFrame>
      <p:graphicFrame>
        <p:nvGraphicFramePr>
          <p:cNvPr id="153607" name="内容占位符 153606"/>
          <p:cNvGraphicFramePr/>
          <p:nvPr>
            <p:ph sz="quarter" idx="3"/>
            <p:custDataLst>
              <p:tags r:id="rId4"/>
            </p:custDataLst>
          </p:nvPr>
        </p:nvGraphicFramePr>
        <p:xfrm>
          <a:off x="2944495" y="3784600"/>
          <a:ext cx="3399790" cy="561975"/>
        </p:xfrm>
        <a:graphic>
          <a:graphicData uri="http://schemas.openxmlformats.org/presentationml/2006/ole">
            <mc:AlternateContent xmlns:mc="http://schemas.openxmlformats.org/markup-compatibility/2006">
              <mc:Choice xmlns:v="urn:schemas-microsoft-com:vml" Requires="v">
                <p:oleObj spid="_x0000_s3081" name="" r:id="rId5" imgW="1066800" imgH="228600" progId="Equation.3">
                  <p:embed/>
                </p:oleObj>
              </mc:Choice>
              <mc:Fallback>
                <p:oleObj name="" r:id="rId5" imgW="1066800" imgH="228600" progId="Equation.3">
                  <p:embed/>
                  <p:pic>
                    <p:nvPicPr>
                      <p:cNvPr id="0" name="图片 3080"/>
                      <p:cNvPicPr/>
                      <p:nvPr/>
                    </p:nvPicPr>
                    <p:blipFill>
                      <a:blip r:embed="rId6"/>
                      <a:stretch>
                        <a:fillRect/>
                      </a:stretch>
                    </p:blipFill>
                    <p:spPr>
                      <a:xfrm>
                        <a:off x="2944495" y="3784600"/>
                        <a:ext cx="3399790" cy="561975"/>
                      </a:xfrm>
                      <a:prstGeom prst="rect">
                        <a:avLst/>
                      </a:prstGeom>
                      <a:noFill/>
                      <a:ln w="38100">
                        <a:miter/>
                      </a:ln>
                    </p:spPr>
                  </p:pic>
                </p:oleObj>
              </mc:Fallback>
            </mc:AlternateContent>
          </a:graphicData>
        </a:graphic>
      </p:graphicFrame>
      <p:graphicFrame>
        <p:nvGraphicFramePr>
          <p:cNvPr id="153610" name="对象 153609"/>
          <p:cNvGraphicFramePr/>
          <p:nvPr>
            <p:custDataLst>
              <p:tags r:id="rId7"/>
            </p:custDataLst>
          </p:nvPr>
        </p:nvGraphicFramePr>
        <p:xfrm>
          <a:off x="3382645" y="4425315"/>
          <a:ext cx="3772535" cy="672465"/>
        </p:xfrm>
        <a:graphic>
          <a:graphicData uri="http://schemas.openxmlformats.org/presentationml/2006/ole">
            <mc:AlternateContent xmlns:mc="http://schemas.openxmlformats.org/markup-compatibility/2006">
              <mc:Choice xmlns:v="urn:schemas-microsoft-com:vml" Requires="v">
                <p:oleObj spid="_x0000_s3083" name="" r:id="rId8" imgW="1103630" imgH="254000" progId="Equation.3">
                  <p:embed/>
                </p:oleObj>
              </mc:Choice>
              <mc:Fallback>
                <p:oleObj name="" r:id="rId8" imgW="1103630" imgH="254000" progId="Equation.3">
                  <p:embed/>
                  <p:pic>
                    <p:nvPicPr>
                      <p:cNvPr id="0" name="图片 3082"/>
                      <p:cNvPicPr/>
                      <p:nvPr/>
                    </p:nvPicPr>
                    <p:blipFill>
                      <a:blip r:embed="rId9"/>
                      <a:stretch>
                        <a:fillRect/>
                      </a:stretch>
                    </p:blipFill>
                    <p:spPr>
                      <a:xfrm>
                        <a:off x="3382645" y="4425315"/>
                        <a:ext cx="3772535" cy="672465"/>
                      </a:xfrm>
                      <a:prstGeom prst="rect">
                        <a:avLst/>
                      </a:prstGeom>
                      <a:noFill/>
                      <a:ln w="38100">
                        <a:noFill/>
                        <a:miter/>
                      </a:ln>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JM</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Autofit/>
          </a:bodyPr>
          <a:p>
            <a:r>
              <a:rPr lang="en-US" err="1">
                <a:ea typeface="宋体" panose="02010600030101010101" pitchFamily="2" charset="-122"/>
                <a:sym typeface="+mn-ea"/>
              </a:rPr>
              <a:t>JM</a:t>
            </a:r>
            <a:r>
              <a:rPr lang="zh-CN" altLang="en-US" err="1">
                <a:ea typeface="宋体" panose="02010600030101010101" pitchFamily="2" charset="-122"/>
                <a:sym typeface="+mn-ea"/>
              </a:rPr>
              <a:t>模型由</a:t>
            </a:r>
            <a:r>
              <a:rPr lang="en-US" altLang="zh-CN" err="1">
                <a:ea typeface="宋体" panose="02010600030101010101" pitchFamily="2" charset="-122"/>
                <a:sym typeface="+mn-ea"/>
              </a:rPr>
              <a:t>Jelinski</a:t>
            </a:r>
            <a:r>
              <a:rPr lang="zh-CN" altLang="en-US" err="1">
                <a:ea typeface="宋体" panose="02010600030101010101" pitchFamily="2" charset="-122"/>
                <a:sym typeface="+mn-ea"/>
              </a:rPr>
              <a:t>、</a:t>
            </a:r>
            <a:r>
              <a:rPr lang="en-US" altLang="zh-CN" err="1">
                <a:ea typeface="宋体" panose="02010600030101010101" pitchFamily="2" charset="-122"/>
                <a:sym typeface="+mn-ea"/>
              </a:rPr>
              <a:t>Moranda</a:t>
            </a:r>
            <a:r>
              <a:rPr lang="zh-CN" altLang="en-US" err="1">
                <a:ea typeface="宋体" panose="02010600030101010101" pitchFamily="2" charset="-122"/>
                <a:sym typeface="+mn-ea"/>
              </a:rPr>
              <a:t>共同开发</a:t>
            </a:r>
            <a:endParaRPr lang="zh-CN" altLang="en-US" err="1">
              <a:ea typeface="宋体" panose="02010600030101010101" pitchFamily="2" charset="-122"/>
              <a:sym typeface="+mn-ea"/>
            </a:endParaRPr>
          </a:p>
          <a:p>
            <a:r>
              <a:rPr lang="en-US" altLang="zh-CN" err="1">
                <a:ea typeface="宋体" panose="02010600030101010101" pitchFamily="2" charset="-122"/>
                <a:sym typeface="+mn-ea"/>
              </a:rPr>
              <a:t>JM</a:t>
            </a:r>
            <a:r>
              <a:rPr lang="zh-CN" altLang="en-US" err="1">
                <a:ea typeface="宋体" panose="02010600030101010101" pitchFamily="2" charset="-122"/>
                <a:sym typeface="+mn-ea"/>
              </a:rPr>
              <a:t>模型最早提出且仍在使用，如应用在麦克唐奈道格拉斯海军工程</a:t>
            </a:r>
            <a:endParaRPr lang="zh-CN" altLang="en-US" err="1">
              <a:ea typeface="宋体" panose="02010600030101010101" pitchFamily="2" charset="-122"/>
              <a:sym typeface="+mn-ea"/>
            </a:endParaRPr>
          </a:p>
          <a:p>
            <a:r>
              <a:rPr lang="en-US" altLang="zh-CN" err="1">
                <a:ea typeface="宋体" panose="02010600030101010101" pitchFamily="2" charset="-122"/>
                <a:sym typeface="+mn-ea"/>
              </a:rPr>
              <a:t>JM</a:t>
            </a:r>
            <a:r>
              <a:rPr lang="zh-CN" altLang="en-US" err="1">
                <a:ea typeface="宋体" panose="02010600030101010101" pitchFamily="2" charset="-122"/>
                <a:sym typeface="+mn-ea"/>
              </a:rPr>
              <a:t>模型一种宏观的、动态连续时间的面向时间的模型</a:t>
            </a:r>
            <a:endParaRPr lang="zh-CN" altLang="en-US" err="1">
              <a:ea typeface="宋体" panose="02010600030101010101" pitchFamily="2" charset="-122"/>
              <a:sym typeface="+mn-ea"/>
            </a:endParaRPr>
          </a:p>
          <a:p>
            <a:r>
              <a:rPr lang="en-US" altLang="zh-CN" err="1">
                <a:ea typeface="宋体" panose="02010600030101010101" pitchFamily="2" charset="-122"/>
                <a:sym typeface="+mn-ea"/>
              </a:rPr>
              <a:t>JM</a:t>
            </a:r>
            <a:r>
              <a:rPr lang="zh-CN" altLang="en-US" err="1">
                <a:ea typeface="宋体" panose="02010600030101010101" pitchFamily="2" charset="-122"/>
                <a:sym typeface="+mn-ea"/>
              </a:rPr>
              <a:t>模型为建模领域的工作提供了框架，属于二项式型</a:t>
            </a:r>
            <a:endParaRPr lang="zh-CN" altLang="en-US" err="1">
              <a:ea typeface="宋体" panose="02010600030101010101" pitchFamily="2"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JM</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38200" y="1538605"/>
            <a:ext cx="10515600" cy="5222875"/>
          </a:xfrm>
        </p:spPr>
        <p:txBody>
          <a:bodyPr>
            <a:noAutofit/>
          </a:bodyPr>
          <a:p>
            <a:pPr>
              <a:lnSpc>
                <a:spcPct val="110000"/>
              </a:lnSpc>
            </a:pPr>
            <a:r>
              <a:rPr lang="en-US" err="1">
                <a:latin typeface="Times New Roman" panose="02020603050405020304" pitchFamily="18" charset="0"/>
                <a:ea typeface="宋体" panose="02010600030101010101" pitchFamily="2" charset="-122"/>
                <a:cs typeface="Times New Roman" panose="02020603050405020304" pitchFamily="18" charset="0"/>
                <a:sym typeface="+mn-ea"/>
              </a:rPr>
              <a:t>JM</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模型假设：</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缺陷检测率正比于软件当前的缺陷数</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设失效时间间隔服从以软件中残存错误数成正比的值为参数的指数分布，即时间</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i="1" err="1">
                <a:latin typeface="Times New Roman" panose="02020603050405020304" pitchFamily="18" charset="0"/>
                <a:ea typeface="宋体" panose="02010600030101010101" pitchFamily="2" charset="-122"/>
                <a:cs typeface="Times New Roman" panose="02020603050405020304" pitchFamily="18" charset="0"/>
                <a:sym typeface="+mn-ea"/>
              </a:rPr>
              <a:t>x</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的平均失效间隔时间为</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 1 / φ(N - (</a:t>
            </a:r>
            <a:r>
              <a:rPr lang="en-US" altLang="zh-CN" i="1" err="1">
                <a:latin typeface="Times New Roman" panose="02020603050405020304" pitchFamily="18" charset="0"/>
                <a:ea typeface="宋体" panose="02010600030101010101" pitchFamily="2" charset="-122"/>
                <a:cs typeface="Times New Roman" panose="02020603050405020304" pitchFamily="18" charset="0"/>
                <a:sym typeface="+mn-ea"/>
              </a:rPr>
              <a:t>i</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-1))</a:t>
            </a:r>
            <a:endParaRPr lang="en-US" altLang="zh-CN" err="1">
              <a:latin typeface="Times New Roman" panose="02020603050405020304" pitchFamily="18" charset="0"/>
              <a:ea typeface="宋体" panose="02010600030101010101" pitchFamily="2" charset="-122"/>
              <a:cs typeface="Times New Roman" panose="02020603050405020304" pitchFamily="18" charset="0"/>
              <a:sym typeface="+mn-ea"/>
            </a:endParaRPr>
          </a:p>
          <a:p>
            <a:pPr lvl="2">
              <a:lnSpc>
                <a:spcPct val="110000"/>
              </a:lnSpc>
            </a:pP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x</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是第</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i-1</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次失效和第</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i</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次失效之间的任一</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时刻</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2">
              <a:lnSpc>
                <a:spcPct val="110000"/>
              </a:lnSpc>
            </a:pP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φ</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是比例</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常量</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2">
              <a:lnSpc>
                <a:spcPct val="110000"/>
              </a:lnSpc>
            </a:pP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是从观测开始之后软件中的错误</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总数量</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缺陷检测后立即改正，且不引入</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新的缺陷</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软件运行方式和进行软件可靠性预计时的软件运行方式</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相同</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在相同严重度类中，碰上每个缺陷的机会是相同</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的</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当检测到缺陷时，各个失效是</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独立的</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JM</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Autofit/>
              </a:bodyPr>
              <a:p>
                <a:r>
                  <a:rPr lang="en-US" err="1">
                    <a:ea typeface="宋体" panose="02010600030101010101" pitchFamily="2" charset="-122"/>
                    <a:sym typeface="+mn-ea"/>
                  </a:rPr>
                  <a:t>JM</a:t>
                </a:r>
                <a:r>
                  <a:rPr lang="zh-CN" altLang="en-US" err="1">
                    <a:ea typeface="宋体" panose="02010600030101010101" pitchFamily="2" charset="-122"/>
                    <a:sym typeface="+mn-ea"/>
                  </a:rPr>
                  <a:t>模型</a:t>
                </a:r>
                <a:r>
                  <a:rPr lang="zh-CN" altLang="en-US" err="1">
                    <a:ea typeface="宋体" panose="02010600030101010101" pitchFamily="2" charset="-122"/>
                    <a:sym typeface="+mn-ea"/>
                  </a:rPr>
                  <a:t>参数估计：</a:t>
                </a:r>
                <a:endParaRPr lang="zh-CN" altLang="en-US" err="1">
                  <a:ea typeface="宋体" panose="02010600030101010101" pitchFamily="2" charset="-122"/>
                  <a:sym typeface="+mn-ea"/>
                </a:endParaRPr>
              </a:p>
              <a:p>
                <a:pPr lvl="1"/>
                <a:r>
                  <a:rPr lang="zh-CN" altLang="en-US" err="1">
                    <a:ea typeface="宋体" panose="02010600030101010101" pitchFamily="2" charset="-122"/>
                    <a:sym typeface="+mn-ea"/>
                  </a:rPr>
                  <a:t>失效时间间隔的条件密度</a:t>
                </a:r>
                <a:r>
                  <a:rPr lang="zh-CN" altLang="en-US" err="1">
                    <a:ea typeface="宋体" panose="02010600030101010101" pitchFamily="2" charset="-122"/>
                    <a:sym typeface="+mn-ea"/>
                  </a:rPr>
                  <a:t>函数</a:t>
                </a:r>
                <a:endParaRPr lang="zh-CN" altLang="en-US" err="1">
                  <a:ea typeface="宋体" panose="02010600030101010101" pitchFamily="2" charset="-122"/>
                  <a:sym typeface="+mn-ea"/>
                </a:endParaRPr>
              </a:p>
              <a:p>
                <a:pPr marL="457200" lvl="1" indent="0" algn="ctr">
                  <a:buNone/>
                </a:pPr>
                <a14:m>
                  <m:oMathPara xmlns:m="http://schemas.openxmlformats.org/officeDocument/2006/math">
                    <m:oMathParaPr>
                      <m:jc m:val="centerGroup"/>
                    </m:oMathParaPr>
                    <m:oMath xmlns:m="http://schemas.openxmlformats.org/officeDocument/2006/math">
                      <m:sSub>
                        <m:sSubPr>
                          <m:ctrlPr>
                            <a:rPr lang="en-US" altLang="zh-CN" i="1" err="1">
                              <a:latin typeface="Cambria Math" panose="02040503050406030204" charset="0"/>
                              <a:ea typeface="宋体" panose="02010600030101010101" pitchFamily="2" charset="-122"/>
                              <a:cs typeface="Cambria Math" panose="02040503050406030204" charset="0"/>
                              <a:sym typeface="+mn-ea"/>
                            </a:rPr>
                          </m:ctrlPr>
                        </m:sSubPr>
                        <m:e>
                          <m:r>
                            <a:rPr lang="en-US" altLang="zh-CN" i="1" err="1">
                              <a:latin typeface="Cambria Math" panose="02040503050406030204" charset="0"/>
                              <a:ea typeface="宋体" panose="02010600030101010101" pitchFamily="2" charset="-122"/>
                              <a:cs typeface="Cambria Math" panose="02040503050406030204" charset="0"/>
                              <a:sym typeface="+mn-ea"/>
                            </a:rPr>
                            <m:t>𝑓</m:t>
                          </m:r>
                        </m:e>
                        <m:sub>
                          <m:r>
                            <a:rPr lang="en-US" altLang="zh-CN" i="1" err="1">
                              <a:latin typeface="Cambria Math" panose="02040503050406030204" charset="0"/>
                              <a:ea typeface="宋体" panose="02010600030101010101" pitchFamily="2" charset="-122"/>
                              <a:cs typeface="Cambria Math" panose="02040503050406030204" charset="0"/>
                              <a:sym typeface="+mn-ea"/>
                            </a:rPr>
                            <m:t>𝑖</m:t>
                          </m:r>
                        </m:sub>
                      </m:sSub>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𝑥</m:t>
                      </m:r>
                      <m:r>
                        <a:rPr lang="en-US" altLang="zh-CN" i="1" err="1">
                          <a:latin typeface="Cambria Math" panose="02040503050406030204" charset="0"/>
                          <a:ea typeface="宋体" panose="02010600030101010101" pitchFamily="2" charset="-122"/>
                          <a:cs typeface="Cambria Math" panose="02040503050406030204" charset="0"/>
                          <a:sym typeface="+mn-ea"/>
                        </a:rPr>
                        <m:t> | </m:t>
                      </m:r>
                      <m:sSub>
                        <m:sSubPr>
                          <m:ctrlPr>
                            <a:rPr lang="en-US" altLang="zh-CN" i="1" err="1">
                              <a:latin typeface="Cambria Math" panose="02040503050406030204" charset="0"/>
                              <a:ea typeface="宋体" panose="02010600030101010101" pitchFamily="2" charset="-122"/>
                              <a:cs typeface="Cambria Math" panose="02040503050406030204" charset="0"/>
                              <a:sym typeface="+mn-ea"/>
                            </a:rPr>
                          </m:ctrlPr>
                        </m:sSubPr>
                        <m:e>
                          <m:r>
                            <a:rPr lang="en-US" altLang="zh-CN" i="1" err="1">
                              <a:latin typeface="Cambria Math" panose="02040503050406030204" charset="0"/>
                              <a:ea typeface="宋体" panose="02010600030101010101" pitchFamily="2" charset="-122"/>
                              <a:cs typeface="Cambria Math" panose="02040503050406030204" charset="0"/>
                              <a:sym typeface="+mn-ea"/>
                            </a:rPr>
                            <m:t>𝑡</m:t>
                          </m:r>
                        </m:e>
                        <m:sub>
                          <m:r>
                            <a:rPr lang="en-US" altLang="zh-CN" i="1" err="1">
                              <a:latin typeface="Cambria Math" panose="02040503050406030204" charset="0"/>
                              <a:ea typeface="宋体" panose="02010600030101010101" pitchFamily="2" charset="-122"/>
                              <a:cs typeface="Cambria Math" panose="02040503050406030204" charset="0"/>
                              <a:sym typeface="+mn-ea"/>
                            </a:rPr>
                            <m:t>𝑖</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1</m:t>
                          </m:r>
                        </m:sub>
                      </m:sSub>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𝑁</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𝑖</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1</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𝛷</m:t>
                      </m:r>
                      <m:sSup>
                        <m:sSupPr>
                          <m:ctrlPr>
                            <a:rPr lang="en-US" altLang="zh-CN" i="1" err="1">
                              <a:latin typeface="Cambria Math" panose="02040503050406030204" charset="0"/>
                              <a:ea typeface="宋体" panose="02010600030101010101" pitchFamily="2" charset="-122"/>
                              <a:cs typeface="Cambria Math" panose="02040503050406030204" charset="0"/>
                              <a:sym typeface="+mn-ea"/>
                            </a:rPr>
                          </m:ctrlPr>
                        </m:sSupPr>
                        <m:e>
                          <m:r>
                            <a:rPr lang="en-US" altLang="zh-CN" i="1" err="1">
                              <a:latin typeface="Cambria Math" panose="02040503050406030204" charset="0"/>
                              <a:ea typeface="宋体" panose="02010600030101010101" pitchFamily="2" charset="-122"/>
                              <a:cs typeface="Cambria Math" panose="02040503050406030204" charset="0"/>
                              <a:sym typeface="+mn-ea"/>
                            </a:rPr>
                            <m:t>𝑒</m:t>
                          </m:r>
                        </m:e>
                        <m:sup>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𝑁</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𝑖</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1</m:t>
                          </m:r>
                          <m:r>
                            <a:rPr lang="en-US" altLang="zh-CN" i="1" err="1">
                              <a:latin typeface="Cambria Math" panose="02040503050406030204" charset="0"/>
                              <a:ea typeface="宋体" panose="02010600030101010101" pitchFamily="2" charset="-122"/>
                              <a:cs typeface="Cambria Math" panose="02040503050406030204" charset="0"/>
                              <a:sym typeface="+mn-ea"/>
                            </a:rPr>
                            <m:t>)</m:t>
                          </m:r>
                          <m:r>
                            <a:rPr lang="en-US" altLang="zh-CN" i="1" err="1">
                              <a:latin typeface="Cambria Math" panose="02040503050406030204" charset="0"/>
                              <a:ea typeface="宋体" panose="02010600030101010101" pitchFamily="2" charset="-122"/>
                              <a:cs typeface="Cambria Math" panose="02040503050406030204" charset="0"/>
                              <a:sym typeface="+mn-ea"/>
                            </a:rPr>
                            <m:t>𝛷</m:t>
                          </m:r>
                          <m:r>
                            <a:rPr lang="en-US" altLang="zh-CN" i="1" err="1">
                              <a:latin typeface="Cambria Math" panose="02040503050406030204" charset="0"/>
                              <a:ea typeface="宋体" panose="02010600030101010101" pitchFamily="2" charset="-122"/>
                              <a:cs typeface="Cambria Math" panose="02040503050406030204" charset="0"/>
                              <a:sym typeface="+mn-ea"/>
                            </a:rPr>
                            <m:t>𝑥</m:t>
                          </m:r>
                        </m:sup>
                      </m:sSup>
                    </m:oMath>
                  </m:oMathPara>
                </a14:m>
                <a:endParaRPr lang="zh-CN" altLang="en-US" err="1">
                  <a:ea typeface="宋体" panose="02010600030101010101" pitchFamily="2" charset="-122"/>
                  <a:sym typeface="+mn-ea"/>
                </a:endParaRPr>
              </a:p>
              <a:p>
                <a:pPr lvl="1"/>
                <a:r>
                  <a:rPr lang="zh-CN" altLang="en-US" err="1">
                    <a:ea typeface="宋体" panose="02010600030101010101" pitchFamily="2" charset="-122"/>
                    <a:sym typeface="+mn-ea"/>
                  </a:rPr>
                  <a:t>求解极大似然估计</a:t>
                </a:r>
                <a:r>
                  <a:rPr lang="zh-CN" altLang="en-US" err="1">
                    <a:ea typeface="宋体" panose="02010600030101010101" pitchFamily="2" charset="-122"/>
                    <a:sym typeface="+mn-ea"/>
                  </a:rPr>
                  <a:t>方程</a:t>
                </a:r>
                <a:endParaRPr lang="zh-CN" altLang="en-US" err="1">
                  <a:ea typeface="宋体" panose="02010600030101010101" pitchFamily="2" charset="-122"/>
                  <a:sym typeface="+mn-ea"/>
                </a:endParaRPr>
              </a:p>
              <a:p>
                <a:pPr marL="457200" lvl="1" indent="0" algn="ctr">
                  <a:buNone/>
                </a:pPr>
                <a:endParaRPr lang="en-US" altLang="zh-CN" err="1">
                  <a:ea typeface="宋体" panose="02010600030101010101" pitchFamily="2" charset="-122"/>
                  <a:sym typeface="+mn-ea"/>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pic>
        <p:nvPicPr>
          <p:cNvPr id="5" name="图片 4"/>
          <p:cNvPicPr>
            <a:picLocks noChangeAspect="1"/>
          </p:cNvPicPr>
          <p:nvPr>
            <p:custDataLst>
              <p:tags r:id="rId2"/>
            </p:custDataLst>
          </p:nvPr>
        </p:nvPicPr>
        <p:blipFill>
          <a:blip r:embed="rId3"/>
          <a:stretch>
            <a:fillRect/>
          </a:stretch>
        </p:blipFill>
        <p:spPr>
          <a:xfrm>
            <a:off x="3671570" y="3698875"/>
            <a:ext cx="4617720" cy="31178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JM</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Autofit/>
          </a:bodyPr>
          <a:p>
            <a:r>
              <a:rPr lang="zh-CN" altLang="en-US" err="1">
                <a:ea typeface="宋体" panose="02010600030101010101" pitchFamily="2" charset="-122"/>
                <a:sym typeface="+mn-ea"/>
              </a:rPr>
              <a:t>解值</a:t>
            </a:r>
            <a:r>
              <a:rPr lang="zh-CN" altLang="en-US" err="1">
                <a:ea typeface="宋体" panose="02010600030101010101" pitchFamily="2" charset="-122"/>
                <a:sym typeface="+mn-ea"/>
              </a:rPr>
              <a:t>讨论：</a:t>
            </a:r>
            <a:endParaRPr lang="zh-CN" altLang="en-US" err="1">
              <a:ea typeface="宋体" panose="02010600030101010101" pitchFamily="2" charset="-122"/>
              <a:sym typeface="+mn-ea"/>
            </a:endParaRPr>
          </a:p>
          <a:p>
            <a:pPr lvl="1"/>
            <a:r>
              <a:rPr lang="zh-CN" altLang="en-US" err="1">
                <a:ea typeface="宋体" panose="02010600030101010101" pitchFamily="2" charset="-122"/>
                <a:sym typeface="+mn-ea"/>
              </a:rPr>
              <a:t>设</a:t>
            </a:r>
            <a:endParaRPr lang="zh-CN" altLang="en-US" err="1">
              <a:ea typeface="宋体" panose="02010600030101010101" pitchFamily="2" charset="-122"/>
              <a:sym typeface="+mn-ea"/>
            </a:endParaRPr>
          </a:p>
          <a:p>
            <a:pPr lvl="1"/>
            <a:endParaRPr lang="zh-CN" altLang="en-US" err="1">
              <a:ea typeface="宋体" panose="02010600030101010101" pitchFamily="2" charset="-122"/>
              <a:sym typeface="+mn-ea"/>
            </a:endParaRPr>
          </a:p>
          <a:p>
            <a:pPr lvl="1"/>
            <a:endParaRPr lang="zh-CN" altLang="en-US" err="1">
              <a:ea typeface="宋体" panose="02010600030101010101" pitchFamily="2" charset="-122"/>
              <a:sym typeface="+mn-ea"/>
            </a:endParaRPr>
          </a:p>
          <a:p>
            <a:pPr lvl="1"/>
            <a:r>
              <a:rPr lang="zh-CN" altLang="en-US" err="1">
                <a:ea typeface="宋体" panose="02010600030101010101" pitchFamily="2" charset="-122"/>
                <a:sym typeface="+mn-ea"/>
              </a:rPr>
              <a:t>当</a:t>
            </a:r>
            <a:r>
              <a:rPr lang="en-US" altLang="zh-CN" err="1">
                <a:ea typeface="宋体" panose="02010600030101010101" pitchFamily="2" charset="-122"/>
                <a:sym typeface="+mn-ea"/>
              </a:rPr>
              <a:t>P &lt;= (n-1)/2 </a:t>
            </a:r>
            <a:r>
              <a:rPr lang="zh-CN" altLang="en-US" err="1">
                <a:ea typeface="宋体" panose="02010600030101010101" pitchFamily="2" charset="-122"/>
                <a:sym typeface="+mn-ea"/>
              </a:rPr>
              <a:t>时，无合理</a:t>
            </a:r>
            <a:r>
              <a:rPr lang="zh-CN" altLang="en-US" err="1">
                <a:ea typeface="宋体" panose="02010600030101010101" pitchFamily="2" charset="-122"/>
                <a:sym typeface="+mn-ea"/>
              </a:rPr>
              <a:t>解</a:t>
            </a:r>
            <a:endParaRPr lang="zh-CN" altLang="en-US" err="1">
              <a:ea typeface="宋体" panose="02010600030101010101" pitchFamily="2" charset="-122"/>
              <a:sym typeface="+mn-ea"/>
            </a:endParaRPr>
          </a:p>
          <a:p>
            <a:pPr lvl="1"/>
            <a:r>
              <a:rPr lang="zh-CN" altLang="en-US" err="1">
                <a:ea typeface="宋体" panose="02010600030101010101" pitchFamily="2" charset="-122"/>
                <a:sym typeface="+mn-ea"/>
              </a:rPr>
              <a:t>当</a:t>
            </a:r>
            <a:r>
              <a:rPr lang="en-US" altLang="zh-CN" err="1">
                <a:ea typeface="宋体" panose="02010600030101010101" pitchFamily="2" charset="-122"/>
                <a:sym typeface="+mn-ea"/>
              </a:rPr>
              <a:t>P &gt; n/2 </a:t>
            </a:r>
            <a:r>
              <a:rPr lang="zh-CN" altLang="en-US" err="1">
                <a:ea typeface="宋体" panose="02010600030101010101" pitchFamily="2" charset="-122"/>
                <a:sym typeface="+mn-ea"/>
              </a:rPr>
              <a:t>时，有唯一合理</a:t>
            </a:r>
            <a:r>
              <a:rPr lang="zh-CN" altLang="en-US" err="1">
                <a:ea typeface="宋体" panose="02010600030101010101" pitchFamily="2" charset="-122"/>
                <a:sym typeface="+mn-ea"/>
              </a:rPr>
              <a:t>解</a:t>
            </a:r>
            <a:endParaRPr lang="zh-CN" altLang="en-US" err="1">
              <a:ea typeface="宋体" panose="02010600030101010101" pitchFamily="2" charset="-122"/>
              <a:sym typeface="+mn-ea"/>
            </a:endParaRPr>
          </a:p>
          <a:p>
            <a:pPr marL="457200" lvl="1" indent="0" algn="ctr">
              <a:buNone/>
            </a:pPr>
            <a:endParaRPr lang="en-US" altLang="zh-CN" err="1">
              <a:ea typeface="宋体" panose="02010600030101010101" pitchFamily="2" charset="-122"/>
              <a:sym typeface="+mn-ea"/>
            </a:endParaRPr>
          </a:p>
        </p:txBody>
      </p:sp>
      <p:pic>
        <p:nvPicPr>
          <p:cNvPr id="4" name="图片 3"/>
          <p:cNvPicPr>
            <a:picLocks noChangeAspect="1"/>
          </p:cNvPicPr>
          <p:nvPr>
            <p:custDataLst>
              <p:tags r:id="rId1"/>
            </p:custDataLst>
          </p:nvPr>
        </p:nvPicPr>
        <p:blipFill>
          <a:blip r:embed="rId2"/>
          <a:stretch>
            <a:fillRect/>
          </a:stretch>
        </p:blipFill>
        <p:spPr>
          <a:xfrm>
            <a:off x="2534920" y="2132965"/>
            <a:ext cx="4004945" cy="129603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JM</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Autofit/>
          </a:bodyPr>
          <a:p>
            <a:r>
              <a:rPr lang="zh-CN" altLang="en-US" err="1">
                <a:ea typeface="宋体" panose="02010600030101010101" pitchFamily="2" charset="-122"/>
                <a:sym typeface="+mn-ea"/>
              </a:rPr>
              <a:t>可靠性参数估计、</a:t>
            </a:r>
            <a:r>
              <a:rPr lang="zh-CN" altLang="en-US" err="1">
                <a:ea typeface="宋体" panose="02010600030101010101" pitchFamily="2" charset="-122"/>
                <a:sym typeface="+mn-ea"/>
              </a:rPr>
              <a:t>预计</a:t>
            </a:r>
            <a:endParaRPr lang="zh-CN" altLang="en-US" err="1">
              <a:ea typeface="宋体" panose="02010600030101010101" pitchFamily="2" charset="-122"/>
              <a:sym typeface="+mn-ea"/>
            </a:endParaRPr>
          </a:p>
          <a:p>
            <a:pPr marL="457200" lvl="1" indent="0" algn="ctr">
              <a:buNone/>
            </a:pPr>
            <a:endParaRPr lang="en-US" altLang="zh-CN" err="1">
              <a:ea typeface="宋体" panose="02010600030101010101" pitchFamily="2" charset="-122"/>
              <a:sym typeface="+mn-ea"/>
            </a:endParaRPr>
          </a:p>
        </p:txBody>
      </p:sp>
      <p:pic>
        <p:nvPicPr>
          <p:cNvPr id="5" name="图片 4"/>
          <p:cNvPicPr>
            <a:picLocks noChangeAspect="1"/>
          </p:cNvPicPr>
          <p:nvPr>
            <p:custDataLst>
              <p:tags r:id="rId1"/>
            </p:custDataLst>
          </p:nvPr>
        </p:nvPicPr>
        <p:blipFill>
          <a:blip r:embed="rId2"/>
          <a:stretch>
            <a:fillRect/>
          </a:stretch>
        </p:blipFill>
        <p:spPr>
          <a:xfrm>
            <a:off x="1935480" y="2143760"/>
            <a:ext cx="8305165" cy="452501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JM</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Autofit/>
          </a:bodyPr>
          <a:p>
            <a:r>
              <a:rPr lang="zh-CN" altLang="en-US" err="1">
                <a:ea typeface="宋体" panose="02010600030101010101" pitchFamily="2" charset="-122"/>
                <a:sym typeface="+mn-ea"/>
              </a:rPr>
              <a:t>可靠性参数估计、预计（</a:t>
            </a:r>
            <a:r>
              <a:rPr lang="zh-CN" altLang="en-US" err="1">
                <a:ea typeface="宋体" panose="02010600030101010101" pitchFamily="2" charset="-122"/>
                <a:sym typeface="+mn-ea"/>
              </a:rPr>
              <a:t>续）</a:t>
            </a:r>
            <a:endParaRPr lang="zh-CN" altLang="en-US" err="1">
              <a:ea typeface="宋体" panose="02010600030101010101" pitchFamily="2" charset="-122"/>
              <a:sym typeface="+mn-ea"/>
            </a:endParaRPr>
          </a:p>
          <a:p>
            <a:pPr marL="457200" lvl="1" indent="0" algn="ctr">
              <a:buNone/>
            </a:pPr>
            <a:endParaRPr lang="en-US" altLang="zh-CN" err="1">
              <a:ea typeface="宋体" panose="02010600030101010101" pitchFamily="2" charset="-122"/>
              <a:sym typeface="+mn-ea"/>
            </a:endParaRPr>
          </a:p>
        </p:txBody>
      </p:sp>
      <p:pic>
        <p:nvPicPr>
          <p:cNvPr id="4" name="图片 3"/>
          <p:cNvPicPr>
            <a:picLocks noChangeAspect="1"/>
          </p:cNvPicPr>
          <p:nvPr>
            <p:custDataLst>
              <p:tags r:id="rId1"/>
            </p:custDataLst>
          </p:nvPr>
        </p:nvPicPr>
        <p:blipFill>
          <a:blip r:embed="rId2"/>
          <a:stretch>
            <a:fillRect/>
          </a:stretch>
        </p:blipFill>
        <p:spPr>
          <a:xfrm>
            <a:off x="1694180" y="2158365"/>
            <a:ext cx="8210550" cy="45935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Nelson</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38200" y="1538605"/>
            <a:ext cx="10515600" cy="3975735"/>
          </a:xfrm>
        </p:spPr>
        <p:txBody>
          <a:bodyPr>
            <a:noAutofit/>
          </a:bodyPr>
          <a:p>
            <a:pPr>
              <a:lnSpc>
                <a:spcPct val="130000"/>
              </a:lnSpc>
            </a:pPr>
            <a:r>
              <a:rPr lang="en-US" err="1">
                <a:latin typeface="Times New Roman" panose="02020603050405020304" pitchFamily="18" charset="0"/>
                <a:ea typeface="宋体" panose="02010600030101010101" pitchFamily="2" charset="-122"/>
                <a:cs typeface="Times New Roman" panose="02020603050405020304" pitchFamily="18" charset="0"/>
                <a:sym typeface="+mn-ea"/>
              </a:rPr>
              <a:t>Nelson</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模型是一种宏观、静态、面向数据的输入域模型</a:t>
            </a:r>
            <a:endParaRPr 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a:lnSpc>
                <a:spcPct val="130000"/>
              </a:lnSpc>
            </a:pPr>
            <a:r>
              <a:rPr lang="en-US" err="1">
                <a:latin typeface="Times New Roman" panose="02020603050405020304" pitchFamily="18" charset="0"/>
                <a:ea typeface="宋体" panose="02010600030101010101" pitchFamily="2" charset="-122"/>
                <a:cs typeface="Times New Roman" panose="02020603050405020304" pitchFamily="18" charset="0"/>
                <a:sym typeface="+mn-ea"/>
              </a:rPr>
              <a:t>Nelson</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模型假设：</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3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将软件看成是输入空间到输出空间的</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映射</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3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每个输入可以是软件的一种功能或运行路径的</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输入</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3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如果软件的输入空间</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E</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共有</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N</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个元素，测试结果发现有</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Nr</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个元素失败，则软件运行一次失败的概率为：</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 P = 1 - Nr / N</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lvl="1">
              <a:lnSpc>
                <a:spcPct val="110000"/>
              </a:lnSpc>
            </a:pP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1028045" cy="935355"/>
          </a:xfrm>
        </p:spPr>
        <p:txBody>
          <a:bodyPr>
            <a:normAutofit/>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r>
              <a:rPr lang="en-US" altLang="zh-CN">
                <a:solidFill>
                  <a:srgbClr val="C00000"/>
                </a:solidFill>
                <a:latin typeface="Times New Roman" panose="02020603050405020304" pitchFamily="18" charset="0"/>
                <a:cs typeface="Times New Roman" panose="02020603050405020304" pitchFamily="18" charset="0"/>
                <a:sym typeface="+mn-ea"/>
              </a:rPr>
              <a:t>Nelson</a:t>
            </a:r>
            <a:r>
              <a:rPr lang="zh-CN" altLang="en-US">
                <a:solidFill>
                  <a:srgbClr val="C00000"/>
                </a:solidFill>
                <a:latin typeface="Times New Roman" panose="02020603050405020304" pitchFamily="18" charset="0"/>
                <a:cs typeface="Times New Roman" panose="02020603050405020304" pitchFamily="18" charset="0"/>
                <a:sym typeface="+mn-ea"/>
              </a:rPr>
              <a:t>模型</a:t>
            </a:r>
            <a:endParaRPr lang="zh-CN" altLang="en-US">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38200" y="1538605"/>
            <a:ext cx="10515600" cy="3975735"/>
          </a:xfrm>
        </p:spPr>
        <p:txBody>
          <a:bodyPr>
            <a:noAutofit/>
          </a:bodyPr>
          <a:p>
            <a:pPr>
              <a:lnSpc>
                <a:spcPct val="13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软件运行一次无故障的概率</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为：</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gn="ctr">
              <a:lnSpc>
                <a:spcPct val="130000"/>
              </a:lnSpc>
              <a:buNone/>
            </a:pP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R(1) = 1-P = 1- Nr / N</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a:lnSpc>
                <a:spcPct val="130000"/>
              </a:lnSpc>
            </a:pP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软件运行</a:t>
            </a: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m</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次无故障的概率</a:t>
            </a:r>
            <a:r>
              <a:rPr lang="zh-CN" altLang="en-US" err="1">
                <a:latin typeface="Times New Roman" panose="02020603050405020304" pitchFamily="18" charset="0"/>
                <a:ea typeface="宋体" panose="02010600030101010101" pitchFamily="2" charset="-122"/>
                <a:cs typeface="Times New Roman" panose="02020603050405020304" pitchFamily="18" charset="0"/>
                <a:sym typeface="+mn-ea"/>
              </a:rPr>
              <a:t>为：</a:t>
            </a:r>
            <a:endParaRPr lang="zh-CN" altLang="en-US" err="1">
              <a:latin typeface="Times New Roman" panose="02020603050405020304" pitchFamily="18" charset="0"/>
              <a:ea typeface="宋体" panose="02010600030101010101" pitchFamily="2" charset="-122"/>
              <a:cs typeface="Times New Roman" panose="02020603050405020304" pitchFamily="18" charset="0"/>
              <a:sym typeface="+mn-ea"/>
            </a:endParaRPr>
          </a:p>
          <a:p>
            <a:pPr marL="0" indent="0" algn="ctr">
              <a:lnSpc>
                <a:spcPct val="130000"/>
              </a:lnSpc>
              <a:buNone/>
            </a:pPr>
            <a:r>
              <a:rPr lang="en-US" altLang="zh-CN" err="1">
                <a:latin typeface="Times New Roman" panose="02020603050405020304" pitchFamily="18" charset="0"/>
                <a:ea typeface="宋体" panose="02010600030101010101" pitchFamily="2" charset="-122"/>
                <a:cs typeface="Times New Roman" panose="02020603050405020304" pitchFamily="18" charset="0"/>
                <a:sym typeface="+mn-ea"/>
              </a:rPr>
              <a:t>R(m) =  (1- Nr / N)</a:t>
            </a:r>
            <a:r>
              <a:rPr lang="en-US" altLang="zh-CN" baseline="30000" err="1">
                <a:latin typeface="Times New Roman" panose="02020603050405020304" pitchFamily="18" charset="0"/>
                <a:ea typeface="宋体" panose="02010600030101010101" pitchFamily="2" charset="-122"/>
                <a:cs typeface="Times New Roman" panose="02020603050405020304" pitchFamily="18" charset="0"/>
                <a:sym typeface="+mn-ea"/>
              </a:rPr>
              <a:t>m</a:t>
            </a:r>
            <a:endParaRPr lang="en-US" altLang="zh-CN" baseline="30000" err="1">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a:xfrm>
            <a:off x="838200" y="1315720"/>
            <a:ext cx="10515600" cy="4638675"/>
          </a:xfrm>
        </p:spPr>
        <p:txBody>
          <a:bodyPr/>
          <a:p>
            <a:r>
              <a:rPr lang="zh-CN" altLang="en-US" dirty="0">
                <a:sym typeface="+mn-ea"/>
              </a:rPr>
              <a:t>软件可靠性模型的适用条件</a:t>
            </a:r>
            <a:endParaRPr lang="zh-CN" altLang="en-US"/>
          </a:p>
        </p:txBody>
      </p:sp>
      <p:graphicFrame>
        <p:nvGraphicFramePr>
          <p:cNvPr id="156825" name="内容占位符 156824"/>
          <p:cNvGraphicFramePr/>
          <p:nvPr>
            <p:ph sz="half" idx="2"/>
            <p:custDataLst>
              <p:tags r:id="rId1"/>
            </p:custDataLst>
          </p:nvPr>
        </p:nvGraphicFramePr>
        <p:xfrm>
          <a:off x="1558925" y="2077403"/>
          <a:ext cx="9074150" cy="4351655"/>
        </p:xfrm>
        <a:graphic>
          <a:graphicData uri="http://schemas.openxmlformats.org/drawingml/2006/table">
            <a:tbl>
              <a:tblPr/>
              <a:tblGrid>
                <a:gridCol w="2376805"/>
                <a:gridCol w="3600450"/>
                <a:gridCol w="1800225"/>
                <a:gridCol w="1296670"/>
              </a:tblGrid>
              <a:tr h="503555">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2300" b="1" dirty="0">
                          <a:latin typeface="Times New Roman" panose="02020603050405020304" pitchFamily="18" charset="0"/>
                          <a:ea typeface="宋体" panose="02010600030101010101" pitchFamily="2" charset="-122"/>
                        </a:rPr>
                        <a:t>模型</a:t>
                      </a:r>
                      <a:endParaRPr lang="zh-CN" altLang="en-US" sz="2300" b="1" dirty="0">
                        <a:latin typeface="Times New Roman" panose="02020603050405020304" pitchFamily="18" charset="0"/>
                        <a:ea typeface="宋体" panose="02010600030101010101" pitchFamily="2" charset="-122"/>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2300" b="1" dirty="0">
                          <a:latin typeface="Times New Roman" panose="02020603050405020304" pitchFamily="18" charset="0"/>
                          <a:ea typeface="宋体" panose="02010600030101010101" pitchFamily="2" charset="-122"/>
                        </a:rPr>
                        <a:t>假设</a:t>
                      </a:r>
                      <a:endParaRPr lang="zh-CN" altLang="en-US" sz="2300" b="1"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2300" b="1" dirty="0">
                          <a:latin typeface="Times New Roman" panose="02020603050405020304" pitchFamily="18" charset="0"/>
                          <a:ea typeface="宋体" panose="02010600030101010101" pitchFamily="2" charset="-122"/>
                        </a:rPr>
                        <a:t>适用阶段</a:t>
                      </a:r>
                      <a:endParaRPr lang="zh-CN" altLang="en-US" sz="2300" b="1"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zh-CN" altLang="en-US" sz="2300" b="1" dirty="0">
                          <a:latin typeface="Times New Roman" panose="02020603050405020304" pitchFamily="18" charset="0"/>
                          <a:ea typeface="宋体" panose="02010600030101010101" pitchFamily="2" charset="-122"/>
                        </a:rPr>
                        <a:t>难易度</a:t>
                      </a:r>
                      <a:endParaRPr lang="zh-CN" altLang="en-US" sz="2300" b="1"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r>
              <a:tr h="128270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2300" err="1">
                          <a:latin typeface="Times New Roman" panose="02020603050405020304" pitchFamily="18" charset="0"/>
                          <a:ea typeface="宋体" panose="02010600030101010101" pitchFamily="2" charset="-122"/>
                          <a:cs typeface="Times New Roman" panose="02020603050405020304" pitchFamily="18" charset="0"/>
                        </a:rPr>
                        <a:t>Mussa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基本模型</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2300" dirty="0">
                          <a:latin typeface="Times New Roman" panose="02020603050405020304" pitchFamily="18" charset="0"/>
                          <a:ea typeface="宋体" panose="02010600030101010101" pitchFamily="2" charset="-122"/>
                        </a:rPr>
                        <a:t>①优先固有缺陷数</a:t>
                      </a:r>
                      <a:endParaRPr lang="en-US" altLang="zh-CN" sz="2300">
                        <a:latin typeface="Times New Roman" panose="02020603050405020304" pitchFamily="18" charset="0"/>
                        <a:ea typeface="宋体" panose="02010600030101010101" pitchFamily="2" charset="-122"/>
                      </a:endParaRPr>
                    </a:p>
                    <a:p>
                      <a:pPr marL="0" lvl="0" indent="0">
                        <a:buNone/>
                      </a:pPr>
                      <a:r>
                        <a:rPr lang="zh-CN" altLang="en-US" sz="2300" dirty="0">
                          <a:latin typeface="Times New Roman" panose="02020603050405020304" pitchFamily="18" charset="0"/>
                          <a:ea typeface="宋体" panose="02010600030101010101" pitchFamily="2" charset="-122"/>
                        </a:rPr>
                        <a:t>②常数故障率</a:t>
                      </a:r>
                      <a:endParaRPr lang="en-US" altLang="zh-CN" sz="2300">
                        <a:latin typeface="Times New Roman" panose="02020603050405020304" pitchFamily="18" charset="0"/>
                        <a:ea typeface="宋体" panose="02010600030101010101" pitchFamily="2" charset="-122"/>
                      </a:endParaRPr>
                    </a:p>
                    <a:p>
                      <a:pPr marL="0" lvl="0" indent="0">
                        <a:buNone/>
                      </a:pPr>
                      <a:r>
                        <a:rPr lang="zh-CN" altLang="en-US" sz="2300" dirty="0">
                          <a:latin typeface="Times New Roman" panose="02020603050405020304" pitchFamily="18" charset="0"/>
                          <a:ea typeface="宋体" panose="02010600030101010101" pitchFamily="2" charset="-122"/>
                        </a:rPr>
                        <a:t>③指数分布</a:t>
                      </a:r>
                      <a:endParaRPr lang="en-US" altLang="zh-CN" sz="230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2300" dirty="0">
                          <a:latin typeface="Times New Roman" panose="02020603050405020304" pitchFamily="18" charset="0"/>
                          <a:ea typeface="宋体" panose="02010600030101010101" pitchFamily="2" charset="-122"/>
                        </a:rPr>
                        <a:t>集成测试后</a:t>
                      </a:r>
                      <a:endParaRPr lang="zh-CN" altLang="en-US" sz="23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en-US" altLang="zh-CN" sz="2300">
                          <a:latin typeface="Times New Roman" panose="02020603050405020304" pitchFamily="18" charset="0"/>
                          <a:ea typeface="宋体" panose="02010600030101010101" pitchFamily="2" charset="-122"/>
                          <a:cs typeface="Times New Roman" panose="02020603050405020304" pitchFamily="18" charset="0"/>
                        </a:rPr>
                        <a:t>E</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28270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2300" err="1">
                          <a:latin typeface="Times New Roman" panose="02020603050405020304" pitchFamily="18" charset="0"/>
                          <a:ea typeface="宋体" panose="02010600030101010101" pitchFamily="2" charset="-122"/>
                          <a:cs typeface="Times New Roman" panose="02020603050405020304" pitchFamily="18" charset="0"/>
                        </a:rPr>
                        <a:t>Mussa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对数模型</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2300" dirty="0">
                          <a:latin typeface="Times New Roman" panose="02020603050405020304" pitchFamily="18" charset="0"/>
                          <a:ea typeface="宋体" panose="02010600030101010101" pitchFamily="2" charset="-122"/>
                        </a:rPr>
                        <a:t>①无限固有缺陷数</a:t>
                      </a:r>
                      <a:endParaRPr lang="en-US" altLang="zh-CN" sz="2300">
                        <a:latin typeface="Times New Roman" panose="02020603050405020304" pitchFamily="18" charset="0"/>
                        <a:ea typeface="宋体" panose="02010600030101010101" pitchFamily="2" charset="-122"/>
                      </a:endParaRPr>
                    </a:p>
                    <a:p>
                      <a:pPr marL="0" lvl="0" indent="0">
                        <a:buNone/>
                      </a:pPr>
                      <a:r>
                        <a:rPr lang="zh-CN" altLang="en-US" sz="2300" dirty="0">
                          <a:latin typeface="Times New Roman" panose="02020603050405020304" pitchFamily="18" charset="0"/>
                          <a:ea typeface="宋体" panose="02010600030101010101" pitchFamily="2" charset="-122"/>
                        </a:rPr>
                        <a:t>②对数分布</a:t>
                      </a:r>
                      <a:endParaRPr lang="en-US" altLang="zh-CN" sz="2300">
                        <a:latin typeface="Times New Roman" panose="02020603050405020304" pitchFamily="18" charset="0"/>
                        <a:ea typeface="宋体" panose="02010600030101010101" pitchFamily="2" charset="-122"/>
                      </a:endParaRPr>
                    </a:p>
                    <a:p>
                      <a:pPr marL="0" lvl="0" indent="0">
                        <a:buNone/>
                      </a:pPr>
                      <a:r>
                        <a:rPr lang="zh-CN" altLang="en-US" sz="2300" dirty="0">
                          <a:latin typeface="Times New Roman" panose="02020603050405020304" pitchFamily="18" charset="0"/>
                          <a:ea typeface="宋体" panose="02010600030101010101" pitchFamily="2" charset="-122"/>
                        </a:rPr>
                        <a:t>③故障率随时间变化</a:t>
                      </a:r>
                      <a:endParaRPr lang="en-US" altLang="zh-CN" sz="230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2300" dirty="0">
                          <a:latin typeface="Times New Roman" panose="02020603050405020304" pitchFamily="18" charset="0"/>
                          <a:ea typeface="宋体" panose="02010600030101010101" pitchFamily="2" charset="-122"/>
                        </a:rPr>
                        <a:t>单元测试到系统测试</a:t>
                      </a:r>
                      <a:endParaRPr lang="zh-CN" altLang="en-US" sz="23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en-US" altLang="zh-CN" sz="2300">
                          <a:latin typeface="Times New Roman" panose="02020603050405020304" pitchFamily="18" charset="0"/>
                          <a:ea typeface="宋体" panose="02010600030101010101" pitchFamily="2" charset="-122"/>
                          <a:cs typeface="Times New Roman" panose="02020603050405020304" pitchFamily="18" charset="0"/>
                        </a:rPr>
                        <a:t>E</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282700">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en-US" altLang="zh-CN" sz="2300" err="1">
                          <a:latin typeface="Times New Roman" panose="02020603050405020304" pitchFamily="18" charset="0"/>
                          <a:ea typeface="宋体" panose="02010600030101010101" pitchFamily="2" charset="-122"/>
                          <a:cs typeface="Times New Roman" panose="02020603050405020304" pitchFamily="18" charset="0"/>
                        </a:rPr>
                        <a:t>Goel-Ukumoto</a:t>
                      </a:r>
                      <a:endParaRPr lang="en-US" altLang="zh-CN" sz="2300" err="1">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①非时齐缺陷分布</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②缺陷可能因修复而产生</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p>
                      <a:pPr marL="0" lvl="0" indent="0">
                        <a:buNone/>
                      </a:pP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③指数、</a:t>
                      </a:r>
                      <a:r>
                        <a:rPr lang="en-US" altLang="zh-CN" sz="2300" err="1">
                          <a:latin typeface="Times New Roman" panose="02020603050405020304" pitchFamily="18" charset="0"/>
                          <a:ea typeface="宋体" panose="02010600030101010101" pitchFamily="2" charset="-122"/>
                          <a:cs typeface="Times New Roman" panose="02020603050405020304" pitchFamily="18" charset="0"/>
                        </a:rPr>
                        <a:t>Weibull</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分布</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buNone/>
                      </a:pPr>
                      <a:r>
                        <a:rPr lang="zh-CN" altLang="en-US" sz="2300" dirty="0">
                          <a:latin typeface="Times New Roman" panose="02020603050405020304" pitchFamily="18" charset="0"/>
                          <a:ea typeface="宋体" panose="02010600030101010101" pitchFamily="2" charset="-122"/>
                        </a:rPr>
                        <a:t>集成测试后</a:t>
                      </a:r>
                      <a:endParaRPr lang="zh-CN" altLang="en-US" sz="2300" dirty="0">
                        <a:latin typeface="Times New Roman" panose="02020603050405020304" pitchFamily="18" charset="0"/>
                        <a:ea typeface="宋体" panose="02010600030101010101" pitchFamily="2" charset="-122"/>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accent2"/>
                        </a:buClr>
                        <a:buSzPct val="75000"/>
                        <a:buFont typeface="Wingdings" panose="05000000000000000000" pitchFamily="2" charset="2"/>
                        <a:buChar char="n"/>
                        <a:defRPr sz="2700" u="none" kern="1200" baseline="0">
                          <a:solidFill>
                            <a:schemeClr val="tx1"/>
                          </a:solidFill>
                          <a:latin typeface="Comic Sans MS" panose="030F0702030302020204" pitchFamily="66" charset="0"/>
                          <a:ea typeface="幼圆" panose="02010509060101010101" pitchFamily="49" charset="-122"/>
                        </a:defRPr>
                      </a:lvl1pPr>
                      <a:lvl2pPr marL="742950" lvl="1" indent="-28575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Comic Sans MS" panose="030F0702030302020204" pitchFamily="66" charset="0"/>
                          <a:ea typeface="幼圆" panose="02010509060101010101"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000" b="0" i="0" u="none" kern="1200" baseline="0">
                          <a:solidFill>
                            <a:schemeClr val="tx1"/>
                          </a:solidFill>
                          <a:latin typeface="Comic Sans MS" panose="030F0702030302020204" pitchFamily="66" charset="0"/>
                          <a:ea typeface="幼圆" panose="02010509060101010101" pitchFamily="49" charset="-122"/>
                        </a:defRPr>
                      </a:lvl3pPr>
                      <a:lvl4pPr marL="1600200" lvl="3" indent="-228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4pPr>
                      <a:lvl5pPr marL="2057400" lvl="4" indent="-228600" algn="l" defTabSz="914400" rtl="0" eaLnBrk="1" fontAlgn="base" latinLnBrk="0" hangingPunct="1">
                        <a:lnSpc>
                          <a:spcPct val="100000"/>
                        </a:lnSpc>
                        <a:spcBef>
                          <a:spcPct val="20000"/>
                        </a:spcBef>
                        <a:spcAft>
                          <a:spcPct val="0"/>
                        </a:spcAft>
                        <a:buClr>
                          <a:schemeClr val="tx1"/>
                        </a:buClr>
                        <a:buSzPct val="85000"/>
                        <a:buFont typeface="Wingdings" panose="05000000000000000000" pitchFamily="2" charset="2"/>
                        <a:buChar char="§"/>
                        <a:defRPr sz="1800" b="0" i="0" u="none" kern="1200" baseline="0">
                          <a:solidFill>
                            <a:schemeClr val="tx1"/>
                          </a:solidFill>
                          <a:latin typeface="Comic Sans MS" panose="030F0702030302020204" pitchFamily="66" charset="0"/>
                          <a:ea typeface="幼圆" panose="02010509060101010101" pitchFamily="49" charset="-122"/>
                        </a:defRPr>
                      </a:lvl5pPr>
                    </a:lstStyle>
                    <a:p>
                      <a:pPr marL="0" lvl="0" indent="0" algn="ctr">
                        <a:buNone/>
                      </a:pPr>
                      <a:r>
                        <a:rPr lang="en-US" altLang="zh-CN" sz="2300">
                          <a:latin typeface="Times New Roman" panose="02020603050405020304" pitchFamily="18" charset="0"/>
                          <a:ea typeface="宋体" panose="02010600030101010101" pitchFamily="2" charset="-122"/>
                          <a:cs typeface="Times New Roman" panose="02020603050405020304" pitchFamily="18" charset="0"/>
                        </a:rPr>
                        <a:t>M</a:t>
                      </a:r>
                      <a:endParaRPr lang="en-US" altLang="zh-CN" sz="2300">
                        <a:latin typeface="Times New Roman" panose="02020603050405020304" pitchFamily="18" charset="0"/>
                        <a:ea typeface="宋体" panose="02010600030101010101" pitchFamily="2" charset="-122"/>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a:xfrm>
            <a:off x="838200" y="1315720"/>
            <a:ext cx="10515600" cy="4638675"/>
          </a:xfrm>
        </p:spPr>
        <p:txBody>
          <a:bodyPr/>
          <a:p>
            <a:r>
              <a:rPr lang="zh-CN" altLang="en-US" dirty="0">
                <a:sym typeface="+mn-ea"/>
              </a:rPr>
              <a:t>软件可靠性模型的</a:t>
            </a:r>
            <a:r>
              <a:rPr lang="zh-CN" altLang="en-US" dirty="0">
                <a:sym typeface="+mn-ea"/>
              </a:rPr>
              <a:t>适用性</a:t>
            </a:r>
            <a:endParaRPr lang="zh-CN" altLang="en-US" dirty="0">
              <a:sym typeface="+mn-ea"/>
            </a:endParaRPr>
          </a:p>
        </p:txBody>
      </p:sp>
      <p:graphicFrame>
        <p:nvGraphicFramePr>
          <p:cNvPr id="4" name="表格 3"/>
          <p:cNvGraphicFramePr/>
          <p:nvPr>
            <p:custDataLst>
              <p:tags r:id="rId1"/>
            </p:custDataLst>
          </p:nvPr>
        </p:nvGraphicFramePr>
        <p:xfrm>
          <a:off x="968375" y="2413635"/>
          <a:ext cx="10142220" cy="5551805"/>
        </p:xfrm>
        <a:graphic>
          <a:graphicData uri="http://schemas.openxmlformats.org/drawingml/2006/table">
            <a:tbl>
              <a:tblPr firstRow="1" bandRow="1">
                <a:tableStyleId>{5C22544A-7EE6-4342-B048-85BDC9FD1C3A}</a:tableStyleId>
              </a:tblPr>
              <a:tblGrid>
                <a:gridCol w="2526030"/>
                <a:gridCol w="1269365"/>
                <a:gridCol w="1269365"/>
                <a:gridCol w="1269365"/>
                <a:gridCol w="1269365"/>
                <a:gridCol w="1269365"/>
                <a:gridCol w="1269365"/>
              </a:tblGrid>
              <a:tr h="377825">
                <a:tc rowSpan="3">
                  <a:txBody>
                    <a:bodyPr/>
                    <a:p>
                      <a:pPr>
                        <a:buNone/>
                      </a:pPr>
                      <a:r>
                        <a:rPr lang="zh-CN" altLang="en-US"/>
                        <a:t>开发阶段</a:t>
                      </a:r>
                      <a:endParaRPr lang="zh-CN" altLang="en-US"/>
                    </a:p>
                  </a:txBody>
                  <a:tcPr anchor="ctr" anchorCtr="1"/>
                </a:tc>
                <a:tc gridSpan="3">
                  <a:txBody>
                    <a:bodyPr/>
                    <a:p>
                      <a:pPr>
                        <a:buNone/>
                      </a:pPr>
                      <a:r>
                        <a:rPr lang="zh-CN" altLang="en-US"/>
                        <a:t>动态</a:t>
                      </a:r>
                      <a:endParaRPr lang="zh-CN" altLang="en-US"/>
                    </a:p>
                  </a:txBody>
                  <a:tcPr anchor="ctr" anchorCtr="1"/>
                </a:tc>
                <a:tc hMerge="1">
                  <a:tcPr/>
                </a:tc>
                <a:tc hMerge="1">
                  <a:tcPr/>
                </a:tc>
                <a:tc gridSpan="3">
                  <a:txBody>
                    <a:bodyPr/>
                    <a:p>
                      <a:pPr>
                        <a:buNone/>
                      </a:pPr>
                      <a:r>
                        <a:rPr lang="zh-CN" altLang="en-US"/>
                        <a:t>静态</a:t>
                      </a:r>
                      <a:endParaRPr lang="zh-CN" altLang="en-US"/>
                    </a:p>
                  </a:txBody>
                  <a:tcPr anchor="ctr" anchorCtr="1"/>
                </a:tc>
                <a:tc hMerge="1">
                  <a:tcPr/>
                </a:tc>
                <a:tc hMerge="1">
                  <a:tcPr/>
                </a:tc>
              </a:tr>
              <a:tr h="377825">
                <a:tc vMerge="1">
                  <a:tcPr/>
                </a:tc>
                <a:tc gridSpan="2">
                  <a:txBody>
                    <a:bodyPr/>
                    <a:p>
                      <a:pPr>
                        <a:buNone/>
                      </a:pPr>
                      <a:r>
                        <a:rPr lang="zh-CN" altLang="en-US"/>
                        <a:t>宏观模型</a:t>
                      </a:r>
                      <a:endParaRPr lang="zh-CN" altLang="en-US"/>
                    </a:p>
                  </a:txBody>
                  <a:tcPr anchor="ctr" anchorCtr="1"/>
                </a:tc>
                <a:tc hMerge="1">
                  <a:tcPr/>
                </a:tc>
                <a:tc rowSpan="2">
                  <a:txBody>
                    <a:bodyPr/>
                    <a:p>
                      <a:pPr>
                        <a:buNone/>
                      </a:pPr>
                      <a:r>
                        <a:rPr lang="zh-CN" altLang="en-US"/>
                        <a:t>微观模型</a:t>
                      </a:r>
                      <a:endParaRPr lang="zh-CN" altLang="en-US"/>
                    </a:p>
                  </a:txBody>
                  <a:tcPr anchor="ctr" anchorCtr="1"/>
                </a:tc>
                <a:tc rowSpan="2">
                  <a:txBody>
                    <a:bodyPr/>
                    <a:p>
                      <a:pPr>
                        <a:buNone/>
                      </a:pPr>
                      <a:r>
                        <a:rPr lang="zh-CN" altLang="en-US"/>
                        <a:t>缺陷播</a:t>
                      </a:r>
                      <a:endParaRPr lang="zh-CN" altLang="en-US"/>
                    </a:p>
                    <a:p>
                      <a:pPr>
                        <a:buNone/>
                      </a:pPr>
                      <a:r>
                        <a:rPr lang="zh-CN" altLang="en-US"/>
                        <a:t>种</a:t>
                      </a:r>
                      <a:r>
                        <a:rPr lang="zh-CN" altLang="en-US"/>
                        <a:t>模型</a:t>
                      </a:r>
                      <a:endParaRPr lang="zh-CN" altLang="en-US"/>
                    </a:p>
                  </a:txBody>
                  <a:tcPr anchor="ctr" anchorCtr="1"/>
                </a:tc>
                <a:tc rowSpan="2">
                  <a:txBody>
                    <a:bodyPr/>
                    <a:p>
                      <a:pPr>
                        <a:buNone/>
                      </a:pPr>
                      <a:r>
                        <a:rPr lang="zh-CN" altLang="en-US"/>
                        <a:t>数据域</a:t>
                      </a:r>
                      <a:r>
                        <a:rPr lang="zh-CN" altLang="en-US"/>
                        <a:t>模型</a:t>
                      </a:r>
                      <a:endParaRPr lang="zh-CN" altLang="en-US"/>
                    </a:p>
                  </a:txBody>
                  <a:tcPr anchor="ctr" anchorCtr="1"/>
                </a:tc>
                <a:tc rowSpan="2">
                  <a:txBody>
                    <a:bodyPr/>
                    <a:p>
                      <a:pPr>
                        <a:buNone/>
                      </a:pPr>
                      <a:r>
                        <a:rPr lang="zh-CN" altLang="en-US"/>
                        <a:t>经验模型</a:t>
                      </a:r>
                      <a:endParaRPr lang="zh-CN" altLang="en-US"/>
                    </a:p>
                  </a:txBody>
                  <a:tcPr anchor="ctr" anchorCtr="1"/>
                </a:tc>
              </a:tr>
              <a:tr h="377825">
                <a:tc vMerge="1">
                  <a:tcPr/>
                </a:tc>
                <a:tc>
                  <a:txBody>
                    <a:bodyPr/>
                    <a:p>
                      <a:pPr>
                        <a:buNone/>
                      </a:pPr>
                      <a:r>
                        <a:rPr lang="zh-CN" altLang="en-US"/>
                        <a:t>故障时间</a:t>
                      </a:r>
                      <a:endParaRPr lang="zh-CN" altLang="en-US"/>
                    </a:p>
                  </a:txBody>
                  <a:tcPr anchor="ctr" anchorCtr="1"/>
                </a:tc>
                <a:tc>
                  <a:txBody>
                    <a:bodyPr/>
                    <a:p>
                      <a:pPr>
                        <a:buNone/>
                      </a:pPr>
                      <a:r>
                        <a:rPr lang="zh-CN" altLang="en-US"/>
                        <a:t>故障</a:t>
                      </a:r>
                      <a:r>
                        <a:rPr lang="zh-CN" altLang="en-US"/>
                        <a:t>计数</a:t>
                      </a:r>
                      <a:endParaRPr lang="zh-CN" altLang="en-US"/>
                    </a:p>
                  </a:txBody>
                  <a:tcPr anchor="ctr" anchorCtr="1"/>
                </a:tc>
                <a:tc vMerge="1">
                  <a:tcPr/>
                </a:tc>
                <a:tc vMerge="1">
                  <a:tcPr/>
                </a:tc>
                <a:tc vMerge="1">
                  <a:tcPr/>
                </a:tc>
                <a:tc vMerge="1">
                  <a:tcPr/>
                </a:tc>
              </a:tr>
              <a:tr h="377825">
                <a:tc>
                  <a:txBody>
                    <a:bodyPr/>
                    <a:p>
                      <a:pPr>
                        <a:buNone/>
                      </a:pPr>
                      <a:r>
                        <a:rPr lang="zh-CN" altLang="en-US"/>
                        <a:t>需求分析</a:t>
                      </a:r>
                      <a:endParaRPr lang="zh-CN" altLang="en-US"/>
                    </a:p>
                  </a:txBody>
                  <a:tcPr anchor="ctr" anchorCtr="1"/>
                </a:tc>
                <a:tc>
                  <a:txBody>
                    <a:bodyPr/>
                    <a:p>
                      <a:pPr>
                        <a:buNone/>
                      </a:pPr>
                      <a:endParaRPr lang="zh-CN" altLang="en-US">
                        <a:latin typeface="微软雅黑" panose="020B0503020204020204" charset="-122"/>
                        <a:ea typeface="微软雅黑" panose="020B0503020204020204" charset="-122"/>
                      </a:endParaRPr>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r>
              <a:tr h="377825">
                <a:tc>
                  <a:txBody>
                    <a:bodyPr/>
                    <a:p>
                      <a:pPr>
                        <a:buNone/>
                      </a:pPr>
                      <a:r>
                        <a:rPr lang="zh-CN" altLang="en-US"/>
                        <a:t>概要设计</a:t>
                      </a: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r>
              <a:tr h="377825">
                <a:tc>
                  <a:txBody>
                    <a:bodyPr/>
                    <a:p>
                      <a:pPr>
                        <a:buNone/>
                      </a:pPr>
                      <a:r>
                        <a:rPr lang="zh-CN" altLang="en-US"/>
                        <a:t>详细设计</a:t>
                      </a: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r>
              <a:tr h="377825">
                <a:tc>
                  <a:txBody>
                    <a:bodyPr/>
                    <a:p>
                      <a:pPr>
                        <a:buNone/>
                      </a:pPr>
                      <a:r>
                        <a:rPr lang="zh-CN" altLang="en-US"/>
                        <a:t>实现</a:t>
                      </a: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r>
              <a:tr h="377825">
                <a:tc>
                  <a:txBody>
                    <a:bodyPr/>
                    <a:p>
                      <a:pPr>
                        <a:buNone/>
                      </a:pPr>
                      <a:r>
                        <a:rPr lang="zh-CN" altLang="en-US"/>
                        <a:t>测试</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endParaRPr lang="zh-CN" altLang="en-US"/>
                    </a:p>
                  </a:txBody>
                  <a:tcPr anchor="ctr" anchorCtr="1"/>
                </a:tc>
                <a:tc>
                  <a:txBody>
                    <a:bodyPr/>
                    <a:p>
                      <a:pPr>
                        <a:buNone/>
                      </a:pPr>
                      <a:endParaRPr lang="zh-CN" altLang="en-US"/>
                    </a:p>
                  </a:txBody>
                  <a:tcPr anchor="ctr" anchorCtr="1"/>
                </a:tc>
              </a:tr>
              <a:tr h="377825">
                <a:tc>
                  <a:txBody>
                    <a:bodyPr/>
                    <a:p>
                      <a:pPr>
                        <a:buNone/>
                      </a:pPr>
                      <a:r>
                        <a:rPr lang="zh-CN" altLang="en-US"/>
                        <a:t>确认</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r>
                        <a:rPr lang="zh-CN" altLang="en-US" sz="1800">
                          <a:latin typeface="微软雅黑" panose="020B0503020204020204" charset="-122"/>
                          <a:ea typeface="微软雅黑" panose="020B0503020204020204" charset="-122"/>
                          <a:sym typeface="+mn-ea"/>
                        </a:rPr>
                        <a:t>√</a:t>
                      </a:r>
                      <a:endParaRPr lang="zh-CN" altLang="en-US"/>
                    </a:p>
                  </a:txBody>
                  <a:tcPr anchor="ctr" anchorCtr="1"/>
                </a:tc>
                <a:tc>
                  <a:txBody>
                    <a:bodyPr/>
                    <a:p>
                      <a:pPr>
                        <a:buNone/>
                      </a:pPr>
                      <a:endParaRPr lang="zh-CN" altLang="en-US"/>
                    </a:p>
                  </a:txBody>
                  <a:tcPr anchor="ctr" anchorCtr="1"/>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p:txBody>
          <a:bodyPr/>
          <a:p>
            <a:r>
              <a:rPr lang="zh-CN" altLang="en-US"/>
              <a:t>软件可靠性增长模型预计可能出现不一致的问题，不一致性表现有</a:t>
            </a:r>
            <a:r>
              <a:rPr lang="zh-CN" altLang="en-US"/>
              <a:t>三个方面：</a:t>
            </a:r>
            <a:endParaRPr lang="zh-CN" altLang="en-US"/>
          </a:p>
          <a:p>
            <a:pPr lvl="1"/>
            <a:r>
              <a:rPr lang="zh-CN" altLang="en-US"/>
              <a:t>对同一组失效数据，</a:t>
            </a:r>
            <a:r>
              <a:rPr lang="zh-CN" altLang="en-US" b="1">
                <a:solidFill>
                  <a:srgbClr val="FF0000"/>
                </a:solidFill>
              </a:rPr>
              <a:t>不同的模型</a:t>
            </a:r>
            <a:r>
              <a:rPr lang="zh-CN" altLang="en-US"/>
              <a:t>预计的结果可能呈现很大的</a:t>
            </a:r>
            <a:r>
              <a:rPr lang="zh-CN" altLang="en-US"/>
              <a:t>不一致性</a:t>
            </a:r>
            <a:endParaRPr lang="zh-CN" altLang="en-US"/>
          </a:p>
          <a:p>
            <a:pPr lvl="1"/>
            <a:r>
              <a:rPr lang="zh-CN" altLang="en-US"/>
              <a:t>对</a:t>
            </a:r>
            <a:r>
              <a:rPr lang="zh-CN" altLang="en-US" b="1">
                <a:solidFill>
                  <a:srgbClr val="FF0000"/>
                </a:solidFill>
              </a:rPr>
              <a:t>不同的数据</a:t>
            </a:r>
            <a:r>
              <a:rPr lang="zh-CN" altLang="en-US"/>
              <a:t>，应用同一模型进行评估、预计，其预计的质量可能呈现</a:t>
            </a:r>
            <a:r>
              <a:rPr lang="zh-CN" altLang="en-US"/>
              <a:t>不一致性</a:t>
            </a:r>
            <a:endParaRPr lang="zh-CN" altLang="en-US"/>
          </a:p>
          <a:p>
            <a:pPr lvl="1"/>
            <a:r>
              <a:rPr lang="zh-CN" altLang="en-US"/>
              <a:t>将统一模型用于同一组数据的</a:t>
            </a:r>
            <a:r>
              <a:rPr lang="zh-CN" altLang="en-US" b="1">
                <a:solidFill>
                  <a:srgbClr val="FF0000"/>
                </a:solidFill>
              </a:rPr>
              <a:t>不同阶段</a:t>
            </a:r>
            <a:r>
              <a:rPr lang="zh-CN" altLang="en-US"/>
              <a:t>，预计的质量呈现</a:t>
            </a:r>
            <a:r>
              <a:rPr lang="zh-CN" altLang="en-US"/>
              <a:t>不一致性</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p:txBody>
          <a:bodyPr>
            <a:normAutofit lnSpcReduction="20000"/>
          </a:bodyPr>
          <a:p>
            <a:r>
              <a:rPr lang="zh-CN" altLang="en-US"/>
              <a:t>不能事先选取最好的可靠性模型，根本原因是模型对失效过程所做的</a:t>
            </a:r>
            <a:r>
              <a:rPr lang="zh-CN" altLang="en-US" b="1">
                <a:solidFill>
                  <a:srgbClr val="FF0000"/>
                </a:solidFill>
              </a:rPr>
              <a:t>假设的不合理性</a:t>
            </a:r>
            <a:r>
              <a:rPr lang="zh-CN" altLang="en-US"/>
              <a:t>，许多影响失效过程的特性都被忽略</a:t>
            </a:r>
            <a:r>
              <a:rPr lang="zh-CN" altLang="en-US"/>
              <a:t>了</a:t>
            </a:r>
            <a:endParaRPr lang="zh-CN" altLang="en-US"/>
          </a:p>
          <a:p>
            <a:r>
              <a:rPr lang="zh-CN" altLang="en-US"/>
              <a:t>可能产生影响的因素</a:t>
            </a:r>
            <a:r>
              <a:rPr lang="zh-CN" altLang="en-US"/>
              <a:t>有：</a:t>
            </a:r>
            <a:endParaRPr lang="zh-CN" altLang="en-US"/>
          </a:p>
          <a:p>
            <a:pPr lvl="1"/>
            <a:r>
              <a:rPr lang="zh-CN" altLang="en-US"/>
              <a:t>解决的问题的</a:t>
            </a:r>
            <a:r>
              <a:rPr lang="zh-CN" altLang="en-US"/>
              <a:t>不同</a:t>
            </a:r>
            <a:endParaRPr lang="zh-CN" altLang="en-US"/>
          </a:p>
          <a:p>
            <a:pPr lvl="1"/>
            <a:r>
              <a:rPr lang="zh-CN" altLang="en-US"/>
              <a:t>开发的过程</a:t>
            </a:r>
            <a:r>
              <a:rPr lang="zh-CN" altLang="en-US"/>
              <a:t>不同</a:t>
            </a:r>
            <a:endParaRPr lang="zh-CN" altLang="en-US"/>
          </a:p>
          <a:p>
            <a:pPr lvl="1"/>
            <a:r>
              <a:rPr lang="zh-CN" altLang="en-US"/>
              <a:t>结构不同</a:t>
            </a:r>
            <a:endParaRPr lang="zh-CN" altLang="en-US"/>
          </a:p>
          <a:p>
            <a:pPr lvl="1"/>
            <a:r>
              <a:rPr lang="zh-CN" altLang="en-US"/>
              <a:t>使用环境</a:t>
            </a:r>
            <a:r>
              <a:rPr lang="zh-CN" altLang="en-US"/>
              <a:t>不同</a:t>
            </a:r>
            <a:endParaRPr lang="zh-CN" altLang="en-US"/>
          </a:p>
          <a:p>
            <a:pPr lvl="1"/>
            <a:r>
              <a:rPr lang="zh-CN" altLang="en-US"/>
              <a:t>内部错误机理机制</a:t>
            </a:r>
            <a:r>
              <a:rPr lang="zh-CN" altLang="en-US"/>
              <a:t>不同</a:t>
            </a:r>
            <a:endParaRPr lang="zh-CN" altLang="en-US"/>
          </a:p>
          <a:p>
            <a:pPr lvl="1"/>
            <a:r>
              <a:rPr lang="en-US" altLang="zh-CN"/>
              <a:t>...</a:t>
            </a:r>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p:txBody>
          <a:bodyPr/>
          <a:p>
            <a:r>
              <a:rPr lang="zh-CN" altLang="en-US"/>
              <a:t>软件可靠性模型应用面临的两个</a:t>
            </a:r>
            <a:r>
              <a:rPr lang="zh-CN" altLang="en-US"/>
              <a:t>问题：</a:t>
            </a:r>
            <a:endParaRPr lang="zh-CN" altLang="en-US"/>
          </a:p>
          <a:p>
            <a:pPr lvl="1"/>
            <a:r>
              <a:rPr lang="zh-CN" altLang="en-US"/>
              <a:t>不能相信一个模型总能给出准确的</a:t>
            </a:r>
            <a:r>
              <a:rPr lang="zh-CN" altLang="en-US"/>
              <a:t>预计</a:t>
            </a:r>
            <a:endParaRPr lang="zh-CN" altLang="en-US"/>
          </a:p>
          <a:p>
            <a:pPr lvl="1"/>
            <a:r>
              <a:rPr lang="zh-CN" altLang="en-US"/>
              <a:t>事先无法知道哪一个</a:t>
            </a:r>
            <a:r>
              <a:rPr lang="zh-CN" altLang="en-US"/>
              <a:t>模型好</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4967605" y="3665220"/>
            <a:ext cx="4002405" cy="175831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p:txBody>
          <a:bodyPr/>
          <a:p>
            <a:r>
              <a:rPr lang="zh-CN" altLang="en-US"/>
              <a:t>软件可靠性模型应用问题的解决</a:t>
            </a:r>
            <a:r>
              <a:rPr lang="zh-CN" altLang="en-US"/>
              <a:t>方案：</a:t>
            </a:r>
            <a:endParaRPr lang="zh-CN" altLang="en-US"/>
          </a:p>
          <a:p>
            <a:pPr lvl="1"/>
            <a:r>
              <a:rPr lang="zh-CN" altLang="en-US"/>
              <a:t>对模型的预计准确度进行评估，即对每个模型的预计结果（针对一套数据）的</a:t>
            </a:r>
            <a:r>
              <a:rPr lang="zh-CN" altLang="en-US" b="1">
                <a:solidFill>
                  <a:srgbClr val="FF0000"/>
                </a:solidFill>
              </a:rPr>
              <a:t>准确度进行评价</a:t>
            </a:r>
            <a:r>
              <a:rPr lang="zh-CN" altLang="en-US"/>
              <a:t>，确定相对最优的</a:t>
            </a:r>
            <a:r>
              <a:rPr lang="zh-CN" altLang="en-US"/>
              <a:t>模型</a:t>
            </a:r>
            <a:endParaRPr lang="zh-CN" altLang="en-US"/>
          </a:p>
          <a:p>
            <a:pPr lvl="1"/>
            <a:r>
              <a:rPr lang="zh-CN" altLang="en-US"/>
              <a:t>原理：将一个预计和实际观测（后来做出的）进行比较，逐步地建立起一个</a:t>
            </a:r>
            <a:r>
              <a:rPr lang="zh-CN" altLang="en-US" b="1">
                <a:solidFill>
                  <a:srgbClr val="FF0000"/>
                </a:solidFill>
              </a:rPr>
              <a:t>预计</a:t>
            </a:r>
            <a:r>
              <a:rPr lang="en-US" altLang="zh-CN" b="1">
                <a:solidFill>
                  <a:srgbClr val="FF0000"/>
                </a:solidFill>
              </a:rPr>
              <a:t>/</a:t>
            </a:r>
            <a:r>
              <a:rPr lang="zh-CN" altLang="en-US" b="1">
                <a:solidFill>
                  <a:srgbClr val="FF0000"/>
                </a:solidFill>
              </a:rPr>
              <a:t>观测比较序列</a:t>
            </a:r>
            <a:r>
              <a:rPr lang="zh-CN" altLang="en-US"/>
              <a:t>，通过这个序列我们可以获得有关过去预计准确性地信息，从而对现在预计做出</a:t>
            </a:r>
            <a:r>
              <a:rPr lang="zh-CN" altLang="en-US"/>
              <a:t>决策</a:t>
            </a:r>
            <a:endParaRPr lang="zh-CN" altLang="en-US"/>
          </a:p>
          <a:p>
            <a:pPr lvl="1"/>
            <a:r>
              <a:rPr lang="zh-CN" altLang="en-US"/>
              <a:t>常用工具有：</a:t>
            </a:r>
            <a:r>
              <a:rPr lang="en-US" altLang="zh-CN" b="1">
                <a:solidFill>
                  <a:srgbClr val="FF0000"/>
                </a:solidFill>
              </a:rPr>
              <a:t>U</a:t>
            </a:r>
            <a:r>
              <a:rPr lang="zh-CN" altLang="en-US" b="1">
                <a:solidFill>
                  <a:srgbClr val="FF0000"/>
                </a:solidFill>
              </a:rPr>
              <a:t>图、</a:t>
            </a:r>
            <a:r>
              <a:rPr lang="en-US" altLang="zh-CN" b="1">
                <a:solidFill>
                  <a:srgbClr val="FF0000"/>
                </a:solidFill>
              </a:rPr>
              <a:t>Y</a:t>
            </a:r>
            <a:r>
              <a:rPr lang="zh-CN" altLang="en-US" b="1">
                <a:solidFill>
                  <a:srgbClr val="FF0000"/>
                </a:solidFill>
              </a:rPr>
              <a:t>图、</a:t>
            </a:r>
            <a:r>
              <a:rPr lang="en-US" altLang="zh-CN" b="1">
                <a:solidFill>
                  <a:srgbClr val="FF0000"/>
                </a:solidFill>
              </a:rPr>
              <a:t>PL</a:t>
            </a:r>
            <a:r>
              <a:rPr lang="zh-CN" altLang="en-US" b="1">
                <a:solidFill>
                  <a:srgbClr val="FF0000"/>
                </a:solidFill>
              </a:rPr>
              <a:t>检验、再标定法</a:t>
            </a:r>
            <a:r>
              <a:rPr lang="zh-CN" altLang="en-US"/>
              <a:t>等。</a:t>
            </a:r>
            <a:endParaRPr lang="zh-CN" altLang="en-US"/>
          </a:p>
        </p:txBody>
      </p:sp>
      <p:pic>
        <p:nvPicPr>
          <p:cNvPr id="4" name="图片 3"/>
          <p:cNvPicPr>
            <a:picLocks noChangeAspect="1"/>
          </p:cNvPicPr>
          <p:nvPr/>
        </p:nvPicPr>
        <p:blipFill>
          <a:blip r:embed="rId1"/>
          <a:stretch>
            <a:fillRect/>
          </a:stretch>
        </p:blipFill>
        <p:spPr>
          <a:xfrm>
            <a:off x="7921625" y="4722495"/>
            <a:ext cx="4270375" cy="213550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6.4 软件</a:t>
            </a:r>
            <a:r>
              <a:rPr lang="zh-CN" altLang="en-US">
                <a:solidFill>
                  <a:srgbClr val="C00000"/>
                </a:solidFill>
                <a:latin typeface="Times New Roman" panose="02020603050405020304" pitchFamily="18" charset="0"/>
                <a:cs typeface="Times New Roman" panose="02020603050405020304" pitchFamily="18" charset="0"/>
                <a:sym typeface="+mn-ea"/>
              </a:rPr>
              <a:t>可靠性模型及应用</a:t>
            </a:r>
            <a:endParaRPr lang="zh-CN" altLang="en-US"/>
          </a:p>
        </p:txBody>
      </p:sp>
      <p:sp>
        <p:nvSpPr>
          <p:cNvPr id="3" name="内容占位符 2"/>
          <p:cNvSpPr>
            <a:spLocks noGrp="1"/>
          </p:cNvSpPr>
          <p:nvPr>
            <p:ph idx="1"/>
          </p:nvPr>
        </p:nvSpPr>
        <p:spPr/>
        <p:txBody>
          <a:bodyPr/>
          <a:p>
            <a:r>
              <a:rPr lang="zh-CN" altLang="en-US"/>
              <a:t>小结：</a:t>
            </a:r>
            <a:endParaRPr lang="zh-CN" altLang="en-US"/>
          </a:p>
          <a:p>
            <a:pPr lvl="1"/>
            <a:r>
              <a:rPr lang="zh-CN" altLang="en-US" b="1">
                <a:solidFill>
                  <a:srgbClr val="FF0000"/>
                </a:solidFill>
              </a:rPr>
              <a:t>不要相信任何模型</a:t>
            </a:r>
            <a:r>
              <a:rPr lang="zh-CN" altLang="en-US"/>
              <a:t>，没有一个模型可适用于所有情况，即给出准确的预计</a:t>
            </a:r>
            <a:r>
              <a:rPr lang="zh-CN" altLang="en-US"/>
              <a:t>结果</a:t>
            </a:r>
            <a:endParaRPr lang="zh-CN" altLang="en-US"/>
          </a:p>
          <a:p>
            <a:pPr lvl="1"/>
            <a:r>
              <a:rPr lang="zh-CN" altLang="en-US"/>
              <a:t>实现无法确定一个模型是否适用，即能给出准确的预计</a:t>
            </a:r>
            <a:r>
              <a:rPr lang="zh-CN" altLang="en-US"/>
              <a:t>结果</a:t>
            </a:r>
            <a:endParaRPr lang="zh-CN" altLang="en-US"/>
          </a:p>
          <a:p>
            <a:pPr lvl="1"/>
            <a:r>
              <a:rPr lang="zh-CN" altLang="en-US"/>
              <a:t>只有</a:t>
            </a:r>
            <a:r>
              <a:rPr lang="zh-CN" altLang="en-US" b="1">
                <a:solidFill>
                  <a:srgbClr val="FF0000"/>
                </a:solidFill>
              </a:rPr>
              <a:t>使用多个模型</a:t>
            </a:r>
            <a:r>
              <a:rPr lang="zh-CN" altLang="en-US"/>
              <a:t>，将预计结果与实际观测结果进行比较，才能确定哪个模型</a:t>
            </a:r>
            <a:r>
              <a:rPr lang="zh-CN" altLang="en-US"/>
              <a:t>可信</a:t>
            </a:r>
            <a:endParaRPr lang="zh-CN" altLang="en-US"/>
          </a:p>
          <a:p>
            <a:pPr lvl="1"/>
            <a:r>
              <a:rPr lang="en-US" altLang="zh-CN">
                <a:sym typeface="+mn-ea"/>
              </a:rPr>
              <a:t>U</a:t>
            </a:r>
            <a:r>
              <a:rPr lang="zh-CN" altLang="en-US">
                <a:sym typeface="+mn-ea"/>
              </a:rPr>
              <a:t>图、</a:t>
            </a:r>
            <a:r>
              <a:rPr lang="en-US" altLang="zh-CN">
                <a:sym typeface="+mn-ea"/>
              </a:rPr>
              <a:t>Y</a:t>
            </a:r>
            <a:r>
              <a:rPr lang="zh-CN" altLang="en-US">
                <a:sym typeface="+mn-ea"/>
              </a:rPr>
              <a:t>图、</a:t>
            </a:r>
            <a:r>
              <a:rPr lang="en-US" altLang="zh-CN">
                <a:sym typeface="+mn-ea"/>
              </a:rPr>
              <a:t>PL</a:t>
            </a:r>
            <a:r>
              <a:rPr lang="zh-CN" altLang="en-US">
                <a:sym typeface="+mn-ea"/>
              </a:rPr>
              <a:t>检验可以帮助我们对预计地准确度</a:t>
            </a:r>
            <a:r>
              <a:rPr lang="zh-CN" altLang="en-US">
                <a:sym typeface="+mn-ea"/>
              </a:rPr>
              <a:t>进行分析</a:t>
            </a:r>
            <a:endParaRPr lang="zh-CN" altLang="en-US">
              <a:sym typeface="+mn-ea"/>
            </a:endParaRPr>
          </a:p>
          <a:p>
            <a:pPr lvl="1"/>
            <a:r>
              <a:rPr lang="zh-CN" altLang="en-US">
                <a:sym typeface="+mn-ea"/>
              </a:rPr>
              <a:t>再标定法在许多情况下可以帮助我们提高原始模型的精度</a:t>
            </a:r>
            <a:endParaRPr lang="zh-CN" altLang="en-US">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en-US" altLang="zh-CN">
                <a:solidFill>
                  <a:srgbClr val="C00000"/>
                </a:solidFill>
                <a:latin typeface="Times New Roman" panose="02020603050405020304" pitchFamily="18" charset="0"/>
                <a:cs typeface="Times New Roman" panose="02020603050405020304" pitchFamily="18" charset="0"/>
                <a:sym typeface="+mn-ea"/>
              </a:rPr>
              <a:t>6.</a:t>
            </a:r>
            <a:r>
              <a:rPr lang="en-US" altLang="zh-CN">
                <a:solidFill>
                  <a:srgbClr val="C00000"/>
                </a:solidFill>
                <a:latin typeface="Times New Roman" panose="02020603050405020304" pitchFamily="18" charset="0"/>
                <a:cs typeface="Times New Roman" panose="02020603050405020304" pitchFamily="18" charset="0"/>
              </a:rPr>
              <a:t>5 </a:t>
            </a:r>
            <a:r>
              <a:rPr lang="en-US" altLang="zh-CN">
                <a:solidFill>
                  <a:srgbClr val="C00000"/>
                </a:solidFill>
                <a:latin typeface="Times New Roman" panose="02020603050405020304" pitchFamily="18" charset="0"/>
                <a:cs typeface="Times New Roman" panose="02020603050405020304" pitchFamily="18" charset="0"/>
                <a:sym typeface="+mn-ea"/>
              </a:rPr>
              <a:t>软件故障数据的趋向性分析</a:t>
            </a:r>
            <a:endParaRPr lang="en-US" altLang="zh-CN">
              <a:solidFill>
                <a:srgbClr val="C00000"/>
              </a:solidFill>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rmAutofit fontScale="70000"/>
          </a:bodyPr>
          <a:p>
            <a:pPr algn="l">
              <a:buClrTx/>
              <a:buSzTx/>
            </a:pPr>
            <a:r>
              <a:rPr lang="en-US" altLang="zh-CN" sz="3400">
                <a:sym typeface="+mn-ea"/>
              </a:rPr>
              <a:t>趋向性分析的含义及作用</a:t>
            </a:r>
            <a:endParaRPr lang="en-US" altLang="zh-CN" sz="3400">
              <a:sym typeface="+mn-ea"/>
            </a:endParaRPr>
          </a:p>
          <a:p>
            <a:pPr lvl="1" algn="l">
              <a:spcBef>
                <a:spcPts val="1000"/>
              </a:spcBef>
              <a:buClrTx/>
              <a:buSzTx/>
            </a:pPr>
            <a:r>
              <a:rPr lang="en-US" altLang="zh-CN" sz="2795">
                <a:sym typeface="+mn-ea"/>
              </a:rPr>
              <a:t>软件可靠性建模的基础是测试数据，但由于不同的可靠性模型基于的假设不同，导致可靠性分析方法的离散性，原因主要是：</a:t>
            </a:r>
            <a:endParaRPr lang="en-US" altLang="zh-CN" sz="2795"/>
          </a:p>
          <a:p>
            <a:pPr marL="1143000" lvl="4" algn="l">
              <a:spcBef>
                <a:spcPts val="1000"/>
              </a:spcBef>
              <a:buClrTx/>
              <a:buSzTx/>
            </a:pPr>
            <a:r>
              <a:rPr lang="en-US" altLang="zh-CN" sz="2520">
                <a:sym typeface="+mn-ea"/>
              </a:rPr>
              <a:t> 软件的自然特征及相应的失效数据是离散的</a:t>
            </a:r>
            <a:endParaRPr lang="en-US" altLang="zh-CN" sz="2520"/>
          </a:p>
          <a:p>
            <a:pPr marL="1143000" lvl="4" algn="l">
              <a:spcBef>
                <a:spcPts val="1000"/>
              </a:spcBef>
              <a:buClrTx/>
              <a:buSzTx/>
            </a:pPr>
            <a:r>
              <a:rPr lang="en-US" altLang="zh-CN" sz="2520">
                <a:sym typeface="+mn-ea"/>
              </a:rPr>
              <a:t> 所采用的开发方法和确认方法不同</a:t>
            </a:r>
            <a:endParaRPr lang="en-US" altLang="zh-CN" sz="2520"/>
          </a:p>
          <a:p>
            <a:pPr marL="1143000" lvl="4" algn="l">
              <a:spcBef>
                <a:spcPts val="1000"/>
              </a:spcBef>
              <a:buClrTx/>
              <a:buSzTx/>
            </a:pPr>
            <a:r>
              <a:rPr lang="en-US" altLang="zh-CN" sz="2520">
                <a:sym typeface="+mn-ea"/>
              </a:rPr>
              <a:t> 数据收集的组织有差别</a:t>
            </a:r>
            <a:endParaRPr lang="en-US" altLang="zh-CN" sz="2520"/>
          </a:p>
          <a:p>
            <a:pPr marL="1143000" lvl="4" algn="l">
              <a:spcBef>
                <a:spcPts val="1000"/>
              </a:spcBef>
              <a:buClrTx/>
              <a:buSzTx/>
            </a:pPr>
            <a:r>
              <a:rPr lang="en-US" altLang="zh-CN" sz="2520">
                <a:sym typeface="+mn-ea"/>
              </a:rPr>
              <a:t> 分析的目的、要求各种各样</a:t>
            </a:r>
            <a:endParaRPr lang="en-US" altLang="zh-CN" sz="2520"/>
          </a:p>
          <a:p>
            <a:pPr lvl="1" algn="l">
              <a:spcBef>
                <a:spcPts val="1000"/>
              </a:spcBef>
              <a:buClrTx/>
              <a:buSzTx/>
            </a:pPr>
            <a:r>
              <a:rPr lang="en-US" altLang="zh-CN" sz="2795">
                <a:sym typeface="+mn-ea"/>
              </a:rPr>
              <a:t>软件可靠性模型的有限假设和故障数据的离散性是矛盾的，K. Kanoun于1997年提出的趋向性分析方法用于揭示软件可靠性随时间的演化趋势，实践证明具有很高的实用性</a:t>
            </a:r>
            <a:endParaRPr lang="en-US" altLang="zh-CN" sz="2795"/>
          </a:p>
          <a:p>
            <a:pPr algn="l">
              <a:buClrTx/>
              <a:buSzTx/>
            </a:pPr>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a:t>
            </a:r>
            <a:r>
              <a:rPr lang="en-US" altLang="zh-CN">
                <a:solidFill>
                  <a:srgbClr val="C00000"/>
                </a:solidFill>
                <a:latin typeface="Times New Roman" panose="02020603050405020304" pitchFamily="18" charset="0"/>
                <a:cs typeface="Times New Roman" panose="02020603050405020304" pitchFamily="18" charset="0"/>
                <a:sym typeface="+mn-ea"/>
              </a:rPr>
              <a:t>5 </a:t>
            </a:r>
            <a:r>
              <a:rPr lang="en-US" altLang="zh-CN">
                <a:solidFill>
                  <a:srgbClr val="C00000"/>
                </a:solidFill>
                <a:latin typeface="Times New Roman" panose="02020603050405020304" pitchFamily="18" charset="0"/>
                <a:cs typeface="Times New Roman" panose="02020603050405020304" pitchFamily="18" charset="0"/>
                <a:sym typeface="+mn-ea"/>
              </a:rPr>
              <a:t>软件故障数据的趋向性分析</a:t>
            </a:r>
            <a:endParaRPr lang="zh-CN" altLang="en-US"/>
          </a:p>
        </p:txBody>
      </p:sp>
      <p:sp>
        <p:nvSpPr>
          <p:cNvPr id="3" name="内容占位符 2"/>
          <p:cNvSpPr>
            <a:spLocks noGrp="1"/>
          </p:cNvSpPr>
          <p:nvPr>
            <p:ph idx="1"/>
          </p:nvPr>
        </p:nvSpPr>
        <p:spPr>
          <a:xfrm>
            <a:off x="838200" y="1538605"/>
            <a:ext cx="1787525" cy="4638675"/>
          </a:xfrm>
        </p:spPr>
        <p:txBody>
          <a:bodyPr/>
          <a:p>
            <a:r>
              <a:rPr lang="zh-CN" altLang="en-US" dirty="0">
                <a:sym typeface="+mn-ea"/>
              </a:rPr>
              <a:t>软件故障数据工程模型</a:t>
            </a:r>
            <a:endParaRPr lang="zh-CN" altLang="en-US"/>
          </a:p>
        </p:txBody>
      </p:sp>
      <p:grpSp>
        <p:nvGrpSpPr>
          <p:cNvPr id="173094" name="组合 173093"/>
          <p:cNvGrpSpPr/>
          <p:nvPr/>
        </p:nvGrpSpPr>
        <p:grpSpPr>
          <a:xfrm>
            <a:off x="3070543" y="1484313"/>
            <a:ext cx="7056437" cy="4824412"/>
            <a:chOff x="489" y="663"/>
            <a:chExt cx="4445" cy="3039"/>
          </a:xfrm>
        </p:grpSpPr>
        <p:sp>
          <p:nvSpPr>
            <p:cNvPr id="173060" name="矩形 173059"/>
            <p:cNvSpPr/>
            <p:nvPr>
              <p:custDataLst>
                <p:tags r:id="rId1"/>
              </p:custDataLst>
            </p:nvPr>
          </p:nvSpPr>
          <p:spPr>
            <a:xfrm>
              <a:off x="2304" y="1389"/>
              <a:ext cx="1270"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软件故障数据</a:t>
              </a:r>
              <a:endParaRPr lang="zh-CN" altLang="en-US" dirty="0">
                <a:solidFill>
                  <a:schemeClr val="bg1"/>
                </a:solidFill>
                <a:latin typeface="Basemic Times" pitchFamily="2" charset="0"/>
                <a:ea typeface="宋体" panose="02010600030101010101" pitchFamily="2" charset="-122"/>
              </a:endParaRPr>
            </a:p>
          </p:txBody>
        </p:sp>
        <p:sp>
          <p:nvSpPr>
            <p:cNvPr id="173061" name="文本框 173060"/>
            <p:cNvSpPr txBox="1"/>
            <p:nvPr>
              <p:custDataLst>
                <p:tags r:id="rId2"/>
              </p:custDataLst>
            </p:nvPr>
          </p:nvSpPr>
          <p:spPr>
            <a:xfrm>
              <a:off x="2530" y="663"/>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数据收集</a:t>
              </a:r>
              <a:endParaRPr lang="en-US" altLang="zh-CN">
                <a:latin typeface="Basemic Times" pitchFamily="2" charset="0"/>
                <a:ea typeface="宋体" panose="02010600030101010101" pitchFamily="2" charset="-122"/>
              </a:endParaRPr>
            </a:p>
          </p:txBody>
        </p:sp>
        <p:sp>
          <p:nvSpPr>
            <p:cNvPr id="173062" name="文本框 173061"/>
            <p:cNvSpPr txBox="1"/>
            <p:nvPr>
              <p:custDataLst>
                <p:tags r:id="rId3"/>
              </p:custDataLst>
            </p:nvPr>
          </p:nvSpPr>
          <p:spPr>
            <a:xfrm>
              <a:off x="2530" y="981"/>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数据过滤</a:t>
              </a:r>
              <a:endParaRPr lang="zh-CN" altLang="en-US" dirty="0">
                <a:latin typeface="Basemic Times" pitchFamily="2" charset="0"/>
                <a:ea typeface="宋体" panose="02010600030101010101" pitchFamily="2" charset="-122"/>
              </a:endParaRPr>
            </a:p>
          </p:txBody>
        </p:sp>
        <p:sp>
          <p:nvSpPr>
            <p:cNvPr id="173063" name="文本框 173062"/>
            <p:cNvSpPr txBox="1"/>
            <p:nvPr>
              <p:custDataLst>
                <p:tags r:id="rId4"/>
              </p:custDataLst>
            </p:nvPr>
          </p:nvSpPr>
          <p:spPr>
            <a:xfrm>
              <a:off x="2576" y="1933"/>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数据分割</a:t>
              </a:r>
              <a:endParaRPr lang="zh-CN" altLang="en-US" dirty="0">
                <a:latin typeface="Basemic Times" pitchFamily="2" charset="0"/>
                <a:ea typeface="宋体" panose="02010600030101010101" pitchFamily="2" charset="-122"/>
              </a:endParaRPr>
            </a:p>
          </p:txBody>
        </p:sp>
        <p:sp>
          <p:nvSpPr>
            <p:cNvPr id="173064" name="矩形 173063"/>
            <p:cNvSpPr/>
            <p:nvPr>
              <p:custDataLst>
                <p:tags r:id="rId5"/>
              </p:custDataLst>
            </p:nvPr>
          </p:nvSpPr>
          <p:spPr>
            <a:xfrm>
              <a:off x="2304" y="2341"/>
              <a:ext cx="1270"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寿命期分类数据</a:t>
              </a:r>
              <a:endParaRPr lang="zh-CN" altLang="en-US" dirty="0">
                <a:solidFill>
                  <a:schemeClr val="bg1"/>
                </a:solidFill>
                <a:latin typeface="Basemic Times" pitchFamily="2" charset="0"/>
                <a:ea typeface="宋体" panose="02010600030101010101" pitchFamily="2" charset="-122"/>
              </a:endParaRPr>
            </a:p>
          </p:txBody>
        </p:sp>
        <p:sp>
          <p:nvSpPr>
            <p:cNvPr id="173065" name="矩形 173064"/>
            <p:cNvSpPr/>
            <p:nvPr>
              <p:custDataLst>
                <p:tags r:id="rId6"/>
              </p:custDataLst>
            </p:nvPr>
          </p:nvSpPr>
          <p:spPr>
            <a:xfrm>
              <a:off x="3664" y="2341"/>
              <a:ext cx="1270"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按部件分类数据</a:t>
              </a:r>
              <a:endParaRPr lang="zh-CN" altLang="en-US" dirty="0">
                <a:solidFill>
                  <a:schemeClr val="bg1"/>
                </a:solidFill>
                <a:latin typeface="Basemic Times" pitchFamily="2" charset="0"/>
                <a:ea typeface="宋体" panose="02010600030101010101" pitchFamily="2" charset="-122"/>
              </a:endParaRPr>
            </a:p>
          </p:txBody>
        </p:sp>
        <p:sp>
          <p:nvSpPr>
            <p:cNvPr id="173066" name="矩形 173065"/>
            <p:cNvSpPr/>
            <p:nvPr>
              <p:custDataLst>
                <p:tags r:id="rId7"/>
              </p:custDataLst>
            </p:nvPr>
          </p:nvSpPr>
          <p:spPr>
            <a:xfrm>
              <a:off x="943" y="2341"/>
              <a:ext cx="1270"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故障严重性分类数据</a:t>
              </a:r>
              <a:endParaRPr lang="zh-CN" altLang="en-US" dirty="0">
                <a:solidFill>
                  <a:schemeClr val="bg1"/>
                </a:solidFill>
                <a:latin typeface="Basemic Times" pitchFamily="2" charset="0"/>
                <a:ea typeface="宋体" panose="02010600030101010101" pitchFamily="2" charset="-122"/>
              </a:endParaRPr>
            </a:p>
          </p:txBody>
        </p:sp>
        <p:sp>
          <p:nvSpPr>
            <p:cNvPr id="173067" name="矩形 173066"/>
            <p:cNvSpPr/>
            <p:nvPr>
              <p:custDataLst>
                <p:tags r:id="rId8"/>
              </p:custDataLst>
            </p:nvPr>
          </p:nvSpPr>
          <p:spPr>
            <a:xfrm>
              <a:off x="1033" y="3385"/>
              <a:ext cx="907"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描述性统计</a:t>
              </a:r>
              <a:endParaRPr lang="zh-CN" altLang="en-US" dirty="0">
                <a:solidFill>
                  <a:schemeClr val="bg1"/>
                </a:solidFill>
                <a:latin typeface="Basemic Times" pitchFamily="2" charset="0"/>
                <a:ea typeface="宋体" panose="02010600030101010101" pitchFamily="2" charset="-122"/>
              </a:endParaRPr>
            </a:p>
          </p:txBody>
        </p:sp>
        <p:sp>
          <p:nvSpPr>
            <p:cNvPr id="173068" name="矩形 173067"/>
            <p:cNvSpPr/>
            <p:nvPr>
              <p:custDataLst>
                <p:tags r:id="rId9"/>
              </p:custDataLst>
            </p:nvPr>
          </p:nvSpPr>
          <p:spPr>
            <a:xfrm>
              <a:off x="2485" y="3385"/>
              <a:ext cx="907"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可靠性评估</a:t>
              </a:r>
              <a:endParaRPr lang="zh-CN" altLang="en-US" dirty="0">
                <a:solidFill>
                  <a:schemeClr val="bg1"/>
                </a:solidFill>
                <a:latin typeface="Basemic Times" pitchFamily="2" charset="0"/>
                <a:ea typeface="宋体" panose="02010600030101010101" pitchFamily="2" charset="-122"/>
              </a:endParaRPr>
            </a:p>
          </p:txBody>
        </p:sp>
        <p:sp>
          <p:nvSpPr>
            <p:cNvPr id="173069" name="矩形 173068"/>
            <p:cNvSpPr/>
            <p:nvPr>
              <p:custDataLst>
                <p:tags r:id="rId10"/>
              </p:custDataLst>
            </p:nvPr>
          </p:nvSpPr>
          <p:spPr>
            <a:xfrm>
              <a:off x="3891" y="3385"/>
              <a:ext cx="907" cy="31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dirty="0">
                  <a:solidFill>
                    <a:schemeClr val="bg1"/>
                  </a:solidFill>
                  <a:latin typeface="Basemic Times" pitchFamily="2" charset="0"/>
                  <a:ea typeface="宋体" panose="02010600030101010101" pitchFamily="2" charset="-122"/>
                </a:rPr>
                <a:t>可靠性度量</a:t>
              </a:r>
              <a:endParaRPr lang="zh-CN" altLang="en-US" dirty="0">
                <a:solidFill>
                  <a:schemeClr val="bg1"/>
                </a:solidFill>
                <a:latin typeface="Basemic Times" pitchFamily="2" charset="0"/>
                <a:ea typeface="宋体" panose="02010600030101010101" pitchFamily="2" charset="-122"/>
              </a:endParaRPr>
            </a:p>
          </p:txBody>
        </p:sp>
        <p:sp>
          <p:nvSpPr>
            <p:cNvPr id="173070" name="直接连接符 173069"/>
            <p:cNvSpPr/>
            <p:nvPr>
              <p:custDataLst>
                <p:tags r:id="rId11"/>
              </p:custDataLst>
            </p:nvPr>
          </p:nvSpPr>
          <p:spPr>
            <a:xfrm>
              <a:off x="1306" y="2931"/>
              <a:ext cx="2812" cy="0"/>
            </a:xfrm>
            <a:prstGeom prst="line">
              <a:avLst/>
            </a:prstGeom>
            <a:ln w="9525" cap="flat" cmpd="sng">
              <a:solidFill>
                <a:schemeClr val="tx1"/>
              </a:solidFill>
              <a:prstDash val="solid"/>
              <a:headEnd type="none" w="med" len="med"/>
              <a:tailEnd type="none" w="med" len="med"/>
            </a:ln>
          </p:spPr>
        </p:sp>
        <p:sp>
          <p:nvSpPr>
            <p:cNvPr id="173071" name="直接连接符 173070"/>
            <p:cNvSpPr/>
            <p:nvPr>
              <p:custDataLst>
                <p:tags r:id="rId12"/>
              </p:custDataLst>
            </p:nvPr>
          </p:nvSpPr>
          <p:spPr>
            <a:xfrm>
              <a:off x="1306" y="2931"/>
              <a:ext cx="0" cy="454"/>
            </a:xfrm>
            <a:prstGeom prst="line">
              <a:avLst/>
            </a:prstGeom>
            <a:ln w="9525" cap="flat" cmpd="sng">
              <a:solidFill>
                <a:schemeClr val="tx1"/>
              </a:solidFill>
              <a:prstDash val="solid"/>
              <a:headEnd type="none" w="med" len="med"/>
              <a:tailEnd type="triangle" w="med" len="med"/>
            </a:ln>
          </p:spPr>
        </p:sp>
        <p:sp>
          <p:nvSpPr>
            <p:cNvPr id="173072" name="直接连接符 173071"/>
            <p:cNvSpPr/>
            <p:nvPr>
              <p:custDataLst>
                <p:tags r:id="rId13"/>
              </p:custDataLst>
            </p:nvPr>
          </p:nvSpPr>
          <p:spPr>
            <a:xfrm>
              <a:off x="4118" y="2931"/>
              <a:ext cx="0" cy="454"/>
            </a:xfrm>
            <a:prstGeom prst="line">
              <a:avLst/>
            </a:prstGeom>
            <a:ln w="9525" cap="flat" cmpd="sng">
              <a:solidFill>
                <a:schemeClr val="tx1"/>
              </a:solidFill>
              <a:prstDash val="solid"/>
              <a:headEnd type="none" w="med" len="med"/>
              <a:tailEnd type="triangle" w="med" len="med"/>
            </a:ln>
          </p:spPr>
        </p:sp>
        <p:sp>
          <p:nvSpPr>
            <p:cNvPr id="173073" name="直接连接符 173072"/>
            <p:cNvSpPr/>
            <p:nvPr>
              <p:custDataLst>
                <p:tags r:id="rId14"/>
              </p:custDataLst>
            </p:nvPr>
          </p:nvSpPr>
          <p:spPr>
            <a:xfrm>
              <a:off x="2666" y="2931"/>
              <a:ext cx="0" cy="454"/>
            </a:xfrm>
            <a:prstGeom prst="line">
              <a:avLst/>
            </a:prstGeom>
            <a:ln w="9525" cap="flat" cmpd="sng">
              <a:solidFill>
                <a:schemeClr val="tx1"/>
              </a:solidFill>
              <a:prstDash val="solid"/>
              <a:headEnd type="none" w="med" len="med"/>
              <a:tailEnd type="triangle" w="med" len="med"/>
            </a:ln>
          </p:spPr>
        </p:sp>
        <p:sp>
          <p:nvSpPr>
            <p:cNvPr id="173074" name="直接连接符 173073"/>
            <p:cNvSpPr/>
            <p:nvPr>
              <p:custDataLst>
                <p:tags r:id="rId15"/>
              </p:custDataLst>
            </p:nvPr>
          </p:nvSpPr>
          <p:spPr>
            <a:xfrm>
              <a:off x="1578" y="2659"/>
              <a:ext cx="0" cy="272"/>
            </a:xfrm>
            <a:prstGeom prst="line">
              <a:avLst/>
            </a:prstGeom>
            <a:ln w="9525" cap="flat" cmpd="sng">
              <a:solidFill>
                <a:schemeClr val="tx1"/>
              </a:solidFill>
              <a:prstDash val="solid"/>
              <a:headEnd type="none" w="med" len="med"/>
              <a:tailEnd type="none" w="med" len="med"/>
            </a:ln>
          </p:spPr>
        </p:sp>
        <p:sp>
          <p:nvSpPr>
            <p:cNvPr id="173075" name="直接连接符 173074"/>
            <p:cNvSpPr/>
            <p:nvPr>
              <p:custDataLst>
                <p:tags r:id="rId16"/>
              </p:custDataLst>
            </p:nvPr>
          </p:nvSpPr>
          <p:spPr>
            <a:xfrm>
              <a:off x="2848" y="890"/>
              <a:ext cx="0" cy="136"/>
            </a:xfrm>
            <a:prstGeom prst="line">
              <a:avLst/>
            </a:prstGeom>
            <a:ln w="9525" cap="flat" cmpd="sng">
              <a:solidFill>
                <a:schemeClr val="tx1"/>
              </a:solidFill>
              <a:prstDash val="solid"/>
              <a:headEnd type="none" w="med" len="med"/>
              <a:tailEnd type="none" w="med" len="med"/>
            </a:ln>
          </p:spPr>
        </p:sp>
        <p:sp>
          <p:nvSpPr>
            <p:cNvPr id="173076" name="直接连接符 173075"/>
            <p:cNvSpPr/>
            <p:nvPr>
              <p:custDataLst>
                <p:tags r:id="rId17"/>
              </p:custDataLst>
            </p:nvPr>
          </p:nvSpPr>
          <p:spPr>
            <a:xfrm>
              <a:off x="2848" y="1207"/>
              <a:ext cx="0" cy="182"/>
            </a:xfrm>
            <a:prstGeom prst="line">
              <a:avLst/>
            </a:prstGeom>
            <a:ln w="9525" cap="flat" cmpd="sng">
              <a:solidFill>
                <a:schemeClr val="tx1"/>
              </a:solidFill>
              <a:prstDash val="solid"/>
              <a:headEnd type="none" w="med" len="med"/>
              <a:tailEnd type="triangle" w="med" len="med"/>
            </a:ln>
          </p:spPr>
        </p:sp>
        <p:sp>
          <p:nvSpPr>
            <p:cNvPr id="173077" name="直接连接符 173076"/>
            <p:cNvSpPr/>
            <p:nvPr>
              <p:custDataLst>
                <p:tags r:id="rId18"/>
              </p:custDataLst>
            </p:nvPr>
          </p:nvSpPr>
          <p:spPr>
            <a:xfrm flipH="1">
              <a:off x="1578" y="2115"/>
              <a:ext cx="1043" cy="226"/>
            </a:xfrm>
            <a:prstGeom prst="line">
              <a:avLst/>
            </a:prstGeom>
            <a:ln w="9525" cap="flat" cmpd="sng">
              <a:solidFill>
                <a:schemeClr val="tx1"/>
              </a:solidFill>
              <a:prstDash val="solid"/>
              <a:headEnd type="none" w="med" len="med"/>
              <a:tailEnd type="triangle" w="med" len="med"/>
            </a:ln>
          </p:spPr>
        </p:sp>
        <p:sp>
          <p:nvSpPr>
            <p:cNvPr id="173078" name="直接连接符 173077"/>
            <p:cNvSpPr/>
            <p:nvPr>
              <p:custDataLst>
                <p:tags r:id="rId19"/>
              </p:custDataLst>
            </p:nvPr>
          </p:nvSpPr>
          <p:spPr>
            <a:xfrm>
              <a:off x="2848" y="1706"/>
              <a:ext cx="0" cy="227"/>
            </a:xfrm>
            <a:prstGeom prst="line">
              <a:avLst/>
            </a:prstGeom>
            <a:ln w="9525" cap="flat" cmpd="sng">
              <a:solidFill>
                <a:schemeClr val="tx1"/>
              </a:solidFill>
              <a:prstDash val="solid"/>
              <a:headEnd type="none" w="med" len="med"/>
              <a:tailEnd type="none" w="med" len="med"/>
            </a:ln>
          </p:spPr>
        </p:sp>
        <p:sp>
          <p:nvSpPr>
            <p:cNvPr id="173079" name="直接连接符 173078"/>
            <p:cNvSpPr/>
            <p:nvPr>
              <p:custDataLst>
                <p:tags r:id="rId20"/>
              </p:custDataLst>
            </p:nvPr>
          </p:nvSpPr>
          <p:spPr>
            <a:xfrm>
              <a:off x="3211" y="2069"/>
              <a:ext cx="1088" cy="272"/>
            </a:xfrm>
            <a:prstGeom prst="line">
              <a:avLst/>
            </a:prstGeom>
            <a:ln w="9525" cap="flat" cmpd="sng">
              <a:solidFill>
                <a:schemeClr val="tx1"/>
              </a:solidFill>
              <a:prstDash val="solid"/>
              <a:headEnd type="none" w="med" len="med"/>
              <a:tailEnd type="triangle" w="med" len="med"/>
            </a:ln>
          </p:spPr>
        </p:sp>
        <p:sp>
          <p:nvSpPr>
            <p:cNvPr id="173080" name="直接连接符 173079"/>
            <p:cNvSpPr/>
            <p:nvPr>
              <p:custDataLst>
                <p:tags r:id="rId21"/>
              </p:custDataLst>
            </p:nvPr>
          </p:nvSpPr>
          <p:spPr>
            <a:xfrm>
              <a:off x="2848" y="2160"/>
              <a:ext cx="0" cy="181"/>
            </a:xfrm>
            <a:prstGeom prst="line">
              <a:avLst/>
            </a:prstGeom>
            <a:ln w="9525" cap="flat" cmpd="sng">
              <a:solidFill>
                <a:schemeClr val="tx1"/>
              </a:solidFill>
              <a:prstDash val="solid"/>
              <a:headEnd type="none" w="med" len="med"/>
              <a:tailEnd type="triangle" w="med" len="med"/>
            </a:ln>
          </p:spPr>
        </p:sp>
        <p:sp>
          <p:nvSpPr>
            <p:cNvPr id="173081" name="直接连接符 173080"/>
            <p:cNvSpPr/>
            <p:nvPr>
              <p:custDataLst>
                <p:tags r:id="rId22"/>
              </p:custDataLst>
            </p:nvPr>
          </p:nvSpPr>
          <p:spPr>
            <a:xfrm>
              <a:off x="1487" y="2976"/>
              <a:ext cx="2812" cy="0"/>
            </a:xfrm>
            <a:prstGeom prst="line">
              <a:avLst/>
            </a:prstGeom>
            <a:ln w="9525" cap="flat" cmpd="sng">
              <a:solidFill>
                <a:srgbClr val="800000"/>
              </a:solidFill>
              <a:prstDash val="dashDot"/>
              <a:headEnd type="none" w="med" len="med"/>
              <a:tailEnd type="none" w="med" len="med"/>
            </a:ln>
          </p:spPr>
        </p:sp>
        <p:sp>
          <p:nvSpPr>
            <p:cNvPr id="173082" name="直接连接符 173081"/>
            <p:cNvSpPr/>
            <p:nvPr>
              <p:custDataLst>
                <p:tags r:id="rId23"/>
              </p:custDataLst>
            </p:nvPr>
          </p:nvSpPr>
          <p:spPr>
            <a:xfrm>
              <a:off x="1487" y="2976"/>
              <a:ext cx="0" cy="409"/>
            </a:xfrm>
            <a:prstGeom prst="line">
              <a:avLst/>
            </a:prstGeom>
            <a:ln w="9525" cap="flat" cmpd="sng">
              <a:solidFill>
                <a:srgbClr val="800000"/>
              </a:solidFill>
              <a:prstDash val="dashDot"/>
              <a:headEnd type="none" w="med" len="med"/>
              <a:tailEnd type="triangle" w="med" len="med"/>
            </a:ln>
          </p:spPr>
        </p:sp>
        <p:sp>
          <p:nvSpPr>
            <p:cNvPr id="173083" name="直接连接符 173082"/>
            <p:cNvSpPr/>
            <p:nvPr>
              <p:custDataLst>
                <p:tags r:id="rId24"/>
              </p:custDataLst>
            </p:nvPr>
          </p:nvSpPr>
          <p:spPr>
            <a:xfrm>
              <a:off x="4299" y="2976"/>
              <a:ext cx="0" cy="409"/>
            </a:xfrm>
            <a:prstGeom prst="line">
              <a:avLst/>
            </a:prstGeom>
            <a:ln w="9525" cap="flat" cmpd="sng">
              <a:solidFill>
                <a:srgbClr val="800000"/>
              </a:solidFill>
              <a:prstDash val="dashDot"/>
              <a:headEnd type="none" w="med" len="med"/>
              <a:tailEnd type="triangle" w="med" len="med"/>
            </a:ln>
          </p:spPr>
        </p:sp>
        <p:sp>
          <p:nvSpPr>
            <p:cNvPr id="173084" name="直接连接符 173083"/>
            <p:cNvSpPr/>
            <p:nvPr>
              <p:custDataLst>
                <p:tags r:id="rId25"/>
              </p:custDataLst>
            </p:nvPr>
          </p:nvSpPr>
          <p:spPr>
            <a:xfrm>
              <a:off x="2848" y="2976"/>
              <a:ext cx="0" cy="409"/>
            </a:xfrm>
            <a:prstGeom prst="line">
              <a:avLst/>
            </a:prstGeom>
            <a:ln w="9525" cap="flat" cmpd="sng">
              <a:solidFill>
                <a:srgbClr val="800000"/>
              </a:solidFill>
              <a:prstDash val="dashDot"/>
              <a:headEnd type="none" w="med" len="med"/>
              <a:tailEnd type="triangle" w="med" len="med"/>
            </a:ln>
          </p:spPr>
        </p:sp>
        <p:sp>
          <p:nvSpPr>
            <p:cNvPr id="173085" name="直接连接符 173084"/>
            <p:cNvSpPr/>
            <p:nvPr>
              <p:custDataLst>
                <p:tags r:id="rId26"/>
              </p:custDataLst>
            </p:nvPr>
          </p:nvSpPr>
          <p:spPr>
            <a:xfrm>
              <a:off x="2848" y="2659"/>
              <a:ext cx="0" cy="317"/>
            </a:xfrm>
            <a:prstGeom prst="line">
              <a:avLst/>
            </a:prstGeom>
            <a:ln w="9525" cap="flat" cmpd="sng">
              <a:solidFill>
                <a:srgbClr val="800000"/>
              </a:solidFill>
              <a:prstDash val="dashDot"/>
              <a:headEnd type="none" w="med" len="med"/>
              <a:tailEnd type="none" w="med" len="med"/>
            </a:ln>
          </p:spPr>
        </p:sp>
        <p:sp>
          <p:nvSpPr>
            <p:cNvPr id="173086" name="直接连接符 173085"/>
            <p:cNvSpPr/>
            <p:nvPr>
              <p:custDataLst>
                <p:tags r:id="rId27"/>
              </p:custDataLst>
            </p:nvPr>
          </p:nvSpPr>
          <p:spPr>
            <a:xfrm>
              <a:off x="1669" y="3067"/>
              <a:ext cx="2812" cy="0"/>
            </a:xfrm>
            <a:prstGeom prst="line">
              <a:avLst/>
            </a:prstGeom>
            <a:ln w="9525" cap="flat" cmpd="sng">
              <a:solidFill>
                <a:srgbClr val="FF3300"/>
              </a:solidFill>
              <a:prstDash val="lgDash"/>
              <a:headEnd type="none" w="med" len="med"/>
              <a:tailEnd type="none" w="med" len="med"/>
            </a:ln>
          </p:spPr>
        </p:sp>
        <p:sp>
          <p:nvSpPr>
            <p:cNvPr id="173087" name="直接连接符 173086"/>
            <p:cNvSpPr/>
            <p:nvPr>
              <p:custDataLst>
                <p:tags r:id="rId28"/>
              </p:custDataLst>
            </p:nvPr>
          </p:nvSpPr>
          <p:spPr>
            <a:xfrm>
              <a:off x="1669" y="3067"/>
              <a:ext cx="0" cy="318"/>
            </a:xfrm>
            <a:prstGeom prst="line">
              <a:avLst/>
            </a:prstGeom>
            <a:ln w="9525" cap="flat" cmpd="sng">
              <a:solidFill>
                <a:srgbClr val="FF3300"/>
              </a:solidFill>
              <a:prstDash val="lgDash"/>
              <a:headEnd type="none" w="med" len="med"/>
              <a:tailEnd type="triangle" w="med" len="med"/>
            </a:ln>
          </p:spPr>
        </p:sp>
        <p:sp>
          <p:nvSpPr>
            <p:cNvPr id="173088" name="直接连接符 173087"/>
            <p:cNvSpPr/>
            <p:nvPr>
              <p:custDataLst>
                <p:tags r:id="rId29"/>
              </p:custDataLst>
            </p:nvPr>
          </p:nvSpPr>
          <p:spPr>
            <a:xfrm>
              <a:off x="4481" y="3067"/>
              <a:ext cx="0" cy="318"/>
            </a:xfrm>
            <a:prstGeom prst="line">
              <a:avLst/>
            </a:prstGeom>
            <a:ln w="9525" cap="flat" cmpd="sng">
              <a:solidFill>
                <a:srgbClr val="FF3300"/>
              </a:solidFill>
              <a:prstDash val="lgDash"/>
              <a:headEnd type="none" w="med" len="med"/>
              <a:tailEnd type="triangle" w="med" len="med"/>
            </a:ln>
          </p:spPr>
        </p:sp>
        <p:sp>
          <p:nvSpPr>
            <p:cNvPr id="173089" name="直接连接符 173088"/>
            <p:cNvSpPr/>
            <p:nvPr>
              <p:custDataLst>
                <p:tags r:id="rId30"/>
              </p:custDataLst>
            </p:nvPr>
          </p:nvSpPr>
          <p:spPr>
            <a:xfrm>
              <a:off x="3029" y="3067"/>
              <a:ext cx="0" cy="318"/>
            </a:xfrm>
            <a:prstGeom prst="line">
              <a:avLst/>
            </a:prstGeom>
            <a:ln w="9525" cap="flat" cmpd="sng">
              <a:solidFill>
                <a:srgbClr val="FF3300"/>
              </a:solidFill>
              <a:prstDash val="lgDash"/>
              <a:headEnd type="none" w="med" len="med"/>
              <a:tailEnd type="triangle" w="med" len="med"/>
            </a:ln>
          </p:spPr>
        </p:sp>
        <p:sp>
          <p:nvSpPr>
            <p:cNvPr id="173090" name="直接连接符 173089"/>
            <p:cNvSpPr/>
            <p:nvPr>
              <p:custDataLst>
                <p:tags r:id="rId31"/>
              </p:custDataLst>
            </p:nvPr>
          </p:nvSpPr>
          <p:spPr>
            <a:xfrm>
              <a:off x="4345" y="2659"/>
              <a:ext cx="0" cy="408"/>
            </a:xfrm>
            <a:prstGeom prst="line">
              <a:avLst/>
            </a:prstGeom>
            <a:ln w="9525" cap="flat" cmpd="sng">
              <a:solidFill>
                <a:srgbClr val="FF3300"/>
              </a:solidFill>
              <a:prstDash val="lgDash"/>
              <a:headEnd type="none" w="med" len="med"/>
              <a:tailEnd type="none" w="med" len="med"/>
            </a:ln>
          </p:spPr>
        </p:sp>
        <p:sp>
          <p:nvSpPr>
            <p:cNvPr id="173091" name="文本框 173090"/>
            <p:cNvSpPr txBox="1"/>
            <p:nvPr>
              <p:custDataLst>
                <p:tags r:id="rId32"/>
              </p:custDataLst>
            </p:nvPr>
          </p:nvSpPr>
          <p:spPr>
            <a:xfrm>
              <a:off x="489" y="3067"/>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描述性分析</a:t>
              </a:r>
              <a:endParaRPr lang="en-US" altLang="zh-CN">
                <a:latin typeface="Basemic Times" pitchFamily="2" charset="0"/>
                <a:ea typeface="宋体" panose="02010600030101010101" pitchFamily="2" charset="-122"/>
              </a:endParaRPr>
            </a:p>
          </p:txBody>
        </p:sp>
        <p:sp>
          <p:nvSpPr>
            <p:cNvPr id="173092" name="文本框 173091"/>
            <p:cNvSpPr txBox="1"/>
            <p:nvPr>
              <p:custDataLst>
                <p:tags r:id="rId33"/>
              </p:custDataLst>
            </p:nvPr>
          </p:nvSpPr>
          <p:spPr>
            <a:xfrm>
              <a:off x="1876" y="3067"/>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趋向性分析</a:t>
              </a:r>
              <a:endParaRPr lang="en-US" altLang="zh-CN">
                <a:latin typeface="Basemic Times" pitchFamily="2" charset="0"/>
                <a:ea typeface="宋体" panose="02010600030101010101" pitchFamily="2" charset="-122"/>
              </a:endParaRPr>
            </a:p>
          </p:txBody>
        </p:sp>
        <p:sp>
          <p:nvSpPr>
            <p:cNvPr id="173093" name="文本框 173092"/>
            <p:cNvSpPr txBox="1"/>
            <p:nvPr>
              <p:custDataLst>
                <p:tags r:id="rId34"/>
              </p:custDataLst>
            </p:nvPr>
          </p:nvSpPr>
          <p:spPr>
            <a:xfrm>
              <a:off x="3426" y="3063"/>
              <a:ext cx="691"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模型应用</a:t>
              </a:r>
              <a:endParaRPr lang="en-US" altLang="zh-CN">
                <a:latin typeface="Basemic Times" pitchFamily="2" charset="0"/>
                <a:ea typeface="宋体" panose="02010600030101010101" pitchFamily="2" charset="-122"/>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p:txBody>
          <a:bodyPr/>
          <a:p>
            <a:pPr>
              <a:spcBef>
                <a:spcPct val="25000"/>
              </a:spcBef>
            </a:pPr>
            <a:r>
              <a:rPr lang="zh-CN" altLang="en-US" sz="2800" dirty="0">
                <a:ea typeface="宋体" panose="02010600030101010101" pitchFamily="2" charset="-122"/>
                <a:sym typeface="+mn-ea"/>
              </a:rPr>
              <a:t>数据收集：收集的故障数据包括：</a:t>
            </a:r>
            <a:endParaRPr lang="zh-CN" altLang="en-US" sz="2800" dirty="0">
              <a:ea typeface="宋体" panose="02010600030101010101" pitchFamily="2" charset="-122"/>
            </a:endParaRPr>
          </a:p>
          <a:p>
            <a:pPr lvl="1">
              <a:spcBef>
                <a:spcPct val="25000"/>
              </a:spcBef>
            </a:pPr>
            <a:r>
              <a:rPr lang="zh-CN" altLang="en-US" dirty="0">
                <a:ea typeface="宋体" panose="02010600030101010101" pitchFamily="2" charset="-122"/>
                <a:sym typeface="+mn-ea"/>
              </a:rPr>
              <a:t>表征产品本身、开发过程及使用环境的数据，如软件规模、语言、功能、确认和验证方法、使用工具、加载等</a:t>
            </a:r>
            <a:endParaRPr lang="zh-CN" altLang="en-US" dirty="0">
              <a:ea typeface="宋体" panose="02010600030101010101" pitchFamily="2" charset="-122"/>
            </a:endParaRPr>
          </a:p>
          <a:p>
            <a:pPr lvl="1">
              <a:spcBef>
                <a:spcPct val="25000"/>
              </a:spcBef>
            </a:pPr>
            <a:r>
              <a:rPr lang="zh-CN" altLang="en-US" dirty="0">
                <a:ea typeface="宋体" panose="02010600030101010101" pitchFamily="2" charset="-122"/>
                <a:sym typeface="+mn-ea"/>
              </a:rPr>
              <a:t>与故障及其修正相关的数据，如故障发生时间、故障特征、故障影响结果、缺陷类型、缺陷位置等</a:t>
            </a:r>
            <a:endParaRPr lang="en-US" altLang="zh-CN">
              <a:ea typeface="宋体" panose="02010600030101010101" pitchFamily="2" charset="-122"/>
            </a:endParaRPr>
          </a:p>
          <a:p>
            <a:endParaRPr lang="en-US" altLang="zh-CN">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p:txBody>
          <a:bodyPr/>
          <a:p>
            <a:pPr>
              <a:spcBef>
                <a:spcPct val="25000"/>
              </a:spcBef>
            </a:pPr>
            <a:r>
              <a:rPr lang="zh-CN" altLang="en-US" sz="2800" dirty="0">
                <a:ea typeface="宋体" panose="02010600030101010101" pitchFamily="2" charset="-122"/>
                <a:sym typeface="+mn-ea"/>
              </a:rPr>
              <a:t>数据过滤，对收集的数据进行分析和过滤，需滤出的数据有：</a:t>
            </a:r>
            <a:endParaRPr lang="zh-CN" altLang="en-US" sz="2800" dirty="0">
              <a:ea typeface="宋体" panose="02010600030101010101" pitchFamily="2" charset="-122"/>
            </a:endParaRPr>
          </a:p>
          <a:p>
            <a:pPr lvl="1">
              <a:spcBef>
                <a:spcPct val="25000"/>
              </a:spcBef>
            </a:pPr>
            <a:r>
              <a:rPr lang="zh-CN" altLang="en-US" dirty="0">
                <a:ea typeface="宋体" panose="02010600030101010101" pitchFamily="2" charset="-122"/>
                <a:sym typeface="+mn-ea"/>
              </a:rPr>
              <a:t>与软件无关的外在数据</a:t>
            </a:r>
            <a:endParaRPr lang="zh-CN" altLang="en-US" dirty="0">
              <a:ea typeface="宋体" panose="02010600030101010101" pitchFamily="2" charset="-122"/>
            </a:endParaRPr>
          </a:p>
          <a:p>
            <a:pPr lvl="1">
              <a:spcBef>
                <a:spcPct val="25000"/>
              </a:spcBef>
            </a:pPr>
            <a:r>
              <a:rPr lang="zh-CN" altLang="en-US" dirty="0">
                <a:ea typeface="宋体" panose="02010600030101010101" pitchFamily="2" charset="-122"/>
                <a:sym typeface="+mn-ea"/>
              </a:rPr>
              <a:t>错误的或虚假的问题报告</a:t>
            </a:r>
            <a:endParaRPr lang="zh-CN" altLang="en-US" dirty="0">
              <a:ea typeface="宋体" panose="02010600030101010101" pitchFamily="2" charset="-122"/>
            </a:endParaRPr>
          </a:p>
          <a:p>
            <a:pPr lvl="1">
              <a:spcBef>
                <a:spcPct val="25000"/>
              </a:spcBef>
            </a:pPr>
            <a:r>
              <a:rPr lang="zh-CN" altLang="en-US" dirty="0">
                <a:ea typeface="宋体" panose="02010600030101010101" pitchFamily="2" charset="-122"/>
                <a:sym typeface="+mn-ea"/>
              </a:rPr>
              <a:t>重复数据</a:t>
            </a:r>
            <a:endParaRPr lang="en-US" altLang="zh-CN">
              <a:ea typeface="宋体" panose="02010600030101010101" pitchFamily="2" charset="-122"/>
            </a:endParaRPr>
          </a:p>
          <a:p>
            <a:endParaRPr lang="en-US" altLang="zh-CN">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p:txBody>
          <a:bodyPr/>
          <a:p>
            <a:r>
              <a:rPr lang="zh-CN" altLang="en-US" sz="2800" dirty="0">
                <a:ea typeface="宋体" panose="02010600030101010101" pitchFamily="2" charset="-122"/>
                <a:sym typeface="+mn-ea"/>
              </a:rPr>
              <a:t>数据分割，根据需求将收集到的数据进行分割，可使分析更具体分割方法包括：</a:t>
            </a:r>
            <a:endParaRPr lang="en-US" altLang="zh-CN" sz="2800">
              <a:ea typeface="宋体" panose="02010600030101010101" pitchFamily="2" charset="-122"/>
            </a:endParaRPr>
          </a:p>
          <a:p>
            <a:pPr lvl="1"/>
            <a:r>
              <a:rPr lang="zh-CN" altLang="en-US" dirty="0">
                <a:ea typeface="宋体" panose="02010600030101010101" pitchFamily="2" charset="-122"/>
                <a:sym typeface="+mn-ea"/>
              </a:rPr>
              <a:t>根据故障的严重性等级分割</a:t>
            </a:r>
            <a:endParaRPr lang="en-US" altLang="zh-CN">
              <a:ea typeface="宋体" panose="02010600030101010101" pitchFamily="2" charset="-122"/>
            </a:endParaRPr>
          </a:p>
          <a:p>
            <a:pPr lvl="1"/>
            <a:r>
              <a:rPr lang="zh-CN" altLang="en-US" dirty="0">
                <a:ea typeface="宋体" panose="02010600030101010101" pitchFamily="2" charset="-122"/>
                <a:sym typeface="+mn-ea"/>
              </a:rPr>
              <a:t>根据生命期阶段分割</a:t>
            </a:r>
            <a:endParaRPr lang="zh-CN" altLang="en-US" dirty="0">
              <a:ea typeface="宋体" panose="02010600030101010101" pitchFamily="2" charset="-122"/>
            </a:endParaRPr>
          </a:p>
          <a:p>
            <a:pPr lvl="1"/>
            <a:r>
              <a:rPr lang="zh-CN" altLang="en-US" dirty="0">
                <a:ea typeface="宋体" panose="02010600030101010101" pitchFamily="2" charset="-122"/>
                <a:sym typeface="+mn-ea"/>
              </a:rPr>
              <a:t>根据缺陷所在的软件部件分割</a:t>
            </a:r>
            <a:endParaRPr lang="en-US" altLang="zh-CN">
              <a:ea typeface="宋体" panose="02010600030101010101" pitchFamily="2" charset="-122"/>
            </a:endParaRPr>
          </a:p>
          <a:p>
            <a:endParaRPr lang="en-US" altLang="zh-CN">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p:txBody>
          <a:bodyPr>
            <a:normAutofit lnSpcReduction="10000"/>
          </a:bodyPr>
          <a:p>
            <a:r>
              <a:rPr lang="zh-CN" altLang="en-US" sz="2800" dirty="0">
                <a:ea typeface="宋体" panose="02010600030101010101" pitchFamily="2" charset="-122"/>
                <a:sym typeface="+mn-ea"/>
              </a:rPr>
              <a:t>数据工程分析，根据工程应用不同，对分割的数据进行不同的分析：</a:t>
            </a:r>
            <a:endParaRPr lang="zh-CN" altLang="en-US" sz="2800" dirty="0">
              <a:ea typeface="宋体" panose="02010600030101010101" pitchFamily="2" charset="-122"/>
            </a:endParaRPr>
          </a:p>
          <a:p>
            <a:pPr lvl="1"/>
            <a:r>
              <a:rPr lang="zh-CN" altLang="en-US" dirty="0">
                <a:ea typeface="宋体" panose="02010600030101010101" pitchFamily="2" charset="-122"/>
                <a:sym typeface="+mn-ea"/>
              </a:rPr>
              <a:t>描述性分析：基于统计原理，用图、表进行综合，以识别最有用的现象，如故障的发生条件与严重性的关系等，与可靠性评估没有直接关系，有利于设计和开发</a:t>
            </a:r>
            <a:endParaRPr lang="en-US" altLang="zh-CN">
              <a:ea typeface="宋体" panose="02010600030101010101" pitchFamily="2" charset="-122"/>
            </a:endParaRPr>
          </a:p>
          <a:p>
            <a:pPr lvl="1"/>
            <a:r>
              <a:rPr lang="zh-CN" altLang="en-US" dirty="0">
                <a:ea typeface="宋体" panose="02010600030101010101" pitchFamily="2" charset="-122"/>
                <a:sym typeface="+mn-ea"/>
              </a:rPr>
              <a:t>趋向性分析：分析可靠性随时间的变化趋势，有助于评估可靠性模型的有效性</a:t>
            </a:r>
            <a:endParaRPr lang="zh-CN" altLang="en-US" dirty="0">
              <a:ea typeface="宋体" panose="02010600030101010101" pitchFamily="2" charset="-122"/>
            </a:endParaRPr>
          </a:p>
          <a:p>
            <a:pPr lvl="1"/>
            <a:r>
              <a:rPr lang="zh-CN" altLang="en-US" dirty="0">
                <a:ea typeface="宋体" panose="02010600030101010101" pitchFamily="2" charset="-122"/>
                <a:sym typeface="+mn-ea"/>
              </a:rPr>
              <a:t>模型应用：选择趋向性模型，涉及可靠性度量问题</a:t>
            </a:r>
            <a:endParaRPr lang="zh-CN" altLang="en-US" dirty="0">
              <a:ea typeface="宋体" panose="02010600030101010101" pitchFamily="2" charset="-122"/>
            </a:endParaRPr>
          </a:p>
          <a:p>
            <a:endParaRPr lang="zh-CN" altLang="en-US" dirty="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p:txBody>
          <a:bodyPr/>
          <a:p>
            <a:pPr algn="l">
              <a:buClrTx/>
              <a:buSzTx/>
            </a:pPr>
            <a:r>
              <a:rPr lang="en-US" altLang="zh-CN">
                <a:sym typeface="+mn-ea"/>
              </a:rPr>
              <a:t>经验表明，根据故障时间间隔或某时间间隔内的累积故障数，或故障密度，可以了解软件系统是否会变得越来越可靠，或反之。但有时，这种预测是错误的，因为定量度量并不总是可信的</a:t>
            </a:r>
            <a:endParaRPr lang="en-US" altLang="zh-CN"/>
          </a:p>
          <a:p>
            <a:pPr algn="l">
              <a:buClrTx/>
              <a:buSzTx/>
            </a:pPr>
            <a:r>
              <a:rPr lang="en-US" altLang="zh-CN">
                <a:sym typeface="+mn-ea"/>
              </a:rPr>
              <a:t>用</a:t>
            </a:r>
            <a:r>
              <a:rPr lang="en-US" altLang="zh-CN" b="1">
                <a:solidFill>
                  <a:srgbClr val="C00000"/>
                </a:solidFill>
                <a:sym typeface="+mn-ea"/>
              </a:rPr>
              <a:t>形式化统计检验方法</a:t>
            </a:r>
            <a:r>
              <a:rPr lang="en-US" altLang="zh-CN">
                <a:sym typeface="+mn-ea"/>
              </a:rPr>
              <a:t>提高趋向性分析的可信度似乎更有效</a:t>
            </a:r>
            <a:endParaRPr lang="en-US" altLang="zh-CN"/>
          </a:p>
          <a:p>
            <a:pPr algn="l">
              <a:buClrTx/>
              <a:buSzTx/>
            </a:pPr>
            <a:r>
              <a:rPr lang="en-US" altLang="zh-CN">
                <a:sym typeface="+mn-ea"/>
              </a:rPr>
              <a:t>该方法的基础是计算Laplace因子</a:t>
            </a:r>
            <a:endParaRPr lang="en-US" altLang="zh-CN"/>
          </a:p>
          <a:p>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177165" name="文本占位符 177164"/>
          <p:cNvSpPr>
            <a:spLocks noGrp="1"/>
          </p:cNvSpPr>
          <p:nvPr>
            <p:ph type="body" idx="1"/>
            <p:custDataLst>
              <p:tags r:id="rId1"/>
            </p:custDataLst>
          </p:nvPr>
        </p:nvSpPr>
        <p:spPr>
          <a:xfrm>
            <a:off x="838200" y="1320800"/>
            <a:ext cx="10627995" cy="5215890"/>
          </a:xfrm>
        </p:spPr>
        <p:txBody>
          <a:bodyPr>
            <a:normAutofit lnSpcReduction="10000"/>
          </a:bodyPr>
          <a:p>
            <a:pPr marL="0" indent="0">
              <a:lnSpc>
                <a:spcPct val="90000"/>
              </a:lnSpc>
              <a:buNone/>
            </a:pPr>
            <a:r>
              <a:rPr lang="en-US" altLang="zh-CN" sz="2600" dirty="0">
                <a:latin typeface="Times New Roman" panose="02020603050405020304" pitchFamily="18" charset="0"/>
                <a:ea typeface="宋体" panose="02010600030101010101" pitchFamily="2" charset="-122"/>
              </a:rPr>
              <a:t>    </a:t>
            </a:r>
            <a:r>
              <a:rPr lang="zh-CN" altLang="en-US" sz="2600" dirty="0">
                <a:latin typeface="Times New Roman" panose="02020603050405020304" pitchFamily="18" charset="0"/>
                <a:ea typeface="宋体" panose="02010600030101010101" pitchFamily="2" charset="-122"/>
              </a:rPr>
              <a:t>若</a:t>
            </a:r>
            <a:r>
              <a:rPr lang="en-US" altLang="zh-CN" sz="2600" i="1">
                <a:latin typeface="Times New Roman" panose="02020603050405020304" pitchFamily="18" charset="0"/>
                <a:ea typeface="宋体" panose="02010600030101010101" pitchFamily="2" charset="-122"/>
              </a:rPr>
              <a:t>T</a:t>
            </a:r>
            <a:r>
              <a:rPr lang="zh-CN" altLang="en-US" sz="2600" dirty="0">
                <a:latin typeface="Times New Roman" panose="02020603050405020304" pitchFamily="18" charset="0"/>
                <a:ea typeface="宋体" panose="02010600030101010101" pitchFamily="2" charset="-122"/>
              </a:rPr>
              <a:t>为观测时间，对于</a:t>
            </a:r>
            <a:r>
              <a:rPr lang="en-US" altLang="zh-CN" sz="2600">
                <a:latin typeface="Times New Roman" panose="02020603050405020304" pitchFamily="18" charset="0"/>
                <a:ea typeface="宋体" panose="02010600030101010101" pitchFamily="2" charset="-122"/>
              </a:rPr>
              <a:t>[0,</a:t>
            </a:r>
            <a:r>
              <a:rPr lang="en-US" altLang="zh-CN" sz="2600" i="1">
                <a:latin typeface="Times New Roman" panose="02020603050405020304" pitchFamily="18" charset="0"/>
                <a:ea typeface="宋体" panose="02010600030101010101" pitchFamily="2" charset="-122"/>
              </a:rPr>
              <a:t>T</a:t>
            </a:r>
            <a:r>
              <a:rPr lang="en-US" altLang="zh-CN" sz="2600">
                <a:latin typeface="Times New Roman" panose="02020603050405020304" pitchFamily="18" charset="0"/>
                <a:ea typeface="宋体" panose="02010600030101010101" pitchFamily="2" charset="-122"/>
              </a:rPr>
              <a:t>]</a:t>
            </a:r>
            <a:r>
              <a:rPr lang="zh-CN" altLang="en-US" sz="2600" dirty="0">
                <a:latin typeface="Times New Roman" panose="02020603050405020304" pitchFamily="18" charset="0"/>
                <a:ea typeface="宋体" panose="02010600030101010101" pitchFamily="2" charset="-122"/>
              </a:rPr>
              <a:t>内的故障时间数据，</a:t>
            </a:r>
            <a:r>
              <a:rPr lang="en-US" altLang="zh-CN" sz="2600">
                <a:latin typeface="Times New Roman" panose="02020603050405020304" pitchFamily="18" charset="0"/>
                <a:ea typeface="宋体" panose="02010600030101010101" pitchFamily="2" charset="-122"/>
              </a:rPr>
              <a:t>Laplace</a:t>
            </a:r>
            <a:r>
              <a:rPr lang="zh-CN" altLang="en-US" sz="2600" dirty="0">
                <a:latin typeface="Times New Roman" panose="02020603050405020304" pitchFamily="18" charset="0"/>
                <a:ea typeface="宋体" panose="02010600030101010101" pitchFamily="2" charset="-122"/>
              </a:rPr>
              <a:t>因子为：</a:t>
            </a:r>
            <a:endParaRPr lang="zh-CN" altLang="en-US" sz="2600" dirty="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r>
              <a:rPr lang="en-US" altLang="zh-CN" sz="2600" dirty="0">
                <a:latin typeface="Times New Roman" panose="02020603050405020304" pitchFamily="18" charset="0"/>
                <a:ea typeface="宋体" panose="02010600030101010101" pitchFamily="2" charset="-122"/>
              </a:rPr>
              <a:t>    </a:t>
            </a:r>
            <a:r>
              <a:rPr lang="zh-CN" altLang="en-US" sz="2600" dirty="0">
                <a:latin typeface="Times New Roman" panose="02020603050405020304" pitchFamily="18" charset="0"/>
                <a:ea typeface="宋体" panose="02010600030101010101" pitchFamily="2" charset="-122"/>
              </a:rPr>
              <a:t>其中，</a:t>
            </a:r>
            <a:r>
              <a:rPr lang="en-US" altLang="zh-CN" sz="2600" i="1" err="1">
                <a:latin typeface="Times New Roman" panose="02020603050405020304" pitchFamily="18" charset="0"/>
                <a:ea typeface="宋体" panose="02010600030101010101" pitchFamily="2" charset="-122"/>
              </a:rPr>
              <a:t>θ</a:t>
            </a:r>
            <a:r>
              <a:rPr lang="en-US" altLang="zh-CN" sz="2600" i="1" baseline="-25000" err="1">
                <a:latin typeface="Times New Roman" panose="02020603050405020304" pitchFamily="18" charset="0"/>
                <a:ea typeface="宋体" panose="02010600030101010101" pitchFamily="2" charset="-122"/>
              </a:rPr>
              <a:t>j</a:t>
            </a:r>
            <a:r>
              <a:rPr lang="zh-CN" altLang="en-US" sz="2600" dirty="0">
                <a:latin typeface="Times New Roman" panose="02020603050405020304" pitchFamily="18" charset="0"/>
                <a:ea typeface="宋体" panose="02010600030101010101" pitchFamily="2" charset="-122"/>
              </a:rPr>
              <a:t>实在第</a:t>
            </a:r>
            <a:r>
              <a:rPr lang="en-US" altLang="zh-CN" sz="2600" i="1">
                <a:latin typeface="Times New Roman" panose="02020603050405020304" pitchFamily="18" charset="0"/>
                <a:ea typeface="宋体" panose="02010600030101010101" pitchFamily="2" charset="-122"/>
              </a:rPr>
              <a:t>j</a:t>
            </a:r>
            <a:r>
              <a:rPr lang="en-US" altLang="zh-CN" sz="2600">
                <a:latin typeface="Times New Roman" panose="02020603050405020304" pitchFamily="18" charset="0"/>
                <a:ea typeface="宋体" panose="02010600030101010101" pitchFamily="2" charset="-122"/>
              </a:rPr>
              <a:t>-1</a:t>
            </a:r>
            <a:r>
              <a:rPr lang="zh-CN" altLang="en-US" sz="2600" dirty="0">
                <a:latin typeface="Times New Roman" panose="02020603050405020304" pitchFamily="18" charset="0"/>
                <a:ea typeface="宋体" panose="02010600030101010101" pitchFamily="2" charset="-122"/>
              </a:rPr>
              <a:t>个故障后，从系统重启到发生第</a:t>
            </a:r>
            <a:r>
              <a:rPr lang="en-US" altLang="zh-CN" sz="2600" i="1">
                <a:latin typeface="Times New Roman" panose="02020603050405020304" pitchFamily="18" charset="0"/>
                <a:ea typeface="宋体" panose="02010600030101010101" pitchFamily="2" charset="-122"/>
              </a:rPr>
              <a:t>j</a:t>
            </a:r>
            <a:r>
              <a:rPr lang="zh-CN" altLang="en-US" sz="2600" dirty="0">
                <a:latin typeface="Times New Roman" panose="02020603050405020304" pitchFamily="18" charset="0"/>
                <a:ea typeface="宋体" panose="02010600030101010101" pitchFamily="2" charset="-122"/>
              </a:rPr>
              <a:t>个故障的时间，</a:t>
            </a:r>
            <a:r>
              <a:rPr lang="en-US" altLang="zh-CN" sz="2600" i="1">
                <a:latin typeface="Times New Roman" panose="02020603050405020304" pitchFamily="18" charset="0"/>
                <a:ea typeface="宋体" panose="02010600030101010101" pitchFamily="2" charset="-122"/>
              </a:rPr>
              <a:t>N</a:t>
            </a:r>
            <a:r>
              <a:rPr lang="en-US" altLang="zh-CN" sz="2600">
                <a:latin typeface="Times New Roman" panose="02020603050405020304" pitchFamily="18" charset="0"/>
                <a:ea typeface="宋体" panose="02010600030101010101" pitchFamily="2" charset="-122"/>
              </a:rPr>
              <a:t>(</a:t>
            </a:r>
            <a:r>
              <a:rPr lang="en-US" altLang="zh-CN" sz="2600" i="1">
                <a:latin typeface="Times New Roman" panose="02020603050405020304" pitchFamily="18" charset="0"/>
                <a:ea typeface="宋体" panose="02010600030101010101" pitchFamily="2" charset="-122"/>
              </a:rPr>
              <a:t>T</a:t>
            </a:r>
            <a:r>
              <a:rPr lang="en-US" altLang="zh-CN" sz="2600">
                <a:latin typeface="Times New Roman" panose="02020603050405020304" pitchFamily="18" charset="0"/>
                <a:ea typeface="宋体" panose="02010600030101010101" pitchFamily="2" charset="-122"/>
              </a:rPr>
              <a:t>)</a:t>
            </a:r>
            <a:r>
              <a:rPr lang="zh-CN" altLang="en-US" sz="2600" dirty="0">
                <a:latin typeface="Times New Roman" panose="02020603050405020304" pitchFamily="18" charset="0"/>
                <a:ea typeface="宋体" panose="02010600030101010101" pitchFamily="2" charset="-122"/>
              </a:rPr>
              <a:t>是在</a:t>
            </a:r>
            <a:r>
              <a:rPr lang="en-US" altLang="zh-CN" sz="2600">
                <a:latin typeface="Times New Roman" panose="02020603050405020304" pitchFamily="18" charset="0"/>
                <a:ea typeface="宋体" panose="02010600030101010101" pitchFamily="2" charset="-122"/>
              </a:rPr>
              <a:t>[0,</a:t>
            </a:r>
            <a:r>
              <a:rPr lang="en-US" altLang="zh-CN" sz="2600" i="1">
                <a:latin typeface="Times New Roman" panose="02020603050405020304" pitchFamily="18" charset="0"/>
                <a:ea typeface="宋体" panose="02010600030101010101" pitchFamily="2" charset="-122"/>
              </a:rPr>
              <a:t>T</a:t>
            </a:r>
            <a:r>
              <a:rPr lang="en-US" altLang="zh-CN" sz="2600">
                <a:latin typeface="Times New Roman" panose="02020603050405020304" pitchFamily="18" charset="0"/>
                <a:ea typeface="宋体" panose="02010600030101010101" pitchFamily="2" charset="-122"/>
              </a:rPr>
              <a:t>]</a:t>
            </a:r>
            <a:r>
              <a:rPr lang="zh-CN" altLang="en-US" sz="2600" dirty="0">
                <a:latin typeface="Times New Roman" panose="02020603050405020304" pitchFamily="18" charset="0"/>
                <a:ea typeface="宋体" panose="02010600030101010101" pitchFamily="2" charset="-122"/>
              </a:rPr>
              <a:t>内的故障数，对于分组数据，</a:t>
            </a:r>
            <a:endParaRPr lang="zh-CN" altLang="en-US" sz="2600" dirty="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endParaRPr lang="en-US" altLang="zh-CN" sz="2600">
              <a:latin typeface="Times New Roman" panose="02020603050405020304" pitchFamily="18" charset="0"/>
              <a:ea typeface="宋体" panose="02010600030101010101" pitchFamily="2" charset="-122"/>
            </a:endParaRPr>
          </a:p>
          <a:p>
            <a:pPr marL="0" indent="0">
              <a:lnSpc>
                <a:spcPct val="90000"/>
              </a:lnSpc>
              <a:buNone/>
            </a:pPr>
            <a:r>
              <a:rPr lang="en-US" altLang="zh-CN" sz="2600" dirty="0">
                <a:latin typeface="Times New Roman" panose="02020603050405020304" pitchFamily="18" charset="0"/>
                <a:ea typeface="宋体" panose="02010600030101010101" pitchFamily="2" charset="-122"/>
              </a:rPr>
              <a:t>    </a:t>
            </a:r>
            <a:r>
              <a:rPr lang="zh-CN" altLang="en-US" sz="2600" dirty="0">
                <a:latin typeface="Times New Roman" panose="02020603050405020304" pitchFamily="18" charset="0"/>
                <a:ea typeface="宋体" panose="02010600030101010101" pitchFamily="2" charset="-122"/>
              </a:rPr>
              <a:t>这里</a:t>
            </a:r>
            <a:r>
              <a:rPr lang="en-US" altLang="zh-CN" sz="2600" i="1" err="1">
                <a:latin typeface="Times New Roman" panose="02020603050405020304" pitchFamily="18" charset="0"/>
                <a:ea typeface="宋体" panose="02010600030101010101" pitchFamily="2" charset="-122"/>
              </a:rPr>
              <a:t>n</a:t>
            </a:r>
            <a:r>
              <a:rPr lang="en-US" altLang="zh-CN" sz="2600" err="1">
                <a:latin typeface="Times New Roman" panose="02020603050405020304" pitchFamily="18" charset="0"/>
                <a:ea typeface="宋体" panose="02010600030101010101" pitchFamily="2" charset="-122"/>
              </a:rPr>
              <a:t>(</a:t>
            </a:r>
            <a:r>
              <a:rPr lang="en-US" altLang="zh-CN" sz="2600" i="1" err="1">
                <a:latin typeface="Times New Roman" panose="02020603050405020304" pitchFamily="18" charset="0"/>
                <a:ea typeface="宋体" panose="02010600030101010101" pitchFamily="2" charset="-122"/>
              </a:rPr>
              <a:t>i</a:t>
            </a:r>
            <a:r>
              <a:rPr lang="en-US" altLang="zh-CN" sz="2600">
                <a:latin typeface="Times New Roman" panose="02020603050405020304" pitchFamily="18" charset="0"/>
                <a:ea typeface="宋体" panose="02010600030101010101" pitchFamily="2" charset="-122"/>
              </a:rPr>
              <a:t>)</a:t>
            </a:r>
            <a:r>
              <a:rPr lang="zh-CN" altLang="en-US" sz="2600" dirty="0">
                <a:latin typeface="Times New Roman" panose="02020603050405020304" pitchFamily="18" charset="0"/>
                <a:ea typeface="宋体" panose="02010600030101010101" pitchFamily="2" charset="-122"/>
              </a:rPr>
              <a:t>是在第</a:t>
            </a:r>
            <a:r>
              <a:rPr lang="en-US" altLang="zh-CN" sz="2600" i="1">
                <a:latin typeface="Times New Roman" panose="02020603050405020304" pitchFamily="18" charset="0"/>
                <a:ea typeface="宋体" panose="02010600030101010101" pitchFamily="2" charset="-122"/>
              </a:rPr>
              <a:t>i</a:t>
            </a:r>
            <a:r>
              <a:rPr lang="zh-CN" altLang="en-US" sz="2600" dirty="0">
                <a:latin typeface="Times New Roman" panose="02020603050405020304" pitchFamily="18" charset="0"/>
                <a:ea typeface="宋体" panose="02010600030101010101" pitchFamily="2" charset="-122"/>
              </a:rPr>
              <a:t>个时间单位内的故障数，即第</a:t>
            </a:r>
            <a:r>
              <a:rPr lang="en-US" altLang="zh-CN" sz="2600" i="1">
                <a:latin typeface="Times New Roman" panose="02020603050405020304" pitchFamily="18" charset="0"/>
                <a:ea typeface="宋体" panose="02010600030101010101" pitchFamily="2" charset="-122"/>
              </a:rPr>
              <a:t>i</a:t>
            </a:r>
            <a:r>
              <a:rPr lang="zh-CN" altLang="en-US" sz="2600" dirty="0">
                <a:latin typeface="Times New Roman" panose="02020603050405020304" pitchFamily="18" charset="0"/>
                <a:ea typeface="宋体" panose="02010600030101010101" pitchFamily="2" charset="-122"/>
              </a:rPr>
              <a:t>个分组；</a:t>
            </a:r>
            <a:r>
              <a:rPr lang="en-US" altLang="zh-CN" sz="2600" i="1">
                <a:latin typeface="Times New Roman" panose="02020603050405020304" pitchFamily="18" charset="0"/>
                <a:ea typeface="宋体" panose="02010600030101010101" pitchFamily="2" charset="-122"/>
              </a:rPr>
              <a:t>k</a:t>
            </a:r>
            <a:r>
              <a:rPr lang="zh-CN" altLang="en-US" sz="2600" dirty="0">
                <a:latin typeface="Times New Roman" panose="02020603050405020304" pitchFamily="18" charset="0"/>
                <a:ea typeface="宋体" panose="02010600030101010101" pitchFamily="2" charset="-122"/>
              </a:rPr>
              <a:t>为观测的时间单位数，即分组数据的组数</a:t>
            </a:r>
            <a:endParaRPr lang="en-US" altLang="zh-CN" sz="2600">
              <a:latin typeface="Times New Roman" panose="02020603050405020304" pitchFamily="18" charset="0"/>
              <a:ea typeface="宋体" panose="02010600030101010101" pitchFamily="2" charset="-122"/>
            </a:endParaRPr>
          </a:p>
        </p:txBody>
      </p:sp>
      <p:graphicFrame>
        <p:nvGraphicFramePr>
          <p:cNvPr id="177166" name="对象 177165"/>
          <p:cNvGraphicFramePr/>
          <p:nvPr>
            <p:custDataLst>
              <p:tags r:id="rId2"/>
            </p:custDataLst>
          </p:nvPr>
        </p:nvGraphicFramePr>
        <p:xfrm>
          <a:off x="4225608" y="1716405"/>
          <a:ext cx="2952750" cy="1600200"/>
        </p:xfrm>
        <a:graphic>
          <a:graphicData uri="http://schemas.openxmlformats.org/presentationml/2006/ole">
            <mc:AlternateContent xmlns:mc="http://schemas.openxmlformats.org/markup-compatibility/2006">
              <mc:Choice xmlns:v="urn:schemas-microsoft-com:vml" Requires="v">
                <p:oleObj spid="_x0000_s3077" name="" r:id="rId3" imgW="1663065" imgH="901065" progId="Equation.3">
                  <p:embed/>
                </p:oleObj>
              </mc:Choice>
              <mc:Fallback>
                <p:oleObj name="" r:id="rId3" imgW="1663065" imgH="901065" progId="Equation.3">
                  <p:embed/>
                  <p:pic>
                    <p:nvPicPr>
                      <p:cNvPr id="0" name="图片 3076"/>
                      <p:cNvPicPr/>
                      <p:nvPr/>
                    </p:nvPicPr>
                    <p:blipFill>
                      <a:blip r:embed="rId4"/>
                      <a:stretch>
                        <a:fillRect/>
                      </a:stretch>
                    </p:blipFill>
                    <p:spPr>
                      <a:xfrm>
                        <a:off x="4225608" y="1716405"/>
                        <a:ext cx="2952750" cy="1600200"/>
                      </a:xfrm>
                      <a:prstGeom prst="rect">
                        <a:avLst/>
                      </a:prstGeom>
                      <a:noFill/>
                      <a:ln w="38100">
                        <a:noFill/>
                        <a:miter/>
                      </a:ln>
                    </p:spPr>
                  </p:pic>
                </p:oleObj>
              </mc:Fallback>
            </mc:AlternateContent>
          </a:graphicData>
        </a:graphic>
      </p:graphicFrame>
      <p:graphicFrame>
        <p:nvGraphicFramePr>
          <p:cNvPr id="177167" name="对象 177166"/>
          <p:cNvGraphicFramePr/>
          <p:nvPr>
            <p:custDataLst>
              <p:tags r:id="rId5"/>
            </p:custDataLst>
          </p:nvPr>
        </p:nvGraphicFramePr>
        <p:xfrm>
          <a:off x="4228148" y="4133215"/>
          <a:ext cx="3602037" cy="1471613"/>
        </p:xfrm>
        <a:graphic>
          <a:graphicData uri="http://schemas.openxmlformats.org/presentationml/2006/ole">
            <mc:AlternateContent xmlns:mc="http://schemas.openxmlformats.org/markup-compatibility/2006">
              <mc:Choice xmlns:v="urn:schemas-microsoft-com:vml" Requires="v">
                <p:oleObj spid="_x0000_s3076" name="" r:id="rId6" imgW="2082165" imgH="850265" progId="Equation.3">
                  <p:embed/>
                </p:oleObj>
              </mc:Choice>
              <mc:Fallback>
                <p:oleObj name="" r:id="rId6" imgW="2082165" imgH="850265" progId="Equation.3">
                  <p:embed/>
                  <p:pic>
                    <p:nvPicPr>
                      <p:cNvPr id="0" name="图片 3075"/>
                      <p:cNvPicPr/>
                      <p:nvPr/>
                    </p:nvPicPr>
                    <p:blipFill>
                      <a:blip r:embed="rId7"/>
                      <a:stretch>
                        <a:fillRect/>
                      </a:stretch>
                    </p:blipFill>
                    <p:spPr>
                      <a:xfrm>
                        <a:off x="4228148" y="4133215"/>
                        <a:ext cx="3602037" cy="1471613"/>
                      </a:xfrm>
                      <a:prstGeom prst="rect">
                        <a:avLst/>
                      </a:prstGeom>
                      <a:noFill/>
                      <a:ln w="38100">
                        <a:noFill/>
                        <a:miter/>
                      </a:ln>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a:xfrm>
            <a:off x="838200" y="1538605"/>
            <a:ext cx="3237865" cy="4638675"/>
          </a:xfrm>
        </p:spPr>
        <p:txBody>
          <a:bodyPr>
            <a:normAutofit fontScale="90000"/>
          </a:bodyPr>
          <a:p>
            <a:pPr algn="l">
              <a:lnSpc>
                <a:spcPct val="130000"/>
              </a:lnSpc>
              <a:buClrTx/>
              <a:buSzTx/>
            </a:pPr>
            <a:r>
              <a:rPr lang="en-US" altLang="zh-CN">
                <a:sym typeface="+mn-ea"/>
              </a:rPr>
              <a:t>Laplace因子的值有以下含义：</a:t>
            </a:r>
            <a:endParaRPr lang="en-US" altLang="zh-CN"/>
          </a:p>
          <a:p>
            <a:pPr lvl="1" algn="l">
              <a:lnSpc>
                <a:spcPct val="130000"/>
              </a:lnSpc>
              <a:buClrTx/>
              <a:buSzTx/>
            </a:pPr>
            <a:r>
              <a:rPr lang="en-US" altLang="zh-CN">
                <a:sym typeface="+mn-ea"/>
              </a:rPr>
              <a:t>负值表示故障密度减少，可靠性增加</a:t>
            </a:r>
            <a:endParaRPr lang="en-US" altLang="zh-CN"/>
          </a:p>
          <a:p>
            <a:pPr lvl="1" algn="l">
              <a:lnSpc>
                <a:spcPct val="130000"/>
              </a:lnSpc>
              <a:buClrTx/>
              <a:buSzTx/>
            </a:pPr>
            <a:r>
              <a:rPr lang="en-US" altLang="zh-CN">
                <a:sym typeface="+mn-ea"/>
              </a:rPr>
              <a:t>正值表示故障密度增加，可靠性降低</a:t>
            </a:r>
            <a:endParaRPr lang="en-US" altLang="zh-CN"/>
          </a:p>
          <a:p>
            <a:pPr lvl="1" algn="l">
              <a:lnSpc>
                <a:spcPct val="130000"/>
              </a:lnSpc>
              <a:buClrTx/>
              <a:buSzTx/>
            </a:pPr>
            <a:r>
              <a:rPr lang="en-US" altLang="zh-CN">
                <a:sym typeface="+mn-ea"/>
              </a:rPr>
              <a:t>若作-2~2间震荡，表示可靠性处于稳定状态</a:t>
            </a:r>
            <a:endParaRPr lang="en-US" altLang="zh-CN"/>
          </a:p>
          <a:p>
            <a:endParaRPr lang="en-US" altLang="zh-CN"/>
          </a:p>
        </p:txBody>
      </p:sp>
      <p:grpSp>
        <p:nvGrpSpPr>
          <p:cNvPr id="181267" name="组合 181266"/>
          <p:cNvGrpSpPr/>
          <p:nvPr/>
        </p:nvGrpSpPr>
        <p:grpSpPr>
          <a:xfrm>
            <a:off x="4137660" y="2063115"/>
            <a:ext cx="7632700" cy="3679826"/>
            <a:chOff x="716" y="1389"/>
            <a:chExt cx="4808" cy="2318"/>
          </a:xfrm>
        </p:grpSpPr>
        <p:sp>
          <p:nvSpPr>
            <p:cNvPr id="181253" name="直接连接符 181252"/>
            <p:cNvSpPr/>
            <p:nvPr>
              <p:custDataLst>
                <p:tags r:id="rId1"/>
              </p:custDataLst>
            </p:nvPr>
          </p:nvSpPr>
          <p:spPr>
            <a:xfrm>
              <a:off x="852" y="2478"/>
              <a:ext cx="4672" cy="0"/>
            </a:xfrm>
            <a:prstGeom prst="line">
              <a:avLst/>
            </a:prstGeom>
            <a:ln w="9525" cap="flat" cmpd="sng">
              <a:solidFill>
                <a:schemeClr val="tx1"/>
              </a:solidFill>
              <a:prstDash val="solid"/>
              <a:headEnd type="none" w="med" len="med"/>
              <a:tailEnd type="none" w="med" len="med"/>
            </a:ln>
          </p:spPr>
        </p:sp>
        <p:sp>
          <p:nvSpPr>
            <p:cNvPr id="181254" name="直接连接符 181253"/>
            <p:cNvSpPr/>
            <p:nvPr>
              <p:custDataLst>
                <p:tags r:id="rId2"/>
              </p:custDataLst>
            </p:nvPr>
          </p:nvSpPr>
          <p:spPr>
            <a:xfrm>
              <a:off x="1850" y="1431"/>
              <a:ext cx="0" cy="2087"/>
            </a:xfrm>
            <a:prstGeom prst="line">
              <a:avLst/>
            </a:prstGeom>
            <a:ln w="9525" cap="flat" cmpd="sng">
              <a:solidFill>
                <a:schemeClr val="tx1"/>
              </a:solidFill>
              <a:prstDash val="solid"/>
              <a:headEnd type="none" w="med" len="med"/>
              <a:tailEnd type="none" w="med" len="med"/>
            </a:ln>
          </p:spPr>
        </p:sp>
        <p:sp>
          <p:nvSpPr>
            <p:cNvPr id="181256" name="任意多边形 181255"/>
            <p:cNvSpPr/>
            <p:nvPr>
              <p:custDataLst>
                <p:tags r:id="rId3"/>
              </p:custDataLst>
            </p:nvPr>
          </p:nvSpPr>
          <p:spPr>
            <a:xfrm>
              <a:off x="2077" y="1706"/>
              <a:ext cx="3084" cy="1384"/>
            </a:xfrm>
            <a:custGeom>
              <a:avLst/>
              <a:gdLst/>
              <a:ahLst/>
              <a:cxnLst/>
              <a:pathLst>
                <a:path w="3084" h="1384">
                  <a:moveTo>
                    <a:pt x="0" y="723"/>
                  </a:moveTo>
                  <a:cubicBezTo>
                    <a:pt x="118" y="603"/>
                    <a:pt x="459" y="0"/>
                    <a:pt x="708" y="0"/>
                  </a:cubicBezTo>
                  <a:cubicBezTo>
                    <a:pt x="957" y="0"/>
                    <a:pt x="1220" y="492"/>
                    <a:pt x="1497" y="723"/>
                  </a:cubicBezTo>
                  <a:cubicBezTo>
                    <a:pt x="1774" y="954"/>
                    <a:pt x="2104" y="1384"/>
                    <a:pt x="2368" y="1384"/>
                  </a:cubicBezTo>
                  <a:cubicBezTo>
                    <a:pt x="2632" y="1384"/>
                    <a:pt x="2935" y="861"/>
                    <a:pt x="3084" y="723"/>
                  </a:cubicBezTo>
                </a:path>
              </a:pathLst>
            </a:custGeom>
            <a:noFill/>
            <a:ln w="38100" cap="flat" cmpd="sng">
              <a:solidFill>
                <a:schemeClr val="tx1"/>
              </a:solidFill>
              <a:prstDash val="solid"/>
              <a:headEnd type="none" w="med" len="med"/>
              <a:tailEnd type="none" w="med" len="med"/>
            </a:ln>
          </p:spPr>
          <p:txBody>
            <a:bodyPr/>
            <a:p>
              <a:endParaRPr lang="zh-CN" altLang="en-US"/>
            </a:p>
          </p:txBody>
        </p:sp>
        <p:sp>
          <p:nvSpPr>
            <p:cNvPr id="181257" name="直接连接符 181256"/>
            <p:cNvSpPr/>
            <p:nvPr>
              <p:custDataLst>
                <p:tags r:id="rId4"/>
              </p:custDataLst>
            </p:nvPr>
          </p:nvSpPr>
          <p:spPr>
            <a:xfrm>
              <a:off x="2802" y="1703"/>
              <a:ext cx="0" cy="1815"/>
            </a:xfrm>
            <a:prstGeom prst="line">
              <a:avLst/>
            </a:prstGeom>
            <a:ln w="9525" cap="flat" cmpd="sng">
              <a:solidFill>
                <a:schemeClr val="tx1"/>
              </a:solidFill>
              <a:prstDash val="dash"/>
              <a:headEnd type="none" w="med" len="med"/>
              <a:tailEnd type="none" w="med" len="med"/>
            </a:ln>
          </p:spPr>
        </p:sp>
        <p:sp>
          <p:nvSpPr>
            <p:cNvPr id="181258" name="直接连接符 181257"/>
            <p:cNvSpPr/>
            <p:nvPr>
              <p:custDataLst>
                <p:tags r:id="rId5"/>
              </p:custDataLst>
            </p:nvPr>
          </p:nvSpPr>
          <p:spPr>
            <a:xfrm>
              <a:off x="4435" y="2429"/>
              <a:ext cx="0" cy="1089"/>
            </a:xfrm>
            <a:prstGeom prst="line">
              <a:avLst/>
            </a:prstGeom>
            <a:ln w="9525" cap="flat" cmpd="sng">
              <a:solidFill>
                <a:schemeClr val="tx1"/>
              </a:solidFill>
              <a:prstDash val="dash"/>
              <a:headEnd type="none" w="med" len="med"/>
              <a:tailEnd type="none" w="med" len="med"/>
            </a:ln>
          </p:spPr>
        </p:sp>
        <p:sp>
          <p:nvSpPr>
            <p:cNvPr id="181259" name="直接连接符 181258"/>
            <p:cNvSpPr/>
            <p:nvPr>
              <p:custDataLst>
                <p:tags r:id="rId6"/>
              </p:custDataLst>
            </p:nvPr>
          </p:nvSpPr>
          <p:spPr>
            <a:xfrm>
              <a:off x="2122" y="3385"/>
              <a:ext cx="3039" cy="0"/>
            </a:xfrm>
            <a:prstGeom prst="line">
              <a:avLst/>
            </a:prstGeom>
            <a:ln w="9525" cap="flat" cmpd="sng">
              <a:solidFill>
                <a:schemeClr val="tx1"/>
              </a:solidFill>
              <a:prstDash val="solid"/>
              <a:headEnd type="triangle" w="med" len="med"/>
              <a:tailEnd type="triangle" w="med" len="med"/>
            </a:ln>
          </p:spPr>
        </p:sp>
        <p:sp>
          <p:nvSpPr>
            <p:cNvPr id="181260" name="文本框 181259"/>
            <p:cNvSpPr txBox="1"/>
            <p:nvPr>
              <p:custDataLst>
                <p:tags r:id="rId7"/>
              </p:custDataLst>
            </p:nvPr>
          </p:nvSpPr>
          <p:spPr>
            <a:xfrm>
              <a:off x="716" y="2205"/>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全局趋向性</a:t>
              </a:r>
              <a:endParaRPr lang="en-US" altLang="zh-CN">
                <a:latin typeface="Basemic Times" pitchFamily="2" charset="0"/>
                <a:ea typeface="宋体" panose="02010600030101010101" pitchFamily="2" charset="-122"/>
              </a:endParaRPr>
            </a:p>
          </p:txBody>
        </p:sp>
        <p:sp>
          <p:nvSpPr>
            <p:cNvPr id="181261" name="文本框 181260"/>
            <p:cNvSpPr txBox="1"/>
            <p:nvPr>
              <p:custDataLst>
                <p:tags r:id="rId8"/>
              </p:custDataLst>
            </p:nvPr>
          </p:nvSpPr>
          <p:spPr>
            <a:xfrm>
              <a:off x="3075" y="3475"/>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局部趋向性</a:t>
              </a:r>
              <a:endParaRPr lang="en-US" altLang="zh-CN">
                <a:latin typeface="Basemic Times" pitchFamily="2" charset="0"/>
                <a:ea typeface="宋体" panose="02010600030101010101" pitchFamily="2" charset="-122"/>
              </a:endParaRPr>
            </a:p>
          </p:txBody>
        </p:sp>
        <p:sp>
          <p:nvSpPr>
            <p:cNvPr id="181262" name="文本框 181261"/>
            <p:cNvSpPr txBox="1"/>
            <p:nvPr>
              <p:custDataLst>
                <p:tags r:id="rId9"/>
              </p:custDataLst>
            </p:nvPr>
          </p:nvSpPr>
          <p:spPr>
            <a:xfrm>
              <a:off x="1895" y="2976"/>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可靠性降低</a:t>
              </a:r>
              <a:endParaRPr lang="en-US" altLang="zh-CN">
                <a:latin typeface="Basemic Times" pitchFamily="2" charset="0"/>
                <a:ea typeface="宋体" panose="02010600030101010101" pitchFamily="2" charset="-122"/>
              </a:endParaRPr>
            </a:p>
          </p:txBody>
        </p:sp>
        <p:sp>
          <p:nvSpPr>
            <p:cNvPr id="181263" name="文本框 181262"/>
            <p:cNvSpPr txBox="1"/>
            <p:nvPr>
              <p:custDataLst>
                <p:tags r:id="rId10"/>
              </p:custDataLst>
            </p:nvPr>
          </p:nvSpPr>
          <p:spPr>
            <a:xfrm>
              <a:off x="4481" y="3022"/>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可靠性降低</a:t>
              </a:r>
              <a:endParaRPr lang="en-US" altLang="zh-CN">
                <a:latin typeface="Basemic Times" pitchFamily="2" charset="0"/>
                <a:ea typeface="宋体" panose="02010600030101010101" pitchFamily="2" charset="-122"/>
              </a:endParaRPr>
            </a:p>
          </p:txBody>
        </p:sp>
        <p:sp>
          <p:nvSpPr>
            <p:cNvPr id="181264" name="文本框 181263"/>
            <p:cNvSpPr txBox="1"/>
            <p:nvPr>
              <p:custDataLst>
                <p:tags r:id="rId11"/>
              </p:custDataLst>
            </p:nvPr>
          </p:nvSpPr>
          <p:spPr>
            <a:xfrm>
              <a:off x="3120" y="2976"/>
              <a:ext cx="835" cy="232"/>
            </a:xfrm>
            <a:prstGeom prst="rect">
              <a:avLst/>
            </a:prstGeom>
            <a:noFill/>
            <a:ln w="9525">
              <a:noFill/>
            </a:ln>
          </p:spPr>
          <p:txBody>
            <a:bodyPr wrap="none" anchor="t" anchorCtr="0">
              <a:spAutoFit/>
            </a:bodyPr>
            <a:p>
              <a:pPr eaLnBrk="1" hangingPunct="1"/>
              <a:r>
                <a:rPr lang="zh-CN" altLang="en-US" dirty="0">
                  <a:latin typeface="Basemic Times" pitchFamily="2" charset="0"/>
                  <a:ea typeface="宋体" panose="02010600030101010101" pitchFamily="2" charset="-122"/>
                </a:rPr>
                <a:t>可靠性增加</a:t>
              </a:r>
              <a:endParaRPr lang="zh-CN" altLang="en-US" dirty="0">
                <a:latin typeface="Basemic Times" pitchFamily="2" charset="0"/>
                <a:ea typeface="宋体" panose="02010600030101010101" pitchFamily="2" charset="-122"/>
              </a:endParaRPr>
            </a:p>
          </p:txBody>
        </p:sp>
        <p:sp>
          <p:nvSpPr>
            <p:cNvPr id="181265" name="文本框 181264"/>
            <p:cNvSpPr txBox="1"/>
            <p:nvPr>
              <p:custDataLst>
                <p:tags r:id="rId12"/>
              </p:custDataLst>
            </p:nvPr>
          </p:nvSpPr>
          <p:spPr>
            <a:xfrm>
              <a:off x="1578" y="1389"/>
              <a:ext cx="317" cy="930"/>
            </a:xfrm>
            <a:prstGeom prst="rect">
              <a:avLst/>
            </a:prstGeom>
            <a:noFill/>
            <a:ln w="9525">
              <a:noFill/>
            </a:ln>
          </p:spPr>
          <p:txBody>
            <a:bodyPr>
              <a:spAutoFit/>
            </a:bodyPr>
            <a:p>
              <a:pPr eaLnBrk="1" hangingPunct="1"/>
              <a:r>
                <a:rPr lang="zh-CN" altLang="en-US" dirty="0">
                  <a:latin typeface="Basemic Times" pitchFamily="2" charset="0"/>
                  <a:ea typeface="宋体" panose="02010600030101010101" pitchFamily="2" charset="-122"/>
                </a:rPr>
                <a:t>可靠性降低</a:t>
              </a:r>
              <a:endParaRPr lang="en-US" altLang="zh-CN">
                <a:latin typeface="Basemic Times" pitchFamily="2" charset="0"/>
                <a:ea typeface="宋体" panose="02010600030101010101" pitchFamily="2" charset="-122"/>
              </a:endParaRPr>
            </a:p>
          </p:txBody>
        </p:sp>
        <p:sp>
          <p:nvSpPr>
            <p:cNvPr id="181266" name="文本框 181265"/>
            <p:cNvSpPr txBox="1"/>
            <p:nvPr>
              <p:custDataLst>
                <p:tags r:id="rId13"/>
              </p:custDataLst>
            </p:nvPr>
          </p:nvSpPr>
          <p:spPr>
            <a:xfrm>
              <a:off x="1578" y="2614"/>
              <a:ext cx="226" cy="930"/>
            </a:xfrm>
            <a:prstGeom prst="rect">
              <a:avLst/>
            </a:prstGeom>
            <a:noFill/>
            <a:ln w="9525">
              <a:noFill/>
            </a:ln>
          </p:spPr>
          <p:txBody>
            <a:bodyPr>
              <a:spAutoFit/>
            </a:bodyPr>
            <a:p>
              <a:pPr eaLnBrk="1" hangingPunct="1"/>
              <a:r>
                <a:rPr lang="zh-CN" altLang="en-US" dirty="0">
                  <a:latin typeface="Basemic Times" pitchFamily="2" charset="0"/>
                  <a:ea typeface="宋体" panose="02010600030101010101" pitchFamily="2" charset="-122"/>
                </a:rPr>
                <a:t>可靠性增加</a:t>
              </a:r>
              <a:endParaRPr lang="zh-CN" altLang="en-US" dirty="0">
                <a:latin typeface="Basemic Times" pitchFamily="2" charset="0"/>
                <a:ea typeface="宋体" panose="02010600030101010101" pitchFamily="2" charset="-12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latin typeface="Times New Roman" panose="02020603050405020304" pitchFamily="18" charset="0"/>
                <a:cs typeface="Times New Roman" panose="02020603050405020304" pitchFamily="18" charset="0"/>
                <a:sym typeface="+mn-ea"/>
              </a:rPr>
              <a:t>6.5 软件故障数据的趋向性分析</a:t>
            </a:r>
            <a:endParaRPr lang="zh-CN" altLang="en-US"/>
          </a:p>
        </p:txBody>
      </p:sp>
      <p:sp>
        <p:nvSpPr>
          <p:cNvPr id="3" name="内容占位符 2"/>
          <p:cNvSpPr>
            <a:spLocks noGrp="1"/>
          </p:cNvSpPr>
          <p:nvPr>
            <p:ph idx="1"/>
          </p:nvPr>
        </p:nvSpPr>
        <p:spPr/>
        <p:txBody>
          <a:bodyPr>
            <a:normAutofit fontScale="90000"/>
          </a:bodyPr>
          <a:p>
            <a:r>
              <a:rPr lang="zh-CN" altLang="en-US" dirty="0">
                <a:sym typeface="+mn-ea"/>
              </a:rPr>
              <a:t>趋向性分析结果的应用</a:t>
            </a:r>
            <a:endParaRPr lang="zh-CN" altLang="en-US" dirty="0">
              <a:sym typeface="+mn-ea"/>
            </a:endParaRPr>
          </a:p>
          <a:p>
            <a:pPr lvl="1" algn="l">
              <a:lnSpc>
                <a:spcPct val="130000"/>
              </a:lnSpc>
              <a:buClrTx/>
              <a:buSzTx/>
            </a:pPr>
            <a:r>
              <a:rPr lang="zh-CN" altLang="en-US" sz="2400" dirty="0">
                <a:sym typeface="+mn-ea"/>
              </a:rPr>
              <a:t>软件开发阶段的趋向性分析可预测软件可靠性的可能趋向及持续时间，以便开发者、测试人员采取有针对性的措施加以控制</a:t>
            </a:r>
            <a:endParaRPr lang="zh-CN" altLang="en-US" sz="2400" dirty="0"/>
          </a:p>
          <a:p>
            <a:pPr lvl="1" algn="l">
              <a:lnSpc>
                <a:spcPct val="130000"/>
              </a:lnSpc>
              <a:buClrTx/>
              <a:buSzTx/>
            </a:pPr>
            <a:r>
              <a:rPr lang="zh-CN" altLang="en-US" sz="2400" dirty="0">
                <a:sym typeface="+mn-ea"/>
              </a:rPr>
              <a:t>对于软件可靠性的定量评估，趋向性分析有助于选择适用的可靠性模型，采取以下策略：</a:t>
            </a:r>
            <a:endParaRPr lang="zh-CN" altLang="en-US" sz="2400" dirty="0"/>
          </a:p>
          <a:p>
            <a:pPr lvl="2" algn="l">
              <a:lnSpc>
                <a:spcPct val="130000"/>
              </a:lnSpc>
              <a:spcBef>
                <a:spcPts val="1000"/>
              </a:spcBef>
              <a:buClrTx/>
              <a:buSzTx/>
            </a:pPr>
            <a:r>
              <a:rPr lang="zh-CN" altLang="en-US" sz="2330" dirty="0">
                <a:sym typeface="+mn-ea"/>
              </a:rPr>
              <a:t>在可靠性增长时，多数模型都可用</a:t>
            </a:r>
            <a:endParaRPr lang="zh-CN" altLang="en-US" sz="2330" dirty="0"/>
          </a:p>
          <a:p>
            <a:pPr lvl="2" algn="l">
              <a:lnSpc>
                <a:spcPct val="130000"/>
              </a:lnSpc>
              <a:spcBef>
                <a:spcPts val="1000"/>
              </a:spcBef>
              <a:buClrTx/>
              <a:buSzTx/>
            </a:pPr>
            <a:r>
              <a:rPr lang="zh-CN" altLang="en-US" sz="2330" dirty="0">
                <a:sym typeface="+mn-ea"/>
              </a:rPr>
              <a:t>可靠性趋向稳定时，可选择常数故障率模型</a:t>
            </a:r>
            <a:endParaRPr lang="zh-CN" altLang="en-US" sz="2330" dirty="0"/>
          </a:p>
          <a:p>
            <a:pPr lvl="2" algn="l">
              <a:lnSpc>
                <a:spcPct val="130000"/>
              </a:lnSpc>
              <a:spcBef>
                <a:spcPts val="1000"/>
              </a:spcBef>
              <a:buClrTx/>
              <a:buSzTx/>
            </a:pPr>
            <a:r>
              <a:rPr lang="zh-CN" altLang="en-US" sz="2330" dirty="0">
                <a:sym typeface="+mn-ea"/>
              </a:rPr>
              <a:t>若可靠性降低，接着又增长，建议选择S模型（Yamada、Ohba模型）</a:t>
            </a:r>
            <a:endParaRPr lang="zh-CN" altLang="en-US" sz="2330" dirty="0"/>
          </a:p>
          <a:p>
            <a:pPr lvl="2" algn="l">
              <a:lnSpc>
                <a:spcPct val="130000"/>
              </a:lnSpc>
              <a:spcBef>
                <a:spcPts val="1000"/>
              </a:spcBef>
              <a:buClrTx/>
              <a:buSzTx/>
            </a:pPr>
            <a:r>
              <a:rPr lang="zh-CN" altLang="en-US" sz="2330" dirty="0">
                <a:sym typeface="+mn-ea"/>
              </a:rPr>
              <a:t>若可靠性持续降低，应等待，因为存在需要处理的问题</a:t>
            </a:r>
            <a:endParaRPr lang="zh-CN" altLang="en-US" sz="2330" dirty="0"/>
          </a:p>
          <a:p>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TABLE_ENDDRAG_ORIGIN_RECT" val="854*500"/>
  <p:tag name="TABLE_ENDDRAG_RECT" val="63*48*854*500"/>
</p:tagLst>
</file>

<file path=ppt/tags/tag134.xml><?xml version="1.0" encoding="utf-8"?>
<p:tagLst xmlns:p="http://schemas.openxmlformats.org/presentationml/2006/main">
  <p:tag name="TABLE_ENDDRAG_ORIGIN_RECT" val="798*415"/>
  <p:tag name="TABLE_ENDDRAG_RECT" val="52*84*798*415"/>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TABLE_ENDDRAG_ORIGIN_RECT" val="798*415"/>
  <p:tag name="TABLE_ENDDRAG_RECT" val="52*84*798*415"/>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PP_MARK_KEY" val="7bd29f46-b8e6-4582-857c-02eb3b47549f"/>
  <p:tag name="COMMONDATA" val="eyJoZGlkIjoiY2IxYTc3NzQxYzYwYWY3YzFjZDE3YmJmMWE0OTZjMWUifQ=="/>
  <p:tag name="commondata" val="eyJoZGlkIjoiNGVhMGEzMzFmYzE0NDk3ZTNmMGYzOThhM2NhOTZlNT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sz="2000"/>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8611</Words>
  <Application>WPS 演示</Application>
  <PresentationFormat>宽屏</PresentationFormat>
  <Paragraphs>1216</Paragraphs>
  <Slides>59</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23</vt:i4>
      </vt:variant>
      <vt:variant>
        <vt:lpstr>幻灯片标题</vt:lpstr>
      </vt:variant>
      <vt:variant>
        <vt:i4>59</vt:i4>
      </vt:variant>
    </vt:vector>
  </HeadingPairs>
  <TitlesOfParts>
    <vt:vector size="101" baseType="lpstr">
      <vt:lpstr>Arial</vt:lpstr>
      <vt:lpstr>宋体</vt:lpstr>
      <vt:lpstr>Wingdings</vt:lpstr>
      <vt:lpstr>Wingdings</vt:lpstr>
      <vt:lpstr>微软雅黑</vt:lpstr>
      <vt:lpstr>Times New Roman</vt:lpstr>
      <vt:lpstr>黑体</vt:lpstr>
      <vt:lpstr>Calibri Light</vt:lpstr>
      <vt:lpstr>Calibri</vt:lpstr>
      <vt:lpstr>Arial Unicode MS</vt:lpstr>
      <vt:lpstr>Comic Sans MS</vt:lpstr>
      <vt:lpstr>楷体_GB2312</vt:lpstr>
      <vt:lpstr>新宋体</vt:lpstr>
      <vt:lpstr>Basemic Times</vt:lpstr>
      <vt:lpstr>ksdb</vt:lpstr>
      <vt:lpstr>幼圆</vt:lpstr>
      <vt:lpstr>Cambria Math</vt:lpstr>
      <vt:lpstr>MS PGothic</vt:lpstr>
      <vt:lpstr>Office 主题</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第6章 软件可靠性模型</vt:lpstr>
      <vt:lpstr>内容</vt:lpstr>
      <vt:lpstr>引言</vt:lpstr>
      <vt:lpstr>6.1 软件可靠性度量</vt:lpstr>
      <vt:lpstr>6.1 软件可靠性度量</vt:lpstr>
      <vt:lpstr>6.1 软件可靠性度量</vt:lpstr>
      <vt:lpstr>6.1 软件可靠性度量</vt:lpstr>
      <vt:lpstr>6.1 软件可靠性度量</vt:lpstr>
      <vt:lpstr>6.1 软件可靠性度量</vt:lpstr>
      <vt:lpstr>6.1 软件可靠性度量</vt:lpstr>
      <vt:lpstr>6.1 软件可靠性度量</vt:lpstr>
      <vt:lpstr>6.1 软件可靠性度量</vt:lpstr>
      <vt:lpstr>6.1 软件可靠性度量</vt:lpstr>
      <vt:lpstr>6.2 软件可靠性数据收集过程</vt:lpstr>
      <vt:lpstr>6.2 软件可靠性数据收集过程</vt:lpstr>
      <vt:lpstr>6.2 软件可靠性数据收集过程</vt:lpstr>
      <vt:lpstr>6.3 软件运行剖面</vt:lpstr>
      <vt:lpstr>6.3 软件运行剖面</vt:lpstr>
      <vt:lpstr>6.3 软件运行剖面</vt:lpstr>
      <vt:lpstr>6.3 软件运行剖面</vt:lpstr>
      <vt:lpstr>6.3 软件运行剖面</vt:lpstr>
      <vt:lpstr>6.3 软件运行剖面</vt:lpstr>
      <vt:lpstr>6.3 软件运行剖面</vt:lpstr>
      <vt:lpstr>6.4 软件可靠性模型及应用</vt:lpstr>
      <vt:lpstr>6.4 软件可靠性模型及应用</vt:lpstr>
      <vt:lpstr>6.4 软件可靠性模型及应用</vt:lpstr>
      <vt:lpstr>PowerPoint 演示文稿</vt:lpstr>
      <vt:lpstr>R-B软件可靠性模型分类</vt:lpstr>
      <vt:lpstr>部分常见的模型</vt:lpstr>
      <vt:lpstr>6.4 软件可靠性模型及应用</vt:lpstr>
      <vt:lpstr>6.4 软件可靠性模型及应用：Musa模型</vt:lpstr>
      <vt:lpstr>6.4 软件可靠性模型及应用：Musa模型</vt:lpstr>
      <vt:lpstr>6.4 软件可靠性模型及应用：对数模型</vt:lpstr>
      <vt:lpstr>6.4 软件可靠性模型及应用：Goel-Okumoto模型</vt:lpstr>
      <vt:lpstr>6.4 软件可靠性模型及应用：JM模型</vt:lpstr>
      <vt:lpstr>6.4 软件可靠性模型及应用：JM模型</vt:lpstr>
      <vt:lpstr>6.4 软件可靠性模型及应用：JM模型</vt:lpstr>
      <vt:lpstr>6.4 软件可靠性模型及应用：JM模型</vt:lpstr>
      <vt:lpstr>6.4 软件可靠性模型及应用：JM模型</vt:lpstr>
      <vt:lpstr>6.4 软件可靠性模型及应用：JM模型</vt:lpstr>
      <vt:lpstr>6.4 软件可靠性模型及应用：Nelson模型</vt:lpstr>
      <vt:lpstr>6.4 软件可靠性模型及应用：Nelson模型</vt:lpstr>
      <vt:lpstr>6.4 软件可靠性模型及应用</vt:lpstr>
      <vt:lpstr>6.4 软件可靠性模型及应用</vt:lpstr>
      <vt:lpstr>6.4 软件可靠性模型及应用</vt:lpstr>
      <vt:lpstr>6.4 软件可靠性模型及应用</vt:lpstr>
      <vt:lpstr>6.4 软件可靠性模型及应用</vt:lpstr>
      <vt:lpstr>6.4 软件可靠性模型及应用</vt:lpstr>
      <vt:lpstr>6.4 软件可靠性模型及应用</vt:lpstr>
      <vt:lpstr>6.5 软件故障数据的趋向性分析</vt:lpstr>
      <vt:lpstr>6.5 软件故障数据的趋向性分析</vt:lpstr>
      <vt:lpstr>6.5 软件故障数据的趋向性分析</vt:lpstr>
      <vt:lpstr>6.5 软件故障数据的趋向性分析</vt:lpstr>
      <vt:lpstr>6.5 软件故障数据的趋向性分析</vt:lpstr>
      <vt:lpstr>6.5 软件故障数据的趋向性分析</vt:lpstr>
      <vt:lpstr>6.5 软件故障数据的趋向性分析</vt:lpstr>
      <vt:lpstr>6.5 软件故障数据的趋向性分析</vt:lpstr>
      <vt:lpstr>6.5 软件故障数据的趋向性分析</vt:lpstr>
      <vt:lpstr>6.5 软件故障数据的趋向性分析</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软件分析概要</dc:title>
  <dc:creator>Microsoft</dc:creator>
  <cp:lastModifiedBy>董玉坤</cp:lastModifiedBy>
  <cp:revision>179</cp:revision>
  <dcterms:created xsi:type="dcterms:W3CDTF">2022-08-08T01:51:00Z</dcterms:created>
  <dcterms:modified xsi:type="dcterms:W3CDTF">2024-11-13T02:00:58Z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E9266E9539684B88B8E38D15771F6DA7_12</vt:lpwstr>
  </property>
  <property fmtid="{D5CDD505-2E9C-101B-9397-08002B2CF9AE}" pid="3" name="KSOProductBuildVer">
    <vt:lpwstr>2052-12.1.0.18608</vt:lpwstr>
  </property>
</Properties>
</file>