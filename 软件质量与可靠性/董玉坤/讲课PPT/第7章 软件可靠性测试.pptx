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3"/>
    <p:sldId id="257" r:id="rId4"/>
    <p:sldId id="728" r:id="rId5"/>
    <p:sldId id="771" r:id="rId6"/>
    <p:sldId id="921" r:id="rId7"/>
    <p:sldId id="922" r:id="rId8"/>
    <p:sldId id="749" r:id="rId9"/>
    <p:sldId id="750" r:id="rId10"/>
    <p:sldId id="751" r:id="rId11"/>
    <p:sldId id="752" r:id="rId12"/>
    <p:sldId id="753" r:id="rId13"/>
    <p:sldId id="754" r:id="rId14"/>
    <p:sldId id="755" r:id="rId15"/>
    <p:sldId id="756" r:id="rId16"/>
    <p:sldId id="757" r:id="rId17"/>
    <p:sldId id="758" r:id="rId18"/>
    <p:sldId id="759" r:id="rId19"/>
    <p:sldId id="882" r:id="rId20"/>
    <p:sldId id="883" r:id="rId21"/>
    <p:sldId id="884" r:id="rId22"/>
    <p:sldId id="885" r:id="rId23"/>
    <p:sldId id="886" r:id="rId24"/>
    <p:sldId id="887" r:id="rId25"/>
    <p:sldId id="888" r:id="rId26"/>
    <p:sldId id="889" r:id="rId27"/>
    <p:sldId id="890" r:id="rId28"/>
    <p:sldId id="891" r:id="rId29"/>
    <p:sldId id="892" r:id="rId30"/>
    <p:sldId id="893" r:id="rId31"/>
    <p:sldId id="894" r:id="rId32"/>
    <p:sldId id="895" r:id="rId33"/>
    <p:sldId id="896" r:id="rId34"/>
    <p:sldId id="897" r:id="rId35"/>
    <p:sldId id="898" r:id="rId36"/>
    <p:sldId id="899" r:id="rId37"/>
    <p:sldId id="900" r:id="rId38"/>
    <p:sldId id="901" r:id="rId39"/>
    <p:sldId id="902" r:id="rId40"/>
    <p:sldId id="903" r:id="rId41"/>
    <p:sldId id="904" r:id="rId42"/>
    <p:sldId id="905" r:id="rId43"/>
    <p:sldId id="906" r:id="rId44"/>
    <p:sldId id="907" r:id="rId45"/>
    <p:sldId id="908" r:id="rId46"/>
    <p:sldId id="909" r:id="rId47"/>
    <p:sldId id="910" r:id="rId48"/>
    <p:sldId id="911" r:id="rId49"/>
    <p:sldId id="912" r:id="rId50"/>
    <p:sldId id="913" r:id="rId51"/>
    <p:sldId id="914" r:id="rId52"/>
    <p:sldId id="915" r:id="rId53"/>
    <p:sldId id="916" r:id="rId54"/>
    <p:sldId id="917" r:id="rId55"/>
    <p:sldId id="918" r:id="rId56"/>
    <p:sldId id="919" r:id="rId57"/>
    <p:sldId id="920" r:id="rId58"/>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tags" Target="tags/tag7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notesMaster" Target="notesMasters/notesMaster1.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38605"/>
            <a:ext cx="10515600" cy="4638675"/>
          </a:xfrm>
        </p:spPr>
        <p:txBody>
          <a:bodyPr/>
          <a:lstStyle>
            <a:lvl1pPr eaLnBrk="1" fontAlgn="auto" latinLnBrk="0" hangingPunct="1">
              <a:lnSpc>
                <a:spcPct val="130000"/>
              </a:lnSpc>
              <a:defRPr/>
            </a:lvl1pPr>
            <a:lvl2pPr eaLnBrk="1" fontAlgn="auto" latinLnBrk="0" hangingPunct="1">
              <a:lnSpc>
                <a:spcPct val="130000"/>
              </a:lnSpc>
              <a:defRPr/>
            </a:lvl2pPr>
            <a:lvl3pPr eaLnBrk="1" fontAlgn="auto" latinLnBrk="0" hangingPunct="1">
              <a:lnSpc>
                <a:spcPct val="130000"/>
              </a:lnSpc>
              <a:defRPr/>
            </a:lvl3pPr>
            <a:lvl4pPr eaLnBrk="1" fontAlgn="auto" latinLnBrk="0" hangingPunct="1">
              <a:lnSpc>
                <a:spcPct val="130000"/>
              </a:lnSpc>
              <a:defRPr/>
            </a:lvl4pPr>
            <a:lvl5pPr eaLnBrk="1" fontAlgn="auto" latinLnBrk="0" hangingPunct="1">
              <a:lnSpc>
                <a:spcPct val="130000"/>
              </a:lnSpc>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smtClean="0"/>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1"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1"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72201"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fld id="{BB962C8B-B14F-4D97-AF65-F5344CB8AC3E}" type="datetime1">
              <a:rPr lang="ja-JP" altLang="en-US" dirty="0"/>
            </a:fld>
            <a:endParaRPr lang="ja-JP" altLang="en-US" dirty="0"/>
          </a:p>
        </p:txBody>
      </p:sp>
      <p:sp>
        <p:nvSpPr>
          <p:cNvPr id="7" name="页脚占位符 6"/>
          <p:cNvSpPr>
            <a:spLocks noGrp="1"/>
          </p:cNvSpPr>
          <p:nvPr>
            <p:ph type="ftr" sz="quarter" idx="11"/>
          </p:nvPr>
        </p:nvSpPr>
        <p:spPr/>
        <p:txBody>
          <a:bodyPr/>
          <a:lstStyle/>
          <a:p>
            <a:pPr lvl="0" eaLnBrk="1" hangingPunct="1"/>
            <a:endParaRPr lang="zh-CN" altLang="en-US" dirty="0"/>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transition>
    <p:blinds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1"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1"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fld id="{BB962C8B-B14F-4D97-AF65-F5344CB8AC3E}" type="datetime1">
              <a:rPr lang="ja-JP" altLang="en-US" dirty="0"/>
            </a:fld>
            <a:endParaRPr lang="ja-JP" altLang="en-US" dirty="0"/>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D90DF-7CA0-4224-96EF-983A14E1413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6" Type="http://schemas.openxmlformats.org/officeDocument/2006/relationships/slideLayout" Target="../slideLayouts/slideLayout2.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image" Target="../media/image2.wmf"/><Relationship Id="rId6" Type="http://schemas.openxmlformats.org/officeDocument/2006/relationships/oleObject" Target="../embeddings/oleObject2.bin"/><Relationship Id="rId5" Type="http://schemas.openxmlformats.org/officeDocument/2006/relationships/tags" Target="../tags/tag38.xml"/><Relationship Id="rId4" Type="http://schemas.openxmlformats.org/officeDocument/2006/relationships/image" Target="../media/image1.wmf"/><Relationship Id="rId3" Type="http://schemas.openxmlformats.org/officeDocument/2006/relationships/oleObject" Target="../embeddings/oleObject1.bin"/><Relationship Id="rId20" Type="http://schemas.openxmlformats.org/officeDocument/2006/relationships/vmlDrawing" Target="../drawings/vmlDrawing1.vml"/><Relationship Id="rId2" Type="http://schemas.openxmlformats.org/officeDocument/2006/relationships/tags" Target="../tags/tag37.xml"/><Relationship Id="rId19" Type="http://schemas.openxmlformats.org/officeDocument/2006/relationships/slideLayout" Target="../slideLayouts/slideLayout2.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5" Type="http://schemas.openxmlformats.org/officeDocument/2006/relationships/slideLayout" Target="../slideLayouts/slideLayout2.xml"/><Relationship Id="rId24" Type="http://schemas.openxmlformats.org/officeDocument/2006/relationships/tags" Target="../tags/tag74.xml"/><Relationship Id="rId23" Type="http://schemas.openxmlformats.org/officeDocument/2006/relationships/tags" Target="../tags/tag73.xml"/><Relationship Id="rId22" Type="http://schemas.openxmlformats.org/officeDocument/2006/relationships/tags" Target="../tags/tag72.xml"/><Relationship Id="rId21" Type="http://schemas.openxmlformats.org/officeDocument/2006/relationships/tags" Target="../tags/tag71.xml"/><Relationship Id="rId20" Type="http://schemas.openxmlformats.org/officeDocument/2006/relationships/tags" Target="../tags/tag70.xml"/><Relationship Id="rId2" Type="http://schemas.openxmlformats.org/officeDocument/2006/relationships/tags" Target="../tags/tag52.xml"/><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tags" Target="../tags/tag62.xml"/><Relationship Id="rId11" Type="http://schemas.openxmlformats.org/officeDocument/2006/relationships/tags" Target="../tags/tag61.xml"/><Relationship Id="rId10" Type="http://schemas.openxmlformats.org/officeDocument/2006/relationships/tags" Target="../tags/tag60.xml"/><Relationship Id="rId1" Type="http://schemas.openxmlformats.org/officeDocument/2006/relationships/tags" Target="../tags/tag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7</a:t>
            </a:r>
            <a:r>
              <a:rPr lang="zh-CN" altLang="en-US" dirty="0" smtClean="0"/>
              <a:t>章 软件可靠性</a:t>
            </a:r>
            <a:r>
              <a:rPr lang="zh-CN" altLang="en-US" dirty="0" smtClean="0"/>
              <a:t>测试</a:t>
            </a:r>
            <a:endParaRPr lang="zh-CN" altLang="en-US" dirty="0" smtClean="0"/>
          </a:p>
        </p:txBody>
      </p:sp>
      <p:sp>
        <p:nvSpPr>
          <p:cNvPr id="3" name="副标题 2"/>
          <p:cNvSpPr>
            <a:spLocks noGrp="1"/>
          </p:cNvSpPr>
          <p:nvPr>
            <p:ph type="subTitle" idx="1"/>
          </p:nvPr>
        </p:nvSpPr>
        <p:spPr>
          <a:xfrm>
            <a:off x="2667000" y="3934558"/>
            <a:ext cx="6858000" cy="866042"/>
          </a:xfrm>
        </p:spPr>
        <p:txBody>
          <a:bodyPr>
            <a:normAutofit lnSpcReduction="10000"/>
          </a:bodyPr>
          <a:lstStyle/>
          <a:p>
            <a:r>
              <a:rPr lang="zh-CN" altLang="en-US" dirty="0" smtClean="0"/>
              <a:t>中国石油大学（华东）</a:t>
            </a:r>
            <a:endParaRPr lang="zh-CN" altLang="en-US" dirty="0" smtClean="0"/>
          </a:p>
          <a:p>
            <a:r>
              <a:rPr lang="zh-CN" altLang="en-US" dirty="0"/>
              <a:t>青岛软件学院、计算机科学与技术</a:t>
            </a:r>
            <a:r>
              <a:rPr lang="zh-CN" altLang="en-US" dirty="0"/>
              <a:t>学院</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C00000"/>
                </a:solidFill>
              </a:rPr>
              <a:t>内容</a:t>
            </a:r>
            <a:endParaRPr lang="zh-CN" altLang="en-US" dirty="0" smtClean="0">
              <a:solidFill>
                <a:srgbClr val="C00000"/>
              </a:solidFill>
            </a:endParaRPr>
          </a:p>
        </p:txBody>
      </p:sp>
      <p:sp>
        <p:nvSpPr>
          <p:cNvPr id="3" name="内容占位符 2"/>
          <p:cNvSpPr>
            <a:spLocks noGrp="1"/>
          </p:cNvSpPr>
          <p:nvPr>
            <p:ph idx="1"/>
          </p:nvPr>
        </p:nvSpPr>
        <p:spPr/>
        <p:txBody>
          <a:bodyPr>
            <a:normAutofit lnSpcReduction="10000"/>
          </a:bodyPr>
          <a:lstStyle/>
          <a:p>
            <a:r>
              <a:rPr lang="en-US" altLang="zh-CN" dirty="0" smtClean="0"/>
              <a:t>1</a:t>
            </a:r>
            <a:r>
              <a:rPr lang="en-US" altLang="zh-CN" dirty="0"/>
              <a:t>. </a:t>
            </a:r>
            <a:r>
              <a:rPr lang="zh-CN" altLang="en-US" dirty="0">
                <a:sym typeface="+mn-ea"/>
              </a:rPr>
              <a:t>软件可靠性测试</a:t>
            </a:r>
            <a:endParaRPr lang="zh-CN" altLang="en-US" dirty="0">
              <a:sym typeface="+mn-ea"/>
            </a:endParaRPr>
          </a:p>
          <a:p>
            <a:r>
              <a:rPr lang="en-US" altLang="zh-CN" dirty="0"/>
              <a:t>2. </a:t>
            </a:r>
            <a:r>
              <a:rPr lang="zh-CN" altLang="en-US" dirty="0"/>
              <a:t>软件可靠性增长测试</a:t>
            </a:r>
            <a:endParaRPr lang="zh-CN" altLang="en-US" dirty="0"/>
          </a:p>
          <a:p>
            <a:r>
              <a:rPr lang="en-US" altLang="zh-CN" dirty="0"/>
              <a:t>3. </a:t>
            </a:r>
            <a:r>
              <a:rPr lang="zh-CN" altLang="en-US" dirty="0"/>
              <a:t>软件可靠性验证测试 </a:t>
            </a:r>
            <a:endParaRPr lang="zh-CN" altLang="en-US" dirty="0"/>
          </a:p>
          <a:p>
            <a:r>
              <a:rPr lang="en-US" altLang="zh-CN" dirty="0"/>
              <a:t>4. </a:t>
            </a:r>
            <a:r>
              <a:rPr lang="zh-CN" altLang="en-US" dirty="0"/>
              <a:t>变异测试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 软件</a:t>
            </a:r>
            <a:r>
              <a:rPr lang="zh-CN" altLang="en-US">
                <a:solidFill>
                  <a:srgbClr val="C00000"/>
                </a:solidFill>
                <a:latin typeface="Times New Roman" panose="02020603050405020304" pitchFamily="18" charset="0"/>
                <a:cs typeface="Times New Roman" panose="02020603050405020304" pitchFamily="18" charset="0"/>
                <a:sym typeface="+mn-ea"/>
              </a:rPr>
              <a:t>可靠性</a:t>
            </a:r>
            <a:r>
              <a:rPr lang="zh-CN" altLang="en-US">
                <a:solidFill>
                  <a:srgbClr val="C00000"/>
                </a:solidFill>
                <a:latin typeface="Times New Roman" panose="02020603050405020304" pitchFamily="18" charset="0"/>
                <a:cs typeface="Times New Roman" panose="02020603050405020304" pitchFamily="18" charset="0"/>
                <a:sym typeface="+mn-ea"/>
              </a:rPr>
              <a:t>测试</a:t>
            </a:r>
            <a:endParaRPr lang="zh-CN" altLang="en-US">
              <a:solidFill>
                <a:srgbClr val="C0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p>
            <a:pPr marL="228600" lvl="1" algn="l">
              <a:spcBef>
                <a:spcPts val="1000"/>
              </a:spcBef>
              <a:buClrTx/>
              <a:buSzTx/>
            </a:pPr>
            <a:r>
              <a:rPr lang="en-US" altLang="zh-CN" sz="2800">
                <a:sym typeface="+mn-ea"/>
              </a:rPr>
              <a:t>与软件可靠性相关的测试主要是动态测试</a:t>
            </a:r>
            <a:endParaRPr lang="en-US" altLang="zh-CN" sz="2800"/>
          </a:p>
          <a:p>
            <a:pPr lvl="1" algn="l">
              <a:spcBef>
                <a:spcPts val="1000"/>
              </a:spcBef>
              <a:buClrTx/>
              <a:buSzTx/>
            </a:pPr>
            <a:r>
              <a:rPr lang="en-US" altLang="zh-CN">
                <a:sym typeface="+mn-ea"/>
              </a:rPr>
              <a:t>单元测试：对</a:t>
            </a:r>
            <a:r>
              <a:rPr lang="zh-CN" altLang="en-US">
                <a:sym typeface="+mn-ea"/>
              </a:rPr>
              <a:t>软件</a:t>
            </a:r>
            <a:r>
              <a:rPr lang="en-US" altLang="zh-CN">
                <a:sym typeface="+mn-ea"/>
              </a:rPr>
              <a:t>单元进行测试</a:t>
            </a:r>
            <a:endParaRPr lang="en-US" altLang="zh-CN"/>
          </a:p>
          <a:p>
            <a:pPr lvl="1" algn="l">
              <a:spcBef>
                <a:spcPts val="1000"/>
              </a:spcBef>
              <a:buClrTx/>
              <a:buSzTx/>
            </a:pPr>
            <a:r>
              <a:rPr lang="en-US" altLang="zh-CN">
                <a:sym typeface="+mn-ea"/>
              </a:rPr>
              <a:t>集成测试：对</a:t>
            </a:r>
            <a:r>
              <a:rPr lang="zh-CN" altLang="en-US">
                <a:sym typeface="+mn-ea"/>
              </a:rPr>
              <a:t>软件</a:t>
            </a:r>
            <a:r>
              <a:rPr lang="en-US" altLang="zh-CN">
                <a:sym typeface="+mn-ea"/>
              </a:rPr>
              <a:t>单元接口的测试</a:t>
            </a:r>
            <a:endParaRPr lang="en-US" altLang="zh-CN"/>
          </a:p>
          <a:p>
            <a:pPr lvl="1" algn="l">
              <a:spcBef>
                <a:spcPts val="1000"/>
              </a:spcBef>
              <a:buClrTx/>
              <a:buSzTx/>
            </a:pPr>
            <a:r>
              <a:rPr lang="en-US" altLang="zh-CN">
                <a:sym typeface="+mn-ea"/>
              </a:rPr>
              <a:t>验收测试：验收并确认实现了所有需求</a:t>
            </a:r>
            <a:endParaRPr lang="en-US" altLang="zh-CN"/>
          </a:p>
          <a:p>
            <a:pPr lvl="1" algn="l">
              <a:spcBef>
                <a:spcPts val="1000"/>
              </a:spcBef>
              <a:buClrTx/>
              <a:buSzTx/>
            </a:pPr>
            <a:r>
              <a:rPr lang="en-US" altLang="zh-CN">
                <a:sym typeface="+mn-ea"/>
              </a:rPr>
              <a:t>回归测试：对与修正的缺陷的软件部件的再测试</a:t>
            </a:r>
            <a:endParaRPr lang="en-US" altLang="zh-CN">
              <a:ea typeface="宋体" panose="02010600030101010101" pitchFamily="2" charset="-122"/>
            </a:endParaRPr>
          </a:p>
          <a:p>
            <a:endParaRPr lang="en-US" altLang="zh-CN">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7" name="矩形 6"/>
          <p:cNvSpPr/>
          <p:nvPr>
            <p:custDataLst>
              <p:tags r:id="rId1"/>
            </p:custDataLst>
          </p:nvPr>
        </p:nvSpPr>
        <p:spPr bwMode="auto">
          <a:xfrm>
            <a:off x="2743200" y="2851150"/>
            <a:ext cx="990600" cy="8382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构造运</a:t>
            </a:r>
            <a:endParaRPr lang="en-US" altLang="zh-CN" sz="2000" b="1" i="0">
              <a:solidFill>
                <a:srgbClr val="0000FF"/>
              </a:solidFill>
              <a:latin typeface="楷体" panose="02010609060101010101" pitchFamily="49" charset="-122"/>
              <a:ea typeface="楷体" panose="02010609060101010101" pitchFamily="49" charset="-122"/>
            </a:endParaRPr>
          </a:p>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行剖面</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8" name="矩形 7"/>
          <p:cNvSpPr/>
          <p:nvPr>
            <p:custDataLst>
              <p:tags r:id="rId2"/>
            </p:custDataLst>
          </p:nvPr>
        </p:nvSpPr>
        <p:spPr bwMode="auto">
          <a:xfrm>
            <a:off x="4343400" y="2851150"/>
            <a:ext cx="914400" cy="8382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选取测试用例</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9" name="矩形 8"/>
          <p:cNvSpPr/>
          <p:nvPr>
            <p:custDataLst>
              <p:tags r:id="rId3"/>
            </p:custDataLst>
          </p:nvPr>
        </p:nvSpPr>
        <p:spPr bwMode="auto">
          <a:xfrm>
            <a:off x="5867400" y="2851150"/>
            <a:ext cx="685800" cy="8382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测试运行</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10" name="矩形 9"/>
          <p:cNvSpPr/>
          <p:nvPr>
            <p:custDataLst>
              <p:tags r:id="rId4"/>
            </p:custDataLst>
          </p:nvPr>
        </p:nvSpPr>
        <p:spPr bwMode="auto">
          <a:xfrm>
            <a:off x="7315200" y="2851150"/>
            <a:ext cx="685800" cy="8382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结果分析</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11" name="矩形 10"/>
          <p:cNvSpPr/>
          <p:nvPr>
            <p:custDataLst>
              <p:tags r:id="rId5"/>
            </p:custDataLst>
          </p:nvPr>
        </p:nvSpPr>
        <p:spPr bwMode="auto">
          <a:xfrm>
            <a:off x="7086600" y="4527550"/>
            <a:ext cx="11430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参数估计</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12" name="矩形 11"/>
          <p:cNvSpPr/>
          <p:nvPr>
            <p:custDataLst>
              <p:tags r:id="rId6"/>
            </p:custDataLst>
          </p:nvPr>
        </p:nvSpPr>
        <p:spPr bwMode="auto">
          <a:xfrm>
            <a:off x="4038600" y="4527550"/>
            <a:ext cx="15240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评估和预计</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13" name="矩形 12"/>
          <p:cNvSpPr/>
          <p:nvPr>
            <p:custDataLst>
              <p:tags r:id="rId7"/>
            </p:custDataLst>
          </p:nvPr>
        </p:nvSpPr>
        <p:spPr bwMode="auto">
          <a:xfrm>
            <a:off x="4152900" y="5746750"/>
            <a:ext cx="12954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终止测试</a:t>
            </a:r>
            <a:endParaRPr lang="zh-CN" altLang="en-US" sz="2000" b="1" i="0">
              <a:solidFill>
                <a:srgbClr val="0000FF"/>
              </a:solidFill>
              <a:latin typeface="楷体" panose="02010609060101010101" pitchFamily="49" charset="-122"/>
              <a:ea typeface="楷体" panose="02010609060101010101" pitchFamily="49" charset="-122"/>
            </a:endParaRPr>
          </a:p>
        </p:txBody>
      </p:sp>
      <p:sp>
        <p:nvSpPr>
          <p:cNvPr id="14" name="矩形 13"/>
          <p:cNvSpPr/>
          <p:nvPr>
            <p:custDataLst>
              <p:tags r:id="rId8"/>
            </p:custDataLst>
          </p:nvPr>
        </p:nvSpPr>
        <p:spPr bwMode="auto">
          <a:xfrm>
            <a:off x="8610600" y="2851150"/>
            <a:ext cx="1295400" cy="8382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lIns="36000" rIns="36000" anchor="ctr" anchorCtr="1"/>
          <a:lstStyle/>
          <a:p>
            <a:pPr algn="ctr" eaLnBrk="1" hangingPunct="1">
              <a:defRPr/>
            </a:pPr>
            <a:r>
              <a:rPr lang="zh-CN" altLang="en-US" sz="2000" b="1" i="0">
                <a:solidFill>
                  <a:srgbClr val="0000FF"/>
                </a:solidFill>
                <a:latin typeface="楷体" panose="02010609060101010101" pitchFamily="49" charset="-122"/>
                <a:ea typeface="楷体" panose="02010609060101010101" pitchFamily="49" charset="-122"/>
              </a:rPr>
              <a:t>纠错与回归测试</a:t>
            </a:r>
            <a:endParaRPr lang="zh-CN" altLang="en-US" sz="2000" b="1" i="0">
              <a:solidFill>
                <a:srgbClr val="0000FF"/>
              </a:solidFill>
              <a:latin typeface="楷体" panose="02010609060101010101" pitchFamily="49" charset="-122"/>
              <a:ea typeface="楷体" panose="02010609060101010101" pitchFamily="49" charset="-122"/>
            </a:endParaRPr>
          </a:p>
        </p:txBody>
      </p:sp>
      <p:cxnSp>
        <p:nvCxnSpPr>
          <p:cNvPr id="17420" name="直接箭头连接符 17"/>
          <p:cNvCxnSpPr>
            <a:cxnSpLocks noChangeShapeType="1"/>
            <a:stCxn id="7" idx="3"/>
            <a:endCxn id="8" idx="1"/>
          </p:cNvCxnSpPr>
          <p:nvPr>
            <p:custDataLst>
              <p:tags r:id="rId9"/>
            </p:custDataLst>
          </p:nvPr>
        </p:nvCxnSpPr>
        <p:spPr bwMode="auto">
          <a:xfrm>
            <a:off x="3733800" y="3270250"/>
            <a:ext cx="6096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21" name="直接箭头连接符 19"/>
          <p:cNvCxnSpPr>
            <a:cxnSpLocks noChangeShapeType="1"/>
            <a:stCxn id="8" idx="3"/>
            <a:endCxn id="9" idx="1"/>
          </p:cNvCxnSpPr>
          <p:nvPr>
            <p:custDataLst>
              <p:tags r:id="rId10"/>
            </p:custDataLst>
          </p:nvPr>
        </p:nvCxnSpPr>
        <p:spPr bwMode="auto">
          <a:xfrm>
            <a:off x="5257800" y="3270250"/>
            <a:ext cx="6096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22" name="直接箭头连接符 21"/>
          <p:cNvCxnSpPr>
            <a:cxnSpLocks noChangeShapeType="1"/>
            <a:stCxn id="9" idx="3"/>
            <a:endCxn id="10" idx="1"/>
          </p:cNvCxnSpPr>
          <p:nvPr>
            <p:custDataLst>
              <p:tags r:id="rId11"/>
            </p:custDataLst>
          </p:nvPr>
        </p:nvCxnSpPr>
        <p:spPr bwMode="auto">
          <a:xfrm>
            <a:off x="6553200" y="3270250"/>
            <a:ext cx="7620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23" name="直接箭头连接符 23"/>
          <p:cNvCxnSpPr>
            <a:cxnSpLocks noChangeShapeType="1"/>
            <a:stCxn id="10" idx="3"/>
            <a:endCxn id="14" idx="1"/>
          </p:cNvCxnSpPr>
          <p:nvPr>
            <p:custDataLst>
              <p:tags r:id="rId12"/>
            </p:custDataLst>
          </p:nvPr>
        </p:nvCxnSpPr>
        <p:spPr bwMode="auto">
          <a:xfrm>
            <a:off x="8001000" y="3270250"/>
            <a:ext cx="6096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17424" name="矩形 24"/>
          <p:cNvSpPr>
            <a:spLocks noChangeArrowheads="1"/>
          </p:cNvSpPr>
          <p:nvPr>
            <p:custDataLst>
              <p:tags r:id="rId13"/>
            </p:custDataLst>
          </p:nvPr>
        </p:nvSpPr>
        <p:spPr bwMode="auto">
          <a:xfrm>
            <a:off x="1600200" y="1974850"/>
            <a:ext cx="1524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软件配置和规格说明书</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25" name="矩形 33"/>
          <p:cNvSpPr>
            <a:spLocks noChangeArrowheads="1"/>
          </p:cNvSpPr>
          <p:nvPr>
            <p:custDataLst>
              <p:tags r:id="rId14"/>
            </p:custDataLst>
          </p:nvPr>
        </p:nvSpPr>
        <p:spPr bwMode="auto">
          <a:xfrm>
            <a:off x="7924800" y="266065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软件</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26" name="矩形 34"/>
          <p:cNvSpPr>
            <a:spLocks noChangeArrowheads="1"/>
          </p:cNvSpPr>
          <p:nvPr>
            <p:custDataLst>
              <p:tags r:id="rId15"/>
            </p:custDataLst>
          </p:nvPr>
        </p:nvSpPr>
        <p:spPr bwMode="auto">
          <a:xfrm>
            <a:off x="5181600" y="266065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用例</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27" name="矩形 35"/>
          <p:cNvSpPr>
            <a:spLocks noChangeArrowheads="1"/>
          </p:cNvSpPr>
          <p:nvPr>
            <p:custDataLst>
              <p:tags r:id="rId16"/>
            </p:custDataLst>
          </p:nvPr>
        </p:nvSpPr>
        <p:spPr bwMode="auto">
          <a:xfrm>
            <a:off x="6553200" y="266065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结果</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28" name="矩形 36"/>
          <p:cNvSpPr>
            <a:spLocks noChangeArrowheads="1"/>
          </p:cNvSpPr>
          <p:nvPr>
            <p:custDataLst>
              <p:tags r:id="rId17"/>
            </p:custDataLst>
          </p:nvPr>
        </p:nvSpPr>
        <p:spPr bwMode="auto">
          <a:xfrm>
            <a:off x="3657600" y="2660650"/>
            <a:ext cx="76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剖面</a:t>
            </a:r>
            <a:endParaRPr lang="zh-CN" altLang="en-US" sz="2000" b="1" i="0">
              <a:solidFill>
                <a:srgbClr val="A50021"/>
              </a:solidFill>
              <a:latin typeface="楷体" panose="02010609060101010101" pitchFamily="49" charset="-122"/>
              <a:ea typeface="楷体" panose="02010609060101010101" pitchFamily="49" charset="-122"/>
            </a:endParaRPr>
          </a:p>
        </p:txBody>
      </p:sp>
      <p:cxnSp>
        <p:nvCxnSpPr>
          <p:cNvPr id="17429" name="直接箭头连接符 50"/>
          <p:cNvCxnSpPr>
            <a:cxnSpLocks noChangeShapeType="1"/>
          </p:cNvCxnSpPr>
          <p:nvPr>
            <p:custDataLst>
              <p:tags r:id="rId18"/>
            </p:custDataLst>
          </p:nvPr>
        </p:nvCxnSpPr>
        <p:spPr bwMode="auto">
          <a:xfrm rot="5400000">
            <a:off x="2686050" y="2298700"/>
            <a:ext cx="1104900"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30" name="直接箭头连接符 50"/>
          <p:cNvCxnSpPr>
            <a:cxnSpLocks noChangeShapeType="1"/>
          </p:cNvCxnSpPr>
          <p:nvPr>
            <p:custDataLst>
              <p:tags r:id="rId19"/>
            </p:custDataLst>
          </p:nvPr>
        </p:nvCxnSpPr>
        <p:spPr bwMode="auto">
          <a:xfrm rot="5400000">
            <a:off x="7105650" y="2298700"/>
            <a:ext cx="1104900"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17431" name="矩形 24"/>
          <p:cNvSpPr>
            <a:spLocks noChangeArrowheads="1"/>
          </p:cNvSpPr>
          <p:nvPr>
            <p:custDataLst>
              <p:tags r:id="rId20"/>
            </p:custDataLst>
          </p:nvPr>
        </p:nvSpPr>
        <p:spPr bwMode="auto">
          <a:xfrm>
            <a:off x="6477000" y="1327150"/>
            <a:ext cx="990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预期结果和故障判断</a:t>
            </a:r>
            <a:endParaRPr lang="zh-CN" altLang="en-US" sz="2000" b="1" i="0">
              <a:solidFill>
                <a:srgbClr val="A50021"/>
              </a:solidFill>
              <a:latin typeface="楷体" panose="02010609060101010101" pitchFamily="49" charset="-122"/>
              <a:ea typeface="楷体" panose="02010609060101010101" pitchFamily="49" charset="-122"/>
            </a:endParaRPr>
          </a:p>
        </p:txBody>
      </p:sp>
      <p:cxnSp>
        <p:nvCxnSpPr>
          <p:cNvPr id="17432" name="直接箭头连接符 50"/>
          <p:cNvCxnSpPr>
            <a:cxnSpLocks noChangeShapeType="1"/>
            <a:stCxn id="10" idx="2"/>
            <a:endCxn id="11" idx="0"/>
          </p:cNvCxnSpPr>
          <p:nvPr>
            <p:custDataLst>
              <p:tags r:id="rId21"/>
            </p:custDataLst>
          </p:nvPr>
        </p:nvCxnSpPr>
        <p:spPr bwMode="auto">
          <a:xfrm rot="5400000">
            <a:off x="7239001" y="4108450"/>
            <a:ext cx="838200" cy="3175"/>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33" name="直接箭头连接符 27"/>
          <p:cNvCxnSpPr>
            <a:cxnSpLocks noChangeShapeType="1"/>
            <a:stCxn id="11" idx="1"/>
            <a:endCxn id="12" idx="3"/>
          </p:cNvCxnSpPr>
          <p:nvPr>
            <p:custDataLst>
              <p:tags r:id="rId22"/>
            </p:custDataLst>
          </p:nvPr>
        </p:nvCxnSpPr>
        <p:spPr bwMode="auto">
          <a:xfrm rot="10800000">
            <a:off x="5562600" y="4794250"/>
            <a:ext cx="15240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34" name="直接箭头连接符 29"/>
          <p:cNvCxnSpPr>
            <a:cxnSpLocks noChangeShapeType="1"/>
          </p:cNvCxnSpPr>
          <p:nvPr>
            <p:custDataLst>
              <p:tags r:id="rId23"/>
            </p:custDataLst>
          </p:nvPr>
        </p:nvCxnSpPr>
        <p:spPr bwMode="auto">
          <a:xfrm rot="5400000" flipH="1" flipV="1">
            <a:off x="4381501" y="4108450"/>
            <a:ext cx="838200" cy="3175"/>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35" name="直接箭头连接符 31"/>
          <p:cNvCxnSpPr>
            <a:cxnSpLocks noChangeShapeType="1"/>
          </p:cNvCxnSpPr>
          <p:nvPr>
            <p:custDataLst>
              <p:tags r:id="rId24"/>
            </p:custDataLst>
          </p:nvPr>
        </p:nvCxnSpPr>
        <p:spPr bwMode="auto">
          <a:xfrm rot="5400000">
            <a:off x="4457701" y="5403850"/>
            <a:ext cx="685800" cy="3175"/>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17436" name="直接箭头连接符 34"/>
          <p:cNvCxnSpPr>
            <a:cxnSpLocks noChangeShapeType="1"/>
          </p:cNvCxnSpPr>
          <p:nvPr>
            <p:custDataLst>
              <p:tags r:id="rId25"/>
            </p:custDataLst>
          </p:nvPr>
        </p:nvCxnSpPr>
        <p:spPr bwMode="auto">
          <a:xfrm rot="10800000">
            <a:off x="8229600" y="4832350"/>
            <a:ext cx="15240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17437" name="矩形 24"/>
          <p:cNvSpPr>
            <a:spLocks noChangeArrowheads="1"/>
          </p:cNvSpPr>
          <p:nvPr>
            <p:custDataLst>
              <p:tags r:id="rId26"/>
            </p:custDataLst>
          </p:nvPr>
        </p:nvSpPr>
        <p:spPr bwMode="auto">
          <a:xfrm>
            <a:off x="8382000" y="4070350"/>
            <a:ext cx="129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软件可靠性模型</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38" name="矩形 24"/>
          <p:cNvSpPr>
            <a:spLocks noChangeArrowheads="1"/>
          </p:cNvSpPr>
          <p:nvPr>
            <p:custDataLst>
              <p:tags r:id="rId27"/>
            </p:custDataLst>
          </p:nvPr>
        </p:nvSpPr>
        <p:spPr bwMode="auto">
          <a:xfrm>
            <a:off x="3429000" y="5213350"/>
            <a:ext cx="129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已达目标</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39" name="矩形 24"/>
          <p:cNvSpPr>
            <a:spLocks noChangeArrowheads="1"/>
          </p:cNvSpPr>
          <p:nvPr>
            <p:custDataLst>
              <p:tags r:id="rId28"/>
            </p:custDataLst>
          </p:nvPr>
        </p:nvSpPr>
        <p:spPr bwMode="auto">
          <a:xfrm>
            <a:off x="3429000" y="3917950"/>
            <a:ext cx="129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未达目标</a:t>
            </a:r>
            <a:endParaRPr lang="zh-CN" altLang="en-US" sz="2000" b="1" i="0">
              <a:solidFill>
                <a:srgbClr val="A50021"/>
              </a:solidFill>
              <a:latin typeface="楷体" panose="02010609060101010101" pitchFamily="49" charset="-122"/>
              <a:ea typeface="楷体" panose="02010609060101010101" pitchFamily="49" charset="-122"/>
            </a:endParaRPr>
          </a:p>
        </p:txBody>
      </p:sp>
      <p:cxnSp>
        <p:nvCxnSpPr>
          <p:cNvPr id="17440" name="直接箭头连接符 43"/>
          <p:cNvCxnSpPr>
            <a:cxnSpLocks noChangeShapeType="1"/>
            <a:stCxn id="9" idx="2"/>
            <a:endCxn id="12" idx="3"/>
          </p:cNvCxnSpPr>
          <p:nvPr>
            <p:custDataLst>
              <p:tags r:id="rId29"/>
            </p:custDataLst>
          </p:nvPr>
        </p:nvCxnSpPr>
        <p:spPr bwMode="auto">
          <a:xfrm rot="5400000">
            <a:off x="5334000" y="3917950"/>
            <a:ext cx="1104900" cy="6477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sp>
        <p:nvSpPr>
          <p:cNvPr id="17441" name="矩形 24"/>
          <p:cNvSpPr>
            <a:spLocks noChangeArrowheads="1"/>
          </p:cNvSpPr>
          <p:nvPr>
            <p:custDataLst>
              <p:tags r:id="rId30"/>
            </p:custDataLst>
          </p:nvPr>
        </p:nvSpPr>
        <p:spPr bwMode="auto">
          <a:xfrm>
            <a:off x="5867400" y="3975100"/>
            <a:ext cx="129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目标值</a:t>
            </a:r>
            <a:endParaRPr lang="zh-CN" altLang="en-US" sz="2000" b="1" i="0">
              <a:solidFill>
                <a:srgbClr val="A50021"/>
              </a:solidFill>
              <a:latin typeface="楷体" panose="02010609060101010101" pitchFamily="49" charset="-122"/>
              <a:ea typeface="楷体" panose="02010609060101010101" pitchFamily="49" charset="-122"/>
            </a:endParaRPr>
          </a:p>
        </p:txBody>
      </p:sp>
      <p:sp>
        <p:nvSpPr>
          <p:cNvPr id="17442" name="矩形 24"/>
          <p:cNvSpPr>
            <a:spLocks noChangeArrowheads="1"/>
          </p:cNvSpPr>
          <p:nvPr>
            <p:custDataLst>
              <p:tags r:id="rId31"/>
            </p:custDataLst>
          </p:nvPr>
        </p:nvSpPr>
        <p:spPr bwMode="auto">
          <a:xfrm>
            <a:off x="5943600" y="4908550"/>
            <a:ext cx="106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2000" b="1" i="0">
                <a:solidFill>
                  <a:srgbClr val="A50021"/>
                </a:solidFill>
                <a:latin typeface="楷体" panose="02010609060101010101" pitchFamily="49" charset="-122"/>
                <a:ea typeface="楷体" panose="02010609060101010101" pitchFamily="49" charset="-122"/>
              </a:rPr>
              <a:t>参数</a:t>
            </a:r>
            <a:endParaRPr lang="zh-CN" altLang="en-US" sz="2000" b="1" i="0">
              <a:solidFill>
                <a:srgbClr val="A50021"/>
              </a:solidFill>
              <a:latin typeface="楷体" panose="02010609060101010101" pitchFamily="49" charset="-122"/>
              <a:ea typeface="楷体" panose="02010609060101010101" pitchFamily="49" charset="-122"/>
            </a:endParaRPr>
          </a:p>
        </p:txBody>
      </p:sp>
      <p:grpSp>
        <p:nvGrpSpPr>
          <p:cNvPr id="4" name="组合 38"/>
          <p:cNvGrpSpPr/>
          <p:nvPr/>
        </p:nvGrpSpPr>
        <p:grpSpPr bwMode="auto">
          <a:xfrm>
            <a:off x="6172200" y="2393950"/>
            <a:ext cx="3963988" cy="915988"/>
            <a:chOff x="4648200" y="1981200"/>
            <a:chExt cx="3963988" cy="915988"/>
          </a:xfrm>
        </p:grpSpPr>
        <p:cxnSp>
          <p:nvCxnSpPr>
            <p:cNvPr id="20516" name="直接连接符 47"/>
            <p:cNvCxnSpPr>
              <a:cxnSpLocks noChangeShapeType="1"/>
            </p:cNvCxnSpPr>
            <p:nvPr>
              <p:custDataLst>
                <p:tags r:id="rId32"/>
              </p:custDataLst>
            </p:nvPr>
          </p:nvCxnSpPr>
          <p:spPr bwMode="auto">
            <a:xfrm>
              <a:off x="4648200" y="1981200"/>
              <a:ext cx="396240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0517" name="直接箭头连接符 52"/>
            <p:cNvCxnSpPr>
              <a:cxnSpLocks noChangeShapeType="1"/>
            </p:cNvCxnSpPr>
            <p:nvPr>
              <p:custDataLst>
                <p:tags r:id="rId33"/>
              </p:custDataLst>
            </p:nvPr>
          </p:nvCxnSpPr>
          <p:spPr bwMode="auto">
            <a:xfrm rot="5400000">
              <a:off x="4420394" y="2209006"/>
              <a:ext cx="4572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20518" name="直接连接符 56"/>
            <p:cNvCxnSpPr>
              <a:cxnSpLocks noChangeShapeType="1"/>
            </p:cNvCxnSpPr>
            <p:nvPr>
              <p:custDataLst>
                <p:tags r:id="rId34"/>
              </p:custDataLst>
            </p:nvPr>
          </p:nvCxnSpPr>
          <p:spPr bwMode="auto">
            <a:xfrm>
              <a:off x="8382000" y="2895600"/>
              <a:ext cx="228600" cy="1588"/>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cxnSp>
          <p:nvCxnSpPr>
            <p:cNvPr id="20519" name="直接连接符 58"/>
            <p:cNvCxnSpPr>
              <a:cxnSpLocks noChangeShapeType="1"/>
            </p:cNvCxnSpPr>
            <p:nvPr>
              <p:custDataLst>
                <p:tags r:id="rId35"/>
              </p:custDataLst>
            </p:nvPr>
          </p:nvCxnSpPr>
          <p:spPr bwMode="auto">
            <a:xfrm rot="5400000" flipH="1" flipV="1">
              <a:off x="8153401" y="2438400"/>
              <a:ext cx="914400" cy="3175"/>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4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4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4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4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4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4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4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4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43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743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4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74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44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743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43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743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7424" grpId="0"/>
      <p:bldP spid="17425" grpId="0"/>
      <p:bldP spid="17426" grpId="0"/>
      <p:bldP spid="17427" grpId="0"/>
      <p:bldP spid="17428" grpId="0"/>
      <p:bldP spid="17431" grpId="0"/>
      <p:bldP spid="17437" grpId="0"/>
      <p:bldP spid="17438" grpId="0"/>
      <p:bldP spid="17439" grpId="0"/>
      <p:bldP spid="17441" grpId="0"/>
      <p:bldP spid="174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p>
            <a:pPr marL="228600" lvl="1" algn="l">
              <a:spcBef>
                <a:spcPts val="400"/>
              </a:spcBef>
              <a:buClrTx/>
              <a:buSzTx/>
            </a:pPr>
            <a:r>
              <a:rPr lang="en-US" altLang="zh-CN">
                <a:sym typeface="+mn-ea"/>
              </a:rPr>
              <a:t>利用在其他测试中的数据收集来检验软件可靠性的测试</a:t>
            </a:r>
            <a:r>
              <a:rPr lang="zh-CN" altLang="en-US">
                <a:sym typeface="+mn-ea"/>
              </a:rPr>
              <a:t>，</a:t>
            </a:r>
            <a:r>
              <a:rPr lang="en-US" altLang="zh-CN">
                <a:sym typeface="+mn-ea"/>
              </a:rPr>
              <a:t>基本步骤是：</a:t>
            </a:r>
            <a:endParaRPr lang="en-US" altLang="zh-CN"/>
          </a:p>
          <a:p>
            <a:endParaRPr lang="en-US" altLang="zh-CN"/>
          </a:p>
        </p:txBody>
      </p:sp>
      <p:sp>
        <p:nvSpPr>
          <p:cNvPr id="4" name="矩形 3"/>
          <p:cNvSpPr/>
          <p:nvPr/>
        </p:nvSpPr>
        <p:spPr>
          <a:xfrm>
            <a:off x="915670" y="2294890"/>
            <a:ext cx="2849880" cy="1134110"/>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a:solidFill>
                  <a:schemeClr val="tx1"/>
                </a:solidFill>
                <a:sym typeface="+mn-ea"/>
              </a:rPr>
              <a:t>1</a:t>
            </a:r>
            <a:r>
              <a:rPr lang="zh-CN" altLang="en-US" sz="2000">
                <a:solidFill>
                  <a:schemeClr val="tx1"/>
                </a:solidFill>
                <a:sym typeface="+mn-ea"/>
              </a:rPr>
              <a:t>、</a:t>
            </a:r>
            <a:r>
              <a:rPr lang="en-US" altLang="zh-CN" sz="2000">
                <a:solidFill>
                  <a:schemeClr val="tx1"/>
                </a:solidFill>
                <a:sym typeface="+mn-ea"/>
              </a:rPr>
              <a:t>仔细研究开发过程和软件问题报告</a:t>
            </a:r>
            <a:endParaRPr lang="en-US" altLang="zh-CN" sz="2000">
              <a:solidFill>
                <a:schemeClr val="tx1"/>
              </a:solidFill>
              <a:sym typeface="+mn-ea"/>
            </a:endParaRPr>
          </a:p>
        </p:txBody>
      </p:sp>
      <p:sp>
        <p:nvSpPr>
          <p:cNvPr id="5" name="矩形 4"/>
          <p:cNvSpPr/>
          <p:nvPr/>
        </p:nvSpPr>
        <p:spPr>
          <a:xfrm>
            <a:off x="4601845" y="2294890"/>
            <a:ext cx="2849880" cy="1134110"/>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a:solidFill>
                  <a:schemeClr val="tx1"/>
                </a:solidFill>
                <a:sym typeface="+mn-ea"/>
              </a:rPr>
              <a:t>2</a:t>
            </a:r>
            <a:r>
              <a:rPr lang="zh-CN" altLang="en-US" sz="2000">
                <a:solidFill>
                  <a:schemeClr val="tx1"/>
                </a:solidFill>
                <a:sym typeface="+mn-ea"/>
              </a:rPr>
              <a:t>、</a:t>
            </a:r>
            <a:r>
              <a:rPr lang="en-US" altLang="zh-CN" sz="2000">
                <a:solidFill>
                  <a:schemeClr val="tx1"/>
                </a:solidFill>
                <a:sym typeface="+mn-ea"/>
              </a:rPr>
              <a:t>确定使用</a:t>
            </a:r>
            <a:r>
              <a:rPr lang="zh-CN" altLang="en-US" sz="2000">
                <a:solidFill>
                  <a:schemeClr val="tx1"/>
                </a:solidFill>
                <a:sym typeface="+mn-ea"/>
              </a:rPr>
              <a:t>哪些</a:t>
            </a:r>
            <a:r>
              <a:rPr lang="en-US" altLang="zh-CN" sz="2000">
                <a:solidFill>
                  <a:schemeClr val="tx1"/>
                </a:solidFill>
                <a:sym typeface="+mn-ea"/>
              </a:rPr>
              <a:t>或</a:t>
            </a:r>
            <a:r>
              <a:rPr lang="zh-CN" altLang="en-US" sz="2000">
                <a:solidFill>
                  <a:schemeClr val="tx1"/>
                </a:solidFill>
                <a:sym typeface="+mn-ea"/>
              </a:rPr>
              <a:t>哪个</a:t>
            </a:r>
            <a:r>
              <a:rPr lang="en-US" altLang="zh-CN" sz="2000">
                <a:solidFill>
                  <a:schemeClr val="tx1"/>
                </a:solidFill>
                <a:sym typeface="+mn-ea"/>
              </a:rPr>
              <a:t>模型来度量软件可靠性</a:t>
            </a:r>
            <a:endParaRPr lang="en-US" altLang="zh-CN" sz="2000">
              <a:solidFill>
                <a:schemeClr val="tx1"/>
              </a:solidFill>
              <a:sym typeface="+mn-ea"/>
            </a:endParaRPr>
          </a:p>
        </p:txBody>
      </p:sp>
      <p:sp>
        <p:nvSpPr>
          <p:cNvPr id="6" name="矩形 5"/>
          <p:cNvSpPr/>
          <p:nvPr/>
        </p:nvSpPr>
        <p:spPr>
          <a:xfrm>
            <a:off x="915670" y="4423410"/>
            <a:ext cx="2849880" cy="1685290"/>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a:solidFill>
                  <a:schemeClr val="tx1"/>
                </a:solidFill>
                <a:sym typeface="+mn-ea"/>
              </a:rPr>
              <a:t>3</a:t>
            </a:r>
            <a:r>
              <a:rPr lang="zh-CN" altLang="en-US" sz="2000">
                <a:solidFill>
                  <a:schemeClr val="tx1"/>
                </a:solidFill>
                <a:sym typeface="+mn-ea"/>
              </a:rPr>
              <a:t>、</a:t>
            </a:r>
            <a:r>
              <a:rPr lang="en-US" altLang="zh-CN" sz="2000">
                <a:solidFill>
                  <a:schemeClr val="tx1"/>
                </a:solidFill>
                <a:sym typeface="+mn-ea"/>
              </a:rPr>
              <a:t>执行一种有效的方法来收集问题报告缺陷数据、过程数据和产品数据，收集集成测试期间及以后的数据</a:t>
            </a:r>
            <a:endParaRPr lang="en-US" altLang="zh-CN" sz="2000">
              <a:solidFill>
                <a:schemeClr val="tx1"/>
              </a:solidFill>
              <a:sym typeface="+mn-ea"/>
            </a:endParaRPr>
          </a:p>
        </p:txBody>
      </p:sp>
      <p:sp>
        <p:nvSpPr>
          <p:cNvPr id="7" name="矩形 6"/>
          <p:cNvSpPr/>
          <p:nvPr/>
        </p:nvSpPr>
        <p:spPr>
          <a:xfrm>
            <a:off x="4601845" y="4423410"/>
            <a:ext cx="2849880" cy="1685290"/>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a:solidFill>
                  <a:schemeClr val="tx1"/>
                </a:solidFill>
                <a:sym typeface="+mn-ea"/>
              </a:rPr>
              <a:t>4</a:t>
            </a:r>
            <a:r>
              <a:rPr lang="zh-CN" altLang="en-US" sz="2000">
                <a:solidFill>
                  <a:schemeClr val="tx1"/>
                </a:solidFill>
                <a:sym typeface="+mn-ea"/>
              </a:rPr>
              <a:t>、</a:t>
            </a:r>
            <a:r>
              <a:rPr lang="en-US" altLang="zh-CN" sz="2000">
                <a:solidFill>
                  <a:schemeClr val="tx1"/>
                </a:solidFill>
                <a:sym typeface="+mn-ea"/>
              </a:rPr>
              <a:t>按照模型规定的原理和方法，将数据输入选定的模型，直接估计软件可靠性或间接地估计与其有关的参数</a:t>
            </a:r>
            <a:endParaRPr lang="en-US" altLang="zh-CN" sz="2000">
              <a:solidFill>
                <a:schemeClr val="tx1"/>
              </a:solidFill>
              <a:sym typeface="+mn-ea"/>
            </a:endParaRPr>
          </a:p>
        </p:txBody>
      </p:sp>
      <p:sp>
        <p:nvSpPr>
          <p:cNvPr id="8" name="矩形 7"/>
          <p:cNvSpPr/>
          <p:nvPr/>
        </p:nvSpPr>
        <p:spPr>
          <a:xfrm>
            <a:off x="8363585" y="2741295"/>
            <a:ext cx="2926715" cy="274764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2000">
                <a:solidFill>
                  <a:schemeClr val="tx1"/>
                </a:solidFill>
                <a:sym typeface="+mn-ea"/>
              </a:rPr>
              <a:t>5</a:t>
            </a:r>
            <a:r>
              <a:rPr lang="zh-CN" altLang="en-US" sz="2000">
                <a:solidFill>
                  <a:schemeClr val="tx1"/>
                </a:solidFill>
                <a:sym typeface="+mn-ea"/>
              </a:rPr>
              <a:t>、</a:t>
            </a:r>
            <a:r>
              <a:rPr lang="en-US" altLang="zh-CN" sz="2000">
                <a:solidFill>
                  <a:schemeClr val="tx1"/>
                </a:solidFill>
                <a:sym typeface="+mn-ea"/>
              </a:rPr>
              <a:t>根据估计结果进行决策：</a:t>
            </a:r>
            <a:endParaRPr lang="en-US" altLang="zh-CN" sz="2000">
              <a:solidFill>
                <a:schemeClr val="tx1"/>
              </a:solidFill>
              <a:sym typeface="+mn-ea"/>
            </a:endParaRPr>
          </a:p>
          <a:p>
            <a:pPr algn="l"/>
            <a:r>
              <a:rPr lang="en-US" altLang="zh-CN" sz="2000">
                <a:solidFill>
                  <a:schemeClr val="tx1"/>
                </a:solidFill>
                <a:sym typeface="+mn-ea"/>
              </a:rPr>
              <a:t>  软件能否被释放（发布）？</a:t>
            </a:r>
            <a:endParaRPr lang="en-US" altLang="zh-CN" sz="2000">
              <a:solidFill>
                <a:schemeClr val="tx1"/>
              </a:solidFill>
              <a:sym typeface="+mn-ea"/>
            </a:endParaRPr>
          </a:p>
          <a:p>
            <a:pPr algn="l"/>
            <a:r>
              <a:rPr lang="en-US" altLang="zh-CN" sz="2000">
                <a:solidFill>
                  <a:schemeClr val="tx1"/>
                </a:solidFill>
                <a:sym typeface="+mn-ea"/>
              </a:rPr>
              <a:t>   是否需要增加测试时间以达到可靠性目标？如果需要，还需要多少时间？</a:t>
            </a:r>
            <a:endParaRPr lang="en-US" altLang="zh-CN" sz="2000">
              <a:solidFill>
                <a:schemeClr val="tx1"/>
              </a:solidFill>
              <a:sym typeface="+mn-ea"/>
            </a:endParaRPr>
          </a:p>
        </p:txBody>
      </p:sp>
      <p:cxnSp>
        <p:nvCxnSpPr>
          <p:cNvPr id="9" name="直接箭头连接符 8"/>
          <p:cNvCxnSpPr>
            <a:stCxn id="4" idx="3"/>
            <a:endCxn id="5" idx="1"/>
          </p:cNvCxnSpPr>
          <p:nvPr/>
        </p:nvCxnSpPr>
        <p:spPr>
          <a:xfrm>
            <a:off x="3765550" y="2861945"/>
            <a:ext cx="8362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stCxn id="5" idx="2"/>
            <a:endCxn id="6" idx="0"/>
          </p:cNvCxnSpPr>
          <p:nvPr/>
        </p:nvCxnSpPr>
        <p:spPr>
          <a:xfrm flipH="1">
            <a:off x="2340610" y="3429000"/>
            <a:ext cx="3686175" cy="9944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6" idx="3"/>
            <a:endCxn id="7" idx="1"/>
          </p:cNvCxnSpPr>
          <p:nvPr/>
        </p:nvCxnSpPr>
        <p:spPr>
          <a:xfrm>
            <a:off x="3765550" y="5266055"/>
            <a:ext cx="8362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7" idx="3"/>
            <a:endCxn id="8" idx="1"/>
          </p:cNvCxnSpPr>
          <p:nvPr/>
        </p:nvCxnSpPr>
        <p:spPr>
          <a:xfrm flipV="1">
            <a:off x="7451725" y="4115435"/>
            <a:ext cx="911860" cy="11506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grpSp>
        <p:nvGrpSpPr>
          <p:cNvPr id="19" name="组合 18"/>
          <p:cNvGrpSpPr/>
          <p:nvPr/>
        </p:nvGrpSpPr>
        <p:grpSpPr>
          <a:xfrm>
            <a:off x="838200" y="1891665"/>
            <a:ext cx="2208530" cy="3305175"/>
            <a:chOff x="1320" y="2979"/>
            <a:chExt cx="3478" cy="5205"/>
          </a:xfrm>
        </p:grpSpPr>
        <p:sp>
          <p:nvSpPr>
            <p:cNvPr id="5" name="矩形 4"/>
            <p:cNvSpPr/>
            <p:nvPr/>
          </p:nvSpPr>
          <p:spPr>
            <a:xfrm>
              <a:off x="1320" y="2979"/>
              <a:ext cx="3479" cy="964"/>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b="1">
                  <a:solidFill>
                    <a:schemeClr val="bg1"/>
                  </a:solidFill>
                  <a:sym typeface="+mn-ea"/>
                </a:rPr>
                <a:t>Beta测试</a:t>
              </a:r>
              <a:endParaRPr lang="en-US" altLang="zh-CN" sz="2000" b="1">
                <a:solidFill>
                  <a:schemeClr val="bg1"/>
                </a:solidFill>
                <a:sym typeface="+mn-ea"/>
              </a:endParaRPr>
            </a:p>
          </p:txBody>
        </p:sp>
        <p:sp>
          <p:nvSpPr>
            <p:cNvPr id="6" name="矩形 5"/>
            <p:cNvSpPr/>
            <p:nvPr/>
          </p:nvSpPr>
          <p:spPr>
            <a:xfrm>
              <a:off x="1320" y="3926"/>
              <a:ext cx="3479" cy="4258"/>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000">
                  <a:solidFill>
                    <a:schemeClr val="tx1"/>
                  </a:solidFill>
                  <a:sym typeface="+mn-ea"/>
                </a:rPr>
                <a:t>可以直接反映可靠性水平</a:t>
              </a:r>
              <a:endParaRPr lang="en-US" altLang="zh-CN" sz="2000">
                <a:solidFill>
                  <a:schemeClr val="tx1"/>
                </a:solidFill>
                <a:sym typeface="+mn-ea"/>
              </a:endParaRPr>
            </a:p>
          </p:txBody>
        </p:sp>
      </p:grpSp>
      <p:grpSp>
        <p:nvGrpSpPr>
          <p:cNvPr id="20" name="组合 19"/>
          <p:cNvGrpSpPr/>
          <p:nvPr/>
        </p:nvGrpSpPr>
        <p:grpSpPr>
          <a:xfrm>
            <a:off x="3629660" y="1891665"/>
            <a:ext cx="2208530" cy="3305175"/>
            <a:chOff x="5671" y="2979"/>
            <a:chExt cx="3478" cy="5205"/>
          </a:xfrm>
        </p:grpSpPr>
        <p:sp>
          <p:nvSpPr>
            <p:cNvPr id="13" name="矩形 12"/>
            <p:cNvSpPr/>
            <p:nvPr/>
          </p:nvSpPr>
          <p:spPr>
            <a:xfrm>
              <a:off x="5671" y="2979"/>
              <a:ext cx="3479" cy="964"/>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a:solidFill>
                    <a:schemeClr val="bg1"/>
                  </a:solidFill>
                  <a:sym typeface="+mn-ea"/>
                </a:rPr>
                <a:t>系统软件证明测试</a:t>
              </a:r>
              <a:endParaRPr lang="en-US" altLang="zh-CN" b="1">
                <a:solidFill>
                  <a:schemeClr val="bg1"/>
                </a:solidFill>
                <a:sym typeface="+mn-ea"/>
              </a:endParaRPr>
            </a:p>
          </p:txBody>
        </p:sp>
        <p:sp>
          <p:nvSpPr>
            <p:cNvPr id="14" name="矩形 13"/>
            <p:cNvSpPr/>
            <p:nvPr/>
          </p:nvSpPr>
          <p:spPr>
            <a:xfrm>
              <a:off x="5671" y="3926"/>
              <a:ext cx="3479" cy="4258"/>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2000">
                  <a:solidFill>
                    <a:schemeClr val="tx1"/>
                  </a:solidFill>
                  <a:sym typeface="+mn-ea"/>
                </a:rPr>
                <a:t>在要求时间内、在实际的使用环境中运行系统，不对系统进行维护，收集发现的故障数，以决定整个系统能否通过可靠性测试</a:t>
              </a:r>
              <a:endParaRPr lang="en-US" altLang="zh-CN" sz="2000">
                <a:solidFill>
                  <a:schemeClr val="tx1"/>
                </a:solidFill>
                <a:sym typeface="+mn-ea"/>
              </a:endParaRPr>
            </a:p>
          </p:txBody>
        </p:sp>
      </p:grpSp>
      <p:grpSp>
        <p:nvGrpSpPr>
          <p:cNvPr id="22" name="组合 21"/>
          <p:cNvGrpSpPr/>
          <p:nvPr/>
        </p:nvGrpSpPr>
        <p:grpSpPr>
          <a:xfrm>
            <a:off x="6421120" y="1891665"/>
            <a:ext cx="2208530" cy="3305175"/>
            <a:chOff x="10204" y="2979"/>
            <a:chExt cx="3478" cy="5205"/>
          </a:xfrm>
        </p:grpSpPr>
        <p:sp>
          <p:nvSpPr>
            <p:cNvPr id="15" name="矩形 14"/>
            <p:cNvSpPr/>
            <p:nvPr/>
          </p:nvSpPr>
          <p:spPr>
            <a:xfrm>
              <a:off x="10204" y="2979"/>
              <a:ext cx="3479" cy="964"/>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a:solidFill>
                    <a:schemeClr val="bg1"/>
                  </a:solidFill>
                  <a:sym typeface="+mn-ea"/>
                </a:rPr>
                <a:t>基于测试时间的软件证明测试</a:t>
              </a:r>
              <a:endParaRPr lang="en-US" altLang="zh-CN" b="1">
                <a:solidFill>
                  <a:schemeClr val="bg1"/>
                </a:solidFill>
                <a:sym typeface="+mn-ea"/>
              </a:endParaRPr>
            </a:p>
          </p:txBody>
        </p:sp>
        <p:sp>
          <p:nvSpPr>
            <p:cNvPr id="16" name="矩形 15"/>
            <p:cNvSpPr/>
            <p:nvPr/>
          </p:nvSpPr>
          <p:spPr>
            <a:xfrm>
              <a:off x="10204" y="3926"/>
              <a:ext cx="3479" cy="4258"/>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2000">
                  <a:solidFill>
                    <a:schemeClr val="tx1"/>
                  </a:solidFill>
                  <a:sym typeface="+mn-ea"/>
                </a:rPr>
                <a:t>在相对较长时间内对软件的运行进行软件证明测试</a:t>
              </a:r>
              <a:endParaRPr lang="en-US" altLang="zh-CN" sz="2000">
                <a:solidFill>
                  <a:schemeClr val="tx1"/>
                </a:solidFill>
                <a:sym typeface="+mn-ea"/>
              </a:endParaRPr>
            </a:p>
          </p:txBody>
        </p:sp>
      </p:grpSp>
      <p:grpSp>
        <p:nvGrpSpPr>
          <p:cNvPr id="23" name="组合 22"/>
          <p:cNvGrpSpPr/>
          <p:nvPr/>
        </p:nvGrpSpPr>
        <p:grpSpPr>
          <a:xfrm>
            <a:off x="9212580" y="1891665"/>
            <a:ext cx="2208530" cy="3305175"/>
            <a:chOff x="14508" y="2979"/>
            <a:chExt cx="3478" cy="5205"/>
          </a:xfrm>
        </p:grpSpPr>
        <p:sp>
          <p:nvSpPr>
            <p:cNvPr id="17" name="矩形 16"/>
            <p:cNvSpPr/>
            <p:nvPr/>
          </p:nvSpPr>
          <p:spPr>
            <a:xfrm>
              <a:off x="14508" y="2979"/>
              <a:ext cx="3479" cy="964"/>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b="1">
                  <a:solidFill>
                    <a:schemeClr val="bg1"/>
                  </a:solidFill>
                  <a:sym typeface="+mn-ea"/>
                </a:rPr>
                <a:t>基于测试输入的软件证明测试</a:t>
              </a:r>
              <a:endParaRPr lang="en-US" altLang="zh-CN" b="1">
                <a:solidFill>
                  <a:schemeClr val="bg1"/>
                </a:solidFill>
                <a:sym typeface="+mn-ea"/>
              </a:endParaRPr>
            </a:p>
          </p:txBody>
        </p:sp>
        <p:sp>
          <p:nvSpPr>
            <p:cNvPr id="18" name="矩形 17"/>
            <p:cNvSpPr/>
            <p:nvPr/>
          </p:nvSpPr>
          <p:spPr>
            <a:xfrm>
              <a:off x="14508" y="3926"/>
              <a:ext cx="3479" cy="4258"/>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2000">
                  <a:solidFill>
                    <a:schemeClr val="tx1"/>
                  </a:solidFill>
                  <a:sym typeface="+mn-ea"/>
                </a:rPr>
                <a:t>只针对特定的测试</a:t>
              </a:r>
              <a:r>
                <a:rPr lang="en-US" altLang="zh-CN" sz="2000">
                  <a:solidFill>
                    <a:schemeClr val="tx1"/>
                  </a:solidFill>
                  <a:sym typeface="+mn-ea"/>
                </a:rPr>
                <a:t>用例</a:t>
              </a:r>
              <a:r>
                <a:rPr lang="en-US" altLang="zh-CN" sz="2000">
                  <a:solidFill>
                    <a:schemeClr val="tx1"/>
                  </a:solidFill>
                  <a:sym typeface="+mn-ea"/>
                </a:rPr>
                <a:t>进行软件证明测试</a:t>
              </a:r>
              <a:endParaRPr lang="en-US" altLang="zh-CN" sz="2000">
                <a:solidFill>
                  <a:schemeClr val="tx1"/>
                </a:solidFill>
                <a:sym typeface="+mn-e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a:xfrm>
            <a:off x="838200" y="1538605"/>
            <a:ext cx="10313035" cy="4638675"/>
          </a:xfrm>
        </p:spPr>
        <p:txBody>
          <a:bodyPr>
            <a:normAutofit lnSpcReduction="10000"/>
          </a:bodyPr>
          <a:p>
            <a:pPr marL="609600" indent="-609600">
              <a:buFontTx/>
              <a:buAutoNum type="arabicPeriod"/>
            </a:pPr>
            <a:r>
              <a:rPr lang="zh-CN" altLang="en-US" sz="2800" dirty="0">
                <a:ea typeface="宋体" panose="02010600030101010101" pitchFamily="2" charset="-122"/>
                <a:sym typeface="+mn-ea"/>
              </a:rPr>
              <a:t>测试前，先由测试者和用户共同确定以下三个参数：</a:t>
            </a:r>
            <a:endParaRPr lang="zh-CN" altLang="en-US" sz="2800" dirty="0">
              <a:ea typeface="宋体" panose="02010600030101010101" pitchFamily="2" charset="-122"/>
            </a:endParaRPr>
          </a:p>
          <a:p>
            <a:pPr marL="990600" lvl="1" indent="-533400"/>
            <a:r>
              <a:rPr lang="zh-CN" altLang="en-US" b="1" dirty="0">
                <a:solidFill>
                  <a:srgbClr val="FF0000"/>
                </a:solidFill>
                <a:ea typeface="宋体" panose="02010600030101010101" pitchFamily="2" charset="-122"/>
                <a:sym typeface="+mn-ea"/>
              </a:rPr>
              <a:t>用户风险因子</a:t>
            </a:r>
            <a:r>
              <a:rPr lang="en-US" altLang="zh-CN" b="1">
                <a:solidFill>
                  <a:srgbClr val="FF0000"/>
                </a:solidFill>
                <a:ea typeface="宋体" panose="02010600030101010101" pitchFamily="2" charset="-122"/>
                <a:sym typeface="+mn-ea"/>
              </a:rPr>
              <a:t>α</a:t>
            </a:r>
            <a:r>
              <a:rPr lang="zh-CN" altLang="en-US" dirty="0">
                <a:ea typeface="宋体" panose="02010600030101010101" pitchFamily="2" charset="-122"/>
                <a:sym typeface="+mn-ea"/>
              </a:rPr>
              <a:t>：是由用户承担的软件可靠性未达目标而通过测试的风险</a:t>
            </a:r>
            <a:endParaRPr lang="zh-CN" altLang="en-US" dirty="0">
              <a:ea typeface="宋体" panose="02010600030101010101" pitchFamily="2" charset="-122"/>
            </a:endParaRPr>
          </a:p>
          <a:p>
            <a:pPr marL="990600" lvl="1" indent="-533400"/>
            <a:r>
              <a:rPr lang="zh-CN" altLang="en-US" b="1" dirty="0">
                <a:solidFill>
                  <a:srgbClr val="FF0000"/>
                </a:solidFill>
                <a:ea typeface="宋体" panose="02010600030101010101" pitchFamily="2" charset="-122"/>
                <a:sym typeface="+mn-ea"/>
              </a:rPr>
              <a:t>生产者风险因子</a:t>
            </a:r>
            <a:r>
              <a:rPr lang="en-US" altLang="zh-CN" b="1">
                <a:solidFill>
                  <a:srgbClr val="FF0000"/>
                </a:solidFill>
                <a:ea typeface="宋体" panose="02010600030101010101" pitchFamily="2" charset="-122"/>
                <a:sym typeface="+mn-ea"/>
              </a:rPr>
              <a:t>β</a:t>
            </a:r>
            <a:r>
              <a:rPr lang="zh-CN" altLang="en-US" dirty="0">
                <a:ea typeface="宋体" panose="02010600030101010101" pitchFamily="2" charset="-122"/>
                <a:sym typeface="+mn-ea"/>
              </a:rPr>
              <a:t>：是由开发者承担的可靠性已达目标而未被接受的风险</a:t>
            </a:r>
            <a:endParaRPr lang="zh-CN" altLang="en-US" dirty="0">
              <a:ea typeface="宋体" panose="02010600030101010101" pitchFamily="2" charset="-122"/>
            </a:endParaRPr>
          </a:p>
          <a:p>
            <a:pPr marL="990600" lvl="1" indent="-533400"/>
            <a:r>
              <a:rPr lang="zh-CN" altLang="en-US" b="1" dirty="0">
                <a:solidFill>
                  <a:srgbClr val="FF0000"/>
                </a:solidFill>
                <a:ea typeface="宋体" panose="02010600030101010101" pitchFamily="2" charset="-122"/>
                <a:sym typeface="+mn-ea"/>
              </a:rPr>
              <a:t>鉴别因子</a:t>
            </a:r>
            <a:r>
              <a:rPr lang="en-US" altLang="zh-CN" b="1">
                <a:solidFill>
                  <a:srgbClr val="FF0000"/>
                </a:solidFill>
                <a:ea typeface="宋体" panose="02010600030101010101" pitchFamily="2" charset="-122"/>
                <a:sym typeface="+mn-ea"/>
              </a:rPr>
              <a:t>γ</a:t>
            </a:r>
            <a:r>
              <a:rPr lang="zh-CN" altLang="en-US" dirty="0">
                <a:ea typeface="宋体" panose="02010600030101010101" pitchFamily="2" charset="-122"/>
                <a:sym typeface="+mn-ea"/>
              </a:rPr>
              <a:t>：是最大可接受的失效密度和失效密度目标的比值</a:t>
            </a:r>
            <a:endParaRPr lang="en-US" altLang="zh-CN">
              <a:ea typeface="宋体" panose="02010600030101010101" pitchFamily="2" charset="-122"/>
            </a:endParaRPr>
          </a:p>
          <a:p>
            <a:endParaRPr lang="en-US" altLang="zh-CN">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162819" name="文本占位符 162818"/>
          <p:cNvSpPr>
            <a:spLocks noGrp="1"/>
          </p:cNvSpPr>
          <p:nvPr>
            <p:ph type="body" sz="half" idx="1"/>
            <p:custDataLst>
              <p:tags r:id="rId1"/>
            </p:custDataLst>
          </p:nvPr>
        </p:nvSpPr>
        <p:spPr>
          <a:xfrm>
            <a:off x="650240" y="1424940"/>
            <a:ext cx="5698490" cy="5433060"/>
          </a:xfrm>
        </p:spPr>
        <p:txBody>
          <a:bodyPr>
            <a:normAutofit lnSpcReduction="10000"/>
          </a:bodyPr>
          <a:p>
            <a:pPr marL="0" indent="0">
              <a:spcBef>
                <a:spcPct val="25000"/>
              </a:spcBef>
              <a:buClr>
                <a:schemeClr val="accent2"/>
              </a:buClr>
              <a:buSzPct val="75000"/>
              <a:buFontTx/>
              <a:buNone/>
            </a:pPr>
            <a:r>
              <a:rPr lang="en-US" altLang="zh-CN" sz="2700" dirty="0">
                <a:ea typeface="宋体" panose="02010600030101010101" pitchFamily="2" charset="-122"/>
              </a:rPr>
              <a:t>2. </a:t>
            </a:r>
            <a:r>
              <a:rPr lang="zh-CN" altLang="en-US" sz="2700" dirty="0">
                <a:ea typeface="宋体" panose="02010600030101010101" pitchFamily="2" charset="-122"/>
              </a:rPr>
              <a:t>确定可靠性测试判定标准</a:t>
            </a:r>
            <a:endParaRPr lang="zh-CN" altLang="en-US" sz="2700" dirty="0">
              <a:ea typeface="宋体" panose="02010600030101010101" pitchFamily="2" charset="-122"/>
            </a:endParaRPr>
          </a:p>
          <a:p>
            <a:pPr marL="522605" lvl="1" indent="9525">
              <a:spcBef>
                <a:spcPct val="25000"/>
              </a:spcBef>
              <a:buClr>
                <a:schemeClr val="accent1"/>
              </a:buClr>
              <a:buSzPct val="65000"/>
              <a:buFont typeface="Wingdings" panose="05000000000000000000" pitchFamily="2" charset="2"/>
              <a:buNone/>
            </a:pPr>
            <a:r>
              <a:rPr lang="zh-CN" altLang="en-US" sz="2200" dirty="0">
                <a:ea typeface="宋体" panose="02010600030101010101" pitchFamily="2" charset="-122"/>
              </a:rPr>
              <a:t>根据已确定的三个参数绘制软件可靠性证明测试判定图</a:t>
            </a:r>
            <a:endParaRPr lang="zh-CN" altLang="en-US" sz="2200" dirty="0">
              <a:ea typeface="宋体" panose="02010600030101010101" pitchFamily="2" charset="-122"/>
            </a:endParaRPr>
          </a:p>
          <a:p>
            <a:pPr marL="522605" lvl="1" indent="9525">
              <a:spcBef>
                <a:spcPct val="25000"/>
              </a:spcBef>
              <a:buClr>
                <a:schemeClr val="accent1"/>
              </a:buClr>
              <a:buSzPct val="65000"/>
              <a:buFont typeface="Wingdings" panose="05000000000000000000" pitchFamily="2" charset="2"/>
              <a:buNone/>
            </a:pPr>
            <a:r>
              <a:rPr lang="zh-CN" altLang="en-US" sz="2200" dirty="0">
                <a:ea typeface="宋体" panose="02010600030101010101" pitchFamily="2" charset="-122"/>
              </a:rPr>
              <a:t>确定拒绝线</a:t>
            </a:r>
            <a:endParaRPr lang="zh-CN" altLang="en-US" sz="2200" dirty="0">
              <a:ea typeface="宋体" panose="02010600030101010101" pitchFamily="2" charset="-122"/>
            </a:endParaRPr>
          </a:p>
          <a:p>
            <a:pPr marL="522605" lvl="1" indent="9525">
              <a:spcBef>
                <a:spcPct val="25000"/>
              </a:spcBef>
              <a:buClr>
                <a:schemeClr val="accent1"/>
              </a:buClr>
              <a:buSzPct val="65000"/>
              <a:buFont typeface="Wingdings" panose="05000000000000000000" pitchFamily="2" charset="2"/>
              <a:buNone/>
            </a:pPr>
            <a:endParaRPr lang="en-US" altLang="zh-CN" sz="2200">
              <a:ea typeface="宋体" panose="02010600030101010101" pitchFamily="2" charset="-122"/>
            </a:endParaRPr>
          </a:p>
          <a:p>
            <a:pPr marL="522605" lvl="1" indent="9525">
              <a:spcBef>
                <a:spcPct val="25000"/>
              </a:spcBef>
              <a:buClr>
                <a:schemeClr val="accent1"/>
              </a:buClr>
              <a:buSzPct val="65000"/>
              <a:buFont typeface="Wingdings" panose="05000000000000000000" pitchFamily="2" charset="2"/>
              <a:buNone/>
            </a:pPr>
            <a:r>
              <a:rPr lang="zh-CN" altLang="en-US" sz="2200" dirty="0">
                <a:ea typeface="宋体" panose="02010600030101010101" pitchFamily="2" charset="-122"/>
              </a:rPr>
              <a:t>和接受线</a:t>
            </a:r>
            <a:endParaRPr lang="zh-CN" altLang="en-US" sz="2200" dirty="0">
              <a:ea typeface="宋体" panose="02010600030101010101" pitchFamily="2" charset="-122"/>
            </a:endParaRPr>
          </a:p>
          <a:p>
            <a:pPr marL="522605" lvl="1" indent="9525">
              <a:spcBef>
                <a:spcPct val="25000"/>
              </a:spcBef>
              <a:buClr>
                <a:schemeClr val="accent1"/>
              </a:buClr>
              <a:buSzPct val="65000"/>
              <a:buFont typeface="Wingdings" panose="05000000000000000000" pitchFamily="2" charset="2"/>
              <a:buNone/>
            </a:pPr>
            <a:endParaRPr lang="en-US" altLang="zh-CN" sz="2200">
              <a:ea typeface="宋体" panose="02010600030101010101" pitchFamily="2" charset="-122"/>
            </a:endParaRPr>
          </a:p>
          <a:p>
            <a:pPr marL="522605" lvl="1" indent="9525">
              <a:spcBef>
                <a:spcPct val="25000"/>
              </a:spcBef>
              <a:buClr>
                <a:schemeClr val="accent1"/>
              </a:buClr>
              <a:buSzPct val="65000"/>
              <a:buFont typeface="Wingdings" panose="05000000000000000000" pitchFamily="2" charset="2"/>
              <a:buNone/>
            </a:pPr>
            <a:r>
              <a:rPr lang="zh-CN" altLang="en-US" sz="2200" dirty="0">
                <a:ea typeface="宋体" panose="02010600030101010101" pitchFamily="2" charset="-122"/>
              </a:rPr>
              <a:t>规格化是指将测试时间或测试用例数乘以故障率目标值</a:t>
            </a:r>
            <a:endParaRPr lang="en-US" altLang="zh-CN" sz="2200">
              <a:ea typeface="宋体" panose="02010600030101010101" pitchFamily="2" charset="-122"/>
            </a:endParaRPr>
          </a:p>
        </p:txBody>
      </p:sp>
      <p:graphicFrame>
        <p:nvGraphicFramePr>
          <p:cNvPr id="162833" name="对象 162832"/>
          <p:cNvGraphicFramePr/>
          <p:nvPr>
            <p:custDataLst>
              <p:tags r:id="rId2"/>
            </p:custDataLst>
          </p:nvPr>
        </p:nvGraphicFramePr>
        <p:xfrm>
          <a:off x="2839085" y="2848928"/>
          <a:ext cx="3276600" cy="846137"/>
        </p:xfrm>
        <a:graphic>
          <a:graphicData uri="http://schemas.openxmlformats.org/presentationml/2006/ole">
            <mc:AlternateContent xmlns:mc="http://schemas.openxmlformats.org/markup-compatibility/2006">
              <mc:Choice xmlns:v="urn:schemas-microsoft-com:vml" Requires="v">
                <p:oleObj spid="_x0000_s3084" name="" r:id="rId3" imgW="1651000" imgH="419100" progId="Equation.3">
                  <p:embed/>
                </p:oleObj>
              </mc:Choice>
              <mc:Fallback>
                <p:oleObj name="" r:id="rId3" imgW="1651000" imgH="419100" progId="Equation.3">
                  <p:embed/>
                  <p:pic>
                    <p:nvPicPr>
                      <p:cNvPr id="0" name="图片 3083"/>
                      <p:cNvPicPr/>
                      <p:nvPr/>
                    </p:nvPicPr>
                    <p:blipFill>
                      <a:blip r:embed="rId4"/>
                      <a:stretch>
                        <a:fillRect/>
                      </a:stretch>
                    </p:blipFill>
                    <p:spPr>
                      <a:xfrm>
                        <a:off x="2839085" y="2848928"/>
                        <a:ext cx="3276600" cy="846137"/>
                      </a:xfrm>
                      <a:prstGeom prst="rect">
                        <a:avLst/>
                      </a:prstGeom>
                      <a:noFill/>
                      <a:ln w="38100">
                        <a:miter/>
                      </a:ln>
                    </p:spPr>
                  </p:pic>
                </p:oleObj>
              </mc:Fallback>
            </mc:AlternateContent>
          </a:graphicData>
        </a:graphic>
      </p:graphicFrame>
      <p:graphicFrame>
        <p:nvGraphicFramePr>
          <p:cNvPr id="162836" name="对象 162835"/>
          <p:cNvGraphicFramePr/>
          <p:nvPr>
            <p:custDataLst>
              <p:tags r:id="rId5"/>
            </p:custDataLst>
          </p:nvPr>
        </p:nvGraphicFramePr>
        <p:xfrm>
          <a:off x="2626360" y="3694748"/>
          <a:ext cx="3062288" cy="912812"/>
        </p:xfrm>
        <a:graphic>
          <a:graphicData uri="http://schemas.openxmlformats.org/presentationml/2006/ole">
            <mc:AlternateContent xmlns:mc="http://schemas.openxmlformats.org/markup-compatibility/2006">
              <mc:Choice xmlns:v="urn:schemas-microsoft-com:vml" Requires="v">
                <p:oleObj spid="_x0000_s3078" name="" r:id="rId6" imgW="1435100" imgH="419100" progId="Equation.3">
                  <p:embed/>
                </p:oleObj>
              </mc:Choice>
              <mc:Fallback>
                <p:oleObj name="" r:id="rId6" imgW="1435100" imgH="419100" progId="Equation.3">
                  <p:embed/>
                  <p:pic>
                    <p:nvPicPr>
                      <p:cNvPr id="0" name="图片 3077"/>
                      <p:cNvPicPr/>
                      <p:nvPr/>
                    </p:nvPicPr>
                    <p:blipFill>
                      <a:blip r:embed="rId7"/>
                      <a:stretch>
                        <a:fillRect/>
                      </a:stretch>
                    </p:blipFill>
                    <p:spPr>
                      <a:xfrm>
                        <a:off x="2626360" y="3694748"/>
                        <a:ext cx="3062288" cy="912812"/>
                      </a:xfrm>
                      <a:prstGeom prst="rect">
                        <a:avLst/>
                      </a:prstGeom>
                      <a:noFill/>
                      <a:ln w="38100">
                        <a:miter/>
                      </a:ln>
                    </p:spPr>
                  </p:pic>
                </p:oleObj>
              </mc:Fallback>
            </mc:AlternateContent>
          </a:graphicData>
        </a:graphic>
      </p:graphicFrame>
      <p:grpSp>
        <p:nvGrpSpPr>
          <p:cNvPr id="162832" name="组合 162831"/>
          <p:cNvGrpSpPr/>
          <p:nvPr/>
        </p:nvGrpSpPr>
        <p:grpSpPr>
          <a:xfrm>
            <a:off x="6914515" y="1255713"/>
            <a:ext cx="3944938" cy="4965700"/>
            <a:chOff x="3574" y="527"/>
            <a:chExt cx="2485" cy="3128"/>
          </a:xfrm>
        </p:grpSpPr>
        <p:sp>
          <p:nvSpPr>
            <p:cNvPr id="162820" name="直接连接符 162819"/>
            <p:cNvSpPr/>
            <p:nvPr>
              <p:custDataLst>
                <p:tags r:id="rId8"/>
              </p:custDataLst>
            </p:nvPr>
          </p:nvSpPr>
          <p:spPr>
            <a:xfrm flipV="1">
              <a:off x="3574" y="754"/>
              <a:ext cx="0" cy="2449"/>
            </a:xfrm>
            <a:prstGeom prst="line">
              <a:avLst/>
            </a:prstGeom>
            <a:ln w="9525" cap="flat" cmpd="sng">
              <a:solidFill>
                <a:schemeClr val="tx1"/>
              </a:solidFill>
              <a:prstDash val="solid"/>
              <a:headEnd type="none" w="med" len="med"/>
              <a:tailEnd type="triangle" w="med" len="med"/>
            </a:ln>
          </p:spPr>
        </p:sp>
        <p:sp>
          <p:nvSpPr>
            <p:cNvPr id="162821" name="直接连接符 162820"/>
            <p:cNvSpPr/>
            <p:nvPr>
              <p:custDataLst>
                <p:tags r:id="rId9"/>
              </p:custDataLst>
            </p:nvPr>
          </p:nvSpPr>
          <p:spPr>
            <a:xfrm>
              <a:off x="3574" y="3203"/>
              <a:ext cx="2485" cy="0"/>
            </a:xfrm>
            <a:prstGeom prst="line">
              <a:avLst/>
            </a:prstGeom>
            <a:ln w="9525" cap="flat" cmpd="sng">
              <a:solidFill>
                <a:schemeClr val="tx1"/>
              </a:solidFill>
              <a:prstDash val="solid"/>
              <a:headEnd type="none" w="med" len="med"/>
              <a:tailEnd type="triangle" w="med" len="med"/>
            </a:ln>
          </p:spPr>
        </p:sp>
        <p:sp>
          <p:nvSpPr>
            <p:cNvPr id="162822" name="直接连接符 162821"/>
            <p:cNvSpPr/>
            <p:nvPr>
              <p:custDataLst>
                <p:tags r:id="rId10"/>
              </p:custDataLst>
            </p:nvPr>
          </p:nvSpPr>
          <p:spPr>
            <a:xfrm flipV="1">
              <a:off x="3574" y="799"/>
              <a:ext cx="1678" cy="1497"/>
            </a:xfrm>
            <a:prstGeom prst="line">
              <a:avLst/>
            </a:prstGeom>
            <a:ln w="9525" cap="flat" cmpd="sng">
              <a:solidFill>
                <a:schemeClr val="tx1"/>
              </a:solidFill>
              <a:prstDash val="solid"/>
              <a:headEnd type="none" w="med" len="med"/>
              <a:tailEnd type="none" w="med" len="med"/>
            </a:ln>
          </p:spPr>
        </p:sp>
        <p:sp>
          <p:nvSpPr>
            <p:cNvPr id="162824" name="直接连接符 162823"/>
            <p:cNvSpPr/>
            <p:nvPr>
              <p:custDataLst>
                <p:tags r:id="rId11"/>
              </p:custDataLst>
            </p:nvPr>
          </p:nvSpPr>
          <p:spPr>
            <a:xfrm flipV="1">
              <a:off x="4028" y="1706"/>
              <a:ext cx="1678" cy="1497"/>
            </a:xfrm>
            <a:prstGeom prst="line">
              <a:avLst/>
            </a:prstGeom>
            <a:ln w="9525" cap="flat" cmpd="sng">
              <a:solidFill>
                <a:schemeClr val="tx1"/>
              </a:solidFill>
              <a:prstDash val="solid"/>
              <a:headEnd type="none" w="med" len="med"/>
              <a:tailEnd type="none" w="med" len="med"/>
            </a:ln>
          </p:spPr>
        </p:sp>
        <p:sp>
          <p:nvSpPr>
            <p:cNvPr id="162825" name="文本框 162824"/>
            <p:cNvSpPr txBox="1"/>
            <p:nvPr>
              <p:custDataLst>
                <p:tags r:id="rId12"/>
              </p:custDataLst>
            </p:nvPr>
          </p:nvSpPr>
          <p:spPr>
            <a:xfrm>
              <a:off x="4799" y="3249"/>
              <a:ext cx="1123" cy="406"/>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规格化的测试</a:t>
              </a:r>
              <a:endParaRPr lang="zh-CN" altLang="en-US" dirty="0">
                <a:latin typeface="Basemic Times" pitchFamily="2" charset="0"/>
                <a:ea typeface="宋体" panose="02010600030101010101" pitchFamily="2" charset="-122"/>
              </a:endParaRPr>
            </a:p>
            <a:p>
              <a:pPr eaLnBrk="1" hangingPunct="1"/>
              <a:r>
                <a:rPr lang="zh-CN" altLang="en-US" dirty="0">
                  <a:latin typeface="Basemic Times" pitchFamily="2" charset="0"/>
                  <a:ea typeface="宋体" panose="02010600030101010101" pitchFamily="2" charset="-122"/>
                </a:rPr>
                <a:t>时间或测试输入</a:t>
              </a:r>
              <a:endParaRPr lang="en-US" altLang="zh-CN">
                <a:latin typeface="Basemic Times" pitchFamily="2" charset="0"/>
                <a:ea typeface="宋体" panose="02010600030101010101" pitchFamily="2" charset="-122"/>
              </a:endParaRPr>
            </a:p>
          </p:txBody>
        </p:sp>
        <p:sp>
          <p:nvSpPr>
            <p:cNvPr id="162826" name="文本框 162825"/>
            <p:cNvSpPr txBox="1"/>
            <p:nvPr>
              <p:custDataLst>
                <p:tags r:id="rId13"/>
              </p:custDataLst>
            </p:nvPr>
          </p:nvSpPr>
          <p:spPr>
            <a:xfrm>
              <a:off x="3619" y="527"/>
              <a:ext cx="1123" cy="406"/>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在测试期间发</a:t>
              </a:r>
              <a:endParaRPr lang="zh-CN" altLang="en-US" dirty="0">
                <a:latin typeface="Basemic Times" pitchFamily="2" charset="0"/>
                <a:ea typeface="宋体" panose="02010600030101010101" pitchFamily="2" charset="-122"/>
              </a:endParaRPr>
            </a:p>
            <a:p>
              <a:pPr eaLnBrk="1" hangingPunct="1"/>
              <a:r>
                <a:rPr lang="zh-CN" altLang="en-US" dirty="0">
                  <a:latin typeface="Basemic Times" pitchFamily="2" charset="0"/>
                  <a:ea typeface="宋体" panose="02010600030101010101" pitchFamily="2" charset="-122"/>
                </a:rPr>
                <a:t>现的累计缺陷数</a:t>
              </a:r>
              <a:endParaRPr lang="en-US" altLang="zh-CN">
                <a:latin typeface="Basemic Times" pitchFamily="2" charset="0"/>
                <a:ea typeface="宋体" panose="02010600030101010101" pitchFamily="2" charset="-122"/>
              </a:endParaRPr>
            </a:p>
          </p:txBody>
        </p:sp>
        <p:sp>
          <p:nvSpPr>
            <p:cNvPr id="162827" name="文本框 162826"/>
            <p:cNvSpPr txBox="1"/>
            <p:nvPr>
              <p:custDataLst>
                <p:tags r:id="rId14"/>
              </p:custDataLst>
            </p:nvPr>
          </p:nvSpPr>
          <p:spPr>
            <a:xfrm>
              <a:off x="4844" y="2614"/>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测试通过</a:t>
              </a:r>
              <a:endParaRPr lang="zh-CN" altLang="en-US" dirty="0">
                <a:latin typeface="Basemic Times" pitchFamily="2" charset="0"/>
                <a:ea typeface="宋体" panose="02010600030101010101" pitchFamily="2" charset="-122"/>
              </a:endParaRPr>
            </a:p>
          </p:txBody>
        </p:sp>
        <p:sp>
          <p:nvSpPr>
            <p:cNvPr id="162828" name="文本框 162827"/>
            <p:cNvSpPr txBox="1"/>
            <p:nvPr>
              <p:custDataLst>
                <p:tags r:id="rId15"/>
              </p:custDataLst>
            </p:nvPr>
          </p:nvSpPr>
          <p:spPr>
            <a:xfrm>
              <a:off x="4118" y="1979"/>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测试未完</a:t>
              </a:r>
              <a:endParaRPr lang="en-US" altLang="zh-CN">
                <a:latin typeface="Basemic Times" pitchFamily="2" charset="0"/>
                <a:ea typeface="宋体" panose="02010600030101010101" pitchFamily="2" charset="-122"/>
              </a:endParaRPr>
            </a:p>
          </p:txBody>
        </p:sp>
        <p:sp>
          <p:nvSpPr>
            <p:cNvPr id="162829" name="文本框 162828"/>
            <p:cNvSpPr txBox="1"/>
            <p:nvPr>
              <p:custDataLst>
                <p:tags r:id="rId16"/>
              </p:custDataLst>
            </p:nvPr>
          </p:nvSpPr>
          <p:spPr>
            <a:xfrm>
              <a:off x="3665" y="1208"/>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测试失败</a:t>
              </a:r>
              <a:endParaRPr lang="zh-CN" altLang="en-US" dirty="0">
                <a:latin typeface="Basemic Times" pitchFamily="2" charset="0"/>
                <a:ea typeface="宋体" panose="02010600030101010101" pitchFamily="2" charset="-122"/>
              </a:endParaRPr>
            </a:p>
          </p:txBody>
        </p:sp>
        <p:sp>
          <p:nvSpPr>
            <p:cNvPr id="162830" name="文本框 162829"/>
            <p:cNvSpPr txBox="1"/>
            <p:nvPr>
              <p:custDataLst>
                <p:tags r:id="rId17"/>
              </p:custDataLst>
            </p:nvPr>
          </p:nvSpPr>
          <p:spPr>
            <a:xfrm>
              <a:off x="5252" y="1434"/>
              <a:ext cx="547"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接受线</a:t>
              </a:r>
              <a:endParaRPr lang="zh-CN" altLang="en-US" dirty="0">
                <a:latin typeface="Basemic Times" pitchFamily="2" charset="0"/>
                <a:ea typeface="宋体" panose="02010600030101010101" pitchFamily="2" charset="-122"/>
              </a:endParaRPr>
            </a:p>
          </p:txBody>
        </p:sp>
        <p:sp>
          <p:nvSpPr>
            <p:cNvPr id="162831" name="文本框 162830"/>
            <p:cNvSpPr txBox="1"/>
            <p:nvPr>
              <p:custDataLst>
                <p:tags r:id="rId18"/>
              </p:custDataLst>
            </p:nvPr>
          </p:nvSpPr>
          <p:spPr>
            <a:xfrm>
              <a:off x="4980" y="527"/>
              <a:ext cx="547"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拒绝线</a:t>
              </a:r>
              <a:endParaRPr lang="zh-CN" altLang="en-US" dirty="0">
                <a:latin typeface="Basemic Times" pitchFamily="2" charset="0"/>
                <a:ea typeface="宋体" panose="02010600030101010101" pitchFamily="2"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165891" name="文本占位符 165890"/>
          <p:cNvSpPr>
            <a:spLocks noGrp="1"/>
          </p:cNvSpPr>
          <p:nvPr>
            <p:ph type="body" idx="1"/>
            <p:custDataLst>
              <p:tags r:id="rId1"/>
            </p:custDataLst>
          </p:nvPr>
        </p:nvSpPr>
        <p:spPr>
          <a:xfrm>
            <a:off x="1020445" y="1412875"/>
            <a:ext cx="9924415" cy="4897755"/>
          </a:xfrm>
        </p:spPr>
        <p:txBody>
          <a:bodyPr/>
          <a:p>
            <a:pPr marL="609600" indent="-609600">
              <a:buFontTx/>
              <a:buAutoNum type="arabicPeriod" startAt="3"/>
            </a:pPr>
            <a:r>
              <a:rPr lang="zh-CN" altLang="en-US" sz="2400" dirty="0">
                <a:ea typeface="宋体" panose="02010600030101010101" pitchFamily="2" charset="-122"/>
              </a:rPr>
              <a:t>测试开始后，失效发生时，将对应的累计故障数和测试时间或测试用例数在图中标出</a:t>
            </a:r>
            <a:endParaRPr lang="zh-CN" altLang="en-US" sz="2400" dirty="0">
              <a:ea typeface="宋体" panose="02010600030101010101" pitchFamily="2" charset="-122"/>
            </a:endParaRPr>
          </a:p>
          <a:p>
            <a:pPr marL="609600" indent="-609600">
              <a:buFontTx/>
              <a:buAutoNum type="arabicPeriod" startAt="3"/>
            </a:pPr>
            <a:r>
              <a:rPr lang="zh-CN" altLang="en-US" sz="2400" dirty="0">
                <a:ea typeface="宋体" panose="02010600030101010101" pitchFamily="2" charset="-122"/>
              </a:rPr>
              <a:t>判定测试结果：通过或失败都表示测试结束，若测试未完成，则继续测试</a:t>
            </a:r>
            <a:endParaRPr lang="zh-CN" altLang="en-US" sz="2400" dirty="0">
              <a:ea typeface="宋体" panose="02010600030101010101" pitchFamily="2" charset="-122"/>
            </a:endParaRPr>
          </a:p>
          <a:p>
            <a:pPr marL="609600" indent="-609600">
              <a:buFontTx/>
              <a:buAutoNum type="arabicPeriod" startAt="3"/>
            </a:pPr>
            <a:endParaRPr lang="en-US" altLang="zh-CN" sz="2400">
              <a:ea typeface="宋体" panose="02010600030101010101" pitchFamily="2" charset="-122"/>
            </a:endParaRPr>
          </a:p>
          <a:p>
            <a:pPr marL="609600" indent="-609600">
              <a:buFontTx/>
              <a:buNone/>
            </a:pPr>
            <a:r>
              <a:rPr lang="zh-CN" altLang="en-US" sz="2400" dirty="0">
                <a:ea typeface="宋体" panose="02010600030101010101" pitchFamily="2" charset="-122"/>
              </a:rPr>
              <a:t>注：基于测试用例的证明测试具有随机性，不同测试可能得到不同结果，为此可采用模块化方法选择测试用例，以保证测试的客观性</a:t>
            </a:r>
            <a:endParaRPr lang="zh-CN" altLang="en-US" sz="2400"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normAutofit lnSpcReduction="20000"/>
          </a:bodyPr>
          <a:p>
            <a:pPr marL="228600" lvl="1" algn="l">
              <a:lnSpc>
                <a:spcPct val="150000"/>
              </a:lnSpc>
              <a:spcBef>
                <a:spcPts val="1000"/>
              </a:spcBef>
              <a:buClrTx/>
              <a:buSzTx/>
            </a:pPr>
            <a:r>
              <a:rPr lang="en-US" altLang="zh-CN" sz="2800">
                <a:sym typeface="+mn-ea"/>
              </a:rPr>
              <a:t>软件可靠性测试有两类：</a:t>
            </a:r>
            <a:endParaRPr lang="en-US" altLang="zh-CN" sz="2800"/>
          </a:p>
          <a:p>
            <a:pPr lvl="1" algn="l">
              <a:lnSpc>
                <a:spcPct val="150000"/>
              </a:lnSpc>
              <a:spcBef>
                <a:spcPts val="1000"/>
              </a:spcBef>
              <a:buClrTx/>
              <a:buSzTx/>
            </a:pPr>
            <a:r>
              <a:rPr lang="en-US" altLang="zh-CN" b="1">
                <a:solidFill>
                  <a:srgbClr val="FF0000"/>
                </a:solidFill>
                <a:sym typeface="+mn-ea"/>
              </a:rPr>
              <a:t>开发测试</a:t>
            </a:r>
            <a:r>
              <a:rPr lang="en-US" altLang="zh-CN">
                <a:sym typeface="+mn-ea"/>
              </a:rPr>
              <a:t>：包括性能测试、</a:t>
            </a:r>
            <a:r>
              <a:rPr lang="zh-CN" altLang="en-US">
                <a:sym typeface="+mn-ea"/>
              </a:rPr>
              <a:t>负载</a:t>
            </a:r>
            <a:r>
              <a:rPr lang="en-US" altLang="zh-CN">
                <a:sym typeface="+mn-ea"/>
              </a:rPr>
              <a:t>测试、回归测试，目的是发现和修正单元及其集成的缺陷</a:t>
            </a:r>
            <a:endParaRPr lang="en-US" altLang="zh-CN"/>
          </a:p>
          <a:p>
            <a:pPr lvl="1" algn="l">
              <a:lnSpc>
                <a:spcPct val="150000"/>
              </a:lnSpc>
              <a:spcBef>
                <a:spcPts val="1000"/>
              </a:spcBef>
              <a:buClrTx/>
              <a:buSzTx/>
            </a:pPr>
            <a:r>
              <a:rPr lang="en-US" altLang="zh-CN" b="1">
                <a:solidFill>
                  <a:srgbClr val="FF0000"/>
                </a:solidFill>
                <a:sym typeface="+mn-ea"/>
              </a:rPr>
              <a:t>确认测试</a:t>
            </a:r>
            <a:r>
              <a:rPr lang="en-US" altLang="zh-CN">
                <a:sym typeface="+mn-ea"/>
              </a:rPr>
              <a:t>：一般只进行</a:t>
            </a:r>
            <a:r>
              <a:rPr lang="zh-CN" altLang="en-US">
                <a:sym typeface="+mn-ea"/>
              </a:rPr>
              <a:t>负载</a:t>
            </a:r>
            <a:r>
              <a:rPr lang="en-US" altLang="zh-CN">
                <a:sym typeface="+mn-ea"/>
              </a:rPr>
              <a:t>测试，目的是为了确定软件部件或系统是否被接受</a:t>
            </a:r>
            <a:r>
              <a:rPr lang="zh-CN" altLang="en-US">
                <a:sym typeface="+mn-ea"/>
              </a:rPr>
              <a:t>。</a:t>
            </a:r>
            <a:endParaRPr lang="zh-CN" altLang="en-US">
              <a:sym typeface="+mn-ea"/>
            </a:endParaRPr>
          </a:p>
          <a:p>
            <a:pPr lvl="0" algn="l">
              <a:lnSpc>
                <a:spcPct val="150000"/>
              </a:lnSpc>
              <a:spcBef>
                <a:spcPts val="1000"/>
              </a:spcBef>
              <a:buClrTx/>
              <a:buSzTx/>
            </a:pPr>
            <a:r>
              <a:rPr lang="en-US" altLang="zh-CN">
                <a:sym typeface="+mn-ea"/>
              </a:rPr>
              <a:t>对于软件可靠性建模，开发测试收集的是分组数据，是不完整的，而确认测试获得的是完全数据</a:t>
            </a:r>
            <a:endParaRPr lang="en-US" altLang="zh-CN"/>
          </a:p>
          <a:p>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a:xfrm>
            <a:off x="838200" y="1538605"/>
            <a:ext cx="2630805" cy="4638675"/>
          </a:xfrm>
        </p:spPr>
        <p:txBody>
          <a:bodyPr>
            <a:normAutofit lnSpcReduction="20000"/>
          </a:bodyPr>
          <a:p>
            <a:r>
              <a:rPr lang="zh-CN" altLang="en-US" dirty="0">
                <a:ea typeface="宋体" panose="02010600030101010101" pitchFamily="2" charset="-122"/>
                <a:sym typeface="+mn-ea"/>
              </a:rPr>
              <a:t>软件可靠性测试过程模型</a:t>
            </a:r>
            <a:endParaRPr lang="zh-CN" altLang="en-US" dirty="0">
              <a:ea typeface="宋体" panose="02010600030101010101" pitchFamily="2" charset="-122"/>
              <a:sym typeface="+mn-ea"/>
            </a:endParaRPr>
          </a:p>
          <a:p>
            <a:pPr lvl="1"/>
            <a:r>
              <a:rPr lang="zh-CN" altLang="en-US" dirty="0">
                <a:ea typeface="宋体" panose="02010600030101010101" pitchFamily="2" charset="-122"/>
                <a:sym typeface="+mn-ea"/>
              </a:rPr>
              <a:t>开发业务剖面是软件可靠性测试的重要环节，因为可靠性目标与业务剖面关系密切</a:t>
            </a:r>
            <a:endParaRPr lang="zh-CN" altLang="en-US"/>
          </a:p>
        </p:txBody>
      </p:sp>
      <p:grpSp>
        <p:nvGrpSpPr>
          <p:cNvPr id="167965" name="组合 167964"/>
          <p:cNvGrpSpPr/>
          <p:nvPr/>
        </p:nvGrpSpPr>
        <p:grpSpPr>
          <a:xfrm>
            <a:off x="3517265" y="1517333"/>
            <a:ext cx="8237538" cy="4530725"/>
            <a:chOff x="840" y="1211"/>
            <a:chExt cx="5189" cy="2854"/>
          </a:xfrm>
        </p:grpSpPr>
        <p:sp>
          <p:nvSpPr>
            <p:cNvPr id="167940" name="矩形 167939"/>
            <p:cNvSpPr/>
            <p:nvPr>
              <p:custDataLst>
                <p:tags r:id="rId1"/>
              </p:custDataLst>
            </p:nvPr>
          </p:nvSpPr>
          <p:spPr>
            <a:xfrm>
              <a:off x="943" y="1344"/>
              <a:ext cx="1543"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软件可靠性目标</a:t>
              </a:r>
              <a:endParaRPr lang="zh-CN" altLang="en-US" dirty="0">
                <a:solidFill>
                  <a:schemeClr val="bg1"/>
                </a:solidFill>
                <a:latin typeface="Basemic Times" pitchFamily="2" charset="0"/>
                <a:ea typeface="宋体" panose="02010600030101010101" pitchFamily="2" charset="-122"/>
              </a:endParaRPr>
            </a:p>
          </p:txBody>
        </p:sp>
        <p:sp>
          <p:nvSpPr>
            <p:cNvPr id="167941" name="矩形 167940"/>
            <p:cNvSpPr/>
            <p:nvPr>
              <p:custDataLst>
                <p:tags r:id="rId2"/>
              </p:custDataLst>
            </p:nvPr>
          </p:nvSpPr>
          <p:spPr>
            <a:xfrm>
              <a:off x="1351" y="2024"/>
              <a:ext cx="1270"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开发系统业务剖面</a:t>
              </a:r>
              <a:endParaRPr lang="zh-CN" altLang="en-US" dirty="0">
                <a:solidFill>
                  <a:schemeClr val="bg1"/>
                </a:solidFill>
                <a:latin typeface="Basemic Times" pitchFamily="2" charset="0"/>
                <a:ea typeface="宋体" panose="02010600030101010101" pitchFamily="2" charset="-122"/>
              </a:endParaRPr>
            </a:p>
          </p:txBody>
        </p:sp>
        <p:sp>
          <p:nvSpPr>
            <p:cNvPr id="167942" name="矩形 167941"/>
            <p:cNvSpPr/>
            <p:nvPr>
              <p:custDataLst>
                <p:tags r:id="rId3"/>
              </p:custDataLst>
            </p:nvPr>
          </p:nvSpPr>
          <p:spPr>
            <a:xfrm>
              <a:off x="1669" y="2659"/>
              <a:ext cx="907"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准备测试</a:t>
              </a:r>
              <a:endParaRPr lang="zh-CN" altLang="en-US" dirty="0">
                <a:solidFill>
                  <a:schemeClr val="bg1"/>
                </a:solidFill>
                <a:latin typeface="Basemic Times" pitchFamily="2" charset="0"/>
                <a:ea typeface="宋体" panose="02010600030101010101" pitchFamily="2" charset="-122"/>
              </a:endParaRPr>
            </a:p>
          </p:txBody>
        </p:sp>
        <p:sp>
          <p:nvSpPr>
            <p:cNvPr id="167943" name="矩形 167942"/>
            <p:cNvSpPr/>
            <p:nvPr>
              <p:custDataLst>
                <p:tags r:id="rId4"/>
              </p:custDataLst>
            </p:nvPr>
          </p:nvSpPr>
          <p:spPr>
            <a:xfrm>
              <a:off x="3710" y="2024"/>
              <a:ext cx="1543"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软件可靠性定量评估</a:t>
              </a:r>
              <a:endParaRPr lang="zh-CN" altLang="en-US" dirty="0">
                <a:solidFill>
                  <a:schemeClr val="bg1"/>
                </a:solidFill>
                <a:latin typeface="Basemic Times" pitchFamily="2" charset="0"/>
                <a:ea typeface="宋体" panose="02010600030101010101" pitchFamily="2" charset="-122"/>
              </a:endParaRPr>
            </a:p>
          </p:txBody>
        </p:sp>
        <p:sp>
          <p:nvSpPr>
            <p:cNvPr id="167944" name="矩形 167943"/>
            <p:cNvSpPr/>
            <p:nvPr>
              <p:custDataLst>
                <p:tags r:id="rId5"/>
              </p:custDataLst>
            </p:nvPr>
          </p:nvSpPr>
          <p:spPr>
            <a:xfrm>
              <a:off x="3710" y="2659"/>
              <a:ext cx="1543"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软件可靠性模型</a:t>
              </a:r>
              <a:endParaRPr lang="zh-CN" altLang="en-US" dirty="0">
                <a:solidFill>
                  <a:schemeClr val="bg1"/>
                </a:solidFill>
                <a:latin typeface="Basemic Times" pitchFamily="2" charset="0"/>
                <a:ea typeface="宋体" panose="02010600030101010101" pitchFamily="2" charset="-122"/>
              </a:endParaRPr>
            </a:p>
          </p:txBody>
        </p:sp>
        <p:sp>
          <p:nvSpPr>
            <p:cNvPr id="167945" name="矩形 167944"/>
            <p:cNvSpPr/>
            <p:nvPr>
              <p:custDataLst>
                <p:tags r:id="rId6"/>
              </p:custDataLst>
            </p:nvPr>
          </p:nvSpPr>
          <p:spPr>
            <a:xfrm>
              <a:off x="2667" y="3203"/>
              <a:ext cx="680" cy="31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执行测试</a:t>
              </a:r>
              <a:endParaRPr lang="zh-CN" altLang="en-US" dirty="0">
                <a:solidFill>
                  <a:schemeClr val="bg1"/>
                </a:solidFill>
                <a:latin typeface="Basemic Times" pitchFamily="2" charset="0"/>
                <a:ea typeface="宋体" panose="02010600030101010101" pitchFamily="2" charset="-122"/>
              </a:endParaRPr>
            </a:p>
          </p:txBody>
        </p:sp>
        <p:sp>
          <p:nvSpPr>
            <p:cNvPr id="167946" name="矩形 167945"/>
            <p:cNvSpPr/>
            <p:nvPr>
              <p:custDataLst>
                <p:tags r:id="rId7"/>
              </p:custDataLst>
            </p:nvPr>
          </p:nvSpPr>
          <p:spPr>
            <a:xfrm>
              <a:off x="3710" y="3203"/>
              <a:ext cx="1543"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收集、整理故障数据</a:t>
              </a:r>
              <a:endParaRPr lang="zh-CN" altLang="en-US" dirty="0">
                <a:solidFill>
                  <a:schemeClr val="bg1"/>
                </a:solidFill>
                <a:latin typeface="Basemic Times" pitchFamily="2" charset="0"/>
                <a:ea typeface="宋体" panose="02010600030101010101" pitchFamily="2" charset="-122"/>
              </a:endParaRPr>
            </a:p>
          </p:txBody>
        </p:sp>
        <p:sp>
          <p:nvSpPr>
            <p:cNvPr id="167947" name="任意多边形 167946"/>
            <p:cNvSpPr/>
            <p:nvPr>
              <p:custDataLst>
                <p:tags r:id="rId8"/>
              </p:custDataLst>
            </p:nvPr>
          </p:nvSpPr>
          <p:spPr>
            <a:xfrm>
              <a:off x="1116" y="1661"/>
              <a:ext cx="197" cy="514"/>
            </a:xfrm>
            <a:custGeom>
              <a:avLst/>
              <a:gdLst/>
              <a:ahLst/>
              <a:cxnLst/>
              <a:pathLst>
                <a:path w="197" h="514">
                  <a:moveTo>
                    <a:pt x="9" y="0"/>
                  </a:moveTo>
                  <a:lnTo>
                    <a:pt x="0" y="514"/>
                  </a:lnTo>
                  <a:lnTo>
                    <a:pt x="197" y="514"/>
                  </a:lnTo>
                </a:path>
              </a:pathLst>
            </a:custGeom>
            <a:noFill/>
            <a:ln w="9525" cap="flat" cmpd="sng">
              <a:solidFill>
                <a:schemeClr val="tx1"/>
              </a:solidFill>
              <a:prstDash val="solid"/>
              <a:headEnd type="none" w="med" len="med"/>
              <a:tailEnd type="triangle" w="med" len="med"/>
            </a:ln>
          </p:spPr>
          <p:txBody>
            <a:bodyPr/>
            <a:p>
              <a:endParaRPr lang="zh-CN" altLang="en-US"/>
            </a:p>
          </p:txBody>
        </p:sp>
        <p:sp>
          <p:nvSpPr>
            <p:cNvPr id="167948" name="任意多边形 167947"/>
            <p:cNvSpPr/>
            <p:nvPr>
              <p:custDataLst>
                <p:tags r:id="rId9"/>
              </p:custDataLst>
            </p:nvPr>
          </p:nvSpPr>
          <p:spPr>
            <a:xfrm>
              <a:off x="1487" y="2341"/>
              <a:ext cx="197" cy="514"/>
            </a:xfrm>
            <a:custGeom>
              <a:avLst/>
              <a:gdLst/>
              <a:ahLst/>
              <a:cxnLst/>
              <a:pathLst>
                <a:path w="197" h="514">
                  <a:moveTo>
                    <a:pt x="9" y="0"/>
                  </a:moveTo>
                  <a:lnTo>
                    <a:pt x="0" y="514"/>
                  </a:lnTo>
                  <a:lnTo>
                    <a:pt x="197" y="514"/>
                  </a:lnTo>
                </a:path>
              </a:pathLst>
            </a:custGeom>
            <a:noFill/>
            <a:ln w="9525" cap="flat" cmpd="sng">
              <a:solidFill>
                <a:schemeClr val="tx1"/>
              </a:solidFill>
              <a:prstDash val="solid"/>
              <a:headEnd type="none" w="med" len="med"/>
              <a:tailEnd type="triangle" w="med" len="med"/>
            </a:ln>
          </p:spPr>
          <p:txBody>
            <a:bodyPr/>
            <a:p>
              <a:endParaRPr lang="zh-CN" altLang="en-US"/>
            </a:p>
          </p:txBody>
        </p:sp>
        <p:sp>
          <p:nvSpPr>
            <p:cNvPr id="167949" name="任意多边形 167948"/>
            <p:cNvSpPr/>
            <p:nvPr>
              <p:custDataLst>
                <p:tags r:id="rId10"/>
              </p:custDataLst>
            </p:nvPr>
          </p:nvSpPr>
          <p:spPr>
            <a:xfrm>
              <a:off x="2186" y="2976"/>
              <a:ext cx="482" cy="409"/>
            </a:xfrm>
            <a:custGeom>
              <a:avLst/>
              <a:gdLst/>
              <a:ahLst/>
              <a:cxnLst/>
              <a:pathLst>
                <a:path w="197" h="514">
                  <a:moveTo>
                    <a:pt x="9" y="0"/>
                  </a:moveTo>
                  <a:lnTo>
                    <a:pt x="0" y="514"/>
                  </a:lnTo>
                  <a:lnTo>
                    <a:pt x="197" y="514"/>
                  </a:lnTo>
                </a:path>
              </a:pathLst>
            </a:custGeom>
            <a:noFill/>
            <a:ln w="9525" cap="flat" cmpd="sng">
              <a:solidFill>
                <a:schemeClr val="tx1"/>
              </a:solidFill>
              <a:prstDash val="solid"/>
              <a:headEnd type="none" w="med" len="med"/>
              <a:tailEnd type="triangle" w="med" len="med"/>
            </a:ln>
          </p:spPr>
          <p:txBody>
            <a:bodyPr/>
            <a:p>
              <a:endParaRPr lang="zh-CN" altLang="en-US"/>
            </a:p>
          </p:txBody>
        </p:sp>
        <p:sp>
          <p:nvSpPr>
            <p:cNvPr id="167950" name="直接连接符 167949"/>
            <p:cNvSpPr/>
            <p:nvPr>
              <p:custDataLst>
                <p:tags r:id="rId11"/>
              </p:custDataLst>
            </p:nvPr>
          </p:nvSpPr>
          <p:spPr>
            <a:xfrm>
              <a:off x="2621" y="2160"/>
              <a:ext cx="1044" cy="0"/>
            </a:xfrm>
            <a:prstGeom prst="line">
              <a:avLst/>
            </a:prstGeom>
            <a:ln w="9525" cap="flat" cmpd="sng">
              <a:solidFill>
                <a:schemeClr val="tx1"/>
              </a:solidFill>
              <a:prstDash val="solid"/>
              <a:headEnd type="none" w="med" len="med"/>
              <a:tailEnd type="triangle" w="med" len="med"/>
            </a:ln>
          </p:spPr>
        </p:sp>
        <p:sp>
          <p:nvSpPr>
            <p:cNvPr id="167951" name="菱形 167950"/>
            <p:cNvSpPr/>
            <p:nvPr>
              <p:custDataLst>
                <p:tags r:id="rId12"/>
              </p:custDataLst>
            </p:nvPr>
          </p:nvSpPr>
          <p:spPr>
            <a:xfrm>
              <a:off x="3574" y="1298"/>
              <a:ext cx="1633" cy="454"/>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对比</a:t>
              </a:r>
              <a:endParaRPr lang="zh-CN" altLang="en-US" dirty="0">
                <a:solidFill>
                  <a:schemeClr val="bg1"/>
                </a:solidFill>
                <a:latin typeface="Basemic Times" pitchFamily="2" charset="0"/>
                <a:ea typeface="宋体" panose="02010600030101010101" pitchFamily="2" charset="-122"/>
              </a:endParaRPr>
            </a:p>
          </p:txBody>
        </p:sp>
        <p:sp>
          <p:nvSpPr>
            <p:cNvPr id="167952" name="直接连接符 167951"/>
            <p:cNvSpPr/>
            <p:nvPr>
              <p:custDataLst>
                <p:tags r:id="rId13"/>
              </p:custDataLst>
            </p:nvPr>
          </p:nvSpPr>
          <p:spPr>
            <a:xfrm>
              <a:off x="2485" y="1525"/>
              <a:ext cx="1089" cy="0"/>
            </a:xfrm>
            <a:prstGeom prst="line">
              <a:avLst/>
            </a:prstGeom>
            <a:ln w="9525" cap="flat" cmpd="sng">
              <a:solidFill>
                <a:schemeClr val="tx1"/>
              </a:solidFill>
              <a:prstDash val="solid"/>
              <a:headEnd type="none" w="med" len="med"/>
              <a:tailEnd type="triangle" w="med" len="med"/>
            </a:ln>
          </p:spPr>
        </p:sp>
        <p:sp>
          <p:nvSpPr>
            <p:cNvPr id="167953" name="直接连接符 167952"/>
            <p:cNvSpPr/>
            <p:nvPr>
              <p:custDataLst>
                <p:tags r:id="rId14"/>
              </p:custDataLst>
            </p:nvPr>
          </p:nvSpPr>
          <p:spPr>
            <a:xfrm flipV="1">
              <a:off x="4390" y="1752"/>
              <a:ext cx="0" cy="272"/>
            </a:xfrm>
            <a:prstGeom prst="line">
              <a:avLst/>
            </a:prstGeom>
            <a:ln w="9525" cap="flat" cmpd="sng">
              <a:solidFill>
                <a:schemeClr val="tx1"/>
              </a:solidFill>
              <a:prstDash val="solid"/>
              <a:headEnd type="none" w="med" len="med"/>
              <a:tailEnd type="triangle" w="med" len="med"/>
            </a:ln>
          </p:spPr>
        </p:sp>
        <p:sp>
          <p:nvSpPr>
            <p:cNvPr id="167955" name="直接连接符 167954"/>
            <p:cNvSpPr/>
            <p:nvPr>
              <p:custDataLst>
                <p:tags r:id="rId15"/>
              </p:custDataLst>
            </p:nvPr>
          </p:nvSpPr>
          <p:spPr>
            <a:xfrm flipV="1">
              <a:off x="4390" y="2341"/>
              <a:ext cx="0" cy="318"/>
            </a:xfrm>
            <a:prstGeom prst="line">
              <a:avLst/>
            </a:prstGeom>
            <a:ln w="9525" cap="flat" cmpd="sng">
              <a:solidFill>
                <a:schemeClr val="tx1"/>
              </a:solidFill>
              <a:prstDash val="solid"/>
              <a:headEnd type="none" w="med" len="med"/>
              <a:tailEnd type="triangle" w="med" len="med"/>
            </a:ln>
          </p:spPr>
        </p:sp>
        <p:sp>
          <p:nvSpPr>
            <p:cNvPr id="167956" name="直接连接符 167955"/>
            <p:cNvSpPr/>
            <p:nvPr>
              <p:custDataLst>
                <p:tags r:id="rId16"/>
              </p:custDataLst>
            </p:nvPr>
          </p:nvSpPr>
          <p:spPr>
            <a:xfrm flipV="1">
              <a:off x="4390" y="2977"/>
              <a:ext cx="0" cy="226"/>
            </a:xfrm>
            <a:prstGeom prst="line">
              <a:avLst/>
            </a:prstGeom>
            <a:ln w="9525" cap="flat" cmpd="sng">
              <a:solidFill>
                <a:schemeClr val="tx1"/>
              </a:solidFill>
              <a:prstDash val="solid"/>
              <a:headEnd type="none" w="med" len="med"/>
              <a:tailEnd type="triangle" w="med" len="med"/>
            </a:ln>
          </p:spPr>
        </p:sp>
        <p:sp>
          <p:nvSpPr>
            <p:cNvPr id="167957" name="直接连接符 167956"/>
            <p:cNvSpPr/>
            <p:nvPr>
              <p:custDataLst>
                <p:tags r:id="rId17"/>
              </p:custDataLst>
            </p:nvPr>
          </p:nvSpPr>
          <p:spPr>
            <a:xfrm>
              <a:off x="3347" y="3385"/>
              <a:ext cx="363" cy="0"/>
            </a:xfrm>
            <a:prstGeom prst="line">
              <a:avLst/>
            </a:prstGeom>
            <a:ln w="9525" cap="flat" cmpd="sng">
              <a:solidFill>
                <a:schemeClr val="tx1"/>
              </a:solidFill>
              <a:prstDash val="solid"/>
              <a:headEnd type="none" w="med" len="med"/>
              <a:tailEnd type="triangle" w="med" len="med"/>
            </a:ln>
          </p:spPr>
        </p:sp>
        <p:sp>
          <p:nvSpPr>
            <p:cNvPr id="167958" name="直接连接符 167957"/>
            <p:cNvSpPr/>
            <p:nvPr>
              <p:custDataLst>
                <p:tags r:id="rId18"/>
              </p:custDataLst>
            </p:nvPr>
          </p:nvSpPr>
          <p:spPr>
            <a:xfrm>
              <a:off x="1669" y="2387"/>
              <a:ext cx="0" cy="1678"/>
            </a:xfrm>
            <a:prstGeom prst="line">
              <a:avLst/>
            </a:prstGeom>
            <a:ln w="9525" cap="flat" cmpd="sng">
              <a:solidFill>
                <a:schemeClr val="tx1"/>
              </a:solidFill>
              <a:prstDash val="lgDash"/>
              <a:headEnd type="none" w="med" len="med"/>
              <a:tailEnd type="none" w="med" len="med"/>
            </a:ln>
          </p:spPr>
        </p:sp>
        <p:sp>
          <p:nvSpPr>
            <p:cNvPr id="167959" name="直接连接符 167958"/>
            <p:cNvSpPr/>
            <p:nvPr>
              <p:custDataLst>
                <p:tags r:id="rId19"/>
              </p:custDataLst>
            </p:nvPr>
          </p:nvSpPr>
          <p:spPr>
            <a:xfrm>
              <a:off x="2621" y="2387"/>
              <a:ext cx="0" cy="1678"/>
            </a:xfrm>
            <a:prstGeom prst="line">
              <a:avLst/>
            </a:prstGeom>
            <a:ln w="9525" cap="flat" cmpd="sng">
              <a:solidFill>
                <a:schemeClr val="tx1"/>
              </a:solidFill>
              <a:prstDash val="lgDash"/>
              <a:headEnd type="none" w="med" len="med"/>
              <a:tailEnd type="none" w="med" len="med"/>
            </a:ln>
          </p:spPr>
        </p:sp>
        <p:sp>
          <p:nvSpPr>
            <p:cNvPr id="167960" name="直接连接符 167959"/>
            <p:cNvSpPr/>
            <p:nvPr>
              <p:custDataLst>
                <p:tags r:id="rId20"/>
              </p:custDataLst>
            </p:nvPr>
          </p:nvSpPr>
          <p:spPr>
            <a:xfrm>
              <a:off x="5207" y="1525"/>
              <a:ext cx="544" cy="0"/>
            </a:xfrm>
            <a:prstGeom prst="line">
              <a:avLst/>
            </a:prstGeom>
            <a:ln w="9525" cap="flat" cmpd="sng">
              <a:solidFill>
                <a:schemeClr val="tx1"/>
              </a:solidFill>
              <a:prstDash val="solid"/>
              <a:headEnd type="none" w="med" len="med"/>
              <a:tailEnd type="triangle" w="med" len="med"/>
            </a:ln>
          </p:spPr>
        </p:sp>
        <p:sp>
          <p:nvSpPr>
            <p:cNvPr id="167961" name="文本框 167960"/>
            <p:cNvSpPr txBox="1"/>
            <p:nvPr>
              <p:custDataLst>
                <p:tags r:id="rId21"/>
              </p:custDataLst>
            </p:nvPr>
          </p:nvSpPr>
          <p:spPr>
            <a:xfrm>
              <a:off x="840" y="3570"/>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需求与构造</a:t>
              </a:r>
              <a:endParaRPr lang="en-US" altLang="zh-CN">
                <a:latin typeface="Basemic Times" pitchFamily="2" charset="0"/>
                <a:ea typeface="宋体" panose="02010600030101010101" pitchFamily="2" charset="-122"/>
              </a:endParaRPr>
            </a:p>
          </p:txBody>
        </p:sp>
        <p:sp>
          <p:nvSpPr>
            <p:cNvPr id="167962" name="文本框 167961"/>
            <p:cNvSpPr txBox="1"/>
            <p:nvPr>
              <p:custDataLst>
                <p:tags r:id="rId22"/>
              </p:custDataLst>
            </p:nvPr>
          </p:nvSpPr>
          <p:spPr>
            <a:xfrm>
              <a:off x="1760" y="3566"/>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设计和实现</a:t>
              </a:r>
              <a:endParaRPr lang="en-US" altLang="zh-CN">
                <a:latin typeface="Basemic Times" pitchFamily="2" charset="0"/>
                <a:ea typeface="宋体" panose="02010600030101010101" pitchFamily="2" charset="-122"/>
              </a:endParaRPr>
            </a:p>
          </p:txBody>
        </p:sp>
        <p:sp>
          <p:nvSpPr>
            <p:cNvPr id="167963" name="文本框 167962"/>
            <p:cNvSpPr txBox="1"/>
            <p:nvPr>
              <p:custDataLst>
                <p:tags r:id="rId23"/>
              </p:custDataLst>
            </p:nvPr>
          </p:nvSpPr>
          <p:spPr>
            <a:xfrm>
              <a:off x="2621" y="3566"/>
              <a:ext cx="1452" cy="232"/>
            </a:xfrm>
            <a:prstGeom prst="rect">
              <a:avLst/>
            </a:prstGeom>
            <a:noFill/>
            <a:ln w="9525">
              <a:noFill/>
            </a:ln>
          </p:spPr>
          <p:txBody>
            <a:bodyPr>
              <a:spAutoFit/>
            </a:bodyPr>
            <a:p>
              <a:pPr eaLnBrk="1" hangingPunct="1"/>
              <a:r>
                <a:rPr lang="zh-CN" altLang="en-US" dirty="0">
                  <a:latin typeface="Basemic Times" pitchFamily="2" charset="0"/>
                  <a:ea typeface="宋体" panose="02010600030101010101" pitchFamily="2" charset="-122"/>
                </a:rPr>
                <a:t>集成测试和确认测试</a:t>
              </a:r>
              <a:endParaRPr lang="en-US" altLang="zh-CN">
                <a:latin typeface="Basemic Times" pitchFamily="2" charset="0"/>
                <a:ea typeface="宋体" panose="02010600030101010101" pitchFamily="2" charset="-122"/>
              </a:endParaRPr>
            </a:p>
          </p:txBody>
        </p:sp>
        <p:sp>
          <p:nvSpPr>
            <p:cNvPr id="167964" name="文本框 167963"/>
            <p:cNvSpPr txBox="1"/>
            <p:nvPr>
              <p:custDataLst>
                <p:tags r:id="rId24"/>
              </p:custDataLst>
            </p:nvPr>
          </p:nvSpPr>
          <p:spPr>
            <a:xfrm>
              <a:off x="5194" y="1211"/>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接受或拒绝</a:t>
              </a:r>
              <a:endParaRPr lang="zh-CN" altLang="en-US" dirty="0">
                <a:latin typeface="Basemic Times" pitchFamily="2" charset="0"/>
                <a:ea typeface="宋体" panose="02010600030101010101" pitchFamily="2"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normAutofit lnSpcReduction="20000"/>
          </a:bodyPr>
          <a:p>
            <a:pPr algn="l">
              <a:lnSpc>
                <a:spcPct val="130000"/>
              </a:lnSpc>
              <a:buClrTx/>
              <a:buSzTx/>
            </a:pPr>
            <a:r>
              <a:rPr lang="en-US" altLang="zh-CN" sz="2800">
                <a:sym typeface="+mn-ea"/>
              </a:rPr>
              <a:t>测试的目的</a:t>
            </a:r>
            <a:r>
              <a:rPr lang="zh-CN" altLang="en-US" sz="2800"/>
              <a:t>：</a:t>
            </a:r>
            <a:r>
              <a:rPr lang="en-US" altLang="zh-CN" sz="2800">
                <a:sym typeface="+mn-ea"/>
              </a:rPr>
              <a:t>通过在规定的业务剖面下运行软件系统，确认是否能够完成于业务剖面相关的任务：</a:t>
            </a:r>
            <a:endParaRPr lang="en-US" altLang="zh-CN" sz="2800"/>
          </a:p>
          <a:p>
            <a:pPr lvl="1" algn="l">
              <a:lnSpc>
                <a:spcPct val="130000"/>
              </a:lnSpc>
              <a:spcBef>
                <a:spcPts val="1000"/>
              </a:spcBef>
              <a:buClrTx/>
              <a:buSzTx/>
            </a:pPr>
            <a:r>
              <a:rPr lang="en-US" altLang="zh-CN">
                <a:sym typeface="+mn-ea"/>
              </a:rPr>
              <a:t>正确地完成规定的功能</a:t>
            </a:r>
            <a:endParaRPr lang="en-US" altLang="zh-CN"/>
          </a:p>
          <a:p>
            <a:pPr lvl="1" algn="l">
              <a:lnSpc>
                <a:spcPct val="130000"/>
              </a:lnSpc>
              <a:spcBef>
                <a:spcPts val="1000"/>
              </a:spcBef>
              <a:buClrTx/>
              <a:buSzTx/>
            </a:pPr>
            <a:r>
              <a:rPr lang="en-US" altLang="zh-CN">
                <a:sym typeface="+mn-ea"/>
              </a:rPr>
              <a:t>满足性能要求</a:t>
            </a:r>
            <a:endParaRPr lang="en-US" altLang="zh-CN"/>
          </a:p>
          <a:p>
            <a:pPr lvl="1" algn="l">
              <a:lnSpc>
                <a:spcPct val="130000"/>
              </a:lnSpc>
              <a:spcBef>
                <a:spcPts val="1000"/>
              </a:spcBef>
              <a:buClrTx/>
              <a:buSzTx/>
            </a:pPr>
            <a:r>
              <a:rPr lang="en-US" altLang="zh-CN">
                <a:sym typeface="+mn-ea"/>
              </a:rPr>
              <a:t>不完成没有规定的功能</a:t>
            </a:r>
            <a:endParaRPr lang="en-US" altLang="zh-CN"/>
          </a:p>
          <a:p>
            <a:pPr lvl="1" algn="l">
              <a:lnSpc>
                <a:spcPct val="130000"/>
              </a:lnSpc>
              <a:spcBef>
                <a:spcPts val="1000"/>
              </a:spcBef>
              <a:buClrTx/>
              <a:buSzTx/>
            </a:pPr>
            <a:r>
              <a:rPr lang="en-US" altLang="zh-CN">
                <a:sym typeface="+mn-ea"/>
              </a:rPr>
              <a:t>提供运行中的故障数据</a:t>
            </a:r>
            <a:endParaRPr lang="en-US" altLang="zh-CN"/>
          </a:p>
          <a:p>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normAutofit lnSpcReduction="10000"/>
          </a:bodyPr>
          <a:p>
            <a:pPr algn="l">
              <a:lnSpc>
                <a:spcPct val="130000"/>
              </a:lnSpc>
              <a:buClrTx/>
              <a:buSzTx/>
            </a:pPr>
            <a:r>
              <a:rPr lang="en-US" altLang="zh-CN" sz="2800">
                <a:sym typeface="+mn-ea"/>
              </a:rPr>
              <a:t>用户责任</a:t>
            </a:r>
            <a:r>
              <a:rPr lang="zh-CN" altLang="en-US" sz="2800">
                <a:sym typeface="+mn-ea"/>
              </a:rPr>
              <a:t>：</a:t>
            </a:r>
            <a:r>
              <a:rPr lang="en-US" altLang="zh-CN" sz="2800">
                <a:sym typeface="+mn-ea"/>
              </a:rPr>
              <a:t>用户要参与软件测试</a:t>
            </a:r>
            <a:endParaRPr lang="en-US" altLang="zh-CN" sz="2800"/>
          </a:p>
          <a:p>
            <a:pPr lvl="1" algn="l">
              <a:lnSpc>
                <a:spcPct val="130000"/>
              </a:lnSpc>
              <a:spcBef>
                <a:spcPts val="1000"/>
              </a:spcBef>
              <a:buClrTx/>
              <a:buSzTx/>
            </a:pPr>
            <a:r>
              <a:rPr lang="en-US" altLang="zh-CN">
                <a:sym typeface="+mn-ea"/>
              </a:rPr>
              <a:t>规定测试要求，如测试条件和环境</a:t>
            </a:r>
            <a:endParaRPr lang="en-US" altLang="zh-CN"/>
          </a:p>
          <a:p>
            <a:pPr lvl="1" algn="l">
              <a:lnSpc>
                <a:spcPct val="130000"/>
              </a:lnSpc>
              <a:spcBef>
                <a:spcPts val="1000"/>
              </a:spcBef>
              <a:buClrTx/>
              <a:buSzTx/>
            </a:pPr>
            <a:r>
              <a:rPr lang="en-US" altLang="zh-CN">
                <a:sym typeface="+mn-ea"/>
              </a:rPr>
              <a:t>评审和批准测试程序</a:t>
            </a:r>
            <a:endParaRPr lang="en-US" altLang="zh-CN"/>
          </a:p>
          <a:p>
            <a:pPr lvl="1" algn="l">
              <a:lnSpc>
                <a:spcPct val="130000"/>
              </a:lnSpc>
              <a:spcBef>
                <a:spcPts val="1000"/>
              </a:spcBef>
              <a:buClrTx/>
              <a:buSzTx/>
            </a:pPr>
            <a:r>
              <a:rPr lang="en-US" altLang="zh-CN">
                <a:sym typeface="+mn-ea"/>
              </a:rPr>
              <a:t>评审和批准每一需求的认证方法和技术</a:t>
            </a:r>
            <a:endParaRPr lang="en-US" altLang="zh-CN"/>
          </a:p>
          <a:p>
            <a:pPr lvl="1" algn="l">
              <a:lnSpc>
                <a:spcPct val="130000"/>
              </a:lnSpc>
              <a:spcBef>
                <a:spcPts val="1000"/>
              </a:spcBef>
              <a:buClrTx/>
              <a:buSzTx/>
            </a:pPr>
            <a:r>
              <a:rPr lang="en-US" altLang="zh-CN">
                <a:sym typeface="+mn-ea"/>
              </a:rPr>
              <a:t>提供测试环境和人员</a:t>
            </a:r>
            <a:endParaRPr lang="en-US" altLang="zh-CN"/>
          </a:p>
          <a:p>
            <a:pPr lvl="1" algn="l">
              <a:lnSpc>
                <a:spcPct val="130000"/>
              </a:lnSpc>
              <a:spcBef>
                <a:spcPts val="1000"/>
              </a:spcBef>
              <a:buClrTx/>
              <a:buSzTx/>
            </a:pPr>
            <a:r>
              <a:rPr lang="zh-CN" altLang="en-US">
                <a:sym typeface="+mn-ea"/>
              </a:rPr>
              <a:t>要求</a:t>
            </a:r>
            <a:r>
              <a:rPr lang="en-US" altLang="zh-CN">
                <a:sym typeface="+mn-ea"/>
              </a:rPr>
              <a:t>组织独立的测试组织</a:t>
            </a:r>
            <a:endParaRPr lang="en-US" altLang="zh-CN"/>
          </a:p>
          <a:p>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p>
            <a:pPr algn="l">
              <a:buClrTx/>
              <a:buSzTx/>
            </a:pPr>
            <a:r>
              <a:rPr lang="en-US" altLang="zh-CN">
                <a:sym typeface="+mn-ea"/>
              </a:rPr>
              <a:t>测试准备：准备测试用例、测试程序并决定要使用的自动化测试工具</a:t>
            </a:r>
            <a:endParaRPr lang="en-US" altLang="zh-CN"/>
          </a:p>
          <a:p>
            <a:pPr lvl="1" algn="l">
              <a:buClrTx/>
              <a:buSzTx/>
            </a:pPr>
            <a:r>
              <a:rPr lang="en-US" altLang="zh-CN">
                <a:sym typeface="+mn-ea"/>
              </a:rPr>
              <a:t>测试用例设计须考虑可靠性定量要求和成本及效率，测试用例的数量和类型选择要与业务剖面及发生概率一致，且考虑到随机性</a:t>
            </a:r>
            <a:endParaRPr lang="en-US" altLang="zh-CN"/>
          </a:p>
          <a:p>
            <a:pPr lvl="1" algn="l">
              <a:buClrTx/>
              <a:buSzTx/>
            </a:pPr>
            <a:r>
              <a:rPr lang="en-US" altLang="zh-CN">
                <a:sym typeface="+mn-ea"/>
              </a:rPr>
              <a:t>测试程序与特定的业务剖面相关，要考虑发生概率</a:t>
            </a:r>
            <a:endParaRPr lang="en-US" altLang="zh-CN"/>
          </a:p>
          <a:p>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normAutofit/>
          </a:bodyPr>
          <a:p>
            <a:pPr algn="l">
              <a:buClrTx/>
              <a:buSzTx/>
            </a:pPr>
            <a:r>
              <a:rPr lang="en-US" altLang="zh-CN" sz="2800">
                <a:sym typeface="+mn-ea"/>
              </a:rPr>
              <a:t>测试执行：从性能测试开始进行</a:t>
            </a:r>
            <a:r>
              <a:rPr lang="zh-CN" altLang="en-US" sz="2800">
                <a:sym typeface="+mn-ea"/>
              </a:rPr>
              <a:t>负载</a:t>
            </a:r>
            <a:r>
              <a:rPr lang="en-US" altLang="zh-CN" sz="2800">
                <a:sym typeface="+mn-ea"/>
              </a:rPr>
              <a:t>测试，要考虑业务剖面和运行模式已分配执行时间和测试用例</a:t>
            </a:r>
            <a:endParaRPr lang="en-US" altLang="zh-CN" sz="2800"/>
          </a:p>
          <a:p>
            <a:pPr lvl="1" algn="l">
              <a:buClrTx/>
              <a:buSzTx/>
            </a:pPr>
            <a:r>
              <a:rPr lang="en-US" altLang="zh-CN" sz="2400">
                <a:sym typeface="+mn-ea"/>
              </a:rPr>
              <a:t>测试执行过程需进行故障识别，记录故障发生时间和严重性</a:t>
            </a:r>
            <a:endParaRPr lang="en-US" altLang="zh-CN" sz="2400"/>
          </a:p>
          <a:p>
            <a:pPr lvl="1" algn="l">
              <a:buClrTx/>
              <a:buSzTx/>
            </a:pPr>
            <a:r>
              <a:rPr lang="en-US" altLang="zh-CN" sz="2400">
                <a:sym typeface="+mn-ea"/>
              </a:rPr>
              <a:t>对于发现的故障，需要填写故障报告：</a:t>
            </a:r>
            <a:endParaRPr lang="en-US" altLang="zh-CN" sz="2400"/>
          </a:p>
          <a:p>
            <a:pPr lvl="2" algn="l">
              <a:spcBef>
                <a:spcPts val="1000"/>
              </a:spcBef>
              <a:buClrTx/>
              <a:buSzTx/>
            </a:pPr>
            <a:r>
              <a:rPr lang="en-US" altLang="zh-CN" sz="2325">
                <a:sym typeface="+mn-ea"/>
              </a:rPr>
              <a:t>引发故障的缺陷什么时候、在那里出现？原因是什么？</a:t>
            </a:r>
            <a:endParaRPr lang="en-US" altLang="zh-CN" sz="2325">
              <a:sym typeface="+mn-ea"/>
            </a:endParaRPr>
          </a:p>
          <a:p>
            <a:pPr lvl="2" algn="l">
              <a:spcBef>
                <a:spcPts val="1000"/>
              </a:spcBef>
              <a:buClrTx/>
              <a:buSzTx/>
            </a:pPr>
            <a:r>
              <a:rPr lang="en-US" altLang="zh-CN" sz="2325">
                <a:sym typeface="+mn-ea"/>
              </a:rPr>
              <a:t>如何定位？什么时候该定位被确认？</a:t>
            </a:r>
            <a:endParaRPr lang="en-US" altLang="zh-CN" sz="2325"/>
          </a:p>
          <a:p>
            <a:pPr lvl="2" algn="l">
              <a:spcBef>
                <a:spcPts val="1000"/>
              </a:spcBef>
              <a:buClrTx/>
              <a:buSzTx/>
            </a:pPr>
            <a:r>
              <a:rPr lang="en-US" altLang="zh-CN" sz="2325">
                <a:sym typeface="+mn-ea"/>
              </a:rPr>
              <a:t>要进行的修改有哪些？</a:t>
            </a:r>
            <a:endParaRPr lang="en-US" altLang="zh-CN" sz="2325"/>
          </a:p>
          <a:p>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p>
            <a:pPr algn="l">
              <a:buClrTx/>
              <a:buSzTx/>
            </a:pPr>
            <a:r>
              <a:rPr lang="en-US" altLang="zh-CN">
                <a:sym typeface="+mn-ea"/>
              </a:rPr>
              <a:t>测试结果的应用</a:t>
            </a:r>
            <a:endParaRPr lang="en-US" altLang="zh-CN"/>
          </a:p>
          <a:p>
            <a:pPr lvl="1" algn="l">
              <a:buClrTx/>
              <a:buSzTx/>
            </a:pPr>
            <a:r>
              <a:rPr lang="en-US" altLang="zh-CN">
                <a:sym typeface="+mn-ea"/>
              </a:rPr>
              <a:t>用户根据测试结果评估可靠性并进行决策</a:t>
            </a:r>
            <a:endParaRPr lang="en-US" altLang="zh-CN"/>
          </a:p>
          <a:p>
            <a:pPr lvl="1" algn="l">
              <a:buClrTx/>
              <a:buSzTx/>
            </a:pPr>
            <a:r>
              <a:rPr lang="en-US" altLang="zh-CN">
                <a:sym typeface="+mn-ea"/>
              </a:rPr>
              <a:t>开发者由此产生软件更新需求，或者改进过程和设计</a:t>
            </a:r>
            <a:endParaRPr lang="en-US" altLang="zh-CN"/>
          </a:p>
          <a:p>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7.1</a:t>
            </a:r>
            <a:r>
              <a:rPr lang="en-US" altLang="zh-CN">
                <a:solidFill>
                  <a:srgbClr val="C00000"/>
                </a:solidFill>
                <a:latin typeface="Times New Roman" panose="02020603050405020304" pitchFamily="18" charset="0"/>
                <a:cs typeface="Times New Roman" panose="02020603050405020304" pitchFamily="18" charset="0"/>
                <a:sym typeface="+mn-ea"/>
              </a:rPr>
              <a:t> 软件</a:t>
            </a:r>
            <a:r>
              <a:rPr lang="zh-CN" altLang="en-US">
                <a:solidFill>
                  <a:srgbClr val="C00000"/>
                </a:solidFill>
                <a:latin typeface="Times New Roman" panose="02020603050405020304" pitchFamily="18" charset="0"/>
                <a:cs typeface="Times New Roman" panose="02020603050405020304" pitchFamily="18" charset="0"/>
                <a:sym typeface="+mn-ea"/>
              </a:rPr>
              <a:t>可靠性测试</a:t>
            </a:r>
            <a:endParaRPr lang="zh-CN" altLang="en-US"/>
          </a:p>
        </p:txBody>
      </p:sp>
      <p:sp>
        <p:nvSpPr>
          <p:cNvPr id="3" name="内容占位符 2"/>
          <p:cNvSpPr>
            <a:spLocks noGrp="1"/>
          </p:cNvSpPr>
          <p:nvPr>
            <p:ph idx="1"/>
          </p:nvPr>
        </p:nvSpPr>
        <p:spPr/>
        <p:txBody>
          <a:bodyPr/>
          <a:p>
            <a:pPr algn="l">
              <a:buClrTx/>
              <a:buSzTx/>
            </a:pPr>
            <a:r>
              <a:rPr lang="en-US" altLang="zh-CN" sz="2800">
                <a:sym typeface="+mn-ea"/>
              </a:rPr>
              <a:t>需要注意的问题</a:t>
            </a:r>
            <a:r>
              <a:rPr lang="zh-CN" altLang="en-US" sz="2800">
                <a:sym typeface="+mn-ea"/>
              </a:rPr>
              <a:t>：</a:t>
            </a:r>
            <a:endParaRPr lang="en-US" altLang="zh-CN" sz="2800"/>
          </a:p>
          <a:p>
            <a:pPr lvl="1" algn="l">
              <a:spcBef>
                <a:spcPts val="1000"/>
              </a:spcBef>
              <a:buClrTx/>
              <a:buSzTx/>
            </a:pPr>
            <a:r>
              <a:rPr lang="en-US" altLang="zh-CN">
                <a:sym typeface="+mn-ea"/>
              </a:rPr>
              <a:t>测试人员独立于开发者的程度将影响测试结果</a:t>
            </a:r>
            <a:endParaRPr lang="en-US" altLang="zh-CN"/>
          </a:p>
          <a:p>
            <a:pPr lvl="1" algn="l">
              <a:spcBef>
                <a:spcPts val="1000"/>
              </a:spcBef>
              <a:buClrTx/>
              <a:buSzTx/>
            </a:pPr>
            <a:r>
              <a:rPr lang="en-US" altLang="zh-CN">
                <a:sym typeface="+mn-ea"/>
              </a:rPr>
              <a:t>测试时间计划不周会导致在开发过程后期发现缺陷的风险增加</a:t>
            </a:r>
            <a:endParaRPr lang="en-US" altLang="zh-CN"/>
          </a:p>
          <a:p>
            <a:pPr lvl="1" algn="l">
              <a:spcBef>
                <a:spcPts val="1000"/>
              </a:spcBef>
              <a:buClrTx/>
              <a:buSzTx/>
            </a:pPr>
            <a:r>
              <a:rPr lang="en-US" altLang="zh-CN">
                <a:sym typeface="+mn-ea"/>
              </a:rPr>
              <a:t>测试等级及相应的测试时间分配选择不</a:t>
            </a:r>
            <a:r>
              <a:rPr lang="zh-CN" altLang="en-US">
                <a:sym typeface="+mn-ea"/>
              </a:rPr>
              <a:t>当，</a:t>
            </a:r>
            <a:r>
              <a:rPr lang="en-US" altLang="zh-CN">
                <a:sym typeface="+mn-ea"/>
              </a:rPr>
              <a:t>将不能保证在不牺牲质量的前提下降低成本</a:t>
            </a:r>
            <a:endParaRPr lang="en-US" altLang="zh-CN"/>
          </a:p>
          <a:p>
            <a:pPr lvl="1" algn="l">
              <a:spcBef>
                <a:spcPts val="1000"/>
              </a:spcBef>
              <a:buClrTx/>
              <a:buSzTx/>
            </a:pPr>
            <a:r>
              <a:rPr lang="en-US" altLang="zh-CN">
                <a:sym typeface="+mn-ea"/>
              </a:rPr>
              <a:t>测试工具的选择将影响测试效率和完整性</a:t>
            </a:r>
            <a:endParaRPr lang="en-US" altLang="zh-CN"/>
          </a:p>
          <a:p>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7.2 软件可靠性增长测试</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rmAutofit fontScale="85000"/>
          </a:bodyPr>
          <a:p>
            <a:r>
              <a:rPr lang="en-US" altLang="zh-CN"/>
              <a:t>软件可靠性增长实验的定义：在软件交付前进行,通过可靠性测试暴露软件缺陷</a:t>
            </a:r>
            <a:r>
              <a:rPr lang="zh-CN" altLang="en-US"/>
              <a:t>，</a:t>
            </a:r>
            <a:r>
              <a:rPr lang="en-US" altLang="zh-CN"/>
              <a:t>采取有效措施排除失效率较大的缺陷,以提高交付软件的可靠性。</a:t>
            </a:r>
            <a:endParaRPr lang="en-US" altLang="zh-CN"/>
          </a:p>
          <a:p>
            <a:r>
              <a:rPr lang="en-US" altLang="zh-CN"/>
              <a:t>软件可靠性增长实验的特点：</a:t>
            </a:r>
            <a:endParaRPr lang="en-US" altLang="zh-CN"/>
          </a:p>
          <a:p>
            <a:pPr lvl="1"/>
            <a:r>
              <a:rPr lang="en-US" altLang="zh-CN"/>
              <a:t>测试人员：通常由软件研制方而非使用方进行；</a:t>
            </a:r>
            <a:endParaRPr lang="en-US" altLang="zh-CN"/>
          </a:p>
          <a:p>
            <a:pPr lvl="1"/>
            <a:r>
              <a:rPr lang="en-US" altLang="zh-CN"/>
              <a:t>测试阶段：通常在软件测试阶段；</a:t>
            </a:r>
            <a:endParaRPr lang="en-US" altLang="zh-CN"/>
          </a:p>
          <a:p>
            <a:pPr lvl="1"/>
            <a:r>
              <a:rPr lang="en-US" altLang="zh-CN"/>
              <a:t>测试场所：一般在实验室内进行；</a:t>
            </a:r>
            <a:endParaRPr lang="en-US" altLang="zh-CN"/>
          </a:p>
          <a:p>
            <a:pPr lvl="1"/>
            <a:r>
              <a:rPr lang="en-US" altLang="zh-CN"/>
              <a:t>测试对象：软件产品研制的中后期，验证测试之前；</a:t>
            </a:r>
            <a:endParaRPr lang="en-US" altLang="zh-CN"/>
          </a:p>
          <a:p>
            <a:pPr lvl="1"/>
            <a:r>
              <a:rPr lang="en-US" altLang="zh-CN"/>
              <a:t>测试方法：基于操作剖面的随机测试方法；</a:t>
            </a:r>
            <a:endParaRPr lang="en-US" altLang="zh-CN"/>
          </a:p>
          <a:p>
            <a:pPr lvl="1"/>
            <a:r>
              <a:rPr lang="en-US" altLang="zh-CN"/>
              <a:t>测试特征：出现失效后即修改软件，并验证修正的正确性。</a:t>
            </a:r>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7.3 软件可靠性</a:t>
            </a:r>
            <a:r>
              <a:rPr lang="zh-CN" altLang="en-US">
                <a:solidFill>
                  <a:srgbClr val="C00000"/>
                </a:solidFill>
                <a:latin typeface="Times New Roman" panose="02020603050405020304" pitchFamily="18" charset="0"/>
                <a:cs typeface="Times New Roman" panose="02020603050405020304" pitchFamily="18" charset="0"/>
                <a:sym typeface="+mn-ea"/>
              </a:rPr>
              <a:t>验证</a:t>
            </a:r>
            <a:r>
              <a:rPr lang="en-US" altLang="zh-CN">
                <a:solidFill>
                  <a:srgbClr val="C00000"/>
                </a:solidFill>
                <a:latin typeface="Times New Roman" panose="02020603050405020304" pitchFamily="18" charset="0"/>
                <a:cs typeface="Times New Roman" panose="02020603050405020304" pitchFamily="18" charset="0"/>
                <a:sym typeface="+mn-ea"/>
              </a:rPr>
              <a:t>测试</a:t>
            </a:r>
            <a:endParaRPr lang="zh-CN" altLang="en-US"/>
          </a:p>
        </p:txBody>
      </p:sp>
      <p:sp>
        <p:nvSpPr>
          <p:cNvPr id="3" name="内容占位符 2"/>
          <p:cNvSpPr>
            <a:spLocks noGrp="1"/>
          </p:cNvSpPr>
          <p:nvPr>
            <p:ph idx="1"/>
          </p:nvPr>
        </p:nvSpPr>
        <p:spPr/>
        <p:txBody>
          <a:bodyPr>
            <a:normAutofit fontScale="85000"/>
          </a:bodyPr>
          <a:p>
            <a:r>
              <a:rPr lang="zh-CN" altLang="en-US"/>
              <a:t>软件可靠性验证实验的定义：验证在给定置信水平下，软件的可靠性水平是否达到规定的可靠性指标的要求，验证结果是软件定型的依据。相当于硬件可靠性鉴定试验，两者都是统计实验。</a:t>
            </a:r>
            <a:endParaRPr lang="zh-CN" altLang="en-US"/>
          </a:p>
          <a:p>
            <a:r>
              <a:rPr lang="zh-CN" altLang="en-US"/>
              <a:t>软件可靠性验证实验的特点：</a:t>
            </a:r>
            <a:endParaRPr lang="zh-CN" altLang="en-US"/>
          </a:p>
          <a:p>
            <a:pPr lvl="1"/>
            <a:r>
              <a:rPr lang="zh-CN" altLang="en-US"/>
              <a:t>测试人员：通常由使用方参加测试；</a:t>
            </a:r>
            <a:endParaRPr lang="zh-CN" altLang="en-US"/>
          </a:p>
          <a:p>
            <a:pPr lvl="1"/>
            <a:r>
              <a:rPr lang="zh-CN" altLang="en-US"/>
              <a:t>测试阶段：软件确认(定型或验收)阶段；</a:t>
            </a:r>
            <a:endParaRPr lang="zh-CN" altLang="en-US"/>
          </a:p>
          <a:p>
            <a:pPr lvl="1"/>
            <a:r>
              <a:rPr lang="zh-CN" altLang="en-US"/>
              <a:t>测试对象：软件产品的最终版本；</a:t>
            </a:r>
            <a:endParaRPr lang="zh-CN" altLang="en-US"/>
          </a:p>
          <a:p>
            <a:pPr lvl="1"/>
            <a:r>
              <a:rPr lang="zh-CN" altLang="en-US"/>
              <a:t>测试方法：基于软件操作剖面的随机测试方法；</a:t>
            </a:r>
            <a:endParaRPr lang="zh-CN" altLang="en-US"/>
          </a:p>
          <a:p>
            <a:pPr lvl="1"/>
            <a:r>
              <a:rPr lang="zh-CN" altLang="en-US"/>
              <a:t>测试特征：不进行软件缺陷的剔除。</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sym typeface="+mn-ea"/>
              </a:rPr>
              <a:t>7.4 软件可靠性</a:t>
            </a:r>
            <a:r>
              <a:rPr lang="zh-CN" altLang="en-US">
                <a:solidFill>
                  <a:srgbClr val="C00000"/>
                </a:solidFill>
                <a:latin typeface="Times New Roman" panose="02020603050405020304" pitchFamily="18" charset="0"/>
                <a:cs typeface="Times New Roman" panose="02020603050405020304" pitchFamily="18" charset="0"/>
                <a:sym typeface="+mn-ea"/>
              </a:rPr>
              <a:t>验证</a:t>
            </a:r>
            <a:r>
              <a:rPr lang="en-US" altLang="zh-CN">
                <a:solidFill>
                  <a:srgbClr val="C00000"/>
                </a:solidFill>
                <a:latin typeface="Times New Roman" panose="02020603050405020304" pitchFamily="18" charset="0"/>
                <a:cs typeface="Times New Roman" panose="02020603050405020304" pitchFamily="18" charset="0"/>
                <a:sym typeface="+mn-ea"/>
              </a:rPr>
              <a:t>测试</a:t>
            </a:r>
            <a:endParaRPr lang="zh-CN" altLang="en-US"/>
          </a:p>
        </p:txBody>
      </p:sp>
      <p:sp>
        <p:nvSpPr>
          <p:cNvPr id="3" name="内容占位符 2"/>
          <p:cNvSpPr>
            <a:spLocks noGrp="1"/>
          </p:cNvSpPr>
          <p:nvPr>
            <p:ph idx="1"/>
          </p:nvPr>
        </p:nvSpPr>
        <p:spPr/>
        <p:txBody>
          <a:bodyPr/>
          <a:lstStyle/>
          <a:p>
            <a:pPr>
              <a:lnSpc>
                <a:spcPct val="110000"/>
              </a:lnSpc>
            </a:pPr>
            <a:r>
              <a:rPr lang="zh-CN" altLang="en-US" sz="2400"/>
              <a:t>经过多年的测试理论与实践研究，人们发现要找出程序中的所有错误是不可能的，现实的解决办法是尽可能</a:t>
            </a:r>
            <a:r>
              <a:rPr lang="zh-CN" altLang="en-US" sz="2400">
                <a:solidFill>
                  <a:srgbClr val="FF0000"/>
                </a:solidFill>
              </a:rPr>
              <a:t>缩小错误搜索的范围</a:t>
            </a:r>
            <a:r>
              <a:rPr lang="zh-CN" altLang="en-US" sz="2400"/>
              <a:t>，这样做的好处是，便于集中目标于对软件危害较大的错误，暂时忽略危害较小的错误，以此取得较高的测试效率，降低测试成本。</a:t>
            </a:r>
            <a:endParaRPr lang="zh-CN" altLang="en-US" sz="2400"/>
          </a:p>
          <a:p>
            <a:pPr>
              <a:lnSpc>
                <a:spcPct val="110000"/>
              </a:lnSpc>
            </a:pPr>
            <a:r>
              <a:rPr lang="zh-CN" altLang="en-US" sz="2400">
                <a:solidFill>
                  <a:srgbClr val="FF0000"/>
                </a:solidFill>
              </a:rPr>
              <a:t>程序变异</a:t>
            </a:r>
            <a:r>
              <a:rPr lang="zh-CN" altLang="en-US" sz="2400"/>
              <a:t>是一种</a:t>
            </a:r>
            <a:r>
              <a:rPr lang="zh-CN" altLang="en-US" sz="2400">
                <a:solidFill>
                  <a:srgbClr val="0000FF"/>
                </a:solidFill>
              </a:rPr>
              <a:t>错误驱动测试</a:t>
            </a:r>
            <a:r>
              <a:rPr lang="zh-CN" altLang="en-US" sz="2400"/>
              <a:t>，是针对某种类型的特定程序错误而提出来的。</a:t>
            </a:r>
            <a:endParaRPr lang="en-US" altLang="zh-CN" sz="2400"/>
          </a:p>
          <a:p>
            <a:pPr>
              <a:lnSpc>
                <a:spcPct val="110000"/>
              </a:lnSpc>
            </a:pPr>
            <a:r>
              <a:rPr lang="zh-CN" altLang="en-US" sz="2400"/>
              <a:t>程序变异测试的分类：</a:t>
            </a:r>
            <a:endParaRPr lang="zh-CN" altLang="en-US" sz="2400"/>
          </a:p>
          <a:p>
            <a:pPr lvl="1">
              <a:lnSpc>
                <a:spcPct val="110000"/>
              </a:lnSpc>
              <a:buNone/>
            </a:pPr>
            <a:r>
              <a:rPr lang="zh-CN" altLang="en-US" sz="2200"/>
              <a:t>（</a:t>
            </a:r>
            <a:r>
              <a:rPr lang="en-US" altLang="zh-CN" sz="2200"/>
              <a:t>1</a:t>
            </a:r>
            <a:r>
              <a:rPr lang="zh-CN" altLang="en-US" sz="2200"/>
              <a:t>）程序</a:t>
            </a:r>
            <a:r>
              <a:rPr lang="zh-CN" altLang="en-US" sz="2200" b="1">
                <a:solidFill>
                  <a:srgbClr val="0000FF"/>
                </a:solidFill>
              </a:rPr>
              <a:t>强变异</a:t>
            </a:r>
            <a:r>
              <a:rPr lang="zh-CN" altLang="en-US" sz="2200"/>
              <a:t>测试（通常称：程序变异）</a:t>
            </a:r>
            <a:endParaRPr lang="zh-CN" altLang="en-US" sz="2200"/>
          </a:p>
          <a:p>
            <a:pPr lvl="1">
              <a:lnSpc>
                <a:spcPct val="110000"/>
              </a:lnSpc>
              <a:buNone/>
            </a:pPr>
            <a:r>
              <a:rPr lang="zh-CN" altLang="en-US" sz="2200"/>
              <a:t>（</a:t>
            </a:r>
            <a:r>
              <a:rPr lang="en-US" altLang="zh-CN" sz="2200"/>
              <a:t>2</a:t>
            </a:r>
            <a:r>
              <a:rPr lang="zh-CN" altLang="en-US" sz="2200"/>
              <a:t>）程序</a:t>
            </a:r>
            <a:r>
              <a:rPr lang="zh-CN" altLang="en-US" sz="2200" b="1">
                <a:solidFill>
                  <a:srgbClr val="0000FF"/>
                </a:solidFill>
              </a:rPr>
              <a:t>弱变异</a:t>
            </a:r>
            <a:r>
              <a:rPr lang="zh-CN" altLang="en-US" sz="2200"/>
              <a:t>测试</a:t>
            </a:r>
            <a:endParaRPr lang="zh-CN" altLang="en-US" sz="2200"/>
          </a:p>
          <a:p>
            <a:pPr>
              <a:lnSpc>
                <a:spcPct val="110000"/>
              </a:lnSpc>
            </a:pP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程序变异思想</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744855" y="1347470"/>
            <a:ext cx="10366375" cy="5105400"/>
          </a:xfrm>
        </p:spPr>
        <p:txBody>
          <a:bodyPr/>
          <a:lstStyle/>
          <a:p>
            <a:pPr>
              <a:lnSpc>
                <a:spcPct val="110000"/>
              </a:lnSpc>
            </a:pPr>
            <a:r>
              <a:rPr lang="zh-CN" altLang="en-US" sz="2400"/>
              <a:t>程序变异（</a:t>
            </a:r>
            <a:r>
              <a:rPr lang="en-US" altLang="zh-CN" sz="2400"/>
              <a:t>Program Mutation</a:t>
            </a:r>
            <a:r>
              <a:rPr lang="zh-CN" altLang="en-US" sz="2400"/>
              <a:t>）测试技术的基本思想是：</a:t>
            </a:r>
            <a:endParaRPr lang="en-US" altLang="zh-CN" sz="2400"/>
          </a:p>
          <a:p>
            <a:pPr lvl="1">
              <a:lnSpc>
                <a:spcPct val="110000"/>
              </a:lnSpc>
            </a:pPr>
            <a:r>
              <a:rPr lang="zh-CN" altLang="en-US" smtClean="0">
                <a:solidFill>
                  <a:srgbClr val="0000FF"/>
                </a:solidFill>
              </a:rPr>
              <a:t>对于给定的程序</a:t>
            </a:r>
            <a:r>
              <a:rPr lang="en-US" altLang="zh-CN" smtClean="0">
                <a:solidFill>
                  <a:srgbClr val="0000FF"/>
                </a:solidFill>
              </a:rPr>
              <a:t>P</a:t>
            </a:r>
            <a:r>
              <a:rPr lang="zh-CN" altLang="en-US" smtClean="0">
                <a:solidFill>
                  <a:srgbClr val="0000FF"/>
                </a:solidFill>
              </a:rPr>
              <a:t>，先假定程序中存在一些小错误，每假设一个错误，程序</a:t>
            </a:r>
            <a:r>
              <a:rPr lang="en-US" altLang="zh-CN" smtClean="0">
                <a:solidFill>
                  <a:srgbClr val="0000FF"/>
                </a:solidFill>
              </a:rPr>
              <a:t>P</a:t>
            </a:r>
            <a:r>
              <a:rPr lang="zh-CN" altLang="en-US" smtClean="0">
                <a:solidFill>
                  <a:srgbClr val="0000FF"/>
                </a:solidFill>
              </a:rPr>
              <a:t>就变成</a:t>
            </a:r>
            <a:r>
              <a:rPr lang="en-US" altLang="zh-CN" smtClean="0">
                <a:solidFill>
                  <a:srgbClr val="0000FF"/>
                </a:solidFill>
              </a:rPr>
              <a:t>P′</a:t>
            </a:r>
            <a:r>
              <a:rPr lang="zh-CN" altLang="en-US" smtClean="0">
                <a:solidFill>
                  <a:srgbClr val="0000FF"/>
                </a:solidFill>
              </a:rPr>
              <a:t>，如果假设了</a:t>
            </a:r>
            <a:r>
              <a:rPr lang="en-US" altLang="zh-CN" smtClean="0">
                <a:solidFill>
                  <a:srgbClr val="0000FF"/>
                </a:solidFill>
              </a:rPr>
              <a:t>n</a:t>
            </a:r>
            <a:r>
              <a:rPr lang="zh-CN" altLang="en-US" smtClean="0">
                <a:solidFill>
                  <a:srgbClr val="0000FF"/>
                </a:solidFill>
              </a:rPr>
              <a:t>个错误：</a:t>
            </a:r>
            <a:r>
              <a:rPr lang="en-US" altLang="zh-CN" smtClean="0">
                <a:solidFill>
                  <a:srgbClr val="0000FF"/>
                </a:solidFill>
              </a:rPr>
              <a:t>e</a:t>
            </a:r>
            <a:r>
              <a:rPr lang="en-US" altLang="zh-CN" baseline="-25000" smtClean="0">
                <a:solidFill>
                  <a:srgbClr val="0000FF"/>
                </a:solidFill>
              </a:rPr>
              <a:t>1</a:t>
            </a:r>
            <a:r>
              <a:rPr lang="zh-CN" altLang="en-US" smtClean="0">
                <a:solidFill>
                  <a:srgbClr val="0000FF"/>
                </a:solidFill>
              </a:rPr>
              <a:t>，</a:t>
            </a:r>
            <a:r>
              <a:rPr lang="en-US" altLang="zh-CN" smtClean="0">
                <a:solidFill>
                  <a:srgbClr val="0000FF"/>
                </a:solidFill>
              </a:rPr>
              <a:t>e</a:t>
            </a:r>
            <a:r>
              <a:rPr lang="en-US" altLang="zh-CN" baseline="-25000" smtClean="0">
                <a:solidFill>
                  <a:srgbClr val="0000FF"/>
                </a:solidFill>
              </a:rPr>
              <a:t>2</a:t>
            </a:r>
            <a:r>
              <a:rPr lang="zh-CN" altLang="en-US" smtClean="0">
                <a:solidFill>
                  <a:srgbClr val="0000FF"/>
                </a:solidFill>
              </a:rPr>
              <a:t>，</a:t>
            </a:r>
            <a:r>
              <a:rPr lang="en-US" altLang="zh-CN" smtClean="0">
                <a:solidFill>
                  <a:srgbClr val="0000FF"/>
                </a:solidFill>
                <a:latin typeface="华文楷体" panose="02010600040101010101" pitchFamily="2" charset="-122"/>
              </a:rPr>
              <a:t>…</a:t>
            </a:r>
            <a:r>
              <a:rPr lang="zh-CN" altLang="en-US" smtClean="0">
                <a:solidFill>
                  <a:srgbClr val="0000FF"/>
                </a:solidFill>
              </a:rPr>
              <a:t>，</a:t>
            </a:r>
            <a:r>
              <a:rPr lang="en-US" altLang="zh-CN" smtClean="0">
                <a:solidFill>
                  <a:srgbClr val="0000FF"/>
                </a:solidFill>
              </a:rPr>
              <a:t>e</a:t>
            </a:r>
            <a:r>
              <a:rPr lang="en-US" altLang="zh-CN" baseline="-25000" smtClean="0">
                <a:solidFill>
                  <a:srgbClr val="0000FF"/>
                </a:solidFill>
              </a:rPr>
              <a:t>n</a:t>
            </a:r>
            <a:r>
              <a:rPr lang="zh-CN" altLang="en-US" smtClean="0">
                <a:solidFill>
                  <a:srgbClr val="0000FF"/>
                </a:solidFill>
              </a:rPr>
              <a:t>，则对应有</a:t>
            </a:r>
            <a:r>
              <a:rPr lang="en-US" altLang="zh-CN" smtClean="0">
                <a:solidFill>
                  <a:srgbClr val="0000FF"/>
                </a:solidFill>
              </a:rPr>
              <a:t>n</a:t>
            </a:r>
            <a:r>
              <a:rPr lang="zh-CN" altLang="en-US" smtClean="0">
                <a:solidFill>
                  <a:srgbClr val="0000FF"/>
                </a:solidFill>
              </a:rPr>
              <a:t>个不同的程序：</a:t>
            </a:r>
            <a:r>
              <a:rPr lang="en-US" altLang="zh-CN" smtClean="0">
                <a:solidFill>
                  <a:srgbClr val="0000FF"/>
                </a:solidFill>
              </a:rPr>
              <a:t>P</a:t>
            </a:r>
            <a:r>
              <a:rPr lang="en-US" altLang="zh-CN" baseline="-25000" smtClean="0">
                <a:solidFill>
                  <a:srgbClr val="0000FF"/>
                </a:solidFill>
              </a:rPr>
              <a:t>1</a:t>
            </a:r>
            <a:r>
              <a:rPr lang="zh-CN" altLang="en-US" smtClean="0">
                <a:solidFill>
                  <a:srgbClr val="0000FF"/>
                </a:solidFill>
              </a:rPr>
              <a:t>，</a:t>
            </a:r>
            <a:r>
              <a:rPr lang="en-US" altLang="zh-CN" smtClean="0">
                <a:solidFill>
                  <a:srgbClr val="0000FF"/>
                </a:solidFill>
              </a:rPr>
              <a:t>P</a:t>
            </a:r>
            <a:r>
              <a:rPr lang="en-US" altLang="zh-CN" baseline="-25000" smtClean="0">
                <a:solidFill>
                  <a:srgbClr val="0000FF"/>
                </a:solidFill>
              </a:rPr>
              <a:t>2</a:t>
            </a:r>
            <a:r>
              <a:rPr lang="zh-CN" altLang="en-US" smtClean="0">
                <a:solidFill>
                  <a:srgbClr val="0000FF"/>
                </a:solidFill>
              </a:rPr>
              <a:t>，</a:t>
            </a:r>
            <a:r>
              <a:rPr lang="en-US" altLang="zh-CN" smtClean="0">
                <a:solidFill>
                  <a:srgbClr val="0000FF"/>
                </a:solidFill>
                <a:latin typeface="华文楷体" panose="02010600040101010101" pitchFamily="2" charset="-122"/>
              </a:rPr>
              <a:t>…</a:t>
            </a:r>
            <a:r>
              <a:rPr lang="zh-CN" altLang="en-US" smtClean="0">
                <a:solidFill>
                  <a:srgbClr val="0000FF"/>
                </a:solidFill>
              </a:rPr>
              <a:t>，</a:t>
            </a:r>
            <a:r>
              <a:rPr lang="en-US" altLang="zh-CN" smtClean="0">
                <a:solidFill>
                  <a:srgbClr val="0000FF"/>
                </a:solidFill>
              </a:rPr>
              <a:t>P</a:t>
            </a:r>
            <a:r>
              <a:rPr lang="en-US" altLang="zh-CN" baseline="-25000" smtClean="0">
                <a:solidFill>
                  <a:srgbClr val="0000FF"/>
                </a:solidFill>
              </a:rPr>
              <a:t>n</a:t>
            </a:r>
            <a:r>
              <a:rPr lang="zh-CN" altLang="en-US" smtClean="0">
                <a:solidFill>
                  <a:srgbClr val="0000FF"/>
                </a:solidFill>
              </a:rPr>
              <a:t>，这里</a:t>
            </a:r>
            <a:r>
              <a:rPr lang="en-US" altLang="zh-CN" smtClean="0">
                <a:solidFill>
                  <a:srgbClr val="0000FF"/>
                </a:solidFill>
              </a:rPr>
              <a:t>P</a:t>
            </a:r>
            <a:r>
              <a:rPr lang="en-US" altLang="zh-CN" baseline="-25000" smtClean="0">
                <a:solidFill>
                  <a:srgbClr val="0000FF"/>
                </a:solidFill>
              </a:rPr>
              <a:t>i</a:t>
            </a:r>
            <a:r>
              <a:rPr lang="zh-CN" altLang="en-US" smtClean="0">
                <a:solidFill>
                  <a:srgbClr val="0000FF"/>
                </a:solidFill>
              </a:rPr>
              <a:t>称为</a:t>
            </a:r>
            <a:r>
              <a:rPr lang="en-US" altLang="zh-CN" smtClean="0">
                <a:solidFill>
                  <a:srgbClr val="0000FF"/>
                </a:solidFill>
              </a:rPr>
              <a:t>P</a:t>
            </a:r>
            <a:r>
              <a:rPr lang="zh-CN" altLang="en-US" smtClean="0">
                <a:solidFill>
                  <a:srgbClr val="0000FF"/>
                </a:solidFill>
              </a:rPr>
              <a:t>的</a:t>
            </a:r>
            <a:r>
              <a:rPr lang="zh-CN" altLang="en-US" b="1" smtClean="0">
                <a:solidFill>
                  <a:srgbClr val="FF0000"/>
                </a:solidFill>
              </a:rPr>
              <a:t>变异因子或变异体</a:t>
            </a:r>
            <a:r>
              <a:rPr lang="zh-CN" altLang="en-US" smtClean="0">
                <a:solidFill>
                  <a:srgbClr val="0000FF"/>
                </a:solidFill>
              </a:rPr>
              <a:t>。</a:t>
            </a:r>
            <a:endParaRPr lang="en-US" altLang="zh-CN" smtClean="0">
              <a:solidFill>
                <a:srgbClr val="0000FF"/>
              </a:solidFill>
            </a:endParaRPr>
          </a:p>
          <a:p>
            <a:pPr>
              <a:lnSpc>
                <a:spcPct val="110000"/>
              </a:lnSpc>
            </a:pPr>
            <a:r>
              <a:rPr lang="zh-CN" altLang="en-US" sz="2400"/>
              <a:t>理论上，若</a:t>
            </a:r>
            <a:r>
              <a:rPr lang="en-US" altLang="zh-CN" sz="2400"/>
              <a:t>P</a:t>
            </a:r>
            <a:r>
              <a:rPr lang="zh-CN" altLang="en-US" sz="2400"/>
              <a:t>正确， </a:t>
            </a:r>
            <a:r>
              <a:rPr lang="en-US" altLang="zh-CN" sz="2400"/>
              <a:t>P</a:t>
            </a:r>
            <a:r>
              <a:rPr lang="en-US" altLang="zh-CN" sz="2400" baseline="-25000"/>
              <a:t>i</a:t>
            </a:r>
            <a:r>
              <a:rPr lang="zh-CN" altLang="en-US" sz="2400"/>
              <a:t>肯定错误，即存在测试数据</a:t>
            </a:r>
            <a:r>
              <a:rPr lang="en-US" altLang="zh-CN" sz="2400"/>
              <a:t>C</a:t>
            </a:r>
            <a:r>
              <a:rPr lang="en-US" altLang="zh-CN" sz="2400" baseline="-25000"/>
              <a:t>i</a:t>
            </a:r>
            <a:r>
              <a:rPr lang="zh-CN" altLang="en-US" sz="2400"/>
              <a:t>，使得</a:t>
            </a:r>
            <a:r>
              <a:rPr lang="en-US" altLang="zh-CN" sz="2400"/>
              <a:t>P</a:t>
            </a:r>
            <a:r>
              <a:rPr lang="zh-CN" altLang="en-US" sz="2400"/>
              <a:t>和</a:t>
            </a:r>
            <a:r>
              <a:rPr lang="en-US" altLang="zh-CN" sz="2400"/>
              <a:t>P</a:t>
            </a:r>
            <a:r>
              <a:rPr lang="en-US" altLang="zh-CN" sz="2400" baseline="-25000"/>
              <a:t>i</a:t>
            </a:r>
            <a:r>
              <a:rPr lang="zh-CN" altLang="en-US" sz="2400"/>
              <a:t>的输出结果是不同的。</a:t>
            </a:r>
            <a:endParaRPr lang="en-US" altLang="zh-CN" sz="2400"/>
          </a:p>
          <a:p>
            <a:pPr>
              <a:lnSpc>
                <a:spcPct val="110000"/>
              </a:lnSpc>
            </a:pPr>
            <a:r>
              <a:rPr lang="zh-CN" altLang="en-US" sz="2400"/>
              <a:t>因此，根据程序</a:t>
            </a:r>
            <a:r>
              <a:rPr lang="en-US" altLang="zh-CN" sz="2400"/>
              <a:t>P</a:t>
            </a:r>
            <a:r>
              <a:rPr lang="zh-CN" altLang="en-US" sz="2400"/>
              <a:t>和每个变异的程序，可以求得</a:t>
            </a:r>
            <a:r>
              <a:rPr lang="en-US" altLang="zh-CN" sz="2400"/>
              <a:t>P</a:t>
            </a:r>
            <a:r>
              <a:rPr lang="en-US" altLang="zh-CN" sz="2400" baseline="-25000"/>
              <a:t>1</a:t>
            </a:r>
            <a:r>
              <a:rPr lang="zh-CN" altLang="en-US" sz="2400"/>
              <a:t>，</a:t>
            </a:r>
            <a:r>
              <a:rPr lang="en-US" altLang="zh-CN" sz="2400"/>
              <a:t>P</a:t>
            </a:r>
            <a:r>
              <a:rPr lang="en-US" altLang="zh-CN" sz="2400" baseline="-25000"/>
              <a:t>2</a:t>
            </a:r>
            <a:r>
              <a:rPr lang="en-US" altLang="zh-CN" sz="2400">
                <a:latin typeface="华文楷体" panose="02010600040101010101" pitchFamily="2" charset="-122"/>
              </a:rPr>
              <a:t>…</a:t>
            </a:r>
            <a:r>
              <a:rPr lang="zh-CN" altLang="en-US" sz="2400"/>
              <a:t>，</a:t>
            </a:r>
            <a:r>
              <a:rPr lang="en-US" altLang="zh-CN" sz="2400"/>
              <a:t>P</a:t>
            </a:r>
            <a:r>
              <a:rPr lang="en-US" altLang="zh-CN" sz="2400" baseline="-25000"/>
              <a:t>n</a:t>
            </a:r>
            <a:r>
              <a:rPr lang="zh-CN" altLang="en-US" sz="2400"/>
              <a:t>的测试数据集</a:t>
            </a:r>
            <a:r>
              <a:rPr lang="en-US" altLang="zh-CN" sz="2400"/>
              <a:t>C={C</a:t>
            </a:r>
            <a:r>
              <a:rPr lang="en-US" altLang="zh-CN" sz="2400" baseline="-25000"/>
              <a:t>1</a:t>
            </a:r>
            <a:r>
              <a:rPr lang="zh-CN" altLang="en-US" sz="2400"/>
              <a:t>，</a:t>
            </a:r>
            <a:r>
              <a:rPr lang="en-US" altLang="zh-CN" sz="2400"/>
              <a:t>C</a:t>
            </a:r>
            <a:r>
              <a:rPr lang="en-US" altLang="zh-CN" sz="2400" baseline="-25000"/>
              <a:t>2</a:t>
            </a:r>
            <a:r>
              <a:rPr lang="zh-CN" altLang="en-US" sz="2400"/>
              <a:t>，</a:t>
            </a:r>
            <a:r>
              <a:rPr lang="en-US" altLang="zh-CN" sz="2400">
                <a:latin typeface="华文楷体" panose="02010600040101010101" pitchFamily="2" charset="-122"/>
              </a:rPr>
              <a:t>…</a:t>
            </a:r>
            <a:r>
              <a:rPr lang="zh-CN" altLang="en-US" sz="2400"/>
              <a:t>，</a:t>
            </a:r>
            <a:r>
              <a:rPr lang="en-US" altLang="zh-CN" sz="2400"/>
              <a:t>C</a:t>
            </a:r>
            <a:r>
              <a:rPr lang="en-US" altLang="zh-CN" sz="2400" baseline="-25000"/>
              <a:t>n</a:t>
            </a:r>
            <a:r>
              <a:rPr lang="en-US" altLang="zh-CN" sz="2400"/>
              <a:t>}</a:t>
            </a:r>
            <a:r>
              <a:rPr lang="zh-CN" altLang="en-US" sz="2400"/>
              <a:t>。运行</a:t>
            </a:r>
            <a:r>
              <a:rPr lang="en-US" altLang="zh-CN" sz="2400"/>
              <a:t>C</a:t>
            </a:r>
            <a:r>
              <a:rPr lang="zh-CN" altLang="en-US" sz="2400"/>
              <a:t>，如果对每一个</a:t>
            </a:r>
            <a:r>
              <a:rPr lang="en-US" altLang="zh-CN" sz="2400"/>
              <a:t>C</a:t>
            </a:r>
            <a:r>
              <a:rPr lang="en-US" altLang="zh-CN" sz="2400" baseline="-25000"/>
              <a:t>i</a:t>
            </a:r>
            <a:r>
              <a:rPr lang="zh-CN" altLang="en-US" sz="2400"/>
              <a:t>，</a:t>
            </a:r>
            <a:r>
              <a:rPr lang="en-US" altLang="zh-CN" sz="2400"/>
              <a:t>P</a:t>
            </a:r>
            <a:r>
              <a:rPr lang="zh-CN" altLang="en-US" sz="2400"/>
              <a:t>都是正确的，而</a:t>
            </a:r>
            <a:r>
              <a:rPr lang="en-US" altLang="zh-CN" sz="2400"/>
              <a:t>P</a:t>
            </a:r>
            <a:r>
              <a:rPr lang="en-US" altLang="zh-CN" sz="2400" baseline="-25000"/>
              <a:t>i</a:t>
            </a:r>
            <a:r>
              <a:rPr lang="zh-CN" altLang="en-US" sz="2400"/>
              <a:t>都是错误的，这说明</a:t>
            </a:r>
            <a:r>
              <a:rPr lang="en-US" altLang="zh-CN" sz="2400"/>
              <a:t>P</a:t>
            </a:r>
            <a:r>
              <a:rPr lang="zh-CN" altLang="en-US" sz="2400"/>
              <a:t>的正确性较高。如果对某个</a:t>
            </a:r>
            <a:r>
              <a:rPr lang="en-US" altLang="zh-CN" sz="2400"/>
              <a:t>C</a:t>
            </a:r>
            <a:r>
              <a:rPr lang="en-US" altLang="zh-CN" sz="2400" baseline="-25000"/>
              <a:t>i</a:t>
            </a:r>
            <a:r>
              <a:rPr lang="zh-CN" altLang="en-US" sz="2400"/>
              <a:t>，</a:t>
            </a:r>
            <a:r>
              <a:rPr lang="en-US" altLang="zh-CN" sz="2400"/>
              <a:t>P</a:t>
            </a:r>
            <a:r>
              <a:rPr lang="zh-CN" altLang="en-US" sz="2400"/>
              <a:t>是错误的，而</a:t>
            </a:r>
            <a:r>
              <a:rPr lang="en-US" altLang="zh-CN" sz="2400"/>
              <a:t>P</a:t>
            </a:r>
            <a:r>
              <a:rPr lang="en-US" altLang="zh-CN" sz="2400" baseline="-25000"/>
              <a:t>i</a:t>
            </a:r>
            <a:r>
              <a:rPr lang="zh-CN" altLang="en-US" sz="2400"/>
              <a:t>是正确的，这说明</a:t>
            </a:r>
            <a:r>
              <a:rPr lang="en-US" altLang="zh-CN" sz="2400"/>
              <a:t>P</a:t>
            </a:r>
            <a:r>
              <a:rPr lang="zh-CN" altLang="en-US" sz="2400"/>
              <a:t>存在错误，而错误就是</a:t>
            </a:r>
            <a:r>
              <a:rPr lang="en-US" altLang="zh-CN" sz="2400"/>
              <a:t>e</a:t>
            </a:r>
            <a:r>
              <a:rPr lang="en-US" altLang="zh-CN" sz="2400" baseline="-25000"/>
              <a:t>i</a:t>
            </a:r>
            <a:r>
              <a:rPr lang="zh-CN" altLang="en-US" sz="2400"/>
              <a:t>。</a:t>
            </a:r>
            <a:endParaRPr lang="zh-CN" altLang="en-US" sz="2400"/>
          </a:p>
          <a:p>
            <a:pPr>
              <a:lnSpc>
                <a:spcPct val="110000"/>
              </a:lnSpc>
            </a:pP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程序变异思想</a:t>
            </a:r>
            <a:endParaRPr lang="zh-CN" altLang="en-US"/>
          </a:p>
        </p:txBody>
      </p:sp>
      <p:sp>
        <p:nvSpPr>
          <p:cNvPr id="3" name="内容占位符 2"/>
          <p:cNvSpPr>
            <a:spLocks noGrp="1"/>
          </p:cNvSpPr>
          <p:nvPr>
            <p:ph idx="1"/>
          </p:nvPr>
        </p:nvSpPr>
        <p:spPr/>
        <p:txBody>
          <a:bodyPr/>
          <a:lstStyle/>
          <a:p>
            <a:pPr>
              <a:lnSpc>
                <a:spcPct val="120000"/>
              </a:lnSpc>
            </a:pPr>
            <a:r>
              <a:rPr lang="zh-CN" altLang="en-US" smtClean="0">
                <a:latin typeface="+mn-ea"/>
                <a:ea typeface="+mn-ea"/>
              </a:rPr>
              <a:t>给定一个程序</a:t>
            </a:r>
            <a:r>
              <a:rPr lang="en-US" altLang="zh-CN" smtClean="0">
                <a:latin typeface="+mn-ea"/>
                <a:ea typeface="+mn-ea"/>
              </a:rPr>
              <a:t>P</a:t>
            </a:r>
            <a:r>
              <a:rPr lang="zh-CN" altLang="en-US" smtClean="0">
                <a:latin typeface="+mn-ea"/>
                <a:ea typeface="+mn-ea"/>
              </a:rPr>
              <a:t>和一个测试数据集</a:t>
            </a:r>
            <a:r>
              <a:rPr lang="en-US" altLang="zh-CN" smtClean="0">
                <a:latin typeface="+mn-ea"/>
                <a:ea typeface="+mn-ea"/>
              </a:rPr>
              <a:t>T</a:t>
            </a:r>
            <a:r>
              <a:rPr lang="zh-CN" altLang="en-US" smtClean="0">
                <a:latin typeface="+mn-ea"/>
                <a:ea typeface="+mn-ea"/>
              </a:rPr>
              <a:t>，通过</a:t>
            </a:r>
            <a:r>
              <a:rPr lang="zh-CN" altLang="en-US" smtClean="0">
                <a:solidFill>
                  <a:srgbClr val="FF0000"/>
                </a:solidFill>
                <a:latin typeface="+mn-ea"/>
                <a:ea typeface="+mn-ea"/>
              </a:rPr>
              <a:t>变异算子</a:t>
            </a:r>
            <a:r>
              <a:rPr lang="zh-CN" altLang="en-US" smtClean="0">
                <a:latin typeface="+mn-ea"/>
                <a:ea typeface="+mn-ea"/>
              </a:rPr>
              <a:t>为</a:t>
            </a:r>
            <a:r>
              <a:rPr lang="en-US" altLang="zh-CN" smtClean="0">
                <a:latin typeface="+mn-ea"/>
                <a:ea typeface="+mn-ea"/>
              </a:rPr>
              <a:t>P</a:t>
            </a:r>
            <a:r>
              <a:rPr lang="zh-CN" altLang="en-US" smtClean="0">
                <a:latin typeface="+mn-ea"/>
                <a:ea typeface="+mn-ea"/>
              </a:rPr>
              <a:t>产生一组</a:t>
            </a:r>
            <a:r>
              <a:rPr lang="zh-CN" altLang="en-US" smtClean="0">
                <a:solidFill>
                  <a:srgbClr val="0000FF"/>
                </a:solidFill>
                <a:latin typeface="+mn-ea"/>
                <a:ea typeface="+mn-ea"/>
              </a:rPr>
              <a:t>变异体</a:t>
            </a:r>
            <a:r>
              <a:rPr lang="en-US" altLang="zh-CN" smtClean="0">
                <a:latin typeface="+mn-ea"/>
                <a:ea typeface="+mn-ea"/>
              </a:rPr>
              <a:t>M</a:t>
            </a:r>
            <a:r>
              <a:rPr lang="en-US" altLang="zh-CN" baseline="-25000" smtClean="0">
                <a:latin typeface="+mn-ea"/>
                <a:ea typeface="+mn-ea"/>
              </a:rPr>
              <a:t>i</a:t>
            </a:r>
            <a:r>
              <a:rPr lang="zh-CN" altLang="en-US" smtClean="0">
                <a:latin typeface="+mn-ea"/>
                <a:ea typeface="+mn-ea"/>
              </a:rPr>
              <a:t>（合乎语法的变更），对</a:t>
            </a:r>
            <a:r>
              <a:rPr lang="en-US" altLang="zh-CN" smtClean="0">
                <a:latin typeface="+mn-ea"/>
                <a:ea typeface="+mn-ea"/>
              </a:rPr>
              <a:t>P</a:t>
            </a:r>
            <a:r>
              <a:rPr lang="zh-CN" altLang="en-US" smtClean="0">
                <a:latin typeface="+mn-ea"/>
                <a:ea typeface="+mn-ea"/>
              </a:rPr>
              <a:t>和</a:t>
            </a:r>
            <a:r>
              <a:rPr lang="en-US" altLang="zh-CN" smtClean="0">
                <a:latin typeface="+mn-ea"/>
                <a:ea typeface="+mn-ea"/>
              </a:rPr>
              <a:t>M</a:t>
            </a:r>
            <a:r>
              <a:rPr lang="zh-CN" altLang="en-US" smtClean="0">
                <a:latin typeface="+mn-ea"/>
                <a:ea typeface="+mn-ea"/>
              </a:rPr>
              <a:t>都使用</a:t>
            </a:r>
            <a:r>
              <a:rPr lang="en-US" altLang="zh-CN" smtClean="0">
                <a:latin typeface="+mn-ea"/>
                <a:ea typeface="+mn-ea"/>
              </a:rPr>
              <a:t>T</a:t>
            </a:r>
            <a:r>
              <a:rPr lang="zh-CN" altLang="en-US" smtClean="0">
                <a:latin typeface="+mn-ea"/>
                <a:ea typeface="+mn-ea"/>
              </a:rPr>
              <a:t>进行测试运行。</a:t>
            </a:r>
            <a:endParaRPr lang="en-US" altLang="zh-CN" smtClean="0">
              <a:latin typeface="+mn-ea"/>
              <a:ea typeface="+mn-ea"/>
            </a:endParaRPr>
          </a:p>
          <a:p>
            <a:pPr>
              <a:lnSpc>
                <a:spcPct val="120000"/>
              </a:lnSpc>
            </a:pPr>
            <a:r>
              <a:rPr lang="zh-CN" altLang="en-US" smtClean="0">
                <a:latin typeface="+mn-ea"/>
                <a:ea typeface="+mn-ea"/>
              </a:rPr>
              <a:t>如果某</a:t>
            </a:r>
            <a:r>
              <a:rPr lang="en-US" altLang="zh-CN" smtClean="0">
                <a:latin typeface="+mn-ea"/>
                <a:ea typeface="+mn-ea"/>
              </a:rPr>
              <a:t>M</a:t>
            </a:r>
            <a:r>
              <a:rPr lang="en-US" altLang="zh-CN" baseline="-25000" smtClean="0">
                <a:latin typeface="+mn-ea"/>
                <a:ea typeface="+mn-ea"/>
              </a:rPr>
              <a:t>i</a:t>
            </a:r>
            <a:r>
              <a:rPr lang="zh-CN" altLang="en-US" smtClean="0">
                <a:latin typeface="+mn-ea"/>
                <a:ea typeface="+mn-ea"/>
              </a:rPr>
              <a:t>在某个测试输入</a:t>
            </a:r>
            <a:r>
              <a:rPr lang="en-US" altLang="zh-CN" smtClean="0">
                <a:latin typeface="+mn-ea"/>
                <a:ea typeface="+mn-ea"/>
              </a:rPr>
              <a:t>t</a:t>
            </a:r>
            <a:r>
              <a:rPr lang="zh-CN" altLang="en-US" smtClean="0">
                <a:latin typeface="+mn-ea"/>
                <a:ea typeface="+mn-ea"/>
              </a:rPr>
              <a:t>上与</a:t>
            </a:r>
            <a:r>
              <a:rPr lang="en-US" altLang="zh-CN" smtClean="0">
                <a:latin typeface="+mn-ea"/>
                <a:ea typeface="+mn-ea"/>
              </a:rPr>
              <a:t>P</a:t>
            </a:r>
            <a:r>
              <a:rPr lang="zh-CN" altLang="en-US" smtClean="0">
                <a:latin typeface="+mn-ea"/>
                <a:ea typeface="+mn-ea"/>
              </a:rPr>
              <a:t>产生不同的结果，则该</a:t>
            </a:r>
            <a:r>
              <a:rPr lang="en-US" altLang="zh-CN" smtClean="0">
                <a:latin typeface="+mn-ea"/>
                <a:ea typeface="+mn-ea"/>
              </a:rPr>
              <a:t>M</a:t>
            </a:r>
            <a:r>
              <a:rPr lang="en-US" altLang="zh-CN" baseline="-25000" smtClean="0">
                <a:latin typeface="+mn-ea"/>
                <a:ea typeface="+mn-ea"/>
              </a:rPr>
              <a:t>i</a:t>
            </a:r>
            <a:r>
              <a:rPr lang="zh-CN" altLang="en-US" smtClean="0">
                <a:latin typeface="+mn-ea"/>
                <a:ea typeface="+mn-ea"/>
              </a:rPr>
              <a:t>被</a:t>
            </a:r>
            <a:r>
              <a:rPr lang="zh-CN" altLang="en-US" smtClean="0">
                <a:solidFill>
                  <a:srgbClr val="0000FF"/>
                </a:solidFill>
                <a:latin typeface="+mn-ea"/>
                <a:ea typeface="+mn-ea"/>
              </a:rPr>
              <a:t>杀死</a:t>
            </a:r>
            <a:r>
              <a:rPr lang="zh-CN" altLang="en-US" smtClean="0">
                <a:latin typeface="+mn-ea"/>
                <a:ea typeface="+mn-ea"/>
              </a:rPr>
              <a:t>；若某</a:t>
            </a:r>
            <a:r>
              <a:rPr lang="en-US" altLang="zh-CN" smtClean="0">
                <a:latin typeface="+mn-ea"/>
                <a:ea typeface="+mn-ea"/>
              </a:rPr>
              <a:t>M</a:t>
            </a:r>
            <a:r>
              <a:rPr lang="en-US" altLang="zh-CN" baseline="-25000" smtClean="0">
                <a:latin typeface="+mn-ea"/>
                <a:ea typeface="+mn-ea"/>
              </a:rPr>
              <a:t>i</a:t>
            </a:r>
            <a:r>
              <a:rPr lang="zh-CN" altLang="en-US" smtClean="0">
                <a:latin typeface="+mn-ea"/>
                <a:ea typeface="+mn-ea"/>
              </a:rPr>
              <a:t>在所有的测试数据集上都与</a:t>
            </a:r>
            <a:r>
              <a:rPr lang="en-US" altLang="zh-CN" smtClean="0">
                <a:latin typeface="+mn-ea"/>
                <a:ea typeface="+mn-ea"/>
              </a:rPr>
              <a:t>P</a:t>
            </a:r>
            <a:r>
              <a:rPr lang="zh-CN" altLang="en-US" smtClean="0">
                <a:latin typeface="+mn-ea"/>
                <a:ea typeface="+mn-ea"/>
              </a:rPr>
              <a:t>产生相同的结果，则称其为</a:t>
            </a:r>
            <a:r>
              <a:rPr lang="zh-CN" altLang="en-US" smtClean="0">
                <a:solidFill>
                  <a:srgbClr val="0000FF"/>
                </a:solidFill>
                <a:latin typeface="+mn-ea"/>
                <a:ea typeface="+mn-ea"/>
              </a:rPr>
              <a:t>活的变异体</a:t>
            </a:r>
            <a:r>
              <a:rPr lang="zh-CN" altLang="en-US" smtClean="0">
                <a:latin typeface="+mn-ea"/>
                <a:ea typeface="+mn-ea"/>
              </a:rPr>
              <a:t>。</a:t>
            </a:r>
            <a:endParaRPr lang="en-US" altLang="zh-CN" smtClean="0">
              <a:latin typeface="+mn-ea"/>
              <a:ea typeface="+mn-ea"/>
            </a:endParaRPr>
          </a:p>
          <a:p>
            <a:pPr>
              <a:lnSpc>
                <a:spcPct val="120000"/>
              </a:lnSpc>
            </a:pPr>
            <a:r>
              <a:rPr lang="zh-CN" altLang="en-US" smtClean="0">
                <a:latin typeface="+mn-ea"/>
                <a:ea typeface="+mn-ea"/>
              </a:rPr>
              <a:t>接下来对活的变异体进行分析，检查其是否</a:t>
            </a:r>
            <a:r>
              <a:rPr lang="zh-CN" altLang="en-US" smtClean="0">
                <a:solidFill>
                  <a:srgbClr val="0000FF"/>
                </a:solidFill>
                <a:latin typeface="+mn-ea"/>
                <a:ea typeface="+mn-ea"/>
              </a:rPr>
              <a:t>等价</a:t>
            </a:r>
            <a:r>
              <a:rPr lang="zh-CN" altLang="en-US" smtClean="0">
                <a:latin typeface="+mn-ea"/>
                <a:ea typeface="+mn-ea"/>
              </a:rPr>
              <a:t>于</a:t>
            </a:r>
            <a:r>
              <a:rPr lang="en-US" altLang="zh-CN" smtClean="0">
                <a:latin typeface="+mn-ea"/>
                <a:ea typeface="+mn-ea"/>
              </a:rPr>
              <a:t>P</a:t>
            </a:r>
            <a:r>
              <a:rPr lang="zh-CN" altLang="en-US" smtClean="0">
                <a:latin typeface="+mn-ea"/>
                <a:ea typeface="+mn-ea"/>
              </a:rPr>
              <a:t>；对不等价于</a:t>
            </a:r>
            <a:r>
              <a:rPr lang="en-US" altLang="zh-CN" smtClean="0">
                <a:latin typeface="+mn-ea"/>
                <a:ea typeface="+mn-ea"/>
              </a:rPr>
              <a:t>P</a:t>
            </a:r>
            <a:r>
              <a:rPr lang="zh-CN" altLang="en-US" smtClean="0">
                <a:latin typeface="+mn-ea"/>
                <a:ea typeface="+mn-ea"/>
              </a:rPr>
              <a:t>的变异体</a:t>
            </a:r>
            <a:r>
              <a:rPr lang="en-US" altLang="zh-CN" smtClean="0">
                <a:latin typeface="+mn-ea"/>
                <a:ea typeface="+mn-ea"/>
              </a:rPr>
              <a:t>M</a:t>
            </a:r>
            <a:r>
              <a:rPr lang="zh-CN" altLang="en-US" smtClean="0">
                <a:latin typeface="+mn-ea"/>
                <a:ea typeface="+mn-ea"/>
              </a:rPr>
              <a:t>进行进一步的测试，直到</a:t>
            </a:r>
            <a:r>
              <a:rPr lang="zh-CN" altLang="en-US" smtClean="0">
                <a:solidFill>
                  <a:srgbClr val="0000FF"/>
                </a:solidFill>
                <a:latin typeface="+mn-ea"/>
                <a:ea typeface="+mn-ea"/>
              </a:rPr>
              <a:t>充分性度量</a:t>
            </a:r>
            <a:r>
              <a:rPr lang="zh-CN" altLang="en-US" smtClean="0">
                <a:latin typeface="+mn-ea"/>
                <a:ea typeface="+mn-ea"/>
              </a:rPr>
              <a:t>达到满意的程度。</a:t>
            </a:r>
            <a:endParaRPr lang="zh-CN" altLang="en-US" smtClean="0">
              <a:latin typeface="+mn-ea"/>
              <a:ea typeface="+mn-ea"/>
            </a:endParaRPr>
          </a:p>
          <a:p>
            <a:pPr>
              <a:lnSpc>
                <a:spcPct val="120000"/>
              </a:lnSpc>
            </a:pP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真假美猴王</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lvl="0">
              <a:lnSpc>
                <a:spcPct val="120000"/>
              </a:lnSpc>
            </a:pPr>
            <a:r>
              <a:rPr lang="zh-CN" altLang="zh-CN" dirty="0" smtClean="0"/>
              <a:t>在</a:t>
            </a:r>
            <a:r>
              <a:rPr lang="zh-CN" altLang="zh-CN" dirty="0"/>
              <a:t>唐僧那：念</a:t>
            </a:r>
            <a:r>
              <a:rPr lang="zh-CN" altLang="zh-CN" b="1" dirty="0">
                <a:solidFill>
                  <a:srgbClr val="0000FF"/>
                </a:solidFill>
              </a:rPr>
              <a:t>紧箍咒</a:t>
            </a:r>
            <a:r>
              <a:rPr lang="zh-CN" altLang="zh-CN" dirty="0"/>
              <a:t>，两个都喊疼，自然看不出哪个真假</a:t>
            </a:r>
            <a:r>
              <a:rPr lang="zh-CN" altLang="zh-CN" dirty="0" smtClean="0"/>
              <a:t>；</a:t>
            </a:r>
            <a:endParaRPr lang="en-US" altLang="zh-CN" dirty="0" smtClean="0"/>
          </a:p>
          <a:p>
            <a:pPr lvl="0">
              <a:lnSpc>
                <a:spcPct val="120000"/>
              </a:lnSpc>
            </a:pPr>
            <a:r>
              <a:rPr lang="zh-CN" altLang="zh-CN" dirty="0" smtClean="0"/>
              <a:t>到</a:t>
            </a:r>
            <a:r>
              <a:rPr lang="zh-CN" altLang="zh-CN" dirty="0"/>
              <a:t>天宫：拖塔天王拿</a:t>
            </a:r>
            <a:r>
              <a:rPr lang="zh-CN" altLang="zh-CN" b="1" dirty="0">
                <a:solidFill>
                  <a:srgbClr val="0000FF"/>
                </a:solidFill>
              </a:rPr>
              <a:t>照妖镜</a:t>
            </a:r>
            <a:r>
              <a:rPr lang="zh-CN" altLang="zh-CN" dirty="0"/>
              <a:t>照，也看不出</a:t>
            </a:r>
            <a:r>
              <a:rPr lang="zh-CN" altLang="zh-CN" dirty="0" smtClean="0"/>
              <a:t>；</a:t>
            </a:r>
            <a:endParaRPr lang="en-US" altLang="zh-CN" dirty="0" smtClean="0"/>
          </a:p>
          <a:p>
            <a:pPr lvl="0">
              <a:lnSpc>
                <a:spcPct val="120000"/>
              </a:lnSpc>
            </a:pPr>
            <a:r>
              <a:rPr lang="zh-CN" altLang="zh-CN" dirty="0" smtClean="0"/>
              <a:t>又</a:t>
            </a:r>
            <a:r>
              <a:rPr lang="zh-CN" altLang="zh-CN" dirty="0"/>
              <a:t>到观音那：观音也</a:t>
            </a:r>
            <a:r>
              <a:rPr lang="zh-CN" altLang="zh-CN" b="1" dirty="0">
                <a:solidFill>
                  <a:srgbClr val="0000FF"/>
                </a:solidFill>
              </a:rPr>
              <a:t>看</a:t>
            </a:r>
            <a:r>
              <a:rPr lang="zh-CN" altLang="zh-CN" dirty="0"/>
              <a:t>不出</a:t>
            </a:r>
            <a:r>
              <a:rPr lang="zh-CN" altLang="zh-CN" dirty="0" smtClean="0"/>
              <a:t>。</a:t>
            </a:r>
            <a:endParaRPr lang="en-US" altLang="zh-CN" dirty="0" smtClean="0"/>
          </a:p>
          <a:p>
            <a:pPr lvl="0">
              <a:lnSpc>
                <a:spcPct val="120000"/>
              </a:lnSpc>
            </a:pPr>
            <a:r>
              <a:rPr lang="zh-CN" altLang="zh-CN" dirty="0" smtClean="0"/>
              <a:t>最后</a:t>
            </a:r>
            <a:r>
              <a:rPr lang="zh-CN" altLang="zh-CN" dirty="0"/>
              <a:t>到幽冥处阎罗那，经“谛听”</a:t>
            </a:r>
            <a:r>
              <a:rPr lang="zh-CN" altLang="zh-CN" b="1" dirty="0">
                <a:solidFill>
                  <a:srgbClr val="0000FF"/>
                </a:solidFill>
              </a:rPr>
              <a:t>听</a:t>
            </a:r>
            <a:r>
              <a:rPr lang="zh-CN" altLang="zh-CN" dirty="0"/>
              <a:t>过之后，“谛听”却说：“我看出来了，却不敢说”。。。 </a:t>
            </a:r>
            <a:endParaRPr lang="en-US" altLang="zh-CN" dirty="0" smtClean="0"/>
          </a:p>
          <a:p>
            <a:pPr lvl="0">
              <a:lnSpc>
                <a:spcPct val="120000"/>
              </a:lnSpc>
            </a:pPr>
            <a:r>
              <a:rPr lang="zh-CN" altLang="zh-CN" dirty="0" smtClean="0"/>
              <a:t>最后</a:t>
            </a:r>
            <a:r>
              <a:rPr lang="zh-CN" altLang="zh-CN" dirty="0"/>
              <a:t>还是如来老佛爷道出六耳真身并用金钵盂罩住。 </a:t>
            </a:r>
            <a:endParaRPr lang="zh-CN" altLang="zh-CN" dirty="0"/>
          </a:p>
          <a:p>
            <a:pPr>
              <a:lnSpc>
                <a:spcPct val="120000"/>
              </a:lnSpc>
            </a:pPr>
            <a:endParaRPr lang="en-US" altLang="zh-CN" dirty="0" smtClean="0"/>
          </a:p>
          <a:p>
            <a:pPr>
              <a:lnSpc>
                <a:spcPct val="120000"/>
              </a:lnSpc>
            </a:pPr>
            <a:endParaRPr lang="zh-CN" altLang="en-US" dirty="0"/>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程序变异思想</a:t>
            </a:r>
            <a:endParaRPr lang="zh-CN" altLang="en-US"/>
          </a:p>
        </p:txBody>
      </p:sp>
      <p:sp>
        <p:nvSpPr>
          <p:cNvPr id="3" name="内容占位符 2"/>
          <p:cNvSpPr>
            <a:spLocks noGrp="1"/>
          </p:cNvSpPr>
          <p:nvPr>
            <p:ph idx="1"/>
          </p:nvPr>
        </p:nvSpPr>
        <p:spPr>
          <a:xfrm>
            <a:off x="838200" y="1119505"/>
            <a:ext cx="10515600" cy="4638675"/>
          </a:xfrm>
        </p:spPr>
        <p:txBody>
          <a:bodyPr/>
          <a:lstStyle/>
          <a:p>
            <a:r>
              <a:rPr lang="zh-CN" altLang="en-US" smtClean="0"/>
              <a:t>假设程序</a:t>
            </a:r>
            <a:r>
              <a:rPr lang="en-US" altLang="zh-CN" smtClean="0"/>
              <a:t>P</a:t>
            </a:r>
            <a:r>
              <a:rPr lang="zh-CN" altLang="en-US" smtClean="0"/>
              <a:t>已使用测试</a:t>
            </a:r>
            <a:r>
              <a:rPr lang="en-US" altLang="zh-CN" smtClean="0"/>
              <a:t>T</a:t>
            </a:r>
            <a:r>
              <a:rPr lang="zh-CN" altLang="en-US" smtClean="0"/>
              <a:t>中的测试用例测试通过，而且没有错误。变异是一种轻微改变程序的操作。</a:t>
            </a:r>
            <a:endParaRPr lang="en-US" altLang="zh-CN" smtClean="0"/>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5" name="Text Box 4"/>
          <p:cNvSpPr txBox="1">
            <a:spLocks noChangeArrowheads="1"/>
          </p:cNvSpPr>
          <p:nvPr/>
        </p:nvSpPr>
        <p:spPr bwMode="auto">
          <a:xfrm>
            <a:off x="2133601" y="2954656"/>
            <a:ext cx="2511425" cy="3668713"/>
          </a:xfrm>
          <a:prstGeom prst="rect">
            <a:avLst/>
          </a:prstGeom>
          <a:solidFill>
            <a:srgbClr val="D7D6AE"/>
          </a:solidFill>
          <a:ln w="12700" cap="sq" algn="ctr">
            <a:noFill/>
            <a:miter lim="800000"/>
          </a:ln>
        </p:spPr>
        <p:txBody>
          <a:bodyPr>
            <a:spAutoFit/>
          </a:bodyPr>
          <a:lstStyle/>
          <a:p>
            <a:pPr marL="342900" indent="-342900">
              <a:spcBef>
                <a:spcPct val="50000"/>
              </a:spcBef>
            </a:pPr>
            <a:r>
              <a:rPr lang="en-US" altLang="zh-CN">
                <a:solidFill>
                  <a:srgbClr val="000066"/>
                </a:solidFill>
                <a:latin typeface="Tahoma" panose="020B0604030504040204" pitchFamily="34" charset="0"/>
              </a:rPr>
              <a:t>Example: Program 1</a:t>
            </a:r>
            <a:endParaRPr lang="en-US" altLang="zh-CN">
              <a:solidFill>
                <a:srgbClr val="000066"/>
              </a:solidFill>
              <a:latin typeface="Tahoma" panose="020B0604030504040204" pitchFamily="34" charset="0"/>
            </a:endParaRPr>
          </a:p>
          <a:p>
            <a:pPr marL="342900" indent="-342900">
              <a:spcBef>
                <a:spcPct val="500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if (x&lt; 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sp>
        <p:nvSpPr>
          <p:cNvPr id="6" name="Text Box 5"/>
          <p:cNvSpPr txBox="1">
            <a:spLocks noChangeArrowheads="1"/>
          </p:cNvSpPr>
          <p:nvPr/>
        </p:nvSpPr>
        <p:spPr bwMode="auto">
          <a:xfrm>
            <a:off x="4813301" y="2954655"/>
            <a:ext cx="2627313" cy="3668712"/>
          </a:xfrm>
          <a:prstGeom prst="rect">
            <a:avLst/>
          </a:prstGeom>
          <a:solidFill>
            <a:srgbClr val="C2D4CD"/>
          </a:solidFill>
          <a:ln w="12700" cap="sq" algn="ctr">
            <a:noFill/>
            <a:miter lim="800000"/>
          </a:ln>
        </p:spPr>
        <p:txBody>
          <a:bodyPr>
            <a:spAutoFit/>
          </a:bodyPr>
          <a:lstStyle/>
          <a:p>
            <a:pPr marL="342900" indent="-342900">
              <a:spcBef>
                <a:spcPct val="50000"/>
              </a:spcBef>
            </a:pPr>
            <a:r>
              <a:rPr lang="en-US" altLang="zh-CN">
                <a:solidFill>
                  <a:srgbClr val="000066"/>
                </a:solidFill>
                <a:latin typeface="Tahoma" panose="020B0604030504040204" pitchFamily="34" charset="0"/>
              </a:rPr>
              <a:t>Program 1</a:t>
            </a:r>
            <a:r>
              <a:rPr lang="zh-CN" altLang="en-US">
                <a:solidFill>
                  <a:srgbClr val="000066"/>
                </a:solidFill>
                <a:latin typeface="Tahoma" panose="020B0604030504040204" pitchFamily="34" charset="0"/>
              </a:rPr>
              <a:t>的变异体</a:t>
            </a:r>
            <a:r>
              <a:rPr lang="en-US" altLang="zh-CN">
                <a:solidFill>
                  <a:srgbClr val="000066"/>
                </a:solidFill>
                <a:latin typeface="Tahoma" panose="020B0604030504040204" pitchFamily="34" charset="0"/>
              </a:rPr>
              <a:t>M1</a:t>
            </a:r>
            <a:endParaRPr lang="en-US" altLang="zh-CN">
              <a:solidFill>
                <a:srgbClr val="000066"/>
              </a:solidFill>
              <a:latin typeface="Tahoma" panose="020B0604030504040204" pitchFamily="34" charset="0"/>
            </a:endParaRPr>
          </a:p>
          <a:p>
            <a:pPr marL="342900" indent="-342900">
              <a:spcBef>
                <a:spcPct val="500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a:t>
            </a:r>
            <a:r>
              <a:rPr lang="en-US" altLang="zh-CN">
                <a:solidFill>
                  <a:srgbClr val="FF0000"/>
                </a:solidFill>
                <a:latin typeface="Tahoma" panose="020B0604030504040204" pitchFamily="34" charset="0"/>
              </a:rPr>
              <a:t>if (x&lt;</a:t>
            </a:r>
            <a:r>
              <a:rPr lang="zh-CN" altLang="en-US">
                <a:solidFill>
                  <a:srgbClr val="FF0000"/>
                </a:solidFill>
                <a:latin typeface="Tahoma" panose="020B0604030504040204" pitchFamily="34" charset="0"/>
              </a:rPr>
              <a:t>＝</a:t>
            </a:r>
            <a:r>
              <a:rPr lang="en-US" altLang="zh-CN">
                <a:solidFill>
                  <a:srgbClr val="FF0000"/>
                </a:solidFill>
                <a:latin typeface="Tahoma" panose="020B0604030504040204" pitchFamily="34" charset="0"/>
              </a:rPr>
              <a:t>y)</a:t>
            </a:r>
            <a:endParaRPr lang="en-US" altLang="zh-CN">
              <a:solidFill>
                <a:srgbClr val="FF0000"/>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sp>
        <p:nvSpPr>
          <p:cNvPr id="7" name="Text Box 7"/>
          <p:cNvSpPr txBox="1">
            <a:spLocks noChangeArrowheads="1"/>
          </p:cNvSpPr>
          <p:nvPr/>
        </p:nvSpPr>
        <p:spPr bwMode="auto">
          <a:xfrm>
            <a:off x="7802563" y="2954656"/>
            <a:ext cx="2525712" cy="3668713"/>
          </a:xfrm>
          <a:prstGeom prst="rect">
            <a:avLst/>
          </a:prstGeom>
          <a:solidFill>
            <a:srgbClr val="E6C4E4"/>
          </a:solidFill>
          <a:ln w="12700" cap="sq" algn="ctr">
            <a:noFill/>
            <a:miter lim="800000"/>
          </a:ln>
        </p:spPr>
        <p:txBody>
          <a:bodyPr>
            <a:spAutoFit/>
          </a:bodyPr>
          <a:lstStyle/>
          <a:p>
            <a:pPr marL="342900" indent="-342900">
              <a:spcBef>
                <a:spcPct val="50000"/>
              </a:spcBef>
            </a:pPr>
            <a:r>
              <a:rPr lang="en-US" altLang="zh-CN">
                <a:solidFill>
                  <a:srgbClr val="000066"/>
                </a:solidFill>
                <a:latin typeface="Tahoma" panose="020B0604030504040204" pitchFamily="34" charset="0"/>
              </a:rPr>
              <a:t>Program 1</a:t>
            </a:r>
            <a:r>
              <a:rPr lang="zh-CN" altLang="en-US">
                <a:solidFill>
                  <a:srgbClr val="000066"/>
                </a:solidFill>
                <a:latin typeface="Tahoma" panose="020B0604030504040204" pitchFamily="34" charset="0"/>
              </a:rPr>
              <a:t>的变异体</a:t>
            </a:r>
            <a:r>
              <a:rPr lang="en-US" altLang="zh-CN">
                <a:solidFill>
                  <a:srgbClr val="000066"/>
                </a:solidFill>
                <a:latin typeface="Tahoma" panose="020B0604030504040204" pitchFamily="34" charset="0"/>
              </a:rPr>
              <a:t>M</a:t>
            </a:r>
            <a:r>
              <a:rPr lang="en-US" altLang="zh-CN">
                <a:latin typeface="Tahoma" panose="020B0604030504040204" pitchFamily="34" charset="0"/>
              </a:rPr>
              <a:t>2</a:t>
            </a:r>
            <a:endParaRPr lang="en-US" altLang="zh-CN">
              <a:solidFill>
                <a:srgbClr val="000066"/>
              </a:solidFill>
              <a:latin typeface="Tahoma" panose="020B0604030504040204" pitchFamily="34" charset="0"/>
            </a:endParaRPr>
          </a:p>
          <a:p>
            <a:pPr marL="342900" indent="-342900">
              <a:spcBef>
                <a:spcPct val="500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if (x&lt; 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     </a:t>
            </a:r>
            <a:r>
              <a:rPr lang="en-US" altLang="zh-CN">
                <a:solidFill>
                  <a:srgbClr val="FF0000"/>
                </a:solidFill>
                <a:latin typeface="Tahoma" panose="020B0604030504040204" pitchFamily="34" charset="0"/>
              </a:rPr>
              <a:t>output(x/y);</a:t>
            </a:r>
            <a:endParaRPr lang="en-US" altLang="zh-CN">
              <a:solidFill>
                <a:srgbClr val="FF0000"/>
              </a:solidFill>
              <a:latin typeface="Tahoma" panose="020B0604030504040204" pitchFamily="34" charset="0"/>
            </a:endParaRPr>
          </a:p>
          <a:p>
            <a:pPr marL="342900" indent="-342900">
              <a:spcBef>
                <a:spcPct val="500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grpSp>
        <p:nvGrpSpPr>
          <p:cNvPr id="8" name="Group 8"/>
          <p:cNvGrpSpPr/>
          <p:nvPr/>
        </p:nvGrpSpPr>
        <p:grpSpPr bwMode="auto">
          <a:xfrm>
            <a:off x="4144963" y="2252983"/>
            <a:ext cx="3662362" cy="604838"/>
            <a:chOff x="1041" y="2172"/>
            <a:chExt cx="2307" cy="381"/>
          </a:xfrm>
        </p:grpSpPr>
        <p:sp>
          <p:nvSpPr>
            <p:cNvPr id="9" name="Text Box 9"/>
            <p:cNvSpPr txBox="1">
              <a:spLocks noChangeArrowheads="1"/>
            </p:cNvSpPr>
            <p:nvPr/>
          </p:nvSpPr>
          <p:spPr bwMode="auto">
            <a:xfrm>
              <a:off x="1706" y="2172"/>
              <a:ext cx="976" cy="250"/>
            </a:xfrm>
            <a:prstGeom prst="rect">
              <a:avLst/>
            </a:prstGeom>
            <a:noFill/>
            <a:ln w="12700" cap="sq">
              <a:noFill/>
              <a:miter lim="800000"/>
              <a:headEnd type="none" w="sm" len="sm"/>
              <a:tailEnd type="none" w="sm" len="sm"/>
            </a:ln>
          </p:spPr>
          <p:txBody>
            <a:bodyPr wrap="none">
              <a:spAutoFit/>
            </a:bodyPr>
            <a:lstStyle/>
            <a:p>
              <a:pPr eaLnBrk="0" hangingPunct="0"/>
              <a:r>
                <a:rPr lang="en-US" altLang="zh-CN" sz="2000">
                  <a:latin typeface="Tahoma" panose="020B0604030504040204" pitchFamily="34" charset="0"/>
                </a:rPr>
                <a:t>Changed to </a:t>
              </a:r>
              <a:endParaRPr lang="en-US" altLang="zh-CN" sz="2000">
                <a:latin typeface="Tahoma" panose="020B0604030504040204" pitchFamily="34" charset="0"/>
              </a:endParaRPr>
            </a:p>
          </p:txBody>
        </p:sp>
        <p:grpSp>
          <p:nvGrpSpPr>
            <p:cNvPr id="10" name="Group 10"/>
            <p:cNvGrpSpPr/>
            <p:nvPr/>
          </p:nvGrpSpPr>
          <p:grpSpPr bwMode="auto">
            <a:xfrm>
              <a:off x="1041" y="2303"/>
              <a:ext cx="2307" cy="250"/>
              <a:chOff x="1041" y="2303"/>
              <a:chExt cx="2307" cy="250"/>
            </a:xfrm>
          </p:grpSpPr>
          <p:sp>
            <p:nvSpPr>
              <p:cNvPr id="11" name="Text Box 11"/>
              <p:cNvSpPr txBox="1">
                <a:spLocks noChangeArrowheads="1"/>
              </p:cNvSpPr>
              <p:nvPr/>
            </p:nvSpPr>
            <p:spPr bwMode="auto">
              <a:xfrm>
                <a:off x="1041" y="2303"/>
                <a:ext cx="204" cy="250"/>
              </a:xfrm>
              <a:prstGeom prst="rect">
                <a:avLst/>
              </a:prstGeom>
              <a:noFill/>
              <a:ln w="12700" cap="sq">
                <a:noFill/>
                <a:miter lim="800000"/>
                <a:headEnd type="none" w="sm" len="sm"/>
                <a:tailEnd type="none" w="sm" len="sm"/>
              </a:ln>
            </p:spPr>
            <p:txBody>
              <a:bodyPr wrap="none">
                <a:spAutoFit/>
              </a:bodyPr>
              <a:lstStyle/>
              <a:p>
                <a:pPr eaLnBrk="0" hangingPunct="0"/>
                <a:r>
                  <a:rPr lang="en-US" altLang="zh-CN" sz="2000">
                    <a:latin typeface="Tahoma" panose="020B0604030504040204" pitchFamily="34" charset="0"/>
                  </a:rPr>
                  <a:t>P</a:t>
                </a:r>
                <a:endParaRPr lang="en-US" altLang="zh-CN" sz="2000">
                  <a:latin typeface="Tahoma" panose="020B0604030504040204" pitchFamily="34" charset="0"/>
                </a:endParaRPr>
              </a:p>
            </p:txBody>
          </p:sp>
          <p:sp>
            <p:nvSpPr>
              <p:cNvPr id="12" name="Text Box 12"/>
              <p:cNvSpPr txBox="1">
                <a:spLocks noChangeArrowheads="1"/>
              </p:cNvSpPr>
              <p:nvPr/>
            </p:nvSpPr>
            <p:spPr bwMode="auto">
              <a:xfrm>
                <a:off x="3110" y="2303"/>
                <a:ext cx="238" cy="250"/>
              </a:xfrm>
              <a:prstGeom prst="rect">
                <a:avLst/>
              </a:prstGeom>
              <a:noFill/>
              <a:ln w="12700" cap="sq">
                <a:noFill/>
                <a:miter lim="800000"/>
                <a:headEnd type="none" w="sm" len="sm"/>
                <a:tailEnd type="none" w="sm" len="sm"/>
              </a:ln>
            </p:spPr>
            <p:txBody>
              <a:bodyPr wrap="none">
                <a:spAutoFit/>
              </a:bodyPr>
              <a:lstStyle/>
              <a:p>
                <a:pPr eaLnBrk="0" hangingPunct="0"/>
                <a:r>
                  <a:rPr lang="en-US" altLang="zh-CN" sz="2000">
                    <a:latin typeface="Tahoma" panose="020B0604030504040204" pitchFamily="34" charset="0"/>
                  </a:rPr>
                  <a:t>P’</a:t>
                </a:r>
                <a:endParaRPr lang="en-US" altLang="zh-CN" sz="2000">
                  <a:latin typeface="Tahoma" panose="020B0604030504040204" pitchFamily="34" charset="0"/>
                </a:endParaRPr>
              </a:p>
            </p:txBody>
          </p:sp>
          <p:sp>
            <p:nvSpPr>
              <p:cNvPr id="13" name="Line 13"/>
              <p:cNvSpPr>
                <a:spLocks noChangeShapeType="1"/>
              </p:cNvSpPr>
              <p:nvPr/>
            </p:nvSpPr>
            <p:spPr bwMode="auto">
              <a:xfrm>
                <a:off x="1372" y="2432"/>
                <a:ext cx="1611" cy="0"/>
              </a:xfrm>
              <a:prstGeom prst="line">
                <a:avLst/>
              </a:prstGeom>
              <a:noFill/>
              <a:ln w="12700" cap="sq">
                <a:solidFill>
                  <a:schemeClr val="tx1"/>
                </a:solidFill>
                <a:round/>
                <a:headEnd type="none" w="sm" len="sm"/>
                <a:tailEnd type="triangle" w="sm" len="sm"/>
              </a:ln>
            </p:spPr>
            <p:txBody>
              <a:bodyPr wrap="none" anchor="ctr"/>
              <a:lstStyle/>
              <a:p>
                <a:endParaRPr lang="zh-CN" altLang="en-US"/>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程序变异思想</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Autofit/>
          </a:bodyPr>
          <a:lstStyle/>
          <a:p>
            <a:pPr>
              <a:lnSpc>
                <a:spcPct val="110000"/>
              </a:lnSpc>
            </a:pPr>
            <a:r>
              <a:rPr lang="en-US" altLang="zh-CN" sz="2400" b="1" dirty="0" smtClean="0">
                <a:solidFill>
                  <a:srgbClr val="0000FF"/>
                </a:solidFill>
                <a:latin typeface="+mn-ea"/>
                <a:ea typeface="+mn-ea"/>
              </a:rPr>
              <a:t>P’</a:t>
            </a:r>
            <a:r>
              <a:rPr lang="zh-CN" altLang="en-US" sz="2400" dirty="0" smtClean="0">
                <a:latin typeface="+mn-ea"/>
                <a:ea typeface="+mn-ea"/>
              </a:rPr>
              <a:t>称为</a:t>
            </a:r>
            <a:r>
              <a:rPr lang="en-US" altLang="zh-CN" sz="2400" b="1" dirty="0">
                <a:solidFill>
                  <a:srgbClr val="0000FF"/>
                </a:solidFill>
                <a:latin typeface="+mn-ea"/>
                <a:ea typeface="+mn-ea"/>
              </a:rPr>
              <a:t>P</a:t>
            </a:r>
            <a:r>
              <a:rPr lang="zh-CN" altLang="en-US" sz="2400" dirty="0" smtClean="0">
                <a:latin typeface="+mn-ea"/>
                <a:ea typeface="+mn-ea"/>
              </a:rPr>
              <a:t>的变异体</a:t>
            </a:r>
            <a:endParaRPr lang="zh-CN" altLang="en-US" sz="2400" dirty="0" smtClean="0">
              <a:latin typeface="+mn-ea"/>
              <a:ea typeface="+mn-ea"/>
            </a:endParaRPr>
          </a:p>
          <a:p>
            <a:pPr marL="342900">
              <a:lnSpc>
                <a:spcPct val="110000"/>
              </a:lnSpc>
              <a:spcBef>
                <a:spcPct val="20000"/>
              </a:spcBef>
              <a:spcAft>
                <a:spcPts val="0"/>
              </a:spcAft>
              <a:buClr>
                <a:schemeClr val="tx2"/>
              </a:buClr>
              <a:buSzPct val="70000"/>
              <a:defRPr/>
            </a:pPr>
            <a:r>
              <a:rPr lang="zh-CN" altLang="en-US" sz="2400" dirty="0" smtClean="0">
                <a:latin typeface="+mn-ea"/>
                <a:ea typeface="+mn-ea"/>
              </a:rPr>
              <a:t>如果对于</a:t>
            </a:r>
            <a:r>
              <a:rPr lang="en-US" altLang="zh-CN" sz="2400" b="1" dirty="0">
                <a:solidFill>
                  <a:srgbClr val="0000FF"/>
                </a:solidFill>
                <a:latin typeface="+mn-ea"/>
                <a:ea typeface="+mn-ea"/>
              </a:rPr>
              <a:t>T</a:t>
            </a:r>
            <a:r>
              <a:rPr lang="zh-CN" altLang="en-US" sz="2400" dirty="0" smtClean="0">
                <a:latin typeface="+mn-ea"/>
                <a:ea typeface="+mn-ea"/>
              </a:rPr>
              <a:t>中的测试</a:t>
            </a:r>
            <a:r>
              <a:rPr lang="en-US" altLang="zh-CN" sz="2400" b="1" dirty="0">
                <a:solidFill>
                  <a:srgbClr val="0000FF"/>
                </a:solidFill>
                <a:latin typeface="+mn-ea"/>
                <a:ea typeface="+mn-ea"/>
              </a:rPr>
              <a:t>t</a:t>
            </a:r>
            <a:r>
              <a:rPr lang="zh-CN" altLang="en-US" sz="2400" dirty="0" smtClean="0">
                <a:latin typeface="+mn-ea"/>
                <a:ea typeface="+mn-ea"/>
              </a:rPr>
              <a:t>，有</a:t>
            </a:r>
            <a:r>
              <a:rPr lang="en-US" altLang="zh-CN" sz="2400" b="1" dirty="0">
                <a:solidFill>
                  <a:srgbClr val="0000FF"/>
                </a:solidFill>
                <a:latin typeface="+mn-ea"/>
                <a:ea typeface="+mn-ea"/>
              </a:rPr>
              <a:t>P(t)≠P’(t)</a:t>
            </a:r>
            <a:r>
              <a:rPr lang="zh-CN" altLang="en-US" sz="2400" dirty="0" smtClean="0">
                <a:latin typeface="+mn-ea"/>
                <a:ea typeface="+mn-ea"/>
              </a:rPr>
              <a:t>，称作</a:t>
            </a:r>
            <a:r>
              <a:rPr lang="en-US" altLang="zh-CN" sz="2400" b="1" dirty="0">
                <a:solidFill>
                  <a:srgbClr val="0000FF"/>
                </a:solidFill>
                <a:latin typeface="+mn-ea"/>
                <a:ea typeface="+mn-ea"/>
              </a:rPr>
              <a:t>P’</a:t>
            </a:r>
            <a:r>
              <a:rPr lang="zh-CN" altLang="en-US" sz="2400" dirty="0" smtClean="0">
                <a:latin typeface="+mn-ea"/>
                <a:ea typeface="+mn-ea"/>
              </a:rPr>
              <a:t>与</a:t>
            </a:r>
            <a:r>
              <a:rPr lang="en-US" altLang="zh-CN" sz="2400" b="1" dirty="0">
                <a:solidFill>
                  <a:srgbClr val="0000FF"/>
                </a:solidFill>
                <a:latin typeface="+mn-ea"/>
                <a:ea typeface="+mn-ea"/>
              </a:rPr>
              <a:t>P</a:t>
            </a:r>
            <a:r>
              <a:rPr lang="zh-CN" altLang="en-US" sz="2400" dirty="0" smtClean="0">
                <a:latin typeface="+mn-ea"/>
                <a:ea typeface="+mn-ea"/>
              </a:rPr>
              <a:t>有区别</a:t>
            </a:r>
            <a:r>
              <a:rPr lang="zh-CN" altLang="en-US" sz="2400" dirty="0" smtClean="0">
                <a:solidFill>
                  <a:srgbClr val="FF0000"/>
                </a:solidFill>
                <a:latin typeface="+mn-ea"/>
                <a:ea typeface="+mn-ea"/>
              </a:rPr>
              <a:t>（ </a:t>
            </a:r>
            <a:r>
              <a:rPr lang="en-US" altLang="zh-CN" sz="2400" dirty="0" smtClean="0">
                <a:solidFill>
                  <a:srgbClr val="FF0000"/>
                </a:solidFill>
                <a:latin typeface="+mn-ea"/>
                <a:ea typeface="+mn-ea"/>
              </a:rPr>
              <a:t>distinguishes</a:t>
            </a:r>
            <a:r>
              <a:rPr lang="zh-CN" altLang="en-US" sz="2400" dirty="0" smtClean="0">
                <a:solidFill>
                  <a:srgbClr val="FF0000"/>
                </a:solidFill>
                <a:latin typeface="+mn-ea"/>
                <a:ea typeface="+mn-ea"/>
              </a:rPr>
              <a:t>），</a:t>
            </a:r>
            <a:r>
              <a:rPr lang="zh-CN" altLang="en-US" sz="2400" dirty="0" smtClean="0">
                <a:latin typeface="+mn-ea"/>
                <a:ea typeface="+mn-ea"/>
              </a:rPr>
              <a:t>或者</a:t>
            </a:r>
            <a:r>
              <a:rPr lang="en-US" altLang="zh-CN" sz="2400" b="1" dirty="0">
                <a:solidFill>
                  <a:srgbClr val="0000FF"/>
                </a:solidFill>
                <a:latin typeface="+mn-ea"/>
                <a:ea typeface="+mn-ea"/>
              </a:rPr>
              <a:t>t</a:t>
            </a:r>
            <a:r>
              <a:rPr lang="zh-CN" altLang="en-US" sz="2400" dirty="0" smtClean="0">
                <a:latin typeface="+mn-ea"/>
                <a:ea typeface="+mn-ea"/>
              </a:rPr>
              <a:t>杀死</a:t>
            </a:r>
            <a:r>
              <a:rPr lang="zh-CN" altLang="en-US" sz="2400" dirty="0" smtClean="0">
                <a:solidFill>
                  <a:srgbClr val="FF0000"/>
                </a:solidFill>
                <a:latin typeface="+mn-ea"/>
                <a:ea typeface="+mn-ea"/>
              </a:rPr>
              <a:t>（</a:t>
            </a:r>
            <a:r>
              <a:rPr lang="en-US" altLang="zh-CN" sz="2400" dirty="0" smtClean="0">
                <a:solidFill>
                  <a:srgbClr val="FF0000"/>
                </a:solidFill>
                <a:latin typeface="+mn-ea"/>
                <a:ea typeface="+mn-ea"/>
              </a:rPr>
              <a:t>killed</a:t>
            </a:r>
            <a:r>
              <a:rPr lang="zh-CN" altLang="en-US" sz="2400" dirty="0" smtClean="0">
                <a:solidFill>
                  <a:srgbClr val="FF0000"/>
                </a:solidFill>
                <a:latin typeface="+mn-ea"/>
                <a:ea typeface="+mn-ea"/>
              </a:rPr>
              <a:t>）</a:t>
            </a:r>
            <a:r>
              <a:rPr lang="en-US" altLang="zh-CN" sz="2400" b="1" dirty="0">
                <a:solidFill>
                  <a:srgbClr val="0000FF"/>
                </a:solidFill>
                <a:latin typeface="+mn-ea"/>
                <a:ea typeface="+mn-ea"/>
              </a:rPr>
              <a:t>P’</a:t>
            </a:r>
            <a:r>
              <a:rPr lang="en-US" altLang="zh-CN" sz="2400" dirty="0" smtClean="0">
                <a:latin typeface="+mn-ea"/>
                <a:ea typeface="+mn-ea"/>
              </a:rPr>
              <a:t>.</a:t>
            </a:r>
            <a:endParaRPr lang="en-US" altLang="zh-CN" sz="2400" dirty="0" smtClean="0">
              <a:latin typeface="+mn-ea"/>
              <a:ea typeface="+mn-ea"/>
            </a:endParaRPr>
          </a:p>
          <a:p>
            <a:pPr marL="342900">
              <a:lnSpc>
                <a:spcPct val="110000"/>
              </a:lnSpc>
              <a:spcBef>
                <a:spcPct val="20000"/>
              </a:spcBef>
              <a:spcAft>
                <a:spcPts val="0"/>
              </a:spcAft>
              <a:buClr>
                <a:schemeClr val="tx2"/>
              </a:buClr>
              <a:buSzPct val="70000"/>
              <a:defRPr/>
            </a:pPr>
            <a:r>
              <a:rPr lang="zh-CN" altLang="en-US" sz="2400" dirty="0" smtClean="0">
                <a:latin typeface="+mn-ea"/>
                <a:ea typeface="+mn-ea"/>
              </a:rPr>
              <a:t>如果</a:t>
            </a:r>
            <a:r>
              <a:rPr lang="en-US" altLang="zh-CN" sz="2400" b="1" dirty="0">
                <a:solidFill>
                  <a:srgbClr val="0000FF"/>
                </a:solidFill>
                <a:latin typeface="+mn-ea"/>
                <a:ea typeface="+mn-ea"/>
              </a:rPr>
              <a:t>T</a:t>
            </a:r>
            <a:r>
              <a:rPr lang="zh-CN" altLang="en-US" sz="2400" dirty="0" smtClean="0">
                <a:latin typeface="+mn-ea"/>
                <a:ea typeface="+mn-ea"/>
              </a:rPr>
              <a:t>中所有的测试</a:t>
            </a:r>
            <a:r>
              <a:rPr lang="en-US" altLang="zh-CN" sz="2400" dirty="0" smtClean="0">
                <a:latin typeface="+mn-ea"/>
                <a:ea typeface="+mn-ea"/>
              </a:rPr>
              <a:t> </a:t>
            </a:r>
            <a:r>
              <a:rPr lang="en-US" altLang="zh-CN" sz="2400" b="1" dirty="0">
                <a:solidFill>
                  <a:srgbClr val="0000FF"/>
                </a:solidFill>
                <a:latin typeface="+mn-ea"/>
                <a:ea typeface="+mn-ea"/>
              </a:rPr>
              <a:t>t</a:t>
            </a:r>
            <a:r>
              <a:rPr lang="zh-CN" altLang="en-US" sz="2400" dirty="0" smtClean="0">
                <a:latin typeface="+mn-ea"/>
                <a:ea typeface="+mn-ea"/>
              </a:rPr>
              <a:t>使得</a:t>
            </a:r>
            <a:r>
              <a:rPr lang="en-US" altLang="zh-CN" sz="2400" b="1" dirty="0">
                <a:solidFill>
                  <a:srgbClr val="0000FF"/>
                </a:solidFill>
                <a:latin typeface="+mn-ea"/>
                <a:ea typeface="+mn-ea"/>
              </a:rPr>
              <a:t>P(t)=P’(t)</a:t>
            </a:r>
            <a:r>
              <a:rPr lang="zh-CN" altLang="en-US" sz="2400" dirty="0" smtClean="0">
                <a:latin typeface="+mn-ea"/>
                <a:ea typeface="+mn-ea"/>
              </a:rPr>
              <a:t>，称</a:t>
            </a:r>
            <a:r>
              <a:rPr lang="en-US" altLang="zh-CN" sz="2400" b="1" dirty="0">
                <a:solidFill>
                  <a:srgbClr val="0000FF"/>
                </a:solidFill>
                <a:latin typeface="+mn-ea"/>
                <a:ea typeface="+mn-ea"/>
              </a:rPr>
              <a:t>T</a:t>
            </a:r>
            <a:r>
              <a:rPr lang="zh-CN" altLang="en-US" sz="2400" dirty="0" smtClean="0">
                <a:latin typeface="+mn-ea"/>
                <a:ea typeface="+mn-ea"/>
              </a:rPr>
              <a:t>不能区别</a:t>
            </a:r>
            <a:r>
              <a:rPr lang="en-US" altLang="zh-CN" sz="2400" b="1" dirty="0">
                <a:solidFill>
                  <a:srgbClr val="0000FF"/>
                </a:solidFill>
                <a:latin typeface="+mn-ea"/>
                <a:ea typeface="+mn-ea"/>
              </a:rPr>
              <a:t>P</a:t>
            </a:r>
            <a:r>
              <a:rPr lang="zh-CN" altLang="en-US" sz="2400" dirty="0" smtClean="0">
                <a:latin typeface="+mn-ea"/>
                <a:ea typeface="+mn-ea"/>
              </a:rPr>
              <a:t>和</a:t>
            </a:r>
            <a:r>
              <a:rPr lang="en-US" altLang="zh-CN" sz="2400" b="1" dirty="0">
                <a:solidFill>
                  <a:srgbClr val="0000FF"/>
                </a:solidFill>
                <a:latin typeface="+mn-ea"/>
                <a:ea typeface="+mn-ea"/>
              </a:rPr>
              <a:t>P’</a:t>
            </a:r>
            <a:r>
              <a:rPr lang="zh-CN" altLang="en-US" sz="2400" dirty="0" smtClean="0">
                <a:latin typeface="+mn-ea"/>
                <a:ea typeface="+mn-ea"/>
              </a:rPr>
              <a:t>。那么称在测试过程中</a:t>
            </a:r>
            <a:r>
              <a:rPr lang="en-US" altLang="zh-CN" sz="2400" b="1" dirty="0">
                <a:solidFill>
                  <a:srgbClr val="0000FF"/>
                </a:solidFill>
                <a:latin typeface="+mn-ea"/>
                <a:ea typeface="+mn-ea"/>
              </a:rPr>
              <a:t>P’</a:t>
            </a:r>
            <a:r>
              <a:rPr lang="zh-CN" altLang="en-US" sz="2400" dirty="0" smtClean="0">
                <a:latin typeface="+mn-ea"/>
                <a:ea typeface="+mn-ea"/>
              </a:rPr>
              <a:t>是活的</a:t>
            </a:r>
            <a:r>
              <a:rPr lang="zh-CN" altLang="en-US" sz="2400" dirty="0" smtClean="0">
                <a:solidFill>
                  <a:srgbClr val="FF0000"/>
                </a:solidFill>
                <a:latin typeface="+mn-ea"/>
                <a:ea typeface="+mn-ea"/>
              </a:rPr>
              <a:t>（</a:t>
            </a:r>
            <a:r>
              <a:rPr lang="en-US" altLang="zh-CN" sz="2400" dirty="0" smtClean="0">
                <a:solidFill>
                  <a:srgbClr val="FF0000"/>
                </a:solidFill>
                <a:latin typeface="+mn-ea"/>
                <a:ea typeface="+mn-ea"/>
              </a:rPr>
              <a:t>live</a:t>
            </a:r>
            <a:r>
              <a:rPr lang="zh-CN" altLang="en-US" sz="2400" dirty="0" smtClean="0">
                <a:solidFill>
                  <a:srgbClr val="FF0000"/>
                </a:solidFill>
                <a:latin typeface="+mn-ea"/>
                <a:ea typeface="+mn-ea"/>
              </a:rPr>
              <a:t>）</a:t>
            </a:r>
            <a:r>
              <a:rPr lang="en-US" altLang="zh-CN" sz="2400" dirty="0" smtClean="0">
                <a:latin typeface="+mn-ea"/>
                <a:ea typeface="+mn-ea"/>
              </a:rPr>
              <a:t>.</a:t>
            </a:r>
            <a:endParaRPr lang="en-US" altLang="zh-CN" sz="2400" dirty="0" smtClean="0">
              <a:latin typeface="+mn-ea"/>
              <a:ea typeface="+mn-ea"/>
            </a:endParaRPr>
          </a:p>
          <a:p>
            <a:pPr marL="342900">
              <a:lnSpc>
                <a:spcPct val="110000"/>
              </a:lnSpc>
              <a:spcBef>
                <a:spcPct val="20000"/>
              </a:spcBef>
              <a:spcAft>
                <a:spcPts val="0"/>
              </a:spcAft>
              <a:buClr>
                <a:schemeClr val="tx2"/>
              </a:buClr>
              <a:buSzPct val="70000"/>
              <a:defRPr/>
            </a:pPr>
            <a:r>
              <a:rPr lang="zh-CN" altLang="en-US" sz="2400" dirty="0" smtClean="0">
                <a:latin typeface="+mn-ea"/>
                <a:ea typeface="+mn-ea"/>
              </a:rPr>
              <a:t>如果在程序</a:t>
            </a:r>
            <a:r>
              <a:rPr lang="en-US" altLang="zh-CN" sz="2400" b="1" dirty="0">
                <a:solidFill>
                  <a:srgbClr val="0000FF"/>
                </a:solidFill>
                <a:latin typeface="+mn-ea"/>
                <a:ea typeface="+mn-ea"/>
              </a:rPr>
              <a:t>P</a:t>
            </a:r>
            <a:r>
              <a:rPr lang="zh-CN" altLang="en-US" sz="2400" dirty="0" smtClean="0">
                <a:latin typeface="+mn-ea"/>
                <a:ea typeface="+mn-ea"/>
              </a:rPr>
              <a:t>的输入域中不存在任何测试用例</a:t>
            </a:r>
            <a:r>
              <a:rPr lang="en-US" altLang="zh-CN" sz="2400" b="1" dirty="0">
                <a:solidFill>
                  <a:srgbClr val="0000FF"/>
                </a:solidFill>
                <a:latin typeface="+mn-ea"/>
                <a:ea typeface="+mn-ea"/>
              </a:rPr>
              <a:t>t</a:t>
            </a:r>
            <a:r>
              <a:rPr lang="zh-CN" altLang="en-US" sz="2400" dirty="0" smtClean="0">
                <a:latin typeface="+mn-ea"/>
                <a:ea typeface="+mn-ea"/>
              </a:rPr>
              <a:t>使得</a:t>
            </a:r>
            <a:r>
              <a:rPr lang="en-US" altLang="zh-CN" sz="2400" b="1" dirty="0">
                <a:solidFill>
                  <a:srgbClr val="0000FF"/>
                </a:solidFill>
                <a:latin typeface="+mn-ea"/>
                <a:ea typeface="+mn-ea"/>
              </a:rPr>
              <a:t>P</a:t>
            </a:r>
            <a:r>
              <a:rPr lang="zh-CN" altLang="en-US" sz="2400" dirty="0" smtClean="0">
                <a:latin typeface="+mn-ea"/>
                <a:ea typeface="+mn-ea"/>
              </a:rPr>
              <a:t>与</a:t>
            </a:r>
            <a:r>
              <a:rPr lang="en-US" altLang="zh-CN" sz="2400" b="1" dirty="0">
                <a:solidFill>
                  <a:srgbClr val="0000FF"/>
                </a:solidFill>
                <a:latin typeface="+mn-ea"/>
                <a:ea typeface="+mn-ea"/>
              </a:rPr>
              <a:t>P’</a:t>
            </a:r>
            <a:r>
              <a:rPr lang="en-US" altLang="zh-CN" sz="2400" dirty="0" smtClean="0">
                <a:latin typeface="+mn-ea"/>
                <a:ea typeface="+mn-ea"/>
              </a:rPr>
              <a:t> </a:t>
            </a:r>
            <a:r>
              <a:rPr lang="zh-CN" altLang="en-US" sz="2400" dirty="0" smtClean="0">
                <a:latin typeface="+mn-ea"/>
                <a:ea typeface="+mn-ea"/>
              </a:rPr>
              <a:t>区别，则称</a:t>
            </a:r>
            <a:r>
              <a:rPr lang="en-US" altLang="zh-CN" sz="2400" b="1" dirty="0">
                <a:solidFill>
                  <a:srgbClr val="0000FF"/>
                </a:solidFill>
                <a:latin typeface="+mn-ea"/>
                <a:ea typeface="+mn-ea"/>
              </a:rPr>
              <a:t>P’</a:t>
            </a:r>
            <a:r>
              <a:rPr lang="zh-CN" altLang="en-US" sz="2400" dirty="0" smtClean="0">
                <a:solidFill>
                  <a:srgbClr val="FF0000"/>
                </a:solidFill>
                <a:latin typeface="+mn-ea"/>
                <a:ea typeface="+mn-ea"/>
              </a:rPr>
              <a:t>等价</a:t>
            </a:r>
            <a:r>
              <a:rPr lang="zh-CN" altLang="en-US" sz="2400" dirty="0" smtClean="0">
                <a:latin typeface="+mn-ea"/>
                <a:ea typeface="+mn-ea"/>
              </a:rPr>
              <a:t>于</a:t>
            </a:r>
            <a:r>
              <a:rPr lang="en-US" altLang="zh-CN" sz="2400" b="1" dirty="0">
                <a:solidFill>
                  <a:srgbClr val="0000FF"/>
                </a:solidFill>
                <a:latin typeface="+mn-ea"/>
                <a:ea typeface="+mn-ea"/>
              </a:rPr>
              <a:t>P</a:t>
            </a:r>
            <a:r>
              <a:rPr lang="zh-CN" altLang="en-US" sz="2400" dirty="0" smtClean="0">
                <a:latin typeface="+mn-ea"/>
                <a:ea typeface="+mn-ea"/>
              </a:rPr>
              <a:t>。</a:t>
            </a:r>
            <a:endParaRPr lang="zh-CN" altLang="en-US" sz="2400" dirty="0" smtClean="0">
              <a:latin typeface="+mn-ea"/>
              <a:ea typeface="+mn-ea"/>
            </a:endParaRPr>
          </a:p>
          <a:p>
            <a:pPr marL="342900">
              <a:lnSpc>
                <a:spcPct val="110000"/>
              </a:lnSpc>
              <a:spcBef>
                <a:spcPct val="20000"/>
              </a:spcBef>
              <a:spcAft>
                <a:spcPts val="0"/>
              </a:spcAft>
              <a:buClr>
                <a:schemeClr val="tx2"/>
              </a:buClr>
              <a:buSzPct val="70000"/>
              <a:defRPr/>
            </a:pPr>
            <a:r>
              <a:rPr lang="zh-CN" altLang="en-US" sz="2400" dirty="0" smtClean="0">
                <a:latin typeface="+mn-ea"/>
                <a:ea typeface="+mn-ea"/>
              </a:rPr>
              <a:t>如果</a:t>
            </a:r>
            <a:r>
              <a:rPr lang="en-US" altLang="zh-CN" sz="2400" b="1" dirty="0">
                <a:solidFill>
                  <a:srgbClr val="0000FF"/>
                </a:solidFill>
                <a:latin typeface="+mn-ea"/>
                <a:ea typeface="+mn-ea"/>
              </a:rPr>
              <a:t>P’</a:t>
            </a:r>
            <a:r>
              <a:rPr lang="zh-CN" altLang="en-US" sz="2400" dirty="0" smtClean="0">
                <a:latin typeface="+mn-ea"/>
                <a:ea typeface="+mn-ea"/>
              </a:rPr>
              <a:t>不等价于</a:t>
            </a:r>
            <a:r>
              <a:rPr lang="en-US" altLang="zh-CN" sz="2400" b="1" dirty="0">
                <a:solidFill>
                  <a:srgbClr val="0000FF"/>
                </a:solidFill>
                <a:latin typeface="+mn-ea"/>
                <a:ea typeface="+mn-ea"/>
              </a:rPr>
              <a:t>P</a:t>
            </a:r>
            <a:r>
              <a:rPr lang="zh-CN" altLang="en-US" sz="2400" dirty="0" smtClean="0">
                <a:latin typeface="+mn-ea"/>
                <a:ea typeface="+mn-ea"/>
              </a:rPr>
              <a:t>，而且</a:t>
            </a:r>
            <a:r>
              <a:rPr lang="en-US" altLang="zh-CN" sz="2400" b="1" dirty="0">
                <a:solidFill>
                  <a:srgbClr val="0000FF"/>
                </a:solidFill>
                <a:latin typeface="+mn-ea"/>
                <a:ea typeface="+mn-ea"/>
              </a:rPr>
              <a:t>T</a:t>
            </a:r>
            <a:r>
              <a:rPr lang="zh-CN" altLang="en-US" sz="2400" dirty="0" smtClean="0">
                <a:latin typeface="+mn-ea"/>
                <a:ea typeface="+mn-ea"/>
              </a:rPr>
              <a:t>中没有测试能够将</a:t>
            </a:r>
            <a:r>
              <a:rPr lang="en-US" altLang="zh-CN" sz="2400" b="1" dirty="0">
                <a:solidFill>
                  <a:srgbClr val="0000FF"/>
                </a:solidFill>
                <a:latin typeface="+mn-ea"/>
                <a:ea typeface="+mn-ea"/>
              </a:rPr>
              <a:t>P’</a:t>
            </a:r>
            <a:r>
              <a:rPr lang="zh-CN" altLang="en-US" sz="2400" dirty="0" smtClean="0">
                <a:latin typeface="+mn-ea"/>
                <a:ea typeface="+mn-ea"/>
              </a:rPr>
              <a:t>与</a:t>
            </a:r>
            <a:r>
              <a:rPr lang="en-US" altLang="zh-CN" sz="2400" b="1" dirty="0">
                <a:solidFill>
                  <a:srgbClr val="0000FF"/>
                </a:solidFill>
                <a:latin typeface="+mn-ea"/>
                <a:ea typeface="+mn-ea"/>
              </a:rPr>
              <a:t>P</a:t>
            </a:r>
            <a:r>
              <a:rPr lang="zh-CN" altLang="en-US" sz="2400" dirty="0" smtClean="0">
                <a:latin typeface="+mn-ea"/>
                <a:ea typeface="+mn-ea"/>
              </a:rPr>
              <a:t>区别，则认为</a:t>
            </a:r>
            <a:r>
              <a:rPr lang="en-US" altLang="zh-CN" sz="2400" b="1" dirty="0">
                <a:solidFill>
                  <a:srgbClr val="0000FF"/>
                </a:solidFill>
                <a:latin typeface="+mn-ea"/>
                <a:ea typeface="+mn-ea"/>
              </a:rPr>
              <a:t>T</a:t>
            </a:r>
            <a:r>
              <a:rPr lang="zh-CN" altLang="en-US" sz="2400" dirty="0" smtClean="0">
                <a:latin typeface="+mn-ea"/>
                <a:ea typeface="+mn-ea"/>
              </a:rPr>
              <a:t>是不充分的。</a:t>
            </a:r>
            <a:endParaRPr lang="zh-CN" altLang="en-US" sz="2400" dirty="0" smtClean="0">
              <a:latin typeface="+mn-ea"/>
              <a:ea typeface="+mn-ea"/>
            </a:endParaRPr>
          </a:p>
          <a:p>
            <a:pPr marL="342900">
              <a:lnSpc>
                <a:spcPct val="110000"/>
              </a:lnSpc>
              <a:spcBef>
                <a:spcPct val="20000"/>
              </a:spcBef>
              <a:spcAft>
                <a:spcPts val="0"/>
              </a:spcAft>
              <a:buClr>
                <a:schemeClr val="tx2"/>
              </a:buClr>
              <a:buSzPct val="70000"/>
              <a:defRPr/>
            </a:pPr>
            <a:r>
              <a:rPr lang="zh-CN" altLang="en-US" sz="2400" dirty="0" smtClean="0">
                <a:latin typeface="+mn-ea"/>
                <a:ea typeface="+mn-ea"/>
              </a:rPr>
              <a:t>不等价而且是活的变异体为测试人员提供了一个生成新测试用例的机会，进而增强测试</a:t>
            </a:r>
            <a:r>
              <a:rPr lang="en-US" altLang="zh-CN" sz="2400" b="1" dirty="0">
                <a:solidFill>
                  <a:srgbClr val="0000FF"/>
                </a:solidFill>
                <a:latin typeface="+mn-ea"/>
                <a:ea typeface="+mn-ea"/>
              </a:rPr>
              <a:t>T</a:t>
            </a:r>
            <a:r>
              <a:rPr lang="zh-CN" altLang="en-US" sz="2400" dirty="0" smtClean="0">
                <a:latin typeface="+mn-ea"/>
                <a:ea typeface="+mn-ea"/>
              </a:rPr>
              <a:t>。</a:t>
            </a:r>
            <a:r>
              <a:rPr lang="en-US" altLang="zh-CN" sz="2400" dirty="0" smtClean="0">
                <a:latin typeface="+mn-ea"/>
                <a:ea typeface="+mn-ea"/>
              </a:rPr>
              <a:t> </a:t>
            </a:r>
            <a:endParaRPr lang="zh-CN" altLang="en-US" sz="2400" dirty="0" smtClean="0">
              <a:latin typeface="+mn-ea"/>
              <a:ea typeface="+mn-ea"/>
            </a:endParaRPr>
          </a:p>
          <a:p>
            <a:endParaRPr lang="zh-CN" altLang="en-US" sz="2400" dirty="0" smtClean="0">
              <a:latin typeface="+mn-ea"/>
              <a:ea typeface="+mn-ea"/>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C语言的变异算子</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sz="2400" smtClean="0"/>
              <a:t>Purdue</a:t>
            </a:r>
            <a:r>
              <a:rPr lang="zh-CN" altLang="en-US" sz="2400" smtClean="0"/>
              <a:t>大学的</a:t>
            </a:r>
            <a:r>
              <a:rPr lang="en-US" altLang="zh-CN" sz="2400" smtClean="0"/>
              <a:t>Richard A. Demillo</a:t>
            </a:r>
            <a:r>
              <a:rPr lang="zh-CN" altLang="en-US" sz="2400" smtClean="0"/>
              <a:t>领导的研究小组设计了最大、最全面也是唯一的</a:t>
            </a:r>
            <a:r>
              <a:rPr lang="en-US" altLang="zh-CN" sz="2400" smtClean="0"/>
              <a:t>C</a:t>
            </a:r>
            <a:r>
              <a:rPr lang="zh-CN" altLang="en-US" sz="2400" smtClean="0"/>
              <a:t>语言变异算子集合。</a:t>
            </a:r>
            <a:endParaRPr lang="en-US" altLang="zh-CN" sz="2400" smtClean="0"/>
          </a:p>
          <a:p>
            <a:r>
              <a:rPr lang="zh-CN" altLang="en-US" sz="2400" smtClean="0"/>
              <a:t>巴西</a:t>
            </a:r>
            <a:r>
              <a:rPr lang="en-US" altLang="zh-CN" sz="2400" smtClean="0"/>
              <a:t>Sao Carlos</a:t>
            </a:r>
            <a:r>
              <a:rPr lang="zh-CN" altLang="en-US" sz="2400" smtClean="0"/>
              <a:t>大学</a:t>
            </a:r>
            <a:r>
              <a:rPr lang="en-US" altLang="zh-CN" sz="2400" smtClean="0"/>
              <a:t>Jose Maldonado</a:t>
            </a:r>
            <a:r>
              <a:rPr lang="zh-CN" altLang="en-US" sz="2400" smtClean="0"/>
              <a:t>领导的研究小组在工具</a:t>
            </a:r>
            <a:r>
              <a:rPr lang="en-US" altLang="zh-CN" sz="2400" smtClean="0"/>
              <a:t>Proteum</a:t>
            </a:r>
            <a:r>
              <a:rPr lang="zh-CN" altLang="en-US" sz="2400" smtClean="0"/>
              <a:t>中实现了</a:t>
            </a:r>
            <a:r>
              <a:rPr lang="en-US" altLang="zh-CN" sz="2400" smtClean="0"/>
              <a:t>C</a:t>
            </a:r>
            <a:r>
              <a:rPr lang="zh-CN" altLang="en-US" sz="2400" smtClean="0"/>
              <a:t>语言的全部变异算子。</a:t>
            </a:r>
            <a:endParaRPr lang="en-US" altLang="zh-CN" sz="2400" smtClean="0"/>
          </a:p>
          <a:p>
            <a:r>
              <a:rPr lang="en-US" altLang="zh-CN" sz="2400" smtClean="0"/>
              <a:t>C</a:t>
            </a:r>
            <a:r>
              <a:rPr lang="zh-CN" altLang="en-US" sz="2400" smtClean="0"/>
              <a:t>语言的全部</a:t>
            </a:r>
            <a:r>
              <a:rPr lang="en-US" altLang="zh-CN" sz="2400" smtClean="0"/>
              <a:t>77</a:t>
            </a:r>
            <a:r>
              <a:rPr lang="zh-CN" altLang="en-US" sz="2400" smtClean="0"/>
              <a:t>个变异算子可分为四类：</a:t>
            </a:r>
            <a:endParaRPr lang="en-US" altLang="zh-CN" sz="2400" smtClean="0"/>
          </a:p>
          <a:p>
            <a:pPr lvl="1"/>
            <a:r>
              <a:rPr lang="zh-CN" altLang="en-US" sz="2000" b="1" smtClean="0">
                <a:solidFill>
                  <a:srgbClr val="0000FF"/>
                </a:solidFill>
              </a:rPr>
              <a:t>常量变异</a:t>
            </a:r>
            <a:endParaRPr lang="en-US" altLang="zh-CN" sz="2000" b="1" smtClean="0">
              <a:solidFill>
                <a:srgbClr val="0000FF"/>
              </a:solidFill>
            </a:endParaRPr>
          </a:p>
          <a:p>
            <a:pPr lvl="1"/>
            <a:r>
              <a:rPr lang="zh-CN" altLang="en-US" sz="2000" b="1" smtClean="0">
                <a:solidFill>
                  <a:srgbClr val="0000FF"/>
                </a:solidFill>
              </a:rPr>
              <a:t>运算符变异</a:t>
            </a:r>
            <a:endParaRPr lang="en-US" altLang="zh-CN" sz="2000" b="1" smtClean="0">
              <a:solidFill>
                <a:srgbClr val="0000FF"/>
              </a:solidFill>
            </a:endParaRPr>
          </a:p>
          <a:p>
            <a:pPr lvl="1"/>
            <a:r>
              <a:rPr lang="zh-CN" altLang="en-US" sz="2000" b="1" smtClean="0">
                <a:solidFill>
                  <a:srgbClr val="0000FF"/>
                </a:solidFill>
              </a:rPr>
              <a:t>语句变异</a:t>
            </a:r>
            <a:endParaRPr lang="en-US" altLang="zh-CN" sz="2000" b="1" smtClean="0">
              <a:solidFill>
                <a:srgbClr val="0000FF"/>
              </a:solidFill>
            </a:endParaRPr>
          </a:p>
          <a:p>
            <a:pPr lvl="1"/>
            <a:r>
              <a:rPr lang="zh-CN" altLang="en-US" sz="2000" b="1" smtClean="0">
                <a:solidFill>
                  <a:srgbClr val="0000FF"/>
                </a:solidFill>
              </a:rPr>
              <a:t>变量变异</a:t>
            </a:r>
            <a:endParaRPr lang="zh-CN" altLang="en-US" sz="2000" b="1" smtClean="0">
              <a:solidFill>
                <a:srgbClr val="0000FF"/>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C语言的常量变异</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smtClean="0"/>
              <a:t>C</a:t>
            </a:r>
            <a:r>
              <a:rPr lang="zh-CN" altLang="en-US" smtClean="0"/>
              <a:t>语言中的常量变异算子表</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2209800" y="2505075"/>
          <a:ext cx="7772400" cy="3185760"/>
        </p:xfrm>
        <a:graphic>
          <a:graphicData uri="http://schemas.openxmlformats.org/drawingml/2006/table">
            <a:tbl>
              <a:tblPr firstRow="1" bandRow="1">
                <a:tableStyleId>{21E4AEA4-8DFA-4A89-87EB-49C32662AFE0}</a:tableStyleId>
              </a:tblPr>
              <a:tblGrid>
                <a:gridCol w="1524000"/>
                <a:gridCol w="1219200"/>
                <a:gridCol w="5029200"/>
              </a:tblGrid>
              <a:tr h="370840">
                <a:tc>
                  <a:txBody>
                    <a:bodyPr/>
                    <a:lstStyle/>
                    <a:p>
                      <a:pPr algn="ctr">
                        <a:spcBef>
                          <a:spcPts val="300"/>
                        </a:spcBef>
                        <a:spcAft>
                          <a:spcPts val="300"/>
                        </a:spcAft>
                      </a:pPr>
                      <a:r>
                        <a:rPr lang="zh-CN" altLang="en-US" sz="2400" smtClean="0"/>
                        <a:t>名称</a:t>
                      </a:r>
                      <a:endParaRPr lang="zh-CN" altLang="en-US" sz="2400"/>
                    </a:p>
                  </a:txBody>
                  <a:tcPr marT="108000" marB="108000"/>
                </a:tc>
                <a:tc>
                  <a:txBody>
                    <a:bodyPr/>
                    <a:lstStyle/>
                    <a:p>
                      <a:pPr algn="ctr">
                        <a:spcBef>
                          <a:spcPts val="300"/>
                        </a:spcBef>
                        <a:spcAft>
                          <a:spcPts val="300"/>
                        </a:spcAft>
                      </a:pPr>
                      <a:r>
                        <a:rPr lang="zh-CN" altLang="en-US" sz="2400" smtClean="0"/>
                        <a:t>定义域</a:t>
                      </a:r>
                      <a:endParaRPr lang="zh-CN" altLang="en-US" sz="2400"/>
                    </a:p>
                  </a:txBody>
                  <a:tcPr marT="108000" marB="108000"/>
                </a:tc>
                <a:tc>
                  <a:txBody>
                    <a:bodyPr/>
                    <a:lstStyle/>
                    <a:p>
                      <a:pPr algn="ctr">
                        <a:spcBef>
                          <a:spcPts val="300"/>
                        </a:spcBef>
                        <a:spcAft>
                          <a:spcPts val="300"/>
                        </a:spcAft>
                      </a:pPr>
                      <a:r>
                        <a:rPr lang="zh-CN" altLang="en-US" sz="2400" smtClean="0"/>
                        <a:t>说明</a:t>
                      </a:r>
                      <a:endParaRPr lang="zh-CN" altLang="en-US" sz="2400"/>
                    </a:p>
                  </a:txBody>
                  <a:tcPr marT="108000" marB="108000"/>
                </a:tc>
              </a:tr>
              <a:tr h="370840">
                <a:tc>
                  <a:txBody>
                    <a:bodyPr/>
                    <a:lstStyle/>
                    <a:p>
                      <a:pPr algn="ctr">
                        <a:spcBef>
                          <a:spcPts val="300"/>
                        </a:spcBef>
                        <a:spcAft>
                          <a:spcPts val="300"/>
                        </a:spcAft>
                      </a:pPr>
                      <a:r>
                        <a:rPr lang="en-US" altLang="zh-CN" sz="2000" smtClean="0"/>
                        <a:t>CGCR</a:t>
                      </a:r>
                      <a:endParaRPr lang="zh-CN" altLang="en-US" sz="2000"/>
                    </a:p>
                  </a:txBody>
                  <a:tcPr marT="108000" marB="108000"/>
                </a:tc>
                <a:tc>
                  <a:txBody>
                    <a:bodyPr/>
                    <a:lstStyle/>
                    <a:p>
                      <a:pPr algn="ctr">
                        <a:spcBef>
                          <a:spcPts val="300"/>
                        </a:spcBef>
                        <a:spcAft>
                          <a:spcPts val="300"/>
                        </a:spcAft>
                      </a:pPr>
                      <a:r>
                        <a:rPr lang="zh-CN" altLang="en-US" sz="2000" smtClean="0"/>
                        <a:t>常量</a:t>
                      </a:r>
                      <a:endParaRPr lang="zh-CN" altLang="en-US" sz="2000"/>
                    </a:p>
                  </a:txBody>
                  <a:tcPr marT="108000" marB="108000"/>
                </a:tc>
                <a:tc>
                  <a:txBody>
                    <a:bodyPr/>
                    <a:lstStyle/>
                    <a:p>
                      <a:pPr>
                        <a:spcBef>
                          <a:spcPts val="300"/>
                        </a:spcBef>
                        <a:spcAft>
                          <a:spcPts val="300"/>
                        </a:spcAft>
                      </a:pPr>
                      <a:r>
                        <a:rPr lang="zh-CN" altLang="en-US" sz="2000" smtClean="0"/>
                        <a:t>使用全局变量替换程序中出现的常量</a:t>
                      </a:r>
                      <a:endParaRPr lang="zh-CN" altLang="en-US" sz="2000"/>
                    </a:p>
                  </a:txBody>
                  <a:tcPr marT="108000" marB="108000"/>
                </a:tc>
              </a:tr>
              <a:tr h="370840">
                <a:tc>
                  <a:txBody>
                    <a:bodyPr/>
                    <a:lstStyle/>
                    <a:p>
                      <a:pPr algn="ctr">
                        <a:spcBef>
                          <a:spcPts val="300"/>
                        </a:spcBef>
                        <a:spcAft>
                          <a:spcPts val="300"/>
                        </a:spcAft>
                      </a:pPr>
                      <a:r>
                        <a:rPr lang="en-US" altLang="zh-CN" sz="2000" smtClean="0"/>
                        <a:t>CLSR</a:t>
                      </a:r>
                      <a:endParaRPr lang="zh-CN" altLang="en-US" sz="2000"/>
                    </a:p>
                  </a:txBody>
                  <a:tcPr marT="108000" marB="108000"/>
                </a:tc>
                <a:tc>
                  <a:txBody>
                    <a:bodyPr/>
                    <a:lstStyle/>
                    <a:p>
                      <a:pPr algn="ctr">
                        <a:spcBef>
                          <a:spcPts val="300"/>
                        </a:spcBef>
                        <a:spcAft>
                          <a:spcPts val="300"/>
                        </a:spcAft>
                      </a:pPr>
                      <a:r>
                        <a:rPr lang="zh-CN" altLang="en-US" sz="2000" smtClean="0"/>
                        <a:t>常量</a:t>
                      </a:r>
                      <a:endParaRPr lang="zh-CN" altLang="en-US" sz="2000"/>
                    </a:p>
                  </a:txBody>
                  <a:tcPr marT="108000" marB="108000"/>
                </a:tc>
                <a:tc>
                  <a:txBody>
                    <a:bodyPr/>
                    <a:lstStyle/>
                    <a:p>
                      <a:pPr>
                        <a:spcBef>
                          <a:spcPts val="300"/>
                        </a:spcBef>
                        <a:spcAft>
                          <a:spcPts val="300"/>
                        </a:spcAft>
                      </a:pPr>
                      <a:r>
                        <a:rPr lang="zh-CN" altLang="en-US" sz="2000" smtClean="0"/>
                        <a:t>使用局部变量替换程序中出现的标量</a:t>
                      </a:r>
                      <a:endParaRPr lang="zh-CN" altLang="en-US" sz="2000"/>
                    </a:p>
                  </a:txBody>
                  <a:tcPr marT="108000" marB="108000"/>
                </a:tc>
              </a:tr>
              <a:tr h="370840">
                <a:tc>
                  <a:txBody>
                    <a:bodyPr/>
                    <a:lstStyle/>
                    <a:p>
                      <a:pPr algn="ctr">
                        <a:spcBef>
                          <a:spcPts val="300"/>
                        </a:spcBef>
                        <a:spcAft>
                          <a:spcPts val="300"/>
                        </a:spcAft>
                      </a:pPr>
                      <a:r>
                        <a:rPr lang="en-US" altLang="zh-CN" sz="2000" smtClean="0"/>
                        <a:t>CGSR</a:t>
                      </a:r>
                      <a:endParaRPr lang="zh-CN" altLang="en-US" sz="2000"/>
                    </a:p>
                  </a:txBody>
                  <a:tcPr marT="108000" marB="108000"/>
                </a:tc>
                <a:tc>
                  <a:txBody>
                    <a:bodyPr/>
                    <a:lstStyle/>
                    <a:p>
                      <a:pPr algn="ctr">
                        <a:spcBef>
                          <a:spcPts val="300"/>
                        </a:spcBef>
                        <a:spcAft>
                          <a:spcPts val="300"/>
                        </a:spcAft>
                      </a:pPr>
                      <a:r>
                        <a:rPr lang="zh-CN" altLang="en-US" sz="2000" smtClean="0"/>
                        <a:t>常量</a:t>
                      </a:r>
                      <a:endParaRPr lang="zh-CN" altLang="en-US" sz="2000"/>
                    </a:p>
                  </a:txBody>
                  <a:tcPr marT="108000" marB="108000"/>
                </a:tc>
                <a:tc>
                  <a:txBody>
                    <a:bodyPr/>
                    <a:lstStyle/>
                    <a:p>
                      <a:pPr>
                        <a:spcBef>
                          <a:spcPts val="300"/>
                        </a:spcBef>
                        <a:spcAft>
                          <a:spcPts val="300"/>
                        </a:spcAft>
                      </a:pPr>
                      <a:r>
                        <a:rPr lang="zh-CN" altLang="en-US" sz="2000" smtClean="0"/>
                        <a:t>使用全局变量替换程序中出现的标量</a:t>
                      </a:r>
                      <a:endParaRPr lang="zh-CN" altLang="en-US" sz="2000"/>
                    </a:p>
                  </a:txBody>
                  <a:tcPr marT="108000" marB="108000"/>
                </a:tc>
              </a:tr>
              <a:tr h="370840">
                <a:tc>
                  <a:txBody>
                    <a:bodyPr/>
                    <a:lstStyle/>
                    <a:p>
                      <a:pPr algn="ctr">
                        <a:spcBef>
                          <a:spcPts val="300"/>
                        </a:spcBef>
                        <a:spcAft>
                          <a:spcPts val="300"/>
                        </a:spcAft>
                      </a:pPr>
                      <a:r>
                        <a:rPr lang="en-US" altLang="zh-CN" sz="2000" smtClean="0"/>
                        <a:t>CRCR</a:t>
                      </a:r>
                      <a:endParaRPr lang="zh-CN" altLang="en-US" sz="2000"/>
                    </a:p>
                  </a:txBody>
                  <a:tcPr marT="108000" marB="108000"/>
                </a:tc>
                <a:tc>
                  <a:txBody>
                    <a:bodyPr/>
                    <a:lstStyle/>
                    <a:p>
                      <a:pPr algn="ctr">
                        <a:spcBef>
                          <a:spcPts val="300"/>
                        </a:spcBef>
                        <a:spcAft>
                          <a:spcPts val="300"/>
                        </a:spcAft>
                      </a:pPr>
                      <a:r>
                        <a:rPr lang="zh-CN" altLang="en-US" sz="2000" smtClean="0"/>
                        <a:t>常量</a:t>
                      </a:r>
                      <a:endParaRPr lang="zh-CN" altLang="en-US" sz="2000"/>
                    </a:p>
                  </a:txBody>
                  <a:tcPr marT="108000" marB="108000"/>
                </a:tc>
                <a:tc>
                  <a:txBody>
                    <a:bodyPr/>
                    <a:lstStyle/>
                    <a:p>
                      <a:pPr>
                        <a:spcBef>
                          <a:spcPts val="300"/>
                        </a:spcBef>
                        <a:spcAft>
                          <a:spcPts val="300"/>
                        </a:spcAft>
                      </a:pPr>
                      <a:r>
                        <a:rPr lang="zh-CN" altLang="en-US" sz="2000" smtClean="0"/>
                        <a:t>必需的常量替换</a:t>
                      </a:r>
                      <a:endParaRPr lang="zh-CN" altLang="en-US" sz="2000"/>
                    </a:p>
                  </a:txBody>
                  <a:tcPr marT="108000" marB="108000"/>
                </a:tc>
              </a:tr>
              <a:tr h="370840">
                <a:tc>
                  <a:txBody>
                    <a:bodyPr/>
                    <a:lstStyle/>
                    <a:p>
                      <a:pPr algn="ctr">
                        <a:spcBef>
                          <a:spcPts val="300"/>
                        </a:spcBef>
                        <a:spcAft>
                          <a:spcPts val="300"/>
                        </a:spcAft>
                      </a:pPr>
                      <a:r>
                        <a:rPr lang="en-US" altLang="zh-CN" sz="2000" smtClean="0"/>
                        <a:t>CLCR</a:t>
                      </a:r>
                      <a:endParaRPr lang="zh-CN" altLang="en-US" sz="2000"/>
                    </a:p>
                  </a:txBody>
                  <a:tcPr marT="108000" marB="108000"/>
                </a:tc>
                <a:tc>
                  <a:txBody>
                    <a:bodyPr/>
                    <a:lstStyle/>
                    <a:p>
                      <a:pPr algn="ctr">
                        <a:spcBef>
                          <a:spcPts val="300"/>
                        </a:spcBef>
                        <a:spcAft>
                          <a:spcPts val="300"/>
                        </a:spcAft>
                      </a:pPr>
                      <a:r>
                        <a:rPr lang="zh-CN" altLang="en-US" sz="2000" smtClean="0"/>
                        <a:t>常量</a:t>
                      </a:r>
                      <a:endParaRPr lang="zh-CN" altLang="en-US" sz="2000"/>
                    </a:p>
                  </a:txBody>
                  <a:tcPr marT="108000" marB="108000"/>
                </a:tc>
                <a:tc>
                  <a:txBody>
                    <a:bodyPr/>
                    <a:lstStyle/>
                    <a:p>
                      <a:pPr>
                        <a:spcBef>
                          <a:spcPts val="300"/>
                        </a:spcBef>
                        <a:spcAft>
                          <a:spcPts val="300"/>
                        </a:spcAft>
                      </a:pPr>
                      <a:r>
                        <a:rPr lang="zh-CN" altLang="en-US" sz="2000" smtClean="0"/>
                        <a:t>使用局部常量替换程序中出现的常量</a:t>
                      </a:r>
                      <a:endParaRPr lang="zh-CN" altLang="en-US" sz="2000"/>
                    </a:p>
                  </a:txBody>
                  <a:tcPr marT="108000" marB="108000"/>
                </a:tc>
              </a:tr>
            </a:tbl>
          </a:graphicData>
        </a:graphic>
      </p:graphicFrame>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C语言的常量变异</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1066800" y="1570990"/>
            <a:ext cx="9372600" cy="4589145"/>
          </a:xfrm>
        </p:spPr>
        <p:txBody>
          <a:bodyPr/>
          <a:lstStyle/>
          <a:p>
            <a:r>
              <a:rPr lang="zh-CN" altLang="en-US" sz="2400" dirty="0" smtClean="0"/>
              <a:t>实例：</a:t>
            </a:r>
            <a:r>
              <a:rPr lang="en-US" altLang="zh-CN" sz="2400" dirty="0" smtClean="0"/>
              <a:t>CRCR-</a:t>
            </a:r>
            <a:r>
              <a:rPr lang="zh-CN" altLang="en-US" sz="2400" dirty="0" smtClean="0"/>
              <a:t>必需的常量替换</a:t>
            </a:r>
            <a:endParaRPr lang="en-US" altLang="zh-CN" sz="2400" dirty="0" smtClean="0"/>
          </a:p>
          <a:p>
            <a:r>
              <a:rPr lang="zh-CN" altLang="en-US" sz="2400" dirty="0" smtClean="0"/>
              <a:t>考虑语句 </a:t>
            </a:r>
            <a:r>
              <a:rPr lang="en-US" altLang="zh-CN" sz="2400" b="1" dirty="0" smtClean="0">
                <a:solidFill>
                  <a:srgbClr val="0000FF"/>
                </a:solidFill>
              </a:rPr>
              <a:t>k = j + *p</a:t>
            </a:r>
            <a:r>
              <a:rPr lang="zh-CN" altLang="en-US" sz="2400" dirty="0" smtClean="0"/>
              <a:t>，其中</a:t>
            </a:r>
            <a:r>
              <a:rPr lang="en-US" altLang="zh-CN" sz="2400" dirty="0" smtClean="0"/>
              <a:t>k, j</a:t>
            </a:r>
            <a:r>
              <a:rPr lang="zh-CN" altLang="en-US" sz="2400" dirty="0" smtClean="0"/>
              <a:t>都是整数，</a:t>
            </a:r>
            <a:r>
              <a:rPr lang="en-US" altLang="zh-CN" sz="2400" dirty="0" smtClean="0"/>
              <a:t>p</a:t>
            </a:r>
            <a:r>
              <a:rPr lang="zh-CN" altLang="en-US" sz="2400" dirty="0" smtClean="0"/>
              <a:t>是一个指向整数的指针，当对该语句进行</a:t>
            </a:r>
            <a:r>
              <a:rPr lang="en-US" altLang="zh-CN" sz="2400" dirty="0" smtClean="0"/>
              <a:t>CRCR</a:t>
            </a:r>
            <a:r>
              <a:rPr lang="zh-CN" altLang="en-US" sz="2400" dirty="0" smtClean="0"/>
              <a:t>变异时，得到下面的变异体：</a:t>
            </a:r>
            <a:endParaRPr lang="en-US" altLang="zh-CN" sz="2400" dirty="0" smtClean="0"/>
          </a:p>
          <a:p>
            <a:pPr lvl="1"/>
            <a:r>
              <a:rPr lang="en-US" altLang="zh-CN" sz="2000" dirty="0" smtClean="0"/>
              <a:t>k = </a:t>
            </a:r>
            <a:r>
              <a:rPr lang="en-US" altLang="zh-CN" sz="2000" b="1" dirty="0" smtClean="0">
                <a:solidFill>
                  <a:srgbClr val="FF0000"/>
                </a:solidFill>
              </a:rPr>
              <a:t>0</a:t>
            </a:r>
            <a:r>
              <a:rPr lang="en-US" altLang="zh-CN" sz="2000" dirty="0" smtClean="0"/>
              <a:t> + *p</a:t>
            </a:r>
            <a:endParaRPr lang="en-US" altLang="zh-CN" sz="2000" dirty="0" smtClean="0"/>
          </a:p>
          <a:p>
            <a:pPr lvl="1"/>
            <a:r>
              <a:rPr lang="en-US" altLang="zh-CN" sz="2000" dirty="0" smtClean="0"/>
              <a:t>k = </a:t>
            </a:r>
            <a:r>
              <a:rPr lang="en-US" altLang="zh-CN" sz="2000" b="1" dirty="0">
                <a:solidFill>
                  <a:srgbClr val="FF0000"/>
                </a:solidFill>
              </a:rPr>
              <a:t>1</a:t>
            </a:r>
            <a:r>
              <a:rPr lang="en-US" altLang="zh-CN" sz="2000" dirty="0" smtClean="0"/>
              <a:t> + *p</a:t>
            </a:r>
            <a:endParaRPr lang="en-US" altLang="zh-CN" sz="2000" dirty="0" smtClean="0"/>
          </a:p>
          <a:p>
            <a:pPr lvl="1"/>
            <a:r>
              <a:rPr lang="en-US" altLang="zh-CN" sz="2000" dirty="0" smtClean="0"/>
              <a:t>k = </a:t>
            </a:r>
            <a:r>
              <a:rPr lang="en-US" altLang="zh-CN" sz="2000" b="1" dirty="0">
                <a:solidFill>
                  <a:srgbClr val="FF0000"/>
                </a:solidFill>
              </a:rPr>
              <a:t>-1</a:t>
            </a:r>
            <a:r>
              <a:rPr lang="en-US" altLang="zh-CN" sz="2000" dirty="0" smtClean="0"/>
              <a:t> + *p</a:t>
            </a:r>
            <a:endParaRPr lang="en-US" altLang="zh-CN" sz="2000" dirty="0" smtClean="0"/>
          </a:p>
          <a:p>
            <a:pPr lvl="1"/>
            <a:r>
              <a:rPr lang="en-US" altLang="zh-CN" sz="2000" dirty="0" smtClean="0"/>
              <a:t>k = </a:t>
            </a:r>
            <a:r>
              <a:rPr lang="en-US" altLang="zh-CN" sz="2000" b="1" dirty="0" err="1">
                <a:solidFill>
                  <a:srgbClr val="FF0000"/>
                </a:solidFill>
              </a:rPr>
              <a:t>u</a:t>
            </a:r>
            <a:r>
              <a:rPr lang="en-US" altLang="zh-CN" sz="2000" b="1" baseline="-25000" dirty="0" err="1">
                <a:solidFill>
                  <a:srgbClr val="FF0000"/>
                </a:solidFill>
              </a:rPr>
              <a:t>i</a:t>
            </a:r>
            <a:r>
              <a:rPr lang="en-US" altLang="zh-CN" sz="2000" dirty="0" smtClean="0"/>
              <a:t> + *p</a:t>
            </a:r>
            <a:endParaRPr lang="en-US" altLang="zh-CN" sz="2000" dirty="0" smtClean="0"/>
          </a:p>
          <a:p>
            <a:pPr lvl="1"/>
            <a:r>
              <a:rPr lang="en-US" altLang="zh-CN" sz="2000" dirty="0" smtClean="0"/>
              <a:t>k = j + </a:t>
            </a:r>
            <a:r>
              <a:rPr lang="en-US" altLang="zh-CN" sz="2000" b="1" dirty="0" smtClean="0">
                <a:solidFill>
                  <a:srgbClr val="FF0000"/>
                </a:solidFill>
              </a:rPr>
              <a:t>null</a:t>
            </a:r>
            <a:endParaRPr lang="en-US" altLang="zh-CN" sz="2000" b="1" dirty="0" smtClean="0">
              <a:solidFill>
                <a:srgbClr val="FF0000"/>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C语言的运算符变异</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a:lnSpc>
                <a:spcPct val="150000"/>
              </a:lnSpc>
            </a:pPr>
            <a:r>
              <a:rPr lang="zh-CN" altLang="en-US" smtClean="0"/>
              <a:t>运算符（</a:t>
            </a:r>
            <a:r>
              <a:rPr lang="en-US" altLang="zh-CN" smtClean="0"/>
              <a:t>operator</a:t>
            </a:r>
            <a:r>
              <a:rPr lang="zh-CN" altLang="en-US" smtClean="0"/>
              <a:t>）指的是</a:t>
            </a:r>
            <a:r>
              <a:rPr lang="en-US" altLang="zh-CN" smtClean="0"/>
              <a:t>C</a:t>
            </a:r>
            <a:r>
              <a:rPr lang="zh-CN" altLang="en-US" smtClean="0"/>
              <a:t>语言中的运算符，比如算术运算符</a:t>
            </a:r>
            <a:r>
              <a:rPr lang="en-US" altLang="zh-CN" smtClean="0"/>
              <a:t>+</a:t>
            </a:r>
            <a:r>
              <a:rPr lang="zh-CN" altLang="en-US" smtClean="0"/>
              <a:t>和关系运算符</a:t>
            </a:r>
            <a:r>
              <a:rPr lang="en-US" altLang="zh-CN" smtClean="0"/>
              <a:t>&lt;</a:t>
            </a:r>
            <a:endParaRPr lang="en-US" altLang="zh-CN" smtClean="0"/>
          </a:p>
          <a:p>
            <a:pPr>
              <a:lnSpc>
                <a:spcPct val="150000"/>
              </a:lnSpc>
            </a:pPr>
            <a:r>
              <a:rPr lang="zh-CN" altLang="en-US" smtClean="0"/>
              <a:t>运算符变异分类：</a:t>
            </a:r>
            <a:endParaRPr lang="en-US" altLang="zh-CN" smtClean="0"/>
          </a:p>
          <a:p>
            <a:pPr lvl="1">
              <a:lnSpc>
                <a:spcPct val="150000"/>
              </a:lnSpc>
            </a:pPr>
            <a:r>
              <a:rPr lang="zh-CN" altLang="en-US" b="1" smtClean="0">
                <a:solidFill>
                  <a:srgbClr val="0000FF"/>
                </a:solidFill>
              </a:rPr>
              <a:t>二元运算符变异</a:t>
            </a:r>
            <a:endParaRPr lang="en-US" altLang="zh-CN" b="1" smtClean="0">
              <a:solidFill>
                <a:srgbClr val="0000FF"/>
              </a:solidFill>
            </a:endParaRPr>
          </a:p>
          <a:p>
            <a:pPr lvl="2">
              <a:lnSpc>
                <a:spcPct val="150000"/>
              </a:lnSpc>
              <a:spcBef>
                <a:spcPts val="600"/>
              </a:spcBef>
            </a:pPr>
            <a:r>
              <a:rPr lang="zh-CN" altLang="en-US" smtClean="0"/>
              <a:t>同类运算符替换（</a:t>
            </a:r>
            <a:r>
              <a:rPr lang="en-US" altLang="zh-CN" smtClean="0"/>
              <a:t>Ocor</a:t>
            </a:r>
            <a:r>
              <a:rPr lang="zh-CN" altLang="en-US" smtClean="0"/>
              <a:t>）</a:t>
            </a:r>
            <a:endParaRPr lang="en-US" altLang="zh-CN" smtClean="0"/>
          </a:p>
          <a:p>
            <a:pPr lvl="2">
              <a:lnSpc>
                <a:spcPct val="150000"/>
              </a:lnSpc>
              <a:spcBef>
                <a:spcPts val="600"/>
              </a:spcBef>
            </a:pPr>
            <a:r>
              <a:rPr lang="zh-CN" altLang="en-US" smtClean="0"/>
              <a:t>非同类运算符替换（</a:t>
            </a:r>
            <a:r>
              <a:rPr lang="en-US" altLang="zh-CN" smtClean="0"/>
              <a:t>Oior</a:t>
            </a:r>
            <a:r>
              <a:rPr lang="zh-CN" altLang="en-US" smtClean="0"/>
              <a:t>）</a:t>
            </a:r>
            <a:endParaRPr lang="en-US" altLang="zh-CN" smtClean="0"/>
          </a:p>
          <a:p>
            <a:pPr lvl="1">
              <a:lnSpc>
                <a:spcPct val="150000"/>
              </a:lnSpc>
            </a:pPr>
            <a:r>
              <a:rPr lang="zh-CN" altLang="en-US" b="1" smtClean="0">
                <a:solidFill>
                  <a:srgbClr val="0000FF"/>
                </a:solidFill>
              </a:rPr>
              <a:t>一元运算符变异</a:t>
            </a:r>
            <a:endParaRPr lang="zh-CN" altLang="en-US" b="1">
              <a:solidFill>
                <a:srgbClr val="0000FF"/>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a:solidFill>
                  <a:srgbClr val="C00000"/>
                </a:solidFill>
                <a:latin typeface="Times New Roman" panose="02020603050405020304" pitchFamily="18" charset="0"/>
                <a:cs typeface="Times New Roman" panose="02020603050405020304" pitchFamily="18" charset="0"/>
              </a:rPr>
              <a:t>C语言中运算符变异</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smtClean="0"/>
              <a:t>Ocor</a:t>
            </a:r>
            <a:r>
              <a:rPr lang="zh-CN" altLang="en-US" smtClean="0"/>
              <a:t>中变异算子的定义域和值域</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2133600" y="2221265"/>
          <a:ext cx="7772401" cy="4100160"/>
        </p:xfrm>
        <a:graphic>
          <a:graphicData uri="http://schemas.openxmlformats.org/drawingml/2006/table">
            <a:tbl>
              <a:tblPr firstRow="1" bandRow="1">
                <a:tableStyleId>{21E4AEA4-8DFA-4A89-87EB-49C32662AFE0}</a:tableStyleId>
              </a:tblPr>
              <a:tblGrid>
                <a:gridCol w="1317356"/>
                <a:gridCol w="1806844"/>
                <a:gridCol w="1524000"/>
                <a:gridCol w="3124201"/>
              </a:tblGrid>
              <a:tr h="370840">
                <a:tc>
                  <a:txBody>
                    <a:bodyPr/>
                    <a:lstStyle/>
                    <a:p>
                      <a:pPr algn="ctr">
                        <a:spcBef>
                          <a:spcPts val="300"/>
                        </a:spcBef>
                        <a:spcAft>
                          <a:spcPts val="300"/>
                        </a:spcAft>
                      </a:pPr>
                      <a:r>
                        <a:rPr lang="zh-CN" altLang="en-US" sz="2400" smtClean="0"/>
                        <a:t>名称</a:t>
                      </a:r>
                      <a:endParaRPr lang="zh-CN" altLang="en-US" sz="2400"/>
                    </a:p>
                  </a:txBody>
                  <a:tcPr marT="72000" marB="72000"/>
                </a:tc>
                <a:tc>
                  <a:txBody>
                    <a:bodyPr/>
                    <a:lstStyle/>
                    <a:p>
                      <a:pPr algn="ctr">
                        <a:spcBef>
                          <a:spcPts val="300"/>
                        </a:spcBef>
                        <a:spcAft>
                          <a:spcPts val="300"/>
                        </a:spcAft>
                      </a:pPr>
                      <a:r>
                        <a:rPr lang="zh-CN" altLang="en-US" sz="2400" smtClean="0"/>
                        <a:t>定义域</a:t>
                      </a:r>
                      <a:endParaRPr lang="zh-CN" altLang="en-US" sz="2400"/>
                    </a:p>
                  </a:txBody>
                  <a:tcPr marT="72000" marB="72000"/>
                </a:tc>
                <a:tc>
                  <a:txBody>
                    <a:bodyPr/>
                    <a:lstStyle/>
                    <a:p>
                      <a:pPr algn="ctr">
                        <a:spcBef>
                          <a:spcPts val="300"/>
                        </a:spcBef>
                        <a:spcAft>
                          <a:spcPts val="300"/>
                        </a:spcAft>
                      </a:pPr>
                      <a:r>
                        <a:rPr lang="zh-CN" altLang="en-US" sz="2400" smtClean="0"/>
                        <a:t>值域</a:t>
                      </a:r>
                      <a:endParaRPr lang="zh-CN" altLang="en-US" sz="2400"/>
                    </a:p>
                  </a:txBody>
                  <a:tcPr marT="72000" marB="72000"/>
                </a:tc>
                <a:tc>
                  <a:txBody>
                    <a:bodyPr/>
                    <a:lstStyle/>
                    <a:p>
                      <a:pPr algn="ctr">
                        <a:spcBef>
                          <a:spcPts val="300"/>
                        </a:spcBef>
                        <a:spcAft>
                          <a:spcPts val="300"/>
                        </a:spcAft>
                      </a:pPr>
                      <a:r>
                        <a:rPr lang="zh-CN" altLang="en-US" sz="2400" smtClean="0"/>
                        <a:t>示例</a:t>
                      </a:r>
                      <a:endParaRPr lang="zh-CN" altLang="en-US" sz="2400"/>
                    </a:p>
                  </a:txBody>
                  <a:tcPr marT="72000" marB="72000"/>
                </a:tc>
              </a:tr>
              <a:tr h="370840">
                <a:tc>
                  <a:txBody>
                    <a:bodyPr/>
                    <a:lstStyle/>
                    <a:p>
                      <a:pPr algn="ctr">
                        <a:spcBef>
                          <a:spcPts val="300"/>
                        </a:spcBef>
                        <a:spcAft>
                          <a:spcPts val="300"/>
                        </a:spcAft>
                      </a:pPr>
                      <a:r>
                        <a:rPr lang="en-US" altLang="zh-CN" sz="2000" smtClean="0"/>
                        <a:t>OAAA</a:t>
                      </a:r>
                      <a:endParaRPr lang="zh-CN" altLang="en-US" sz="2000"/>
                    </a:p>
                  </a:txBody>
                  <a:tcPr marT="72000" marB="72000"/>
                </a:tc>
                <a:tc>
                  <a:txBody>
                    <a:bodyPr/>
                    <a:lstStyle/>
                    <a:p>
                      <a:pPr algn="ctr">
                        <a:spcBef>
                          <a:spcPts val="300"/>
                        </a:spcBef>
                        <a:spcAft>
                          <a:spcPts val="300"/>
                        </a:spcAft>
                      </a:pPr>
                      <a:r>
                        <a:rPr lang="zh-CN" altLang="en-US" sz="2000" smtClean="0"/>
                        <a:t>算术赋值</a:t>
                      </a:r>
                      <a:endParaRPr lang="zh-CN" altLang="en-US" sz="2000"/>
                    </a:p>
                  </a:txBody>
                  <a:tcPr marT="72000" marB="72000"/>
                </a:tc>
                <a:tc>
                  <a:txBody>
                    <a:bodyPr/>
                    <a:lstStyle/>
                    <a:p>
                      <a:pPr algn="ctr">
                        <a:spcBef>
                          <a:spcPts val="300"/>
                        </a:spcBef>
                        <a:spcAft>
                          <a:spcPts val="300"/>
                        </a:spcAft>
                      </a:pPr>
                      <a:r>
                        <a:rPr lang="zh-CN" altLang="en-US" sz="2000" smtClean="0"/>
                        <a:t>算术赋值</a:t>
                      </a:r>
                      <a:endParaRPr lang="zh-CN" altLang="en-US" sz="2000"/>
                    </a:p>
                  </a:txBody>
                  <a:tcPr marT="72000" marB="72000"/>
                </a:tc>
                <a:tc>
                  <a:txBody>
                    <a:bodyPr/>
                    <a:lstStyle/>
                    <a:p>
                      <a:pPr>
                        <a:spcBef>
                          <a:spcPts val="300"/>
                        </a:spcBef>
                        <a:spcAft>
                          <a:spcPts val="300"/>
                        </a:spcAft>
                      </a:pPr>
                      <a:r>
                        <a:rPr lang="en-US" altLang="zh-CN" sz="2000" smtClean="0"/>
                        <a:t>a += b </a:t>
                      </a:r>
                      <a:r>
                        <a:rPr lang="en-US" altLang="zh-CN" sz="2000" smtClean="0">
                          <a:latin typeface="Times New Roman" panose="02020603050405020304"/>
                          <a:cs typeface="Times New Roman" panose="02020603050405020304"/>
                        </a:rPr>
                        <a:t>→</a:t>
                      </a:r>
                      <a:r>
                        <a:rPr lang="en-US" altLang="zh-CN" sz="2000" smtClean="0"/>
                        <a:t> a -= b</a:t>
                      </a:r>
                      <a:endParaRPr lang="zh-CN" altLang="en-US" sz="2000"/>
                    </a:p>
                  </a:txBody>
                  <a:tcPr marT="72000" marB="72000"/>
                </a:tc>
              </a:tr>
              <a:tr h="370840">
                <a:tc>
                  <a:txBody>
                    <a:bodyPr/>
                    <a:lstStyle/>
                    <a:p>
                      <a:pPr algn="ctr">
                        <a:spcBef>
                          <a:spcPts val="300"/>
                        </a:spcBef>
                        <a:spcAft>
                          <a:spcPts val="300"/>
                        </a:spcAft>
                      </a:pPr>
                      <a:r>
                        <a:rPr lang="en-US" altLang="zh-CN" sz="2000" smtClean="0"/>
                        <a:t>OAAN</a:t>
                      </a:r>
                      <a:endParaRPr lang="zh-CN" altLang="en-US" sz="2000"/>
                    </a:p>
                  </a:txBody>
                  <a:tcPr marT="72000" marB="72000"/>
                </a:tc>
                <a:tc>
                  <a:txBody>
                    <a:bodyPr/>
                    <a:lstStyle/>
                    <a:p>
                      <a:pPr algn="ctr">
                        <a:spcBef>
                          <a:spcPts val="300"/>
                        </a:spcBef>
                        <a:spcAft>
                          <a:spcPts val="300"/>
                        </a:spcAft>
                      </a:pPr>
                      <a:r>
                        <a:rPr lang="zh-CN" altLang="en-US" sz="2000" smtClean="0"/>
                        <a:t>算术</a:t>
                      </a:r>
                      <a:endParaRPr lang="zh-CN" altLang="en-US" sz="2000"/>
                    </a:p>
                  </a:txBody>
                  <a:tcPr marT="72000" marB="72000"/>
                </a:tc>
                <a:tc>
                  <a:txBody>
                    <a:bodyPr/>
                    <a:lstStyle/>
                    <a:p>
                      <a:pPr algn="ctr">
                        <a:spcBef>
                          <a:spcPts val="300"/>
                        </a:spcBef>
                        <a:spcAft>
                          <a:spcPts val="300"/>
                        </a:spcAft>
                      </a:pPr>
                      <a:r>
                        <a:rPr lang="zh-CN" altLang="en-US" sz="2000" smtClean="0"/>
                        <a:t>算术</a:t>
                      </a:r>
                      <a:endParaRPr lang="zh-CN" altLang="en-US" sz="2000"/>
                    </a:p>
                  </a:txBody>
                  <a:tcPr marT="72000" marB="72000"/>
                </a:tc>
                <a:tc>
                  <a:txBody>
                    <a:bodyPr/>
                    <a:lstStyle/>
                    <a:p>
                      <a:pPr>
                        <a:spcBef>
                          <a:spcPts val="300"/>
                        </a:spcBef>
                        <a:spcAft>
                          <a:spcPts val="300"/>
                        </a:spcAft>
                      </a:pPr>
                      <a:r>
                        <a:rPr lang="en-US" altLang="zh-CN" sz="2000" smtClean="0"/>
                        <a:t>a + b </a:t>
                      </a:r>
                      <a:r>
                        <a:rPr lang="en-US" altLang="zh-CN" sz="2000" smtClean="0">
                          <a:latin typeface="Times New Roman" panose="02020603050405020304"/>
                          <a:cs typeface="Times New Roman" panose="02020603050405020304"/>
                        </a:rPr>
                        <a:t>→</a:t>
                      </a:r>
                      <a:r>
                        <a:rPr lang="en-US" altLang="zh-CN" sz="2000" smtClean="0"/>
                        <a:t> a </a:t>
                      </a:r>
                      <a:r>
                        <a:rPr lang="zh-CN" altLang="en-US" sz="2000" smtClean="0"/>
                        <a:t>*</a:t>
                      </a:r>
                      <a:r>
                        <a:rPr lang="en-US" altLang="zh-CN" sz="2000" smtClean="0"/>
                        <a:t> b</a:t>
                      </a:r>
                      <a:endParaRPr lang="zh-CN" altLang="en-US" sz="2000"/>
                    </a:p>
                  </a:txBody>
                  <a:tcPr marT="72000" marB="72000"/>
                </a:tc>
              </a:tr>
              <a:tr h="370840">
                <a:tc>
                  <a:txBody>
                    <a:bodyPr/>
                    <a:lstStyle/>
                    <a:p>
                      <a:pPr algn="ctr">
                        <a:spcBef>
                          <a:spcPts val="300"/>
                        </a:spcBef>
                        <a:spcAft>
                          <a:spcPts val="300"/>
                        </a:spcAft>
                      </a:pPr>
                      <a:r>
                        <a:rPr lang="en-US" altLang="zh-CN" sz="2000" smtClean="0"/>
                        <a:t>OBBA</a:t>
                      </a:r>
                      <a:endParaRPr lang="zh-CN" altLang="en-US" sz="2000"/>
                    </a:p>
                  </a:txBody>
                  <a:tcPr marT="72000" marB="72000"/>
                </a:tc>
                <a:tc>
                  <a:txBody>
                    <a:bodyPr/>
                    <a:lstStyle/>
                    <a:p>
                      <a:pPr algn="ctr">
                        <a:spcBef>
                          <a:spcPts val="300"/>
                        </a:spcBef>
                        <a:spcAft>
                          <a:spcPts val="300"/>
                        </a:spcAft>
                      </a:pPr>
                      <a:r>
                        <a:rPr lang="zh-CN" altLang="en-US" sz="2000" smtClean="0"/>
                        <a:t>位赋值</a:t>
                      </a:r>
                      <a:endParaRPr lang="zh-CN" altLang="en-US" sz="2000"/>
                    </a:p>
                  </a:txBody>
                  <a:tcPr marT="72000" marB="72000"/>
                </a:tc>
                <a:tc>
                  <a:txBody>
                    <a:bodyPr/>
                    <a:lstStyle/>
                    <a:p>
                      <a:pPr algn="ctr">
                        <a:spcBef>
                          <a:spcPts val="300"/>
                        </a:spcBef>
                        <a:spcAft>
                          <a:spcPts val="300"/>
                        </a:spcAft>
                      </a:pPr>
                      <a:r>
                        <a:rPr lang="zh-CN" altLang="en-US" sz="2000" smtClean="0"/>
                        <a:t>位赋值</a:t>
                      </a:r>
                      <a:endParaRPr lang="zh-CN" altLang="en-US" sz="2000"/>
                    </a:p>
                  </a:txBody>
                  <a:tcPr marT="72000" marB="72000"/>
                </a:tc>
                <a:tc>
                  <a:txBody>
                    <a:bodyPr/>
                    <a:lstStyle/>
                    <a:p>
                      <a:pPr>
                        <a:spcBef>
                          <a:spcPts val="300"/>
                        </a:spcBef>
                        <a:spcAft>
                          <a:spcPts val="300"/>
                        </a:spcAft>
                      </a:pPr>
                      <a:r>
                        <a:rPr lang="en-US" altLang="zh-CN" sz="2000" smtClean="0"/>
                        <a:t>a &amp;= b </a:t>
                      </a:r>
                      <a:r>
                        <a:rPr lang="en-US" altLang="zh-CN" sz="2000" smtClean="0">
                          <a:latin typeface="Times New Roman" panose="02020603050405020304"/>
                          <a:cs typeface="Times New Roman" panose="02020603050405020304"/>
                        </a:rPr>
                        <a:t>→</a:t>
                      </a:r>
                      <a:r>
                        <a:rPr lang="en-US" altLang="zh-CN" sz="2000" smtClean="0"/>
                        <a:t> a |= b</a:t>
                      </a:r>
                      <a:endParaRPr lang="zh-CN" altLang="en-US" sz="2000"/>
                    </a:p>
                  </a:txBody>
                  <a:tcPr marT="72000" marB="72000"/>
                </a:tc>
              </a:tr>
              <a:tr h="370840">
                <a:tc>
                  <a:txBody>
                    <a:bodyPr/>
                    <a:lstStyle/>
                    <a:p>
                      <a:pPr algn="ctr">
                        <a:spcBef>
                          <a:spcPts val="300"/>
                        </a:spcBef>
                        <a:spcAft>
                          <a:spcPts val="300"/>
                        </a:spcAft>
                      </a:pPr>
                      <a:r>
                        <a:rPr lang="en-US" altLang="zh-CN" sz="2000" smtClean="0"/>
                        <a:t>OBBN</a:t>
                      </a:r>
                      <a:endParaRPr lang="zh-CN" altLang="en-US" sz="2000"/>
                    </a:p>
                  </a:txBody>
                  <a:tcPr marT="72000" marB="72000"/>
                </a:tc>
                <a:tc>
                  <a:txBody>
                    <a:bodyPr/>
                    <a:lstStyle/>
                    <a:p>
                      <a:pPr algn="ctr">
                        <a:spcBef>
                          <a:spcPts val="300"/>
                        </a:spcBef>
                        <a:spcAft>
                          <a:spcPts val="300"/>
                        </a:spcAft>
                      </a:pPr>
                      <a:r>
                        <a:rPr lang="zh-CN" altLang="en-US" sz="2000" smtClean="0"/>
                        <a:t>位</a:t>
                      </a:r>
                      <a:endParaRPr lang="zh-CN" altLang="en-US" sz="2000"/>
                    </a:p>
                  </a:txBody>
                  <a:tcPr marT="72000" marB="72000"/>
                </a:tc>
                <a:tc>
                  <a:txBody>
                    <a:bodyPr/>
                    <a:lstStyle/>
                    <a:p>
                      <a:pPr algn="ctr">
                        <a:spcBef>
                          <a:spcPts val="300"/>
                        </a:spcBef>
                        <a:spcAft>
                          <a:spcPts val="300"/>
                        </a:spcAft>
                      </a:pPr>
                      <a:r>
                        <a:rPr lang="zh-CN" altLang="en-US" sz="2000" smtClean="0"/>
                        <a:t>位</a:t>
                      </a:r>
                      <a:endParaRPr lang="zh-CN" altLang="en-US" sz="2000"/>
                    </a:p>
                  </a:txBody>
                  <a:tcPr marT="72000" marB="72000"/>
                </a:tc>
                <a:tc>
                  <a:txBody>
                    <a:bodyPr/>
                    <a:lstStyle/>
                    <a:p>
                      <a:pPr>
                        <a:spcBef>
                          <a:spcPts val="300"/>
                        </a:spcBef>
                        <a:spcAft>
                          <a:spcPts val="300"/>
                        </a:spcAft>
                      </a:pPr>
                      <a:r>
                        <a:rPr lang="en-US" altLang="zh-CN" sz="2000" smtClean="0"/>
                        <a:t>a &amp; b </a:t>
                      </a:r>
                      <a:r>
                        <a:rPr lang="en-US" altLang="zh-CN" sz="2000" smtClean="0">
                          <a:latin typeface="Times New Roman" panose="02020603050405020304"/>
                          <a:cs typeface="Times New Roman" panose="02020603050405020304"/>
                        </a:rPr>
                        <a:t>→</a:t>
                      </a:r>
                      <a:r>
                        <a:rPr lang="en-US" altLang="zh-CN" sz="2000" smtClean="0"/>
                        <a:t> a | b</a:t>
                      </a:r>
                      <a:endParaRPr lang="zh-CN" altLang="en-US" sz="2000"/>
                    </a:p>
                  </a:txBody>
                  <a:tcPr marT="72000" marB="72000"/>
                </a:tc>
              </a:tr>
              <a:tr h="370840">
                <a:tc>
                  <a:txBody>
                    <a:bodyPr/>
                    <a:lstStyle/>
                    <a:p>
                      <a:pPr algn="ctr">
                        <a:spcBef>
                          <a:spcPts val="300"/>
                        </a:spcBef>
                        <a:spcAft>
                          <a:spcPts val="300"/>
                        </a:spcAft>
                      </a:pPr>
                      <a:r>
                        <a:rPr lang="en-US" altLang="zh-CN" sz="2000" smtClean="0"/>
                        <a:t>OLLN</a:t>
                      </a:r>
                      <a:endParaRPr lang="zh-CN" altLang="en-US" sz="2000"/>
                    </a:p>
                  </a:txBody>
                  <a:tcPr marT="72000" marB="72000"/>
                </a:tc>
                <a:tc>
                  <a:txBody>
                    <a:bodyPr/>
                    <a:lstStyle/>
                    <a:p>
                      <a:pPr algn="ctr">
                        <a:spcBef>
                          <a:spcPts val="300"/>
                        </a:spcBef>
                        <a:spcAft>
                          <a:spcPts val="300"/>
                        </a:spcAft>
                      </a:pPr>
                      <a:r>
                        <a:rPr lang="zh-CN" altLang="en-US" sz="2000" smtClean="0"/>
                        <a:t>逻辑</a:t>
                      </a:r>
                      <a:endParaRPr lang="zh-CN" altLang="en-US" sz="2000"/>
                    </a:p>
                  </a:txBody>
                  <a:tcPr marT="72000" marB="72000"/>
                </a:tc>
                <a:tc>
                  <a:txBody>
                    <a:bodyPr/>
                    <a:lstStyle/>
                    <a:p>
                      <a:pPr algn="ctr">
                        <a:spcBef>
                          <a:spcPts val="300"/>
                        </a:spcBef>
                        <a:spcAft>
                          <a:spcPts val="300"/>
                        </a:spcAft>
                      </a:pPr>
                      <a:r>
                        <a:rPr lang="zh-CN" altLang="en-US" sz="2000" smtClean="0"/>
                        <a:t>逻辑</a:t>
                      </a:r>
                      <a:endParaRPr lang="zh-CN" altLang="en-US" sz="2000"/>
                    </a:p>
                  </a:txBody>
                  <a:tcPr marT="72000" marB="72000"/>
                </a:tc>
                <a:tc>
                  <a:txBody>
                    <a:bodyPr/>
                    <a:lstStyle/>
                    <a:p>
                      <a:pPr>
                        <a:spcBef>
                          <a:spcPts val="300"/>
                        </a:spcBef>
                        <a:spcAft>
                          <a:spcPts val="300"/>
                        </a:spcAft>
                      </a:pPr>
                      <a:r>
                        <a:rPr lang="en-US" altLang="zh-CN" sz="2000" smtClean="0"/>
                        <a:t>a &amp;&amp; b </a:t>
                      </a:r>
                      <a:r>
                        <a:rPr lang="en-US" altLang="zh-CN" sz="2000" smtClean="0">
                          <a:latin typeface="Times New Roman" panose="02020603050405020304"/>
                          <a:cs typeface="Times New Roman" panose="02020603050405020304"/>
                        </a:rPr>
                        <a:t>→</a:t>
                      </a:r>
                      <a:r>
                        <a:rPr lang="en-US" altLang="zh-CN" sz="2000" smtClean="0"/>
                        <a:t> a || b</a:t>
                      </a:r>
                      <a:endParaRPr lang="zh-CN" altLang="en-US" sz="2000"/>
                    </a:p>
                  </a:txBody>
                  <a:tcPr marT="72000" marB="72000"/>
                </a:tc>
              </a:tr>
              <a:tr h="370840">
                <a:tc>
                  <a:txBody>
                    <a:bodyPr/>
                    <a:lstStyle/>
                    <a:p>
                      <a:pPr algn="ctr">
                        <a:spcBef>
                          <a:spcPts val="300"/>
                        </a:spcBef>
                        <a:spcAft>
                          <a:spcPts val="300"/>
                        </a:spcAft>
                      </a:pPr>
                      <a:r>
                        <a:rPr lang="en-US" altLang="zh-CN" sz="2000" smtClean="0"/>
                        <a:t>ORRN</a:t>
                      </a:r>
                      <a:endParaRPr lang="zh-CN" altLang="en-US" sz="2000"/>
                    </a:p>
                  </a:txBody>
                  <a:tcPr marT="72000" marB="72000"/>
                </a:tc>
                <a:tc>
                  <a:txBody>
                    <a:bodyPr/>
                    <a:lstStyle/>
                    <a:p>
                      <a:pPr algn="ctr">
                        <a:spcBef>
                          <a:spcPts val="300"/>
                        </a:spcBef>
                        <a:spcAft>
                          <a:spcPts val="300"/>
                        </a:spcAft>
                      </a:pPr>
                      <a:r>
                        <a:rPr lang="zh-CN" altLang="en-US" sz="2000" smtClean="0"/>
                        <a:t>关系</a:t>
                      </a:r>
                      <a:endParaRPr lang="zh-CN" altLang="en-US" sz="2000"/>
                    </a:p>
                  </a:txBody>
                  <a:tcPr marT="72000" marB="72000"/>
                </a:tc>
                <a:tc>
                  <a:txBody>
                    <a:bodyPr/>
                    <a:lstStyle/>
                    <a:p>
                      <a:pPr algn="ctr">
                        <a:spcBef>
                          <a:spcPts val="300"/>
                        </a:spcBef>
                        <a:spcAft>
                          <a:spcPts val="300"/>
                        </a:spcAft>
                      </a:pPr>
                      <a:r>
                        <a:rPr lang="zh-CN" altLang="en-US" sz="2000" smtClean="0"/>
                        <a:t>关系</a:t>
                      </a:r>
                      <a:endParaRPr lang="zh-CN" altLang="en-US" sz="2000"/>
                    </a:p>
                  </a:txBody>
                  <a:tcPr marT="72000" marB="72000"/>
                </a:tc>
                <a:tc>
                  <a:txBody>
                    <a:bodyPr/>
                    <a:lstStyle/>
                    <a:p>
                      <a:pPr>
                        <a:spcBef>
                          <a:spcPts val="300"/>
                        </a:spcBef>
                        <a:spcAft>
                          <a:spcPts val="300"/>
                        </a:spcAft>
                      </a:pPr>
                      <a:r>
                        <a:rPr lang="en-US" altLang="zh-CN" sz="2000" smtClean="0"/>
                        <a:t>a &lt; b </a:t>
                      </a:r>
                      <a:r>
                        <a:rPr lang="en-US" altLang="zh-CN" sz="2000" smtClean="0">
                          <a:latin typeface="Times New Roman" panose="02020603050405020304"/>
                          <a:cs typeface="Times New Roman" panose="02020603050405020304"/>
                        </a:rPr>
                        <a:t>→</a:t>
                      </a:r>
                      <a:r>
                        <a:rPr lang="en-US" altLang="zh-CN" sz="2000" smtClean="0"/>
                        <a:t> a &lt;= b</a:t>
                      </a:r>
                      <a:endParaRPr lang="zh-CN" altLang="en-US" sz="2000"/>
                    </a:p>
                  </a:txBody>
                  <a:tcPr marT="72000" marB="72000"/>
                </a:tc>
              </a:tr>
              <a:tr h="370840">
                <a:tc>
                  <a:txBody>
                    <a:bodyPr/>
                    <a:lstStyle/>
                    <a:p>
                      <a:pPr algn="ctr">
                        <a:spcBef>
                          <a:spcPts val="300"/>
                        </a:spcBef>
                        <a:spcAft>
                          <a:spcPts val="300"/>
                        </a:spcAft>
                      </a:pPr>
                      <a:r>
                        <a:rPr lang="en-US" altLang="zh-CN" sz="2000" smtClean="0"/>
                        <a:t>OSSA</a:t>
                      </a:r>
                      <a:endParaRPr lang="zh-CN" altLang="en-US" sz="2000"/>
                    </a:p>
                  </a:txBody>
                  <a:tcPr marT="72000" marB="72000"/>
                </a:tc>
                <a:tc>
                  <a:txBody>
                    <a:bodyPr/>
                    <a:lstStyle/>
                    <a:p>
                      <a:pPr algn="ctr">
                        <a:spcBef>
                          <a:spcPts val="300"/>
                        </a:spcBef>
                        <a:spcAft>
                          <a:spcPts val="300"/>
                        </a:spcAft>
                      </a:pPr>
                      <a:r>
                        <a:rPr lang="zh-CN" altLang="en-US" sz="2000" smtClean="0"/>
                        <a:t>移位赋值</a:t>
                      </a:r>
                      <a:endParaRPr lang="zh-CN" altLang="en-US" sz="2000"/>
                    </a:p>
                  </a:txBody>
                  <a:tcPr marT="72000" marB="72000"/>
                </a:tc>
                <a:tc>
                  <a:txBody>
                    <a:bodyPr/>
                    <a:lstStyle/>
                    <a:p>
                      <a:pPr algn="ctr">
                        <a:spcBef>
                          <a:spcPts val="300"/>
                        </a:spcBef>
                        <a:spcAft>
                          <a:spcPts val="300"/>
                        </a:spcAft>
                      </a:pPr>
                      <a:r>
                        <a:rPr lang="zh-CN" altLang="en-US" sz="2000" smtClean="0"/>
                        <a:t>移位赋值</a:t>
                      </a:r>
                      <a:endParaRPr lang="zh-CN" altLang="en-US" sz="2000"/>
                    </a:p>
                  </a:txBody>
                  <a:tcPr marT="72000" marB="72000"/>
                </a:tc>
                <a:tc>
                  <a:txBody>
                    <a:bodyPr/>
                    <a:lstStyle/>
                    <a:p>
                      <a:pPr>
                        <a:spcBef>
                          <a:spcPts val="300"/>
                        </a:spcBef>
                        <a:spcAft>
                          <a:spcPts val="300"/>
                        </a:spcAft>
                      </a:pPr>
                      <a:r>
                        <a:rPr lang="en-US" altLang="zh-CN" sz="2000" smtClean="0"/>
                        <a:t>a &lt;&lt;= b </a:t>
                      </a:r>
                      <a:r>
                        <a:rPr lang="en-US" altLang="zh-CN" sz="2000" smtClean="0">
                          <a:latin typeface="Times New Roman" panose="02020603050405020304"/>
                          <a:cs typeface="Times New Roman" panose="02020603050405020304"/>
                        </a:rPr>
                        <a:t>→</a:t>
                      </a:r>
                      <a:r>
                        <a:rPr lang="en-US" altLang="zh-CN" sz="2000" smtClean="0"/>
                        <a:t> a &gt;&gt;= b</a:t>
                      </a:r>
                      <a:endParaRPr lang="zh-CN" altLang="en-US" sz="2000"/>
                    </a:p>
                  </a:txBody>
                  <a:tcPr marT="72000" marB="72000"/>
                </a:tc>
              </a:tr>
              <a:tr h="370840">
                <a:tc>
                  <a:txBody>
                    <a:bodyPr/>
                    <a:lstStyle/>
                    <a:p>
                      <a:pPr algn="ctr">
                        <a:spcBef>
                          <a:spcPts val="300"/>
                        </a:spcBef>
                        <a:spcAft>
                          <a:spcPts val="300"/>
                        </a:spcAft>
                      </a:pPr>
                      <a:r>
                        <a:rPr lang="en-US" altLang="zh-CN" sz="2000" smtClean="0"/>
                        <a:t>OSSN</a:t>
                      </a:r>
                      <a:endParaRPr lang="zh-CN" altLang="en-US" sz="2000"/>
                    </a:p>
                  </a:txBody>
                  <a:tcPr marT="72000" marB="72000"/>
                </a:tc>
                <a:tc>
                  <a:txBody>
                    <a:bodyPr/>
                    <a:lstStyle/>
                    <a:p>
                      <a:pPr algn="ctr">
                        <a:spcBef>
                          <a:spcPts val="300"/>
                        </a:spcBef>
                        <a:spcAft>
                          <a:spcPts val="300"/>
                        </a:spcAft>
                      </a:pPr>
                      <a:r>
                        <a:rPr lang="zh-CN" altLang="en-US" sz="2000" smtClean="0"/>
                        <a:t>移位</a:t>
                      </a:r>
                      <a:endParaRPr lang="zh-CN" altLang="en-US" sz="2000"/>
                    </a:p>
                  </a:txBody>
                  <a:tcPr marT="72000" marB="72000"/>
                </a:tc>
                <a:tc>
                  <a:txBody>
                    <a:bodyPr/>
                    <a:lstStyle/>
                    <a:p>
                      <a:pPr algn="ctr">
                        <a:spcBef>
                          <a:spcPts val="300"/>
                        </a:spcBef>
                        <a:spcAft>
                          <a:spcPts val="300"/>
                        </a:spcAft>
                      </a:pPr>
                      <a:r>
                        <a:rPr lang="zh-CN" altLang="en-US" sz="2000" smtClean="0"/>
                        <a:t>移位</a:t>
                      </a:r>
                      <a:endParaRPr lang="zh-CN" altLang="en-US" sz="2000"/>
                    </a:p>
                  </a:txBody>
                  <a:tcPr marT="72000" marB="72000"/>
                </a:tc>
                <a:tc>
                  <a:txBody>
                    <a:bodyPr/>
                    <a:lstStyle/>
                    <a:p>
                      <a:pPr>
                        <a:spcBef>
                          <a:spcPts val="300"/>
                        </a:spcBef>
                        <a:spcAft>
                          <a:spcPts val="300"/>
                        </a:spcAft>
                      </a:pPr>
                      <a:r>
                        <a:rPr lang="en-US" altLang="zh-CN" sz="2000" smtClean="0"/>
                        <a:t>a &lt;&lt; b </a:t>
                      </a:r>
                      <a:r>
                        <a:rPr lang="en-US" altLang="zh-CN" sz="2000" smtClean="0">
                          <a:latin typeface="Times New Roman" panose="02020603050405020304"/>
                          <a:cs typeface="Times New Roman" panose="02020603050405020304"/>
                        </a:rPr>
                        <a:t>→</a:t>
                      </a:r>
                      <a:r>
                        <a:rPr lang="en-US" altLang="zh-CN" sz="2000" smtClean="0"/>
                        <a:t> a &gt;&gt; b</a:t>
                      </a:r>
                      <a:endParaRPr lang="zh-CN" altLang="en-US" sz="2000"/>
                    </a:p>
                  </a:txBody>
                  <a:tcPr marT="72000" marB="72000"/>
                </a:tc>
              </a:tr>
            </a:tbl>
          </a:graphicData>
        </a:graphic>
      </p:graphicFrame>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6635" y="76200"/>
            <a:ext cx="8000365" cy="647700"/>
          </a:xfrm>
        </p:spPr>
        <p:txBody>
          <a:bodyPr/>
          <a:lstStyle/>
          <a:p>
            <a:r>
              <a:rPr lang="en-US" altLang="zh-CN" sz="3200">
                <a:solidFill>
                  <a:srgbClr val="C00000"/>
                </a:solidFill>
                <a:latin typeface="Times New Roman" panose="02020603050405020304" pitchFamily="18" charset="0"/>
                <a:cs typeface="Times New Roman" panose="02020603050405020304" pitchFamily="18" charset="0"/>
              </a:rPr>
              <a:t>Oior中变异算子：算术运算符与位运算符</a:t>
            </a:r>
            <a:endParaRPr lang="en-US" altLang="zh-CN" sz="3200">
              <a:solidFill>
                <a:srgbClr val="C00000"/>
              </a:solidFill>
              <a:latin typeface="Times New Roman" panose="02020603050405020304" pitchFamily="18" charset="0"/>
              <a:cs typeface="Times New Roman" panose="02020603050405020304" pitchFamily="18" charset="0"/>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2286000" y="762000"/>
          <a:ext cx="7772401" cy="5568560"/>
        </p:xfrm>
        <a:graphic>
          <a:graphicData uri="http://schemas.openxmlformats.org/drawingml/2006/table">
            <a:tbl>
              <a:tblPr firstRow="1" bandRow="1">
                <a:tableStyleId>{21E4AEA4-8DFA-4A89-87EB-49C32662AFE0}</a:tableStyleId>
              </a:tblPr>
              <a:tblGrid>
                <a:gridCol w="1317356"/>
                <a:gridCol w="1806844"/>
                <a:gridCol w="1524000"/>
                <a:gridCol w="3124201"/>
              </a:tblGrid>
              <a:tr h="370840">
                <a:tc>
                  <a:txBody>
                    <a:bodyPr/>
                    <a:lstStyle/>
                    <a:p>
                      <a:pPr algn="ctr">
                        <a:spcBef>
                          <a:spcPts val="300"/>
                        </a:spcBef>
                        <a:spcAft>
                          <a:spcPts val="300"/>
                        </a:spcAft>
                      </a:pPr>
                      <a:r>
                        <a:rPr lang="zh-CN" altLang="en-US" sz="2000" smtClean="0"/>
                        <a:t>名称</a:t>
                      </a:r>
                      <a:endParaRPr lang="zh-CN" altLang="en-US" sz="2000"/>
                    </a:p>
                  </a:txBody>
                  <a:tcPr marT="36000" marB="36000"/>
                </a:tc>
                <a:tc>
                  <a:txBody>
                    <a:bodyPr/>
                    <a:lstStyle/>
                    <a:p>
                      <a:pPr algn="ctr">
                        <a:spcBef>
                          <a:spcPts val="300"/>
                        </a:spcBef>
                        <a:spcAft>
                          <a:spcPts val="300"/>
                        </a:spcAft>
                      </a:pPr>
                      <a:r>
                        <a:rPr lang="zh-CN" altLang="en-US" sz="2000" smtClean="0"/>
                        <a:t>定义域</a:t>
                      </a:r>
                      <a:endParaRPr lang="zh-CN" altLang="en-US" sz="2000"/>
                    </a:p>
                  </a:txBody>
                  <a:tcPr marT="36000" marB="36000"/>
                </a:tc>
                <a:tc>
                  <a:txBody>
                    <a:bodyPr/>
                    <a:lstStyle/>
                    <a:p>
                      <a:pPr algn="ctr">
                        <a:spcBef>
                          <a:spcPts val="300"/>
                        </a:spcBef>
                        <a:spcAft>
                          <a:spcPts val="300"/>
                        </a:spcAft>
                      </a:pPr>
                      <a:r>
                        <a:rPr lang="zh-CN" altLang="en-US" sz="2000" smtClean="0"/>
                        <a:t>值域</a:t>
                      </a:r>
                      <a:endParaRPr lang="zh-CN" altLang="en-US" sz="2000"/>
                    </a:p>
                  </a:txBody>
                  <a:tcPr marT="36000" marB="36000"/>
                </a:tc>
                <a:tc>
                  <a:txBody>
                    <a:bodyPr/>
                    <a:lstStyle/>
                    <a:p>
                      <a:pPr algn="ctr">
                        <a:spcBef>
                          <a:spcPts val="300"/>
                        </a:spcBef>
                        <a:spcAft>
                          <a:spcPts val="300"/>
                        </a:spcAft>
                      </a:pPr>
                      <a:r>
                        <a:rPr lang="zh-CN" altLang="en-US" sz="2000" smtClean="0"/>
                        <a:t>示例</a:t>
                      </a:r>
                      <a:endParaRPr lang="zh-CN" altLang="en-US" sz="2000"/>
                    </a:p>
                  </a:txBody>
                  <a:tcPr marT="36000" marB="36000"/>
                </a:tc>
              </a:tr>
              <a:tr h="370840">
                <a:tc>
                  <a:txBody>
                    <a:bodyPr/>
                    <a:lstStyle/>
                    <a:p>
                      <a:pPr algn="ctr">
                        <a:spcBef>
                          <a:spcPts val="300"/>
                        </a:spcBef>
                        <a:spcAft>
                          <a:spcPts val="300"/>
                        </a:spcAft>
                      </a:pPr>
                      <a:r>
                        <a:rPr lang="en-US" altLang="zh-CN" sz="1800" smtClean="0"/>
                        <a:t>OABA</a:t>
                      </a:r>
                      <a:endParaRPr lang="zh-CN" altLang="en-US" sz="1800"/>
                    </a:p>
                  </a:txBody>
                  <a:tcPr marT="36000" marB="36000"/>
                </a:tc>
                <a:tc>
                  <a:txBody>
                    <a:bodyPr/>
                    <a:lstStyle/>
                    <a:p>
                      <a:pPr algn="ctr">
                        <a:spcBef>
                          <a:spcPts val="300"/>
                        </a:spcBef>
                        <a:spcAft>
                          <a:spcPts val="300"/>
                        </a:spcAft>
                      </a:pPr>
                      <a:r>
                        <a:rPr lang="zh-CN" altLang="en-US" sz="1800" smtClean="0"/>
                        <a:t>算术赋值</a:t>
                      </a:r>
                      <a:endParaRPr lang="zh-CN" altLang="en-US" sz="1800"/>
                    </a:p>
                  </a:txBody>
                  <a:tcPr marT="36000" marB="36000"/>
                </a:tc>
                <a:tc>
                  <a:txBody>
                    <a:bodyPr/>
                    <a:lstStyle/>
                    <a:p>
                      <a:pPr algn="ctr">
                        <a:spcBef>
                          <a:spcPts val="300"/>
                        </a:spcBef>
                        <a:spcAft>
                          <a:spcPts val="300"/>
                        </a:spcAft>
                      </a:pPr>
                      <a:r>
                        <a:rPr lang="zh-CN" altLang="en-US" sz="1800" smtClean="0"/>
                        <a:t>位赋值</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36000" marB="36000"/>
                </a:tc>
              </a:tr>
              <a:tr h="370840">
                <a:tc>
                  <a:txBody>
                    <a:bodyPr/>
                    <a:lstStyle/>
                    <a:p>
                      <a:pPr algn="ctr">
                        <a:spcBef>
                          <a:spcPts val="300"/>
                        </a:spcBef>
                        <a:spcAft>
                          <a:spcPts val="300"/>
                        </a:spcAft>
                      </a:pPr>
                      <a:r>
                        <a:rPr lang="en-US" altLang="zh-CN" sz="1800" smtClean="0"/>
                        <a:t>OAEA</a:t>
                      </a:r>
                      <a:endParaRPr lang="zh-CN" altLang="en-US" sz="1800"/>
                    </a:p>
                  </a:txBody>
                  <a:tcPr marT="36000" marB="36000"/>
                </a:tc>
                <a:tc>
                  <a:txBody>
                    <a:bodyPr/>
                    <a:lstStyle/>
                    <a:p>
                      <a:pPr algn="ctr">
                        <a:spcBef>
                          <a:spcPts val="300"/>
                        </a:spcBef>
                        <a:spcAft>
                          <a:spcPts val="300"/>
                        </a:spcAft>
                      </a:pPr>
                      <a:r>
                        <a:rPr lang="zh-CN" altLang="en-US" sz="1800" smtClean="0"/>
                        <a:t>算术赋值</a:t>
                      </a:r>
                      <a:endParaRPr lang="zh-CN" altLang="en-US" sz="1800"/>
                    </a:p>
                  </a:txBody>
                  <a:tcPr marT="36000" marB="36000"/>
                </a:tc>
                <a:tc>
                  <a:txBody>
                    <a:bodyPr/>
                    <a:lstStyle/>
                    <a:p>
                      <a:pPr algn="ctr">
                        <a:spcBef>
                          <a:spcPts val="300"/>
                        </a:spcBef>
                        <a:spcAft>
                          <a:spcPts val="300"/>
                        </a:spcAft>
                      </a:pPr>
                      <a:r>
                        <a:rPr lang="zh-CN" altLang="en-US" sz="1800" smtClean="0"/>
                        <a:t>单纯赋值</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36000" marB="36000"/>
                </a:tc>
              </a:tr>
              <a:tr h="370840">
                <a:tc>
                  <a:txBody>
                    <a:bodyPr/>
                    <a:lstStyle/>
                    <a:p>
                      <a:pPr algn="ctr">
                        <a:spcBef>
                          <a:spcPts val="300"/>
                        </a:spcBef>
                        <a:spcAft>
                          <a:spcPts val="300"/>
                        </a:spcAft>
                      </a:pPr>
                      <a:r>
                        <a:rPr lang="en-US" altLang="zh-CN" sz="1800" smtClean="0"/>
                        <a:t>OABN</a:t>
                      </a:r>
                      <a:endParaRPr lang="zh-CN" altLang="en-US" sz="1800"/>
                    </a:p>
                  </a:txBody>
                  <a:tcPr marT="36000" marB="36000"/>
                </a:tc>
                <a:tc>
                  <a:txBody>
                    <a:bodyPr/>
                    <a:lstStyle/>
                    <a:p>
                      <a:pPr algn="ctr">
                        <a:spcBef>
                          <a:spcPts val="300"/>
                        </a:spcBef>
                        <a:spcAft>
                          <a:spcPts val="300"/>
                        </a:spcAft>
                      </a:pPr>
                      <a:r>
                        <a:rPr lang="zh-CN" altLang="en-US" sz="1800" smtClean="0"/>
                        <a:t>算术</a:t>
                      </a:r>
                      <a:endParaRPr lang="zh-CN" altLang="en-US" sz="1800"/>
                    </a:p>
                  </a:txBody>
                  <a:tcPr marT="36000" marB="36000"/>
                </a:tc>
                <a:tc>
                  <a:txBody>
                    <a:bodyPr/>
                    <a:lstStyle/>
                    <a:p>
                      <a:pPr algn="ctr">
                        <a:spcBef>
                          <a:spcPts val="300"/>
                        </a:spcBef>
                        <a:spcAft>
                          <a:spcPts val="300"/>
                        </a:spcAft>
                      </a:pPr>
                      <a:r>
                        <a:rPr lang="zh-CN" altLang="en-US" sz="1800" smtClean="0"/>
                        <a:t>位</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&amp; b</a:t>
                      </a:r>
                      <a:endParaRPr lang="zh-CN" altLang="en-US" sz="1800"/>
                    </a:p>
                  </a:txBody>
                  <a:tcPr marT="36000" marB="36000"/>
                </a:tc>
              </a:tr>
              <a:tr h="370840">
                <a:tc>
                  <a:txBody>
                    <a:bodyPr/>
                    <a:lstStyle/>
                    <a:p>
                      <a:pPr algn="ctr">
                        <a:spcBef>
                          <a:spcPts val="300"/>
                        </a:spcBef>
                        <a:spcAft>
                          <a:spcPts val="300"/>
                        </a:spcAft>
                      </a:pPr>
                      <a:r>
                        <a:rPr lang="en-US" altLang="zh-CN" sz="1800" smtClean="0"/>
                        <a:t>OALN</a:t>
                      </a:r>
                      <a:endParaRPr lang="zh-CN" altLang="en-US" sz="1800"/>
                    </a:p>
                  </a:txBody>
                  <a:tcPr marT="36000" marB="36000"/>
                </a:tc>
                <a:tc>
                  <a:txBody>
                    <a:bodyPr/>
                    <a:lstStyle/>
                    <a:p>
                      <a:pPr algn="ctr">
                        <a:spcBef>
                          <a:spcPts val="300"/>
                        </a:spcBef>
                        <a:spcAft>
                          <a:spcPts val="300"/>
                        </a:spcAft>
                      </a:pPr>
                      <a:r>
                        <a:rPr lang="zh-CN" altLang="en-US" sz="1800" smtClean="0"/>
                        <a:t>算术</a:t>
                      </a:r>
                      <a:endParaRPr lang="zh-CN" altLang="en-US" sz="1800"/>
                    </a:p>
                  </a:txBody>
                  <a:tcPr marT="36000" marB="36000"/>
                </a:tc>
                <a:tc>
                  <a:txBody>
                    <a:bodyPr/>
                    <a:lstStyle/>
                    <a:p>
                      <a:pPr algn="ctr">
                        <a:spcBef>
                          <a:spcPts val="300"/>
                        </a:spcBef>
                        <a:spcAft>
                          <a:spcPts val="300"/>
                        </a:spcAft>
                      </a:pPr>
                      <a:r>
                        <a:rPr lang="zh-CN" altLang="en-US" sz="1800" smtClean="0"/>
                        <a:t>逻辑</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&amp;&amp; b</a:t>
                      </a:r>
                      <a:endParaRPr lang="zh-CN" altLang="en-US" sz="1800"/>
                    </a:p>
                  </a:txBody>
                  <a:tcPr marT="36000" marB="36000"/>
                </a:tc>
              </a:tr>
              <a:tr h="370840">
                <a:tc>
                  <a:txBody>
                    <a:bodyPr/>
                    <a:lstStyle/>
                    <a:p>
                      <a:pPr algn="ctr">
                        <a:spcBef>
                          <a:spcPts val="300"/>
                        </a:spcBef>
                        <a:spcAft>
                          <a:spcPts val="300"/>
                        </a:spcAft>
                      </a:pPr>
                      <a:r>
                        <a:rPr lang="en-US" altLang="zh-CN" sz="1800" smtClean="0"/>
                        <a:t>OARN</a:t>
                      </a:r>
                      <a:endParaRPr lang="zh-CN" altLang="en-US" sz="1800"/>
                    </a:p>
                  </a:txBody>
                  <a:tcPr marT="36000" marB="36000"/>
                </a:tc>
                <a:tc>
                  <a:txBody>
                    <a:bodyPr/>
                    <a:lstStyle/>
                    <a:p>
                      <a:pPr algn="ctr">
                        <a:spcBef>
                          <a:spcPts val="300"/>
                        </a:spcBef>
                        <a:spcAft>
                          <a:spcPts val="300"/>
                        </a:spcAft>
                      </a:pPr>
                      <a:r>
                        <a:rPr lang="zh-CN" altLang="en-US" sz="1800" smtClean="0"/>
                        <a:t>算术</a:t>
                      </a:r>
                      <a:endParaRPr lang="zh-CN" altLang="en-US" sz="1800"/>
                    </a:p>
                  </a:txBody>
                  <a:tcPr marT="36000" marB="36000"/>
                </a:tc>
                <a:tc>
                  <a:txBody>
                    <a:bodyPr/>
                    <a:lstStyle/>
                    <a:p>
                      <a:pPr algn="ctr">
                        <a:spcBef>
                          <a:spcPts val="300"/>
                        </a:spcBef>
                        <a:spcAft>
                          <a:spcPts val="300"/>
                        </a:spcAft>
                      </a:pPr>
                      <a:r>
                        <a:rPr lang="zh-CN" altLang="en-US" sz="1800" smtClean="0"/>
                        <a:t>关系</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&lt; b</a:t>
                      </a:r>
                      <a:endParaRPr lang="zh-CN" altLang="en-US" sz="1800"/>
                    </a:p>
                  </a:txBody>
                  <a:tcPr marT="36000" marB="36000"/>
                </a:tc>
              </a:tr>
              <a:tr h="370840">
                <a:tc>
                  <a:txBody>
                    <a:bodyPr/>
                    <a:lstStyle/>
                    <a:p>
                      <a:pPr algn="ctr">
                        <a:spcBef>
                          <a:spcPts val="300"/>
                        </a:spcBef>
                        <a:spcAft>
                          <a:spcPts val="300"/>
                        </a:spcAft>
                      </a:pPr>
                      <a:r>
                        <a:rPr lang="en-US" altLang="zh-CN" sz="1800" smtClean="0"/>
                        <a:t>OASA</a:t>
                      </a:r>
                      <a:endParaRPr lang="zh-CN" altLang="en-US" sz="1800"/>
                    </a:p>
                  </a:txBody>
                  <a:tcPr marT="36000" marB="36000"/>
                </a:tc>
                <a:tc>
                  <a:txBody>
                    <a:bodyPr/>
                    <a:lstStyle/>
                    <a:p>
                      <a:pPr algn="ctr">
                        <a:spcBef>
                          <a:spcPts val="300"/>
                        </a:spcBef>
                        <a:spcAft>
                          <a:spcPts val="300"/>
                        </a:spcAft>
                      </a:pPr>
                      <a:r>
                        <a:rPr lang="zh-CN" altLang="en-US" sz="1800" smtClean="0"/>
                        <a:t>算术赋值</a:t>
                      </a:r>
                      <a:endParaRPr lang="zh-CN" altLang="en-US" sz="1800"/>
                    </a:p>
                  </a:txBody>
                  <a:tcPr marT="36000" marB="36000"/>
                </a:tc>
                <a:tc>
                  <a:txBody>
                    <a:bodyPr/>
                    <a:lstStyle/>
                    <a:p>
                      <a:pPr algn="ctr">
                        <a:spcBef>
                          <a:spcPts val="300"/>
                        </a:spcBef>
                        <a:spcAft>
                          <a:spcPts val="300"/>
                        </a:spcAft>
                      </a:pPr>
                      <a:r>
                        <a:rPr lang="zh-CN" altLang="en-US" sz="1800" smtClean="0"/>
                        <a:t>移位赋值</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&lt;&lt;= b</a:t>
                      </a:r>
                      <a:endParaRPr lang="zh-CN" altLang="en-US" sz="1800"/>
                    </a:p>
                  </a:txBody>
                  <a:tcPr marT="36000" marB="36000"/>
                </a:tc>
              </a:tr>
              <a:tr h="370840">
                <a:tc>
                  <a:txBody>
                    <a:bodyPr/>
                    <a:lstStyle/>
                    <a:p>
                      <a:pPr algn="ctr">
                        <a:spcBef>
                          <a:spcPts val="300"/>
                        </a:spcBef>
                        <a:spcAft>
                          <a:spcPts val="300"/>
                        </a:spcAft>
                      </a:pPr>
                      <a:r>
                        <a:rPr lang="en-US" altLang="zh-CN" sz="1800" smtClean="0"/>
                        <a:t>OASN</a:t>
                      </a:r>
                      <a:endParaRPr lang="zh-CN" altLang="en-US" sz="1800"/>
                    </a:p>
                  </a:txBody>
                  <a:tcPr marT="36000" marB="36000"/>
                </a:tc>
                <a:tc>
                  <a:txBody>
                    <a:bodyPr/>
                    <a:lstStyle/>
                    <a:p>
                      <a:pPr algn="ctr">
                        <a:spcBef>
                          <a:spcPts val="300"/>
                        </a:spcBef>
                        <a:spcAft>
                          <a:spcPts val="300"/>
                        </a:spcAft>
                      </a:pPr>
                      <a:r>
                        <a:rPr lang="zh-CN" altLang="en-US" sz="1800" smtClean="0"/>
                        <a:t>算术</a:t>
                      </a:r>
                      <a:endParaRPr lang="zh-CN" altLang="en-US" sz="1800"/>
                    </a:p>
                  </a:txBody>
                  <a:tcPr marT="36000" marB="36000"/>
                </a:tc>
                <a:tc>
                  <a:txBody>
                    <a:bodyPr/>
                    <a:lstStyle/>
                    <a:p>
                      <a:pPr algn="ctr">
                        <a:spcBef>
                          <a:spcPts val="300"/>
                        </a:spcBef>
                        <a:spcAft>
                          <a:spcPts val="300"/>
                        </a:spcAft>
                      </a:pPr>
                      <a:r>
                        <a:rPr lang="zh-CN" altLang="en-US" sz="1800" smtClean="0"/>
                        <a:t>移位</a:t>
                      </a:r>
                      <a:endParaRPr lang="zh-CN" altLang="en-US" sz="1800"/>
                    </a:p>
                  </a:txBody>
                  <a:tcPr marT="36000" marB="36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&lt;&lt; b</a:t>
                      </a:r>
                      <a:endParaRPr lang="zh-CN" altLang="en-US" sz="1800"/>
                    </a:p>
                  </a:txBody>
                  <a:tcPr marT="36000" marB="36000"/>
                </a:tc>
              </a:tr>
              <a:tr h="370840">
                <a:tc>
                  <a:txBody>
                    <a:bodyPr/>
                    <a:lstStyle/>
                    <a:p>
                      <a:pPr algn="ctr">
                        <a:spcBef>
                          <a:spcPts val="300"/>
                        </a:spcBef>
                        <a:spcAft>
                          <a:spcPts val="300"/>
                        </a:spcAft>
                      </a:pPr>
                      <a:r>
                        <a:rPr lang="en-US" altLang="zh-CN" sz="1800" smtClean="0"/>
                        <a:t>OBAA</a:t>
                      </a:r>
                      <a:endParaRPr lang="zh-CN" altLang="en-US" sz="1800"/>
                    </a:p>
                  </a:txBody>
                  <a:tcPr marT="36000" marB="36000"/>
                </a:tc>
                <a:tc>
                  <a:txBody>
                    <a:bodyPr/>
                    <a:lstStyle/>
                    <a:p>
                      <a:pPr algn="ctr">
                        <a:spcBef>
                          <a:spcPts val="300"/>
                        </a:spcBef>
                        <a:spcAft>
                          <a:spcPts val="300"/>
                        </a:spcAft>
                      </a:pPr>
                      <a:r>
                        <a:rPr lang="zh-CN" altLang="en-US" sz="1800" smtClean="0"/>
                        <a:t>位赋值</a:t>
                      </a:r>
                      <a:endParaRPr lang="zh-CN" altLang="en-US" sz="1800"/>
                    </a:p>
                  </a:txBody>
                  <a:tcPr marT="36000" marB="36000"/>
                </a:tc>
                <a:tc>
                  <a:txBody>
                    <a:bodyPr/>
                    <a:lstStyle/>
                    <a:p>
                      <a:pPr algn="ctr">
                        <a:spcBef>
                          <a:spcPts val="300"/>
                        </a:spcBef>
                        <a:spcAft>
                          <a:spcPts val="300"/>
                        </a:spcAft>
                      </a:pPr>
                      <a:r>
                        <a:rPr lang="zh-CN" altLang="en-US" sz="1800" smtClean="0"/>
                        <a:t>算术赋值</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36000" marB="36000"/>
                </a:tc>
              </a:tr>
              <a:tr h="370840">
                <a:tc>
                  <a:txBody>
                    <a:bodyPr/>
                    <a:lstStyle/>
                    <a:p>
                      <a:pPr algn="ctr">
                        <a:spcBef>
                          <a:spcPts val="300"/>
                        </a:spcBef>
                        <a:spcAft>
                          <a:spcPts val="300"/>
                        </a:spcAft>
                      </a:pPr>
                      <a:r>
                        <a:rPr lang="en-US" altLang="zh-CN" sz="1800" smtClean="0"/>
                        <a:t>OBAN</a:t>
                      </a:r>
                      <a:endParaRPr lang="zh-CN" altLang="en-US" sz="1800"/>
                    </a:p>
                  </a:txBody>
                  <a:tcPr marT="36000" marB="36000"/>
                </a:tc>
                <a:tc>
                  <a:txBody>
                    <a:bodyPr/>
                    <a:lstStyle/>
                    <a:p>
                      <a:pPr algn="ctr">
                        <a:spcBef>
                          <a:spcPts val="300"/>
                        </a:spcBef>
                        <a:spcAft>
                          <a:spcPts val="300"/>
                        </a:spcAft>
                      </a:pPr>
                      <a:r>
                        <a:rPr lang="zh-CN" altLang="en-US" sz="1800" smtClean="0"/>
                        <a:t>位</a:t>
                      </a:r>
                      <a:endParaRPr lang="zh-CN" altLang="en-US" sz="1800"/>
                    </a:p>
                  </a:txBody>
                  <a:tcPr marT="36000" marB="36000"/>
                </a:tc>
                <a:tc>
                  <a:txBody>
                    <a:bodyPr/>
                    <a:lstStyle/>
                    <a:p>
                      <a:pPr algn="ctr">
                        <a:spcBef>
                          <a:spcPts val="300"/>
                        </a:spcBef>
                        <a:spcAft>
                          <a:spcPts val="300"/>
                        </a:spcAft>
                      </a:pPr>
                      <a:r>
                        <a:rPr lang="zh-CN" altLang="en-US" sz="1800" smtClean="0"/>
                        <a:t>算术</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36000" marB="36000"/>
                </a:tc>
              </a:tr>
              <a:tr h="370840">
                <a:tc>
                  <a:txBody>
                    <a:bodyPr/>
                    <a:lstStyle/>
                    <a:p>
                      <a:pPr algn="ctr">
                        <a:spcBef>
                          <a:spcPts val="300"/>
                        </a:spcBef>
                        <a:spcAft>
                          <a:spcPts val="300"/>
                        </a:spcAft>
                      </a:pPr>
                      <a:r>
                        <a:rPr lang="en-US" altLang="zh-CN" sz="1800" smtClean="0"/>
                        <a:t>OBEA</a:t>
                      </a:r>
                      <a:endParaRPr lang="zh-CN" altLang="en-US" sz="1800"/>
                    </a:p>
                  </a:txBody>
                  <a:tcPr marT="36000" marB="36000"/>
                </a:tc>
                <a:tc>
                  <a:txBody>
                    <a:bodyPr/>
                    <a:lstStyle/>
                    <a:p>
                      <a:pPr algn="ctr">
                        <a:spcBef>
                          <a:spcPts val="300"/>
                        </a:spcBef>
                        <a:spcAft>
                          <a:spcPts val="300"/>
                        </a:spcAft>
                      </a:pPr>
                      <a:r>
                        <a:rPr lang="zh-CN" altLang="en-US" sz="1800" smtClean="0"/>
                        <a:t>位赋值</a:t>
                      </a:r>
                      <a:endParaRPr lang="zh-CN" altLang="en-US" sz="1800"/>
                    </a:p>
                  </a:txBody>
                  <a:tcPr marT="36000" marB="36000"/>
                </a:tc>
                <a:tc>
                  <a:txBody>
                    <a:bodyPr/>
                    <a:lstStyle/>
                    <a:p>
                      <a:pPr algn="ctr">
                        <a:spcBef>
                          <a:spcPts val="300"/>
                        </a:spcBef>
                        <a:spcAft>
                          <a:spcPts val="300"/>
                        </a:spcAft>
                      </a:pPr>
                      <a:r>
                        <a:rPr lang="zh-CN" altLang="en-US" sz="1800" smtClean="0"/>
                        <a:t>单纯赋值</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36000" marB="36000"/>
                </a:tc>
              </a:tr>
              <a:tr h="370840">
                <a:tc>
                  <a:txBody>
                    <a:bodyPr/>
                    <a:lstStyle/>
                    <a:p>
                      <a:pPr algn="ctr">
                        <a:spcBef>
                          <a:spcPts val="300"/>
                        </a:spcBef>
                        <a:spcAft>
                          <a:spcPts val="300"/>
                        </a:spcAft>
                      </a:pPr>
                      <a:r>
                        <a:rPr lang="en-US" altLang="zh-CN" sz="1800" smtClean="0"/>
                        <a:t>OBLN</a:t>
                      </a:r>
                      <a:endParaRPr lang="zh-CN" altLang="en-US" sz="1800"/>
                    </a:p>
                  </a:txBody>
                  <a:tcPr marT="36000" marB="36000"/>
                </a:tc>
                <a:tc>
                  <a:txBody>
                    <a:bodyPr/>
                    <a:lstStyle/>
                    <a:p>
                      <a:pPr algn="ctr">
                        <a:spcBef>
                          <a:spcPts val="300"/>
                        </a:spcBef>
                        <a:spcAft>
                          <a:spcPts val="300"/>
                        </a:spcAft>
                      </a:pPr>
                      <a:r>
                        <a:rPr lang="zh-CN" altLang="en-US" sz="1800" smtClean="0"/>
                        <a:t>位</a:t>
                      </a:r>
                      <a:endParaRPr lang="zh-CN" altLang="en-US" sz="1800"/>
                    </a:p>
                  </a:txBody>
                  <a:tcPr marT="36000" marB="36000"/>
                </a:tc>
                <a:tc>
                  <a:txBody>
                    <a:bodyPr/>
                    <a:lstStyle/>
                    <a:p>
                      <a:pPr algn="ctr">
                        <a:spcBef>
                          <a:spcPts val="300"/>
                        </a:spcBef>
                        <a:spcAft>
                          <a:spcPts val="300"/>
                        </a:spcAft>
                      </a:pPr>
                      <a:r>
                        <a:rPr lang="zh-CN" altLang="en-US" sz="1800" smtClean="0"/>
                        <a:t>逻辑</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&amp;&amp; b</a:t>
                      </a:r>
                      <a:endParaRPr lang="zh-CN" altLang="en-US" sz="1800"/>
                    </a:p>
                  </a:txBody>
                  <a:tcPr marT="36000" marB="36000"/>
                </a:tc>
              </a:tr>
              <a:tr h="370840">
                <a:tc>
                  <a:txBody>
                    <a:bodyPr/>
                    <a:lstStyle/>
                    <a:p>
                      <a:pPr algn="ctr">
                        <a:spcBef>
                          <a:spcPts val="300"/>
                        </a:spcBef>
                        <a:spcAft>
                          <a:spcPts val="300"/>
                        </a:spcAft>
                      </a:pPr>
                      <a:r>
                        <a:rPr lang="en-US" altLang="zh-CN" sz="1800" smtClean="0"/>
                        <a:t>OBRN</a:t>
                      </a:r>
                      <a:endParaRPr lang="zh-CN" altLang="en-US" sz="1800"/>
                    </a:p>
                  </a:txBody>
                  <a:tcPr marT="36000" marB="36000"/>
                </a:tc>
                <a:tc>
                  <a:txBody>
                    <a:bodyPr/>
                    <a:lstStyle/>
                    <a:p>
                      <a:pPr algn="ctr">
                        <a:spcBef>
                          <a:spcPts val="300"/>
                        </a:spcBef>
                        <a:spcAft>
                          <a:spcPts val="300"/>
                        </a:spcAft>
                      </a:pPr>
                      <a:r>
                        <a:rPr lang="zh-CN" altLang="en-US" sz="1800" smtClean="0"/>
                        <a:t>位</a:t>
                      </a:r>
                      <a:endParaRPr lang="zh-CN" altLang="en-US" sz="1800"/>
                    </a:p>
                  </a:txBody>
                  <a:tcPr marT="36000" marB="36000"/>
                </a:tc>
                <a:tc>
                  <a:txBody>
                    <a:bodyPr/>
                    <a:lstStyle/>
                    <a:p>
                      <a:pPr algn="ctr">
                        <a:spcBef>
                          <a:spcPts val="300"/>
                        </a:spcBef>
                        <a:spcAft>
                          <a:spcPts val="300"/>
                        </a:spcAft>
                      </a:pPr>
                      <a:r>
                        <a:rPr lang="zh-CN" altLang="en-US" sz="1800" smtClean="0"/>
                        <a:t>关系</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&lt; b</a:t>
                      </a:r>
                      <a:endParaRPr lang="zh-CN" altLang="en-US" sz="1800"/>
                    </a:p>
                  </a:txBody>
                  <a:tcPr marT="36000" marB="36000"/>
                </a:tc>
              </a:tr>
              <a:tr h="370840">
                <a:tc>
                  <a:txBody>
                    <a:bodyPr/>
                    <a:lstStyle/>
                    <a:p>
                      <a:pPr algn="ctr">
                        <a:spcBef>
                          <a:spcPts val="300"/>
                        </a:spcBef>
                        <a:spcAft>
                          <a:spcPts val="300"/>
                        </a:spcAft>
                      </a:pPr>
                      <a:r>
                        <a:rPr lang="en-US" altLang="zh-CN" sz="1800" smtClean="0"/>
                        <a:t>OBSA</a:t>
                      </a:r>
                      <a:endParaRPr lang="zh-CN" altLang="en-US" sz="1800"/>
                    </a:p>
                  </a:txBody>
                  <a:tcPr marT="36000" marB="36000"/>
                </a:tc>
                <a:tc>
                  <a:txBody>
                    <a:bodyPr/>
                    <a:lstStyle/>
                    <a:p>
                      <a:pPr algn="ctr">
                        <a:spcBef>
                          <a:spcPts val="300"/>
                        </a:spcBef>
                        <a:spcAft>
                          <a:spcPts val="300"/>
                        </a:spcAft>
                      </a:pPr>
                      <a:r>
                        <a:rPr lang="zh-CN" altLang="en-US" sz="1800" smtClean="0"/>
                        <a:t>位赋值</a:t>
                      </a:r>
                      <a:endParaRPr lang="zh-CN" altLang="en-US" sz="1800"/>
                    </a:p>
                  </a:txBody>
                  <a:tcPr marT="36000" marB="36000"/>
                </a:tc>
                <a:tc>
                  <a:txBody>
                    <a:bodyPr/>
                    <a:lstStyle/>
                    <a:p>
                      <a:pPr algn="ctr">
                        <a:spcBef>
                          <a:spcPts val="300"/>
                        </a:spcBef>
                        <a:spcAft>
                          <a:spcPts val="300"/>
                        </a:spcAft>
                      </a:pPr>
                      <a:r>
                        <a:rPr lang="zh-CN" altLang="en-US" sz="1800" smtClean="0"/>
                        <a:t>移位赋值</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&lt;&lt;= b</a:t>
                      </a:r>
                      <a:endParaRPr lang="zh-CN" altLang="en-US" sz="1800"/>
                    </a:p>
                  </a:txBody>
                  <a:tcPr marT="36000" marB="36000"/>
                </a:tc>
              </a:tr>
              <a:tr h="370840">
                <a:tc>
                  <a:txBody>
                    <a:bodyPr/>
                    <a:lstStyle/>
                    <a:p>
                      <a:pPr algn="ctr">
                        <a:spcBef>
                          <a:spcPts val="300"/>
                        </a:spcBef>
                        <a:spcAft>
                          <a:spcPts val="300"/>
                        </a:spcAft>
                      </a:pPr>
                      <a:r>
                        <a:rPr lang="en-US" altLang="zh-CN" sz="1800" smtClean="0"/>
                        <a:t>OBSN</a:t>
                      </a:r>
                      <a:endParaRPr lang="zh-CN" altLang="en-US" sz="1800"/>
                    </a:p>
                  </a:txBody>
                  <a:tcPr marT="36000" marB="36000"/>
                </a:tc>
                <a:tc>
                  <a:txBody>
                    <a:bodyPr/>
                    <a:lstStyle/>
                    <a:p>
                      <a:pPr algn="ctr">
                        <a:spcBef>
                          <a:spcPts val="300"/>
                        </a:spcBef>
                        <a:spcAft>
                          <a:spcPts val="300"/>
                        </a:spcAft>
                      </a:pPr>
                      <a:r>
                        <a:rPr lang="zh-CN" altLang="en-US" sz="1800" smtClean="0"/>
                        <a:t>位</a:t>
                      </a:r>
                      <a:endParaRPr lang="zh-CN" altLang="en-US" sz="1800"/>
                    </a:p>
                  </a:txBody>
                  <a:tcPr marT="36000" marB="36000"/>
                </a:tc>
                <a:tc>
                  <a:txBody>
                    <a:bodyPr/>
                    <a:lstStyle/>
                    <a:p>
                      <a:pPr algn="ctr">
                        <a:spcBef>
                          <a:spcPts val="300"/>
                        </a:spcBef>
                        <a:spcAft>
                          <a:spcPts val="300"/>
                        </a:spcAft>
                      </a:pPr>
                      <a:r>
                        <a:rPr lang="zh-CN" altLang="en-US" sz="1800" smtClean="0"/>
                        <a:t>移位</a:t>
                      </a:r>
                      <a:endParaRPr lang="zh-CN" altLang="en-US" sz="1800"/>
                    </a:p>
                  </a:txBody>
                  <a:tcPr marT="36000" marB="36000"/>
                </a:tc>
                <a:tc>
                  <a:txBody>
                    <a:bodyPr/>
                    <a:lstStyle/>
                    <a:p>
                      <a:pPr>
                        <a:spcBef>
                          <a:spcPts val="300"/>
                        </a:spcBef>
                        <a:spcAft>
                          <a:spcPts val="300"/>
                        </a:spcAft>
                      </a:pPr>
                      <a:r>
                        <a:rPr lang="en-US" altLang="zh-CN" sz="1800" smtClean="0"/>
                        <a:t>a &amp; b </a:t>
                      </a:r>
                      <a:r>
                        <a:rPr lang="en-US" altLang="zh-CN" sz="1800" smtClean="0">
                          <a:latin typeface="Times New Roman" panose="02020603050405020304"/>
                          <a:cs typeface="Times New Roman" panose="02020603050405020304"/>
                        </a:rPr>
                        <a:t>→</a:t>
                      </a:r>
                      <a:r>
                        <a:rPr lang="en-US" altLang="zh-CN" sz="1800" smtClean="0"/>
                        <a:t> a &lt;&lt; b</a:t>
                      </a:r>
                      <a:endParaRPr lang="zh-CN" altLang="en-US" sz="1800"/>
                    </a:p>
                  </a:txBody>
                  <a:tcPr marT="36000" marB="36000"/>
                </a:tc>
              </a:tr>
            </a:tbl>
          </a:graphicData>
        </a:graphic>
      </p:graphicFrame>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22500" y="369570"/>
            <a:ext cx="7835900" cy="647700"/>
          </a:xfrm>
        </p:spPr>
        <p:txBody>
          <a:bodyPr/>
          <a:lstStyle/>
          <a:p>
            <a:r>
              <a:rPr lang="en-US" altLang="zh-CN" sz="3200">
                <a:solidFill>
                  <a:srgbClr val="C00000"/>
                </a:solidFill>
                <a:latin typeface="Times New Roman" panose="02020603050405020304" pitchFamily="18" charset="0"/>
                <a:cs typeface="Times New Roman" panose="02020603050405020304" pitchFamily="18" charset="0"/>
              </a:rPr>
              <a:t>Oior中变异算子：单纯赋值、逻辑和关系</a:t>
            </a:r>
            <a:endParaRPr lang="en-US" altLang="zh-CN" sz="3200">
              <a:solidFill>
                <a:srgbClr val="C00000"/>
              </a:solidFill>
              <a:latin typeface="Times New Roman" panose="02020603050405020304" pitchFamily="18" charset="0"/>
              <a:cs typeface="Times New Roman" panose="02020603050405020304" pitchFamily="18" charset="0"/>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2286001" y="1524000"/>
          <a:ext cx="7772401" cy="3795360"/>
        </p:xfrm>
        <a:graphic>
          <a:graphicData uri="http://schemas.openxmlformats.org/drawingml/2006/table">
            <a:tbl>
              <a:tblPr firstRow="1" bandRow="1">
                <a:tableStyleId>{21E4AEA4-8DFA-4A89-87EB-49C32662AFE0}</a:tableStyleId>
              </a:tblPr>
              <a:tblGrid>
                <a:gridCol w="1317356"/>
                <a:gridCol w="1806844"/>
                <a:gridCol w="1524000"/>
                <a:gridCol w="3124201"/>
              </a:tblGrid>
              <a:tr h="370840">
                <a:tc>
                  <a:txBody>
                    <a:bodyPr/>
                    <a:lstStyle/>
                    <a:p>
                      <a:pPr algn="ctr">
                        <a:spcBef>
                          <a:spcPts val="300"/>
                        </a:spcBef>
                        <a:spcAft>
                          <a:spcPts val="300"/>
                        </a:spcAft>
                      </a:pPr>
                      <a:r>
                        <a:rPr lang="zh-CN" altLang="en-US" sz="2000" smtClean="0"/>
                        <a:t>名称</a:t>
                      </a:r>
                      <a:endParaRPr lang="zh-CN" altLang="en-US" sz="2000"/>
                    </a:p>
                  </a:txBody>
                  <a:tcPr marT="72000" marB="72000"/>
                </a:tc>
                <a:tc>
                  <a:txBody>
                    <a:bodyPr/>
                    <a:lstStyle/>
                    <a:p>
                      <a:pPr algn="ctr">
                        <a:spcBef>
                          <a:spcPts val="300"/>
                        </a:spcBef>
                        <a:spcAft>
                          <a:spcPts val="300"/>
                        </a:spcAft>
                      </a:pPr>
                      <a:r>
                        <a:rPr lang="zh-CN" altLang="en-US" sz="2000" smtClean="0"/>
                        <a:t>定义域</a:t>
                      </a:r>
                      <a:endParaRPr lang="zh-CN" altLang="en-US" sz="2000"/>
                    </a:p>
                  </a:txBody>
                  <a:tcPr marT="72000" marB="72000"/>
                </a:tc>
                <a:tc>
                  <a:txBody>
                    <a:bodyPr/>
                    <a:lstStyle/>
                    <a:p>
                      <a:pPr algn="ctr">
                        <a:spcBef>
                          <a:spcPts val="300"/>
                        </a:spcBef>
                        <a:spcAft>
                          <a:spcPts val="300"/>
                        </a:spcAft>
                      </a:pPr>
                      <a:r>
                        <a:rPr lang="zh-CN" altLang="en-US" sz="2000" smtClean="0"/>
                        <a:t>值域</a:t>
                      </a:r>
                      <a:endParaRPr lang="zh-CN" altLang="en-US" sz="2000"/>
                    </a:p>
                  </a:txBody>
                  <a:tcPr marT="72000" marB="72000"/>
                </a:tc>
                <a:tc>
                  <a:txBody>
                    <a:bodyPr/>
                    <a:lstStyle/>
                    <a:p>
                      <a:pPr algn="ctr">
                        <a:spcBef>
                          <a:spcPts val="300"/>
                        </a:spcBef>
                        <a:spcAft>
                          <a:spcPts val="300"/>
                        </a:spcAft>
                      </a:pPr>
                      <a:r>
                        <a:rPr lang="zh-CN" altLang="en-US" sz="2000" smtClean="0"/>
                        <a:t>示例</a:t>
                      </a:r>
                      <a:endParaRPr lang="zh-CN" altLang="en-US" sz="2000"/>
                    </a:p>
                  </a:txBody>
                  <a:tcPr marT="72000" marB="72000"/>
                </a:tc>
              </a:tr>
              <a:tr h="370840">
                <a:tc>
                  <a:txBody>
                    <a:bodyPr/>
                    <a:lstStyle/>
                    <a:p>
                      <a:pPr algn="ctr">
                        <a:spcBef>
                          <a:spcPts val="300"/>
                        </a:spcBef>
                        <a:spcAft>
                          <a:spcPts val="300"/>
                        </a:spcAft>
                      </a:pPr>
                      <a:r>
                        <a:rPr lang="en-US" altLang="zh-CN" sz="1800" smtClean="0"/>
                        <a:t>OEAA</a:t>
                      </a:r>
                      <a:endParaRPr lang="zh-CN" altLang="en-US" sz="1800"/>
                    </a:p>
                  </a:txBody>
                  <a:tcPr marT="72000" marB="72000"/>
                </a:tc>
                <a:tc>
                  <a:txBody>
                    <a:bodyPr/>
                    <a:lstStyle/>
                    <a:p>
                      <a:pPr algn="ctr">
                        <a:spcBef>
                          <a:spcPts val="300"/>
                        </a:spcBef>
                        <a:spcAft>
                          <a:spcPts val="300"/>
                        </a:spcAft>
                      </a:pPr>
                      <a:r>
                        <a:rPr lang="zh-CN" altLang="en-US" sz="1800" smtClean="0"/>
                        <a:t>单纯赋值</a:t>
                      </a:r>
                      <a:endParaRPr lang="zh-CN" altLang="en-US" sz="1800"/>
                    </a:p>
                  </a:txBody>
                  <a:tcPr marT="72000" marB="72000"/>
                </a:tc>
                <a:tc>
                  <a:txBody>
                    <a:bodyPr/>
                    <a:lstStyle/>
                    <a:p>
                      <a:pPr algn="ctr">
                        <a:spcBef>
                          <a:spcPts val="300"/>
                        </a:spcBef>
                        <a:spcAft>
                          <a:spcPts val="300"/>
                        </a:spcAft>
                      </a:pPr>
                      <a:r>
                        <a:rPr lang="zh-CN" altLang="en-US" sz="1800" smtClean="0"/>
                        <a:t>算术赋值</a:t>
                      </a:r>
                      <a:endParaRPr lang="zh-CN" altLang="en-US" sz="1800"/>
                    </a:p>
                  </a:txBody>
                  <a:tcPr marT="72000" marB="72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72000" marB="72000"/>
                </a:tc>
              </a:tr>
              <a:tr h="370840">
                <a:tc>
                  <a:txBody>
                    <a:bodyPr/>
                    <a:lstStyle/>
                    <a:p>
                      <a:pPr algn="ctr">
                        <a:spcBef>
                          <a:spcPts val="300"/>
                        </a:spcBef>
                        <a:spcAft>
                          <a:spcPts val="300"/>
                        </a:spcAft>
                      </a:pPr>
                      <a:r>
                        <a:rPr lang="en-US" altLang="zh-CN" sz="1800" smtClean="0"/>
                        <a:t>OEBA</a:t>
                      </a:r>
                      <a:endParaRPr lang="zh-CN" altLang="en-US" sz="1800"/>
                    </a:p>
                  </a:txBody>
                  <a:tcPr marT="72000" marB="72000"/>
                </a:tc>
                <a:tc>
                  <a:txBody>
                    <a:bodyPr/>
                    <a:lstStyle/>
                    <a:p>
                      <a:pPr algn="ctr">
                        <a:spcBef>
                          <a:spcPts val="300"/>
                        </a:spcBef>
                        <a:spcAft>
                          <a:spcPts val="300"/>
                        </a:spcAft>
                      </a:pPr>
                      <a:r>
                        <a:rPr lang="zh-CN" altLang="en-US" sz="1800" smtClean="0"/>
                        <a:t>单纯赋值</a:t>
                      </a:r>
                      <a:endParaRPr lang="zh-CN" altLang="en-US" sz="1800"/>
                    </a:p>
                  </a:txBody>
                  <a:tcPr marT="72000" marB="72000"/>
                </a:tc>
                <a:tc>
                  <a:txBody>
                    <a:bodyPr/>
                    <a:lstStyle/>
                    <a:p>
                      <a:pPr algn="ctr">
                        <a:spcBef>
                          <a:spcPts val="300"/>
                        </a:spcBef>
                        <a:spcAft>
                          <a:spcPts val="300"/>
                        </a:spcAft>
                      </a:pPr>
                      <a:r>
                        <a:rPr lang="zh-CN" altLang="en-US" sz="1800" smtClean="0"/>
                        <a:t>位赋值</a:t>
                      </a:r>
                      <a:endParaRPr lang="zh-CN" altLang="en-US" sz="1800"/>
                    </a:p>
                  </a:txBody>
                  <a:tcPr marT="72000" marB="72000"/>
                </a:tc>
                <a:tc>
                  <a:txBody>
                    <a:bodyPr/>
                    <a:lstStyle/>
                    <a:p>
                      <a:pPr>
                        <a:spcBef>
                          <a:spcPts val="300"/>
                        </a:spcBef>
                        <a:spcAft>
                          <a:spcPts val="300"/>
                        </a:spcAft>
                      </a:pPr>
                      <a:r>
                        <a:rPr lang="en-US" altLang="zh-CN" sz="1800" smtClean="0"/>
                        <a:t>a = b </a:t>
                      </a:r>
                      <a:r>
                        <a:rPr lang="en-US" altLang="zh-CN" sz="1800" smtClean="0">
                          <a:latin typeface="Times New Roman" panose="02020603050405020304"/>
                          <a:cs typeface="Times New Roman" panose="02020603050405020304"/>
                        </a:rPr>
                        <a:t>→</a:t>
                      </a:r>
                      <a:r>
                        <a:rPr lang="en-US" altLang="zh-CN" sz="1800" smtClean="0"/>
                        <a:t> a &amp;= b</a:t>
                      </a:r>
                      <a:endParaRPr lang="zh-CN" altLang="en-US" sz="1800"/>
                    </a:p>
                  </a:txBody>
                  <a:tcPr marT="72000" marB="72000"/>
                </a:tc>
              </a:tr>
              <a:tr h="370840">
                <a:tc>
                  <a:txBody>
                    <a:bodyPr/>
                    <a:lstStyle/>
                    <a:p>
                      <a:pPr algn="ctr">
                        <a:spcBef>
                          <a:spcPts val="300"/>
                        </a:spcBef>
                        <a:spcAft>
                          <a:spcPts val="300"/>
                        </a:spcAft>
                      </a:pPr>
                      <a:r>
                        <a:rPr lang="en-US" altLang="zh-CN" sz="1800" smtClean="0"/>
                        <a:t>OLAN</a:t>
                      </a:r>
                      <a:endParaRPr lang="zh-CN" altLang="en-US" sz="1800"/>
                    </a:p>
                  </a:txBody>
                  <a:tcPr marT="72000" marB="72000"/>
                </a:tc>
                <a:tc>
                  <a:txBody>
                    <a:bodyPr/>
                    <a:lstStyle/>
                    <a:p>
                      <a:pPr algn="ctr">
                        <a:spcBef>
                          <a:spcPts val="300"/>
                        </a:spcBef>
                        <a:spcAft>
                          <a:spcPts val="300"/>
                        </a:spcAft>
                      </a:pPr>
                      <a:r>
                        <a:rPr lang="zh-CN" altLang="en-US" sz="1800" smtClean="0"/>
                        <a:t>逻辑</a:t>
                      </a:r>
                      <a:endParaRPr lang="zh-CN" altLang="en-US" sz="1800"/>
                    </a:p>
                  </a:txBody>
                  <a:tcPr marT="72000" marB="72000"/>
                </a:tc>
                <a:tc>
                  <a:txBody>
                    <a:bodyPr/>
                    <a:lstStyle/>
                    <a:p>
                      <a:pPr algn="ctr">
                        <a:spcBef>
                          <a:spcPts val="300"/>
                        </a:spcBef>
                        <a:spcAft>
                          <a:spcPts val="300"/>
                        </a:spcAft>
                      </a:pPr>
                      <a:r>
                        <a:rPr lang="zh-CN" altLang="en-US" sz="1800" smtClean="0"/>
                        <a:t>算术</a:t>
                      </a:r>
                      <a:endParaRPr lang="zh-CN" altLang="en-US" sz="1800"/>
                    </a:p>
                  </a:txBody>
                  <a:tcPr marT="72000" marB="72000"/>
                </a:tc>
                <a:tc>
                  <a:txBody>
                    <a:bodyPr/>
                    <a:lstStyle/>
                    <a:p>
                      <a:pPr>
                        <a:spcBef>
                          <a:spcPts val="300"/>
                        </a:spcBef>
                        <a:spcAft>
                          <a:spcPts val="300"/>
                        </a:spcAft>
                      </a:pPr>
                      <a:r>
                        <a:rPr lang="en-US" altLang="zh-CN" sz="1800" smtClean="0"/>
                        <a:t>a &amp;&amp;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72000" marB="72000"/>
                </a:tc>
              </a:tr>
              <a:tr h="370840">
                <a:tc>
                  <a:txBody>
                    <a:bodyPr/>
                    <a:lstStyle/>
                    <a:p>
                      <a:pPr algn="ctr">
                        <a:spcBef>
                          <a:spcPts val="300"/>
                        </a:spcBef>
                        <a:spcAft>
                          <a:spcPts val="300"/>
                        </a:spcAft>
                      </a:pPr>
                      <a:r>
                        <a:rPr lang="en-US" altLang="zh-CN" sz="1800" smtClean="0"/>
                        <a:t>OLRN</a:t>
                      </a:r>
                      <a:endParaRPr lang="zh-CN" altLang="en-US" sz="1800"/>
                    </a:p>
                  </a:txBody>
                  <a:tcPr marT="72000" marB="72000"/>
                </a:tc>
                <a:tc>
                  <a:txBody>
                    <a:bodyPr/>
                    <a:lstStyle/>
                    <a:p>
                      <a:pPr algn="ctr">
                        <a:spcBef>
                          <a:spcPts val="300"/>
                        </a:spcBef>
                        <a:spcAft>
                          <a:spcPts val="300"/>
                        </a:spcAft>
                      </a:pPr>
                      <a:r>
                        <a:rPr lang="zh-CN" altLang="en-US" sz="1800" smtClean="0"/>
                        <a:t>逻辑</a:t>
                      </a:r>
                      <a:endParaRPr lang="zh-CN" altLang="en-US" sz="1800"/>
                    </a:p>
                  </a:txBody>
                  <a:tcPr marT="72000" marB="72000"/>
                </a:tc>
                <a:tc>
                  <a:txBody>
                    <a:bodyPr/>
                    <a:lstStyle/>
                    <a:p>
                      <a:pPr algn="ctr">
                        <a:spcBef>
                          <a:spcPts val="300"/>
                        </a:spcBef>
                        <a:spcAft>
                          <a:spcPts val="300"/>
                        </a:spcAft>
                      </a:pPr>
                      <a:r>
                        <a:rPr lang="zh-CN" altLang="en-US" sz="1800" smtClean="0"/>
                        <a:t>关系</a:t>
                      </a:r>
                      <a:endParaRPr lang="zh-CN" altLang="en-US" sz="1800"/>
                    </a:p>
                  </a:txBody>
                  <a:tcPr marT="72000" marB="72000"/>
                </a:tc>
                <a:tc>
                  <a:txBody>
                    <a:bodyPr/>
                    <a:lstStyle/>
                    <a:p>
                      <a:pPr>
                        <a:spcBef>
                          <a:spcPts val="300"/>
                        </a:spcBef>
                        <a:spcAft>
                          <a:spcPts val="300"/>
                        </a:spcAft>
                      </a:pPr>
                      <a:r>
                        <a:rPr lang="en-US" altLang="zh-CN" sz="1800" smtClean="0"/>
                        <a:t>a &amp;&amp; b </a:t>
                      </a:r>
                      <a:r>
                        <a:rPr lang="en-US" altLang="zh-CN" sz="1800" smtClean="0">
                          <a:latin typeface="Times New Roman" panose="02020603050405020304"/>
                          <a:cs typeface="Times New Roman" panose="02020603050405020304"/>
                        </a:rPr>
                        <a:t>→</a:t>
                      </a:r>
                      <a:r>
                        <a:rPr lang="en-US" altLang="zh-CN" sz="1800" smtClean="0"/>
                        <a:t> a &amp; b</a:t>
                      </a:r>
                      <a:endParaRPr lang="zh-CN" altLang="en-US" sz="1800"/>
                    </a:p>
                  </a:txBody>
                  <a:tcPr marT="72000" marB="72000"/>
                </a:tc>
              </a:tr>
              <a:tr h="370840">
                <a:tc>
                  <a:txBody>
                    <a:bodyPr/>
                    <a:lstStyle/>
                    <a:p>
                      <a:pPr algn="ctr">
                        <a:spcBef>
                          <a:spcPts val="300"/>
                        </a:spcBef>
                        <a:spcAft>
                          <a:spcPts val="300"/>
                        </a:spcAft>
                      </a:pPr>
                      <a:r>
                        <a:rPr lang="en-US" altLang="zh-CN" sz="1800" smtClean="0"/>
                        <a:t>ORAN</a:t>
                      </a:r>
                      <a:endParaRPr lang="zh-CN" altLang="en-US" sz="1800"/>
                    </a:p>
                  </a:txBody>
                  <a:tcPr marT="72000" marB="72000"/>
                </a:tc>
                <a:tc>
                  <a:txBody>
                    <a:bodyPr/>
                    <a:lstStyle/>
                    <a:p>
                      <a:pPr algn="ctr">
                        <a:spcBef>
                          <a:spcPts val="300"/>
                        </a:spcBef>
                        <a:spcAft>
                          <a:spcPts val="300"/>
                        </a:spcAft>
                      </a:pPr>
                      <a:r>
                        <a:rPr lang="zh-CN" altLang="en-US" sz="1800" smtClean="0"/>
                        <a:t>关系</a:t>
                      </a:r>
                      <a:endParaRPr lang="zh-CN" altLang="en-US" sz="1800"/>
                    </a:p>
                  </a:txBody>
                  <a:tcPr marT="72000" marB="72000"/>
                </a:tc>
                <a:tc>
                  <a:txBody>
                    <a:bodyPr/>
                    <a:lstStyle/>
                    <a:p>
                      <a:pPr algn="ctr">
                        <a:spcBef>
                          <a:spcPts val="300"/>
                        </a:spcBef>
                        <a:spcAft>
                          <a:spcPts val="300"/>
                        </a:spcAft>
                      </a:pPr>
                      <a:r>
                        <a:rPr lang="zh-CN" altLang="en-US" sz="1800" smtClean="0"/>
                        <a:t>算术</a:t>
                      </a:r>
                      <a:endParaRPr lang="zh-CN" altLang="en-US" sz="1800"/>
                    </a:p>
                  </a:txBody>
                  <a:tcPr marT="72000" marB="72000"/>
                </a:tc>
                <a:tc>
                  <a:txBody>
                    <a:bodyPr/>
                    <a:lstStyle/>
                    <a:p>
                      <a:pPr>
                        <a:spcBef>
                          <a:spcPts val="300"/>
                        </a:spcBef>
                        <a:spcAft>
                          <a:spcPts val="300"/>
                        </a:spcAft>
                      </a:pPr>
                      <a:r>
                        <a:rPr lang="en-US" altLang="zh-CN" sz="1800" smtClean="0"/>
                        <a:t>a &lt; b </a:t>
                      </a:r>
                      <a:r>
                        <a:rPr lang="en-US" altLang="zh-CN" sz="1800" smtClean="0">
                          <a:latin typeface="Times New Roman" panose="02020603050405020304"/>
                          <a:cs typeface="Times New Roman" panose="02020603050405020304"/>
                        </a:rPr>
                        <a:t>→</a:t>
                      </a:r>
                      <a:r>
                        <a:rPr lang="en-US" altLang="zh-CN" sz="1800" smtClean="0"/>
                        <a:t> a + b</a:t>
                      </a:r>
                      <a:endParaRPr lang="zh-CN" altLang="en-US" sz="1800"/>
                    </a:p>
                  </a:txBody>
                  <a:tcPr marT="72000" marB="72000"/>
                </a:tc>
              </a:tr>
              <a:tr h="370840">
                <a:tc>
                  <a:txBody>
                    <a:bodyPr/>
                    <a:lstStyle/>
                    <a:p>
                      <a:pPr algn="ctr">
                        <a:spcBef>
                          <a:spcPts val="300"/>
                        </a:spcBef>
                        <a:spcAft>
                          <a:spcPts val="300"/>
                        </a:spcAft>
                      </a:pPr>
                      <a:r>
                        <a:rPr lang="en-US" altLang="zh-CN" sz="1800" smtClean="0"/>
                        <a:t>ORLN</a:t>
                      </a:r>
                      <a:endParaRPr lang="zh-CN" altLang="en-US" sz="1800"/>
                    </a:p>
                  </a:txBody>
                  <a:tcPr marT="72000" marB="72000"/>
                </a:tc>
                <a:tc>
                  <a:txBody>
                    <a:bodyPr/>
                    <a:lstStyle/>
                    <a:p>
                      <a:pPr algn="ctr">
                        <a:spcBef>
                          <a:spcPts val="300"/>
                        </a:spcBef>
                        <a:spcAft>
                          <a:spcPts val="300"/>
                        </a:spcAft>
                      </a:pPr>
                      <a:r>
                        <a:rPr lang="zh-CN" altLang="en-US" sz="1800" smtClean="0"/>
                        <a:t>关系</a:t>
                      </a:r>
                      <a:endParaRPr lang="zh-CN" altLang="en-US" sz="1800"/>
                    </a:p>
                  </a:txBody>
                  <a:tcPr marT="72000" marB="72000"/>
                </a:tc>
                <a:tc>
                  <a:txBody>
                    <a:bodyPr/>
                    <a:lstStyle/>
                    <a:p>
                      <a:pPr algn="ctr">
                        <a:spcBef>
                          <a:spcPts val="300"/>
                        </a:spcBef>
                        <a:spcAft>
                          <a:spcPts val="300"/>
                        </a:spcAft>
                      </a:pPr>
                      <a:r>
                        <a:rPr lang="zh-CN" altLang="en-US" sz="1800" smtClean="0"/>
                        <a:t>逻辑</a:t>
                      </a:r>
                      <a:endParaRPr lang="zh-CN" altLang="en-US" sz="1800"/>
                    </a:p>
                  </a:txBody>
                  <a:tcPr marT="72000" marB="72000"/>
                </a:tc>
                <a:tc>
                  <a:txBody>
                    <a:bodyPr/>
                    <a:lstStyle/>
                    <a:p>
                      <a:pPr>
                        <a:spcBef>
                          <a:spcPts val="300"/>
                        </a:spcBef>
                        <a:spcAft>
                          <a:spcPts val="300"/>
                        </a:spcAft>
                      </a:pPr>
                      <a:r>
                        <a:rPr lang="en-US" altLang="zh-CN" sz="1800" smtClean="0"/>
                        <a:t>a &lt; b </a:t>
                      </a:r>
                      <a:r>
                        <a:rPr lang="en-US" altLang="zh-CN" sz="1800" smtClean="0">
                          <a:latin typeface="Times New Roman" panose="02020603050405020304"/>
                          <a:cs typeface="Times New Roman" panose="02020603050405020304"/>
                        </a:rPr>
                        <a:t>→</a:t>
                      </a:r>
                      <a:r>
                        <a:rPr lang="en-US" altLang="zh-CN" sz="1800" smtClean="0"/>
                        <a:t> a &amp;&amp; b</a:t>
                      </a:r>
                      <a:endParaRPr lang="zh-CN" altLang="en-US" sz="1800"/>
                    </a:p>
                  </a:txBody>
                  <a:tcPr marT="72000" marB="72000"/>
                </a:tc>
              </a:tr>
              <a:tr h="370840">
                <a:tc>
                  <a:txBody>
                    <a:bodyPr/>
                    <a:lstStyle/>
                    <a:p>
                      <a:pPr algn="ctr">
                        <a:spcBef>
                          <a:spcPts val="300"/>
                        </a:spcBef>
                        <a:spcAft>
                          <a:spcPts val="300"/>
                        </a:spcAft>
                      </a:pPr>
                      <a:r>
                        <a:rPr lang="en-US" altLang="zh-CN" sz="1800" smtClean="0"/>
                        <a:t>ORSN</a:t>
                      </a:r>
                      <a:endParaRPr lang="zh-CN" altLang="en-US" sz="1800"/>
                    </a:p>
                  </a:txBody>
                  <a:tcPr marT="72000" marB="72000"/>
                </a:tc>
                <a:tc>
                  <a:txBody>
                    <a:bodyPr/>
                    <a:lstStyle/>
                    <a:p>
                      <a:pPr algn="ctr">
                        <a:spcBef>
                          <a:spcPts val="300"/>
                        </a:spcBef>
                        <a:spcAft>
                          <a:spcPts val="300"/>
                        </a:spcAft>
                      </a:pPr>
                      <a:r>
                        <a:rPr lang="zh-CN" altLang="en-US" sz="1800" smtClean="0"/>
                        <a:t>关系</a:t>
                      </a:r>
                      <a:endParaRPr lang="zh-CN" altLang="en-US" sz="1800"/>
                    </a:p>
                  </a:txBody>
                  <a:tcPr marT="72000" marB="72000"/>
                </a:tc>
                <a:tc>
                  <a:txBody>
                    <a:bodyPr/>
                    <a:lstStyle/>
                    <a:p>
                      <a:pPr algn="ctr">
                        <a:spcBef>
                          <a:spcPts val="300"/>
                        </a:spcBef>
                        <a:spcAft>
                          <a:spcPts val="300"/>
                        </a:spcAft>
                      </a:pPr>
                      <a:r>
                        <a:rPr lang="zh-CN" altLang="en-US" sz="1800" smtClean="0"/>
                        <a:t>移位</a:t>
                      </a:r>
                      <a:endParaRPr lang="zh-CN" altLang="en-US" sz="1800"/>
                    </a:p>
                  </a:txBody>
                  <a:tcPr marT="72000" marB="72000"/>
                </a:tc>
                <a:tc>
                  <a:txBody>
                    <a:bodyPr/>
                    <a:lstStyle/>
                    <a:p>
                      <a:pPr>
                        <a:spcBef>
                          <a:spcPts val="300"/>
                        </a:spcBef>
                        <a:spcAft>
                          <a:spcPts val="300"/>
                        </a:spcAft>
                      </a:pPr>
                      <a:r>
                        <a:rPr lang="en-US" altLang="zh-CN" sz="1800" smtClean="0"/>
                        <a:t>a &lt; b </a:t>
                      </a:r>
                      <a:r>
                        <a:rPr lang="en-US" altLang="zh-CN" sz="1800" smtClean="0">
                          <a:latin typeface="Times New Roman" panose="02020603050405020304"/>
                          <a:cs typeface="Times New Roman" panose="02020603050405020304"/>
                        </a:rPr>
                        <a:t>→</a:t>
                      </a:r>
                      <a:r>
                        <a:rPr lang="en-US" altLang="zh-CN" sz="1800" smtClean="0"/>
                        <a:t> a &lt;&lt; b</a:t>
                      </a:r>
                      <a:endParaRPr lang="zh-CN" altLang="en-US" sz="1800"/>
                    </a:p>
                  </a:txBody>
                  <a:tcPr marT="72000" marB="72000"/>
                </a:tc>
              </a:tr>
              <a:tr h="370840">
                <a:tc>
                  <a:txBody>
                    <a:bodyPr/>
                    <a:lstStyle/>
                    <a:p>
                      <a:pPr algn="ctr">
                        <a:spcBef>
                          <a:spcPts val="300"/>
                        </a:spcBef>
                        <a:spcAft>
                          <a:spcPts val="300"/>
                        </a:spcAft>
                      </a:pPr>
                      <a:r>
                        <a:rPr lang="en-US" altLang="zh-CN" sz="1800" smtClean="0"/>
                        <a:t>...</a:t>
                      </a:r>
                      <a:endParaRPr lang="zh-CN" altLang="en-US" sz="1800"/>
                    </a:p>
                  </a:txBody>
                  <a:tcPr marT="72000" marB="72000"/>
                </a:tc>
                <a:tc>
                  <a:txBody>
                    <a:bodyPr/>
                    <a:lstStyle/>
                    <a:p>
                      <a:pPr algn="ctr">
                        <a:spcBef>
                          <a:spcPts val="300"/>
                        </a:spcBef>
                        <a:spcAft>
                          <a:spcPts val="300"/>
                        </a:spcAft>
                      </a:pPr>
                      <a:r>
                        <a:rPr lang="en-US" altLang="zh-CN" sz="1800" smtClean="0"/>
                        <a:t>...</a:t>
                      </a:r>
                      <a:endParaRPr lang="zh-CN" altLang="en-US" sz="1800"/>
                    </a:p>
                  </a:txBody>
                  <a:tcPr marT="72000" marB="72000"/>
                </a:tc>
                <a:tc>
                  <a:txBody>
                    <a:bodyPr/>
                    <a:lstStyle/>
                    <a:p>
                      <a:pPr algn="ctr">
                        <a:spcBef>
                          <a:spcPts val="300"/>
                        </a:spcBef>
                        <a:spcAft>
                          <a:spcPts val="300"/>
                        </a:spcAft>
                      </a:pPr>
                      <a:r>
                        <a:rPr lang="en-US" altLang="zh-CN" sz="1800" smtClean="0"/>
                        <a:t>...</a:t>
                      </a:r>
                      <a:endParaRPr lang="zh-CN" altLang="en-US" sz="1800"/>
                    </a:p>
                  </a:txBody>
                  <a:tcPr marT="72000" marB="72000"/>
                </a:tc>
                <a:tc>
                  <a:txBody>
                    <a:bodyPr/>
                    <a:lstStyle/>
                    <a:p>
                      <a:pPr>
                        <a:spcBef>
                          <a:spcPts val="300"/>
                        </a:spcBef>
                        <a:spcAft>
                          <a:spcPts val="300"/>
                        </a:spcAft>
                      </a:pPr>
                      <a:r>
                        <a:rPr lang="en-US" altLang="zh-CN" sz="1800" smtClean="0"/>
                        <a:t>...</a:t>
                      </a:r>
                      <a:endParaRPr lang="zh-CN" altLang="en-US" sz="1800"/>
                    </a:p>
                  </a:txBody>
                  <a:tcPr marT="72000" marB="72000"/>
                </a:tc>
              </a:tr>
            </a:tbl>
          </a:graphicData>
        </a:graphic>
      </p:graphicFrame>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C00000"/>
                </a:solidFill>
                <a:latin typeface="Times New Roman" panose="02020603050405020304" pitchFamily="18" charset="0"/>
                <a:cs typeface="Times New Roman" panose="02020603050405020304" pitchFamily="18" charset="0"/>
              </a:rPr>
              <a:t>C语言的运算符变异</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zh-CN" altLang="en-US" smtClean="0"/>
              <a:t>一元运算符变异</a:t>
            </a:r>
            <a:endParaRPr lang="en-US" altLang="zh-CN" smtClean="0"/>
          </a:p>
          <a:p>
            <a:pPr lvl="1"/>
            <a:r>
              <a:rPr lang="zh-CN" altLang="en-US" b="1" smtClean="0">
                <a:solidFill>
                  <a:srgbClr val="0000FF"/>
                </a:solidFill>
              </a:rPr>
              <a:t>递加 </a:t>
            </a:r>
            <a:r>
              <a:rPr lang="en-US" altLang="zh-CN" b="1" smtClean="0">
                <a:solidFill>
                  <a:srgbClr val="0000FF"/>
                </a:solidFill>
              </a:rPr>
              <a:t>/ </a:t>
            </a:r>
            <a:r>
              <a:rPr lang="zh-CN" altLang="en-US" b="1" smtClean="0">
                <a:solidFill>
                  <a:srgbClr val="0000FF"/>
                </a:solidFill>
              </a:rPr>
              <a:t>递减</a:t>
            </a:r>
            <a:endParaRPr lang="en-US" altLang="zh-CN" b="1" smtClean="0">
              <a:solidFill>
                <a:srgbClr val="0000FF"/>
              </a:solidFill>
            </a:endParaRPr>
          </a:p>
          <a:p>
            <a:pPr lvl="2"/>
            <a:r>
              <a:rPr lang="en-US" altLang="zh-CN" smtClean="0"/>
              <a:t>x++ → ++x</a:t>
            </a:r>
            <a:endParaRPr lang="en-US" altLang="zh-CN" smtClean="0"/>
          </a:p>
          <a:p>
            <a:pPr lvl="2"/>
            <a:r>
              <a:rPr lang="en-US" altLang="zh-CN" smtClean="0"/>
              <a:t>x++ → x--</a:t>
            </a:r>
            <a:endParaRPr lang="en-US" altLang="zh-CN" smtClean="0"/>
          </a:p>
          <a:p>
            <a:pPr lvl="1"/>
            <a:r>
              <a:rPr lang="zh-CN" altLang="en-US" b="1" smtClean="0">
                <a:solidFill>
                  <a:srgbClr val="0000FF"/>
                </a:solidFill>
              </a:rPr>
              <a:t>逻辑否定</a:t>
            </a:r>
            <a:endParaRPr lang="en-US" altLang="zh-CN" b="1" smtClean="0">
              <a:solidFill>
                <a:srgbClr val="0000FF"/>
              </a:solidFill>
            </a:endParaRPr>
          </a:p>
          <a:p>
            <a:pPr lvl="1"/>
            <a:r>
              <a:rPr lang="zh-CN" altLang="en-US" b="1" smtClean="0">
                <a:solidFill>
                  <a:srgbClr val="0000FF"/>
                </a:solidFill>
              </a:rPr>
              <a:t>逻辑上下文否定</a:t>
            </a:r>
            <a:endParaRPr lang="en-US" altLang="zh-CN" b="1" smtClean="0">
              <a:solidFill>
                <a:srgbClr val="0000FF"/>
              </a:solidFill>
            </a:endParaRPr>
          </a:p>
          <a:p>
            <a:pPr lvl="1"/>
            <a:r>
              <a:rPr lang="zh-CN" altLang="en-US" b="1" smtClean="0">
                <a:solidFill>
                  <a:srgbClr val="0000FF"/>
                </a:solidFill>
              </a:rPr>
              <a:t>位取反</a:t>
            </a:r>
            <a:endParaRPr lang="en-US" altLang="zh-CN" b="1" smtClean="0">
              <a:solidFill>
                <a:srgbClr val="0000FF"/>
              </a:solidFill>
            </a:endParaRPr>
          </a:p>
          <a:p>
            <a:pPr lvl="1"/>
            <a:r>
              <a:rPr lang="zh-CN" altLang="en-US" b="1" smtClean="0">
                <a:solidFill>
                  <a:srgbClr val="0000FF"/>
                </a:solidFill>
              </a:rPr>
              <a:t>间接运算符优先级变异</a:t>
            </a:r>
            <a:endParaRPr lang="en-US" altLang="zh-CN" b="1" smtClean="0">
              <a:solidFill>
                <a:srgbClr val="0000FF"/>
              </a:solidFill>
            </a:endParaRPr>
          </a:p>
          <a:p>
            <a:pPr lvl="1"/>
            <a:r>
              <a:rPr lang="zh-CN" altLang="en-US" b="1" smtClean="0">
                <a:solidFill>
                  <a:srgbClr val="0000FF"/>
                </a:solidFill>
              </a:rPr>
              <a:t>强制转换运算符替换</a:t>
            </a:r>
            <a:endParaRPr lang="en-US" altLang="zh-CN" b="1" smtClean="0">
              <a:solidFill>
                <a:srgbClr val="0000FF"/>
              </a:solidFill>
            </a:endParaRPr>
          </a:p>
          <a:p>
            <a:pPr lvl="1"/>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34235" y="86360"/>
            <a:ext cx="9219565" cy="914400"/>
          </a:xfrm>
        </p:spPr>
        <p:txBody>
          <a:bodyPr/>
          <a:lstStyle/>
          <a:p>
            <a:pPr algn="l">
              <a:buClrTx/>
              <a:buSzTx/>
              <a:buFontTx/>
            </a:pPr>
            <a:r>
              <a:rPr lang="en-US" altLang="zh-CN" sz="3600">
                <a:solidFill>
                  <a:srgbClr val="C00000"/>
                </a:solidFill>
                <a:latin typeface="Times New Roman" panose="02020603050405020304" pitchFamily="18" charset="0"/>
                <a:cs typeface="Times New Roman" panose="02020603050405020304" pitchFamily="18" charset="0"/>
              </a:rPr>
              <a:t>C语言的语句变异</a:t>
            </a:r>
            <a:endParaRPr lang="en-US" altLang="zh-CN" sz="3600">
              <a:solidFill>
                <a:srgbClr val="C00000"/>
              </a:solidFill>
              <a:latin typeface="Times New Roman" panose="02020603050405020304" pitchFamily="18" charset="0"/>
              <a:cs typeface="Times New Roman" panose="02020603050405020304" pitchFamily="18" charset="0"/>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2133600" y="838200"/>
          <a:ext cx="7772400" cy="5939400"/>
        </p:xfrm>
        <a:graphic>
          <a:graphicData uri="http://schemas.openxmlformats.org/drawingml/2006/table">
            <a:tbl>
              <a:tblPr firstRow="1" bandRow="1">
                <a:tableStyleId>{21E4AEA4-8DFA-4A89-87EB-49C32662AFE0}</a:tableStyleId>
              </a:tblPr>
              <a:tblGrid>
                <a:gridCol w="1524000"/>
                <a:gridCol w="1828800"/>
                <a:gridCol w="4419600"/>
              </a:tblGrid>
              <a:tr h="370840">
                <a:tc>
                  <a:txBody>
                    <a:bodyPr/>
                    <a:lstStyle/>
                    <a:p>
                      <a:pPr algn="ctr">
                        <a:spcBef>
                          <a:spcPts val="300"/>
                        </a:spcBef>
                        <a:spcAft>
                          <a:spcPts val="300"/>
                        </a:spcAft>
                      </a:pPr>
                      <a:r>
                        <a:rPr lang="zh-CN" altLang="en-US" sz="2000" smtClean="0"/>
                        <a:t>算子</a:t>
                      </a:r>
                      <a:endParaRPr lang="zh-CN" altLang="en-US" sz="2000"/>
                    </a:p>
                  </a:txBody>
                  <a:tcPr marT="36000" marB="36000"/>
                </a:tc>
                <a:tc>
                  <a:txBody>
                    <a:bodyPr/>
                    <a:lstStyle/>
                    <a:p>
                      <a:pPr algn="ctr">
                        <a:spcBef>
                          <a:spcPts val="300"/>
                        </a:spcBef>
                        <a:spcAft>
                          <a:spcPts val="300"/>
                        </a:spcAft>
                      </a:pPr>
                      <a:r>
                        <a:rPr lang="zh-CN" altLang="en-US" sz="2000" smtClean="0"/>
                        <a:t>定义域</a:t>
                      </a:r>
                      <a:endParaRPr lang="zh-CN" altLang="en-US" sz="2000"/>
                    </a:p>
                  </a:txBody>
                  <a:tcPr marT="36000" marB="36000"/>
                </a:tc>
                <a:tc>
                  <a:txBody>
                    <a:bodyPr/>
                    <a:lstStyle/>
                    <a:p>
                      <a:pPr algn="ctr">
                        <a:spcBef>
                          <a:spcPts val="300"/>
                        </a:spcBef>
                        <a:spcAft>
                          <a:spcPts val="300"/>
                        </a:spcAft>
                      </a:pPr>
                      <a:r>
                        <a:rPr lang="zh-CN" altLang="en-US" sz="2000" smtClean="0"/>
                        <a:t>说明</a:t>
                      </a:r>
                      <a:endParaRPr lang="zh-CN" altLang="en-US" sz="2000"/>
                    </a:p>
                  </a:txBody>
                  <a:tcPr marT="36000" marB="36000"/>
                </a:tc>
              </a:tr>
              <a:tr h="370840">
                <a:tc>
                  <a:txBody>
                    <a:bodyPr/>
                    <a:lstStyle/>
                    <a:p>
                      <a:pPr algn="ctr">
                        <a:spcBef>
                          <a:spcPts val="300"/>
                        </a:spcBef>
                        <a:spcAft>
                          <a:spcPts val="300"/>
                        </a:spcAft>
                      </a:pPr>
                      <a:r>
                        <a:rPr lang="en-US" altLang="zh-CN" sz="1800" smtClean="0"/>
                        <a:t>SBRC</a:t>
                      </a:r>
                      <a:endParaRPr lang="zh-CN" altLang="en-US" sz="1800"/>
                    </a:p>
                  </a:txBody>
                  <a:tcPr marT="36000" marB="36000"/>
                </a:tc>
                <a:tc>
                  <a:txBody>
                    <a:bodyPr/>
                    <a:lstStyle/>
                    <a:p>
                      <a:pPr algn="ctr">
                        <a:spcBef>
                          <a:spcPts val="300"/>
                        </a:spcBef>
                        <a:spcAft>
                          <a:spcPts val="300"/>
                        </a:spcAft>
                      </a:pPr>
                      <a:r>
                        <a:rPr lang="en-US" altLang="zh-CN" sz="1800" smtClean="0"/>
                        <a:t>break</a:t>
                      </a:r>
                      <a:endParaRPr lang="zh-CN" altLang="en-US" sz="1800"/>
                    </a:p>
                  </a:txBody>
                  <a:tcPr marT="36000" marB="36000"/>
                </a:tc>
                <a:tc>
                  <a:txBody>
                    <a:bodyPr/>
                    <a:lstStyle/>
                    <a:p>
                      <a:pPr>
                        <a:spcBef>
                          <a:spcPts val="300"/>
                        </a:spcBef>
                        <a:spcAft>
                          <a:spcPts val="300"/>
                        </a:spcAft>
                      </a:pPr>
                      <a:r>
                        <a:rPr lang="zh-CN" altLang="en-US" sz="1800" smtClean="0"/>
                        <a:t>用</a:t>
                      </a:r>
                      <a:r>
                        <a:rPr lang="en-US" altLang="zh-CN" sz="1800" smtClean="0"/>
                        <a:t>continue</a:t>
                      </a:r>
                      <a:r>
                        <a:rPr lang="zh-CN" altLang="en-US" sz="1800" smtClean="0"/>
                        <a:t>替换</a:t>
                      </a:r>
                      <a:r>
                        <a:rPr lang="en-US" altLang="zh-CN" sz="1800" smtClean="0"/>
                        <a:t>break</a:t>
                      </a:r>
                      <a:endParaRPr lang="zh-CN" altLang="en-US" sz="1800"/>
                    </a:p>
                  </a:txBody>
                  <a:tcPr marT="36000" marB="36000"/>
                </a:tc>
              </a:tr>
              <a:tr h="370840">
                <a:tc>
                  <a:txBody>
                    <a:bodyPr/>
                    <a:lstStyle/>
                    <a:p>
                      <a:pPr algn="ctr">
                        <a:spcBef>
                          <a:spcPts val="300"/>
                        </a:spcBef>
                        <a:spcAft>
                          <a:spcPts val="300"/>
                        </a:spcAft>
                      </a:pPr>
                      <a:r>
                        <a:rPr lang="en-US" altLang="zh-CN" sz="1800" smtClean="0"/>
                        <a:t>SBRn</a:t>
                      </a:r>
                      <a:endParaRPr lang="zh-CN" altLang="en-US" sz="1800"/>
                    </a:p>
                  </a:txBody>
                  <a:tcPr marT="36000" marB="36000"/>
                </a:tc>
                <a:tc>
                  <a:txBody>
                    <a:bodyPr/>
                    <a:lstStyle/>
                    <a:p>
                      <a:pPr algn="ctr">
                        <a:spcBef>
                          <a:spcPts val="300"/>
                        </a:spcBef>
                        <a:spcAft>
                          <a:spcPts val="300"/>
                        </a:spcAft>
                      </a:pPr>
                      <a:r>
                        <a:rPr lang="en-US" altLang="zh-CN" sz="1800" smtClean="0"/>
                        <a:t>break</a:t>
                      </a:r>
                      <a:endParaRPr lang="zh-CN" altLang="en-US" sz="1800"/>
                    </a:p>
                  </a:txBody>
                  <a:tcPr marT="36000" marB="36000"/>
                </a:tc>
                <a:tc>
                  <a:txBody>
                    <a:bodyPr/>
                    <a:lstStyle/>
                    <a:p>
                      <a:pPr>
                        <a:spcBef>
                          <a:spcPts val="300"/>
                        </a:spcBef>
                        <a:spcAft>
                          <a:spcPts val="300"/>
                        </a:spcAft>
                      </a:pPr>
                      <a:r>
                        <a:rPr lang="en-US" altLang="zh-CN" sz="1800" smtClean="0"/>
                        <a:t>break</a:t>
                      </a:r>
                      <a:r>
                        <a:rPr lang="zh-CN" altLang="en-US" sz="1800" smtClean="0"/>
                        <a:t>到第</a:t>
                      </a:r>
                      <a:r>
                        <a:rPr lang="en-US" altLang="zh-CN" sz="1800" smtClean="0"/>
                        <a:t>n</a:t>
                      </a:r>
                      <a:r>
                        <a:rPr lang="zh-CN" altLang="en-US" sz="1800" smtClean="0"/>
                        <a:t>层</a:t>
                      </a:r>
                      <a:endParaRPr lang="zh-CN" altLang="en-US" sz="1800"/>
                    </a:p>
                  </a:txBody>
                  <a:tcPr marT="36000" marB="36000"/>
                </a:tc>
              </a:tr>
              <a:tr h="370840">
                <a:tc>
                  <a:txBody>
                    <a:bodyPr/>
                    <a:lstStyle/>
                    <a:p>
                      <a:pPr algn="ctr">
                        <a:spcBef>
                          <a:spcPts val="300"/>
                        </a:spcBef>
                        <a:spcAft>
                          <a:spcPts val="300"/>
                        </a:spcAft>
                      </a:pPr>
                      <a:r>
                        <a:rPr lang="en-US" altLang="zh-CN" sz="1800" smtClean="0"/>
                        <a:t>SCBB</a:t>
                      </a:r>
                      <a:endParaRPr lang="zh-CN" altLang="en-US" sz="1800"/>
                    </a:p>
                  </a:txBody>
                  <a:tcPr marT="36000" marB="36000"/>
                </a:tc>
                <a:tc>
                  <a:txBody>
                    <a:bodyPr/>
                    <a:lstStyle/>
                    <a:p>
                      <a:pPr algn="ctr">
                        <a:spcBef>
                          <a:spcPts val="300"/>
                        </a:spcBef>
                        <a:spcAft>
                          <a:spcPts val="300"/>
                        </a:spcAft>
                      </a:pPr>
                      <a:r>
                        <a:rPr lang="en-US" altLang="zh-CN" sz="1800" smtClean="0"/>
                        <a:t>continue</a:t>
                      </a:r>
                      <a:endParaRPr lang="zh-CN" altLang="en-US" sz="1800"/>
                    </a:p>
                  </a:txBody>
                  <a:tcPr marT="36000" marB="36000"/>
                </a:tc>
                <a:tc>
                  <a:txBody>
                    <a:bodyPr/>
                    <a:lstStyle/>
                    <a:p>
                      <a:pPr>
                        <a:spcBef>
                          <a:spcPts val="300"/>
                        </a:spcBef>
                        <a:spcAft>
                          <a:spcPts val="300"/>
                        </a:spcAft>
                      </a:pPr>
                      <a:r>
                        <a:rPr lang="zh-CN" altLang="en-US" sz="1800" smtClean="0"/>
                        <a:t>用</a:t>
                      </a:r>
                      <a:r>
                        <a:rPr lang="en-US" altLang="zh-CN" sz="1800" smtClean="0"/>
                        <a:t>break</a:t>
                      </a:r>
                      <a:r>
                        <a:rPr lang="zh-CN" altLang="en-US" sz="1800" smtClean="0"/>
                        <a:t>替换</a:t>
                      </a:r>
                      <a:r>
                        <a:rPr lang="en-US" altLang="zh-CN" sz="1800" smtClean="0"/>
                        <a:t>continue</a:t>
                      </a:r>
                      <a:endParaRPr lang="zh-CN" altLang="en-US" sz="1800"/>
                    </a:p>
                  </a:txBody>
                  <a:tcPr marT="36000" marB="36000"/>
                </a:tc>
              </a:tr>
              <a:tr h="370840">
                <a:tc>
                  <a:txBody>
                    <a:bodyPr/>
                    <a:lstStyle/>
                    <a:p>
                      <a:pPr algn="ctr">
                        <a:spcBef>
                          <a:spcPts val="300"/>
                        </a:spcBef>
                        <a:spcAft>
                          <a:spcPts val="300"/>
                        </a:spcAft>
                      </a:pPr>
                      <a:r>
                        <a:rPr lang="en-US" altLang="zh-CN" sz="1800" smtClean="0"/>
                        <a:t>SDWD</a:t>
                      </a:r>
                      <a:endParaRPr lang="zh-CN" altLang="en-US" sz="1800"/>
                    </a:p>
                  </a:txBody>
                  <a:tcPr marT="36000" marB="36000"/>
                </a:tc>
                <a:tc>
                  <a:txBody>
                    <a:bodyPr/>
                    <a:lstStyle/>
                    <a:p>
                      <a:pPr algn="ctr">
                        <a:spcBef>
                          <a:spcPts val="300"/>
                        </a:spcBef>
                        <a:spcAft>
                          <a:spcPts val="300"/>
                        </a:spcAft>
                      </a:pPr>
                      <a:r>
                        <a:rPr lang="en-US" altLang="zh-CN" sz="1800" smtClean="0"/>
                        <a:t>do-while</a:t>
                      </a:r>
                      <a:endParaRPr lang="zh-CN" altLang="en-US" sz="1800"/>
                    </a:p>
                  </a:txBody>
                  <a:tcPr marT="36000" marB="36000"/>
                </a:tc>
                <a:tc>
                  <a:txBody>
                    <a:bodyPr/>
                    <a:lstStyle/>
                    <a:p>
                      <a:pPr>
                        <a:spcBef>
                          <a:spcPts val="300"/>
                        </a:spcBef>
                        <a:spcAft>
                          <a:spcPts val="300"/>
                        </a:spcAft>
                      </a:pPr>
                      <a:r>
                        <a:rPr lang="zh-CN" altLang="en-US" sz="1800" smtClean="0"/>
                        <a:t>使用</a:t>
                      </a:r>
                      <a:r>
                        <a:rPr lang="en-US" altLang="zh-CN" sz="1800" smtClean="0"/>
                        <a:t>while</a:t>
                      </a:r>
                      <a:r>
                        <a:rPr lang="zh-CN" altLang="en-US" sz="1800" smtClean="0"/>
                        <a:t>替换</a:t>
                      </a:r>
                      <a:r>
                        <a:rPr lang="en-US" altLang="zh-CN" sz="1800" smtClean="0"/>
                        <a:t>do-while</a:t>
                      </a:r>
                      <a:endParaRPr lang="zh-CN" altLang="en-US" sz="1800"/>
                    </a:p>
                  </a:txBody>
                  <a:tcPr marT="36000" marB="36000"/>
                </a:tc>
              </a:tr>
              <a:tr h="370840">
                <a:tc>
                  <a:txBody>
                    <a:bodyPr/>
                    <a:lstStyle/>
                    <a:p>
                      <a:pPr algn="ctr">
                        <a:spcBef>
                          <a:spcPts val="300"/>
                        </a:spcBef>
                        <a:spcAft>
                          <a:spcPts val="300"/>
                        </a:spcAft>
                      </a:pPr>
                      <a:r>
                        <a:rPr lang="en-US" altLang="zh-CN" sz="1800" smtClean="0"/>
                        <a:t>SGLR</a:t>
                      </a:r>
                      <a:endParaRPr lang="zh-CN" altLang="en-US" sz="1800"/>
                    </a:p>
                  </a:txBody>
                  <a:tcPr marT="36000" marB="36000"/>
                </a:tc>
                <a:tc>
                  <a:txBody>
                    <a:bodyPr/>
                    <a:lstStyle/>
                    <a:p>
                      <a:pPr algn="ctr">
                        <a:spcBef>
                          <a:spcPts val="300"/>
                        </a:spcBef>
                        <a:spcAft>
                          <a:spcPts val="300"/>
                        </a:spcAft>
                      </a:pPr>
                      <a:r>
                        <a:rPr lang="en-US" altLang="zh-CN" sz="1800" smtClean="0"/>
                        <a:t>goto</a:t>
                      </a:r>
                      <a:endParaRPr lang="zh-CN" altLang="en-US" sz="1800"/>
                    </a:p>
                  </a:txBody>
                  <a:tcPr marT="36000" marB="36000"/>
                </a:tc>
                <a:tc>
                  <a:txBody>
                    <a:bodyPr/>
                    <a:lstStyle/>
                    <a:p>
                      <a:pPr>
                        <a:spcBef>
                          <a:spcPts val="300"/>
                        </a:spcBef>
                        <a:spcAft>
                          <a:spcPts val="300"/>
                        </a:spcAft>
                      </a:pPr>
                      <a:r>
                        <a:rPr lang="zh-CN" altLang="en-US" sz="1800" smtClean="0"/>
                        <a:t>互换</a:t>
                      </a:r>
                      <a:r>
                        <a:rPr lang="en-US" altLang="zh-CN" sz="1800" smtClean="0"/>
                        <a:t>goto</a:t>
                      </a:r>
                      <a:r>
                        <a:rPr lang="zh-CN" altLang="en-US" sz="1800" smtClean="0"/>
                        <a:t>语句的标签</a:t>
                      </a:r>
                      <a:endParaRPr lang="zh-CN" altLang="en-US" sz="1800"/>
                    </a:p>
                  </a:txBody>
                  <a:tcPr marT="36000" marB="36000"/>
                </a:tc>
              </a:tr>
              <a:tr h="370840">
                <a:tc>
                  <a:txBody>
                    <a:bodyPr/>
                    <a:lstStyle/>
                    <a:p>
                      <a:pPr algn="ctr">
                        <a:spcBef>
                          <a:spcPts val="300"/>
                        </a:spcBef>
                        <a:spcAft>
                          <a:spcPts val="300"/>
                        </a:spcAft>
                      </a:pPr>
                      <a:r>
                        <a:rPr lang="en-US" altLang="zh-CN" sz="1800" smtClean="0"/>
                        <a:t>SMVB</a:t>
                      </a:r>
                      <a:endParaRPr lang="zh-CN" altLang="en-US" sz="1800"/>
                    </a:p>
                  </a:txBody>
                  <a:tcPr marT="36000" marB="36000"/>
                </a:tc>
                <a:tc>
                  <a:txBody>
                    <a:bodyPr/>
                    <a:lstStyle/>
                    <a:p>
                      <a:pPr algn="ctr">
                        <a:spcBef>
                          <a:spcPts val="300"/>
                        </a:spcBef>
                        <a:spcAft>
                          <a:spcPts val="300"/>
                        </a:spcAft>
                      </a:pPr>
                      <a:r>
                        <a:rPr lang="zh-CN" altLang="en-US" sz="1800" smtClean="0"/>
                        <a:t>语句</a:t>
                      </a:r>
                      <a:endParaRPr lang="zh-CN" altLang="en-US" sz="1800"/>
                    </a:p>
                  </a:txBody>
                  <a:tcPr marT="36000" marB="36000"/>
                </a:tc>
                <a:tc>
                  <a:txBody>
                    <a:bodyPr/>
                    <a:lstStyle/>
                    <a:p>
                      <a:pPr>
                        <a:spcBef>
                          <a:spcPts val="300"/>
                        </a:spcBef>
                        <a:spcAft>
                          <a:spcPts val="300"/>
                        </a:spcAft>
                      </a:pPr>
                      <a:r>
                        <a:rPr lang="zh-CN" altLang="en-US" sz="1800" smtClean="0"/>
                        <a:t>上（下）移动右花括号</a:t>
                      </a:r>
                      <a:endParaRPr lang="zh-CN" altLang="en-US" sz="1800"/>
                    </a:p>
                  </a:txBody>
                  <a:tcPr marT="36000" marB="36000"/>
                </a:tc>
              </a:tr>
              <a:tr h="370840">
                <a:tc>
                  <a:txBody>
                    <a:bodyPr/>
                    <a:lstStyle/>
                    <a:p>
                      <a:pPr algn="ctr">
                        <a:spcBef>
                          <a:spcPts val="300"/>
                        </a:spcBef>
                        <a:spcAft>
                          <a:spcPts val="300"/>
                        </a:spcAft>
                      </a:pPr>
                      <a:r>
                        <a:rPr lang="en-US" altLang="zh-CN" sz="1800" smtClean="0"/>
                        <a:t>SRSR</a:t>
                      </a:r>
                      <a:endParaRPr lang="zh-CN" altLang="en-US" sz="1800"/>
                    </a:p>
                  </a:txBody>
                  <a:tcPr marT="36000" marB="36000"/>
                </a:tc>
                <a:tc>
                  <a:txBody>
                    <a:bodyPr/>
                    <a:lstStyle/>
                    <a:p>
                      <a:pPr algn="ctr">
                        <a:spcBef>
                          <a:spcPts val="300"/>
                        </a:spcBef>
                        <a:spcAft>
                          <a:spcPts val="300"/>
                        </a:spcAft>
                      </a:pPr>
                      <a:r>
                        <a:rPr lang="en-US" altLang="zh-CN" sz="1800" smtClean="0"/>
                        <a:t>return</a:t>
                      </a:r>
                      <a:endParaRPr lang="zh-CN" altLang="en-US" sz="1800"/>
                    </a:p>
                  </a:txBody>
                  <a:tcPr marT="36000" marB="36000"/>
                </a:tc>
                <a:tc>
                  <a:txBody>
                    <a:bodyPr/>
                    <a:lstStyle/>
                    <a:p>
                      <a:pPr>
                        <a:spcBef>
                          <a:spcPts val="300"/>
                        </a:spcBef>
                        <a:spcAft>
                          <a:spcPts val="300"/>
                        </a:spcAft>
                      </a:pPr>
                      <a:r>
                        <a:rPr lang="zh-CN" altLang="en-US" sz="1800" smtClean="0"/>
                        <a:t>互换</a:t>
                      </a:r>
                      <a:r>
                        <a:rPr lang="en-US" altLang="zh-CN" sz="1800" smtClean="0"/>
                        <a:t>return</a:t>
                      </a:r>
                      <a:r>
                        <a:rPr lang="zh-CN" altLang="en-US" sz="1800" smtClean="0"/>
                        <a:t>语句</a:t>
                      </a:r>
                      <a:endParaRPr lang="zh-CN" altLang="en-US" sz="1800"/>
                    </a:p>
                  </a:txBody>
                  <a:tcPr marT="36000" marB="36000"/>
                </a:tc>
              </a:tr>
              <a:tr h="370840">
                <a:tc>
                  <a:txBody>
                    <a:bodyPr/>
                    <a:lstStyle/>
                    <a:p>
                      <a:pPr algn="ctr">
                        <a:spcBef>
                          <a:spcPts val="300"/>
                        </a:spcBef>
                        <a:spcAft>
                          <a:spcPts val="300"/>
                        </a:spcAft>
                      </a:pPr>
                      <a:r>
                        <a:rPr lang="en-US" altLang="zh-CN" sz="1800" smtClean="0"/>
                        <a:t>SSDL</a:t>
                      </a:r>
                      <a:endParaRPr lang="zh-CN" altLang="en-US" sz="1800"/>
                    </a:p>
                  </a:txBody>
                  <a:tcPr marT="36000" marB="36000"/>
                </a:tc>
                <a:tc>
                  <a:txBody>
                    <a:bodyPr/>
                    <a:lstStyle/>
                    <a:p>
                      <a:pPr algn="ctr">
                        <a:spcBef>
                          <a:spcPts val="300"/>
                        </a:spcBef>
                        <a:spcAft>
                          <a:spcPts val="300"/>
                        </a:spcAft>
                      </a:pPr>
                      <a:r>
                        <a:rPr lang="zh-CN" altLang="en-US" sz="1800" smtClean="0"/>
                        <a:t>语句</a:t>
                      </a:r>
                      <a:endParaRPr lang="zh-CN" altLang="en-US" sz="1800"/>
                    </a:p>
                  </a:txBody>
                  <a:tcPr marT="36000" marB="36000"/>
                </a:tc>
                <a:tc>
                  <a:txBody>
                    <a:bodyPr/>
                    <a:lstStyle/>
                    <a:p>
                      <a:pPr>
                        <a:spcBef>
                          <a:spcPts val="300"/>
                        </a:spcBef>
                        <a:spcAft>
                          <a:spcPts val="300"/>
                        </a:spcAft>
                      </a:pPr>
                      <a:r>
                        <a:rPr lang="zh-CN" altLang="en-US" sz="1800" smtClean="0"/>
                        <a:t>删除语句</a:t>
                      </a:r>
                      <a:endParaRPr lang="zh-CN" altLang="en-US" sz="1800"/>
                    </a:p>
                  </a:txBody>
                  <a:tcPr marT="36000" marB="36000"/>
                </a:tc>
              </a:tr>
              <a:tr h="370840">
                <a:tc>
                  <a:txBody>
                    <a:bodyPr/>
                    <a:lstStyle/>
                    <a:p>
                      <a:pPr algn="ctr">
                        <a:spcBef>
                          <a:spcPts val="300"/>
                        </a:spcBef>
                        <a:spcAft>
                          <a:spcPts val="300"/>
                        </a:spcAft>
                      </a:pPr>
                      <a:r>
                        <a:rPr lang="en-US" altLang="zh-CN" sz="1800" smtClean="0"/>
                        <a:t>SSOM</a:t>
                      </a:r>
                      <a:endParaRPr lang="zh-CN" altLang="en-US" sz="1800"/>
                    </a:p>
                  </a:txBody>
                  <a:tcPr marT="36000" marB="36000"/>
                </a:tc>
                <a:tc>
                  <a:txBody>
                    <a:bodyPr/>
                    <a:lstStyle/>
                    <a:p>
                      <a:pPr algn="ctr">
                        <a:spcBef>
                          <a:spcPts val="300"/>
                        </a:spcBef>
                        <a:spcAft>
                          <a:spcPts val="300"/>
                        </a:spcAft>
                      </a:pPr>
                      <a:r>
                        <a:rPr lang="zh-CN" altLang="en-US" sz="1800" smtClean="0"/>
                        <a:t>语句</a:t>
                      </a:r>
                      <a:endParaRPr lang="zh-CN" altLang="en-US" sz="1800"/>
                    </a:p>
                  </a:txBody>
                  <a:tcPr marT="36000" marB="36000"/>
                </a:tc>
                <a:tc>
                  <a:txBody>
                    <a:bodyPr/>
                    <a:lstStyle/>
                    <a:p>
                      <a:pPr>
                        <a:spcBef>
                          <a:spcPts val="300"/>
                        </a:spcBef>
                        <a:spcAft>
                          <a:spcPts val="300"/>
                        </a:spcAft>
                      </a:pPr>
                      <a:r>
                        <a:rPr lang="zh-CN" altLang="en-US" sz="1800" smtClean="0"/>
                        <a:t>顺序运算符变异</a:t>
                      </a:r>
                      <a:endParaRPr lang="zh-CN" altLang="en-US" sz="1800"/>
                    </a:p>
                  </a:txBody>
                  <a:tcPr marT="36000" marB="36000"/>
                </a:tc>
              </a:tr>
              <a:tr h="370840">
                <a:tc>
                  <a:txBody>
                    <a:bodyPr/>
                    <a:lstStyle/>
                    <a:p>
                      <a:pPr algn="ctr">
                        <a:spcBef>
                          <a:spcPts val="300"/>
                        </a:spcBef>
                        <a:spcAft>
                          <a:spcPts val="300"/>
                        </a:spcAft>
                      </a:pPr>
                      <a:r>
                        <a:rPr lang="en-US" altLang="zh-CN" sz="1800" smtClean="0"/>
                        <a:t>STRI</a:t>
                      </a:r>
                      <a:endParaRPr lang="zh-CN" altLang="en-US" sz="1800"/>
                    </a:p>
                  </a:txBody>
                  <a:tcPr marT="36000" marB="36000"/>
                </a:tc>
                <a:tc>
                  <a:txBody>
                    <a:bodyPr/>
                    <a:lstStyle/>
                    <a:p>
                      <a:pPr algn="ctr">
                        <a:spcBef>
                          <a:spcPts val="300"/>
                        </a:spcBef>
                        <a:spcAft>
                          <a:spcPts val="300"/>
                        </a:spcAft>
                      </a:pPr>
                      <a:r>
                        <a:rPr lang="en-US" altLang="zh-CN" sz="1800" smtClean="0"/>
                        <a:t>if</a:t>
                      </a:r>
                      <a:endParaRPr lang="zh-CN" altLang="en-US" sz="1800"/>
                    </a:p>
                  </a:txBody>
                  <a:tcPr marT="36000" marB="36000"/>
                </a:tc>
                <a:tc>
                  <a:txBody>
                    <a:bodyPr/>
                    <a:lstStyle/>
                    <a:p>
                      <a:pPr>
                        <a:spcBef>
                          <a:spcPts val="300"/>
                        </a:spcBef>
                        <a:spcAft>
                          <a:spcPts val="300"/>
                        </a:spcAft>
                      </a:pPr>
                      <a:r>
                        <a:rPr lang="en-US" altLang="zh-CN" sz="1800" smtClean="0"/>
                        <a:t>If</a:t>
                      </a:r>
                      <a:r>
                        <a:rPr lang="zh-CN" altLang="en-US" sz="1800" smtClean="0"/>
                        <a:t>条件陷阱</a:t>
                      </a:r>
                      <a:endParaRPr lang="zh-CN" altLang="en-US" sz="1800"/>
                    </a:p>
                  </a:txBody>
                  <a:tcPr marT="36000" marB="36000"/>
                </a:tc>
              </a:tr>
              <a:tr h="370840">
                <a:tc>
                  <a:txBody>
                    <a:bodyPr/>
                    <a:lstStyle/>
                    <a:p>
                      <a:pPr algn="ctr">
                        <a:spcBef>
                          <a:spcPts val="300"/>
                        </a:spcBef>
                        <a:spcAft>
                          <a:spcPts val="300"/>
                        </a:spcAft>
                      </a:pPr>
                      <a:r>
                        <a:rPr lang="en-US" altLang="zh-CN" sz="1800" smtClean="0"/>
                        <a:t>STRP</a:t>
                      </a:r>
                      <a:endParaRPr lang="zh-CN" altLang="en-US" sz="1800"/>
                    </a:p>
                  </a:txBody>
                  <a:tcPr marT="36000" marB="36000"/>
                </a:tc>
                <a:tc>
                  <a:txBody>
                    <a:bodyPr/>
                    <a:lstStyle/>
                    <a:p>
                      <a:pPr algn="ctr">
                        <a:spcBef>
                          <a:spcPts val="300"/>
                        </a:spcBef>
                        <a:spcAft>
                          <a:spcPts val="300"/>
                        </a:spcAft>
                      </a:pPr>
                      <a:r>
                        <a:rPr lang="zh-CN" altLang="en-US" sz="1800" smtClean="0"/>
                        <a:t>语句</a:t>
                      </a:r>
                      <a:endParaRPr lang="zh-CN" altLang="en-US" sz="1800"/>
                    </a:p>
                  </a:txBody>
                  <a:tcPr marT="36000" marB="36000"/>
                </a:tc>
                <a:tc>
                  <a:txBody>
                    <a:bodyPr/>
                    <a:lstStyle/>
                    <a:p>
                      <a:pPr>
                        <a:spcBef>
                          <a:spcPts val="300"/>
                        </a:spcBef>
                        <a:spcAft>
                          <a:spcPts val="300"/>
                        </a:spcAft>
                      </a:pPr>
                      <a:r>
                        <a:rPr lang="zh-CN" altLang="en-US" sz="1800" smtClean="0"/>
                        <a:t>语句执行陷阱</a:t>
                      </a:r>
                      <a:endParaRPr lang="zh-CN" altLang="en-US" sz="1800"/>
                    </a:p>
                  </a:txBody>
                  <a:tcPr marT="36000" marB="36000"/>
                </a:tc>
              </a:tr>
              <a:tr h="370840">
                <a:tc>
                  <a:txBody>
                    <a:bodyPr/>
                    <a:lstStyle/>
                    <a:p>
                      <a:pPr algn="ctr">
                        <a:spcBef>
                          <a:spcPts val="300"/>
                        </a:spcBef>
                        <a:spcAft>
                          <a:spcPts val="300"/>
                        </a:spcAft>
                      </a:pPr>
                      <a:r>
                        <a:rPr lang="en-US" altLang="zh-CN" sz="1800" smtClean="0"/>
                        <a:t>SMTC</a:t>
                      </a:r>
                      <a:endParaRPr lang="zh-CN" altLang="en-US" sz="1800"/>
                    </a:p>
                  </a:txBody>
                  <a:tcPr marT="36000" marB="36000"/>
                </a:tc>
                <a:tc>
                  <a:txBody>
                    <a:bodyPr/>
                    <a:lstStyle/>
                    <a:p>
                      <a:pPr algn="ctr">
                        <a:spcBef>
                          <a:spcPts val="300"/>
                        </a:spcBef>
                        <a:spcAft>
                          <a:spcPts val="300"/>
                        </a:spcAft>
                      </a:pPr>
                      <a:r>
                        <a:rPr lang="zh-CN" altLang="en-US" sz="1800" smtClean="0"/>
                        <a:t>迭代语句</a:t>
                      </a:r>
                      <a:endParaRPr lang="zh-CN" altLang="en-US" sz="1800"/>
                    </a:p>
                  </a:txBody>
                  <a:tcPr marT="36000" marB="36000"/>
                </a:tc>
                <a:tc>
                  <a:txBody>
                    <a:bodyPr/>
                    <a:lstStyle/>
                    <a:p>
                      <a:pPr>
                        <a:spcBef>
                          <a:spcPts val="300"/>
                        </a:spcBef>
                        <a:spcAft>
                          <a:spcPts val="300"/>
                        </a:spcAft>
                      </a:pPr>
                      <a:r>
                        <a:rPr lang="zh-CN" altLang="en-US" sz="1800" smtClean="0"/>
                        <a:t>多次迭代继续</a:t>
                      </a:r>
                      <a:endParaRPr lang="zh-CN" altLang="en-US" sz="1800"/>
                    </a:p>
                  </a:txBody>
                  <a:tcPr marT="36000" marB="36000"/>
                </a:tc>
              </a:tr>
              <a:tr h="370840">
                <a:tc>
                  <a:txBody>
                    <a:bodyPr/>
                    <a:lstStyle/>
                    <a:p>
                      <a:pPr algn="ctr">
                        <a:spcBef>
                          <a:spcPts val="300"/>
                        </a:spcBef>
                        <a:spcAft>
                          <a:spcPts val="300"/>
                        </a:spcAft>
                      </a:pPr>
                      <a:r>
                        <a:rPr lang="en-US" altLang="zh-CN" sz="1800" smtClean="0"/>
                        <a:t>SSWM</a:t>
                      </a:r>
                      <a:endParaRPr lang="zh-CN" altLang="en-US" sz="1800"/>
                    </a:p>
                  </a:txBody>
                  <a:tcPr marT="36000" marB="36000"/>
                </a:tc>
                <a:tc>
                  <a:txBody>
                    <a:bodyPr/>
                    <a:lstStyle/>
                    <a:p>
                      <a:pPr algn="ctr">
                        <a:spcBef>
                          <a:spcPts val="300"/>
                        </a:spcBef>
                        <a:spcAft>
                          <a:spcPts val="300"/>
                        </a:spcAft>
                      </a:pPr>
                      <a:r>
                        <a:rPr lang="en-US" altLang="zh-CN" sz="1800" smtClean="0"/>
                        <a:t>switch</a:t>
                      </a:r>
                      <a:r>
                        <a:rPr lang="zh-CN" altLang="en-US" sz="1800" smtClean="0"/>
                        <a:t>语句</a:t>
                      </a:r>
                      <a:endParaRPr lang="zh-CN" altLang="en-US" sz="1800"/>
                    </a:p>
                  </a:txBody>
                  <a:tcPr marT="36000" marB="36000"/>
                </a:tc>
                <a:tc>
                  <a:txBody>
                    <a:bodyPr/>
                    <a:lstStyle/>
                    <a:p>
                      <a:pPr>
                        <a:spcBef>
                          <a:spcPts val="300"/>
                        </a:spcBef>
                        <a:spcAft>
                          <a:spcPts val="300"/>
                        </a:spcAft>
                      </a:pPr>
                      <a:r>
                        <a:rPr lang="en-US" altLang="zh-CN" sz="1800" smtClean="0"/>
                        <a:t>switch</a:t>
                      </a:r>
                      <a:r>
                        <a:rPr lang="zh-CN" altLang="en-US" sz="1800" smtClean="0"/>
                        <a:t>语句变异</a:t>
                      </a:r>
                      <a:endParaRPr lang="zh-CN" altLang="en-US" sz="1800"/>
                    </a:p>
                  </a:txBody>
                  <a:tcPr marT="36000" marB="36000"/>
                </a:tc>
              </a:tr>
              <a:tr h="370840">
                <a:tc>
                  <a:txBody>
                    <a:bodyPr/>
                    <a:lstStyle/>
                    <a:p>
                      <a:pPr algn="ctr">
                        <a:spcBef>
                          <a:spcPts val="300"/>
                        </a:spcBef>
                        <a:spcAft>
                          <a:spcPts val="300"/>
                        </a:spcAft>
                      </a:pPr>
                      <a:r>
                        <a:rPr lang="en-US" altLang="zh-CN" sz="1800" smtClean="0"/>
                        <a:t>SMTT</a:t>
                      </a:r>
                      <a:endParaRPr lang="zh-CN" altLang="en-US" sz="1800"/>
                    </a:p>
                  </a:txBody>
                  <a:tcPr marT="36000" marB="36000"/>
                </a:tc>
                <a:tc>
                  <a:txBody>
                    <a:bodyPr/>
                    <a:lstStyle/>
                    <a:p>
                      <a:pPr algn="ctr">
                        <a:spcBef>
                          <a:spcPts val="300"/>
                        </a:spcBef>
                        <a:spcAft>
                          <a:spcPts val="300"/>
                        </a:spcAft>
                      </a:pPr>
                      <a:r>
                        <a:rPr lang="zh-CN" altLang="en-US" sz="1800" smtClean="0"/>
                        <a:t>迭代语句</a:t>
                      </a:r>
                      <a:endParaRPr lang="zh-CN" altLang="en-US" sz="1800"/>
                    </a:p>
                  </a:txBody>
                  <a:tcPr marT="36000" marB="36000"/>
                </a:tc>
                <a:tc>
                  <a:txBody>
                    <a:bodyPr/>
                    <a:lstStyle/>
                    <a:p>
                      <a:pPr>
                        <a:spcBef>
                          <a:spcPts val="300"/>
                        </a:spcBef>
                        <a:spcAft>
                          <a:spcPts val="300"/>
                        </a:spcAft>
                      </a:pPr>
                      <a:r>
                        <a:rPr lang="zh-CN" altLang="en-US" sz="1800" smtClean="0"/>
                        <a:t>多次迭代陷阱</a:t>
                      </a:r>
                      <a:endParaRPr lang="zh-CN" altLang="en-US" sz="1800"/>
                    </a:p>
                  </a:txBody>
                  <a:tcPr marT="36000" marB="36000"/>
                </a:tc>
              </a:tr>
              <a:tr h="370840">
                <a:tc>
                  <a:txBody>
                    <a:bodyPr/>
                    <a:lstStyle/>
                    <a:p>
                      <a:pPr algn="ctr">
                        <a:spcBef>
                          <a:spcPts val="300"/>
                        </a:spcBef>
                        <a:spcAft>
                          <a:spcPts val="300"/>
                        </a:spcAft>
                      </a:pPr>
                      <a:r>
                        <a:rPr lang="en-US" altLang="zh-CN" sz="1800" smtClean="0"/>
                        <a:t>SWDD</a:t>
                      </a:r>
                      <a:endParaRPr lang="zh-CN" altLang="en-US" sz="1800"/>
                    </a:p>
                  </a:txBody>
                  <a:tcPr marT="36000" marB="36000"/>
                </a:tc>
                <a:tc>
                  <a:txBody>
                    <a:bodyPr/>
                    <a:lstStyle/>
                    <a:p>
                      <a:pPr algn="ctr">
                        <a:spcBef>
                          <a:spcPts val="300"/>
                        </a:spcBef>
                        <a:spcAft>
                          <a:spcPts val="300"/>
                        </a:spcAft>
                      </a:pPr>
                      <a:r>
                        <a:rPr lang="en-US" altLang="zh-CN" sz="1800" smtClean="0"/>
                        <a:t>while</a:t>
                      </a:r>
                      <a:endParaRPr lang="zh-CN" altLang="en-US" sz="1800"/>
                    </a:p>
                  </a:txBody>
                  <a:tcPr marT="36000" marB="36000"/>
                </a:tc>
                <a:tc>
                  <a:txBody>
                    <a:bodyPr/>
                    <a:lstStyle/>
                    <a:p>
                      <a:pPr>
                        <a:spcBef>
                          <a:spcPts val="300"/>
                        </a:spcBef>
                        <a:spcAft>
                          <a:spcPts val="300"/>
                        </a:spcAft>
                      </a:pPr>
                      <a:r>
                        <a:rPr lang="zh-CN" altLang="en-US" sz="1800" smtClean="0"/>
                        <a:t>使用</a:t>
                      </a:r>
                      <a:r>
                        <a:rPr lang="en-US" altLang="zh-CN" sz="1800" smtClean="0"/>
                        <a:t>do-while</a:t>
                      </a:r>
                      <a:r>
                        <a:rPr lang="zh-CN" altLang="en-US" sz="1800" smtClean="0"/>
                        <a:t>替换</a:t>
                      </a:r>
                      <a:r>
                        <a:rPr lang="en-US" altLang="zh-CN" sz="1800" smtClean="0"/>
                        <a:t>while</a:t>
                      </a:r>
                      <a:endParaRPr lang="zh-CN" altLang="en-US" sz="1800"/>
                    </a:p>
                  </a:txBody>
                  <a:tcPr marT="36000" marB="36000"/>
                </a:tc>
              </a:tr>
            </a:tbl>
          </a:graphicData>
        </a:graphic>
      </p:graphicFrame>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语句变异实例：语句执行陷阱</a:t>
            </a:r>
            <a:endParaRPr lang="zh-CN" altLang="en-US" smtClean="0">
              <a:solidFill>
                <a:srgbClr val="C00000"/>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pic>
        <p:nvPicPr>
          <p:cNvPr id="48131" name="Picture 3"/>
          <p:cNvPicPr>
            <a:picLocks noChangeAspect="1" noChangeArrowheads="1"/>
          </p:cNvPicPr>
          <p:nvPr/>
        </p:nvPicPr>
        <p:blipFill>
          <a:blip r:embed="rId1"/>
          <a:srcRect/>
          <a:stretch>
            <a:fillRect/>
          </a:stretch>
        </p:blipFill>
        <p:spPr bwMode="auto">
          <a:xfrm>
            <a:off x="4800600" y="2133601"/>
            <a:ext cx="2076450" cy="1647825"/>
          </a:xfrm>
          <a:prstGeom prst="rect">
            <a:avLst/>
          </a:prstGeom>
          <a:noFill/>
          <a:ln w="9525">
            <a:solidFill>
              <a:srgbClr val="FFC000"/>
            </a:solidFill>
            <a:miter lim="800000"/>
            <a:headEnd/>
            <a:tailEnd/>
          </a:ln>
          <a:effectLst/>
        </p:spPr>
      </p:pic>
      <p:pic>
        <p:nvPicPr>
          <p:cNvPr id="48132" name="Picture 4"/>
          <p:cNvPicPr>
            <a:picLocks noChangeAspect="1" noChangeArrowheads="1"/>
          </p:cNvPicPr>
          <p:nvPr/>
        </p:nvPicPr>
        <p:blipFill>
          <a:blip r:embed="rId2"/>
          <a:srcRect/>
          <a:stretch>
            <a:fillRect/>
          </a:stretch>
        </p:blipFill>
        <p:spPr bwMode="auto">
          <a:xfrm>
            <a:off x="1186815" y="1607820"/>
            <a:ext cx="2609850" cy="304800"/>
          </a:xfrm>
          <a:prstGeom prst="rect">
            <a:avLst/>
          </a:prstGeom>
          <a:noFill/>
          <a:ln w="9525">
            <a:solidFill>
              <a:srgbClr val="FFC000"/>
            </a:solidFill>
            <a:miter lim="800000"/>
            <a:headEnd/>
            <a:tailEnd/>
          </a:ln>
          <a:effectLst/>
        </p:spPr>
      </p:pic>
      <p:pic>
        <p:nvPicPr>
          <p:cNvPr id="48133" name="Picture 5"/>
          <p:cNvPicPr>
            <a:picLocks noChangeAspect="1" noChangeArrowheads="1"/>
          </p:cNvPicPr>
          <p:nvPr/>
        </p:nvPicPr>
        <p:blipFill>
          <a:blip r:embed="rId3"/>
          <a:srcRect/>
          <a:stretch>
            <a:fillRect/>
          </a:stretch>
        </p:blipFill>
        <p:spPr bwMode="auto">
          <a:xfrm>
            <a:off x="7766686" y="1386206"/>
            <a:ext cx="3057525" cy="942975"/>
          </a:xfrm>
          <a:prstGeom prst="rect">
            <a:avLst/>
          </a:prstGeom>
          <a:noFill/>
          <a:ln w="9525">
            <a:solidFill>
              <a:srgbClr val="FFC000"/>
            </a:solidFill>
            <a:miter lim="800000"/>
            <a:headEnd/>
            <a:tailEnd/>
          </a:ln>
          <a:effectLst/>
        </p:spPr>
      </p:pic>
      <p:pic>
        <p:nvPicPr>
          <p:cNvPr id="48134" name="Picture 6"/>
          <p:cNvPicPr>
            <a:picLocks noChangeAspect="1" noChangeArrowheads="1"/>
          </p:cNvPicPr>
          <p:nvPr/>
        </p:nvPicPr>
        <p:blipFill>
          <a:blip r:embed="rId4"/>
          <a:srcRect/>
          <a:stretch>
            <a:fillRect/>
          </a:stretch>
        </p:blipFill>
        <p:spPr bwMode="auto">
          <a:xfrm>
            <a:off x="6477001" y="4267200"/>
            <a:ext cx="3724275" cy="1638300"/>
          </a:xfrm>
          <a:prstGeom prst="rect">
            <a:avLst/>
          </a:prstGeom>
          <a:noFill/>
          <a:ln w="9525">
            <a:solidFill>
              <a:srgbClr val="FFC000"/>
            </a:solidFill>
            <a:miter lim="800000"/>
            <a:headEnd/>
            <a:tailEnd/>
          </a:ln>
          <a:effectLst/>
        </p:spPr>
      </p:pic>
      <p:pic>
        <p:nvPicPr>
          <p:cNvPr id="48135" name="Picture 7"/>
          <p:cNvPicPr>
            <a:picLocks noChangeAspect="1" noChangeArrowheads="1"/>
          </p:cNvPicPr>
          <p:nvPr/>
        </p:nvPicPr>
        <p:blipFill>
          <a:blip r:embed="rId5"/>
          <a:srcRect/>
          <a:stretch>
            <a:fillRect/>
          </a:stretch>
        </p:blipFill>
        <p:spPr bwMode="auto">
          <a:xfrm>
            <a:off x="1828801" y="4267201"/>
            <a:ext cx="3552825" cy="1685925"/>
          </a:xfrm>
          <a:prstGeom prst="rect">
            <a:avLst/>
          </a:prstGeom>
          <a:noFill/>
          <a:ln w="9525">
            <a:solidFill>
              <a:srgbClr val="FFC000"/>
            </a:solidFill>
            <a:miter lim="800000"/>
            <a:headEnd/>
            <a:tailEnd/>
          </a:ln>
          <a:effectLst/>
        </p:spPr>
      </p:pic>
      <p:cxnSp>
        <p:nvCxnSpPr>
          <p:cNvPr id="12" name="直接箭头连接符 11"/>
          <p:cNvCxnSpPr/>
          <p:nvPr/>
        </p:nvCxnSpPr>
        <p:spPr bwMode="auto">
          <a:xfrm rot="16200000" flipV="1">
            <a:off x="3848100" y="1714500"/>
            <a:ext cx="762000" cy="685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直接箭头连接符 13"/>
          <p:cNvCxnSpPr/>
          <p:nvPr/>
        </p:nvCxnSpPr>
        <p:spPr bwMode="auto">
          <a:xfrm flipV="1">
            <a:off x="7239000" y="2061845"/>
            <a:ext cx="415925" cy="68135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6" name="直接箭头连接符 15"/>
          <p:cNvCxnSpPr/>
          <p:nvPr/>
        </p:nvCxnSpPr>
        <p:spPr bwMode="auto">
          <a:xfrm rot="5400000">
            <a:off x="4114800" y="3657600"/>
            <a:ext cx="457200" cy="457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8" name="直接箭头连接符 17"/>
          <p:cNvCxnSpPr/>
          <p:nvPr/>
        </p:nvCxnSpPr>
        <p:spPr bwMode="auto">
          <a:xfrm>
            <a:off x="7086600" y="3657600"/>
            <a:ext cx="914400" cy="457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dissolve">
                                      <p:cBhvr>
                                        <p:cTn id="7" dur="500"/>
                                        <p:tgtEl>
                                          <p:spTgt spid="48132"/>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8133"/>
                                        </p:tgtEl>
                                        <p:attrNameLst>
                                          <p:attrName>style.visibility</p:attrName>
                                        </p:attrNameLst>
                                      </p:cBhvr>
                                      <p:to>
                                        <p:strVal val="visible"/>
                                      </p:to>
                                    </p:set>
                                    <p:animEffect transition="in" filter="dissolve">
                                      <p:cBhvr>
                                        <p:cTn id="15" dur="500"/>
                                        <p:tgtEl>
                                          <p:spTgt spid="48133"/>
                                        </p:tgtEl>
                                      </p:cBhvr>
                                    </p:animEffect>
                                  </p:childTnLst>
                                </p:cTn>
                              </p:par>
                              <p:par>
                                <p:cTn id="16" presetID="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dissolv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8135"/>
                                        </p:tgtEl>
                                        <p:attrNameLst>
                                          <p:attrName>style.visibility</p:attrName>
                                        </p:attrNameLst>
                                      </p:cBhvr>
                                      <p:to>
                                        <p:strVal val="visible"/>
                                      </p:to>
                                    </p:set>
                                    <p:animEffect transition="in" filter="dissolve">
                                      <p:cBhvr>
                                        <p:cTn id="23" dur="500"/>
                                        <p:tgtEl>
                                          <p:spTgt spid="48135"/>
                                        </p:tgtEl>
                                      </p:cBhvr>
                                    </p:animEffect>
                                  </p:childTnLst>
                                </p:cTn>
                              </p:par>
                              <p:par>
                                <p:cTn id="24" presetID="9"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48134"/>
                                        </p:tgtEl>
                                        <p:attrNameLst>
                                          <p:attrName>style.visibility</p:attrName>
                                        </p:attrNameLst>
                                      </p:cBhvr>
                                      <p:to>
                                        <p:strVal val="visible"/>
                                      </p:to>
                                    </p:set>
                                    <p:animEffect transition="in" filter="dissolve">
                                      <p:cBhvr>
                                        <p:cTn id="31" dur="500"/>
                                        <p:tgtEl>
                                          <p:spTgt spid="48134"/>
                                        </p:tgtEl>
                                      </p:cBhvr>
                                    </p:animEffect>
                                  </p:childTnLst>
                                </p:cTn>
                              </p:par>
                              <p:par>
                                <p:cTn id="32" presetID="9"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dissolv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语句变异实例：语句删除变异</a:t>
            </a:r>
            <a:endParaRPr lang="zh-CN" altLang="en-US" smtClean="0">
              <a:solidFill>
                <a:srgbClr val="C00000"/>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pic>
        <p:nvPicPr>
          <p:cNvPr id="48131" name="Picture 3"/>
          <p:cNvPicPr>
            <a:picLocks noChangeAspect="1" noChangeArrowheads="1"/>
          </p:cNvPicPr>
          <p:nvPr/>
        </p:nvPicPr>
        <p:blipFill>
          <a:blip r:embed="rId1"/>
          <a:srcRect/>
          <a:stretch>
            <a:fillRect/>
          </a:stretch>
        </p:blipFill>
        <p:spPr bwMode="auto">
          <a:xfrm>
            <a:off x="4800600" y="2133601"/>
            <a:ext cx="2076450" cy="1647825"/>
          </a:xfrm>
          <a:prstGeom prst="rect">
            <a:avLst/>
          </a:prstGeom>
          <a:noFill/>
          <a:ln w="9525">
            <a:solidFill>
              <a:srgbClr val="FFC000"/>
            </a:solidFill>
            <a:miter lim="800000"/>
            <a:headEnd/>
            <a:tailEnd/>
          </a:ln>
          <a:effectLst/>
        </p:spPr>
      </p:pic>
      <p:cxnSp>
        <p:nvCxnSpPr>
          <p:cNvPr id="12" name="直接箭头连接符 11"/>
          <p:cNvCxnSpPr/>
          <p:nvPr/>
        </p:nvCxnSpPr>
        <p:spPr bwMode="auto">
          <a:xfrm rot="16200000" flipV="1">
            <a:off x="3848100" y="1714500"/>
            <a:ext cx="762000" cy="685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直接箭头连接符 13"/>
          <p:cNvCxnSpPr/>
          <p:nvPr/>
        </p:nvCxnSpPr>
        <p:spPr bwMode="auto">
          <a:xfrm flipV="1">
            <a:off x="7239000" y="2057400"/>
            <a:ext cx="838200" cy="6858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6" name="直接箭头连接符 15"/>
          <p:cNvCxnSpPr/>
          <p:nvPr/>
        </p:nvCxnSpPr>
        <p:spPr bwMode="auto">
          <a:xfrm rot="5400000">
            <a:off x="4114800" y="3657600"/>
            <a:ext cx="457200" cy="457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8" name="直接箭头连接符 17"/>
          <p:cNvCxnSpPr/>
          <p:nvPr/>
        </p:nvCxnSpPr>
        <p:spPr bwMode="auto">
          <a:xfrm>
            <a:off x="7086600" y="3657600"/>
            <a:ext cx="914400" cy="457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pic>
        <p:nvPicPr>
          <p:cNvPr id="49154" name="Picture 2"/>
          <p:cNvPicPr>
            <a:picLocks noChangeAspect="1" noChangeArrowheads="1"/>
          </p:cNvPicPr>
          <p:nvPr/>
        </p:nvPicPr>
        <p:blipFill>
          <a:blip r:embed="rId2"/>
          <a:srcRect/>
          <a:stretch>
            <a:fillRect/>
          </a:stretch>
        </p:blipFill>
        <p:spPr bwMode="auto">
          <a:xfrm>
            <a:off x="3095626" y="1376681"/>
            <a:ext cx="561975" cy="238125"/>
          </a:xfrm>
          <a:prstGeom prst="rect">
            <a:avLst/>
          </a:prstGeom>
          <a:noFill/>
          <a:ln w="9525">
            <a:solidFill>
              <a:srgbClr val="FFC000"/>
            </a:solidFill>
            <a:miter lim="800000"/>
            <a:headEnd/>
            <a:tailEnd/>
          </a:ln>
          <a:effectLst/>
        </p:spPr>
      </p:pic>
      <p:pic>
        <p:nvPicPr>
          <p:cNvPr id="49155" name="Picture 3"/>
          <p:cNvPicPr>
            <a:picLocks noChangeAspect="1" noChangeArrowheads="1"/>
          </p:cNvPicPr>
          <p:nvPr/>
        </p:nvPicPr>
        <p:blipFill>
          <a:blip r:embed="rId3"/>
          <a:srcRect/>
          <a:stretch>
            <a:fillRect/>
          </a:stretch>
        </p:blipFill>
        <p:spPr bwMode="auto">
          <a:xfrm>
            <a:off x="2286001" y="4343401"/>
            <a:ext cx="2181225" cy="1647825"/>
          </a:xfrm>
          <a:prstGeom prst="rect">
            <a:avLst/>
          </a:prstGeom>
          <a:noFill/>
          <a:ln w="9525">
            <a:solidFill>
              <a:srgbClr val="FFC000"/>
            </a:solidFill>
            <a:miter lim="800000"/>
            <a:headEnd/>
            <a:tailEnd/>
          </a:ln>
          <a:effectLst/>
        </p:spPr>
      </p:pic>
      <p:pic>
        <p:nvPicPr>
          <p:cNvPr id="49156" name="Picture 4"/>
          <p:cNvPicPr>
            <a:picLocks noChangeAspect="1" noChangeArrowheads="1"/>
          </p:cNvPicPr>
          <p:nvPr/>
        </p:nvPicPr>
        <p:blipFill>
          <a:blip r:embed="rId4"/>
          <a:srcRect/>
          <a:stretch>
            <a:fillRect/>
          </a:stretch>
        </p:blipFill>
        <p:spPr bwMode="auto">
          <a:xfrm>
            <a:off x="7467601" y="4343400"/>
            <a:ext cx="2085975" cy="1657350"/>
          </a:xfrm>
          <a:prstGeom prst="rect">
            <a:avLst/>
          </a:prstGeom>
          <a:noFill/>
          <a:ln w="9525">
            <a:solidFill>
              <a:srgbClr val="FFC000"/>
            </a:solidFill>
            <a:miter lim="800000"/>
            <a:headEnd/>
            <a:tailEnd/>
          </a:ln>
          <a:effectLst/>
        </p:spPr>
      </p:pic>
      <p:pic>
        <p:nvPicPr>
          <p:cNvPr id="49157" name="Picture 5"/>
          <p:cNvPicPr>
            <a:picLocks noChangeAspect="1" noChangeArrowheads="1"/>
          </p:cNvPicPr>
          <p:nvPr/>
        </p:nvPicPr>
        <p:blipFill>
          <a:blip r:embed="rId5"/>
          <a:srcRect/>
          <a:stretch>
            <a:fillRect/>
          </a:stretch>
        </p:blipFill>
        <p:spPr bwMode="auto">
          <a:xfrm>
            <a:off x="8305800" y="1219201"/>
            <a:ext cx="1752600" cy="981075"/>
          </a:xfrm>
          <a:prstGeom prst="rect">
            <a:avLst/>
          </a:prstGeom>
          <a:noFill/>
          <a:ln w="9525">
            <a:solidFill>
              <a:srgbClr val="FFC000"/>
            </a:solidFill>
            <a:miter lim="800000"/>
            <a:headEnd/>
            <a:tailEnd/>
          </a:ln>
          <a:effec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1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33600" y="136525"/>
            <a:ext cx="9220200" cy="785495"/>
          </a:xfrm>
        </p:spPr>
        <p:txBody>
          <a:bodyPr/>
          <a:lstStyle/>
          <a:p>
            <a:r>
              <a:rPr lang="en-US" altLang="zh-CN" sz="4000" smtClean="0">
                <a:solidFill>
                  <a:srgbClr val="C00000"/>
                </a:solidFill>
              </a:rPr>
              <a:t>C</a:t>
            </a:r>
            <a:r>
              <a:rPr lang="zh-CN" altLang="en-US" sz="4000" smtClean="0">
                <a:solidFill>
                  <a:srgbClr val="C00000"/>
                </a:solidFill>
              </a:rPr>
              <a:t>语言的变量变异</a:t>
            </a:r>
            <a:endParaRPr lang="zh-CN" altLang="en-US" sz="4000" smtClean="0">
              <a:solidFill>
                <a:srgbClr val="C00000"/>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2133600" y="887095"/>
          <a:ext cx="7772400" cy="5197720"/>
        </p:xfrm>
        <a:graphic>
          <a:graphicData uri="http://schemas.openxmlformats.org/drawingml/2006/table">
            <a:tbl>
              <a:tblPr firstRow="1" bandRow="1">
                <a:tableStyleId>{21E4AEA4-8DFA-4A89-87EB-49C32662AFE0}</a:tableStyleId>
              </a:tblPr>
              <a:tblGrid>
                <a:gridCol w="1524000"/>
                <a:gridCol w="1828800"/>
                <a:gridCol w="4419600"/>
              </a:tblGrid>
              <a:tr h="370840">
                <a:tc>
                  <a:txBody>
                    <a:bodyPr/>
                    <a:lstStyle/>
                    <a:p>
                      <a:pPr algn="ctr">
                        <a:spcBef>
                          <a:spcPts val="300"/>
                        </a:spcBef>
                        <a:spcAft>
                          <a:spcPts val="300"/>
                        </a:spcAft>
                      </a:pPr>
                      <a:r>
                        <a:rPr lang="zh-CN" altLang="en-US" sz="2000" smtClean="0"/>
                        <a:t>算子</a:t>
                      </a:r>
                      <a:endParaRPr lang="zh-CN" altLang="en-US" sz="2000"/>
                    </a:p>
                  </a:txBody>
                  <a:tcPr marT="36000" marB="36000"/>
                </a:tc>
                <a:tc>
                  <a:txBody>
                    <a:bodyPr/>
                    <a:lstStyle/>
                    <a:p>
                      <a:pPr algn="ctr">
                        <a:spcBef>
                          <a:spcPts val="300"/>
                        </a:spcBef>
                        <a:spcAft>
                          <a:spcPts val="300"/>
                        </a:spcAft>
                      </a:pPr>
                      <a:r>
                        <a:rPr lang="zh-CN" altLang="en-US" sz="2000" smtClean="0"/>
                        <a:t>定义域</a:t>
                      </a:r>
                      <a:endParaRPr lang="zh-CN" altLang="en-US" sz="2000"/>
                    </a:p>
                  </a:txBody>
                  <a:tcPr marT="36000" marB="36000"/>
                </a:tc>
                <a:tc>
                  <a:txBody>
                    <a:bodyPr/>
                    <a:lstStyle/>
                    <a:p>
                      <a:pPr algn="ctr">
                        <a:spcBef>
                          <a:spcPts val="300"/>
                        </a:spcBef>
                        <a:spcAft>
                          <a:spcPts val="300"/>
                        </a:spcAft>
                      </a:pPr>
                      <a:r>
                        <a:rPr lang="zh-CN" altLang="en-US" sz="2000" smtClean="0"/>
                        <a:t>说明</a:t>
                      </a:r>
                      <a:endParaRPr lang="zh-CN" altLang="en-US" sz="2000"/>
                    </a:p>
                  </a:txBody>
                  <a:tcPr marT="36000" marB="36000"/>
                </a:tc>
              </a:tr>
              <a:tr h="370840">
                <a:tc>
                  <a:txBody>
                    <a:bodyPr/>
                    <a:lstStyle/>
                    <a:p>
                      <a:pPr algn="ctr">
                        <a:spcBef>
                          <a:spcPts val="300"/>
                        </a:spcBef>
                        <a:spcAft>
                          <a:spcPts val="300"/>
                        </a:spcAft>
                      </a:pPr>
                      <a:r>
                        <a:rPr lang="en-US" altLang="zh-CN" sz="1800" smtClean="0"/>
                        <a:t>VASM</a:t>
                      </a:r>
                      <a:endParaRPr lang="zh-CN" altLang="en-US" sz="1800"/>
                    </a:p>
                  </a:txBody>
                  <a:tcPr marT="36000" marB="36000"/>
                </a:tc>
                <a:tc>
                  <a:txBody>
                    <a:bodyPr/>
                    <a:lstStyle/>
                    <a:p>
                      <a:pPr algn="ctr">
                        <a:spcBef>
                          <a:spcPts val="300"/>
                        </a:spcBef>
                        <a:spcAft>
                          <a:spcPts val="300"/>
                        </a:spcAft>
                      </a:pPr>
                      <a:r>
                        <a:rPr lang="zh-CN" altLang="en-US" sz="1800" smtClean="0"/>
                        <a:t>数组下标</a:t>
                      </a:r>
                      <a:endParaRPr lang="zh-CN" altLang="en-US" sz="1800"/>
                    </a:p>
                  </a:txBody>
                  <a:tcPr marT="36000" marB="36000"/>
                </a:tc>
                <a:tc>
                  <a:txBody>
                    <a:bodyPr/>
                    <a:lstStyle/>
                    <a:p>
                      <a:pPr>
                        <a:spcBef>
                          <a:spcPts val="300"/>
                        </a:spcBef>
                        <a:spcAft>
                          <a:spcPts val="300"/>
                        </a:spcAft>
                      </a:pPr>
                      <a:r>
                        <a:rPr lang="zh-CN" altLang="en-US" sz="1800" smtClean="0"/>
                        <a:t>数组引用下标变异</a:t>
                      </a:r>
                      <a:endParaRPr lang="zh-CN" altLang="en-US" sz="1800"/>
                    </a:p>
                  </a:txBody>
                  <a:tcPr marT="36000" marB="36000"/>
                </a:tc>
              </a:tr>
              <a:tr h="370840">
                <a:tc>
                  <a:txBody>
                    <a:bodyPr/>
                    <a:lstStyle/>
                    <a:p>
                      <a:pPr algn="ctr">
                        <a:spcBef>
                          <a:spcPts val="300"/>
                        </a:spcBef>
                        <a:spcAft>
                          <a:spcPts val="300"/>
                        </a:spcAft>
                      </a:pPr>
                      <a:r>
                        <a:rPr lang="en-US" altLang="zh-CN" sz="1800" smtClean="0"/>
                        <a:t>VDTR</a:t>
                      </a:r>
                      <a:endParaRPr lang="zh-CN" altLang="en-US" sz="1800"/>
                    </a:p>
                  </a:txBody>
                  <a:tcPr marT="36000" marB="36000"/>
                </a:tc>
                <a:tc>
                  <a:txBody>
                    <a:bodyPr/>
                    <a:lstStyle/>
                    <a:p>
                      <a:pPr algn="ctr">
                        <a:spcBef>
                          <a:spcPts val="300"/>
                        </a:spcBef>
                        <a:spcAft>
                          <a:spcPts val="300"/>
                        </a:spcAft>
                      </a:pPr>
                      <a:r>
                        <a:rPr lang="zh-CN" altLang="en-US" sz="1800" smtClean="0"/>
                        <a:t>标量引用</a:t>
                      </a:r>
                      <a:endParaRPr lang="zh-CN" altLang="en-US" sz="1800"/>
                    </a:p>
                  </a:txBody>
                  <a:tcPr marT="36000" marB="36000"/>
                </a:tc>
                <a:tc>
                  <a:txBody>
                    <a:bodyPr/>
                    <a:lstStyle/>
                    <a:p>
                      <a:pPr>
                        <a:spcBef>
                          <a:spcPts val="300"/>
                        </a:spcBef>
                        <a:spcAft>
                          <a:spcPts val="300"/>
                        </a:spcAft>
                      </a:pPr>
                      <a:r>
                        <a:rPr lang="zh-CN" altLang="en-US" sz="1800" smtClean="0"/>
                        <a:t>绝对值变异</a:t>
                      </a:r>
                      <a:endParaRPr lang="zh-CN" altLang="en-US" sz="1800"/>
                    </a:p>
                  </a:txBody>
                  <a:tcPr marT="36000" marB="36000"/>
                </a:tc>
              </a:tr>
              <a:tr h="370840">
                <a:tc>
                  <a:txBody>
                    <a:bodyPr/>
                    <a:lstStyle/>
                    <a:p>
                      <a:pPr algn="ctr">
                        <a:spcBef>
                          <a:spcPts val="300"/>
                        </a:spcBef>
                        <a:spcAft>
                          <a:spcPts val="300"/>
                        </a:spcAft>
                      </a:pPr>
                      <a:r>
                        <a:rPr lang="en-US" altLang="zh-CN" sz="1800" smtClean="0"/>
                        <a:t>VGAR</a:t>
                      </a:r>
                      <a:endParaRPr lang="zh-CN" altLang="en-US" sz="1800"/>
                    </a:p>
                  </a:txBody>
                  <a:tcPr marT="36000" marB="36000"/>
                </a:tc>
                <a:tc>
                  <a:txBody>
                    <a:bodyPr/>
                    <a:lstStyle/>
                    <a:p>
                      <a:pPr algn="ctr">
                        <a:spcBef>
                          <a:spcPts val="300"/>
                        </a:spcBef>
                        <a:spcAft>
                          <a:spcPts val="300"/>
                        </a:spcAft>
                      </a:pPr>
                      <a:r>
                        <a:rPr lang="zh-CN" altLang="en-US" sz="1800" smtClean="0"/>
                        <a:t>数组引用</a:t>
                      </a:r>
                      <a:endParaRPr lang="zh-CN" altLang="en-US" sz="1800"/>
                    </a:p>
                  </a:txBody>
                  <a:tcPr marT="36000" marB="36000"/>
                </a:tc>
                <a:tc>
                  <a:txBody>
                    <a:bodyPr/>
                    <a:lstStyle/>
                    <a:p>
                      <a:pPr>
                        <a:spcBef>
                          <a:spcPts val="300"/>
                        </a:spcBef>
                        <a:spcAft>
                          <a:spcPts val="300"/>
                        </a:spcAft>
                      </a:pPr>
                      <a:r>
                        <a:rPr lang="zh-CN" altLang="en-US" sz="1800" smtClean="0"/>
                        <a:t>使用全局数组引用替换数组引用</a:t>
                      </a:r>
                      <a:endParaRPr lang="zh-CN" altLang="en-US" sz="1800"/>
                    </a:p>
                  </a:txBody>
                  <a:tcPr marT="36000" marB="36000"/>
                </a:tc>
              </a:tr>
              <a:tr h="370840">
                <a:tc>
                  <a:txBody>
                    <a:bodyPr/>
                    <a:lstStyle/>
                    <a:p>
                      <a:pPr algn="ctr">
                        <a:spcBef>
                          <a:spcPts val="300"/>
                        </a:spcBef>
                        <a:spcAft>
                          <a:spcPts val="300"/>
                        </a:spcAft>
                      </a:pPr>
                      <a:r>
                        <a:rPr lang="en-US" altLang="zh-CN" sz="1800" smtClean="0"/>
                        <a:t>VGLA</a:t>
                      </a:r>
                      <a:endParaRPr lang="zh-CN" altLang="en-US" sz="1800"/>
                    </a:p>
                  </a:txBody>
                  <a:tcPr marT="36000" marB="36000"/>
                </a:tc>
                <a:tc>
                  <a:txBody>
                    <a:bodyPr/>
                    <a:lstStyle/>
                    <a:p>
                      <a:pPr algn="ctr">
                        <a:spcBef>
                          <a:spcPts val="300"/>
                        </a:spcBef>
                        <a:spcAft>
                          <a:spcPts val="300"/>
                        </a:spcAft>
                      </a:pPr>
                      <a:r>
                        <a:rPr lang="zh-CN" altLang="en-US" sz="1800" smtClean="0"/>
                        <a:t>数组引用</a:t>
                      </a:r>
                      <a:endParaRPr lang="zh-CN" altLang="en-US" sz="1800"/>
                    </a:p>
                  </a:txBody>
                  <a:tcPr marT="36000" marB="36000"/>
                </a:tc>
                <a:tc>
                  <a:txBody>
                    <a:bodyPr/>
                    <a:lstStyle/>
                    <a:p>
                      <a:pPr>
                        <a:spcBef>
                          <a:spcPts val="300"/>
                        </a:spcBef>
                        <a:spcAft>
                          <a:spcPts val="300"/>
                        </a:spcAft>
                      </a:pPr>
                      <a:r>
                        <a:rPr lang="zh-CN" altLang="en-US" sz="1800" smtClean="0"/>
                        <a:t>使用全局、局部数组引用来替换数组引用</a:t>
                      </a:r>
                      <a:endParaRPr lang="zh-CN" altLang="en-US" sz="1800"/>
                    </a:p>
                  </a:txBody>
                  <a:tcPr marT="36000" marB="36000"/>
                </a:tc>
              </a:tr>
              <a:tr h="370840">
                <a:tc>
                  <a:txBody>
                    <a:bodyPr/>
                    <a:lstStyle/>
                    <a:p>
                      <a:pPr algn="ctr">
                        <a:spcBef>
                          <a:spcPts val="300"/>
                        </a:spcBef>
                        <a:spcAft>
                          <a:spcPts val="300"/>
                        </a:spcAft>
                      </a:pPr>
                      <a:r>
                        <a:rPr lang="en-US" altLang="zh-CN" sz="1800" smtClean="0"/>
                        <a:t>VGPR</a:t>
                      </a:r>
                      <a:endParaRPr lang="zh-CN" altLang="en-US" sz="1800"/>
                    </a:p>
                  </a:txBody>
                  <a:tcPr marT="36000" marB="36000"/>
                </a:tc>
                <a:tc>
                  <a:txBody>
                    <a:bodyPr/>
                    <a:lstStyle/>
                    <a:p>
                      <a:pPr algn="ctr">
                        <a:spcBef>
                          <a:spcPts val="300"/>
                        </a:spcBef>
                        <a:spcAft>
                          <a:spcPts val="300"/>
                        </a:spcAft>
                      </a:pPr>
                      <a:r>
                        <a:rPr lang="zh-CN" altLang="en-US" sz="1800" smtClean="0"/>
                        <a:t>指针引用</a:t>
                      </a:r>
                      <a:endParaRPr lang="zh-CN" altLang="en-US" sz="1800"/>
                    </a:p>
                  </a:txBody>
                  <a:tcPr marT="36000" marB="36000"/>
                </a:tc>
                <a:tc>
                  <a:txBody>
                    <a:bodyPr/>
                    <a:lstStyle/>
                    <a:p>
                      <a:pPr>
                        <a:spcBef>
                          <a:spcPts val="300"/>
                        </a:spcBef>
                        <a:spcAft>
                          <a:spcPts val="300"/>
                        </a:spcAft>
                      </a:pPr>
                      <a:r>
                        <a:rPr lang="zh-CN" altLang="en-US" sz="1800" smtClean="0"/>
                        <a:t>使用全局指针引用替换指针引用</a:t>
                      </a:r>
                      <a:endParaRPr lang="zh-CN" altLang="en-US" sz="1800"/>
                    </a:p>
                  </a:txBody>
                  <a:tcPr marT="36000" marB="36000"/>
                </a:tc>
              </a:tr>
              <a:tr h="370840">
                <a:tc>
                  <a:txBody>
                    <a:bodyPr/>
                    <a:lstStyle/>
                    <a:p>
                      <a:pPr algn="ctr">
                        <a:spcBef>
                          <a:spcPts val="300"/>
                        </a:spcBef>
                        <a:spcAft>
                          <a:spcPts val="300"/>
                        </a:spcAft>
                      </a:pPr>
                      <a:r>
                        <a:rPr lang="en-US" altLang="zh-CN" sz="1800" smtClean="0"/>
                        <a:t>VGSR</a:t>
                      </a:r>
                      <a:endParaRPr lang="zh-CN" altLang="en-US" sz="1800"/>
                    </a:p>
                  </a:txBody>
                  <a:tcPr marT="36000" marB="36000"/>
                </a:tc>
                <a:tc>
                  <a:txBody>
                    <a:bodyPr/>
                    <a:lstStyle/>
                    <a:p>
                      <a:pPr algn="ctr">
                        <a:spcBef>
                          <a:spcPts val="300"/>
                        </a:spcBef>
                        <a:spcAft>
                          <a:spcPts val="300"/>
                        </a:spcAft>
                      </a:pPr>
                      <a:r>
                        <a:rPr lang="zh-CN" altLang="en-US" sz="1800" smtClean="0"/>
                        <a:t>标量引用</a:t>
                      </a:r>
                      <a:endParaRPr lang="zh-CN" altLang="en-US" sz="1800"/>
                    </a:p>
                  </a:txBody>
                  <a:tcPr marT="36000" marB="36000"/>
                </a:tc>
                <a:tc>
                  <a:txBody>
                    <a:bodyPr/>
                    <a:lstStyle/>
                    <a:p>
                      <a:pPr>
                        <a:spcBef>
                          <a:spcPts val="300"/>
                        </a:spcBef>
                        <a:spcAft>
                          <a:spcPts val="300"/>
                        </a:spcAft>
                      </a:pPr>
                      <a:r>
                        <a:rPr lang="zh-CN" altLang="en-US" sz="1800" smtClean="0"/>
                        <a:t>使用全局标量引用替换标量引用</a:t>
                      </a:r>
                      <a:endParaRPr lang="zh-CN" altLang="en-US" sz="1800"/>
                    </a:p>
                  </a:txBody>
                  <a:tcPr marT="36000" marB="36000"/>
                </a:tc>
              </a:tr>
              <a:tr h="370840">
                <a:tc>
                  <a:txBody>
                    <a:bodyPr/>
                    <a:lstStyle/>
                    <a:p>
                      <a:pPr algn="ctr">
                        <a:spcBef>
                          <a:spcPts val="300"/>
                        </a:spcBef>
                        <a:spcAft>
                          <a:spcPts val="300"/>
                        </a:spcAft>
                      </a:pPr>
                      <a:r>
                        <a:rPr lang="en-US" altLang="zh-CN" sz="1800" smtClean="0"/>
                        <a:t>VGTR</a:t>
                      </a:r>
                      <a:endParaRPr lang="zh-CN" altLang="en-US" sz="1800"/>
                    </a:p>
                  </a:txBody>
                  <a:tcPr marT="36000" marB="36000"/>
                </a:tc>
                <a:tc>
                  <a:txBody>
                    <a:bodyPr/>
                    <a:lstStyle/>
                    <a:p>
                      <a:pPr algn="ctr">
                        <a:spcBef>
                          <a:spcPts val="300"/>
                        </a:spcBef>
                        <a:spcAft>
                          <a:spcPts val="300"/>
                        </a:spcAft>
                      </a:pPr>
                      <a:r>
                        <a:rPr lang="zh-CN" altLang="en-US" sz="1800" smtClean="0"/>
                        <a:t>结构引用</a:t>
                      </a:r>
                      <a:endParaRPr lang="zh-CN" altLang="en-US" sz="1800"/>
                    </a:p>
                  </a:txBody>
                  <a:tcPr marT="36000" marB="36000"/>
                </a:tc>
                <a:tc>
                  <a:txBody>
                    <a:bodyPr/>
                    <a:lstStyle/>
                    <a:p>
                      <a:pPr>
                        <a:spcBef>
                          <a:spcPts val="300"/>
                        </a:spcBef>
                        <a:spcAft>
                          <a:spcPts val="300"/>
                        </a:spcAft>
                      </a:pPr>
                      <a:r>
                        <a:rPr lang="zh-CN" altLang="en-US" sz="1800" smtClean="0"/>
                        <a:t>使用全局结构引用替换结构引用</a:t>
                      </a:r>
                      <a:endParaRPr lang="zh-CN" altLang="en-US" sz="1800"/>
                    </a:p>
                  </a:txBody>
                  <a:tcPr marT="36000" marB="36000"/>
                </a:tc>
              </a:tr>
              <a:tr h="370840">
                <a:tc>
                  <a:txBody>
                    <a:bodyPr/>
                    <a:lstStyle/>
                    <a:p>
                      <a:pPr algn="ctr">
                        <a:spcBef>
                          <a:spcPts val="300"/>
                        </a:spcBef>
                        <a:spcAft>
                          <a:spcPts val="300"/>
                        </a:spcAft>
                      </a:pPr>
                      <a:r>
                        <a:rPr lang="en-US" altLang="zh-CN" sz="1800" smtClean="0"/>
                        <a:t>VLAR</a:t>
                      </a:r>
                      <a:endParaRPr lang="zh-CN" altLang="en-US" sz="1800"/>
                    </a:p>
                  </a:txBody>
                  <a:tcPr marT="36000" marB="36000"/>
                </a:tc>
                <a:tc>
                  <a:txBody>
                    <a:bodyPr/>
                    <a:lstStyle/>
                    <a:p>
                      <a:pPr algn="ctr">
                        <a:spcBef>
                          <a:spcPts val="300"/>
                        </a:spcBef>
                        <a:spcAft>
                          <a:spcPts val="300"/>
                        </a:spcAft>
                      </a:pPr>
                      <a:r>
                        <a:rPr lang="zh-CN" altLang="en-US" sz="1800" smtClean="0"/>
                        <a:t>数组引用</a:t>
                      </a:r>
                      <a:endParaRPr lang="zh-CN" altLang="en-US" sz="1800"/>
                    </a:p>
                  </a:txBody>
                  <a:tcPr marT="36000" marB="36000"/>
                </a:tc>
                <a:tc>
                  <a:txBody>
                    <a:bodyPr/>
                    <a:lstStyle/>
                    <a:p>
                      <a:pPr>
                        <a:spcBef>
                          <a:spcPts val="300"/>
                        </a:spcBef>
                        <a:spcAft>
                          <a:spcPts val="300"/>
                        </a:spcAft>
                      </a:pPr>
                      <a:r>
                        <a:rPr lang="zh-CN" altLang="en-US" sz="1800" smtClean="0"/>
                        <a:t>使用局部数组引用替换数组引用</a:t>
                      </a:r>
                      <a:endParaRPr lang="zh-CN" altLang="en-US" sz="1800"/>
                    </a:p>
                  </a:txBody>
                  <a:tcPr marT="36000" marB="36000"/>
                </a:tc>
              </a:tr>
              <a:tr h="370840">
                <a:tc>
                  <a:txBody>
                    <a:bodyPr/>
                    <a:lstStyle/>
                    <a:p>
                      <a:pPr algn="ctr">
                        <a:spcBef>
                          <a:spcPts val="300"/>
                        </a:spcBef>
                        <a:spcAft>
                          <a:spcPts val="300"/>
                        </a:spcAft>
                      </a:pPr>
                      <a:r>
                        <a:rPr lang="en-US" altLang="zh-CN" sz="1800" smtClean="0"/>
                        <a:t>VLPR</a:t>
                      </a:r>
                      <a:endParaRPr lang="zh-CN" altLang="en-US" sz="1800"/>
                    </a:p>
                  </a:txBody>
                  <a:tcPr marT="36000" marB="36000"/>
                </a:tc>
                <a:tc>
                  <a:txBody>
                    <a:bodyPr/>
                    <a:lstStyle/>
                    <a:p>
                      <a:pPr algn="ctr">
                        <a:spcBef>
                          <a:spcPts val="300"/>
                        </a:spcBef>
                        <a:spcAft>
                          <a:spcPts val="300"/>
                        </a:spcAft>
                      </a:pPr>
                      <a:r>
                        <a:rPr lang="zh-CN" altLang="en-US" sz="1800" smtClean="0"/>
                        <a:t>指针引用</a:t>
                      </a:r>
                      <a:endParaRPr lang="zh-CN" altLang="en-US" sz="1800"/>
                    </a:p>
                  </a:txBody>
                  <a:tcPr marT="36000" marB="36000"/>
                </a:tc>
                <a:tc>
                  <a:txBody>
                    <a:bodyPr/>
                    <a:lstStyle/>
                    <a:p>
                      <a:pPr>
                        <a:spcBef>
                          <a:spcPts val="300"/>
                        </a:spcBef>
                        <a:spcAft>
                          <a:spcPts val="300"/>
                        </a:spcAft>
                      </a:pPr>
                      <a:r>
                        <a:rPr lang="zh-CN" altLang="en-US" sz="1800" smtClean="0"/>
                        <a:t>使用局部指针引用替换指针引用</a:t>
                      </a:r>
                      <a:endParaRPr lang="zh-CN" altLang="en-US" sz="1800"/>
                    </a:p>
                  </a:txBody>
                  <a:tcPr marT="36000" marB="36000"/>
                </a:tc>
              </a:tr>
              <a:tr h="370840">
                <a:tc>
                  <a:txBody>
                    <a:bodyPr/>
                    <a:lstStyle/>
                    <a:p>
                      <a:pPr algn="ctr">
                        <a:spcBef>
                          <a:spcPts val="300"/>
                        </a:spcBef>
                        <a:spcAft>
                          <a:spcPts val="300"/>
                        </a:spcAft>
                      </a:pPr>
                      <a:r>
                        <a:rPr lang="en-US" altLang="zh-CN" sz="1800" smtClean="0"/>
                        <a:t>VLSR</a:t>
                      </a:r>
                      <a:endParaRPr lang="zh-CN" altLang="en-US" sz="1800"/>
                    </a:p>
                  </a:txBody>
                  <a:tcPr marT="36000" marB="36000"/>
                </a:tc>
                <a:tc>
                  <a:txBody>
                    <a:bodyPr/>
                    <a:lstStyle/>
                    <a:p>
                      <a:pPr algn="ctr">
                        <a:spcBef>
                          <a:spcPts val="300"/>
                        </a:spcBef>
                        <a:spcAft>
                          <a:spcPts val="300"/>
                        </a:spcAft>
                      </a:pPr>
                      <a:r>
                        <a:rPr lang="zh-CN" altLang="en-US" sz="1800" smtClean="0"/>
                        <a:t>标量引用</a:t>
                      </a:r>
                      <a:endParaRPr lang="zh-CN" altLang="en-US" sz="1800"/>
                    </a:p>
                  </a:txBody>
                  <a:tcPr marT="36000" marB="36000"/>
                </a:tc>
                <a:tc>
                  <a:txBody>
                    <a:bodyPr/>
                    <a:lstStyle/>
                    <a:p>
                      <a:pPr>
                        <a:spcBef>
                          <a:spcPts val="300"/>
                        </a:spcBef>
                        <a:spcAft>
                          <a:spcPts val="300"/>
                        </a:spcAft>
                      </a:pPr>
                      <a:r>
                        <a:rPr lang="zh-CN" altLang="en-US" sz="1800" smtClean="0"/>
                        <a:t>使用局部标量引用替换标量引用</a:t>
                      </a:r>
                      <a:endParaRPr lang="zh-CN" altLang="en-US" sz="1800"/>
                    </a:p>
                  </a:txBody>
                  <a:tcPr marT="36000" marB="36000"/>
                </a:tc>
              </a:tr>
              <a:tr h="370840">
                <a:tc>
                  <a:txBody>
                    <a:bodyPr/>
                    <a:lstStyle/>
                    <a:p>
                      <a:pPr algn="ctr">
                        <a:spcBef>
                          <a:spcPts val="300"/>
                        </a:spcBef>
                        <a:spcAft>
                          <a:spcPts val="300"/>
                        </a:spcAft>
                      </a:pPr>
                      <a:r>
                        <a:rPr lang="en-US" altLang="zh-CN" sz="1800" smtClean="0"/>
                        <a:t>VLTR</a:t>
                      </a:r>
                      <a:endParaRPr lang="zh-CN" altLang="en-US" sz="1800"/>
                    </a:p>
                  </a:txBody>
                  <a:tcPr marT="36000" marB="36000"/>
                </a:tc>
                <a:tc>
                  <a:txBody>
                    <a:bodyPr/>
                    <a:lstStyle/>
                    <a:p>
                      <a:pPr algn="ctr">
                        <a:spcBef>
                          <a:spcPts val="300"/>
                        </a:spcBef>
                        <a:spcAft>
                          <a:spcPts val="300"/>
                        </a:spcAft>
                      </a:pPr>
                      <a:r>
                        <a:rPr lang="zh-CN" altLang="en-US" sz="1800" smtClean="0"/>
                        <a:t>结构引用</a:t>
                      </a:r>
                      <a:endParaRPr lang="zh-CN" altLang="en-US" sz="1800"/>
                    </a:p>
                  </a:txBody>
                  <a:tcPr marT="36000" marB="36000"/>
                </a:tc>
                <a:tc>
                  <a:txBody>
                    <a:bodyPr/>
                    <a:lstStyle/>
                    <a:p>
                      <a:pPr>
                        <a:spcBef>
                          <a:spcPts val="300"/>
                        </a:spcBef>
                        <a:spcAft>
                          <a:spcPts val="300"/>
                        </a:spcAft>
                      </a:pPr>
                      <a:r>
                        <a:rPr lang="zh-CN" altLang="en-US" sz="1800" smtClean="0"/>
                        <a:t>使用局部结构引用替换结构引用</a:t>
                      </a:r>
                      <a:endParaRPr lang="zh-CN" altLang="en-US" sz="1800"/>
                    </a:p>
                  </a:txBody>
                  <a:tcPr marT="36000" marB="36000"/>
                </a:tc>
              </a:tr>
              <a:tr h="370840">
                <a:tc>
                  <a:txBody>
                    <a:bodyPr/>
                    <a:lstStyle/>
                    <a:p>
                      <a:pPr algn="ctr">
                        <a:spcBef>
                          <a:spcPts val="300"/>
                        </a:spcBef>
                        <a:spcAft>
                          <a:spcPts val="300"/>
                        </a:spcAft>
                      </a:pPr>
                      <a:r>
                        <a:rPr lang="en-US" altLang="zh-CN" sz="1800" smtClean="0"/>
                        <a:t>VSCR</a:t>
                      </a:r>
                      <a:endParaRPr lang="zh-CN" altLang="en-US" sz="1800"/>
                    </a:p>
                  </a:txBody>
                  <a:tcPr marT="36000" marB="36000"/>
                </a:tc>
                <a:tc>
                  <a:txBody>
                    <a:bodyPr/>
                    <a:lstStyle/>
                    <a:p>
                      <a:pPr algn="ctr">
                        <a:spcBef>
                          <a:spcPts val="300"/>
                        </a:spcBef>
                        <a:spcAft>
                          <a:spcPts val="300"/>
                        </a:spcAft>
                      </a:pPr>
                      <a:r>
                        <a:rPr lang="zh-CN" altLang="en-US" sz="1800" smtClean="0"/>
                        <a:t>结构元素</a:t>
                      </a:r>
                      <a:endParaRPr lang="zh-CN" altLang="en-US" sz="1800"/>
                    </a:p>
                  </a:txBody>
                  <a:tcPr marT="36000" marB="36000"/>
                </a:tc>
                <a:tc>
                  <a:txBody>
                    <a:bodyPr/>
                    <a:lstStyle/>
                    <a:p>
                      <a:pPr>
                        <a:spcBef>
                          <a:spcPts val="300"/>
                        </a:spcBef>
                        <a:spcAft>
                          <a:spcPts val="300"/>
                        </a:spcAft>
                      </a:pPr>
                      <a:r>
                        <a:rPr lang="zh-CN" altLang="en-US" sz="1800" smtClean="0"/>
                        <a:t>结构元素替换</a:t>
                      </a:r>
                      <a:endParaRPr lang="zh-CN" altLang="en-US" sz="1800"/>
                    </a:p>
                  </a:txBody>
                  <a:tcPr marT="36000" marB="36000"/>
                </a:tc>
              </a:tr>
              <a:tr h="370840">
                <a:tc>
                  <a:txBody>
                    <a:bodyPr/>
                    <a:lstStyle/>
                    <a:p>
                      <a:pPr algn="ctr">
                        <a:spcBef>
                          <a:spcPts val="300"/>
                        </a:spcBef>
                        <a:spcAft>
                          <a:spcPts val="300"/>
                        </a:spcAft>
                      </a:pPr>
                      <a:r>
                        <a:rPr lang="en-US" altLang="zh-CN" sz="1800" smtClean="0"/>
                        <a:t>VTWD</a:t>
                      </a:r>
                      <a:endParaRPr lang="zh-CN" altLang="en-US" sz="1800"/>
                    </a:p>
                  </a:txBody>
                  <a:tcPr marT="36000" marB="36000"/>
                </a:tc>
                <a:tc>
                  <a:txBody>
                    <a:bodyPr/>
                    <a:lstStyle/>
                    <a:p>
                      <a:pPr algn="ctr">
                        <a:spcBef>
                          <a:spcPts val="300"/>
                        </a:spcBef>
                        <a:spcAft>
                          <a:spcPts val="300"/>
                        </a:spcAft>
                      </a:pPr>
                      <a:r>
                        <a:rPr lang="zh-CN" altLang="en-US" sz="1800" smtClean="0"/>
                        <a:t>标量表达式</a:t>
                      </a:r>
                      <a:endParaRPr lang="zh-CN" altLang="en-US" sz="1800"/>
                    </a:p>
                  </a:txBody>
                  <a:tcPr marT="36000" marB="36000"/>
                </a:tc>
                <a:tc>
                  <a:txBody>
                    <a:bodyPr/>
                    <a:lstStyle/>
                    <a:p>
                      <a:pPr>
                        <a:spcBef>
                          <a:spcPts val="300"/>
                        </a:spcBef>
                        <a:spcAft>
                          <a:spcPts val="300"/>
                        </a:spcAft>
                      </a:pPr>
                      <a:r>
                        <a:rPr lang="zh-CN" altLang="en-US" sz="1800" smtClean="0"/>
                        <a:t>摆动变异</a:t>
                      </a:r>
                      <a:endParaRPr lang="zh-CN" altLang="en-US" sz="1800"/>
                    </a:p>
                  </a:txBody>
                  <a:tcPr marT="36000" marB="36000"/>
                </a:tc>
              </a:tr>
            </a:tbl>
          </a:graphicData>
        </a:graphic>
      </p:graphicFrame>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变量变异：摆动变异</a:t>
            </a:r>
            <a:endParaRPr lang="zh-CN" altLang="en-US" smtClean="0">
              <a:solidFill>
                <a:srgbClr val="C00000"/>
              </a:solidFill>
            </a:endParaRPr>
          </a:p>
        </p:txBody>
      </p:sp>
      <p:sp>
        <p:nvSpPr>
          <p:cNvPr id="3" name="内容占位符 2"/>
          <p:cNvSpPr>
            <a:spLocks noGrp="1"/>
          </p:cNvSpPr>
          <p:nvPr>
            <p:ph idx="1"/>
          </p:nvPr>
        </p:nvSpPr>
        <p:spPr/>
        <p:txBody>
          <a:bodyPr/>
          <a:lstStyle/>
          <a:p>
            <a:r>
              <a:rPr lang="zh-CN" altLang="en-US" dirty="0" smtClean="0"/>
              <a:t>摆动变异：检查标量变量的边界条件</a:t>
            </a:r>
            <a:endParaRPr lang="en-US" altLang="zh-CN" dirty="0" smtClean="0"/>
          </a:p>
          <a:p>
            <a:r>
              <a:rPr lang="zh-CN" altLang="en-US" dirty="0" smtClean="0"/>
              <a:t>实例：</a:t>
            </a:r>
            <a:endParaRPr lang="en-US" altLang="zh-CN" dirty="0" smtClean="0"/>
          </a:p>
          <a:p>
            <a:pPr lvl="1"/>
            <a:r>
              <a:rPr lang="zh-CN" altLang="en-US" dirty="0" smtClean="0"/>
              <a:t>考虑 </a:t>
            </a:r>
            <a:r>
              <a:rPr lang="en-US" altLang="zh-CN" b="1" dirty="0" smtClean="0">
                <a:solidFill>
                  <a:srgbClr val="0000FF"/>
                </a:solidFill>
              </a:rPr>
              <a:t>p = a + b</a:t>
            </a:r>
            <a:r>
              <a:rPr lang="en-US" altLang="zh-CN" dirty="0" smtClean="0"/>
              <a:t>,</a:t>
            </a:r>
            <a:r>
              <a:rPr lang="zh-CN" altLang="en-US" dirty="0" smtClean="0"/>
              <a:t>假设</a:t>
            </a:r>
            <a:r>
              <a:rPr lang="en-US" altLang="zh-CN" dirty="0" err="1" smtClean="0"/>
              <a:t>p,a,b</a:t>
            </a:r>
            <a:r>
              <a:rPr lang="zh-CN" altLang="en-US" dirty="0" smtClean="0"/>
              <a:t>都是整数</a:t>
            </a:r>
            <a:endParaRPr lang="en-US" altLang="zh-CN" dirty="0" smtClean="0"/>
          </a:p>
          <a:p>
            <a:pPr lvl="1"/>
            <a:r>
              <a:rPr lang="zh-CN" altLang="en-US" dirty="0" smtClean="0"/>
              <a:t>摆动变异得到的变体：</a:t>
            </a:r>
            <a:endParaRPr lang="en-US" altLang="zh-CN" dirty="0" smtClean="0"/>
          </a:p>
          <a:p>
            <a:pPr lvl="2"/>
            <a:r>
              <a:rPr lang="en-US" altLang="zh-CN" dirty="0" smtClean="0"/>
              <a:t>p = a + b </a:t>
            </a:r>
            <a:r>
              <a:rPr lang="en-US" altLang="zh-CN" dirty="0" smtClean="0">
                <a:solidFill>
                  <a:srgbClr val="FF0000"/>
                </a:solidFill>
              </a:rPr>
              <a:t>+ 1</a:t>
            </a:r>
            <a:endParaRPr lang="en-US" altLang="zh-CN" dirty="0" smtClean="0">
              <a:solidFill>
                <a:srgbClr val="FF0000"/>
              </a:solidFill>
            </a:endParaRPr>
          </a:p>
          <a:p>
            <a:pPr lvl="2"/>
            <a:r>
              <a:rPr lang="en-US" altLang="zh-CN" dirty="0" smtClean="0"/>
              <a:t>p = a + b </a:t>
            </a:r>
            <a:r>
              <a:rPr lang="en-US" altLang="zh-CN" dirty="0">
                <a:solidFill>
                  <a:srgbClr val="FF0000"/>
                </a:solidFill>
              </a:rPr>
              <a:t>- 1</a:t>
            </a:r>
            <a:endParaRPr lang="zh-CN" altLang="en-US" dirty="0">
              <a:solidFill>
                <a:srgbClr val="FF0000"/>
              </a:solidFill>
            </a:endParaRPr>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p:txBody>
          <a:bodyPr/>
          <a:lstStyle/>
          <a:p>
            <a:r>
              <a:rPr lang="zh-CN" altLang="en-US" smtClean="0"/>
              <a:t>作为类</a:t>
            </a:r>
            <a:r>
              <a:rPr lang="en-US" altLang="zh-CN" smtClean="0"/>
              <a:t>C</a:t>
            </a:r>
            <a:r>
              <a:rPr lang="zh-CN" altLang="en-US" smtClean="0"/>
              <a:t>语言，</a:t>
            </a:r>
            <a:r>
              <a:rPr lang="en-US" altLang="zh-CN" smtClean="0"/>
              <a:t>C</a:t>
            </a:r>
            <a:r>
              <a:rPr lang="zh-CN" altLang="en-US" smtClean="0"/>
              <a:t>的许多变异算子可应用到</a:t>
            </a:r>
            <a:r>
              <a:rPr lang="en-US" altLang="zh-CN" smtClean="0"/>
              <a:t>Java</a:t>
            </a:r>
            <a:r>
              <a:rPr lang="zh-CN" altLang="en-US" smtClean="0"/>
              <a:t>程序的变异中。</a:t>
            </a:r>
            <a:endParaRPr lang="en-US" altLang="zh-CN" smtClean="0"/>
          </a:p>
          <a:p>
            <a:r>
              <a:rPr lang="zh-CN" altLang="en-US" smtClean="0"/>
              <a:t>针对</a:t>
            </a:r>
            <a:r>
              <a:rPr lang="en-US" altLang="zh-CN" smtClean="0"/>
              <a:t>Java</a:t>
            </a:r>
            <a:r>
              <a:rPr lang="zh-CN" altLang="en-US" smtClean="0"/>
              <a:t>语言的特性以及</a:t>
            </a:r>
            <a:r>
              <a:rPr lang="en-US" altLang="zh-CN" smtClean="0"/>
              <a:t>OO</a:t>
            </a:r>
            <a:r>
              <a:rPr lang="zh-CN" altLang="en-US" smtClean="0"/>
              <a:t>特点，有些研究小组提出了一些</a:t>
            </a:r>
            <a:r>
              <a:rPr lang="en-US" altLang="zh-CN" smtClean="0"/>
              <a:t>Java</a:t>
            </a:r>
            <a:r>
              <a:rPr lang="zh-CN" altLang="en-US" smtClean="0"/>
              <a:t>的变异算子</a:t>
            </a:r>
            <a:endParaRPr lang="en-US" altLang="zh-CN" smtClean="0"/>
          </a:p>
          <a:p>
            <a:pPr lvl="1"/>
            <a:r>
              <a:rPr lang="en-US" altLang="zh-CN" smtClean="0"/>
              <a:t>Yu-Seung Ma,Tong-rae Kwon,Jeff Offutt</a:t>
            </a:r>
            <a:r>
              <a:rPr lang="zh-CN" altLang="en-US" smtClean="0"/>
              <a:t>提出的算子在</a:t>
            </a:r>
            <a:r>
              <a:rPr lang="en-US" altLang="zh-CN" b="1" smtClean="0">
                <a:solidFill>
                  <a:srgbClr val="0000FF"/>
                </a:solidFill>
              </a:rPr>
              <a:t>muJava</a:t>
            </a:r>
            <a:r>
              <a:rPr lang="zh-CN" altLang="en-US" smtClean="0"/>
              <a:t>系统中实现</a:t>
            </a:r>
            <a:endParaRPr lang="en-US" altLang="zh-CN" smtClean="0"/>
          </a:p>
          <a:p>
            <a:pPr lvl="1"/>
            <a:r>
              <a:rPr lang="zh-CN" altLang="en-US" smtClean="0"/>
              <a:t>伦敦</a:t>
            </a:r>
            <a:r>
              <a:rPr lang="en-US" altLang="zh-CN" smtClean="0"/>
              <a:t>Goldsmiths College University</a:t>
            </a:r>
            <a:r>
              <a:rPr lang="zh-CN" altLang="en-US" smtClean="0"/>
              <a:t>的</a:t>
            </a:r>
            <a:r>
              <a:rPr lang="en-US" altLang="zh-CN" smtClean="0"/>
              <a:t>Sebastian Danicic</a:t>
            </a:r>
            <a:r>
              <a:rPr lang="zh-CN" altLang="en-US" smtClean="0"/>
              <a:t>在</a:t>
            </a:r>
            <a:r>
              <a:rPr lang="en-US" altLang="zh-CN" b="1" smtClean="0">
                <a:solidFill>
                  <a:srgbClr val="0000FF"/>
                </a:solidFill>
              </a:rPr>
              <a:t>Lava</a:t>
            </a:r>
            <a:r>
              <a:rPr lang="zh-CN" altLang="en-US" smtClean="0"/>
              <a:t>工具内实现了一套变异算子集</a:t>
            </a:r>
            <a:endParaRPr lang="en-US" altLang="zh-CN" smtClean="0"/>
          </a:p>
          <a:p>
            <a:pPr lvl="1"/>
            <a:r>
              <a:rPr lang="en-US" altLang="zh-CN" smtClean="0"/>
              <a:t>Ivan Moore</a:t>
            </a:r>
            <a:r>
              <a:rPr lang="zh-CN" altLang="en-US" smtClean="0"/>
              <a:t>实现了</a:t>
            </a:r>
            <a:r>
              <a:rPr lang="en-US" altLang="zh-CN" b="1" smtClean="0">
                <a:solidFill>
                  <a:srgbClr val="0000FF"/>
                </a:solidFill>
              </a:rPr>
              <a:t>Jester</a:t>
            </a:r>
            <a:r>
              <a:rPr lang="zh-CN" altLang="en-US" smtClean="0"/>
              <a:t>的</a:t>
            </a:r>
            <a:r>
              <a:rPr lang="en-US" altLang="zh-CN" smtClean="0"/>
              <a:t>Java</a:t>
            </a:r>
            <a:r>
              <a:rPr lang="zh-CN" altLang="en-US" smtClean="0"/>
              <a:t>程序变异工具</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a:xfrm>
            <a:off x="838200" y="1216660"/>
            <a:ext cx="10515600" cy="4960620"/>
          </a:xfrm>
        </p:spPr>
        <p:txBody>
          <a:bodyPr/>
          <a:lstStyle/>
          <a:p>
            <a:r>
              <a:rPr lang="en-US" altLang="zh-CN" smtClean="0"/>
              <a:t>Java</a:t>
            </a:r>
            <a:r>
              <a:rPr lang="zh-CN" altLang="en-US" smtClean="0"/>
              <a:t>类变异算子，模拟对象为与继承相关的错误</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1905000" y="1893570"/>
          <a:ext cx="7772400" cy="4496000"/>
        </p:xfrm>
        <a:graphic>
          <a:graphicData uri="http://schemas.openxmlformats.org/drawingml/2006/table">
            <a:tbl>
              <a:tblPr firstRow="1" bandRow="1">
                <a:tableStyleId>{21E4AEA4-8DFA-4A89-87EB-49C32662AFE0}</a:tableStyleId>
              </a:tblPr>
              <a:tblGrid>
                <a:gridCol w="1295400"/>
                <a:gridCol w="1600200"/>
                <a:gridCol w="4876800"/>
              </a:tblGrid>
              <a:tr h="370840">
                <a:tc>
                  <a:txBody>
                    <a:bodyPr/>
                    <a:lstStyle/>
                    <a:p>
                      <a:pPr algn="ctr">
                        <a:spcBef>
                          <a:spcPts val="300"/>
                        </a:spcBef>
                        <a:spcAft>
                          <a:spcPts val="300"/>
                        </a:spcAft>
                      </a:pPr>
                      <a:r>
                        <a:rPr lang="zh-CN" altLang="en-US" sz="2000" smtClean="0"/>
                        <a:t>算子</a:t>
                      </a:r>
                      <a:endParaRPr lang="zh-CN" altLang="en-US" sz="2000"/>
                    </a:p>
                  </a:txBody>
                  <a:tcPr marT="36000" marB="36000"/>
                </a:tc>
                <a:tc>
                  <a:txBody>
                    <a:bodyPr/>
                    <a:lstStyle/>
                    <a:p>
                      <a:pPr algn="ctr">
                        <a:spcBef>
                          <a:spcPts val="300"/>
                        </a:spcBef>
                        <a:spcAft>
                          <a:spcPts val="300"/>
                        </a:spcAft>
                      </a:pPr>
                      <a:r>
                        <a:rPr lang="zh-CN" altLang="en-US" sz="2000" smtClean="0"/>
                        <a:t>定义域</a:t>
                      </a:r>
                      <a:endParaRPr lang="zh-CN" altLang="en-US" sz="2000"/>
                    </a:p>
                  </a:txBody>
                  <a:tcPr marT="36000" marB="36000"/>
                </a:tc>
                <a:tc>
                  <a:txBody>
                    <a:bodyPr/>
                    <a:lstStyle/>
                    <a:p>
                      <a:pPr algn="ctr">
                        <a:spcBef>
                          <a:spcPts val="300"/>
                        </a:spcBef>
                        <a:spcAft>
                          <a:spcPts val="300"/>
                        </a:spcAft>
                      </a:pPr>
                      <a:r>
                        <a:rPr lang="zh-CN" altLang="en-US" sz="2000" smtClean="0"/>
                        <a:t>说明</a:t>
                      </a:r>
                      <a:endParaRPr lang="zh-CN" altLang="en-US" sz="2000"/>
                    </a:p>
                  </a:txBody>
                  <a:tcPr marT="36000" marB="36000"/>
                </a:tc>
              </a:tr>
              <a:tr h="370840">
                <a:tc>
                  <a:txBody>
                    <a:bodyPr/>
                    <a:lstStyle/>
                    <a:p>
                      <a:pPr algn="ctr">
                        <a:spcBef>
                          <a:spcPts val="300"/>
                        </a:spcBef>
                        <a:spcAft>
                          <a:spcPts val="300"/>
                        </a:spcAft>
                      </a:pPr>
                      <a:r>
                        <a:rPr lang="en-US" altLang="zh-CN" sz="1800" smtClean="0"/>
                        <a:t>IHD</a:t>
                      </a:r>
                      <a:endParaRPr lang="zh-CN" altLang="en-US" sz="1800"/>
                    </a:p>
                  </a:txBody>
                  <a:tcPr marT="36000" marB="36000"/>
                </a:tc>
                <a:tc>
                  <a:txBody>
                    <a:bodyPr/>
                    <a:lstStyle/>
                    <a:p>
                      <a:pPr algn="ctr">
                        <a:spcBef>
                          <a:spcPts val="300"/>
                        </a:spcBef>
                        <a:spcAft>
                          <a:spcPts val="300"/>
                        </a:spcAft>
                      </a:pPr>
                      <a:r>
                        <a:rPr lang="zh-CN" altLang="en-US" sz="1800" smtClean="0"/>
                        <a:t>变量</a:t>
                      </a:r>
                      <a:endParaRPr lang="zh-CN" altLang="en-US" sz="1800"/>
                    </a:p>
                  </a:txBody>
                  <a:tcPr marT="36000" marB="36000"/>
                </a:tc>
                <a:tc>
                  <a:txBody>
                    <a:bodyPr/>
                    <a:lstStyle/>
                    <a:p>
                      <a:pPr>
                        <a:spcBef>
                          <a:spcPts val="300"/>
                        </a:spcBef>
                        <a:spcAft>
                          <a:spcPts val="300"/>
                        </a:spcAft>
                      </a:pPr>
                      <a:r>
                        <a:rPr lang="zh-CN" altLang="en-US" sz="1800" smtClean="0"/>
                        <a:t>如果变量</a:t>
                      </a:r>
                      <a:r>
                        <a:rPr lang="en-US" altLang="zh-CN" sz="1800" smtClean="0"/>
                        <a:t>x</a:t>
                      </a:r>
                      <a:r>
                        <a:rPr lang="zh-CN" altLang="en-US" sz="1800" smtClean="0"/>
                        <a:t>已在</a:t>
                      </a:r>
                      <a:r>
                        <a:rPr lang="en-US" altLang="zh-CN" sz="1800" smtClean="0"/>
                        <a:t>parent(C)</a:t>
                      </a:r>
                      <a:r>
                        <a:rPr lang="zh-CN" altLang="en-US" sz="1800" smtClean="0"/>
                        <a:t>中声明，那就移除其在子类</a:t>
                      </a:r>
                      <a:r>
                        <a:rPr lang="en-US" altLang="zh-CN" sz="1800" smtClean="0"/>
                        <a:t>C</a:t>
                      </a:r>
                      <a:r>
                        <a:rPr lang="zh-CN" altLang="en-US" sz="1800" smtClean="0"/>
                        <a:t>中的声明</a:t>
                      </a:r>
                      <a:endParaRPr lang="zh-CN" altLang="en-US" sz="1800"/>
                    </a:p>
                  </a:txBody>
                  <a:tcPr marT="36000" marB="36000"/>
                </a:tc>
              </a:tr>
              <a:tr h="370840">
                <a:tc>
                  <a:txBody>
                    <a:bodyPr/>
                    <a:lstStyle/>
                    <a:p>
                      <a:pPr algn="ctr">
                        <a:spcBef>
                          <a:spcPts val="300"/>
                        </a:spcBef>
                        <a:spcAft>
                          <a:spcPts val="300"/>
                        </a:spcAft>
                      </a:pPr>
                      <a:r>
                        <a:rPr lang="en-US" altLang="zh-CN" sz="1800" smtClean="0"/>
                        <a:t>IHI</a:t>
                      </a:r>
                      <a:endParaRPr lang="zh-CN" altLang="en-US" sz="1800"/>
                    </a:p>
                  </a:txBody>
                  <a:tcPr marT="36000" marB="36000"/>
                </a:tc>
                <a:tc>
                  <a:txBody>
                    <a:bodyPr/>
                    <a:lstStyle/>
                    <a:p>
                      <a:pPr algn="ctr">
                        <a:spcBef>
                          <a:spcPts val="300"/>
                        </a:spcBef>
                        <a:spcAft>
                          <a:spcPts val="300"/>
                        </a:spcAft>
                      </a:pPr>
                      <a:r>
                        <a:rPr lang="zh-CN" altLang="en-US" sz="1800" smtClean="0"/>
                        <a:t>子类</a:t>
                      </a:r>
                      <a:endParaRPr lang="zh-CN" altLang="en-US" sz="1800"/>
                    </a:p>
                  </a:txBody>
                  <a:tcPr marT="36000" marB="36000"/>
                </a:tc>
                <a:tc>
                  <a:txBody>
                    <a:bodyPr/>
                    <a:lstStyle/>
                    <a:p>
                      <a:pPr>
                        <a:spcBef>
                          <a:spcPts val="300"/>
                        </a:spcBef>
                        <a:spcAft>
                          <a:spcPts val="300"/>
                        </a:spcAft>
                      </a:pPr>
                      <a:r>
                        <a:rPr lang="zh-CN" altLang="en-US" sz="1800" smtClean="0"/>
                        <a:t>如果变量</a:t>
                      </a:r>
                      <a:r>
                        <a:rPr lang="en-US" altLang="zh-CN" sz="1800" smtClean="0"/>
                        <a:t>x</a:t>
                      </a:r>
                      <a:r>
                        <a:rPr lang="zh-CN" altLang="en-US" sz="1800" smtClean="0"/>
                        <a:t>已在</a:t>
                      </a:r>
                      <a:r>
                        <a:rPr lang="en-US" altLang="zh-CN" sz="1800" smtClean="0"/>
                        <a:t>parent(C)</a:t>
                      </a:r>
                      <a:r>
                        <a:rPr lang="zh-CN" altLang="en-US" sz="1800" smtClean="0"/>
                        <a:t>中声明，那就在子类</a:t>
                      </a:r>
                      <a:r>
                        <a:rPr lang="en-US" altLang="zh-CN" sz="1800" smtClean="0"/>
                        <a:t>C</a:t>
                      </a:r>
                      <a:r>
                        <a:rPr lang="zh-CN" altLang="en-US" sz="1800" smtClean="0"/>
                        <a:t>中增加一个</a:t>
                      </a:r>
                      <a:r>
                        <a:rPr lang="en-US" altLang="zh-CN" sz="1800" smtClean="0"/>
                        <a:t>x</a:t>
                      </a:r>
                      <a:r>
                        <a:rPr lang="zh-CN" altLang="en-US" sz="1800" smtClean="0"/>
                        <a:t>的声明</a:t>
                      </a:r>
                      <a:endParaRPr lang="zh-CN" altLang="en-US" sz="1800"/>
                    </a:p>
                  </a:txBody>
                  <a:tcPr marT="36000" marB="36000"/>
                </a:tc>
              </a:tr>
              <a:tr h="370840">
                <a:tc>
                  <a:txBody>
                    <a:bodyPr/>
                    <a:lstStyle/>
                    <a:p>
                      <a:pPr algn="ctr">
                        <a:spcBef>
                          <a:spcPts val="300"/>
                        </a:spcBef>
                        <a:spcAft>
                          <a:spcPts val="300"/>
                        </a:spcAft>
                      </a:pPr>
                      <a:r>
                        <a:rPr lang="en-US" altLang="zh-CN" sz="1800" smtClean="0"/>
                        <a:t>IOD</a:t>
                      </a:r>
                      <a:endParaRPr lang="zh-CN" altLang="en-US" sz="1800"/>
                    </a:p>
                  </a:txBody>
                  <a:tcPr marT="36000" marB="36000"/>
                </a:tc>
                <a:tc>
                  <a:txBody>
                    <a:bodyPr/>
                    <a:lstStyle/>
                    <a:p>
                      <a:pPr algn="ctr">
                        <a:spcBef>
                          <a:spcPts val="300"/>
                        </a:spcBef>
                        <a:spcAft>
                          <a:spcPts val="300"/>
                        </a:spcAft>
                      </a:pPr>
                      <a:r>
                        <a:rPr lang="zh-CN" altLang="en-US" sz="1800" smtClean="0"/>
                        <a:t>方法</a:t>
                      </a:r>
                      <a:endParaRPr lang="zh-CN" altLang="en-US" sz="1800"/>
                    </a:p>
                  </a:txBody>
                  <a:tcPr marT="36000" marB="36000"/>
                </a:tc>
                <a:tc>
                  <a:txBody>
                    <a:bodyPr/>
                    <a:lstStyle/>
                    <a:p>
                      <a:pPr marL="0" marR="0" indent="0" algn="l" defTabSz="914400" rtl="0" eaLnBrk="1" fontAlgn="auto" latinLnBrk="0" hangingPunct="1">
                        <a:lnSpc>
                          <a:spcPct val="100000"/>
                        </a:lnSpc>
                        <a:spcBef>
                          <a:spcPts val="300"/>
                        </a:spcBef>
                        <a:spcAft>
                          <a:spcPts val="300"/>
                        </a:spcAft>
                        <a:buClrTx/>
                        <a:buSzTx/>
                        <a:buFontTx/>
                        <a:buNone/>
                        <a:defRPr/>
                      </a:pPr>
                      <a:r>
                        <a:rPr lang="zh-CN" altLang="en-US" sz="1800" smtClean="0"/>
                        <a:t>如果方法</a:t>
                      </a:r>
                      <a:r>
                        <a:rPr lang="en-US" altLang="zh-CN" sz="1800" smtClean="0"/>
                        <a:t>m</a:t>
                      </a:r>
                      <a:r>
                        <a:rPr lang="zh-CN" altLang="en-US" sz="1800" smtClean="0"/>
                        <a:t>已在</a:t>
                      </a:r>
                      <a:r>
                        <a:rPr lang="en-US" altLang="zh-CN" sz="1800" smtClean="0"/>
                        <a:t>parent(C)</a:t>
                      </a:r>
                      <a:r>
                        <a:rPr lang="zh-CN" altLang="en-US" sz="1800" smtClean="0"/>
                        <a:t>中声明，那就移除其在子类</a:t>
                      </a:r>
                      <a:r>
                        <a:rPr lang="en-US" altLang="zh-CN" sz="1800" smtClean="0"/>
                        <a:t>C</a:t>
                      </a:r>
                      <a:r>
                        <a:rPr lang="zh-CN" altLang="en-US" sz="1800" smtClean="0"/>
                        <a:t>中的声明</a:t>
                      </a:r>
                      <a:endParaRPr lang="zh-CN" altLang="en-US" sz="1800" smtClean="0"/>
                    </a:p>
                  </a:txBody>
                  <a:tcPr marT="36000" marB="36000"/>
                </a:tc>
              </a:tr>
              <a:tr h="370840">
                <a:tc>
                  <a:txBody>
                    <a:bodyPr/>
                    <a:lstStyle/>
                    <a:p>
                      <a:pPr algn="ctr">
                        <a:spcBef>
                          <a:spcPts val="300"/>
                        </a:spcBef>
                        <a:spcAft>
                          <a:spcPts val="300"/>
                        </a:spcAft>
                      </a:pPr>
                      <a:r>
                        <a:rPr lang="en-US" altLang="zh-CN" sz="1800" smtClean="0"/>
                        <a:t>IOP</a:t>
                      </a:r>
                      <a:endParaRPr lang="zh-CN" altLang="en-US" sz="1800"/>
                    </a:p>
                  </a:txBody>
                  <a:tcPr marT="36000" marB="36000"/>
                </a:tc>
                <a:tc>
                  <a:txBody>
                    <a:bodyPr/>
                    <a:lstStyle/>
                    <a:p>
                      <a:pPr algn="ctr">
                        <a:spcBef>
                          <a:spcPts val="300"/>
                        </a:spcBef>
                        <a:spcAft>
                          <a:spcPts val="300"/>
                        </a:spcAft>
                      </a:pPr>
                      <a:r>
                        <a:rPr lang="zh-CN" altLang="en-US" sz="1800" smtClean="0"/>
                        <a:t>方法</a:t>
                      </a:r>
                      <a:endParaRPr lang="zh-CN" altLang="en-US" sz="1800"/>
                    </a:p>
                  </a:txBody>
                  <a:tcPr marT="36000" marB="36000"/>
                </a:tc>
                <a:tc>
                  <a:txBody>
                    <a:bodyPr/>
                    <a:lstStyle/>
                    <a:p>
                      <a:pPr>
                        <a:spcBef>
                          <a:spcPts val="300"/>
                        </a:spcBef>
                        <a:spcAft>
                          <a:spcPts val="300"/>
                        </a:spcAft>
                      </a:pPr>
                      <a:r>
                        <a:rPr lang="zh-CN" altLang="en-US" sz="1800" smtClean="0"/>
                        <a:t>在子类的方法中，把一个形如</a:t>
                      </a:r>
                      <a:r>
                        <a:rPr lang="en-US" altLang="zh-CN" sz="1800" smtClean="0"/>
                        <a:t>super.M(...)</a:t>
                      </a:r>
                      <a:r>
                        <a:rPr lang="zh-CN" altLang="en-US" sz="1800" smtClean="0"/>
                        <a:t>的调用上移一句；下移一句；移至</a:t>
                      </a:r>
                      <a:r>
                        <a:rPr lang="en-US" altLang="zh-CN" sz="1800" smtClean="0"/>
                        <a:t>m</a:t>
                      </a:r>
                      <a:r>
                        <a:rPr lang="zh-CN" altLang="en-US" sz="1800" smtClean="0"/>
                        <a:t>方法体开始；移至</a:t>
                      </a:r>
                      <a:r>
                        <a:rPr lang="en-US" altLang="zh-CN" sz="1800" smtClean="0"/>
                        <a:t>m</a:t>
                      </a:r>
                      <a:r>
                        <a:rPr lang="zh-CN" altLang="en-US" sz="1800" smtClean="0"/>
                        <a:t>方法体结尾</a:t>
                      </a:r>
                      <a:endParaRPr lang="zh-CN" altLang="en-US" sz="1800"/>
                    </a:p>
                  </a:txBody>
                  <a:tcPr marT="36000" marB="36000"/>
                </a:tc>
              </a:tr>
              <a:tr h="370840">
                <a:tc>
                  <a:txBody>
                    <a:bodyPr/>
                    <a:lstStyle/>
                    <a:p>
                      <a:pPr algn="ctr">
                        <a:spcBef>
                          <a:spcPts val="300"/>
                        </a:spcBef>
                        <a:spcAft>
                          <a:spcPts val="300"/>
                        </a:spcAft>
                      </a:pPr>
                      <a:r>
                        <a:rPr lang="en-US" altLang="zh-CN" sz="1800" smtClean="0"/>
                        <a:t>IOR</a:t>
                      </a:r>
                      <a:endParaRPr lang="zh-CN" altLang="en-US" sz="1800"/>
                    </a:p>
                  </a:txBody>
                  <a:tcPr marT="36000" marB="36000"/>
                </a:tc>
                <a:tc>
                  <a:txBody>
                    <a:bodyPr/>
                    <a:lstStyle/>
                    <a:p>
                      <a:pPr algn="ctr">
                        <a:spcBef>
                          <a:spcPts val="300"/>
                        </a:spcBef>
                        <a:spcAft>
                          <a:spcPts val="300"/>
                        </a:spcAft>
                      </a:pPr>
                      <a:r>
                        <a:rPr lang="zh-CN" altLang="en-US" sz="1800" smtClean="0"/>
                        <a:t>方法</a:t>
                      </a:r>
                      <a:endParaRPr lang="zh-CN" altLang="en-US" sz="1800"/>
                    </a:p>
                  </a:txBody>
                  <a:tcPr marT="36000" marB="36000"/>
                </a:tc>
                <a:tc>
                  <a:txBody>
                    <a:bodyPr/>
                    <a:lstStyle/>
                    <a:p>
                      <a:pPr>
                        <a:spcBef>
                          <a:spcPts val="300"/>
                        </a:spcBef>
                        <a:spcAft>
                          <a:spcPts val="300"/>
                        </a:spcAft>
                      </a:pPr>
                      <a:r>
                        <a:rPr lang="zh-CN" altLang="en-US" sz="1800" smtClean="0"/>
                        <a:t>如果方法</a:t>
                      </a:r>
                      <a:r>
                        <a:rPr lang="en-US" altLang="zh-CN" sz="1800" smtClean="0"/>
                        <a:t>f1</a:t>
                      </a:r>
                      <a:r>
                        <a:rPr lang="zh-CN" altLang="en-US" sz="1800" smtClean="0"/>
                        <a:t>调用</a:t>
                      </a:r>
                      <a:r>
                        <a:rPr lang="en-US" altLang="zh-CN" sz="1800" smtClean="0"/>
                        <a:t>parent(C)</a:t>
                      </a:r>
                      <a:r>
                        <a:rPr lang="zh-CN" altLang="en-US" sz="1800" smtClean="0"/>
                        <a:t>中的方法</a:t>
                      </a:r>
                      <a:r>
                        <a:rPr lang="en-US" altLang="zh-CN" sz="1800" smtClean="0"/>
                        <a:t>f2</a:t>
                      </a:r>
                      <a:r>
                        <a:rPr lang="zh-CN" altLang="en-US" sz="1800" smtClean="0"/>
                        <a:t>，且</a:t>
                      </a:r>
                      <a:r>
                        <a:rPr lang="en-US" altLang="zh-CN" sz="1800" smtClean="0"/>
                        <a:t>f2</a:t>
                      </a:r>
                      <a:r>
                        <a:rPr lang="zh-CN" altLang="en-US" sz="1800" smtClean="0"/>
                        <a:t>在子类</a:t>
                      </a:r>
                      <a:r>
                        <a:rPr lang="en-US" altLang="zh-CN" sz="1800" smtClean="0"/>
                        <a:t>C</a:t>
                      </a:r>
                      <a:r>
                        <a:rPr lang="zh-CN" altLang="en-US" sz="1800" smtClean="0"/>
                        <a:t>中有覆写定义，那就把</a:t>
                      </a:r>
                      <a:r>
                        <a:rPr lang="en-US" altLang="zh-CN" sz="1800" smtClean="0"/>
                        <a:t>f2</a:t>
                      </a:r>
                      <a:r>
                        <a:rPr lang="zh-CN" altLang="en-US" sz="1800" smtClean="0"/>
                        <a:t>重命名为</a:t>
                      </a:r>
                      <a:r>
                        <a:rPr lang="en-US" altLang="zh-CN" sz="1800" smtClean="0"/>
                        <a:t>f2’</a:t>
                      </a:r>
                      <a:endParaRPr lang="zh-CN" altLang="en-US" sz="1800"/>
                    </a:p>
                  </a:txBody>
                  <a:tcPr marT="36000" marB="36000"/>
                </a:tc>
              </a:tr>
              <a:tr h="370840">
                <a:tc>
                  <a:txBody>
                    <a:bodyPr/>
                    <a:lstStyle/>
                    <a:p>
                      <a:pPr algn="ctr">
                        <a:spcBef>
                          <a:spcPts val="300"/>
                        </a:spcBef>
                        <a:spcAft>
                          <a:spcPts val="300"/>
                        </a:spcAft>
                      </a:pPr>
                      <a:r>
                        <a:rPr lang="en-US" altLang="zh-CN" sz="1800" smtClean="0"/>
                        <a:t>ISK</a:t>
                      </a:r>
                      <a:endParaRPr lang="zh-CN" altLang="en-US" sz="1800"/>
                    </a:p>
                  </a:txBody>
                  <a:tcPr marT="36000" marB="36000"/>
                </a:tc>
                <a:tc>
                  <a:txBody>
                    <a:bodyPr/>
                    <a:lstStyle/>
                    <a:p>
                      <a:pPr algn="ctr">
                        <a:spcBef>
                          <a:spcPts val="300"/>
                        </a:spcBef>
                        <a:spcAft>
                          <a:spcPts val="300"/>
                        </a:spcAft>
                      </a:pPr>
                      <a:r>
                        <a:rPr lang="zh-CN" altLang="en-US" sz="1800" smtClean="0"/>
                        <a:t>对父类的访问</a:t>
                      </a:r>
                      <a:endParaRPr lang="zh-CN" altLang="en-US" sz="1800"/>
                    </a:p>
                  </a:txBody>
                  <a:tcPr marT="36000" marB="36000"/>
                </a:tc>
                <a:tc>
                  <a:txBody>
                    <a:bodyPr/>
                    <a:lstStyle/>
                    <a:p>
                      <a:pPr>
                        <a:spcBef>
                          <a:spcPts val="300"/>
                        </a:spcBef>
                        <a:spcAft>
                          <a:spcPts val="300"/>
                        </a:spcAft>
                      </a:pPr>
                      <a:endParaRPr lang="zh-CN" altLang="en-US" sz="1800"/>
                    </a:p>
                  </a:txBody>
                  <a:tcPr marT="36000" marB="36000"/>
                </a:tc>
              </a:tr>
              <a:tr h="370840">
                <a:tc>
                  <a:txBody>
                    <a:bodyPr/>
                    <a:lstStyle/>
                    <a:p>
                      <a:pPr algn="ctr">
                        <a:spcBef>
                          <a:spcPts val="300"/>
                        </a:spcBef>
                        <a:spcAft>
                          <a:spcPts val="300"/>
                        </a:spcAft>
                      </a:pPr>
                      <a:r>
                        <a:rPr lang="en-US" altLang="zh-CN" sz="1800" smtClean="0"/>
                        <a:t>IPC</a:t>
                      </a:r>
                      <a:endParaRPr lang="zh-CN" altLang="en-US" sz="1800"/>
                    </a:p>
                  </a:txBody>
                  <a:tcPr marT="36000" marB="36000"/>
                </a:tc>
                <a:tc>
                  <a:txBody>
                    <a:bodyPr/>
                    <a:lstStyle/>
                    <a:p>
                      <a:pPr algn="ctr">
                        <a:spcBef>
                          <a:spcPts val="300"/>
                        </a:spcBef>
                        <a:spcAft>
                          <a:spcPts val="300"/>
                        </a:spcAft>
                      </a:pPr>
                      <a:r>
                        <a:rPr lang="en-US" altLang="zh-CN" sz="1800" smtClean="0"/>
                        <a:t>Super</a:t>
                      </a:r>
                      <a:r>
                        <a:rPr lang="zh-CN" altLang="en-US" sz="1800" smtClean="0"/>
                        <a:t>调用</a:t>
                      </a:r>
                      <a:endParaRPr lang="zh-CN" altLang="en-US" sz="1800"/>
                    </a:p>
                  </a:txBody>
                  <a:tcPr marT="36000" marB="36000"/>
                </a:tc>
                <a:tc>
                  <a:txBody>
                    <a:bodyPr/>
                    <a:lstStyle/>
                    <a:p>
                      <a:pPr>
                        <a:spcBef>
                          <a:spcPts val="300"/>
                        </a:spcBef>
                        <a:spcAft>
                          <a:spcPts val="300"/>
                        </a:spcAft>
                      </a:pPr>
                      <a:r>
                        <a:rPr lang="zh-CN" altLang="en-US" sz="1800" smtClean="0"/>
                        <a:t>删除子类</a:t>
                      </a:r>
                      <a:r>
                        <a:rPr lang="en-US" altLang="zh-CN" sz="1800" smtClean="0"/>
                        <a:t>C</a:t>
                      </a:r>
                      <a:r>
                        <a:rPr lang="zh-CN" altLang="en-US" sz="1800" smtClean="0"/>
                        <a:t>构造函数中的</a:t>
                      </a:r>
                      <a:r>
                        <a:rPr lang="en-US" altLang="zh-CN" sz="1800" smtClean="0"/>
                        <a:t>super</a:t>
                      </a:r>
                      <a:r>
                        <a:rPr lang="zh-CN" altLang="en-US" sz="1800" smtClean="0"/>
                        <a:t>关键字</a:t>
                      </a:r>
                      <a:endParaRPr lang="zh-CN" altLang="en-US" sz="1800"/>
                    </a:p>
                  </a:txBody>
                  <a:tcPr marT="36000" marB="36000"/>
                </a:tc>
              </a:tr>
            </a:tbl>
          </a:graphicData>
        </a:graphic>
      </p:graphicFrame>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a:xfrm>
            <a:off x="838200" y="1299845"/>
            <a:ext cx="10515600" cy="4877435"/>
          </a:xfrm>
        </p:spPr>
        <p:txBody>
          <a:bodyPr/>
          <a:lstStyle/>
          <a:p>
            <a:r>
              <a:rPr lang="zh-CN" altLang="en-US" smtClean="0"/>
              <a:t>实例：模拟对象为与继承相关的错误</a:t>
            </a:r>
            <a:endParaRPr lang="zh-CN" altLang="en-US" smtClean="0"/>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6" name="矩形 5"/>
          <p:cNvSpPr/>
          <p:nvPr/>
        </p:nvSpPr>
        <p:spPr>
          <a:xfrm>
            <a:off x="1752600" y="3375423"/>
            <a:ext cx="3733800" cy="2585323"/>
          </a:xfrm>
          <a:prstGeom prst="rect">
            <a:avLst/>
          </a:prstGeom>
          <a:ln>
            <a:solidFill>
              <a:srgbClr val="00B0F0"/>
            </a:solidFill>
          </a:ln>
        </p:spPr>
        <p:txBody>
          <a:bodyPr wrap="square">
            <a:spAutoFit/>
          </a:bodyPr>
          <a:lstStyle/>
          <a:p>
            <a:r>
              <a:rPr lang="en-US" altLang="zh-CN" i="0" smtClean="0"/>
              <a:t> </a:t>
            </a:r>
            <a:r>
              <a:rPr lang="en-US" altLang="zh-CN" b="1" i="0" smtClean="0">
                <a:solidFill>
                  <a:srgbClr val="0000FF"/>
                </a:solidFill>
              </a:rPr>
              <a:t>class</a:t>
            </a:r>
            <a:r>
              <a:rPr lang="en-US" altLang="zh-CN" b="1" i="0" smtClean="0"/>
              <a:t> Planet{</a:t>
            </a:r>
            <a:endParaRPr lang="en-US" altLang="zh-CN" b="1" i="0" smtClean="0"/>
          </a:p>
          <a:p>
            <a:r>
              <a:rPr lang="en-US" altLang="zh-CN" i="0" smtClean="0"/>
              <a:t>    </a:t>
            </a:r>
            <a:r>
              <a:rPr lang="en-US" altLang="zh-CN" b="1" i="0" smtClean="0">
                <a:solidFill>
                  <a:srgbClr val="0000FF"/>
                </a:solidFill>
              </a:rPr>
              <a:t>double</a:t>
            </a:r>
            <a:r>
              <a:rPr lang="en-US" altLang="zh-CN" b="1" i="0" smtClean="0"/>
              <a:t> dist;</a:t>
            </a:r>
            <a:endParaRPr lang="en-US" altLang="zh-CN" b="1" i="0" smtClean="0"/>
          </a:p>
          <a:p>
            <a:r>
              <a:rPr lang="en-US" altLang="zh-CN" b="1" i="0" smtClean="0"/>
              <a:t>    ...</a:t>
            </a:r>
            <a:endParaRPr lang="en-US" altLang="zh-CN" i="0" u="sng" smtClean="0"/>
          </a:p>
          <a:p>
            <a:r>
              <a:rPr lang="zh-CN" altLang="en-US" i="0" smtClean="0"/>
              <a:t> </a:t>
            </a:r>
            <a:r>
              <a:rPr lang="en-US" altLang="zh-CN" i="0" smtClean="0"/>
              <a:t>}</a:t>
            </a:r>
            <a:endParaRPr lang="en-US" altLang="zh-CN" i="0" smtClean="0"/>
          </a:p>
          <a:p>
            <a:r>
              <a:rPr lang="zh-CN" altLang="en-US" i="0" smtClean="0"/>
              <a:t> </a:t>
            </a:r>
            <a:endParaRPr lang="zh-CN" altLang="en-US" i="0" smtClean="0"/>
          </a:p>
          <a:p>
            <a:r>
              <a:rPr lang="en-US" altLang="zh-CN" i="0" smtClean="0"/>
              <a:t> </a:t>
            </a:r>
            <a:r>
              <a:rPr lang="en-US" altLang="zh-CN" b="1" i="0" smtClean="0">
                <a:solidFill>
                  <a:srgbClr val="0000FF"/>
                </a:solidFill>
              </a:rPr>
              <a:t>class</a:t>
            </a:r>
            <a:r>
              <a:rPr lang="en-US" altLang="zh-CN" b="1" i="0" smtClean="0"/>
              <a:t> FarPlanet </a:t>
            </a:r>
            <a:r>
              <a:rPr lang="en-US" altLang="zh-CN" b="1" i="0" smtClean="0">
                <a:solidFill>
                  <a:srgbClr val="0000FF"/>
                </a:solidFill>
              </a:rPr>
              <a:t>extends</a:t>
            </a:r>
            <a:r>
              <a:rPr lang="en-US" altLang="zh-CN" b="1" i="0" smtClean="0"/>
              <a:t> Planet{</a:t>
            </a:r>
            <a:endParaRPr lang="en-US" altLang="zh-CN" b="1" i="0" smtClean="0"/>
          </a:p>
          <a:p>
            <a:r>
              <a:rPr lang="en-US" altLang="zh-CN" i="0" smtClean="0"/>
              <a:t>    </a:t>
            </a:r>
            <a:r>
              <a:rPr lang="en-US" altLang="zh-CN" b="1" i="0" smtClean="0">
                <a:solidFill>
                  <a:srgbClr val="0000FF"/>
                </a:solidFill>
              </a:rPr>
              <a:t>double</a:t>
            </a:r>
            <a:r>
              <a:rPr lang="en-US" altLang="zh-CN" b="1" i="0" smtClean="0"/>
              <a:t> dist;</a:t>
            </a:r>
            <a:endParaRPr lang="en-US" altLang="zh-CN" b="1" i="0" smtClean="0"/>
          </a:p>
          <a:p>
            <a:r>
              <a:rPr lang="en-US" altLang="zh-CN" b="1" i="0" smtClean="0"/>
              <a:t>    ...</a:t>
            </a:r>
            <a:endParaRPr lang="en-US" altLang="zh-CN" i="0" u="sng" smtClean="0"/>
          </a:p>
          <a:p>
            <a:r>
              <a:rPr lang="zh-CN" altLang="en-US" i="0" smtClean="0"/>
              <a:t> </a:t>
            </a:r>
            <a:r>
              <a:rPr lang="en-US" altLang="zh-CN" i="0" smtClean="0"/>
              <a:t>}</a:t>
            </a:r>
            <a:endParaRPr lang="zh-CN" altLang="en-US" i="0"/>
          </a:p>
        </p:txBody>
      </p:sp>
      <p:sp>
        <p:nvSpPr>
          <p:cNvPr id="7" name="矩形 6"/>
          <p:cNvSpPr/>
          <p:nvPr/>
        </p:nvSpPr>
        <p:spPr>
          <a:xfrm>
            <a:off x="6705600" y="3375423"/>
            <a:ext cx="3733800" cy="2585323"/>
          </a:xfrm>
          <a:prstGeom prst="rect">
            <a:avLst/>
          </a:prstGeom>
          <a:ln>
            <a:solidFill>
              <a:srgbClr val="00B0F0"/>
            </a:solidFill>
          </a:ln>
        </p:spPr>
        <p:txBody>
          <a:bodyPr wrap="square">
            <a:spAutoFit/>
          </a:bodyPr>
          <a:lstStyle/>
          <a:p>
            <a:r>
              <a:rPr lang="en-US" altLang="zh-CN" i="0" smtClean="0"/>
              <a:t> </a:t>
            </a:r>
            <a:r>
              <a:rPr lang="en-US" altLang="zh-CN" b="1" i="0" smtClean="0">
                <a:solidFill>
                  <a:srgbClr val="0000FF"/>
                </a:solidFill>
              </a:rPr>
              <a:t>class</a:t>
            </a:r>
            <a:r>
              <a:rPr lang="en-US" altLang="zh-CN" b="1" i="0" smtClean="0"/>
              <a:t> Planet{</a:t>
            </a:r>
            <a:endParaRPr lang="en-US" altLang="zh-CN" b="1" i="0" smtClean="0"/>
          </a:p>
          <a:p>
            <a:r>
              <a:rPr lang="en-US" altLang="zh-CN" i="0" smtClean="0"/>
              <a:t>    </a:t>
            </a:r>
            <a:r>
              <a:rPr lang="en-US" altLang="zh-CN" b="1" i="0" smtClean="0">
                <a:solidFill>
                  <a:srgbClr val="0000FF"/>
                </a:solidFill>
              </a:rPr>
              <a:t>double</a:t>
            </a:r>
            <a:r>
              <a:rPr lang="en-US" altLang="zh-CN" b="1" i="0" smtClean="0"/>
              <a:t> dist;</a:t>
            </a:r>
            <a:endParaRPr lang="en-US" altLang="zh-CN" b="1" i="0" smtClean="0"/>
          </a:p>
          <a:p>
            <a:r>
              <a:rPr lang="en-US" altLang="zh-CN" b="1" i="0" smtClean="0"/>
              <a:t>    ...</a:t>
            </a:r>
            <a:endParaRPr lang="en-US" altLang="zh-CN" i="0" u="sng" smtClean="0"/>
          </a:p>
          <a:p>
            <a:r>
              <a:rPr lang="zh-CN" altLang="en-US" i="0" smtClean="0"/>
              <a:t> </a:t>
            </a:r>
            <a:r>
              <a:rPr lang="en-US" altLang="zh-CN" i="0" smtClean="0"/>
              <a:t>}</a:t>
            </a:r>
            <a:endParaRPr lang="en-US" altLang="zh-CN" i="0" smtClean="0"/>
          </a:p>
          <a:p>
            <a:r>
              <a:rPr lang="zh-CN" altLang="en-US" i="0" smtClean="0"/>
              <a:t> </a:t>
            </a:r>
            <a:endParaRPr lang="zh-CN" altLang="en-US" i="0" smtClean="0"/>
          </a:p>
          <a:p>
            <a:r>
              <a:rPr lang="en-US" altLang="zh-CN" i="0" smtClean="0"/>
              <a:t> </a:t>
            </a:r>
            <a:r>
              <a:rPr lang="en-US" altLang="zh-CN" b="1" i="0" smtClean="0">
                <a:solidFill>
                  <a:srgbClr val="0000FF"/>
                </a:solidFill>
              </a:rPr>
              <a:t>class</a:t>
            </a:r>
            <a:r>
              <a:rPr lang="en-US" altLang="zh-CN" b="1" i="0" smtClean="0"/>
              <a:t> FarPlanet </a:t>
            </a:r>
            <a:r>
              <a:rPr lang="en-US" altLang="zh-CN" b="1" i="0" smtClean="0">
                <a:solidFill>
                  <a:srgbClr val="0000FF"/>
                </a:solidFill>
              </a:rPr>
              <a:t>extends</a:t>
            </a:r>
            <a:r>
              <a:rPr lang="en-US" altLang="zh-CN" b="1" i="0" smtClean="0"/>
              <a:t> Planet{</a:t>
            </a:r>
            <a:endParaRPr lang="en-US" altLang="zh-CN" b="1" i="0" smtClean="0"/>
          </a:p>
          <a:p>
            <a:r>
              <a:rPr lang="en-US" altLang="zh-CN" i="0" smtClean="0"/>
              <a:t>    </a:t>
            </a:r>
            <a:r>
              <a:rPr lang="en-US" altLang="zh-CN" b="1" i="0" smtClean="0"/>
              <a:t>//</a:t>
            </a:r>
            <a:r>
              <a:rPr lang="zh-CN" altLang="en-US" b="1" i="0" smtClean="0"/>
              <a:t>删除声明</a:t>
            </a:r>
            <a:endParaRPr lang="en-US" altLang="zh-CN" b="1" i="0" smtClean="0"/>
          </a:p>
          <a:p>
            <a:r>
              <a:rPr lang="en-US" altLang="zh-CN" b="1" i="0" smtClean="0"/>
              <a:t>    ...</a:t>
            </a:r>
            <a:endParaRPr lang="en-US" altLang="zh-CN" i="0" u="sng" smtClean="0"/>
          </a:p>
          <a:p>
            <a:r>
              <a:rPr lang="zh-CN" altLang="en-US" i="0" smtClean="0"/>
              <a:t> </a:t>
            </a:r>
            <a:r>
              <a:rPr lang="en-US" altLang="zh-CN" i="0" smtClean="0"/>
              <a:t>}</a:t>
            </a:r>
            <a:endParaRPr lang="zh-CN" altLang="en-US" i="0"/>
          </a:p>
        </p:txBody>
      </p:sp>
      <p:sp>
        <p:nvSpPr>
          <p:cNvPr id="8" name="右箭头 7"/>
          <p:cNvSpPr/>
          <p:nvPr/>
        </p:nvSpPr>
        <p:spPr bwMode="auto">
          <a:xfrm>
            <a:off x="5562600" y="4442222"/>
            <a:ext cx="10668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
        <p:nvSpPr>
          <p:cNvPr id="9" name="矩形 8"/>
          <p:cNvSpPr/>
          <p:nvPr/>
        </p:nvSpPr>
        <p:spPr>
          <a:xfrm>
            <a:off x="5791200" y="3985023"/>
            <a:ext cx="715260" cy="461665"/>
          </a:xfrm>
          <a:prstGeom prst="rect">
            <a:avLst/>
          </a:prstGeom>
        </p:spPr>
        <p:txBody>
          <a:bodyPr wrap="none">
            <a:spAutoFit/>
          </a:bodyPr>
          <a:lstStyle/>
          <a:p>
            <a:r>
              <a:rPr lang="en-US" altLang="zh-CN" sz="2400" i="0"/>
              <a:t>IHD</a:t>
            </a:r>
            <a:endParaRPr lang="zh-CN" altLang="en-US" sz="2400" i="0"/>
          </a:p>
        </p:txBody>
      </p:sp>
      <p:pic>
        <p:nvPicPr>
          <p:cNvPr id="50178" name="Picture 2"/>
          <p:cNvPicPr>
            <a:picLocks noChangeAspect="1" noChangeArrowheads="1"/>
          </p:cNvPicPr>
          <p:nvPr/>
        </p:nvPicPr>
        <p:blipFill>
          <a:blip r:embed="rId1"/>
          <a:srcRect/>
          <a:stretch>
            <a:fillRect/>
          </a:stretch>
        </p:blipFill>
        <p:spPr bwMode="auto">
          <a:xfrm>
            <a:off x="2057401" y="2150745"/>
            <a:ext cx="8203721" cy="685800"/>
          </a:xfrm>
          <a:prstGeom prst="rect">
            <a:avLst/>
          </a:prstGeom>
          <a:noFill/>
          <a:ln w="9525">
            <a:solidFill>
              <a:srgbClr val="00B050"/>
            </a:solidFill>
            <a:miter lim="800000"/>
            <a:headEnd/>
            <a:tailEnd/>
          </a:ln>
          <a:effec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p:txBody>
          <a:bodyPr/>
          <a:lstStyle/>
          <a:p>
            <a:r>
              <a:rPr lang="zh-CN" altLang="en-US" smtClean="0"/>
              <a:t>多态与动态绑定</a:t>
            </a:r>
            <a:endParaRPr lang="zh-CN" altLang="en-US" smtClean="0"/>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1905000" y="2361565"/>
          <a:ext cx="7772400" cy="3219360"/>
        </p:xfrm>
        <a:graphic>
          <a:graphicData uri="http://schemas.openxmlformats.org/drawingml/2006/table">
            <a:tbl>
              <a:tblPr firstRow="1" bandRow="1">
                <a:tableStyleId>{21E4AEA4-8DFA-4A89-87EB-49C32662AFE0}</a:tableStyleId>
              </a:tblPr>
              <a:tblGrid>
                <a:gridCol w="1295400"/>
                <a:gridCol w="1600200"/>
                <a:gridCol w="4876800"/>
              </a:tblGrid>
              <a:tr h="370840">
                <a:tc>
                  <a:txBody>
                    <a:bodyPr/>
                    <a:lstStyle/>
                    <a:p>
                      <a:pPr algn="ctr">
                        <a:spcBef>
                          <a:spcPts val="300"/>
                        </a:spcBef>
                        <a:spcAft>
                          <a:spcPts val="300"/>
                        </a:spcAft>
                      </a:pPr>
                      <a:r>
                        <a:rPr lang="zh-CN" altLang="en-US" sz="2000" smtClean="0"/>
                        <a:t>算子</a:t>
                      </a:r>
                      <a:endParaRPr lang="zh-CN" altLang="en-US" sz="2000"/>
                    </a:p>
                  </a:txBody>
                  <a:tcPr marT="72000" marB="72000"/>
                </a:tc>
                <a:tc>
                  <a:txBody>
                    <a:bodyPr/>
                    <a:lstStyle/>
                    <a:p>
                      <a:pPr algn="ctr">
                        <a:spcBef>
                          <a:spcPts val="300"/>
                        </a:spcBef>
                        <a:spcAft>
                          <a:spcPts val="300"/>
                        </a:spcAft>
                      </a:pPr>
                      <a:r>
                        <a:rPr lang="zh-CN" altLang="en-US" sz="2000" smtClean="0"/>
                        <a:t>定义域</a:t>
                      </a:r>
                      <a:endParaRPr lang="zh-CN" altLang="en-US" sz="2000"/>
                    </a:p>
                  </a:txBody>
                  <a:tcPr marT="72000" marB="72000"/>
                </a:tc>
                <a:tc>
                  <a:txBody>
                    <a:bodyPr/>
                    <a:lstStyle/>
                    <a:p>
                      <a:pPr algn="ctr">
                        <a:spcBef>
                          <a:spcPts val="300"/>
                        </a:spcBef>
                        <a:spcAft>
                          <a:spcPts val="300"/>
                        </a:spcAft>
                      </a:pPr>
                      <a:r>
                        <a:rPr lang="zh-CN" altLang="en-US" sz="2000" smtClean="0"/>
                        <a:t>说明</a:t>
                      </a:r>
                      <a:endParaRPr lang="zh-CN" altLang="en-US" sz="2000"/>
                    </a:p>
                  </a:txBody>
                  <a:tcPr marT="72000" marB="72000"/>
                </a:tc>
              </a:tr>
              <a:tr h="370840">
                <a:tc>
                  <a:txBody>
                    <a:bodyPr/>
                    <a:lstStyle/>
                    <a:p>
                      <a:pPr algn="ctr">
                        <a:spcBef>
                          <a:spcPts val="300"/>
                        </a:spcBef>
                        <a:spcAft>
                          <a:spcPts val="300"/>
                        </a:spcAft>
                      </a:pPr>
                      <a:r>
                        <a:rPr lang="en-US" altLang="zh-CN" sz="1800" smtClean="0"/>
                        <a:t>PMC</a:t>
                      </a:r>
                      <a:endParaRPr lang="zh-CN" altLang="en-US" sz="1800"/>
                    </a:p>
                  </a:txBody>
                  <a:tcPr marT="72000" marB="72000"/>
                </a:tc>
                <a:tc>
                  <a:txBody>
                    <a:bodyPr/>
                    <a:lstStyle/>
                    <a:p>
                      <a:pPr algn="ctr">
                        <a:spcBef>
                          <a:spcPts val="300"/>
                        </a:spcBef>
                        <a:spcAft>
                          <a:spcPts val="300"/>
                        </a:spcAft>
                      </a:pPr>
                      <a:r>
                        <a:rPr lang="zh-CN" altLang="en-US" sz="1800" smtClean="0"/>
                        <a:t>对象实例化</a:t>
                      </a:r>
                      <a:endParaRPr lang="zh-CN" altLang="en-US" sz="1800"/>
                    </a:p>
                  </a:txBody>
                  <a:tcPr marT="72000" marB="72000"/>
                </a:tc>
                <a:tc>
                  <a:txBody>
                    <a:bodyPr/>
                    <a:lstStyle/>
                    <a:p>
                      <a:pPr>
                        <a:spcBef>
                          <a:spcPts val="300"/>
                        </a:spcBef>
                        <a:spcAft>
                          <a:spcPts val="300"/>
                        </a:spcAft>
                      </a:pPr>
                      <a:r>
                        <a:rPr lang="zh-CN" altLang="en-US" sz="1800" smtClean="0"/>
                        <a:t>若</a:t>
                      </a:r>
                      <a:r>
                        <a:rPr lang="en-US" altLang="zh-CN" sz="1800" smtClean="0"/>
                        <a:t>t1</a:t>
                      </a:r>
                      <a:r>
                        <a:rPr lang="zh-CN" altLang="en-US" sz="1800" smtClean="0"/>
                        <a:t>为子类类型而</a:t>
                      </a:r>
                      <a:r>
                        <a:rPr lang="en-US" altLang="zh-CN" sz="1800" smtClean="0"/>
                        <a:t>t2</a:t>
                      </a:r>
                      <a:r>
                        <a:rPr lang="zh-CN" altLang="en-US" sz="1800" smtClean="0"/>
                        <a:t>为父类类型，当使用</a:t>
                      </a:r>
                      <a:r>
                        <a:rPr lang="en-US" altLang="zh-CN" sz="1800" smtClean="0"/>
                        <a:t>new</a:t>
                      </a:r>
                      <a:r>
                        <a:rPr lang="zh-CN" altLang="en-US" sz="1800" smtClean="0"/>
                        <a:t>进行对象实例化时，使用</a:t>
                      </a:r>
                      <a:r>
                        <a:rPr lang="en-US" altLang="zh-CN" sz="1800" smtClean="0"/>
                        <a:t>t2</a:t>
                      </a:r>
                      <a:r>
                        <a:rPr lang="zh-CN" altLang="en-US" sz="1800" smtClean="0"/>
                        <a:t>替换</a:t>
                      </a:r>
                      <a:r>
                        <a:rPr lang="en-US" altLang="zh-CN" sz="1800" smtClean="0"/>
                        <a:t>t1</a:t>
                      </a:r>
                      <a:endParaRPr lang="zh-CN" altLang="en-US" sz="1800"/>
                    </a:p>
                  </a:txBody>
                  <a:tcPr marT="72000" marB="72000"/>
                </a:tc>
              </a:tr>
              <a:tr h="370840">
                <a:tc>
                  <a:txBody>
                    <a:bodyPr/>
                    <a:lstStyle/>
                    <a:p>
                      <a:pPr algn="ctr">
                        <a:spcBef>
                          <a:spcPts val="300"/>
                        </a:spcBef>
                        <a:spcAft>
                          <a:spcPts val="300"/>
                        </a:spcAft>
                      </a:pPr>
                      <a:r>
                        <a:rPr lang="en-US" altLang="zh-CN" sz="1800" smtClean="0"/>
                        <a:t>PMD</a:t>
                      </a:r>
                      <a:endParaRPr lang="zh-CN" altLang="en-US" sz="1800"/>
                    </a:p>
                  </a:txBody>
                  <a:tcPr marT="72000" marB="72000"/>
                </a:tc>
                <a:tc>
                  <a:txBody>
                    <a:bodyPr/>
                    <a:lstStyle/>
                    <a:p>
                      <a:pPr algn="ctr">
                        <a:spcBef>
                          <a:spcPts val="300"/>
                        </a:spcBef>
                        <a:spcAft>
                          <a:spcPts val="300"/>
                        </a:spcAft>
                      </a:pPr>
                      <a:r>
                        <a:rPr lang="zh-CN" altLang="en-US" sz="1800" smtClean="0"/>
                        <a:t>对象声明</a:t>
                      </a:r>
                      <a:endParaRPr lang="zh-CN" altLang="en-US" sz="1800"/>
                    </a:p>
                  </a:txBody>
                  <a:tcPr marT="72000" marB="72000"/>
                </a:tc>
                <a:tc>
                  <a:txBody>
                    <a:bodyPr/>
                    <a:lstStyle/>
                    <a:p>
                      <a:pPr>
                        <a:spcBef>
                          <a:spcPts val="300"/>
                        </a:spcBef>
                        <a:spcAft>
                          <a:spcPts val="300"/>
                        </a:spcAft>
                      </a:pPr>
                      <a:r>
                        <a:rPr lang="zh-CN" altLang="en-US" sz="1800" smtClean="0"/>
                        <a:t>若对象</a:t>
                      </a:r>
                      <a:r>
                        <a:rPr lang="en-US" altLang="zh-CN" sz="1800" smtClean="0"/>
                        <a:t>x</a:t>
                      </a:r>
                      <a:r>
                        <a:rPr lang="zh-CN" altLang="en-US" sz="1800" smtClean="0"/>
                        <a:t>的类型为</a:t>
                      </a:r>
                      <a:r>
                        <a:rPr lang="en-US" altLang="zh-CN" sz="1800" smtClean="0"/>
                        <a:t>t1</a:t>
                      </a:r>
                      <a:r>
                        <a:rPr lang="zh-CN" altLang="en-US" sz="1800" smtClean="0"/>
                        <a:t>，则使用其父类</a:t>
                      </a:r>
                      <a:r>
                        <a:rPr lang="en-US" altLang="zh-CN" sz="1800" smtClean="0"/>
                        <a:t>t2</a:t>
                      </a:r>
                      <a:r>
                        <a:rPr lang="zh-CN" altLang="en-US" sz="1800" smtClean="0"/>
                        <a:t>替换它</a:t>
                      </a:r>
                      <a:endParaRPr lang="zh-CN" altLang="en-US" sz="1800"/>
                    </a:p>
                  </a:txBody>
                  <a:tcPr marT="72000" marB="72000"/>
                </a:tc>
              </a:tr>
              <a:tr h="370840">
                <a:tc>
                  <a:txBody>
                    <a:bodyPr/>
                    <a:lstStyle/>
                    <a:p>
                      <a:pPr algn="ctr">
                        <a:spcBef>
                          <a:spcPts val="300"/>
                        </a:spcBef>
                        <a:spcAft>
                          <a:spcPts val="300"/>
                        </a:spcAft>
                      </a:pPr>
                      <a:r>
                        <a:rPr lang="en-US" altLang="zh-CN" sz="1800" smtClean="0"/>
                        <a:t>PPD</a:t>
                      </a:r>
                      <a:endParaRPr lang="zh-CN" altLang="en-US" sz="1800"/>
                    </a:p>
                  </a:txBody>
                  <a:tcPr marT="72000" marB="72000"/>
                </a:tc>
                <a:tc>
                  <a:txBody>
                    <a:bodyPr/>
                    <a:lstStyle/>
                    <a:p>
                      <a:pPr algn="ctr">
                        <a:spcBef>
                          <a:spcPts val="300"/>
                        </a:spcBef>
                        <a:spcAft>
                          <a:spcPts val="300"/>
                        </a:spcAft>
                      </a:pPr>
                      <a:r>
                        <a:rPr lang="zh-CN" altLang="en-US" sz="1800" smtClean="0"/>
                        <a:t>参数</a:t>
                      </a:r>
                      <a:endParaRPr lang="zh-CN" altLang="en-US" sz="1800"/>
                    </a:p>
                  </a:txBody>
                  <a:tcPr marT="72000" marB="72000"/>
                </a:tc>
                <a:tc>
                  <a:txBody>
                    <a:bodyPr/>
                    <a:lstStyle/>
                    <a:p>
                      <a:pPr marL="0" marR="0" indent="0" algn="l" defTabSz="914400" rtl="0" eaLnBrk="1" fontAlgn="auto" latinLnBrk="0" hangingPunct="1">
                        <a:lnSpc>
                          <a:spcPct val="100000"/>
                        </a:lnSpc>
                        <a:spcBef>
                          <a:spcPts val="300"/>
                        </a:spcBef>
                        <a:spcAft>
                          <a:spcPts val="300"/>
                        </a:spcAft>
                        <a:buClrTx/>
                        <a:buSzTx/>
                        <a:buFontTx/>
                        <a:buNone/>
                        <a:defRPr/>
                      </a:pPr>
                      <a:r>
                        <a:rPr lang="zh-CN" altLang="en-US" sz="1800" smtClean="0"/>
                        <a:t>若对象</a:t>
                      </a:r>
                      <a:r>
                        <a:rPr lang="en-US" altLang="zh-CN" sz="1800" smtClean="0"/>
                        <a:t>x</a:t>
                      </a:r>
                      <a:r>
                        <a:rPr lang="zh-CN" altLang="en-US" sz="1800" smtClean="0"/>
                        <a:t>的类型为</a:t>
                      </a:r>
                      <a:r>
                        <a:rPr lang="en-US" altLang="zh-CN" sz="1800" smtClean="0"/>
                        <a:t>t1</a:t>
                      </a:r>
                      <a:r>
                        <a:rPr lang="zh-CN" altLang="en-US" sz="1800" smtClean="0"/>
                        <a:t>，其父类类型为</a:t>
                      </a:r>
                      <a:r>
                        <a:rPr lang="en-US" altLang="zh-CN" sz="1800" smtClean="0"/>
                        <a:t>t2</a:t>
                      </a:r>
                      <a:r>
                        <a:rPr lang="zh-CN" altLang="en-US" sz="1800" smtClean="0"/>
                        <a:t>，则当</a:t>
                      </a:r>
                      <a:r>
                        <a:rPr lang="en-US" altLang="zh-CN" sz="1800" smtClean="0"/>
                        <a:t>t1</a:t>
                      </a:r>
                      <a:r>
                        <a:rPr lang="zh-CN" altLang="en-US" sz="1800" smtClean="0"/>
                        <a:t>在方法的参数中出现时，用</a:t>
                      </a:r>
                      <a:r>
                        <a:rPr lang="en-US" altLang="zh-CN" sz="1800" smtClean="0"/>
                        <a:t>t2</a:t>
                      </a:r>
                      <a:r>
                        <a:rPr lang="zh-CN" altLang="en-US" sz="1800" smtClean="0"/>
                        <a:t>对其进行替换</a:t>
                      </a:r>
                      <a:endParaRPr lang="zh-CN" altLang="en-US" sz="1800" smtClean="0"/>
                    </a:p>
                  </a:txBody>
                  <a:tcPr marT="72000" marB="72000"/>
                </a:tc>
              </a:tr>
              <a:tr h="370840">
                <a:tc>
                  <a:txBody>
                    <a:bodyPr/>
                    <a:lstStyle/>
                    <a:p>
                      <a:pPr algn="ctr">
                        <a:spcBef>
                          <a:spcPts val="300"/>
                        </a:spcBef>
                        <a:spcAft>
                          <a:spcPts val="300"/>
                        </a:spcAft>
                      </a:pPr>
                      <a:r>
                        <a:rPr lang="en-US" altLang="zh-CN" sz="1800" smtClean="0"/>
                        <a:t>PRV</a:t>
                      </a:r>
                      <a:endParaRPr lang="zh-CN" altLang="en-US" sz="1800"/>
                    </a:p>
                  </a:txBody>
                  <a:tcPr marT="72000" marB="72000"/>
                </a:tc>
                <a:tc>
                  <a:txBody>
                    <a:bodyPr/>
                    <a:lstStyle/>
                    <a:p>
                      <a:pPr algn="ctr">
                        <a:spcBef>
                          <a:spcPts val="300"/>
                        </a:spcBef>
                        <a:spcAft>
                          <a:spcPts val="300"/>
                        </a:spcAft>
                      </a:pPr>
                      <a:r>
                        <a:rPr lang="zh-CN" altLang="en-US" sz="1800" smtClean="0"/>
                        <a:t>对象声明</a:t>
                      </a:r>
                      <a:endParaRPr lang="zh-CN" altLang="en-US" sz="1800"/>
                    </a:p>
                  </a:txBody>
                  <a:tcPr marT="72000" marB="72000"/>
                </a:tc>
                <a:tc>
                  <a:txBody>
                    <a:bodyPr/>
                    <a:lstStyle/>
                    <a:p>
                      <a:pPr>
                        <a:spcBef>
                          <a:spcPts val="300"/>
                        </a:spcBef>
                        <a:spcAft>
                          <a:spcPts val="300"/>
                        </a:spcAft>
                      </a:pPr>
                      <a:r>
                        <a:rPr lang="zh-CN" altLang="en-US" sz="1800" smtClean="0"/>
                        <a:t>若两个对象</a:t>
                      </a:r>
                      <a:r>
                        <a:rPr lang="en-US" altLang="zh-CN" sz="1800" smtClean="0"/>
                        <a:t>o1</a:t>
                      </a:r>
                      <a:r>
                        <a:rPr lang="zh-CN" altLang="en-US" sz="1800" smtClean="0"/>
                        <a:t>与</a:t>
                      </a:r>
                      <a:r>
                        <a:rPr lang="en-US" altLang="zh-CN" sz="1800" smtClean="0"/>
                        <a:t>o2</a:t>
                      </a:r>
                      <a:r>
                        <a:rPr lang="zh-CN" altLang="en-US" sz="1800" smtClean="0"/>
                        <a:t>类型兼容，且在同一上下文中声明，那么当</a:t>
                      </a:r>
                      <a:r>
                        <a:rPr lang="en-US" altLang="zh-CN" sz="1800" smtClean="0"/>
                        <a:t>o1</a:t>
                      </a:r>
                      <a:r>
                        <a:rPr lang="zh-CN" altLang="en-US" sz="1800" smtClean="0"/>
                        <a:t>在赋值语句右端出现时，使用</a:t>
                      </a:r>
                      <a:r>
                        <a:rPr lang="en-US" altLang="zh-CN" sz="1800" smtClean="0"/>
                        <a:t>o2</a:t>
                      </a:r>
                      <a:r>
                        <a:rPr lang="zh-CN" altLang="en-US" sz="1800" smtClean="0"/>
                        <a:t>对其进行替换</a:t>
                      </a:r>
                      <a:endParaRPr lang="zh-CN" altLang="en-US" sz="1800"/>
                    </a:p>
                  </a:txBody>
                  <a:tcPr marT="72000" marB="72000"/>
                </a:tc>
              </a:tr>
            </a:tbl>
          </a:graphicData>
        </a:graphic>
      </p:graphicFrame>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a:xfrm>
            <a:off x="838200" y="1202055"/>
            <a:ext cx="10515600" cy="4975225"/>
          </a:xfrm>
        </p:spPr>
        <p:txBody>
          <a:bodyPr/>
          <a:lstStyle/>
          <a:p>
            <a:r>
              <a:rPr lang="zh-CN" altLang="en-US" sz="2400" smtClean="0"/>
              <a:t>实例：多态与动态绑定</a:t>
            </a:r>
            <a:endParaRPr lang="en-US" altLang="zh-CN" sz="2400" smtClean="0"/>
          </a:p>
          <a:p>
            <a:r>
              <a:rPr lang="zh-CN" altLang="en-US" sz="2400" smtClean="0"/>
              <a:t>假设</a:t>
            </a:r>
            <a:r>
              <a:rPr lang="en-US" altLang="zh-CN" sz="2400" smtClean="0"/>
              <a:t>Planet</a:t>
            </a:r>
            <a:r>
              <a:rPr lang="zh-CN" altLang="en-US" sz="2400" smtClean="0"/>
              <a:t>是</a:t>
            </a:r>
            <a:r>
              <a:rPr lang="en-US" altLang="zh-CN" sz="2400" smtClean="0"/>
              <a:t>FarPlanet</a:t>
            </a:r>
            <a:r>
              <a:rPr lang="zh-CN" altLang="en-US" sz="2400" smtClean="0"/>
              <a:t>的父类</a:t>
            </a:r>
            <a:endParaRPr lang="zh-CN" altLang="en-US" sz="2400" smtClean="0"/>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6" name="矩形 5"/>
          <p:cNvSpPr/>
          <p:nvPr/>
        </p:nvSpPr>
        <p:spPr>
          <a:xfrm>
            <a:off x="2286000" y="3342640"/>
            <a:ext cx="2667000" cy="923330"/>
          </a:xfrm>
          <a:prstGeom prst="rect">
            <a:avLst/>
          </a:prstGeom>
          <a:ln>
            <a:solidFill>
              <a:srgbClr val="00B0F0"/>
            </a:solidFill>
          </a:ln>
        </p:spPr>
        <p:txBody>
          <a:bodyPr wrap="square">
            <a:spAutoFit/>
          </a:bodyPr>
          <a:lstStyle/>
          <a:p>
            <a:pPr>
              <a:lnSpc>
                <a:spcPct val="150000"/>
              </a:lnSpc>
            </a:pPr>
            <a:r>
              <a:rPr lang="en-US" altLang="zh-CN" i="0" smtClean="0"/>
              <a:t> </a:t>
            </a:r>
            <a:r>
              <a:rPr lang="en-US" altLang="zh-CN" b="1" i="0" smtClean="0"/>
              <a:t>FarPlanet p;</a:t>
            </a:r>
            <a:endParaRPr lang="en-US" altLang="zh-CN" b="1" i="0" smtClean="0"/>
          </a:p>
          <a:p>
            <a:pPr>
              <a:lnSpc>
                <a:spcPct val="150000"/>
              </a:lnSpc>
            </a:pPr>
            <a:r>
              <a:rPr lang="en-US" altLang="zh-CN" b="1" i="0" smtClean="0"/>
              <a:t> p = </a:t>
            </a:r>
            <a:r>
              <a:rPr lang="en-US" altLang="zh-CN" b="1" i="0" smtClean="0">
                <a:solidFill>
                  <a:srgbClr val="0000FF"/>
                </a:solidFill>
              </a:rPr>
              <a:t>new</a:t>
            </a:r>
            <a:r>
              <a:rPr lang="zh-CN" altLang="en-US" i="0" smtClean="0"/>
              <a:t>  </a:t>
            </a:r>
            <a:r>
              <a:rPr lang="en-US" altLang="zh-CN" i="0" smtClean="0"/>
              <a:t> </a:t>
            </a:r>
            <a:r>
              <a:rPr lang="en-US" altLang="zh-CN" b="1" i="0" smtClean="0"/>
              <a:t>FarPlanet(); </a:t>
            </a:r>
            <a:endParaRPr lang="zh-CN" altLang="en-US" i="0"/>
          </a:p>
        </p:txBody>
      </p:sp>
      <p:sp>
        <p:nvSpPr>
          <p:cNvPr id="8" name="右箭头 7"/>
          <p:cNvSpPr/>
          <p:nvPr/>
        </p:nvSpPr>
        <p:spPr bwMode="auto">
          <a:xfrm>
            <a:off x="5410200" y="3723640"/>
            <a:ext cx="10668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
        <p:nvSpPr>
          <p:cNvPr id="9" name="矩形 8"/>
          <p:cNvSpPr/>
          <p:nvPr/>
        </p:nvSpPr>
        <p:spPr>
          <a:xfrm>
            <a:off x="5638801" y="3266441"/>
            <a:ext cx="869149" cy="461665"/>
          </a:xfrm>
          <a:prstGeom prst="rect">
            <a:avLst/>
          </a:prstGeom>
        </p:spPr>
        <p:txBody>
          <a:bodyPr wrap="none">
            <a:spAutoFit/>
          </a:bodyPr>
          <a:lstStyle/>
          <a:p>
            <a:r>
              <a:rPr lang="en-US" altLang="zh-CN" sz="2400" i="0"/>
              <a:t>PMC</a:t>
            </a:r>
            <a:endParaRPr lang="zh-CN" altLang="en-US" sz="2400" i="0"/>
          </a:p>
        </p:txBody>
      </p:sp>
      <p:sp>
        <p:nvSpPr>
          <p:cNvPr id="10" name="矩形 9"/>
          <p:cNvSpPr/>
          <p:nvPr/>
        </p:nvSpPr>
        <p:spPr>
          <a:xfrm>
            <a:off x="7162800" y="3342640"/>
            <a:ext cx="2667000" cy="923330"/>
          </a:xfrm>
          <a:prstGeom prst="rect">
            <a:avLst/>
          </a:prstGeom>
          <a:ln>
            <a:solidFill>
              <a:srgbClr val="00B0F0"/>
            </a:solidFill>
          </a:ln>
        </p:spPr>
        <p:txBody>
          <a:bodyPr wrap="square">
            <a:spAutoFit/>
          </a:bodyPr>
          <a:lstStyle/>
          <a:p>
            <a:pPr>
              <a:lnSpc>
                <a:spcPct val="150000"/>
              </a:lnSpc>
            </a:pPr>
            <a:r>
              <a:rPr lang="en-US" altLang="zh-CN" i="0" smtClean="0"/>
              <a:t> </a:t>
            </a:r>
            <a:r>
              <a:rPr lang="en-US" altLang="zh-CN" b="1" i="0" smtClean="0"/>
              <a:t>Planet p;</a:t>
            </a:r>
            <a:endParaRPr lang="en-US" altLang="zh-CN" b="1" i="0" smtClean="0"/>
          </a:p>
          <a:p>
            <a:pPr>
              <a:lnSpc>
                <a:spcPct val="150000"/>
              </a:lnSpc>
            </a:pPr>
            <a:r>
              <a:rPr lang="en-US" altLang="zh-CN" b="1" i="0" smtClean="0"/>
              <a:t> p = </a:t>
            </a:r>
            <a:r>
              <a:rPr lang="en-US" altLang="zh-CN" b="1" i="0" smtClean="0">
                <a:solidFill>
                  <a:srgbClr val="0000FF"/>
                </a:solidFill>
              </a:rPr>
              <a:t>new</a:t>
            </a:r>
            <a:r>
              <a:rPr lang="zh-CN" altLang="en-US" i="0" smtClean="0"/>
              <a:t>  </a:t>
            </a:r>
            <a:r>
              <a:rPr lang="en-US" altLang="zh-CN" i="0" smtClean="0"/>
              <a:t> </a:t>
            </a:r>
            <a:r>
              <a:rPr lang="en-US" altLang="zh-CN" b="1" i="0" smtClean="0"/>
              <a:t>FarPlanet(); </a:t>
            </a:r>
            <a:endParaRPr lang="zh-CN" altLang="en-US" i="0"/>
          </a:p>
        </p:txBody>
      </p:sp>
      <p:sp>
        <p:nvSpPr>
          <p:cNvPr id="11" name="矩形 10"/>
          <p:cNvSpPr/>
          <p:nvPr/>
        </p:nvSpPr>
        <p:spPr>
          <a:xfrm>
            <a:off x="2286000" y="5290006"/>
            <a:ext cx="2667000" cy="923330"/>
          </a:xfrm>
          <a:prstGeom prst="rect">
            <a:avLst/>
          </a:prstGeom>
          <a:ln>
            <a:solidFill>
              <a:srgbClr val="00B0F0"/>
            </a:solidFill>
          </a:ln>
        </p:spPr>
        <p:txBody>
          <a:bodyPr wrap="square">
            <a:spAutoFit/>
          </a:bodyPr>
          <a:lstStyle/>
          <a:p>
            <a:pPr>
              <a:lnSpc>
                <a:spcPct val="150000"/>
              </a:lnSpc>
            </a:pPr>
            <a:r>
              <a:rPr lang="en-US" altLang="zh-CN" i="0" smtClean="0"/>
              <a:t> </a:t>
            </a:r>
            <a:r>
              <a:rPr lang="en-US" altLang="zh-CN" b="1" i="0" smtClean="0"/>
              <a:t>Planet p;</a:t>
            </a:r>
            <a:endParaRPr lang="en-US" altLang="zh-CN" b="1" i="0" smtClean="0"/>
          </a:p>
          <a:p>
            <a:pPr>
              <a:lnSpc>
                <a:spcPct val="150000"/>
              </a:lnSpc>
            </a:pPr>
            <a:r>
              <a:rPr lang="en-US" altLang="zh-CN" b="1" i="0" smtClean="0"/>
              <a:t> p = </a:t>
            </a:r>
            <a:r>
              <a:rPr lang="en-US" altLang="zh-CN" b="1" i="0" smtClean="0">
                <a:solidFill>
                  <a:srgbClr val="0000FF"/>
                </a:solidFill>
              </a:rPr>
              <a:t>new</a:t>
            </a:r>
            <a:r>
              <a:rPr lang="zh-CN" altLang="en-US" i="0" smtClean="0"/>
              <a:t>  </a:t>
            </a:r>
            <a:r>
              <a:rPr lang="en-US" altLang="zh-CN" i="0" smtClean="0"/>
              <a:t> </a:t>
            </a:r>
            <a:r>
              <a:rPr lang="en-US" altLang="zh-CN" b="1" i="0" smtClean="0"/>
              <a:t>Planet(); </a:t>
            </a:r>
            <a:endParaRPr lang="zh-CN" altLang="en-US" i="0"/>
          </a:p>
        </p:txBody>
      </p:sp>
      <p:sp>
        <p:nvSpPr>
          <p:cNvPr id="12" name="右箭头 11"/>
          <p:cNvSpPr/>
          <p:nvPr/>
        </p:nvSpPr>
        <p:spPr bwMode="auto">
          <a:xfrm>
            <a:off x="5410200" y="5671006"/>
            <a:ext cx="10668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
        <p:nvSpPr>
          <p:cNvPr id="13" name="矩形 12"/>
          <p:cNvSpPr/>
          <p:nvPr/>
        </p:nvSpPr>
        <p:spPr>
          <a:xfrm>
            <a:off x="5638801" y="5213807"/>
            <a:ext cx="869149" cy="461665"/>
          </a:xfrm>
          <a:prstGeom prst="rect">
            <a:avLst/>
          </a:prstGeom>
        </p:spPr>
        <p:txBody>
          <a:bodyPr wrap="none">
            <a:spAutoFit/>
          </a:bodyPr>
          <a:lstStyle/>
          <a:p>
            <a:r>
              <a:rPr lang="en-US" altLang="zh-CN" sz="2400" i="0"/>
              <a:t>PMD</a:t>
            </a:r>
            <a:endParaRPr lang="zh-CN" altLang="en-US" sz="2400" i="0"/>
          </a:p>
        </p:txBody>
      </p:sp>
      <p:sp>
        <p:nvSpPr>
          <p:cNvPr id="14" name="矩形 13"/>
          <p:cNvSpPr/>
          <p:nvPr/>
        </p:nvSpPr>
        <p:spPr>
          <a:xfrm>
            <a:off x="7162800" y="5290006"/>
            <a:ext cx="2667000" cy="784830"/>
          </a:xfrm>
          <a:prstGeom prst="rect">
            <a:avLst/>
          </a:prstGeom>
          <a:ln>
            <a:solidFill>
              <a:srgbClr val="00B0F0"/>
            </a:solidFill>
          </a:ln>
        </p:spPr>
        <p:txBody>
          <a:bodyPr wrap="square">
            <a:spAutoFit/>
          </a:bodyPr>
          <a:lstStyle/>
          <a:p>
            <a:pPr>
              <a:lnSpc>
                <a:spcPct val="150000"/>
              </a:lnSpc>
            </a:pPr>
            <a:r>
              <a:rPr lang="en-US" altLang="zh-CN" i="0" smtClean="0"/>
              <a:t> </a:t>
            </a:r>
            <a:r>
              <a:rPr lang="en-US" altLang="zh-CN" b="1" i="0" smtClean="0"/>
              <a:t>Planet p;</a:t>
            </a:r>
            <a:endParaRPr lang="en-US" altLang="zh-CN" b="1" i="0" smtClean="0"/>
          </a:p>
          <a:p>
            <a:r>
              <a:rPr lang="en-US" altLang="zh-CN" b="1" i="0" smtClean="0"/>
              <a:t> p = </a:t>
            </a:r>
            <a:r>
              <a:rPr lang="en-US" altLang="zh-CN" b="1" i="0" smtClean="0">
                <a:solidFill>
                  <a:srgbClr val="0000FF"/>
                </a:solidFill>
              </a:rPr>
              <a:t>new</a:t>
            </a:r>
            <a:r>
              <a:rPr lang="zh-CN" altLang="en-US" i="0" smtClean="0"/>
              <a:t>  </a:t>
            </a:r>
            <a:r>
              <a:rPr lang="en-US" altLang="zh-CN" i="0" smtClean="0"/>
              <a:t> </a:t>
            </a:r>
            <a:r>
              <a:rPr lang="en-US" altLang="zh-CN" b="1" i="0" smtClean="0"/>
              <a:t>FarPlanet(); </a:t>
            </a:r>
            <a:endParaRPr lang="zh-CN" altLang="en-US" i="0"/>
          </a:p>
        </p:txBody>
      </p:sp>
      <p:pic>
        <p:nvPicPr>
          <p:cNvPr id="49154" name="Picture 2"/>
          <p:cNvPicPr>
            <a:picLocks noChangeAspect="1" noChangeArrowheads="1"/>
          </p:cNvPicPr>
          <p:nvPr/>
        </p:nvPicPr>
        <p:blipFill>
          <a:blip r:embed="rId1"/>
          <a:srcRect/>
          <a:stretch>
            <a:fillRect/>
          </a:stretch>
        </p:blipFill>
        <p:spPr bwMode="auto">
          <a:xfrm>
            <a:off x="2286000" y="2504440"/>
            <a:ext cx="7625166" cy="685800"/>
          </a:xfrm>
          <a:prstGeom prst="rect">
            <a:avLst/>
          </a:prstGeom>
          <a:noFill/>
          <a:ln w="9525">
            <a:solidFill>
              <a:srgbClr val="00B050"/>
            </a:solidFill>
            <a:miter lim="800000"/>
            <a:headEnd/>
            <a:tailEnd/>
          </a:ln>
          <a:effectLst/>
        </p:spPr>
      </p:pic>
      <p:pic>
        <p:nvPicPr>
          <p:cNvPr id="49155" name="Picture 3"/>
          <p:cNvPicPr>
            <a:picLocks noChangeAspect="1" noChangeArrowheads="1"/>
          </p:cNvPicPr>
          <p:nvPr/>
        </p:nvPicPr>
        <p:blipFill>
          <a:blip r:embed="rId2"/>
          <a:srcRect/>
          <a:stretch>
            <a:fillRect/>
          </a:stretch>
        </p:blipFill>
        <p:spPr bwMode="auto">
          <a:xfrm>
            <a:off x="2057400" y="4561840"/>
            <a:ext cx="8077200" cy="457200"/>
          </a:xfrm>
          <a:prstGeom prst="rect">
            <a:avLst/>
          </a:prstGeom>
          <a:noFill/>
          <a:ln w="9525">
            <a:solidFill>
              <a:srgbClr val="00B050"/>
            </a:solidFill>
            <a:miter lim="800000"/>
            <a:headEnd/>
            <a:tailEnd/>
          </a:ln>
          <a:effec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p:bldP spid="10" grpId="0" bldLvl="0" animBg="1"/>
      <p:bldP spid="11" grpId="0" bldLvl="0" animBg="1"/>
      <p:bldP spid="12" grpId="0" bldLvl="0" animBg="1"/>
      <p:bldP spid="13" grpId="0"/>
      <p:bldP spid="14"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p:txBody>
          <a:bodyPr/>
          <a:lstStyle/>
          <a:p>
            <a:r>
              <a:rPr lang="zh-CN" altLang="en-US" smtClean="0"/>
              <a:t>方法重载</a:t>
            </a:r>
            <a:endParaRPr lang="zh-CN" altLang="en-US" smtClean="0"/>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1905000" y="2354580"/>
          <a:ext cx="7772400" cy="2482080"/>
        </p:xfrm>
        <a:graphic>
          <a:graphicData uri="http://schemas.openxmlformats.org/drawingml/2006/table">
            <a:tbl>
              <a:tblPr firstRow="1" bandRow="1">
                <a:tableStyleId>{21E4AEA4-8DFA-4A89-87EB-49C32662AFE0}</a:tableStyleId>
              </a:tblPr>
              <a:tblGrid>
                <a:gridCol w="1295400"/>
                <a:gridCol w="1600200"/>
                <a:gridCol w="4876800"/>
              </a:tblGrid>
              <a:tr h="370840">
                <a:tc>
                  <a:txBody>
                    <a:bodyPr/>
                    <a:lstStyle/>
                    <a:p>
                      <a:pPr algn="ctr">
                        <a:spcBef>
                          <a:spcPts val="300"/>
                        </a:spcBef>
                        <a:spcAft>
                          <a:spcPts val="300"/>
                        </a:spcAft>
                      </a:pPr>
                      <a:r>
                        <a:rPr lang="zh-CN" altLang="en-US" sz="2000" smtClean="0"/>
                        <a:t>算子</a:t>
                      </a:r>
                      <a:endParaRPr lang="zh-CN" altLang="en-US" sz="2000"/>
                    </a:p>
                  </a:txBody>
                  <a:tcPr marT="108000" marB="108000"/>
                </a:tc>
                <a:tc>
                  <a:txBody>
                    <a:bodyPr/>
                    <a:lstStyle/>
                    <a:p>
                      <a:pPr algn="ctr">
                        <a:spcBef>
                          <a:spcPts val="300"/>
                        </a:spcBef>
                        <a:spcAft>
                          <a:spcPts val="300"/>
                        </a:spcAft>
                      </a:pPr>
                      <a:r>
                        <a:rPr lang="zh-CN" altLang="en-US" sz="2000" smtClean="0"/>
                        <a:t>定义域</a:t>
                      </a:r>
                      <a:endParaRPr lang="zh-CN" altLang="en-US" sz="2000"/>
                    </a:p>
                  </a:txBody>
                  <a:tcPr marT="108000" marB="108000"/>
                </a:tc>
                <a:tc>
                  <a:txBody>
                    <a:bodyPr/>
                    <a:lstStyle/>
                    <a:p>
                      <a:pPr algn="ctr">
                        <a:spcBef>
                          <a:spcPts val="300"/>
                        </a:spcBef>
                        <a:spcAft>
                          <a:spcPts val="300"/>
                        </a:spcAft>
                      </a:pPr>
                      <a:r>
                        <a:rPr lang="zh-CN" altLang="en-US" sz="2000" smtClean="0"/>
                        <a:t>说明</a:t>
                      </a:r>
                      <a:endParaRPr lang="zh-CN" altLang="en-US" sz="2000"/>
                    </a:p>
                  </a:txBody>
                  <a:tcPr marT="108000" marB="108000"/>
                </a:tc>
              </a:tr>
              <a:tr h="370840">
                <a:tc>
                  <a:txBody>
                    <a:bodyPr/>
                    <a:lstStyle/>
                    <a:p>
                      <a:pPr algn="ctr">
                        <a:spcBef>
                          <a:spcPts val="300"/>
                        </a:spcBef>
                        <a:spcAft>
                          <a:spcPts val="300"/>
                        </a:spcAft>
                      </a:pPr>
                      <a:r>
                        <a:rPr lang="en-US" altLang="zh-CN" sz="1800" smtClean="0"/>
                        <a:t>OMR</a:t>
                      </a:r>
                      <a:endParaRPr lang="zh-CN" altLang="en-US" sz="1800"/>
                    </a:p>
                  </a:txBody>
                  <a:tcPr marT="108000" marB="108000"/>
                </a:tc>
                <a:tc>
                  <a:txBody>
                    <a:bodyPr/>
                    <a:lstStyle/>
                    <a:p>
                      <a:pPr algn="ctr">
                        <a:spcBef>
                          <a:spcPts val="300"/>
                        </a:spcBef>
                        <a:spcAft>
                          <a:spcPts val="300"/>
                        </a:spcAft>
                      </a:pPr>
                      <a:r>
                        <a:rPr lang="zh-CN" altLang="en-US" sz="1800" smtClean="0"/>
                        <a:t>重载方法</a:t>
                      </a:r>
                      <a:endParaRPr lang="zh-CN" altLang="en-US" sz="1800"/>
                    </a:p>
                  </a:txBody>
                  <a:tcPr marT="108000" marB="108000"/>
                </a:tc>
                <a:tc>
                  <a:txBody>
                    <a:bodyPr/>
                    <a:lstStyle/>
                    <a:p>
                      <a:pPr>
                        <a:spcBef>
                          <a:spcPts val="300"/>
                        </a:spcBef>
                        <a:spcAft>
                          <a:spcPts val="300"/>
                        </a:spcAft>
                      </a:pPr>
                      <a:r>
                        <a:rPr lang="zh-CN" altLang="en-US" sz="1800" smtClean="0"/>
                        <a:t>互换重载方法的方法体</a:t>
                      </a:r>
                      <a:endParaRPr lang="zh-CN" altLang="en-US" sz="1800"/>
                    </a:p>
                  </a:txBody>
                  <a:tcPr marT="108000" marB="108000"/>
                </a:tc>
              </a:tr>
              <a:tr h="370840">
                <a:tc>
                  <a:txBody>
                    <a:bodyPr/>
                    <a:lstStyle/>
                    <a:p>
                      <a:pPr algn="ctr">
                        <a:spcBef>
                          <a:spcPts val="300"/>
                        </a:spcBef>
                        <a:spcAft>
                          <a:spcPts val="300"/>
                        </a:spcAft>
                      </a:pPr>
                      <a:r>
                        <a:rPr lang="en-US" altLang="zh-CN" sz="1800" smtClean="0"/>
                        <a:t>OMD</a:t>
                      </a:r>
                      <a:endParaRPr lang="zh-CN" altLang="en-US" sz="1800"/>
                    </a:p>
                  </a:txBody>
                  <a:tcPr marT="108000" marB="108000"/>
                </a:tc>
                <a:tc>
                  <a:txBody>
                    <a:bodyPr/>
                    <a:lstStyle/>
                    <a:p>
                      <a:pPr algn="ctr">
                        <a:spcBef>
                          <a:spcPts val="300"/>
                        </a:spcBef>
                        <a:spcAft>
                          <a:spcPts val="300"/>
                        </a:spcAft>
                      </a:pPr>
                      <a:r>
                        <a:rPr lang="zh-CN" altLang="en-US" sz="1800" smtClean="0"/>
                        <a:t>重载方法</a:t>
                      </a:r>
                      <a:endParaRPr lang="zh-CN" altLang="en-US" sz="1800"/>
                    </a:p>
                  </a:txBody>
                  <a:tcPr marT="108000" marB="108000"/>
                </a:tc>
                <a:tc>
                  <a:txBody>
                    <a:bodyPr/>
                    <a:lstStyle/>
                    <a:p>
                      <a:pPr>
                        <a:spcBef>
                          <a:spcPts val="300"/>
                        </a:spcBef>
                        <a:spcAft>
                          <a:spcPts val="300"/>
                        </a:spcAft>
                      </a:pPr>
                      <a:r>
                        <a:rPr lang="zh-CN" altLang="en-US" sz="1800" smtClean="0"/>
                        <a:t>删除重载方法</a:t>
                      </a:r>
                      <a:endParaRPr lang="zh-CN" altLang="en-US" sz="1800"/>
                    </a:p>
                  </a:txBody>
                  <a:tcPr marT="108000" marB="108000"/>
                </a:tc>
              </a:tr>
              <a:tr h="370840">
                <a:tc>
                  <a:txBody>
                    <a:bodyPr/>
                    <a:lstStyle/>
                    <a:p>
                      <a:pPr algn="ctr">
                        <a:spcBef>
                          <a:spcPts val="300"/>
                        </a:spcBef>
                        <a:spcAft>
                          <a:spcPts val="300"/>
                        </a:spcAft>
                      </a:pPr>
                      <a:r>
                        <a:rPr lang="en-US" altLang="zh-CN" sz="1800" smtClean="0"/>
                        <a:t>OAD</a:t>
                      </a:r>
                      <a:endParaRPr lang="zh-CN" altLang="en-US" sz="1800"/>
                    </a:p>
                  </a:txBody>
                  <a:tcPr marT="108000" marB="108000"/>
                </a:tc>
                <a:tc>
                  <a:txBody>
                    <a:bodyPr/>
                    <a:lstStyle/>
                    <a:p>
                      <a:pPr algn="ctr">
                        <a:spcBef>
                          <a:spcPts val="300"/>
                        </a:spcBef>
                        <a:spcAft>
                          <a:spcPts val="300"/>
                        </a:spcAft>
                      </a:pPr>
                      <a:r>
                        <a:rPr lang="zh-CN" altLang="en-US" sz="1800" smtClean="0"/>
                        <a:t>方法</a:t>
                      </a:r>
                      <a:endParaRPr lang="zh-CN" altLang="en-US" sz="1800"/>
                    </a:p>
                  </a:txBody>
                  <a:tcPr marT="108000" marB="108000"/>
                </a:tc>
                <a:tc>
                  <a:txBody>
                    <a:bodyPr/>
                    <a:lstStyle/>
                    <a:p>
                      <a:pPr marL="0" marR="0" indent="0" algn="l" defTabSz="914400" rtl="0" eaLnBrk="1" fontAlgn="auto" latinLnBrk="0" hangingPunct="1">
                        <a:lnSpc>
                          <a:spcPct val="100000"/>
                        </a:lnSpc>
                        <a:spcBef>
                          <a:spcPts val="300"/>
                        </a:spcBef>
                        <a:spcAft>
                          <a:spcPts val="300"/>
                        </a:spcAft>
                        <a:buClrTx/>
                        <a:buSzTx/>
                        <a:buFontTx/>
                        <a:buNone/>
                        <a:defRPr/>
                      </a:pPr>
                      <a:r>
                        <a:rPr lang="zh-CN" altLang="en-US" sz="1800" smtClean="0"/>
                        <a:t>变更方法参数的次序</a:t>
                      </a:r>
                      <a:endParaRPr lang="zh-CN" altLang="en-US" sz="1800" smtClean="0"/>
                    </a:p>
                  </a:txBody>
                  <a:tcPr marT="108000" marB="108000"/>
                </a:tc>
              </a:tr>
              <a:tr h="370840">
                <a:tc>
                  <a:txBody>
                    <a:bodyPr/>
                    <a:lstStyle/>
                    <a:p>
                      <a:pPr algn="ctr">
                        <a:spcBef>
                          <a:spcPts val="300"/>
                        </a:spcBef>
                        <a:spcAft>
                          <a:spcPts val="300"/>
                        </a:spcAft>
                      </a:pPr>
                      <a:r>
                        <a:rPr lang="en-US" altLang="zh-CN" sz="1800" smtClean="0"/>
                        <a:t>OAN</a:t>
                      </a:r>
                      <a:endParaRPr lang="zh-CN" altLang="en-US" sz="1800"/>
                    </a:p>
                  </a:txBody>
                  <a:tcPr marT="108000" marB="108000"/>
                </a:tc>
                <a:tc>
                  <a:txBody>
                    <a:bodyPr/>
                    <a:lstStyle/>
                    <a:p>
                      <a:pPr algn="ctr">
                        <a:spcBef>
                          <a:spcPts val="300"/>
                        </a:spcBef>
                        <a:spcAft>
                          <a:spcPts val="300"/>
                        </a:spcAft>
                      </a:pPr>
                      <a:r>
                        <a:rPr lang="zh-CN" altLang="en-US" sz="1800" smtClean="0"/>
                        <a:t>方法</a:t>
                      </a:r>
                      <a:endParaRPr lang="zh-CN" altLang="en-US" sz="1800"/>
                    </a:p>
                  </a:txBody>
                  <a:tcPr marT="108000" marB="108000"/>
                </a:tc>
                <a:tc>
                  <a:txBody>
                    <a:bodyPr/>
                    <a:lstStyle/>
                    <a:p>
                      <a:pPr>
                        <a:spcBef>
                          <a:spcPts val="300"/>
                        </a:spcBef>
                        <a:spcAft>
                          <a:spcPts val="300"/>
                        </a:spcAft>
                      </a:pPr>
                      <a:r>
                        <a:rPr lang="zh-CN" altLang="en-US" sz="1800" smtClean="0"/>
                        <a:t>删除重载方法的参数</a:t>
                      </a:r>
                      <a:endParaRPr lang="zh-CN" altLang="en-US" sz="1800"/>
                    </a:p>
                  </a:txBody>
                  <a:tcPr marT="108000" marB="108000"/>
                </a:tc>
              </a:tr>
            </a:tbl>
          </a:graphicData>
        </a:graphic>
      </p:graphicFrame>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a:xfrm>
            <a:off x="838200" y="1230630"/>
            <a:ext cx="10515600" cy="4946650"/>
          </a:xfrm>
        </p:spPr>
        <p:txBody>
          <a:bodyPr/>
          <a:lstStyle/>
          <a:p>
            <a:r>
              <a:rPr lang="zh-CN" altLang="en-US" smtClean="0"/>
              <a:t>实例：方法重载</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6" name="矩形 5"/>
          <p:cNvSpPr/>
          <p:nvPr/>
        </p:nvSpPr>
        <p:spPr>
          <a:xfrm>
            <a:off x="1981200" y="3535680"/>
            <a:ext cx="2971800" cy="1338828"/>
          </a:xfrm>
          <a:prstGeom prst="rect">
            <a:avLst/>
          </a:prstGeom>
          <a:ln>
            <a:solidFill>
              <a:srgbClr val="00B0F0"/>
            </a:solidFill>
          </a:ln>
        </p:spPr>
        <p:txBody>
          <a:bodyPr wrap="square">
            <a:spAutoFit/>
          </a:bodyPr>
          <a:lstStyle/>
          <a:p>
            <a:pPr>
              <a:lnSpc>
                <a:spcPct val="150000"/>
              </a:lnSpc>
            </a:pPr>
            <a:r>
              <a:rPr lang="en-US" altLang="zh-CN" b="1" i="0" smtClean="0">
                <a:solidFill>
                  <a:srgbClr val="0000FF"/>
                </a:solidFill>
              </a:rPr>
              <a:t>void</a:t>
            </a:r>
            <a:r>
              <a:rPr lang="en-US" altLang="zh-CN" b="1" i="0" smtClean="0"/>
              <a:t> init (</a:t>
            </a:r>
            <a:r>
              <a:rPr lang="en-US" altLang="zh-CN" b="1" i="0" smtClean="0">
                <a:solidFill>
                  <a:srgbClr val="0000FF"/>
                </a:solidFill>
              </a:rPr>
              <a:t>init</a:t>
            </a:r>
            <a:r>
              <a:rPr lang="en-US" altLang="zh-CN" b="1" i="0" smtClean="0"/>
              <a:t> i) { ... }</a:t>
            </a:r>
            <a:endParaRPr lang="en-US" altLang="zh-CN" b="1" i="0" smtClean="0"/>
          </a:p>
          <a:p>
            <a:pPr>
              <a:lnSpc>
                <a:spcPct val="150000"/>
              </a:lnSpc>
            </a:pPr>
            <a:r>
              <a:rPr lang="en-US" altLang="zh-CN" b="1" i="0" smtClean="0">
                <a:solidFill>
                  <a:srgbClr val="0000FF"/>
                </a:solidFill>
              </a:rPr>
              <a:t>void</a:t>
            </a:r>
            <a:r>
              <a:rPr lang="en-US" altLang="zh-CN" b="1" i="0" smtClean="0"/>
              <a:t> init (</a:t>
            </a:r>
            <a:r>
              <a:rPr lang="en-US" altLang="zh-CN" b="1" i="0" smtClean="0">
                <a:solidFill>
                  <a:srgbClr val="0000FF"/>
                </a:solidFill>
              </a:rPr>
              <a:t>int</a:t>
            </a:r>
            <a:r>
              <a:rPr lang="en-US" altLang="zh-CN" b="1" i="0" smtClean="0"/>
              <a:t> i, </a:t>
            </a:r>
            <a:r>
              <a:rPr lang="en-US" altLang="zh-CN" b="1" i="0" smtClean="0">
                <a:solidFill>
                  <a:srgbClr val="0000FF"/>
                </a:solidFill>
              </a:rPr>
              <a:t>String</a:t>
            </a:r>
            <a:r>
              <a:rPr lang="en-US" altLang="zh-CN" b="1" i="0" smtClean="0"/>
              <a:t> s)</a:t>
            </a:r>
            <a:endParaRPr lang="en-US" altLang="zh-CN" b="1" i="0" smtClean="0"/>
          </a:p>
          <a:p>
            <a:pPr>
              <a:lnSpc>
                <a:spcPct val="150000"/>
              </a:lnSpc>
            </a:pPr>
            <a:r>
              <a:rPr lang="en-US" altLang="zh-CN" b="1" i="0" smtClean="0"/>
              <a:t>{ ... }</a:t>
            </a:r>
            <a:endParaRPr lang="zh-CN" altLang="en-US" b="1" i="0" smtClean="0"/>
          </a:p>
        </p:txBody>
      </p:sp>
      <p:sp>
        <p:nvSpPr>
          <p:cNvPr id="8" name="右箭头 7"/>
          <p:cNvSpPr/>
          <p:nvPr/>
        </p:nvSpPr>
        <p:spPr bwMode="auto">
          <a:xfrm rot="2100000">
            <a:off x="5226896" y="4735355"/>
            <a:ext cx="10668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
        <p:nvSpPr>
          <p:cNvPr id="9" name="矩形 8"/>
          <p:cNvSpPr/>
          <p:nvPr/>
        </p:nvSpPr>
        <p:spPr>
          <a:xfrm>
            <a:off x="5257801" y="3307081"/>
            <a:ext cx="902811" cy="461665"/>
          </a:xfrm>
          <a:prstGeom prst="rect">
            <a:avLst/>
          </a:prstGeom>
        </p:spPr>
        <p:txBody>
          <a:bodyPr wrap="none">
            <a:spAutoFit/>
          </a:bodyPr>
          <a:lstStyle/>
          <a:p>
            <a:r>
              <a:rPr lang="en-US" altLang="zh-CN" sz="2400" i="0"/>
              <a:t>OMR</a:t>
            </a:r>
            <a:endParaRPr lang="zh-CN" altLang="en-US" sz="2400" i="0"/>
          </a:p>
        </p:txBody>
      </p:sp>
      <p:sp>
        <p:nvSpPr>
          <p:cNvPr id="15" name="矩形 14"/>
          <p:cNvSpPr/>
          <p:nvPr/>
        </p:nvSpPr>
        <p:spPr>
          <a:xfrm>
            <a:off x="6858000" y="2518450"/>
            <a:ext cx="3124200" cy="1754326"/>
          </a:xfrm>
          <a:prstGeom prst="rect">
            <a:avLst/>
          </a:prstGeom>
          <a:ln>
            <a:solidFill>
              <a:srgbClr val="00B0F0"/>
            </a:solidFill>
          </a:ln>
        </p:spPr>
        <p:txBody>
          <a:bodyPr wrap="square">
            <a:spAutoFit/>
          </a:bodyPr>
          <a:lstStyle/>
          <a:p>
            <a:pPr>
              <a:lnSpc>
                <a:spcPct val="150000"/>
              </a:lnSpc>
            </a:pPr>
            <a:r>
              <a:rPr lang="en-US" altLang="zh-CN" b="1" i="0" smtClean="0">
                <a:solidFill>
                  <a:srgbClr val="0000FF"/>
                </a:solidFill>
              </a:rPr>
              <a:t>void</a:t>
            </a:r>
            <a:r>
              <a:rPr lang="en-US" altLang="zh-CN" b="1" i="0" smtClean="0"/>
              <a:t> init (</a:t>
            </a:r>
            <a:r>
              <a:rPr lang="en-US" altLang="zh-CN" b="1" i="0" smtClean="0">
                <a:solidFill>
                  <a:srgbClr val="0000FF"/>
                </a:solidFill>
              </a:rPr>
              <a:t>init</a:t>
            </a:r>
            <a:r>
              <a:rPr lang="en-US" altLang="zh-CN" b="1" i="0" smtClean="0"/>
              <a:t> i) { ... }</a:t>
            </a:r>
            <a:endParaRPr lang="en-US" altLang="zh-CN" b="1" i="0" smtClean="0"/>
          </a:p>
          <a:p>
            <a:pPr>
              <a:lnSpc>
                <a:spcPct val="150000"/>
              </a:lnSpc>
            </a:pPr>
            <a:r>
              <a:rPr lang="en-US" altLang="zh-CN" b="1" i="0" smtClean="0">
                <a:solidFill>
                  <a:srgbClr val="0000FF"/>
                </a:solidFill>
              </a:rPr>
              <a:t>void</a:t>
            </a:r>
            <a:r>
              <a:rPr lang="en-US" altLang="zh-CN" b="1" i="0" smtClean="0"/>
              <a:t> init (</a:t>
            </a:r>
            <a:r>
              <a:rPr lang="en-US" altLang="zh-CN" b="1" i="0" smtClean="0">
                <a:solidFill>
                  <a:srgbClr val="0000FF"/>
                </a:solidFill>
              </a:rPr>
              <a:t>int</a:t>
            </a:r>
            <a:r>
              <a:rPr lang="en-US" altLang="zh-CN" b="1" i="0" smtClean="0"/>
              <a:t> i, </a:t>
            </a:r>
            <a:r>
              <a:rPr lang="en-US" altLang="zh-CN" b="1" i="0" smtClean="0">
                <a:solidFill>
                  <a:srgbClr val="0000FF"/>
                </a:solidFill>
              </a:rPr>
              <a:t>String</a:t>
            </a:r>
            <a:r>
              <a:rPr lang="en-US" altLang="zh-CN" b="1" i="0" smtClean="0"/>
              <a:t> s){</a:t>
            </a:r>
            <a:endParaRPr lang="en-US" altLang="zh-CN" b="1" i="0" smtClean="0"/>
          </a:p>
          <a:p>
            <a:pPr>
              <a:lnSpc>
                <a:spcPct val="150000"/>
              </a:lnSpc>
            </a:pPr>
            <a:r>
              <a:rPr lang="en-US" altLang="zh-CN" b="1" i="0" smtClean="0"/>
              <a:t>    </a:t>
            </a:r>
            <a:r>
              <a:rPr lang="en-US" altLang="zh-CN" b="1" i="0" smtClean="0">
                <a:solidFill>
                  <a:srgbClr val="0000FF"/>
                </a:solidFill>
              </a:rPr>
              <a:t>this</a:t>
            </a:r>
            <a:r>
              <a:rPr lang="en-US" altLang="zh-CN" b="1" i="0" smtClean="0"/>
              <a:t>.init(i);</a:t>
            </a:r>
            <a:endParaRPr lang="en-US" altLang="zh-CN" b="1" i="0" smtClean="0"/>
          </a:p>
          <a:p>
            <a:pPr>
              <a:lnSpc>
                <a:spcPct val="150000"/>
              </a:lnSpc>
            </a:pPr>
            <a:r>
              <a:rPr lang="en-US" altLang="zh-CN" b="1" i="0" smtClean="0"/>
              <a:t> }</a:t>
            </a:r>
            <a:endParaRPr lang="zh-CN" altLang="en-US" b="1" i="0" smtClean="0"/>
          </a:p>
        </p:txBody>
      </p:sp>
      <p:sp>
        <p:nvSpPr>
          <p:cNvPr id="17" name="右箭头 16"/>
          <p:cNvSpPr/>
          <p:nvPr/>
        </p:nvSpPr>
        <p:spPr bwMode="auto">
          <a:xfrm rot="19500000">
            <a:off x="5334000" y="3688080"/>
            <a:ext cx="10668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
        <p:nvSpPr>
          <p:cNvPr id="18" name="矩形 17"/>
          <p:cNvSpPr/>
          <p:nvPr/>
        </p:nvSpPr>
        <p:spPr>
          <a:xfrm>
            <a:off x="5257801" y="5288281"/>
            <a:ext cx="902811" cy="461665"/>
          </a:xfrm>
          <a:prstGeom prst="rect">
            <a:avLst/>
          </a:prstGeom>
        </p:spPr>
        <p:txBody>
          <a:bodyPr wrap="none">
            <a:spAutoFit/>
          </a:bodyPr>
          <a:lstStyle/>
          <a:p>
            <a:r>
              <a:rPr lang="en-US" altLang="zh-CN" sz="2400" i="0"/>
              <a:t>OMR</a:t>
            </a:r>
            <a:endParaRPr lang="zh-CN" altLang="en-US" sz="2400" i="0"/>
          </a:p>
        </p:txBody>
      </p:sp>
      <p:sp>
        <p:nvSpPr>
          <p:cNvPr id="19" name="矩形 18"/>
          <p:cNvSpPr/>
          <p:nvPr/>
        </p:nvSpPr>
        <p:spPr>
          <a:xfrm>
            <a:off x="6858000" y="4337656"/>
            <a:ext cx="3124200" cy="2169825"/>
          </a:xfrm>
          <a:prstGeom prst="rect">
            <a:avLst/>
          </a:prstGeom>
          <a:ln>
            <a:solidFill>
              <a:srgbClr val="00B0F0"/>
            </a:solidFill>
          </a:ln>
        </p:spPr>
        <p:txBody>
          <a:bodyPr wrap="square">
            <a:spAutoFit/>
          </a:bodyPr>
          <a:lstStyle/>
          <a:p>
            <a:pPr>
              <a:lnSpc>
                <a:spcPct val="150000"/>
              </a:lnSpc>
            </a:pPr>
            <a:r>
              <a:rPr lang="en-US" altLang="zh-CN" b="1" i="0" smtClean="0">
                <a:solidFill>
                  <a:srgbClr val="0000FF"/>
                </a:solidFill>
              </a:rPr>
              <a:t>void</a:t>
            </a:r>
            <a:r>
              <a:rPr lang="en-US" altLang="zh-CN" b="1" i="0" smtClean="0"/>
              <a:t> init (</a:t>
            </a:r>
            <a:r>
              <a:rPr lang="en-US" altLang="zh-CN" b="1" i="0" smtClean="0">
                <a:solidFill>
                  <a:srgbClr val="0000FF"/>
                </a:solidFill>
              </a:rPr>
              <a:t>init</a:t>
            </a:r>
            <a:r>
              <a:rPr lang="en-US" altLang="zh-CN" b="1" i="0" smtClean="0"/>
              <a:t> i) { </a:t>
            </a:r>
            <a:endParaRPr lang="en-US" altLang="zh-CN" b="1" i="0" smtClean="0"/>
          </a:p>
          <a:p>
            <a:pPr>
              <a:lnSpc>
                <a:spcPct val="150000"/>
              </a:lnSpc>
            </a:pPr>
            <a:r>
              <a:rPr lang="en-US" altLang="zh-CN" b="1" i="0" smtClean="0"/>
              <a:t>    </a:t>
            </a:r>
            <a:r>
              <a:rPr lang="en-US" altLang="zh-CN" b="1" i="0" smtClean="0">
                <a:solidFill>
                  <a:srgbClr val="0000FF"/>
                </a:solidFill>
              </a:rPr>
              <a:t>this</a:t>
            </a:r>
            <a:r>
              <a:rPr lang="en-US" altLang="zh-CN" b="1" i="0" smtClean="0"/>
              <a:t>.init(i,””);</a:t>
            </a:r>
            <a:endParaRPr lang="en-US" altLang="zh-CN" b="1" i="0" smtClean="0"/>
          </a:p>
          <a:p>
            <a:pPr>
              <a:lnSpc>
                <a:spcPct val="150000"/>
              </a:lnSpc>
            </a:pPr>
            <a:r>
              <a:rPr lang="en-US" altLang="zh-CN" b="1" i="0" smtClean="0"/>
              <a:t>}</a:t>
            </a:r>
            <a:endParaRPr lang="en-US" altLang="zh-CN" b="1" i="0" smtClean="0"/>
          </a:p>
          <a:p>
            <a:pPr>
              <a:lnSpc>
                <a:spcPct val="150000"/>
              </a:lnSpc>
            </a:pPr>
            <a:r>
              <a:rPr lang="en-US" altLang="zh-CN" b="1" i="0" smtClean="0">
                <a:solidFill>
                  <a:srgbClr val="0000FF"/>
                </a:solidFill>
              </a:rPr>
              <a:t>void</a:t>
            </a:r>
            <a:r>
              <a:rPr lang="en-US" altLang="zh-CN" b="1" i="0" smtClean="0"/>
              <a:t> init (</a:t>
            </a:r>
            <a:r>
              <a:rPr lang="en-US" altLang="zh-CN" b="1" i="0" smtClean="0">
                <a:solidFill>
                  <a:srgbClr val="0000FF"/>
                </a:solidFill>
              </a:rPr>
              <a:t>int</a:t>
            </a:r>
            <a:r>
              <a:rPr lang="en-US" altLang="zh-CN" b="1" i="0" smtClean="0"/>
              <a:t> i, </a:t>
            </a:r>
            <a:r>
              <a:rPr lang="en-US" altLang="zh-CN" b="1" i="0" smtClean="0">
                <a:solidFill>
                  <a:srgbClr val="0000FF"/>
                </a:solidFill>
              </a:rPr>
              <a:t>String</a:t>
            </a:r>
            <a:r>
              <a:rPr lang="en-US" altLang="zh-CN" b="1" i="0" smtClean="0"/>
              <a:t> s)</a:t>
            </a:r>
            <a:endParaRPr lang="en-US" altLang="zh-CN" b="1" i="0" smtClean="0"/>
          </a:p>
          <a:p>
            <a:pPr>
              <a:lnSpc>
                <a:spcPct val="150000"/>
              </a:lnSpc>
            </a:pPr>
            <a:r>
              <a:rPr lang="en-US" altLang="zh-CN" b="1" i="0" smtClean="0"/>
              <a:t>{ ... }</a:t>
            </a:r>
            <a:endParaRPr lang="zh-CN" altLang="en-US" b="1" i="0" smtClean="0"/>
          </a:p>
        </p:txBody>
      </p:sp>
      <p:pic>
        <p:nvPicPr>
          <p:cNvPr id="48130" name="Picture 2"/>
          <p:cNvPicPr>
            <a:picLocks noChangeAspect="1" noChangeArrowheads="1"/>
          </p:cNvPicPr>
          <p:nvPr/>
        </p:nvPicPr>
        <p:blipFill>
          <a:blip r:embed="rId1"/>
          <a:srcRect/>
          <a:stretch>
            <a:fillRect/>
          </a:stretch>
        </p:blipFill>
        <p:spPr bwMode="auto">
          <a:xfrm>
            <a:off x="2590801" y="1859280"/>
            <a:ext cx="6469185" cy="533400"/>
          </a:xfrm>
          <a:prstGeom prst="rect">
            <a:avLst/>
          </a:prstGeom>
          <a:noFill/>
          <a:ln w="9525">
            <a:solidFill>
              <a:srgbClr val="00B050"/>
            </a:solidFill>
            <a:miter lim="800000"/>
            <a:headEnd/>
            <a:tailEnd/>
          </a:ln>
          <a:effec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ssolve">
                                      <p:cBhvr>
                                        <p:cTn id="15" dur="500"/>
                                        <p:tgtEl>
                                          <p:spTgt spid="1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dissolve">
                                      <p:cBhvr>
                                        <p:cTn id="26" dur="500"/>
                                        <p:tgtEl>
                                          <p:spTgt spid="1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dissolve">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p:bldP spid="15" grpId="0" bldLvl="0" animBg="1"/>
      <p:bldP spid="17" grpId="0" bldLvl="0" animBg="1"/>
      <p:bldP spid="18" grpId="0"/>
      <p:bldP spid="19"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a:xfrm>
            <a:off x="838200" y="1300480"/>
            <a:ext cx="10515600" cy="4876800"/>
          </a:xfrm>
        </p:spPr>
        <p:txBody>
          <a:bodyPr/>
          <a:lstStyle/>
          <a:p>
            <a:r>
              <a:rPr lang="en-US" altLang="zh-CN" smtClean="0"/>
              <a:t>Java</a:t>
            </a:r>
            <a:r>
              <a:rPr lang="zh-CN" altLang="en-US" smtClean="0"/>
              <a:t>特有的变异算子</a:t>
            </a:r>
            <a:endParaRPr lang="zh-CN" altLang="en-US" smtClean="0"/>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aphicFrame>
        <p:nvGraphicFramePr>
          <p:cNvPr id="5" name="表格 4"/>
          <p:cNvGraphicFramePr>
            <a:graphicFrameLocks noGrp="1"/>
          </p:cNvGraphicFramePr>
          <p:nvPr/>
        </p:nvGraphicFramePr>
        <p:xfrm>
          <a:off x="1905000" y="1998345"/>
          <a:ext cx="7772400" cy="4443360"/>
        </p:xfrm>
        <a:graphic>
          <a:graphicData uri="http://schemas.openxmlformats.org/drawingml/2006/table">
            <a:tbl>
              <a:tblPr firstRow="1" bandRow="1">
                <a:tableStyleId>{21E4AEA4-8DFA-4A89-87EB-49C32662AFE0}</a:tableStyleId>
              </a:tblPr>
              <a:tblGrid>
                <a:gridCol w="1295400"/>
                <a:gridCol w="1600200"/>
                <a:gridCol w="4876800"/>
              </a:tblGrid>
              <a:tr h="370840">
                <a:tc>
                  <a:txBody>
                    <a:bodyPr/>
                    <a:lstStyle/>
                    <a:p>
                      <a:pPr algn="ctr">
                        <a:spcBef>
                          <a:spcPts val="300"/>
                        </a:spcBef>
                        <a:spcAft>
                          <a:spcPts val="300"/>
                        </a:spcAft>
                      </a:pPr>
                      <a:r>
                        <a:rPr lang="zh-CN" altLang="en-US" sz="2000" smtClean="0"/>
                        <a:t>算子</a:t>
                      </a:r>
                      <a:endParaRPr lang="zh-CN" altLang="en-US" sz="2000"/>
                    </a:p>
                  </a:txBody>
                  <a:tcPr marT="108000" marB="108000"/>
                </a:tc>
                <a:tc>
                  <a:txBody>
                    <a:bodyPr/>
                    <a:lstStyle/>
                    <a:p>
                      <a:pPr algn="ctr">
                        <a:spcBef>
                          <a:spcPts val="300"/>
                        </a:spcBef>
                        <a:spcAft>
                          <a:spcPts val="300"/>
                        </a:spcAft>
                      </a:pPr>
                      <a:r>
                        <a:rPr lang="zh-CN" altLang="en-US" sz="2000" smtClean="0"/>
                        <a:t>定义域</a:t>
                      </a:r>
                      <a:endParaRPr lang="zh-CN" altLang="en-US" sz="2000"/>
                    </a:p>
                  </a:txBody>
                  <a:tcPr marT="108000" marB="108000"/>
                </a:tc>
                <a:tc>
                  <a:txBody>
                    <a:bodyPr/>
                    <a:lstStyle/>
                    <a:p>
                      <a:pPr algn="ctr">
                        <a:spcBef>
                          <a:spcPts val="300"/>
                        </a:spcBef>
                        <a:spcAft>
                          <a:spcPts val="300"/>
                        </a:spcAft>
                      </a:pPr>
                      <a:r>
                        <a:rPr lang="zh-CN" altLang="en-US" sz="2000" smtClean="0"/>
                        <a:t>说明</a:t>
                      </a:r>
                      <a:endParaRPr lang="zh-CN" altLang="en-US" sz="2000"/>
                    </a:p>
                  </a:txBody>
                  <a:tcPr marT="108000" marB="108000"/>
                </a:tc>
              </a:tr>
              <a:tr h="370840">
                <a:tc>
                  <a:txBody>
                    <a:bodyPr/>
                    <a:lstStyle/>
                    <a:p>
                      <a:pPr algn="ctr">
                        <a:spcBef>
                          <a:spcPts val="300"/>
                        </a:spcBef>
                        <a:spcAft>
                          <a:spcPts val="300"/>
                        </a:spcAft>
                      </a:pPr>
                      <a:r>
                        <a:rPr lang="en-US" altLang="zh-CN" sz="1800" smtClean="0"/>
                        <a:t>JTD</a:t>
                      </a:r>
                      <a:endParaRPr lang="zh-CN" altLang="en-US" sz="1800"/>
                    </a:p>
                  </a:txBody>
                  <a:tcPr marT="108000" marB="108000"/>
                </a:tc>
                <a:tc>
                  <a:txBody>
                    <a:bodyPr/>
                    <a:lstStyle/>
                    <a:p>
                      <a:pPr algn="ctr">
                        <a:spcBef>
                          <a:spcPts val="300"/>
                        </a:spcBef>
                        <a:spcAft>
                          <a:spcPts val="300"/>
                        </a:spcAft>
                      </a:pPr>
                      <a:r>
                        <a:rPr lang="en-US" altLang="zh-CN" sz="1800" smtClean="0"/>
                        <a:t>this</a:t>
                      </a:r>
                      <a:endParaRPr lang="zh-CN" altLang="en-US" sz="1800"/>
                    </a:p>
                  </a:txBody>
                  <a:tcPr marT="108000" marB="108000"/>
                </a:tc>
                <a:tc>
                  <a:txBody>
                    <a:bodyPr/>
                    <a:lstStyle/>
                    <a:p>
                      <a:pPr>
                        <a:spcBef>
                          <a:spcPts val="300"/>
                        </a:spcBef>
                        <a:spcAft>
                          <a:spcPts val="300"/>
                        </a:spcAft>
                      </a:pPr>
                      <a:r>
                        <a:rPr lang="zh-CN" altLang="en-US" sz="1800" smtClean="0"/>
                        <a:t>删除</a:t>
                      </a:r>
                      <a:r>
                        <a:rPr lang="en-US" altLang="zh-CN" sz="1800" smtClean="0"/>
                        <a:t>this</a:t>
                      </a:r>
                      <a:r>
                        <a:rPr lang="zh-CN" altLang="en-US" sz="1800" smtClean="0"/>
                        <a:t>关键字</a:t>
                      </a:r>
                      <a:endParaRPr lang="zh-CN" altLang="en-US" sz="1800"/>
                    </a:p>
                  </a:txBody>
                  <a:tcPr marT="108000" marB="108000"/>
                </a:tc>
              </a:tr>
              <a:tr h="370840">
                <a:tc>
                  <a:txBody>
                    <a:bodyPr/>
                    <a:lstStyle/>
                    <a:p>
                      <a:pPr algn="ctr">
                        <a:spcBef>
                          <a:spcPts val="300"/>
                        </a:spcBef>
                        <a:spcAft>
                          <a:spcPts val="300"/>
                        </a:spcAft>
                      </a:pPr>
                      <a:r>
                        <a:rPr lang="en-US" altLang="zh-CN" sz="1800" smtClean="0"/>
                        <a:t>JSC</a:t>
                      </a:r>
                      <a:endParaRPr lang="zh-CN" altLang="en-US" sz="1800"/>
                    </a:p>
                  </a:txBody>
                  <a:tcPr marT="108000" marB="108000"/>
                </a:tc>
                <a:tc>
                  <a:txBody>
                    <a:bodyPr/>
                    <a:lstStyle/>
                    <a:p>
                      <a:pPr algn="ctr">
                        <a:spcBef>
                          <a:spcPts val="300"/>
                        </a:spcBef>
                        <a:spcAft>
                          <a:spcPts val="300"/>
                        </a:spcAft>
                      </a:pPr>
                      <a:r>
                        <a:rPr lang="zh-CN" altLang="en-US" sz="1800" smtClean="0"/>
                        <a:t>类变量</a:t>
                      </a:r>
                      <a:endParaRPr lang="zh-CN" altLang="en-US" sz="1800"/>
                    </a:p>
                  </a:txBody>
                  <a:tcPr marT="108000" marB="108000"/>
                </a:tc>
                <a:tc>
                  <a:txBody>
                    <a:bodyPr/>
                    <a:lstStyle/>
                    <a:p>
                      <a:pPr>
                        <a:spcBef>
                          <a:spcPts val="300"/>
                        </a:spcBef>
                        <a:spcAft>
                          <a:spcPts val="300"/>
                        </a:spcAft>
                      </a:pPr>
                      <a:r>
                        <a:rPr lang="zh-CN" altLang="en-US" sz="1800" smtClean="0"/>
                        <a:t>把变量变为实例变量</a:t>
                      </a:r>
                      <a:endParaRPr lang="zh-CN" altLang="en-US" sz="1800"/>
                    </a:p>
                  </a:txBody>
                  <a:tcPr marT="108000" marB="108000"/>
                </a:tc>
              </a:tr>
              <a:tr h="370840">
                <a:tc>
                  <a:txBody>
                    <a:bodyPr/>
                    <a:lstStyle/>
                    <a:p>
                      <a:pPr algn="ctr">
                        <a:spcBef>
                          <a:spcPts val="300"/>
                        </a:spcBef>
                        <a:spcAft>
                          <a:spcPts val="300"/>
                        </a:spcAft>
                      </a:pPr>
                      <a:r>
                        <a:rPr lang="en-US" altLang="zh-CN" sz="1800" smtClean="0"/>
                        <a:t>JID</a:t>
                      </a:r>
                      <a:endParaRPr lang="zh-CN" altLang="en-US" sz="1800"/>
                    </a:p>
                  </a:txBody>
                  <a:tcPr marT="108000" marB="108000"/>
                </a:tc>
                <a:tc>
                  <a:txBody>
                    <a:bodyPr/>
                    <a:lstStyle/>
                    <a:p>
                      <a:pPr algn="ctr">
                        <a:spcBef>
                          <a:spcPts val="300"/>
                        </a:spcBef>
                        <a:spcAft>
                          <a:spcPts val="300"/>
                        </a:spcAft>
                      </a:pPr>
                      <a:r>
                        <a:rPr lang="zh-CN" altLang="en-US" sz="1800" smtClean="0"/>
                        <a:t>成员变量</a:t>
                      </a:r>
                      <a:endParaRPr lang="zh-CN" altLang="en-US" sz="1800"/>
                    </a:p>
                  </a:txBody>
                  <a:tcPr marT="108000" marB="108000"/>
                </a:tc>
                <a:tc>
                  <a:txBody>
                    <a:bodyPr/>
                    <a:lstStyle/>
                    <a:p>
                      <a:pPr marL="0" marR="0" indent="0" algn="l" defTabSz="914400" rtl="0" eaLnBrk="1" fontAlgn="auto" latinLnBrk="0" hangingPunct="1">
                        <a:lnSpc>
                          <a:spcPct val="100000"/>
                        </a:lnSpc>
                        <a:spcBef>
                          <a:spcPts val="300"/>
                        </a:spcBef>
                        <a:spcAft>
                          <a:spcPts val="300"/>
                        </a:spcAft>
                        <a:buClrTx/>
                        <a:buSzTx/>
                        <a:buFontTx/>
                        <a:buNone/>
                        <a:defRPr/>
                      </a:pPr>
                      <a:r>
                        <a:rPr lang="zh-CN" altLang="en-US" sz="1800" smtClean="0"/>
                        <a:t>删除成员变量的初始化语句</a:t>
                      </a:r>
                      <a:endParaRPr lang="zh-CN" altLang="en-US" sz="1800" smtClean="0"/>
                    </a:p>
                  </a:txBody>
                  <a:tcPr marT="108000" marB="108000"/>
                </a:tc>
              </a:tr>
              <a:tr h="370840">
                <a:tc>
                  <a:txBody>
                    <a:bodyPr/>
                    <a:lstStyle/>
                    <a:p>
                      <a:pPr algn="ctr">
                        <a:spcBef>
                          <a:spcPts val="300"/>
                        </a:spcBef>
                        <a:spcAft>
                          <a:spcPts val="300"/>
                        </a:spcAft>
                      </a:pPr>
                      <a:r>
                        <a:rPr lang="en-US" altLang="zh-CN" sz="1800" smtClean="0"/>
                        <a:t>JDC</a:t>
                      </a:r>
                      <a:endParaRPr lang="zh-CN" altLang="en-US" sz="1800"/>
                    </a:p>
                  </a:txBody>
                  <a:tcPr marT="108000" marB="108000"/>
                </a:tc>
                <a:tc>
                  <a:txBody>
                    <a:bodyPr/>
                    <a:lstStyle/>
                    <a:p>
                      <a:pPr algn="ctr">
                        <a:spcBef>
                          <a:spcPts val="300"/>
                        </a:spcBef>
                        <a:spcAft>
                          <a:spcPts val="300"/>
                        </a:spcAft>
                      </a:pPr>
                      <a:r>
                        <a:rPr lang="zh-CN" altLang="en-US" sz="1800" smtClean="0"/>
                        <a:t>构造函数</a:t>
                      </a:r>
                      <a:endParaRPr lang="zh-CN" altLang="en-US" sz="1800"/>
                    </a:p>
                  </a:txBody>
                  <a:tcPr marT="108000" marB="108000"/>
                </a:tc>
                <a:tc>
                  <a:txBody>
                    <a:bodyPr/>
                    <a:lstStyle/>
                    <a:p>
                      <a:pPr>
                        <a:spcBef>
                          <a:spcPts val="300"/>
                        </a:spcBef>
                        <a:spcAft>
                          <a:spcPts val="300"/>
                        </a:spcAft>
                      </a:pPr>
                      <a:r>
                        <a:rPr lang="zh-CN" altLang="en-US" sz="1800" smtClean="0"/>
                        <a:t>删除用户定义的构造函数</a:t>
                      </a:r>
                      <a:endParaRPr lang="zh-CN" altLang="en-US" sz="1800"/>
                    </a:p>
                  </a:txBody>
                  <a:tcPr marT="108000" marB="108000"/>
                </a:tc>
              </a:tr>
              <a:tr h="370840">
                <a:tc>
                  <a:txBody>
                    <a:bodyPr/>
                    <a:lstStyle/>
                    <a:p>
                      <a:pPr algn="ctr">
                        <a:spcBef>
                          <a:spcPts val="300"/>
                        </a:spcBef>
                        <a:spcAft>
                          <a:spcPts val="300"/>
                        </a:spcAft>
                      </a:pPr>
                      <a:r>
                        <a:rPr lang="en-US" altLang="zh-CN" sz="1800" smtClean="0"/>
                        <a:t>EOA</a:t>
                      </a:r>
                      <a:endParaRPr lang="zh-CN" altLang="en-US" sz="1800"/>
                    </a:p>
                  </a:txBody>
                  <a:tcPr marT="108000" marB="108000"/>
                </a:tc>
                <a:tc>
                  <a:txBody>
                    <a:bodyPr/>
                    <a:lstStyle/>
                    <a:p>
                      <a:pPr algn="ctr">
                        <a:spcBef>
                          <a:spcPts val="300"/>
                        </a:spcBef>
                        <a:spcAft>
                          <a:spcPts val="300"/>
                        </a:spcAft>
                      </a:pPr>
                      <a:r>
                        <a:rPr lang="zh-CN" altLang="en-US" sz="1800" smtClean="0"/>
                        <a:t>对象引用</a:t>
                      </a:r>
                      <a:endParaRPr lang="zh-CN" altLang="en-US" sz="1800"/>
                    </a:p>
                  </a:txBody>
                  <a:tcPr marT="108000" marB="108000"/>
                </a:tc>
                <a:tc>
                  <a:txBody>
                    <a:bodyPr/>
                    <a:lstStyle/>
                    <a:p>
                      <a:pPr>
                        <a:spcBef>
                          <a:spcPts val="300"/>
                        </a:spcBef>
                        <a:spcAft>
                          <a:spcPts val="300"/>
                        </a:spcAft>
                      </a:pPr>
                      <a:r>
                        <a:rPr lang="zh-CN" altLang="en-US" sz="1800" smtClean="0"/>
                        <a:t>通过</a:t>
                      </a:r>
                      <a:r>
                        <a:rPr lang="en-US" altLang="zh-CN" sz="1800" smtClean="0"/>
                        <a:t>clone()</a:t>
                      </a:r>
                      <a:r>
                        <a:rPr lang="zh-CN" altLang="en-US" sz="1800" smtClean="0"/>
                        <a:t>，使用对象内容替换对象引用</a:t>
                      </a:r>
                      <a:endParaRPr lang="zh-CN" altLang="en-US" sz="1800"/>
                    </a:p>
                  </a:txBody>
                  <a:tcPr marT="108000" marB="108000"/>
                </a:tc>
              </a:tr>
              <a:tr h="370840">
                <a:tc>
                  <a:txBody>
                    <a:bodyPr/>
                    <a:lstStyle/>
                    <a:p>
                      <a:pPr algn="ctr">
                        <a:spcBef>
                          <a:spcPts val="300"/>
                        </a:spcBef>
                        <a:spcAft>
                          <a:spcPts val="300"/>
                        </a:spcAft>
                      </a:pPr>
                      <a:r>
                        <a:rPr lang="en-US" altLang="zh-CN" sz="1800" smtClean="0"/>
                        <a:t>EOC</a:t>
                      </a:r>
                      <a:endParaRPr lang="zh-CN" altLang="en-US" sz="1800"/>
                    </a:p>
                  </a:txBody>
                  <a:tcPr marT="108000" marB="108000"/>
                </a:tc>
                <a:tc>
                  <a:txBody>
                    <a:bodyPr/>
                    <a:lstStyle/>
                    <a:p>
                      <a:pPr algn="ctr">
                        <a:spcBef>
                          <a:spcPts val="300"/>
                        </a:spcBef>
                        <a:spcAft>
                          <a:spcPts val="300"/>
                        </a:spcAft>
                      </a:pPr>
                      <a:r>
                        <a:rPr lang="zh-CN" altLang="en-US" sz="1800" smtClean="0"/>
                        <a:t>比较表达式</a:t>
                      </a:r>
                      <a:endParaRPr lang="zh-CN" altLang="en-US" sz="1800"/>
                    </a:p>
                  </a:txBody>
                  <a:tcPr marT="108000" marB="108000"/>
                </a:tc>
                <a:tc>
                  <a:txBody>
                    <a:bodyPr/>
                    <a:lstStyle/>
                    <a:p>
                      <a:pPr>
                        <a:spcBef>
                          <a:spcPts val="300"/>
                        </a:spcBef>
                        <a:spcAft>
                          <a:spcPts val="300"/>
                        </a:spcAft>
                      </a:pPr>
                      <a:r>
                        <a:rPr lang="zh-CN" altLang="en-US" sz="1800" smtClean="0"/>
                        <a:t>使用</a:t>
                      </a:r>
                      <a:r>
                        <a:rPr lang="en-US" altLang="zh-CN" sz="1800" smtClean="0"/>
                        <a:t>equals</a:t>
                      </a:r>
                      <a:r>
                        <a:rPr lang="zh-CN" altLang="en-US" sz="1800" smtClean="0"/>
                        <a:t>替换</a:t>
                      </a:r>
                      <a:r>
                        <a:rPr lang="en-US" altLang="zh-CN" sz="1800" smtClean="0"/>
                        <a:t>==</a:t>
                      </a:r>
                      <a:endParaRPr lang="zh-CN" altLang="en-US" sz="1800"/>
                    </a:p>
                  </a:txBody>
                  <a:tcPr marT="108000" marB="108000"/>
                </a:tc>
              </a:tr>
              <a:tr h="370840">
                <a:tc>
                  <a:txBody>
                    <a:bodyPr/>
                    <a:lstStyle/>
                    <a:p>
                      <a:pPr algn="ctr">
                        <a:spcBef>
                          <a:spcPts val="300"/>
                        </a:spcBef>
                        <a:spcAft>
                          <a:spcPts val="300"/>
                        </a:spcAft>
                      </a:pPr>
                      <a:r>
                        <a:rPr lang="en-US" altLang="zh-CN" sz="1800" smtClean="0"/>
                        <a:t>EAM</a:t>
                      </a:r>
                      <a:endParaRPr lang="zh-CN" altLang="en-US" sz="1800"/>
                    </a:p>
                  </a:txBody>
                  <a:tcPr marT="108000" marB="108000"/>
                </a:tc>
                <a:tc>
                  <a:txBody>
                    <a:bodyPr/>
                    <a:lstStyle/>
                    <a:p>
                      <a:pPr algn="ctr">
                        <a:spcBef>
                          <a:spcPts val="300"/>
                        </a:spcBef>
                        <a:spcAft>
                          <a:spcPts val="300"/>
                        </a:spcAft>
                      </a:pPr>
                      <a:r>
                        <a:rPr lang="zh-CN" altLang="en-US" sz="1800" smtClean="0"/>
                        <a:t>访问方法调用</a:t>
                      </a:r>
                      <a:endParaRPr lang="zh-CN" altLang="en-US" sz="1800"/>
                    </a:p>
                  </a:txBody>
                  <a:tcPr marT="108000" marB="108000"/>
                </a:tc>
                <a:tc>
                  <a:txBody>
                    <a:bodyPr/>
                    <a:lstStyle/>
                    <a:p>
                      <a:pPr>
                        <a:spcBef>
                          <a:spcPts val="300"/>
                        </a:spcBef>
                        <a:spcAft>
                          <a:spcPts val="300"/>
                        </a:spcAft>
                      </a:pPr>
                      <a:r>
                        <a:rPr lang="zh-CN" altLang="en-US" sz="1800" smtClean="0"/>
                        <a:t>替换对相互兼容的访问方法的调用</a:t>
                      </a:r>
                      <a:endParaRPr lang="zh-CN" altLang="en-US" sz="1800"/>
                    </a:p>
                  </a:txBody>
                  <a:tcPr marT="108000" marB="108000"/>
                </a:tc>
              </a:tr>
              <a:tr h="370840">
                <a:tc>
                  <a:txBody>
                    <a:bodyPr/>
                    <a:lstStyle/>
                    <a:p>
                      <a:pPr algn="ctr">
                        <a:spcBef>
                          <a:spcPts val="300"/>
                        </a:spcBef>
                        <a:spcAft>
                          <a:spcPts val="300"/>
                        </a:spcAft>
                      </a:pPr>
                      <a:r>
                        <a:rPr lang="en-US" altLang="zh-CN" sz="1800" smtClean="0"/>
                        <a:t>EMM</a:t>
                      </a:r>
                      <a:endParaRPr lang="zh-CN" altLang="en-US" sz="1800"/>
                    </a:p>
                  </a:txBody>
                  <a:tcPr marT="108000" marB="108000"/>
                </a:tc>
                <a:tc>
                  <a:txBody>
                    <a:bodyPr/>
                    <a:lstStyle/>
                    <a:p>
                      <a:pPr algn="ctr">
                        <a:spcBef>
                          <a:spcPts val="300"/>
                        </a:spcBef>
                        <a:spcAft>
                          <a:spcPts val="300"/>
                        </a:spcAft>
                      </a:pPr>
                      <a:r>
                        <a:rPr lang="zh-CN" altLang="en-US" sz="1800" smtClean="0"/>
                        <a:t>修改方法调用</a:t>
                      </a:r>
                      <a:endParaRPr lang="zh-CN" altLang="en-US" sz="1800"/>
                    </a:p>
                  </a:txBody>
                  <a:tcPr marT="108000" marB="108000"/>
                </a:tc>
                <a:tc>
                  <a:txBody>
                    <a:bodyPr/>
                    <a:lstStyle/>
                    <a:p>
                      <a:pPr>
                        <a:spcBef>
                          <a:spcPts val="300"/>
                        </a:spcBef>
                        <a:spcAft>
                          <a:spcPts val="300"/>
                        </a:spcAft>
                      </a:pPr>
                      <a:r>
                        <a:rPr lang="zh-CN" altLang="en-US" sz="1800" smtClean="0"/>
                        <a:t>替换对相互兼容的修改方法的调用</a:t>
                      </a:r>
                      <a:endParaRPr lang="zh-CN" altLang="en-US" sz="1800"/>
                    </a:p>
                  </a:txBody>
                  <a:tcPr marT="108000" marB="108000"/>
                </a:tc>
              </a:tr>
            </a:tbl>
          </a:graphicData>
        </a:graphic>
      </p:graphicFrame>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olidFill>
                  <a:srgbClr val="C00000"/>
                </a:solidFill>
              </a:rPr>
              <a:t>Java</a:t>
            </a:r>
            <a:r>
              <a:rPr lang="zh-CN" altLang="en-US" smtClean="0">
                <a:solidFill>
                  <a:srgbClr val="C00000"/>
                </a:solidFill>
              </a:rPr>
              <a:t>语言的变异算子</a:t>
            </a:r>
            <a:endParaRPr lang="zh-CN" altLang="en-US" smtClean="0">
              <a:solidFill>
                <a:srgbClr val="C00000"/>
              </a:solidFill>
            </a:endParaRPr>
          </a:p>
        </p:txBody>
      </p:sp>
      <p:sp>
        <p:nvSpPr>
          <p:cNvPr id="3" name="内容占位符 2"/>
          <p:cNvSpPr>
            <a:spLocks noGrp="1"/>
          </p:cNvSpPr>
          <p:nvPr>
            <p:ph idx="1"/>
          </p:nvPr>
        </p:nvSpPr>
        <p:spPr/>
        <p:txBody>
          <a:bodyPr/>
          <a:lstStyle/>
          <a:p>
            <a:r>
              <a:rPr lang="zh-CN" altLang="en-US" smtClean="0"/>
              <a:t>实例：</a:t>
            </a:r>
            <a:r>
              <a:rPr lang="en-US" altLang="zh-CN" smtClean="0"/>
              <a:t>Java</a:t>
            </a:r>
            <a:r>
              <a:rPr lang="zh-CN" altLang="en-US" smtClean="0"/>
              <a:t>特有的变异算子</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6" name="矩形 5"/>
          <p:cNvSpPr/>
          <p:nvPr/>
        </p:nvSpPr>
        <p:spPr>
          <a:xfrm>
            <a:off x="1676400" y="3508167"/>
            <a:ext cx="3505200" cy="1338828"/>
          </a:xfrm>
          <a:prstGeom prst="rect">
            <a:avLst/>
          </a:prstGeom>
          <a:ln>
            <a:solidFill>
              <a:srgbClr val="00B0F0"/>
            </a:solidFill>
          </a:ln>
        </p:spPr>
        <p:txBody>
          <a:bodyPr wrap="square">
            <a:spAutoFit/>
          </a:bodyPr>
          <a:lstStyle/>
          <a:p>
            <a:pPr>
              <a:lnSpc>
                <a:spcPct val="150000"/>
              </a:lnSpc>
            </a:pPr>
            <a:r>
              <a:rPr lang="en-US" altLang="zh-CN" b="1" i="0" smtClean="0"/>
              <a:t>Element hydrogen, hisotope;</a:t>
            </a:r>
            <a:endParaRPr lang="en-US" altLang="zh-CN" b="1" i="0" smtClean="0"/>
          </a:p>
          <a:p>
            <a:pPr>
              <a:lnSpc>
                <a:spcPct val="150000"/>
              </a:lnSpc>
            </a:pPr>
            <a:r>
              <a:rPr lang="en-US" altLang="zh-CN" b="1" i="0" smtClean="0"/>
              <a:t>hydorgen = </a:t>
            </a:r>
            <a:r>
              <a:rPr lang="en-US" altLang="zh-CN" b="1" i="0" smtClean="0">
                <a:solidFill>
                  <a:srgbClr val="0000FF"/>
                </a:solidFill>
              </a:rPr>
              <a:t>new</a:t>
            </a:r>
            <a:r>
              <a:rPr lang="en-US" altLang="zh-CN" b="1" i="0" smtClean="0"/>
              <a:t> Element();</a:t>
            </a:r>
            <a:endParaRPr lang="en-US" altLang="zh-CN" b="1" i="0" smtClean="0"/>
          </a:p>
          <a:p>
            <a:pPr>
              <a:lnSpc>
                <a:spcPct val="150000"/>
              </a:lnSpc>
            </a:pPr>
            <a:r>
              <a:rPr lang="en-US" altLang="zh-CN" b="1" i="0" smtClean="0"/>
              <a:t>hisotope = hydrogen;</a:t>
            </a:r>
            <a:endParaRPr lang="zh-CN" altLang="en-US" b="1" i="0" smtClean="0"/>
          </a:p>
        </p:txBody>
      </p:sp>
      <p:sp>
        <p:nvSpPr>
          <p:cNvPr id="8" name="右箭头 7"/>
          <p:cNvSpPr/>
          <p:nvPr/>
        </p:nvSpPr>
        <p:spPr bwMode="auto">
          <a:xfrm>
            <a:off x="5410200" y="4193967"/>
            <a:ext cx="1066800" cy="228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
        <p:nvSpPr>
          <p:cNvPr id="9" name="矩形 8"/>
          <p:cNvSpPr/>
          <p:nvPr/>
        </p:nvSpPr>
        <p:spPr>
          <a:xfrm>
            <a:off x="5486401" y="3736768"/>
            <a:ext cx="833883" cy="461665"/>
          </a:xfrm>
          <a:prstGeom prst="rect">
            <a:avLst/>
          </a:prstGeom>
        </p:spPr>
        <p:txBody>
          <a:bodyPr wrap="none">
            <a:spAutoFit/>
          </a:bodyPr>
          <a:lstStyle/>
          <a:p>
            <a:r>
              <a:rPr lang="en-US" altLang="zh-CN" sz="2400" i="0"/>
              <a:t>EOA</a:t>
            </a:r>
            <a:endParaRPr lang="zh-CN" altLang="en-US" sz="2400" i="0"/>
          </a:p>
        </p:txBody>
      </p:sp>
      <p:sp>
        <p:nvSpPr>
          <p:cNvPr id="13" name="矩形 12"/>
          <p:cNvSpPr/>
          <p:nvPr/>
        </p:nvSpPr>
        <p:spPr>
          <a:xfrm>
            <a:off x="6858000" y="3534797"/>
            <a:ext cx="3505200" cy="1338828"/>
          </a:xfrm>
          <a:prstGeom prst="rect">
            <a:avLst/>
          </a:prstGeom>
          <a:ln>
            <a:solidFill>
              <a:srgbClr val="00B0F0"/>
            </a:solidFill>
          </a:ln>
        </p:spPr>
        <p:txBody>
          <a:bodyPr wrap="square">
            <a:spAutoFit/>
          </a:bodyPr>
          <a:lstStyle/>
          <a:p>
            <a:pPr>
              <a:lnSpc>
                <a:spcPct val="150000"/>
              </a:lnSpc>
            </a:pPr>
            <a:r>
              <a:rPr lang="en-US" altLang="zh-CN" b="1" i="0" smtClean="0"/>
              <a:t>Element hydrogen, hisotope;</a:t>
            </a:r>
            <a:endParaRPr lang="en-US" altLang="zh-CN" b="1" i="0" smtClean="0"/>
          </a:p>
          <a:p>
            <a:pPr>
              <a:lnSpc>
                <a:spcPct val="150000"/>
              </a:lnSpc>
            </a:pPr>
            <a:r>
              <a:rPr lang="en-US" altLang="zh-CN" b="1" i="0" smtClean="0"/>
              <a:t>hydorgen = </a:t>
            </a:r>
            <a:r>
              <a:rPr lang="en-US" altLang="zh-CN" b="1" i="0" smtClean="0">
                <a:solidFill>
                  <a:srgbClr val="0000FF"/>
                </a:solidFill>
              </a:rPr>
              <a:t>new</a:t>
            </a:r>
            <a:r>
              <a:rPr lang="en-US" altLang="zh-CN" b="1" i="0" smtClean="0"/>
              <a:t> Element();</a:t>
            </a:r>
            <a:endParaRPr lang="en-US" altLang="zh-CN" b="1" i="0" smtClean="0"/>
          </a:p>
          <a:p>
            <a:pPr>
              <a:lnSpc>
                <a:spcPct val="150000"/>
              </a:lnSpc>
            </a:pPr>
            <a:r>
              <a:rPr lang="en-US" altLang="zh-CN" b="1" i="0" smtClean="0"/>
              <a:t>hisotope = hydrogenclone();</a:t>
            </a:r>
            <a:endParaRPr lang="zh-CN" altLang="en-US" b="1" i="0" smtClean="0"/>
          </a:p>
        </p:txBody>
      </p:sp>
      <p:pic>
        <p:nvPicPr>
          <p:cNvPr id="47106" name="Picture 2"/>
          <p:cNvPicPr>
            <a:picLocks noChangeAspect="1" noChangeArrowheads="1"/>
          </p:cNvPicPr>
          <p:nvPr/>
        </p:nvPicPr>
        <p:blipFill>
          <a:blip r:embed="rId1"/>
          <a:srcRect/>
          <a:stretch>
            <a:fillRect/>
          </a:stretch>
        </p:blipFill>
        <p:spPr bwMode="auto">
          <a:xfrm>
            <a:off x="1752600" y="2359025"/>
            <a:ext cx="8728364" cy="457200"/>
          </a:xfrm>
          <a:prstGeom prst="rect">
            <a:avLst/>
          </a:prstGeom>
          <a:noFill/>
          <a:ln w="9525">
            <a:solidFill>
              <a:srgbClr val="00B050"/>
            </a:solidFill>
            <a:miter lim="800000"/>
            <a:headEnd/>
            <a:tailEnd/>
          </a:ln>
          <a:effec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p:bldP spid="13"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a:xfrm>
            <a:off x="1010285" y="1419225"/>
            <a:ext cx="5695315" cy="4676775"/>
          </a:xfrm>
        </p:spPr>
        <p:txBody>
          <a:bodyPr/>
          <a:lstStyle/>
          <a:p>
            <a:pPr marL="342900" fontAlgn="auto">
              <a:lnSpc>
                <a:spcPct val="120000"/>
              </a:lnSpc>
              <a:spcBef>
                <a:spcPct val="20000"/>
              </a:spcBef>
              <a:spcAft>
                <a:spcPts val="0"/>
              </a:spcAft>
              <a:buClr>
                <a:schemeClr val="tx2"/>
              </a:buClr>
              <a:buSzPct val="70000"/>
              <a:defRPr/>
            </a:pPr>
            <a:r>
              <a:rPr lang="zh-CN" altLang="en-US" dirty="0" smtClean="0">
                <a:latin typeface="+mn-ea"/>
                <a:ea typeface="+mn-ea"/>
              </a:rPr>
              <a:t>第</a:t>
            </a:r>
            <a:r>
              <a:rPr lang="en-US" altLang="zh-CN" dirty="0" smtClean="0">
                <a:latin typeface="+mn-ea"/>
                <a:ea typeface="+mn-ea"/>
              </a:rPr>
              <a:t>1</a:t>
            </a:r>
            <a:r>
              <a:rPr lang="zh-CN" altLang="en-US" dirty="0" smtClean="0">
                <a:latin typeface="+mn-ea"/>
                <a:ea typeface="+mn-ea"/>
              </a:rPr>
              <a:t>步：程序执行</a:t>
            </a:r>
            <a:endParaRPr lang="zh-CN" altLang="en-US" dirty="0" smtClean="0">
              <a:latin typeface="+mn-ea"/>
              <a:ea typeface="+mn-ea"/>
            </a:endParaRPr>
          </a:p>
          <a:p>
            <a:pPr marL="692150" lvl="1" indent="-347980" fontAlgn="auto">
              <a:lnSpc>
                <a:spcPct val="120000"/>
              </a:lnSpc>
              <a:spcBef>
                <a:spcPct val="20000"/>
              </a:spcBef>
              <a:spcAft>
                <a:spcPts val="0"/>
              </a:spcAft>
              <a:buClr>
                <a:schemeClr val="accent2"/>
              </a:buClr>
              <a:buFont typeface="Wingdings" panose="05000000000000000000" pitchFamily="2" charset="2"/>
              <a:buChar char="l"/>
              <a:defRPr/>
            </a:pPr>
            <a:r>
              <a:rPr lang="en-US" altLang="zh-CN" dirty="0" smtClean="0">
                <a:ea typeface="华文新魏" panose="02010800040101010101" pitchFamily="2" charset="-122"/>
              </a:rPr>
              <a:t>P(t)</a:t>
            </a:r>
            <a:r>
              <a:rPr lang="zh-CN" altLang="en-US" dirty="0" smtClean="0">
                <a:ea typeface="华文新魏" panose="02010800040101010101" pitchFamily="2" charset="-122"/>
              </a:rPr>
              <a:t>表示给定测试用例</a:t>
            </a:r>
            <a:r>
              <a:rPr lang="en-US" altLang="zh-CN" dirty="0" smtClean="0">
                <a:ea typeface="华文新魏" panose="02010800040101010101" pitchFamily="2" charset="-122"/>
              </a:rPr>
              <a:t>t</a:t>
            </a:r>
            <a:r>
              <a:rPr lang="zh-CN" altLang="en-US" dirty="0" smtClean="0">
                <a:ea typeface="华文新魏" panose="02010800040101010101" pitchFamily="2" charset="-122"/>
              </a:rPr>
              <a:t>，程序</a:t>
            </a:r>
            <a:r>
              <a:rPr lang="en-US" altLang="zh-CN" dirty="0" smtClean="0">
                <a:ea typeface="华文新魏" panose="02010800040101010101" pitchFamily="2" charset="-122"/>
              </a:rPr>
              <a:t>P</a:t>
            </a:r>
            <a:r>
              <a:rPr lang="zh-CN" altLang="en-US" dirty="0" smtClean="0">
                <a:ea typeface="华文新魏" panose="02010800040101010101" pitchFamily="2" charset="-122"/>
              </a:rPr>
              <a:t>的执行结果由</a:t>
            </a:r>
            <a:r>
              <a:rPr lang="en-US" altLang="zh-CN" dirty="0" smtClean="0">
                <a:ea typeface="华文新魏" panose="02010800040101010101" pitchFamily="2" charset="-122"/>
              </a:rPr>
              <a:t>P</a:t>
            </a:r>
            <a:r>
              <a:rPr lang="zh-CN" altLang="en-US" dirty="0" smtClean="0">
                <a:ea typeface="华文新魏" panose="02010800040101010101" pitchFamily="2" charset="-122"/>
              </a:rPr>
              <a:t>中变量的输出值表示（也可能与</a:t>
            </a:r>
            <a:r>
              <a:rPr lang="en-US" altLang="zh-CN" dirty="0" smtClean="0">
                <a:ea typeface="华文新魏" panose="02010800040101010101" pitchFamily="2" charset="-122"/>
              </a:rPr>
              <a:t>P</a:t>
            </a:r>
            <a:r>
              <a:rPr lang="zh-CN" altLang="en-US" dirty="0" smtClean="0">
                <a:ea typeface="华文新魏" panose="02010800040101010101" pitchFamily="2" charset="-122"/>
              </a:rPr>
              <a:t>的性能有关）</a:t>
            </a:r>
            <a:endParaRPr lang="zh-CN" altLang="en-US" dirty="0" smtClean="0">
              <a:ea typeface="华文新魏" panose="02010800040101010101" pitchFamily="2" charset="-122"/>
            </a:endParaRPr>
          </a:p>
          <a:p>
            <a:pPr marL="692150" lvl="1" indent="-347980" fontAlgn="auto">
              <a:lnSpc>
                <a:spcPct val="120000"/>
              </a:lnSpc>
              <a:spcBef>
                <a:spcPct val="20000"/>
              </a:spcBef>
              <a:spcAft>
                <a:spcPts val="0"/>
              </a:spcAft>
              <a:buClr>
                <a:schemeClr val="accent2"/>
              </a:buClr>
              <a:buFont typeface="Wingdings" panose="05000000000000000000" pitchFamily="2" charset="2"/>
              <a:buChar char="l"/>
              <a:defRPr/>
            </a:pPr>
            <a:r>
              <a:rPr lang="zh-CN" altLang="en-US" dirty="0" smtClean="0">
                <a:ea typeface="华文新魏" panose="02010800040101010101" pitchFamily="2" charset="-122"/>
              </a:rPr>
              <a:t>如果</a:t>
            </a:r>
            <a:r>
              <a:rPr lang="en-US" altLang="zh-CN" dirty="0" smtClean="0">
                <a:ea typeface="华文新魏" panose="02010800040101010101" pitchFamily="2" charset="-122"/>
              </a:rPr>
              <a:t>P</a:t>
            </a:r>
            <a:r>
              <a:rPr lang="zh-CN" altLang="en-US" dirty="0" smtClean="0">
                <a:ea typeface="华文新魏" panose="02010800040101010101" pitchFamily="2" charset="-122"/>
              </a:rPr>
              <a:t>已经采用测试</a:t>
            </a:r>
            <a:r>
              <a:rPr lang="en-US" altLang="zh-CN" dirty="0" smtClean="0">
                <a:ea typeface="华文新魏" panose="02010800040101010101" pitchFamily="2" charset="-122"/>
              </a:rPr>
              <a:t>T</a:t>
            </a:r>
            <a:r>
              <a:rPr lang="zh-CN" altLang="en-US" dirty="0" smtClean="0">
                <a:ea typeface="华文新魏" panose="02010800040101010101" pitchFamily="2" charset="-122"/>
              </a:rPr>
              <a:t>测试通过，测试结果已保存至数据库中，则这一步可以跳过。</a:t>
            </a:r>
            <a:endParaRPr lang="zh-CN" altLang="en-US" dirty="0" smtClean="0">
              <a:ea typeface="华文新魏" panose="02010800040101010101" pitchFamily="2" charset="-122"/>
            </a:endParaRPr>
          </a:p>
          <a:p>
            <a:pPr marL="692150" lvl="1" indent="-347980" fontAlgn="auto">
              <a:lnSpc>
                <a:spcPct val="120000"/>
              </a:lnSpc>
              <a:spcBef>
                <a:spcPct val="20000"/>
              </a:spcBef>
              <a:spcAft>
                <a:spcPts val="0"/>
              </a:spcAft>
              <a:buClr>
                <a:schemeClr val="accent2"/>
              </a:buClr>
              <a:buFont typeface="Wingdings" panose="05000000000000000000" pitchFamily="2" charset="2"/>
              <a:buChar char="l"/>
              <a:defRPr/>
            </a:pPr>
            <a:r>
              <a:rPr lang="zh-CN" altLang="en-US" dirty="0" smtClean="0">
                <a:ea typeface="华文新魏" panose="02010800040101010101" pitchFamily="2" charset="-122"/>
              </a:rPr>
              <a:t>不论何种情况，第一步的结果是对于</a:t>
            </a:r>
            <a:r>
              <a:rPr lang="en-US" altLang="zh-CN" dirty="0" smtClean="0">
                <a:ea typeface="华文新魏" panose="02010800040101010101" pitchFamily="2" charset="-122"/>
              </a:rPr>
              <a:t>T</a:t>
            </a:r>
            <a:r>
              <a:rPr lang="zh-CN" altLang="en-US" dirty="0" smtClean="0">
                <a:ea typeface="华文新魏" panose="02010800040101010101" pitchFamily="2" charset="-122"/>
              </a:rPr>
              <a:t>中的所有</a:t>
            </a:r>
            <a:r>
              <a:rPr lang="en-US" altLang="zh-CN" dirty="0" smtClean="0">
                <a:ea typeface="华文新魏" panose="02010800040101010101" pitchFamily="2" charset="-122"/>
              </a:rPr>
              <a:t>t</a:t>
            </a:r>
            <a:r>
              <a:rPr lang="zh-CN" altLang="en-US" dirty="0" smtClean="0">
                <a:ea typeface="华文新魏" panose="02010800040101010101" pitchFamily="2" charset="-122"/>
              </a:rPr>
              <a:t>，</a:t>
            </a:r>
            <a:r>
              <a:rPr lang="en-US" altLang="zh-CN" dirty="0" smtClean="0">
                <a:ea typeface="华文新魏" panose="02010800040101010101" pitchFamily="2" charset="-122"/>
              </a:rPr>
              <a:t>P(t)</a:t>
            </a:r>
            <a:r>
              <a:rPr lang="zh-CN" altLang="en-US" dirty="0">
                <a:ea typeface="华文新魏" panose="02010800040101010101" pitchFamily="2" charset="-122"/>
              </a:rPr>
              <a:t>均</a:t>
            </a:r>
            <a:r>
              <a:rPr lang="zh-CN" altLang="en-US" dirty="0" smtClean="0">
                <a:ea typeface="华文新魏" panose="02010800040101010101" pitchFamily="2" charset="-122"/>
              </a:rPr>
              <a:t>能通过</a:t>
            </a:r>
            <a:endParaRPr lang="zh-CN" altLang="en-US" dirty="0" smtClean="0">
              <a:ea typeface="华文新魏" panose="02010800040101010101" pitchFamily="2" charset="-122"/>
            </a:endParaRPr>
          </a:p>
          <a:p>
            <a:endParaRPr lang="zh-CN" altLang="en-US" dirty="0"/>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5" name="Group 12"/>
          <p:cNvGrpSpPr/>
          <p:nvPr/>
        </p:nvGrpSpPr>
        <p:grpSpPr bwMode="auto">
          <a:xfrm>
            <a:off x="7315201" y="1219200"/>
            <a:ext cx="2551113" cy="4138612"/>
            <a:chOff x="4390" y="994"/>
            <a:chExt cx="1149" cy="1939"/>
          </a:xfrm>
        </p:grpSpPr>
        <p:grpSp>
          <p:nvGrpSpPr>
            <p:cNvPr id="6" name="Group 9"/>
            <p:cNvGrpSpPr/>
            <p:nvPr/>
          </p:nvGrpSpPr>
          <p:grpSpPr bwMode="auto">
            <a:xfrm>
              <a:off x="4390" y="994"/>
              <a:ext cx="1007" cy="1939"/>
              <a:chOff x="2397" y="1626"/>
              <a:chExt cx="1007" cy="1939"/>
            </a:xfrm>
          </p:grpSpPr>
          <p:sp>
            <p:nvSpPr>
              <p:cNvPr id="8" name="AutoShape 4"/>
              <p:cNvSpPr>
                <a:spLocks noChangeArrowheads="1"/>
              </p:cNvSpPr>
              <p:nvPr/>
            </p:nvSpPr>
            <p:spPr bwMode="auto">
              <a:xfrm>
                <a:off x="2397" y="2352"/>
                <a:ext cx="1007" cy="448"/>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对</a:t>
                </a:r>
                <a:r>
                  <a:rPr lang="en-US" altLang="zh-CN" sz="2000" b="1" i="0">
                    <a:solidFill>
                      <a:srgbClr val="000066"/>
                    </a:solidFill>
                    <a:latin typeface="华文新魏" panose="02010800040101010101" pitchFamily="2" charset="-122"/>
                    <a:ea typeface="华文新魏" panose="02010800040101010101" pitchFamily="2" charset="-122"/>
                  </a:rPr>
                  <a:t>T</a:t>
                </a:r>
                <a:r>
                  <a:rPr lang="zh-CN" altLang="en-US" sz="2000" b="1" i="0">
                    <a:solidFill>
                      <a:srgbClr val="000066"/>
                    </a:solidFill>
                    <a:latin typeface="华文新魏" panose="02010800040101010101" pitchFamily="2" charset="-122"/>
                    <a:ea typeface="华文新魏" panose="02010800040101010101" pitchFamily="2" charset="-122"/>
                  </a:rPr>
                  <a:t>中的每一个</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测试用例，测试</a:t>
                </a:r>
                <a:r>
                  <a:rPr lang="en-US" altLang="zh-CN" sz="2000" b="1" i="0">
                    <a:solidFill>
                      <a:srgbClr val="000066"/>
                    </a:solidFill>
                    <a:latin typeface="华文新魏" panose="02010800040101010101" pitchFamily="2" charset="-122"/>
                    <a:ea typeface="华文新魏" panose="02010800040101010101" pitchFamily="2" charset="-122"/>
                  </a:rPr>
                  <a:t>P</a:t>
                </a:r>
                <a:endParaRPr lang="zh-CN" altLang="en-US" sz="2000" b="1" i="0">
                  <a:solidFill>
                    <a:srgbClr val="000066"/>
                  </a:solidFill>
                  <a:latin typeface="华文新魏" panose="02010800040101010101" pitchFamily="2" charset="-122"/>
                  <a:ea typeface="华文新魏" panose="02010800040101010101" pitchFamily="2" charset="-122"/>
                </a:endParaRPr>
              </a:p>
            </p:txBody>
          </p:sp>
          <p:sp>
            <p:nvSpPr>
              <p:cNvPr id="9" name="Oval 5"/>
              <p:cNvSpPr>
                <a:spLocks noChangeArrowheads="1"/>
              </p:cNvSpPr>
              <p:nvPr/>
            </p:nvSpPr>
            <p:spPr bwMode="auto">
              <a:xfrm>
                <a:off x="2470" y="3162"/>
                <a:ext cx="878" cy="403"/>
              </a:xfrm>
              <a:prstGeom prst="ellipse">
                <a:avLst/>
              </a:prstGeom>
              <a:solidFill>
                <a:srgbClr val="D7D6AE"/>
              </a:solidFill>
              <a:ln w="12700" cap="sq" algn="ctr">
                <a:solidFill>
                  <a:schemeClr val="tx1"/>
                </a:solidFill>
                <a:round/>
              </a:ln>
            </p:spPr>
            <p:txBody>
              <a:bodyPr wrap="none" anchor="ctr"/>
              <a:lstStyle/>
              <a:p>
                <a:pPr algn="ctr"/>
                <a:r>
                  <a:rPr lang="zh-CN" altLang="en-US" sz="2000" b="1" i="0" dirty="0">
                    <a:solidFill>
                      <a:srgbClr val="000066"/>
                    </a:solidFill>
                    <a:latin typeface="华文新魏" panose="02010800040101010101" pitchFamily="2" charset="-122"/>
                    <a:ea typeface="华文新魏" panose="02010800040101010101" pitchFamily="2" charset="-122"/>
                  </a:rPr>
                  <a:t>对于</a:t>
                </a:r>
                <a:r>
                  <a:rPr lang="en-US" altLang="zh-CN" sz="2000" b="1" i="0" dirty="0">
                    <a:solidFill>
                      <a:srgbClr val="000066"/>
                    </a:solidFill>
                    <a:latin typeface="华文新魏" panose="02010800040101010101" pitchFamily="2" charset="-122"/>
                    <a:ea typeface="华文新魏" panose="02010800040101010101" pitchFamily="2" charset="-122"/>
                  </a:rPr>
                  <a:t>T</a:t>
                </a:r>
                <a:r>
                  <a:rPr lang="zh-CN" altLang="en-US" sz="2000" b="1" i="0" dirty="0">
                    <a:solidFill>
                      <a:srgbClr val="000066"/>
                    </a:solidFill>
                    <a:latin typeface="华文新魏" panose="02010800040101010101" pitchFamily="2" charset="-122"/>
                    <a:ea typeface="华文新魏" panose="02010800040101010101" pitchFamily="2" charset="-122"/>
                  </a:rPr>
                  <a:t>中所</a:t>
                </a:r>
                <a:endParaRPr lang="zh-CN" altLang="en-US" sz="2000" b="1" i="0" dirty="0">
                  <a:solidFill>
                    <a:srgbClr val="000066"/>
                  </a:solidFill>
                  <a:latin typeface="华文新魏" panose="02010800040101010101" pitchFamily="2" charset="-122"/>
                  <a:ea typeface="华文新魏" panose="02010800040101010101" pitchFamily="2" charset="-122"/>
                </a:endParaRPr>
              </a:p>
              <a:p>
                <a:pPr algn="ctr"/>
                <a:r>
                  <a:rPr lang="zh-CN" altLang="en-US" sz="2000" b="1" i="0" dirty="0">
                    <a:solidFill>
                      <a:srgbClr val="000066"/>
                    </a:solidFill>
                    <a:latin typeface="华文新魏" panose="02010800040101010101" pitchFamily="2" charset="-122"/>
                    <a:ea typeface="华文新魏" panose="02010800040101010101" pitchFamily="2" charset="-122"/>
                  </a:rPr>
                  <a:t>有的</a:t>
                </a:r>
                <a:r>
                  <a:rPr lang="en-US" altLang="zh-CN" sz="2000" b="1" i="0" dirty="0">
                    <a:solidFill>
                      <a:srgbClr val="000066"/>
                    </a:solidFill>
                    <a:latin typeface="华文新魏" panose="02010800040101010101" pitchFamily="2" charset="-122"/>
                    <a:ea typeface="华文新魏" panose="02010800040101010101" pitchFamily="2" charset="-122"/>
                  </a:rPr>
                  <a:t>t</a:t>
                </a:r>
                <a:r>
                  <a:rPr lang="zh-CN" altLang="en-US" sz="2000" b="1" i="0" dirty="0">
                    <a:solidFill>
                      <a:srgbClr val="000066"/>
                    </a:solidFill>
                    <a:latin typeface="华文新魏" panose="02010800040101010101" pitchFamily="2" charset="-122"/>
                    <a:ea typeface="华文新魏" panose="02010800040101010101" pitchFamily="2" charset="-122"/>
                  </a:rPr>
                  <a:t>，</a:t>
                </a:r>
                <a:r>
                  <a:rPr lang="en-US" altLang="zh-CN" sz="2000" b="1" i="0" dirty="0">
                    <a:solidFill>
                      <a:srgbClr val="000066"/>
                    </a:solidFill>
                    <a:latin typeface="华文新魏" panose="02010800040101010101" pitchFamily="2" charset="-122"/>
                    <a:ea typeface="华文新魏" panose="02010800040101010101" pitchFamily="2" charset="-122"/>
                  </a:rPr>
                  <a:t>P(t)</a:t>
                </a:r>
                <a:endParaRPr lang="en-US" altLang="zh-CN" sz="2000" b="1" i="0" dirty="0">
                  <a:solidFill>
                    <a:srgbClr val="000066"/>
                  </a:solidFill>
                  <a:latin typeface="华文新魏" panose="02010800040101010101" pitchFamily="2" charset="-122"/>
                  <a:ea typeface="华文新魏" panose="02010800040101010101" pitchFamily="2" charset="-122"/>
                </a:endParaRPr>
              </a:p>
            </p:txBody>
          </p:sp>
          <p:sp>
            <p:nvSpPr>
              <p:cNvPr id="10" name="Oval 6"/>
              <p:cNvSpPr>
                <a:spLocks noChangeArrowheads="1"/>
              </p:cNvSpPr>
              <p:nvPr/>
            </p:nvSpPr>
            <p:spPr bwMode="auto">
              <a:xfrm>
                <a:off x="2459" y="1626"/>
                <a:ext cx="878" cy="403"/>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测试集</a:t>
                </a:r>
                <a:r>
                  <a:rPr lang="en-US" altLang="zh-CN" sz="2000" b="1" i="0">
                    <a:solidFill>
                      <a:srgbClr val="000066"/>
                    </a:solidFill>
                    <a:latin typeface="华文新魏" panose="02010800040101010101" pitchFamily="2" charset="-122"/>
                    <a:ea typeface="华文新魏" panose="02010800040101010101" pitchFamily="2" charset="-122"/>
                  </a:rPr>
                  <a:t>T</a:t>
                </a:r>
                <a:endParaRPr lang="zh-CN" altLang="en-US" sz="2000" b="1" i="0">
                  <a:solidFill>
                    <a:srgbClr val="000066"/>
                  </a:solidFill>
                  <a:latin typeface="华文新魏" panose="02010800040101010101" pitchFamily="2" charset="-122"/>
                  <a:ea typeface="华文新魏" panose="02010800040101010101" pitchFamily="2" charset="-122"/>
                </a:endParaRPr>
              </a:p>
            </p:txBody>
          </p:sp>
          <p:cxnSp>
            <p:nvCxnSpPr>
              <p:cNvPr id="11" name="AutoShape 7"/>
              <p:cNvCxnSpPr>
                <a:cxnSpLocks noChangeShapeType="1"/>
                <a:stCxn id="10" idx="4"/>
                <a:endCxn id="8" idx="0"/>
              </p:cNvCxnSpPr>
              <p:nvPr/>
            </p:nvCxnSpPr>
            <p:spPr bwMode="auto">
              <a:xfrm>
                <a:off x="2898" y="2029"/>
                <a:ext cx="3" cy="323"/>
              </a:xfrm>
              <a:prstGeom prst="straightConnector1">
                <a:avLst/>
              </a:prstGeom>
              <a:noFill/>
              <a:ln w="12700" cap="sq">
                <a:solidFill>
                  <a:schemeClr val="tx1"/>
                </a:solidFill>
                <a:round/>
                <a:tailEnd type="triangle" w="med" len="med"/>
              </a:ln>
            </p:spPr>
          </p:cxnSp>
          <p:cxnSp>
            <p:nvCxnSpPr>
              <p:cNvPr id="12" name="AutoShape 8"/>
              <p:cNvCxnSpPr>
                <a:cxnSpLocks noChangeShapeType="1"/>
                <a:stCxn id="8" idx="2"/>
                <a:endCxn id="9" idx="0"/>
              </p:cNvCxnSpPr>
              <p:nvPr/>
            </p:nvCxnSpPr>
            <p:spPr bwMode="auto">
              <a:xfrm>
                <a:off x="2901" y="2800"/>
                <a:ext cx="8" cy="362"/>
              </a:xfrm>
              <a:prstGeom prst="straightConnector1">
                <a:avLst/>
              </a:prstGeom>
              <a:noFill/>
              <a:ln w="12700" cap="sq">
                <a:solidFill>
                  <a:schemeClr val="tx1"/>
                </a:solidFill>
                <a:round/>
                <a:tailEnd type="triangle" w="med" len="med"/>
              </a:ln>
            </p:spPr>
          </p:cxnSp>
        </p:grpSp>
        <p:sp>
          <p:nvSpPr>
            <p:cNvPr id="7" name="Text Box 10"/>
            <p:cNvSpPr txBox="1">
              <a:spLocks noChangeArrowheads="1"/>
            </p:cNvSpPr>
            <p:nvPr/>
          </p:nvSpPr>
          <p:spPr bwMode="auto">
            <a:xfrm>
              <a:off x="4871" y="2163"/>
              <a:ext cx="668" cy="216"/>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1</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grpSp>
    </p:spTree>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p:txBody>
          <a:bodyPr/>
          <a:lstStyle/>
          <a:p>
            <a:pPr marL="342900" fontAlgn="auto">
              <a:spcBef>
                <a:spcPct val="20000"/>
              </a:spcBef>
              <a:spcAft>
                <a:spcPts val="0"/>
              </a:spcAft>
              <a:buClr>
                <a:schemeClr val="tx2"/>
              </a:buClr>
              <a:buSzPct val="70000"/>
              <a:defRPr/>
            </a:pPr>
            <a:r>
              <a:rPr lang="zh-CN" altLang="en-US" smtClean="0">
                <a:latin typeface="+mn-ea"/>
                <a:ea typeface="+mn-ea"/>
              </a:rPr>
              <a:t>第</a:t>
            </a:r>
            <a:r>
              <a:rPr lang="en-US" altLang="zh-CN" smtClean="0">
                <a:latin typeface="+mn-ea"/>
                <a:ea typeface="+mn-ea"/>
              </a:rPr>
              <a:t>2</a:t>
            </a:r>
            <a:r>
              <a:rPr lang="zh-CN" altLang="en-US" smtClean="0">
                <a:latin typeface="+mn-ea"/>
                <a:ea typeface="+mn-ea"/>
              </a:rPr>
              <a:t>步：生成变异体</a:t>
            </a:r>
            <a:endParaRPr lang="zh-CN" altLang="en-US" smtClean="0">
              <a:latin typeface="+mn-ea"/>
              <a:ea typeface="+mn-ea"/>
            </a:endParaRPr>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例如</a:t>
            </a:r>
            <a:r>
              <a:rPr lang="zh-CN" altLang="en-US" sz="2600">
                <a:latin typeface="Arial" panose="020B0604020202020204"/>
                <a:ea typeface="华文新魏" panose="02010800040101010101" pitchFamily="2" charset="-122"/>
              </a:rPr>
              <a:t>“</a:t>
            </a:r>
            <a:r>
              <a:rPr lang="zh-CN" altLang="en-US" sz="2600">
                <a:ea typeface="华文新魏" panose="02010800040101010101" pitchFamily="2" charset="-122"/>
              </a:rPr>
              <a:t>＋</a:t>
            </a:r>
            <a:r>
              <a:rPr lang="zh-CN" altLang="en-US" sz="2600">
                <a:latin typeface="Arial" panose="020B0604020202020204"/>
                <a:ea typeface="华文新魏" panose="02010800040101010101" pitchFamily="2" charset="-122"/>
              </a:rPr>
              <a:t>”</a:t>
            </a:r>
            <a:r>
              <a:rPr lang="zh-CN" altLang="en-US" sz="2600">
                <a:ea typeface="华文新魏" panose="02010800040101010101" pitchFamily="2" charset="-122"/>
              </a:rPr>
              <a:t>运算变成</a:t>
            </a:r>
            <a:r>
              <a:rPr lang="zh-CN" altLang="en-US" sz="2600">
                <a:latin typeface="Arial" panose="020B0604020202020204"/>
                <a:ea typeface="华文新魏" panose="02010800040101010101" pitchFamily="2" charset="-122"/>
              </a:rPr>
              <a:t>“</a:t>
            </a:r>
            <a:r>
              <a:rPr lang="zh-CN" altLang="en-US" sz="2600">
                <a:ea typeface="华文新魏" panose="02010800040101010101" pitchFamily="2" charset="-122"/>
              </a:rPr>
              <a:t>－</a:t>
            </a:r>
            <a:r>
              <a:rPr lang="zh-CN" altLang="en-US" sz="2600">
                <a:latin typeface="Arial" panose="020B0604020202020204"/>
                <a:ea typeface="华文新魏" panose="02010800040101010101" pitchFamily="2" charset="-122"/>
              </a:rPr>
              <a:t>”</a:t>
            </a:r>
            <a:r>
              <a:rPr lang="zh-CN" altLang="en-US" sz="2600">
                <a:ea typeface="华文新魏" panose="02010800040101010101" pitchFamily="2" charset="-122"/>
              </a:rPr>
              <a:t>运算，</a:t>
            </a:r>
            <a:r>
              <a:rPr lang="zh-CN" altLang="en-US" sz="2600">
                <a:latin typeface="Arial" panose="020B0604020202020204"/>
                <a:ea typeface="华文新魏" panose="02010800040101010101" pitchFamily="2" charset="-122"/>
              </a:rPr>
              <a:t>“</a:t>
            </a:r>
            <a:r>
              <a:rPr lang="en-US" altLang="zh-CN" sz="2600">
                <a:ea typeface="华文新魏" panose="02010800040101010101" pitchFamily="2" charset="-122"/>
              </a:rPr>
              <a:t>×</a:t>
            </a:r>
            <a:r>
              <a:rPr lang="en-US" altLang="zh-CN" sz="2600">
                <a:latin typeface="Arial" panose="020B0604020202020204"/>
                <a:ea typeface="华文新魏" panose="02010800040101010101" pitchFamily="2" charset="-122"/>
              </a:rPr>
              <a:t>”</a:t>
            </a:r>
            <a:r>
              <a:rPr lang="zh-CN" altLang="en-US" sz="2600">
                <a:ea typeface="华文新魏" panose="02010800040101010101" pitchFamily="2" charset="-122"/>
              </a:rPr>
              <a:t>运算变成</a:t>
            </a:r>
            <a:r>
              <a:rPr lang="zh-CN" altLang="en-US" sz="2600">
                <a:latin typeface="Arial" panose="020B0604020202020204"/>
                <a:ea typeface="华文新魏" panose="02010800040101010101" pitchFamily="2" charset="-122"/>
              </a:rPr>
              <a:t>“</a:t>
            </a:r>
            <a:r>
              <a:rPr lang="en-US" altLang="zh-CN" sz="2600">
                <a:ea typeface="华文新魏" panose="02010800040101010101" pitchFamily="2" charset="-122"/>
              </a:rPr>
              <a:t>/</a:t>
            </a:r>
            <a:r>
              <a:rPr lang="en-US" altLang="zh-CN" sz="2600">
                <a:latin typeface="Arial" panose="020B0604020202020204"/>
                <a:ea typeface="华文新魏" panose="02010800040101010101" pitchFamily="2" charset="-122"/>
              </a:rPr>
              <a:t>”</a:t>
            </a:r>
            <a:r>
              <a:rPr lang="zh-CN" altLang="en-US" sz="2600">
                <a:ea typeface="华文新魏" panose="02010800040101010101" pitchFamily="2" charset="-122"/>
              </a:rPr>
              <a:t>运算等</a:t>
            </a:r>
            <a:endParaRPr lang="zh-CN" altLang="en-US" sz="2600">
              <a:ea typeface="华文新魏" panose="02010800040101010101" pitchFamily="2" charset="-122"/>
            </a:endParaRPr>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系统的生成方法：通过变异算子生成</a:t>
            </a:r>
            <a:endParaRPr lang="zh-CN" altLang="en-US" sz="2600">
              <a:ea typeface="华文新魏" panose="02010800040101010101" pitchFamily="2" charset="-122"/>
            </a:endParaRPr>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第二步的结果是：活的变异体</a:t>
            </a:r>
            <a:endParaRPr lang="zh-CN" altLang="en-US" sz="2600">
              <a:ea typeface="华文新魏" panose="02010800040101010101" pitchFamily="2" charset="-122"/>
            </a:endParaRPr>
          </a:p>
          <a:p>
            <a:pPr marL="987425" lvl="2" indent="-294005" fontAlgn="auto">
              <a:spcAft>
                <a:spcPts val="0"/>
              </a:spcAft>
              <a:buClr>
                <a:srgbClr val="FFC000"/>
              </a:buClr>
              <a:buSzPct val="70000"/>
              <a:buFont typeface="Wingdings" panose="05000000000000000000" pitchFamily="2" charset="2"/>
              <a:buChar char="l"/>
              <a:defRPr/>
            </a:pPr>
            <a:r>
              <a:rPr lang="zh-CN" altLang="en-US" sz="2300">
                <a:ea typeface="华文新魏" panose="02010800040101010101" pitchFamily="2" charset="-122"/>
              </a:rPr>
              <a:t>这些变异体还没有与程序</a:t>
            </a:r>
            <a:r>
              <a:rPr lang="en-US" altLang="zh-CN" sz="2300">
                <a:ea typeface="华文新魏" panose="02010800040101010101" pitchFamily="2" charset="-122"/>
              </a:rPr>
              <a:t>P</a:t>
            </a:r>
            <a:r>
              <a:rPr lang="zh-CN" altLang="en-US" sz="2300">
                <a:ea typeface="华文新魏" panose="02010800040101010101" pitchFamily="2" charset="-122"/>
              </a:rPr>
              <a:t>区分，即没有被杀死。</a:t>
            </a:r>
            <a:endParaRPr lang="zh-CN" altLang="en-US" sz="23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12" name="组合 11"/>
          <p:cNvGrpSpPr/>
          <p:nvPr/>
        </p:nvGrpSpPr>
        <p:grpSpPr>
          <a:xfrm>
            <a:off x="2590801" y="4561205"/>
            <a:ext cx="7369175" cy="1376362"/>
            <a:chOff x="1608138" y="4338638"/>
            <a:chExt cx="6142037" cy="842962"/>
          </a:xfrm>
        </p:grpSpPr>
        <p:sp>
          <p:nvSpPr>
            <p:cNvPr id="5" name="AutoShape 4"/>
            <p:cNvSpPr>
              <a:spLocks noChangeArrowheads="1"/>
            </p:cNvSpPr>
            <p:nvPr/>
          </p:nvSpPr>
          <p:spPr bwMode="auto">
            <a:xfrm>
              <a:off x="3051175" y="4624388"/>
              <a:ext cx="1430338" cy="371475"/>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400">
                  <a:solidFill>
                    <a:srgbClr val="000066"/>
                  </a:solidFill>
                  <a:latin typeface="华文新魏" panose="02010800040101010101" pitchFamily="2" charset="-122"/>
                  <a:ea typeface="华文新魏" panose="02010800040101010101" pitchFamily="2" charset="-122"/>
                </a:rPr>
                <a:t>生成变异体</a:t>
              </a:r>
              <a:endParaRPr lang="zh-CN" altLang="en-US" sz="2400">
                <a:solidFill>
                  <a:srgbClr val="000066"/>
                </a:solidFill>
                <a:latin typeface="华文新魏" panose="02010800040101010101" pitchFamily="2" charset="-122"/>
                <a:ea typeface="华文新魏" panose="02010800040101010101" pitchFamily="2" charset="-122"/>
              </a:endParaRPr>
            </a:p>
          </p:txBody>
        </p:sp>
        <p:sp>
          <p:nvSpPr>
            <p:cNvPr id="6" name="Oval 5"/>
            <p:cNvSpPr>
              <a:spLocks noChangeArrowheads="1"/>
            </p:cNvSpPr>
            <p:nvPr/>
          </p:nvSpPr>
          <p:spPr bwMode="auto">
            <a:xfrm>
              <a:off x="6116638" y="4438650"/>
              <a:ext cx="1633537" cy="742950"/>
            </a:xfrm>
            <a:prstGeom prst="ellipse">
              <a:avLst/>
            </a:prstGeom>
            <a:solidFill>
              <a:srgbClr val="D7D6AE"/>
            </a:solidFill>
            <a:ln w="12700" cap="sq" algn="ctr">
              <a:solidFill>
                <a:schemeClr val="tx1"/>
              </a:solidFill>
              <a:round/>
            </a:ln>
          </p:spPr>
          <p:txBody>
            <a:bodyPr wrap="none" anchor="ctr"/>
            <a:lstStyle/>
            <a:p>
              <a:pPr algn="ctr"/>
              <a:r>
                <a:rPr lang="zh-CN" altLang="en-US" sz="2400">
                  <a:solidFill>
                    <a:srgbClr val="000066"/>
                  </a:solidFill>
                  <a:latin typeface="华文新魏" panose="02010800040101010101" pitchFamily="2" charset="-122"/>
                  <a:ea typeface="华文新魏" panose="02010800040101010101" pitchFamily="2" charset="-122"/>
                </a:rPr>
                <a:t>活的变异体</a:t>
              </a:r>
              <a:r>
                <a:rPr lang="en-US" altLang="zh-CN" sz="2400">
                  <a:solidFill>
                    <a:srgbClr val="000066"/>
                  </a:solidFill>
                  <a:latin typeface="华文新魏" panose="02010800040101010101" pitchFamily="2" charset="-122"/>
                  <a:ea typeface="华文新魏" panose="02010800040101010101" pitchFamily="2" charset="-122"/>
                </a:rPr>
                <a:t>L</a:t>
              </a:r>
              <a:endParaRPr lang="en-US" altLang="zh-CN" sz="2400">
                <a:solidFill>
                  <a:srgbClr val="000066"/>
                </a:solidFill>
                <a:latin typeface="华文新魏" panose="02010800040101010101" pitchFamily="2" charset="-122"/>
                <a:ea typeface="华文新魏" panose="02010800040101010101" pitchFamily="2" charset="-122"/>
              </a:endParaRPr>
            </a:p>
          </p:txBody>
        </p:sp>
        <p:grpSp>
          <p:nvGrpSpPr>
            <p:cNvPr id="7" name="Group 6"/>
            <p:cNvGrpSpPr/>
            <p:nvPr/>
          </p:nvGrpSpPr>
          <p:grpSpPr bwMode="auto">
            <a:xfrm>
              <a:off x="1608138" y="4445000"/>
              <a:ext cx="1495425" cy="368300"/>
              <a:chOff x="0" y="58"/>
              <a:chExt cx="804" cy="199"/>
            </a:xfrm>
          </p:grpSpPr>
          <p:sp>
            <p:nvSpPr>
              <p:cNvPr id="8" name="Line 7"/>
              <p:cNvSpPr>
                <a:spLocks noChangeShapeType="1"/>
              </p:cNvSpPr>
              <p:nvPr/>
            </p:nvSpPr>
            <p:spPr bwMode="auto">
              <a:xfrm>
                <a:off x="0" y="257"/>
                <a:ext cx="750" cy="0"/>
              </a:xfrm>
              <a:prstGeom prst="line">
                <a:avLst/>
              </a:prstGeom>
              <a:noFill/>
              <a:ln w="12700" cap="sq">
                <a:solidFill>
                  <a:schemeClr val="tx1"/>
                </a:solidFill>
                <a:round/>
                <a:tailEnd type="triangle" w="med" len="med"/>
              </a:ln>
            </p:spPr>
            <p:txBody>
              <a:bodyPr wrap="none" anchor="ctr"/>
              <a:lstStyle/>
              <a:p>
                <a:endParaRPr lang="zh-CN" altLang="en-US" sz="2000"/>
              </a:p>
            </p:txBody>
          </p:sp>
          <p:sp>
            <p:nvSpPr>
              <p:cNvPr id="9" name="Text Box 8"/>
              <p:cNvSpPr txBox="1">
                <a:spLocks noChangeArrowheads="1"/>
              </p:cNvSpPr>
              <p:nvPr/>
            </p:nvSpPr>
            <p:spPr bwMode="auto">
              <a:xfrm>
                <a:off x="0" y="58"/>
                <a:ext cx="804" cy="132"/>
              </a:xfrm>
              <a:prstGeom prst="rect">
                <a:avLst/>
              </a:prstGeom>
              <a:noFill/>
              <a:ln w="12700" cap="sq" algn="ctr">
                <a:noFill/>
                <a:miter lim="800000"/>
              </a:ln>
            </p:spPr>
            <p:txBody>
              <a:bodyPr>
                <a:spAutoFit/>
              </a:bodyPr>
              <a:lstStyle/>
              <a:p>
                <a:pPr>
                  <a:spcBef>
                    <a:spcPct val="50000"/>
                  </a:spcBef>
                </a:pPr>
                <a:r>
                  <a:rPr lang="zh-CN" altLang="en-US" sz="2000">
                    <a:solidFill>
                      <a:srgbClr val="000066"/>
                    </a:solidFill>
                    <a:latin typeface="Tahoma" panose="020B0604030504040204" pitchFamily="34" charset="0"/>
                    <a:ea typeface="华文新魏" panose="02010800040101010101" pitchFamily="2" charset="-122"/>
                  </a:rPr>
                  <a:t>被测试程序</a:t>
                </a:r>
                <a:r>
                  <a:rPr lang="en-US" altLang="zh-CN" sz="2000" b="1">
                    <a:solidFill>
                      <a:srgbClr val="000066"/>
                    </a:solidFill>
                    <a:latin typeface="Tahoma" panose="020B0604030504040204" pitchFamily="34" charset="0"/>
                  </a:rPr>
                  <a:t>P</a:t>
                </a:r>
                <a:endParaRPr lang="en-US" altLang="zh-CN" sz="2000" b="1">
                  <a:solidFill>
                    <a:srgbClr val="000066"/>
                  </a:solidFill>
                  <a:latin typeface="Tahoma" panose="020B0604030504040204" pitchFamily="34" charset="0"/>
                </a:endParaRPr>
              </a:p>
            </p:txBody>
          </p:sp>
        </p:grpSp>
        <p:cxnSp>
          <p:nvCxnSpPr>
            <p:cNvPr id="10" name="AutoShape 9"/>
            <p:cNvCxnSpPr>
              <a:cxnSpLocks noChangeShapeType="1"/>
              <a:stCxn id="5" idx="3"/>
              <a:endCxn id="6" idx="2"/>
            </p:cNvCxnSpPr>
            <p:nvPr/>
          </p:nvCxnSpPr>
          <p:spPr bwMode="auto">
            <a:xfrm>
              <a:off x="4481513" y="4810125"/>
              <a:ext cx="1635125" cy="0"/>
            </a:xfrm>
            <a:prstGeom prst="straightConnector1">
              <a:avLst/>
            </a:prstGeom>
            <a:noFill/>
            <a:ln w="19050">
              <a:solidFill>
                <a:schemeClr val="tx1"/>
              </a:solidFill>
              <a:prstDash val="dashDot"/>
              <a:round/>
              <a:tailEnd type="triangle" w="med" len="med"/>
            </a:ln>
          </p:spPr>
        </p:cxnSp>
        <p:sp>
          <p:nvSpPr>
            <p:cNvPr id="11" name="Text Box 10"/>
            <p:cNvSpPr txBox="1">
              <a:spLocks noChangeArrowheads="1"/>
            </p:cNvSpPr>
            <p:nvPr/>
          </p:nvSpPr>
          <p:spPr bwMode="auto">
            <a:xfrm>
              <a:off x="4294188" y="4338638"/>
              <a:ext cx="1225550" cy="320450"/>
            </a:xfrm>
            <a:prstGeom prst="rect">
              <a:avLst/>
            </a:prstGeom>
            <a:noFill/>
            <a:ln w="12700" cap="sq" algn="ctr">
              <a:noFill/>
              <a:miter lim="800000"/>
            </a:ln>
          </p:spPr>
          <p:txBody>
            <a:bodyPr>
              <a:spAutoFit/>
            </a:bodyPr>
            <a:lstStyle/>
            <a:p>
              <a:pPr>
                <a:spcBef>
                  <a:spcPct val="50000"/>
                </a:spcBef>
              </a:pPr>
              <a:r>
                <a:rPr lang="zh-CN" altLang="en-US" sz="2800">
                  <a:solidFill>
                    <a:srgbClr val="000066"/>
                  </a:solidFill>
                  <a:latin typeface="Tahoma" panose="020B0604030504040204" pitchFamily="34" charset="0"/>
                </a:rPr>
                <a:t>（</a:t>
              </a:r>
              <a:r>
                <a:rPr lang="en-US" altLang="zh-CN" sz="2800">
                  <a:solidFill>
                    <a:srgbClr val="000066"/>
                  </a:solidFill>
                  <a:latin typeface="Tahoma" panose="020B0604030504040204" pitchFamily="34" charset="0"/>
                </a:rPr>
                <a:t>2</a:t>
              </a:r>
              <a:r>
                <a:rPr lang="zh-CN" altLang="en-US" sz="2800">
                  <a:solidFill>
                    <a:srgbClr val="000066"/>
                  </a:solidFill>
                  <a:latin typeface="Tahoma" panose="020B0604030504040204" pitchFamily="34" charset="0"/>
                </a:rPr>
                <a:t>）</a:t>
              </a:r>
              <a:endParaRPr lang="zh-CN" altLang="en-US" sz="2800">
                <a:solidFill>
                  <a:srgbClr val="000066"/>
                </a:solidFill>
                <a:latin typeface="Tahoma" panose="020B0604030504040204" pitchFamily="34" charset="0"/>
              </a:endParaRPr>
            </a:p>
          </p:txBody>
        </p:sp>
      </p:grpSp>
    </p:spTree>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p:txBody>
          <a:bodyPr/>
          <a:lstStyle/>
          <a:p>
            <a:r>
              <a:rPr lang="zh-CN" altLang="en-US" smtClean="0">
                <a:latin typeface="+mn-ea"/>
                <a:ea typeface="+mn-ea"/>
              </a:rPr>
              <a:t>第</a:t>
            </a:r>
            <a:r>
              <a:rPr lang="en-US" altLang="zh-CN" smtClean="0">
                <a:latin typeface="+mn-ea"/>
                <a:ea typeface="+mn-ea"/>
              </a:rPr>
              <a:t>3</a:t>
            </a:r>
            <a:r>
              <a:rPr lang="zh-CN" altLang="en-US" smtClean="0">
                <a:latin typeface="+mn-ea"/>
                <a:ea typeface="+mn-ea"/>
              </a:rPr>
              <a:t>步和第</a:t>
            </a:r>
            <a:r>
              <a:rPr lang="en-US" altLang="zh-CN" smtClean="0">
                <a:latin typeface="+mn-ea"/>
                <a:ea typeface="+mn-ea"/>
              </a:rPr>
              <a:t>4</a:t>
            </a:r>
            <a:r>
              <a:rPr lang="zh-CN" altLang="en-US" smtClean="0">
                <a:latin typeface="+mn-ea"/>
                <a:ea typeface="+mn-ea"/>
              </a:rPr>
              <a:t>步：选择下一个变异体</a:t>
            </a:r>
            <a:endParaRPr lang="zh-CN" altLang="en-US" smtClean="0">
              <a:latin typeface="+mn-ea"/>
              <a:ea typeface="+mn-ea"/>
            </a:endParaRPr>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从</a:t>
            </a:r>
            <a:r>
              <a:rPr lang="en-US" altLang="zh-CN" sz="2600">
                <a:ea typeface="华文新魏" panose="02010800040101010101" pitchFamily="2" charset="-122"/>
              </a:rPr>
              <a:t>L</a:t>
            </a:r>
            <a:r>
              <a:rPr lang="zh-CN" altLang="en-US" sz="2600">
                <a:ea typeface="华文新魏" panose="02010800040101010101" pitchFamily="2" charset="-122"/>
              </a:rPr>
              <a:t>中选择，任意选择</a:t>
            </a:r>
            <a:endParaRPr lang="zh-CN" altLang="en-US" sz="26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16" name="组合 15"/>
          <p:cNvGrpSpPr/>
          <p:nvPr/>
        </p:nvGrpSpPr>
        <p:grpSpPr>
          <a:xfrm>
            <a:off x="2590801" y="2802255"/>
            <a:ext cx="6557963" cy="3208364"/>
            <a:chOff x="1973263" y="3381375"/>
            <a:chExt cx="5194300" cy="2423607"/>
          </a:xfrm>
        </p:grpSpPr>
        <p:sp>
          <p:nvSpPr>
            <p:cNvPr id="5" name="Oval 4"/>
            <p:cNvSpPr>
              <a:spLocks noChangeArrowheads="1"/>
            </p:cNvSpPr>
            <p:nvPr/>
          </p:nvSpPr>
          <p:spPr bwMode="auto">
            <a:xfrm>
              <a:off x="3195638" y="3381375"/>
              <a:ext cx="1393825" cy="639763"/>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活的变异体</a:t>
              </a:r>
              <a:r>
                <a:rPr lang="en-US" altLang="zh-CN" sz="2000" b="1" i="0">
                  <a:solidFill>
                    <a:srgbClr val="000066"/>
                  </a:solidFill>
                  <a:latin typeface="华文新魏" panose="02010800040101010101" pitchFamily="2" charset="-122"/>
                  <a:ea typeface="华文新魏" panose="02010800040101010101" pitchFamily="2" charset="-122"/>
                </a:rPr>
                <a:t>L</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6" name="AutoShape 5"/>
            <p:cNvSpPr>
              <a:spLocks noChangeArrowheads="1"/>
            </p:cNvSpPr>
            <p:nvPr/>
          </p:nvSpPr>
          <p:spPr bwMode="auto">
            <a:xfrm>
              <a:off x="5468938" y="4818063"/>
              <a:ext cx="1698625" cy="276225"/>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下一个变异体</a:t>
              </a:r>
              <a:r>
                <a:rPr lang="en-US" altLang="zh-CN" sz="2000" b="1" i="0">
                  <a:solidFill>
                    <a:srgbClr val="000066"/>
                  </a:solidFill>
                  <a:latin typeface="华文新魏" panose="02010800040101010101" pitchFamily="2" charset="-122"/>
                  <a:ea typeface="华文新魏" panose="02010800040101010101" pitchFamily="2" charset="-122"/>
                </a:rPr>
                <a:t>M</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7" name="AutoShape 6"/>
            <p:cNvSpPr>
              <a:spLocks noChangeArrowheads="1"/>
            </p:cNvSpPr>
            <p:nvPr/>
          </p:nvSpPr>
          <p:spPr bwMode="auto">
            <a:xfrm>
              <a:off x="2828925" y="4370388"/>
              <a:ext cx="2133600" cy="1162050"/>
            </a:xfrm>
            <a:prstGeom prst="flowChartDecision">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所有的变异体</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   都遍历了的吗？</a:t>
              </a:r>
              <a:endParaRPr lang="zh-CN" altLang="en-US" sz="2000" b="1" i="0">
                <a:solidFill>
                  <a:srgbClr val="000066"/>
                </a:solidFill>
                <a:latin typeface="华文新魏" panose="02010800040101010101" pitchFamily="2" charset="-122"/>
                <a:ea typeface="华文新魏" panose="02010800040101010101" pitchFamily="2" charset="-122"/>
              </a:endParaRPr>
            </a:p>
          </p:txBody>
        </p:sp>
        <p:cxnSp>
          <p:nvCxnSpPr>
            <p:cNvPr id="8" name="AutoShape 7"/>
            <p:cNvCxnSpPr>
              <a:cxnSpLocks noChangeShapeType="1"/>
              <a:stCxn id="5" idx="4"/>
              <a:endCxn id="7" idx="0"/>
            </p:cNvCxnSpPr>
            <p:nvPr/>
          </p:nvCxnSpPr>
          <p:spPr bwMode="auto">
            <a:xfrm>
              <a:off x="3892550" y="4021138"/>
              <a:ext cx="3175" cy="349250"/>
            </a:xfrm>
            <a:prstGeom prst="straightConnector1">
              <a:avLst/>
            </a:prstGeom>
            <a:noFill/>
            <a:ln w="12700" cap="sq">
              <a:solidFill>
                <a:schemeClr val="tx1"/>
              </a:solidFill>
              <a:round/>
              <a:tailEnd type="triangle" w="med" len="med"/>
            </a:ln>
          </p:spPr>
        </p:cxnSp>
        <p:sp>
          <p:nvSpPr>
            <p:cNvPr id="9" name="Text Box 8"/>
            <p:cNvSpPr txBox="1">
              <a:spLocks noChangeArrowheads="1"/>
            </p:cNvSpPr>
            <p:nvPr/>
          </p:nvSpPr>
          <p:spPr bwMode="auto">
            <a:xfrm>
              <a:off x="3930650" y="4165601"/>
              <a:ext cx="1016000" cy="348743"/>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3</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0" name="Text Box 9"/>
            <p:cNvSpPr txBox="1">
              <a:spLocks noChangeArrowheads="1"/>
            </p:cNvSpPr>
            <p:nvPr/>
          </p:nvSpPr>
          <p:spPr bwMode="auto">
            <a:xfrm>
              <a:off x="2035175" y="4614864"/>
              <a:ext cx="609600" cy="302244"/>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yes</a:t>
              </a:r>
              <a:endParaRPr lang="en-US" altLang="zh-CN" sz="2000" b="1" i="0">
                <a:solidFill>
                  <a:srgbClr val="000066"/>
                </a:solidFill>
                <a:latin typeface="Tahoma" panose="020B0604030504040204" pitchFamily="34" charset="0"/>
              </a:endParaRPr>
            </a:p>
          </p:txBody>
        </p:sp>
        <p:sp>
          <p:nvSpPr>
            <p:cNvPr id="11" name="Text Box 10"/>
            <p:cNvSpPr txBox="1">
              <a:spLocks noChangeArrowheads="1"/>
            </p:cNvSpPr>
            <p:nvPr/>
          </p:nvSpPr>
          <p:spPr bwMode="auto">
            <a:xfrm>
              <a:off x="4946650" y="4670426"/>
              <a:ext cx="609600" cy="302244"/>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No</a:t>
              </a:r>
              <a:endParaRPr lang="en-US" altLang="zh-CN" sz="2000" b="1" i="0">
                <a:solidFill>
                  <a:srgbClr val="000066"/>
                </a:solidFill>
                <a:latin typeface="Tahoma" panose="020B0604030504040204" pitchFamily="34" charset="0"/>
              </a:endParaRPr>
            </a:p>
          </p:txBody>
        </p:sp>
        <p:sp>
          <p:nvSpPr>
            <p:cNvPr id="12" name="Line 12"/>
            <p:cNvSpPr>
              <a:spLocks noChangeShapeType="1"/>
            </p:cNvSpPr>
            <p:nvPr/>
          </p:nvSpPr>
          <p:spPr bwMode="auto">
            <a:xfrm flipH="1">
              <a:off x="1973263" y="4935538"/>
              <a:ext cx="842962" cy="0"/>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3" name="Line 13"/>
            <p:cNvSpPr>
              <a:spLocks noChangeShapeType="1"/>
            </p:cNvSpPr>
            <p:nvPr/>
          </p:nvSpPr>
          <p:spPr bwMode="auto">
            <a:xfrm>
              <a:off x="4935538" y="4949825"/>
              <a:ext cx="522287" cy="0"/>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4" name="Line 15"/>
            <p:cNvSpPr>
              <a:spLocks noChangeShapeType="1"/>
            </p:cNvSpPr>
            <p:nvPr/>
          </p:nvSpPr>
          <p:spPr bwMode="auto">
            <a:xfrm>
              <a:off x="6240463" y="5094288"/>
              <a:ext cx="0" cy="696912"/>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5" name="Text Box 16"/>
            <p:cNvSpPr txBox="1">
              <a:spLocks noChangeArrowheads="1"/>
            </p:cNvSpPr>
            <p:nvPr/>
          </p:nvSpPr>
          <p:spPr bwMode="auto">
            <a:xfrm>
              <a:off x="6254750" y="5456239"/>
              <a:ext cx="523875" cy="348743"/>
            </a:xfrm>
            <a:prstGeom prst="rect">
              <a:avLst/>
            </a:prstGeom>
            <a:noFill/>
            <a:ln w="12700" cap="sq" algn="ctr">
              <a:noFill/>
              <a:miter lim="800000"/>
            </a:ln>
          </p:spPr>
          <p:txBody>
            <a:bodyPr>
              <a:spAutoFit/>
            </a:bodyPr>
            <a:lstStyle/>
            <a:p>
              <a:pPr>
                <a:spcBef>
                  <a:spcPct val="50000"/>
                </a:spcBef>
              </a:pPr>
              <a:r>
                <a:rPr lang="en-US" altLang="zh-CN" sz="2400" b="1" i="0">
                  <a:latin typeface="Tahoma" panose="020B0604030504040204" pitchFamily="34" charset="0"/>
                </a:rPr>
                <a:t>M</a:t>
              </a:r>
              <a:endParaRPr lang="en-US" altLang="zh-CN" sz="2400" b="1" i="0">
                <a:latin typeface="Tahoma" panose="020B0604030504040204" pitchFamily="34" charset="0"/>
              </a:endParaRPr>
            </a:p>
          </p:txBody>
        </p:sp>
      </p:grpSp>
    </p:spTree>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a:xfrm>
            <a:off x="1046480" y="1219835"/>
            <a:ext cx="4897120" cy="4876165"/>
          </a:xfrm>
        </p:spPr>
        <p:txBody>
          <a:bodyPr>
            <a:normAutofit lnSpcReduction="10000"/>
          </a:bodyPr>
          <a:lstStyle/>
          <a:p>
            <a:pPr>
              <a:defRPr/>
            </a:pPr>
            <a:r>
              <a:rPr lang="zh-CN" altLang="en-US" smtClean="0"/>
              <a:t>第</a:t>
            </a:r>
            <a:r>
              <a:rPr lang="en-US" altLang="zh-CN" smtClean="0"/>
              <a:t>5</a:t>
            </a:r>
            <a:r>
              <a:rPr lang="zh-CN" altLang="en-US" smtClean="0"/>
              <a:t>步和第</a:t>
            </a:r>
            <a:r>
              <a:rPr lang="en-US" altLang="zh-CN" smtClean="0"/>
              <a:t>6</a:t>
            </a:r>
            <a:r>
              <a:rPr lang="zh-CN" altLang="en-US" smtClean="0"/>
              <a:t>步：选择下一个测试用例</a:t>
            </a:r>
            <a:endParaRPr lang="zh-CN" altLang="en-US" smtClean="0"/>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是否存在测试</a:t>
            </a:r>
            <a:r>
              <a:rPr lang="en-US" altLang="zh-CN" sz="2600">
                <a:ea typeface="华文新魏" panose="02010800040101010101" pitchFamily="2" charset="-122"/>
              </a:rPr>
              <a:t>t</a:t>
            </a:r>
            <a:r>
              <a:rPr lang="zh-CN" altLang="en-US" sz="2600">
                <a:ea typeface="华文新魏" panose="02010800040101010101" pitchFamily="2" charset="-122"/>
              </a:rPr>
              <a:t>能够区分变异体与被测试程序</a:t>
            </a:r>
            <a:r>
              <a:rPr lang="en-US" altLang="zh-CN" sz="2600">
                <a:ea typeface="华文新魏" panose="02010800040101010101" pitchFamily="2" charset="-122"/>
              </a:rPr>
              <a:t>P</a:t>
            </a:r>
            <a:endParaRPr lang="en-US" altLang="zh-CN" sz="2600">
              <a:ea typeface="华文新魏" panose="02010800040101010101" pitchFamily="2" charset="-122"/>
            </a:endParaRPr>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采用测试</a:t>
            </a:r>
            <a:r>
              <a:rPr lang="en-US" altLang="zh-CN" sz="2600">
                <a:ea typeface="华文新魏" panose="02010800040101010101" pitchFamily="2" charset="-122"/>
              </a:rPr>
              <a:t>T</a:t>
            </a:r>
            <a:r>
              <a:rPr lang="zh-CN" altLang="en-US" sz="2600">
                <a:ea typeface="华文新魏" panose="02010800040101010101" pitchFamily="2" charset="-122"/>
              </a:rPr>
              <a:t>中的测试用例执行变异体</a:t>
            </a:r>
            <a:r>
              <a:rPr lang="en-US" altLang="zh-CN" sz="2600">
                <a:ea typeface="华文新魏" panose="02010800040101010101" pitchFamily="2" charset="-122"/>
              </a:rPr>
              <a:t>M</a:t>
            </a:r>
            <a:r>
              <a:rPr lang="zh-CN" altLang="en-US" sz="2600">
                <a:ea typeface="华文新魏" panose="02010800040101010101" pitchFamily="2" charset="-122"/>
              </a:rPr>
              <a:t>。</a:t>
            </a:r>
            <a:endParaRPr lang="zh-CN" altLang="en-US" sz="2600">
              <a:ea typeface="华文新魏" panose="02010800040101010101" pitchFamily="2" charset="-122"/>
            </a:endParaRPr>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结束：所有的测试用例执行完毕或者</a:t>
            </a:r>
            <a:r>
              <a:rPr lang="en-US" altLang="zh-CN" sz="2600">
                <a:ea typeface="华文新魏" panose="02010800040101010101" pitchFamily="2" charset="-122"/>
              </a:rPr>
              <a:t>M</a:t>
            </a:r>
            <a:r>
              <a:rPr lang="zh-CN" altLang="en-US" sz="2600">
                <a:ea typeface="华文新魏" panose="02010800040101010101" pitchFamily="2" charset="-122"/>
              </a:rPr>
              <a:t>被某个测试用例区别（杀掉）。</a:t>
            </a:r>
            <a:endParaRPr lang="zh-CN" altLang="en-US" sz="26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19" name="组合 18"/>
          <p:cNvGrpSpPr/>
          <p:nvPr/>
        </p:nvGrpSpPr>
        <p:grpSpPr>
          <a:xfrm>
            <a:off x="5791201" y="1219200"/>
            <a:ext cx="4787900" cy="3842736"/>
            <a:chOff x="4600575" y="1725613"/>
            <a:chExt cx="4454525" cy="3340100"/>
          </a:xfrm>
        </p:grpSpPr>
        <p:sp>
          <p:nvSpPr>
            <p:cNvPr id="5" name="AutoShape 4"/>
            <p:cNvSpPr>
              <a:spLocks noChangeArrowheads="1"/>
            </p:cNvSpPr>
            <p:nvPr/>
          </p:nvSpPr>
          <p:spPr bwMode="auto">
            <a:xfrm>
              <a:off x="6980238" y="3817938"/>
              <a:ext cx="1393825" cy="622300"/>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a:solidFill>
                    <a:srgbClr val="000066"/>
                  </a:solidFill>
                  <a:latin typeface="华文新魏" panose="02010800040101010101" pitchFamily="2" charset="-122"/>
                  <a:ea typeface="华文新魏" panose="02010800040101010101" pitchFamily="2" charset="-122"/>
                </a:rPr>
                <a:t>选择下一个</a:t>
              </a:r>
              <a:endParaRPr lang="zh-CN" altLang="en-US" sz="2000">
                <a:solidFill>
                  <a:srgbClr val="000066"/>
                </a:solidFill>
                <a:latin typeface="华文新魏" panose="02010800040101010101" pitchFamily="2" charset="-122"/>
                <a:ea typeface="华文新魏" panose="02010800040101010101" pitchFamily="2" charset="-122"/>
              </a:endParaRPr>
            </a:p>
            <a:p>
              <a:pPr algn="ctr"/>
              <a:r>
                <a:rPr lang="zh-CN" altLang="en-US" sz="2000">
                  <a:solidFill>
                    <a:srgbClr val="000066"/>
                  </a:solidFill>
                  <a:latin typeface="华文新魏" panose="02010800040101010101" pitchFamily="2" charset="-122"/>
                  <a:ea typeface="华文新魏" panose="02010800040101010101" pitchFamily="2" charset="-122"/>
                </a:rPr>
                <a:t>测试用例</a:t>
              </a:r>
              <a:r>
                <a:rPr lang="en-US" altLang="zh-CN" sz="2000">
                  <a:solidFill>
                    <a:srgbClr val="000066"/>
                  </a:solidFill>
                  <a:latin typeface="华文新魏" panose="02010800040101010101" pitchFamily="2" charset="-122"/>
                  <a:ea typeface="华文新魏" panose="02010800040101010101" pitchFamily="2" charset="-122"/>
                </a:rPr>
                <a:t>t</a:t>
              </a:r>
              <a:endParaRPr lang="en-US" altLang="zh-CN" sz="2000">
                <a:solidFill>
                  <a:srgbClr val="000066"/>
                </a:solidFill>
                <a:latin typeface="华文新魏" panose="02010800040101010101" pitchFamily="2" charset="-122"/>
                <a:ea typeface="华文新魏" panose="02010800040101010101" pitchFamily="2" charset="-122"/>
              </a:endParaRPr>
            </a:p>
          </p:txBody>
        </p:sp>
        <p:sp>
          <p:nvSpPr>
            <p:cNvPr id="6" name="AutoShape 5"/>
            <p:cNvSpPr>
              <a:spLocks noChangeArrowheads="1"/>
            </p:cNvSpPr>
            <p:nvPr/>
          </p:nvSpPr>
          <p:spPr bwMode="auto">
            <a:xfrm>
              <a:off x="6804025" y="2381250"/>
              <a:ext cx="1725613" cy="898525"/>
            </a:xfrm>
            <a:prstGeom prst="flowChartDecision">
              <a:avLst/>
            </a:prstGeom>
            <a:solidFill>
              <a:srgbClr val="D7D6AE"/>
            </a:solidFill>
            <a:ln w="12700" cap="sq" algn="ctr">
              <a:solidFill>
                <a:schemeClr val="tx1"/>
              </a:solidFill>
              <a:miter lim="800000"/>
            </a:ln>
          </p:spPr>
          <p:txBody>
            <a:bodyPr wrap="none" anchor="ctr"/>
            <a:lstStyle/>
            <a:p>
              <a:pPr algn="ctr"/>
              <a:r>
                <a:rPr lang="zh-CN" altLang="en-US" sz="2000">
                  <a:solidFill>
                    <a:srgbClr val="000066"/>
                  </a:solidFill>
                  <a:latin typeface="华文新魏" panose="02010800040101010101" pitchFamily="2" charset="-122"/>
                  <a:ea typeface="华文新魏" panose="02010800040101010101" pitchFamily="2" charset="-122"/>
                </a:rPr>
                <a:t>所有的测试</a:t>
              </a:r>
              <a:endParaRPr lang="zh-CN" altLang="en-US" sz="2000">
                <a:solidFill>
                  <a:srgbClr val="000066"/>
                </a:solidFill>
                <a:latin typeface="华文新魏" panose="02010800040101010101" pitchFamily="2" charset="-122"/>
                <a:ea typeface="华文新魏" panose="02010800040101010101" pitchFamily="2" charset="-122"/>
              </a:endParaRPr>
            </a:p>
            <a:p>
              <a:pPr algn="ctr"/>
              <a:r>
                <a:rPr lang="zh-CN" altLang="en-US" sz="2000">
                  <a:solidFill>
                    <a:srgbClr val="000066"/>
                  </a:solidFill>
                  <a:latin typeface="华文新魏" panose="02010800040101010101" pitchFamily="2" charset="-122"/>
                  <a:ea typeface="华文新魏" panose="02010800040101010101" pitchFamily="2" charset="-122"/>
                </a:rPr>
                <a:t>   都完成了吗？</a:t>
              </a:r>
              <a:endParaRPr lang="zh-CN" altLang="en-US" sz="2000">
                <a:solidFill>
                  <a:srgbClr val="000066"/>
                </a:solidFill>
                <a:latin typeface="华文新魏" panose="02010800040101010101" pitchFamily="2" charset="-122"/>
                <a:ea typeface="华文新魏" panose="02010800040101010101" pitchFamily="2" charset="-122"/>
              </a:endParaRPr>
            </a:p>
          </p:txBody>
        </p:sp>
        <p:sp>
          <p:nvSpPr>
            <p:cNvPr id="7" name="Oval 6"/>
            <p:cNvSpPr>
              <a:spLocks noChangeArrowheads="1"/>
            </p:cNvSpPr>
            <p:nvPr/>
          </p:nvSpPr>
          <p:spPr bwMode="auto">
            <a:xfrm>
              <a:off x="4600575" y="2508250"/>
              <a:ext cx="1393825" cy="639763"/>
            </a:xfrm>
            <a:prstGeom prst="ellipse">
              <a:avLst/>
            </a:prstGeom>
            <a:solidFill>
              <a:srgbClr val="D7D6AE"/>
            </a:solidFill>
            <a:ln w="12700" cap="sq" algn="ctr">
              <a:solidFill>
                <a:schemeClr val="tx1"/>
              </a:solidFill>
              <a:round/>
            </a:ln>
          </p:spPr>
          <p:txBody>
            <a:bodyPr wrap="none" anchor="ctr"/>
            <a:lstStyle/>
            <a:p>
              <a:pPr algn="ctr"/>
              <a:r>
                <a:rPr lang="zh-CN" altLang="en-US" sz="2000">
                  <a:solidFill>
                    <a:srgbClr val="000066"/>
                  </a:solidFill>
                  <a:latin typeface="华文新魏" panose="02010800040101010101" pitchFamily="2" charset="-122"/>
                  <a:ea typeface="华文新魏" panose="02010800040101010101" pitchFamily="2" charset="-122"/>
                </a:rPr>
                <a:t>测试集</a:t>
              </a:r>
              <a:r>
                <a:rPr lang="en-US" altLang="zh-CN" sz="2000">
                  <a:solidFill>
                    <a:srgbClr val="000066"/>
                  </a:solidFill>
                  <a:latin typeface="华文新魏" panose="02010800040101010101" pitchFamily="2" charset="-122"/>
                  <a:ea typeface="华文新魏" panose="02010800040101010101" pitchFamily="2" charset="-122"/>
                </a:rPr>
                <a:t>T</a:t>
              </a:r>
              <a:endParaRPr lang="zh-CN" altLang="en-US" sz="2000">
                <a:solidFill>
                  <a:srgbClr val="000066"/>
                </a:solidFill>
                <a:latin typeface="华文新魏" panose="02010800040101010101" pitchFamily="2" charset="-122"/>
                <a:ea typeface="华文新魏" panose="02010800040101010101" pitchFamily="2" charset="-122"/>
              </a:endParaRPr>
            </a:p>
          </p:txBody>
        </p:sp>
        <p:cxnSp>
          <p:nvCxnSpPr>
            <p:cNvPr id="8" name="AutoShape 7"/>
            <p:cNvCxnSpPr>
              <a:cxnSpLocks noChangeShapeType="1"/>
              <a:endCxn id="6" idx="0"/>
            </p:cNvCxnSpPr>
            <p:nvPr/>
          </p:nvCxnSpPr>
          <p:spPr bwMode="auto">
            <a:xfrm>
              <a:off x="7667625" y="1725613"/>
              <a:ext cx="0" cy="655637"/>
            </a:xfrm>
            <a:prstGeom prst="straightConnector1">
              <a:avLst/>
            </a:prstGeom>
            <a:noFill/>
            <a:ln w="12700" cap="sq">
              <a:solidFill>
                <a:schemeClr val="tx1"/>
              </a:solidFill>
              <a:round/>
              <a:tailEnd type="triangle" w="med" len="med"/>
            </a:ln>
          </p:spPr>
        </p:cxnSp>
        <p:cxnSp>
          <p:nvCxnSpPr>
            <p:cNvPr id="9" name="AutoShape 8"/>
            <p:cNvCxnSpPr>
              <a:cxnSpLocks noChangeShapeType="1"/>
              <a:stCxn id="7" idx="6"/>
              <a:endCxn id="6" idx="1"/>
            </p:cNvCxnSpPr>
            <p:nvPr/>
          </p:nvCxnSpPr>
          <p:spPr bwMode="auto">
            <a:xfrm>
              <a:off x="5994400" y="2828925"/>
              <a:ext cx="809625" cy="1588"/>
            </a:xfrm>
            <a:prstGeom prst="straightConnector1">
              <a:avLst/>
            </a:prstGeom>
            <a:noFill/>
            <a:ln w="19050">
              <a:solidFill>
                <a:schemeClr val="tx1"/>
              </a:solidFill>
              <a:prstDash val="dashDot"/>
              <a:round/>
              <a:tailEnd type="triangle" w="med" len="med"/>
            </a:ln>
          </p:spPr>
        </p:cxnSp>
        <p:sp>
          <p:nvSpPr>
            <p:cNvPr id="10" name="Text Box 9"/>
            <p:cNvSpPr txBox="1">
              <a:spLocks noChangeArrowheads="1"/>
            </p:cNvSpPr>
            <p:nvPr/>
          </p:nvSpPr>
          <p:spPr bwMode="auto">
            <a:xfrm>
              <a:off x="6670675" y="2112963"/>
              <a:ext cx="987425" cy="401279"/>
            </a:xfrm>
            <a:prstGeom prst="rect">
              <a:avLst/>
            </a:prstGeom>
            <a:noFill/>
            <a:ln w="12700" cap="sq" algn="ctr">
              <a:noFill/>
              <a:miter lim="800000"/>
            </a:ln>
          </p:spPr>
          <p:txBody>
            <a:bodyPr>
              <a:spAutoFit/>
            </a:bodyPr>
            <a:lstStyle/>
            <a:p>
              <a:pPr>
                <a:spcBef>
                  <a:spcPct val="50000"/>
                </a:spcBef>
              </a:pPr>
              <a:r>
                <a:rPr lang="zh-CN" altLang="en-US" sz="2400">
                  <a:solidFill>
                    <a:srgbClr val="000066"/>
                  </a:solidFill>
                  <a:latin typeface="Tahoma" panose="020B0604030504040204" pitchFamily="34" charset="0"/>
                </a:rPr>
                <a:t>（</a:t>
              </a:r>
              <a:r>
                <a:rPr lang="en-US" altLang="zh-CN" sz="2400">
                  <a:solidFill>
                    <a:srgbClr val="000066"/>
                  </a:solidFill>
                  <a:latin typeface="Tahoma" panose="020B0604030504040204" pitchFamily="34" charset="0"/>
                </a:rPr>
                <a:t>5</a:t>
              </a:r>
              <a:r>
                <a:rPr lang="zh-CN" altLang="en-US" sz="2400">
                  <a:solidFill>
                    <a:srgbClr val="000066"/>
                  </a:solidFill>
                  <a:latin typeface="Tahoma" panose="020B0604030504040204" pitchFamily="34" charset="0"/>
                </a:rPr>
                <a:t>）</a:t>
              </a:r>
              <a:endParaRPr lang="zh-CN" altLang="en-US" sz="2400">
                <a:solidFill>
                  <a:srgbClr val="000066"/>
                </a:solidFill>
                <a:latin typeface="Tahoma" panose="020B0604030504040204" pitchFamily="34" charset="0"/>
              </a:endParaRPr>
            </a:p>
          </p:txBody>
        </p:sp>
        <p:sp>
          <p:nvSpPr>
            <p:cNvPr id="11" name="Text Box 10"/>
            <p:cNvSpPr txBox="1">
              <a:spLocks noChangeArrowheads="1"/>
            </p:cNvSpPr>
            <p:nvPr/>
          </p:nvSpPr>
          <p:spPr bwMode="auto">
            <a:xfrm>
              <a:off x="6669088" y="3463925"/>
              <a:ext cx="958850" cy="401279"/>
            </a:xfrm>
            <a:prstGeom prst="rect">
              <a:avLst/>
            </a:prstGeom>
            <a:noFill/>
            <a:ln w="12700" cap="sq" algn="ctr">
              <a:noFill/>
              <a:miter lim="800000"/>
            </a:ln>
          </p:spPr>
          <p:txBody>
            <a:bodyPr>
              <a:spAutoFit/>
            </a:bodyPr>
            <a:lstStyle/>
            <a:p>
              <a:pPr>
                <a:spcBef>
                  <a:spcPct val="50000"/>
                </a:spcBef>
              </a:pPr>
              <a:r>
                <a:rPr lang="zh-CN" altLang="en-US" sz="2400">
                  <a:solidFill>
                    <a:srgbClr val="000066"/>
                  </a:solidFill>
                  <a:latin typeface="Tahoma" panose="020B0604030504040204" pitchFamily="34" charset="0"/>
                </a:rPr>
                <a:t>（</a:t>
              </a:r>
              <a:r>
                <a:rPr lang="en-US" altLang="zh-CN" sz="2400">
                  <a:solidFill>
                    <a:srgbClr val="000066"/>
                  </a:solidFill>
                  <a:latin typeface="Tahoma" panose="020B0604030504040204" pitchFamily="34" charset="0"/>
                </a:rPr>
                <a:t>6</a:t>
              </a:r>
              <a:r>
                <a:rPr lang="zh-CN" altLang="en-US" sz="2400">
                  <a:solidFill>
                    <a:srgbClr val="000066"/>
                  </a:solidFill>
                  <a:latin typeface="Tahoma" panose="020B0604030504040204" pitchFamily="34" charset="0"/>
                </a:rPr>
                <a:t>）</a:t>
              </a:r>
              <a:endParaRPr lang="zh-CN" altLang="en-US" sz="2400">
                <a:solidFill>
                  <a:srgbClr val="000066"/>
                </a:solidFill>
                <a:latin typeface="Tahoma" panose="020B0604030504040204" pitchFamily="34" charset="0"/>
              </a:endParaRPr>
            </a:p>
          </p:txBody>
        </p:sp>
        <p:sp>
          <p:nvSpPr>
            <p:cNvPr id="12" name="Text Box 11"/>
            <p:cNvSpPr txBox="1">
              <a:spLocks noChangeArrowheads="1"/>
            </p:cNvSpPr>
            <p:nvPr/>
          </p:nvSpPr>
          <p:spPr bwMode="auto">
            <a:xfrm>
              <a:off x="8445500" y="2506663"/>
              <a:ext cx="609600" cy="347775"/>
            </a:xfrm>
            <a:prstGeom prst="rect">
              <a:avLst/>
            </a:prstGeom>
            <a:noFill/>
            <a:ln w="12700" cap="sq" algn="ctr">
              <a:noFill/>
              <a:miter lim="800000"/>
            </a:ln>
          </p:spPr>
          <p:txBody>
            <a:bodyPr>
              <a:spAutoFit/>
            </a:bodyPr>
            <a:lstStyle/>
            <a:p>
              <a:pPr>
                <a:spcBef>
                  <a:spcPct val="50000"/>
                </a:spcBef>
              </a:pPr>
              <a:r>
                <a:rPr lang="en-US" altLang="zh-CN" sz="2000">
                  <a:solidFill>
                    <a:srgbClr val="000066"/>
                  </a:solidFill>
                  <a:latin typeface="Tahoma" panose="020B0604030504040204" pitchFamily="34" charset="0"/>
                </a:rPr>
                <a:t>yes</a:t>
              </a:r>
              <a:endParaRPr lang="en-US" altLang="zh-CN" sz="2000">
                <a:solidFill>
                  <a:srgbClr val="000066"/>
                </a:solidFill>
                <a:latin typeface="Tahoma" panose="020B0604030504040204" pitchFamily="34" charset="0"/>
              </a:endParaRPr>
            </a:p>
          </p:txBody>
        </p:sp>
        <p:sp>
          <p:nvSpPr>
            <p:cNvPr id="13" name="Text Box 12"/>
            <p:cNvSpPr txBox="1">
              <a:spLocks noChangeArrowheads="1"/>
            </p:cNvSpPr>
            <p:nvPr/>
          </p:nvSpPr>
          <p:spPr bwMode="auto">
            <a:xfrm>
              <a:off x="7677150" y="3363913"/>
              <a:ext cx="609600" cy="347775"/>
            </a:xfrm>
            <a:prstGeom prst="rect">
              <a:avLst/>
            </a:prstGeom>
            <a:noFill/>
            <a:ln w="12700" cap="sq" algn="ctr">
              <a:noFill/>
              <a:miter lim="800000"/>
            </a:ln>
          </p:spPr>
          <p:txBody>
            <a:bodyPr>
              <a:spAutoFit/>
            </a:bodyPr>
            <a:lstStyle/>
            <a:p>
              <a:pPr>
                <a:spcBef>
                  <a:spcPct val="50000"/>
                </a:spcBef>
              </a:pPr>
              <a:r>
                <a:rPr lang="en-US" altLang="zh-CN" sz="2000">
                  <a:solidFill>
                    <a:srgbClr val="000066"/>
                  </a:solidFill>
                  <a:latin typeface="Tahoma" panose="020B0604030504040204" pitchFamily="34" charset="0"/>
                </a:rPr>
                <a:t>No</a:t>
              </a:r>
              <a:endParaRPr lang="en-US" altLang="zh-CN" sz="2000">
                <a:solidFill>
                  <a:srgbClr val="000066"/>
                </a:solidFill>
                <a:latin typeface="Tahoma" panose="020B0604030504040204" pitchFamily="34" charset="0"/>
              </a:endParaRPr>
            </a:p>
          </p:txBody>
        </p:sp>
        <p:sp>
          <p:nvSpPr>
            <p:cNvPr id="14" name="Line 13"/>
            <p:cNvSpPr>
              <a:spLocks noChangeShapeType="1"/>
            </p:cNvSpPr>
            <p:nvPr/>
          </p:nvSpPr>
          <p:spPr bwMode="auto">
            <a:xfrm>
              <a:off x="7664450" y="3251200"/>
              <a:ext cx="0" cy="565150"/>
            </a:xfrm>
            <a:prstGeom prst="line">
              <a:avLst/>
            </a:prstGeom>
            <a:noFill/>
            <a:ln w="12700" cap="sq">
              <a:solidFill>
                <a:schemeClr val="tx1"/>
              </a:solidFill>
              <a:round/>
              <a:tailEnd type="triangle" w="med" len="med"/>
            </a:ln>
          </p:spPr>
          <p:txBody>
            <a:bodyPr wrap="none" anchor="ctr"/>
            <a:lstStyle/>
            <a:p>
              <a:endParaRPr lang="zh-CN" altLang="en-US" sz="2400"/>
            </a:p>
          </p:txBody>
        </p:sp>
        <p:sp>
          <p:nvSpPr>
            <p:cNvPr id="15" name="Line 15"/>
            <p:cNvSpPr>
              <a:spLocks noChangeShapeType="1"/>
            </p:cNvSpPr>
            <p:nvPr/>
          </p:nvSpPr>
          <p:spPr bwMode="auto">
            <a:xfrm>
              <a:off x="5545138" y="3119438"/>
              <a:ext cx="1436687" cy="871537"/>
            </a:xfrm>
            <a:prstGeom prst="line">
              <a:avLst/>
            </a:prstGeom>
            <a:noFill/>
            <a:ln w="12700">
              <a:solidFill>
                <a:schemeClr val="tx1"/>
              </a:solidFill>
              <a:prstDash val="dashDot"/>
              <a:round/>
              <a:tailEnd type="triangle" w="med" len="med"/>
            </a:ln>
          </p:spPr>
          <p:txBody>
            <a:bodyPr wrap="none" anchor="ctr"/>
            <a:lstStyle/>
            <a:p>
              <a:endParaRPr lang="zh-CN" altLang="en-US" sz="2400"/>
            </a:p>
          </p:txBody>
        </p:sp>
        <p:sp>
          <p:nvSpPr>
            <p:cNvPr id="16" name="Text Box 16"/>
            <p:cNvSpPr txBox="1">
              <a:spLocks noChangeArrowheads="1"/>
            </p:cNvSpPr>
            <p:nvPr/>
          </p:nvSpPr>
          <p:spPr bwMode="auto">
            <a:xfrm>
              <a:off x="7735888" y="1814513"/>
              <a:ext cx="668337" cy="401279"/>
            </a:xfrm>
            <a:prstGeom prst="rect">
              <a:avLst/>
            </a:prstGeom>
            <a:noFill/>
            <a:ln w="12700" cap="sq" algn="ctr">
              <a:noFill/>
              <a:miter lim="800000"/>
            </a:ln>
          </p:spPr>
          <p:txBody>
            <a:bodyPr>
              <a:spAutoFit/>
            </a:bodyPr>
            <a:lstStyle/>
            <a:p>
              <a:pPr>
                <a:spcBef>
                  <a:spcPct val="50000"/>
                </a:spcBef>
              </a:pPr>
              <a:r>
                <a:rPr lang="en-US" altLang="zh-CN" sz="2400">
                  <a:latin typeface="Tahoma" panose="020B0604030504040204" pitchFamily="34" charset="0"/>
                </a:rPr>
                <a:t>M</a:t>
              </a:r>
              <a:endParaRPr lang="en-US" altLang="zh-CN" sz="2400">
                <a:latin typeface="Tahoma" panose="020B0604030504040204" pitchFamily="34" charset="0"/>
              </a:endParaRPr>
            </a:p>
          </p:txBody>
        </p:sp>
        <p:sp>
          <p:nvSpPr>
            <p:cNvPr id="17" name="Line 17"/>
            <p:cNvSpPr>
              <a:spLocks noChangeShapeType="1"/>
            </p:cNvSpPr>
            <p:nvPr/>
          </p:nvSpPr>
          <p:spPr bwMode="auto">
            <a:xfrm>
              <a:off x="7678738" y="4425950"/>
              <a:ext cx="0" cy="639763"/>
            </a:xfrm>
            <a:prstGeom prst="line">
              <a:avLst/>
            </a:prstGeom>
            <a:noFill/>
            <a:ln w="12700" cap="sq">
              <a:solidFill>
                <a:schemeClr val="tx1"/>
              </a:solidFill>
              <a:round/>
              <a:tailEnd type="triangle" w="med" len="med"/>
            </a:ln>
          </p:spPr>
          <p:txBody>
            <a:bodyPr wrap="none" anchor="ctr"/>
            <a:lstStyle/>
            <a:p>
              <a:endParaRPr lang="zh-CN" altLang="en-US" sz="2400"/>
            </a:p>
          </p:txBody>
        </p:sp>
        <p:sp>
          <p:nvSpPr>
            <p:cNvPr id="18" name="Text Box 18"/>
            <p:cNvSpPr txBox="1">
              <a:spLocks noChangeArrowheads="1"/>
            </p:cNvSpPr>
            <p:nvPr/>
          </p:nvSpPr>
          <p:spPr bwMode="auto">
            <a:xfrm>
              <a:off x="7707313" y="4629150"/>
              <a:ext cx="725487" cy="401279"/>
            </a:xfrm>
            <a:prstGeom prst="rect">
              <a:avLst/>
            </a:prstGeom>
            <a:noFill/>
            <a:ln w="12700" cap="sq" algn="ctr">
              <a:noFill/>
              <a:miter lim="800000"/>
            </a:ln>
          </p:spPr>
          <p:txBody>
            <a:bodyPr>
              <a:spAutoFit/>
            </a:bodyPr>
            <a:lstStyle/>
            <a:p>
              <a:pPr>
                <a:spcBef>
                  <a:spcPct val="50000"/>
                </a:spcBef>
              </a:pPr>
              <a:r>
                <a:rPr lang="en-US" altLang="zh-CN" sz="2400">
                  <a:latin typeface="Tahoma" panose="020B0604030504040204" pitchFamily="34" charset="0"/>
                </a:rPr>
                <a:t>t</a:t>
              </a:r>
              <a:endParaRPr lang="en-US" altLang="zh-CN" sz="2400">
                <a:latin typeface="Tahoma" panose="020B0604030504040204" pitchFamily="34" charset="0"/>
              </a:endParaRPr>
            </a:p>
          </p:txBody>
        </p:sp>
      </p:grpSp>
    </p:spTree>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p:txBody>
          <a:bodyPr/>
          <a:lstStyle/>
          <a:p>
            <a:pPr>
              <a:defRPr/>
            </a:pPr>
            <a:r>
              <a:rPr lang="zh-CN" altLang="en-US" smtClean="0"/>
              <a:t>第</a:t>
            </a:r>
            <a:r>
              <a:rPr lang="en-US" altLang="zh-CN" smtClean="0"/>
              <a:t>7</a:t>
            </a:r>
            <a:r>
              <a:rPr lang="zh-CN" altLang="en-US" smtClean="0"/>
              <a:t>，</a:t>
            </a:r>
            <a:r>
              <a:rPr lang="en-US" altLang="zh-CN" smtClean="0"/>
              <a:t>8</a:t>
            </a:r>
            <a:r>
              <a:rPr lang="zh-CN" altLang="en-US" smtClean="0"/>
              <a:t>和</a:t>
            </a:r>
            <a:r>
              <a:rPr lang="en-US" altLang="zh-CN" smtClean="0"/>
              <a:t>9</a:t>
            </a:r>
            <a:r>
              <a:rPr lang="zh-CN" altLang="en-US" smtClean="0"/>
              <a:t>步：变异体执行和分类</a:t>
            </a:r>
            <a:endParaRPr lang="zh-CN" altLang="en-US" smtClean="0"/>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变异体执行的结果是否与</a:t>
            </a:r>
            <a:r>
              <a:rPr lang="en-US" altLang="zh-CN" sz="2600">
                <a:ea typeface="华文新魏" panose="02010800040101010101" pitchFamily="2" charset="-122"/>
              </a:rPr>
              <a:t>P</a:t>
            </a:r>
            <a:r>
              <a:rPr lang="zh-CN" altLang="en-US" sz="2600">
                <a:ea typeface="华文新魏" panose="02010800040101010101" pitchFamily="2" charset="-122"/>
              </a:rPr>
              <a:t>的执行结果相同或不同</a:t>
            </a:r>
            <a:endParaRPr lang="zh-CN" altLang="en-US" sz="26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5" name="Group 34"/>
          <p:cNvGrpSpPr/>
          <p:nvPr/>
        </p:nvGrpSpPr>
        <p:grpSpPr bwMode="auto">
          <a:xfrm>
            <a:off x="3048000" y="2747010"/>
            <a:ext cx="5715000" cy="3352800"/>
            <a:chOff x="2763" y="631"/>
            <a:chExt cx="2849" cy="1512"/>
          </a:xfrm>
        </p:grpSpPr>
        <p:sp>
          <p:nvSpPr>
            <p:cNvPr id="6" name="AutoShape 4"/>
            <p:cNvSpPr>
              <a:spLocks noChangeArrowheads="1"/>
            </p:cNvSpPr>
            <p:nvPr/>
          </p:nvSpPr>
          <p:spPr bwMode="auto">
            <a:xfrm>
              <a:off x="4177" y="1677"/>
              <a:ext cx="1033" cy="466"/>
            </a:xfrm>
            <a:prstGeom prst="flowChartDecision">
              <a:avLst/>
            </a:prstGeom>
            <a:solidFill>
              <a:srgbClr val="D7D6AE"/>
            </a:solidFill>
            <a:ln w="12700" cap="sq" algn="ctr">
              <a:solidFill>
                <a:schemeClr val="tx1"/>
              </a:solidFill>
              <a:miter lim="800000"/>
            </a:ln>
          </p:spPr>
          <p:txBody>
            <a:bodyPr wrap="none" anchor="ctr"/>
            <a:lstStyle/>
            <a:p>
              <a:pPr algn="ctr"/>
              <a:r>
                <a:rPr lang="en-US" altLang="zh-CN" sz="2000" b="1" i="0">
                  <a:solidFill>
                    <a:srgbClr val="000066"/>
                  </a:solidFill>
                  <a:latin typeface="华文新魏" panose="02010800040101010101" pitchFamily="2" charset="-122"/>
                  <a:ea typeface="华文新魏" panose="02010800040101010101" pitchFamily="2" charset="-122"/>
                </a:rPr>
                <a:t>P(t)=M(t)?</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7" name="Oval 5"/>
            <p:cNvSpPr>
              <a:spLocks noChangeArrowheads="1"/>
            </p:cNvSpPr>
            <p:nvPr/>
          </p:nvSpPr>
          <p:spPr bwMode="auto">
            <a:xfrm>
              <a:off x="2763" y="985"/>
              <a:ext cx="878" cy="403"/>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对于</a:t>
              </a:r>
              <a:r>
                <a:rPr lang="en-US" altLang="zh-CN" sz="2000" b="1" i="0">
                  <a:solidFill>
                    <a:srgbClr val="000066"/>
                  </a:solidFill>
                  <a:latin typeface="华文新魏" panose="02010800040101010101" pitchFamily="2" charset="-122"/>
                  <a:ea typeface="华文新魏" panose="02010800040101010101" pitchFamily="2" charset="-122"/>
                </a:rPr>
                <a:t>T</a:t>
              </a:r>
              <a:r>
                <a:rPr lang="zh-CN" altLang="en-US" sz="2000" b="1" i="0">
                  <a:solidFill>
                    <a:srgbClr val="000066"/>
                  </a:solidFill>
                  <a:latin typeface="华文新魏" panose="02010800040101010101" pitchFamily="2" charset="-122"/>
                  <a:ea typeface="华文新魏" panose="02010800040101010101" pitchFamily="2" charset="-122"/>
                </a:rPr>
                <a:t>中所</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有的</a:t>
              </a:r>
              <a:r>
                <a:rPr lang="en-US" altLang="zh-CN" sz="2000" b="1" i="0">
                  <a:solidFill>
                    <a:srgbClr val="000066"/>
                  </a:solidFill>
                  <a:latin typeface="华文新魏" panose="02010800040101010101" pitchFamily="2" charset="-122"/>
                  <a:ea typeface="华文新魏" panose="02010800040101010101" pitchFamily="2" charset="-122"/>
                </a:rPr>
                <a:t>t</a:t>
              </a:r>
              <a:r>
                <a:rPr lang="zh-CN" altLang="en-US" sz="2000" b="1" i="0">
                  <a:solidFill>
                    <a:srgbClr val="000066"/>
                  </a:solidFill>
                  <a:latin typeface="华文新魏" panose="02010800040101010101" pitchFamily="2" charset="-122"/>
                  <a:ea typeface="华文新魏" panose="02010800040101010101" pitchFamily="2" charset="-122"/>
                </a:rPr>
                <a:t>，</a:t>
              </a:r>
              <a:r>
                <a:rPr lang="en-US" altLang="zh-CN" sz="2000" b="1" i="0">
                  <a:solidFill>
                    <a:srgbClr val="000066"/>
                  </a:solidFill>
                  <a:latin typeface="华文新魏" panose="02010800040101010101" pitchFamily="2" charset="-122"/>
                  <a:ea typeface="华文新魏" panose="02010800040101010101" pitchFamily="2" charset="-122"/>
                </a:rPr>
                <a:t>P(t)</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8" name="AutoShape 6"/>
            <p:cNvSpPr>
              <a:spLocks noChangeArrowheads="1"/>
            </p:cNvSpPr>
            <p:nvPr/>
          </p:nvSpPr>
          <p:spPr bwMode="auto">
            <a:xfrm>
              <a:off x="4233" y="985"/>
              <a:ext cx="914" cy="392"/>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选用测试用例</a:t>
              </a:r>
              <a:r>
                <a:rPr lang="en-US" altLang="zh-CN" sz="2000" b="1" i="0">
                  <a:solidFill>
                    <a:srgbClr val="000066"/>
                  </a:solidFill>
                  <a:latin typeface="华文新魏" panose="02010800040101010101" pitchFamily="2" charset="-122"/>
                  <a:ea typeface="华文新魏" panose="02010800040101010101" pitchFamily="2" charset="-122"/>
                </a:rPr>
                <a:t>t</a:t>
              </a:r>
              <a:endParaRPr lang="en-US" altLang="zh-CN"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执行</a:t>
              </a:r>
              <a:r>
                <a:rPr lang="en-US" altLang="zh-CN" sz="2000" b="1" i="0">
                  <a:solidFill>
                    <a:srgbClr val="000066"/>
                  </a:solidFill>
                  <a:latin typeface="华文新魏" panose="02010800040101010101" pitchFamily="2" charset="-122"/>
                  <a:ea typeface="华文新魏" panose="02010800040101010101" pitchFamily="2" charset="-122"/>
                </a:rPr>
                <a:t>M</a:t>
              </a:r>
              <a:endParaRPr lang="en-US" altLang="zh-CN" sz="2000" b="1" i="0">
                <a:solidFill>
                  <a:srgbClr val="000066"/>
                </a:solidFill>
                <a:latin typeface="华文新魏" panose="02010800040101010101" pitchFamily="2" charset="-122"/>
                <a:ea typeface="华文新魏" panose="02010800040101010101" pitchFamily="2" charset="-122"/>
              </a:endParaRPr>
            </a:p>
          </p:txBody>
        </p:sp>
        <p:cxnSp>
          <p:nvCxnSpPr>
            <p:cNvPr id="9" name="AutoShape 7"/>
            <p:cNvCxnSpPr>
              <a:cxnSpLocks noChangeShapeType="1"/>
              <a:endCxn id="8" idx="0"/>
            </p:cNvCxnSpPr>
            <p:nvPr/>
          </p:nvCxnSpPr>
          <p:spPr bwMode="auto">
            <a:xfrm>
              <a:off x="4690" y="666"/>
              <a:ext cx="0" cy="319"/>
            </a:xfrm>
            <a:prstGeom prst="straightConnector1">
              <a:avLst/>
            </a:prstGeom>
            <a:noFill/>
            <a:ln w="12700" cap="sq">
              <a:solidFill>
                <a:schemeClr val="tx1"/>
              </a:solidFill>
              <a:round/>
              <a:tailEnd type="triangle" w="med" len="med"/>
            </a:ln>
          </p:spPr>
        </p:cxnSp>
        <p:cxnSp>
          <p:nvCxnSpPr>
            <p:cNvPr id="10" name="AutoShape 8"/>
            <p:cNvCxnSpPr>
              <a:cxnSpLocks noChangeShapeType="1"/>
              <a:stCxn id="6" idx="1"/>
            </p:cNvCxnSpPr>
            <p:nvPr/>
          </p:nvCxnSpPr>
          <p:spPr bwMode="auto">
            <a:xfrm flipH="1">
              <a:off x="3726" y="1910"/>
              <a:ext cx="451" cy="6"/>
            </a:xfrm>
            <a:prstGeom prst="straightConnector1">
              <a:avLst/>
            </a:prstGeom>
            <a:noFill/>
            <a:ln w="12700" cap="sq">
              <a:solidFill>
                <a:schemeClr val="tx1"/>
              </a:solidFill>
              <a:round/>
              <a:tailEnd type="triangle" w="med" len="med"/>
            </a:ln>
          </p:spPr>
        </p:cxnSp>
        <p:sp>
          <p:nvSpPr>
            <p:cNvPr id="11" name="Line 9"/>
            <p:cNvSpPr>
              <a:spLocks noChangeShapeType="1"/>
            </p:cNvSpPr>
            <p:nvPr/>
          </p:nvSpPr>
          <p:spPr bwMode="auto">
            <a:xfrm>
              <a:off x="3621" y="1261"/>
              <a:ext cx="814" cy="530"/>
            </a:xfrm>
            <a:prstGeom prst="line">
              <a:avLst/>
            </a:prstGeom>
            <a:noFill/>
            <a:ln w="19050">
              <a:solidFill>
                <a:schemeClr val="tx1"/>
              </a:solidFill>
              <a:prstDash val="dashDot"/>
              <a:round/>
              <a:tailEnd type="triangle" w="med" len="med"/>
            </a:ln>
          </p:spPr>
          <p:txBody>
            <a:bodyPr wrap="none" anchor="ctr"/>
            <a:lstStyle/>
            <a:p>
              <a:endParaRPr lang="zh-CN" altLang="en-US" sz="2400" b="1" i="0"/>
            </a:p>
          </p:txBody>
        </p:sp>
        <p:sp>
          <p:nvSpPr>
            <p:cNvPr id="12" name="Text Box 10"/>
            <p:cNvSpPr txBox="1">
              <a:spLocks noChangeArrowheads="1"/>
            </p:cNvSpPr>
            <p:nvPr/>
          </p:nvSpPr>
          <p:spPr bwMode="auto">
            <a:xfrm>
              <a:off x="4706" y="1550"/>
              <a:ext cx="623" cy="208"/>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8</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3" name="Text Box 11"/>
            <p:cNvSpPr txBox="1">
              <a:spLocks noChangeArrowheads="1"/>
            </p:cNvSpPr>
            <p:nvPr/>
          </p:nvSpPr>
          <p:spPr bwMode="auto">
            <a:xfrm>
              <a:off x="3875" y="819"/>
              <a:ext cx="659" cy="208"/>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7</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4" name="Text Box 12"/>
            <p:cNvSpPr txBox="1">
              <a:spLocks noChangeArrowheads="1"/>
            </p:cNvSpPr>
            <p:nvPr/>
          </p:nvSpPr>
          <p:spPr bwMode="auto">
            <a:xfrm>
              <a:off x="4369" y="1360"/>
              <a:ext cx="384" cy="180"/>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M(t)</a:t>
              </a:r>
              <a:endParaRPr lang="en-US" altLang="zh-CN" sz="2000" b="1" i="0">
                <a:solidFill>
                  <a:srgbClr val="000066"/>
                </a:solidFill>
                <a:latin typeface="Tahoma" panose="020B0604030504040204" pitchFamily="34" charset="0"/>
              </a:endParaRPr>
            </a:p>
          </p:txBody>
        </p:sp>
        <p:sp>
          <p:nvSpPr>
            <p:cNvPr id="15" name="Text Box 13"/>
            <p:cNvSpPr txBox="1">
              <a:spLocks noChangeArrowheads="1"/>
            </p:cNvSpPr>
            <p:nvPr/>
          </p:nvSpPr>
          <p:spPr bwMode="auto">
            <a:xfrm>
              <a:off x="3713" y="1452"/>
              <a:ext cx="384" cy="180"/>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P(t)</a:t>
              </a:r>
              <a:endParaRPr lang="en-US" altLang="zh-CN" sz="2000" b="1" i="0">
                <a:solidFill>
                  <a:srgbClr val="000066"/>
                </a:solidFill>
                <a:latin typeface="Tahoma" panose="020B0604030504040204" pitchFamily="34" charset="0"/>
              </a:endParaRPr>
            </a:p>
          </p:txBody>
        </p:sp>
        <p:sp>
          <p:nvSpPr>
            <p:cNvPr id="16" name="Text Box 14"/>
            <p:cNvSpPr txBox="1">
              <a:spLocks noChangeArrowheads="1"/>
            </p:cNvSpPr>
            <p:nvPr/>
          </p:nvSpPr>
          <p:spPr bwMode="auto">
            <a:xfrm>
              <a:off x="3883" y="1732"/>
              <a:ext cx="384" cy="180"/>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No</a:t>
              </a:r>
              <a:endParaRPr lang="en-US" altLang="zh-CN" sz="2000" b="1" i="0">
                <a:solidFill>
                  <a:srgbClr val="000066"/>
                </a:solidFill>
                <a:latin typeface="Tahoma" panose="020B0604030504040204" pitchFamily="34" charset="0"/>
              </a:endParaRPr>
            </a:p>
          </p:txBody>
        </p:sp>
        <p:sp>
          <p:nvSpPr>
            <p:cNvPr id="17" name="Text Box 15"/>
            <p:cNvSpPr txBox="1">
              <a:spLocks noChangeArrowheads="1"/>
            </p:cNvSpPr>
            <p:nvPr/>
          </p:nvSpPr>
          <p:spPr bwMode="auto">
            <a:xfrm>
              <a:off x="5228" y="1751"/>
              <a:ext cx="384" cy="180"/>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Yes</a:t>
              </a:r>
              <a:endParaRPr lang="en-US" altLang="zh-CN" sz="2000" b="1" i="0">
                <a:solidFill>
                  <a:srgbClr val="000066"/>
                </a:solidFill>
                <a:latin typeface="Tahoma" panose="020B0604030504040204" pitchFamily="34" charset="0"/>
              </a:endParaRPr>
            </a:p>
          </p:txBody>
        </p:sp>
        <p:sp>
          <p:nvSpPr>
            <p:cNvPr id="18" name="Text Box 16"/>
            <p:cNvSpPr txBox="1">
              <a:spLocks noChangeArrowheads="1"/>
            </p:cNvSpPr>
            <p:nvPr/>
          </p:nvSpPr>
          <p:spPr bwMode="auto">
            <a:xfrm>
              <a:off x="4663" y="631"/>
              <a:ext cx="311" cy="208"/>
            </a:xfrm>
            <a:prstGeom prst="rect">
              <a:avLst/>
            </a:prstGeom>
            <a:noFill/>
            <a:ln w="12700" cap="sq" algn="ctr">
              <a:noFill/>
              <a:miter lim="800000"/>
            </a:ln>
          </p:spPr>
          <p:txBody>
            <a:bodyPr>
              <a:spAutoFit/>
            </a:bodyPr>
            <a:lstStyle/>
            <a:p>
              <a:pPr>
                <a:spcBef>
                  <a:spcPct val="50000"/>
                </a:spcBef>
              </a:pPr>
              <a:r>
                <a:rPr lang="en-US" altLang="zh-CN" sz="2400" b="1" i="0">
                  <a:latin typeface="Tahoma" panose="020B0604030504040204" pitchFamily="34" charset="0"/>
                </a:rPr>
                <a:t>t</a:t>
              </a:r>
              <a:endParaRPr lang="en-US" altLang="zh-CN" sz="2400" b="1" i="0">
                <a:latin typeface="Tahoma" panose="020B0604030504040204" pitchFamily="34" charset="0"/>
              </a:endParaRPr>
            </a:p>
          </p:txBody>
        </p:sp>
        <p:sp>
          <p:nvSpPr>
            <p:cNvPr id="19" name="Line 17"/>
            <p:cNvSpPr>
              <a:spLocks noChangeShapeType="1"/>
            </p:cNvSpPr>
            <p:nvPr/>
          </p:nvSpPr>
          <p:spPr bwMode="auto">
            <a:xfrm>
              <a:off x="4682" y="1371"/>
              <a:ext cx="0" cy="320"/>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20" name="Line 18"/>
            <p:cNvSpPr>
              <a:spLocks noChangeShapeType="1"/>
            </p:cNvSpPr>
            <p:nvPr/>
          </p:nvSpPr>
          <p:spPr bwMode="auto">
            <a:xfrm>
              <a:off x="5194" y="1911"/>
              <a:ext cx="393" cy="0"/>
            </a:xfrm>
            <a:prstGeom prst="line">
              <a:avLst/>
            </a:prstGeom>
            <a:noFill/>
            <a:ln w="12700" cap="sq">
              <a:solidFill>
                <a:schemeClr val="tx1"/>
              </a:solidFill>
              <a:round/>
              <a:tailEnd type="triangle" w="med" len="med"/>
            </a:ln>
          </p:spPr>
          <p:txBody>
            <a:bodyPr wrap="none" anchor="ctr"/>
            <a:lstStyle/>
            <a:p>
              <a:endParaRPr lang="zh-CN" altLang="en-US" sz="2400" b="1" i="0"/>
            </a:p>
          </p:txBody>
        </p:sp>
      </p:grpSp>
    </p:spTree>
  </p:cSld>
  <p:clrMapOvr>
    <a:masterClrMapping/>
  </p:clrMapOvr>
  <p:transition spd="med"/>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p:txBody>
          <a:bodyPr/>
          <a:lstStyle/>
          <a:p>
            <a:pPr>
              <a:defRPr/>
            </a:pPr>
            <a:r>
              <a:rPr lang="zh-CN" altLang="en-US" smtClean="0"/>
              <a:t>第</a:t>
            </a:r>
            <a:r>
              <a:rPr lang="en-US" altLang="zh-CN" smtClean="0"/>
              <a:t>10</a:t>
            </a:r>
            <a:r>
              <a:rPr lang="zh-CN" altLang="en-US" smtClean="0"/>
              <a:t>步：活变异体</a:t>
            </a:r>
            <a:endParaRPr lang="zh-CN" altLang="en-US" smtClean="0"/>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如果没有测试用例能够区分变异体与</a:t>
            </a:r>
            <a:r>
              <a:rPr lang="en-US" altLang="zh-CN" sz="2600">
                <a:ea typeface="华文新魏" panose="02010800040101010101" pitchFamily="2" charset="-122"/>
              </a:rPr>
              <a:t>P</a:t>
            </a:r>
            <a:r>
              <a:rPr lang="zh-CN" altLang="en-US" sz="2600">
                <a:ea typeface="华文新魏" panose="02010800040101010101" pitchFamily="2" charset="-122"/>
              </a:rPr>
              <a:t>，则该变异体存活，并被放回活变异体集合</a:t>
            </a:r>
            <a:r>
              <a:rPr lang="en-US" altLang="zh-CN" sz="2600">
                <a:ea typeface="华文新魏" panose="02010800040101010101" pitchFamily="2" charset="-122"/>
              </a:rPr>
              <a:t>L</a:t>
            </a:r>
            <a:r>
              <a:rPr lang="zh-CN" altLang="en-US" sz="2600">
                <a:ea typeface="华文新魏" panose="02010800040101010101" pitchFamily="2" charset="-122"/>
              </a:rPr>
              <a:t>中。</a:t>
            </a:r>
            <a:endParaRPr lang="zh-CN" altLang="en-US" sz="26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5" name="Group 35"/>
          <p:cNvGrpSpPr/>
          <p:nvPr/>
        </p:nvGrpSpPr>
        <p:grpSpPr bwMode="auto">
          <a:xfrm>
            <a:off x="2743200" y="3078480"/>
            <a:ext cx="6440488" cy="3003550"/>
            <a:chOff x="2962" y="2517"/>
            <a:chExt cx="2771" cy="1542"/>
          </a:xfrm>
        </p:grpSpPr>
        <p:sp>
          <p:nvSpPr>
            <p:cNvPr id="6" name="Oval 20"/>
            <p:cNvSpPr>
              <a:spLocks noChangeArrowheads="1"/>
            </p:cNvSpPr>
            <p:nvPr/>
          </p:nvSpPr>
          <p:spPr bwMode="auto">
            <a:xfrm>
              <a:off x="4855" y="2517"/>
              <a:ext cx="878" cy="403"/>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活的变异体</a:t>
              </a:r>
              <a:r>
                <a:rPr lang="en-US" altLang="zh-CN" sz="2000" b="1" i="0">
                  <a:solidFill>
                    <a:srgbClr val="000066"/>
                  </a:solidFill>
                  <a:latin typeface="华文新魏" panose="02010800040101010101" pitchFamily="2" charset="-122"/>
                  <a:ea typeface="华文新魏" panose="02010800040101010101" pitchFamily="2" charset="-122"/>
                </a:rPr>
                <a:t>L</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7" name="AutoShape 21"/>
            <p:cNvSpPr>
              <a:spLocks noChangeArrowheads="1"/>
            </p:cNvSpPr>
            <p:nvPr/>
          </p:nvSpPr>
          <p:spPr bwMode="auto">
            <a:xfrm>
              <a:off x="3472" y="3315"/>
              <a:ext cx="1087" cy="566"/>
            </a:xfrm>
            <a:prstGeom prst="flowChartDecision">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所有的测试</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   都完成了吗？</a:t>
              </a:r>
              <a:endParaRPr lang="zh-CN" altLang="en-US" sz="2000" b="1" i="0">
                <a:solidFill>
                  <a:srgbClr val="000066"/>
                </a:solidFill>
                <a:latin typeface="华文新魏" panose="02010800040101010101" pitchFamily="2" charset="-122"/>
                <a:ea typeface="华文新魏" panose="02010800040101010101" pitchFamily="2" charset="-122"/>
              </a:endParaRPr>
            </a:p>
          </p:txBody>
        </p:sp>
        <p:sp>
          <p:nvSpPr>
            <p:cNvPr id="8" name="AutoShape 22"/>
            <p:cNvSpPr>
              <a:spLocks noChangeArrowheads="1"/>
            </p:cNvSpPr>
            <p:nvPr/>
          </p:nvSpPr>
          <p:spPr bwMode="auto">
            <a:xfrm>
              <a:off x="5001" y="3450"/>
              <a:ext cx="595" cy="392"/>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将</a:t>
              </a:r>
              <a:r>
                <a:rPr lang="en-US" altLang="zh-CN" sz="2000" b="1" i="0">
                  <a:solidFill>
                    <a:srgbClr val="000066"/>
                  </a:solidFill>
                  <a:latin typeface="华文新魏" panose="02010800040101010101" pitchFamily="2" charset="-122"/>
                  <a:ea typeface="华文新魏" panose="02010800040101010101" pitchFamily="2" charset="-122"/>
                </a:rPr>
                <a:t>M</a:t>
              </a:r>
              <a:r>
                <a:rPr lang="zh-CN" altLang="en-US" sz="2000" b="1" i="0">
                  <a:solidFill>
                    <a:srgbClr val="000066"/>
                  </a:solidFill>
                  <a:latin typeface="华文新魏" panose="02010800040101010101" pitchFamily="2" charset="-122"/>
                  <a:ea typeface="华文新魏" panose="02010800040101010101" pitchFamily="2" charset="-122"/>
                </a:rPr>
                <a:t>放回</a:t>
              </a:r>
              <a:r>
                <a:rPr lang="en-US" altLang="zh-CN" sz="2000" b="1" i="0">
                  <a:solidFill>
                    <a:srgbClr val="000066"/>
                  </a:solidFill>
                  <a:latin typeface="华文新魏" panose="02010800040101010101" pitchFamily="2" charset="-122"/>
                  <a:ea typeface="华文新魏" panose="02010800040101010101" pitchFamily="2" charset="-122"/>
                </a:rPr>
                <a:t>L</a:t>
              </a:r>
              <a:endParaRPr lang="en-US" altLang="zh-CN" sz="2000" b="1" i="0">
                <a:solidFill>
                  <a:srgbClr val="000066"/>
                </a:solidFill>
                <a:latin typeface="华文新魏" panose="02010800040101010101" pitchFamily="2" charset="-122"/>
                <a:ea typeface="华文新魏" panose="02010800040101010101" pitchFamily="2" charset="-122"/>
              </a:endParaRPr>
            </a:p>
          </p:txBody>
        </p:sp>
        <p:cxnSp>
          <p:nvCxnSpPr>
            <p:cNvPr id="9" name="AutoShape 23"/>
            <p:cNvCxnSpPr>
              <a:cxnSpLocks noChangeShapeType="1"/>
              <a:endCxn id="7" idx="1"/>
            </p:cNvCxnSpPr>
            <p:nvPr/>
          </p:nvCxnSpPr>
          <p:spPr bwMode="auto">
            <a:xfrm>
              <a:off x="2962" y="3597"/>
              <a:ext cx="510" cy="1"/>
            </a:xfrm>
            <a:prstGeom prst="straightConnector1">
              <a:avLst/>
            </a:prstGeom>
            <a:noFill/>
            <a:ln w="19050">
              <a:solidFill>
                <a:schemeClr val="tx1"/>
              </a:solidFill>
              <a:prstDash val="dashDot"/>
              <a:round/>
              <a:tailEnd type="triangle" w="med" len="med"/>
            </a:ln>
          </p:spPr>
        </p:cxnSp>
        <p:sp>
          <p:nvSpPr>
            <p:cNvPr id="10" name="Text Box 24"/>
            <p:cNvSpPr txBox="1">
              <a:spLocks noChangeArrowheads="1"/>
            </p:cNvSpPr>
            <p:nvPr/>
          </p:nvSpPr>
          <p:spPr bwMode="auto">
            <a:xfrm>
              <a:off x="3449" y="3174"/>
              <a:ext cx="558" cy="237"/>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5</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1" name="Text Box 25"/>
            <p:cNvSpPr txBox="1">
              <a:spLocks noChangeArrowheads="1"/>
            </p:cNvSpPr>
            <p:nvPr/>
          </p:nvSpPr>
          <p:spPr bwMode="auto">
            <a:xfrm>
              <a:off x="4797" y="3182"/>
              <a:ext cx="594" cy="237"/>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10</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2" name="Text Box 26"/>
            <p:cNvSpPr txBox="1">
              <a:spLocks noChangeArrowheads="1"/>
            </p:cNvSpPr>
            <p:nvPr/>
          </p:nvSpPr>
          <p:spPr bwMode="auto">
            <a:xfrm>
              <a:off x="4051" y="3847"/>
              <a:ext cx="384" cy="205"/>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No</a:t>
              </a:r>
              <a:endParaRPr lang="en-US" altLang="zh-CN" sz="2000" b="1" i="0">
                <a:solidFill>
                  <a:srgbClr val="000066"/>
                </a:solidFill>
                <a:latin typeface="Tahoma" panose="020B0604030504040204" pitchFamily="34" charset="0"/>
              </a:endParaRPr>
            </a:p>
          </p:txBody>
        </p:sp>
        <p:sp>
          <p:nvSpPr>
            <p:cNvPr id="13" name="Line 27"/>
            <p:cNvSpPr>
              <a:spLocks noChangeShapeType="1"/>
            </p:cNvSpPr>
            <p:nvPr/>
          </p:nvSpPr>
          <p:spPr bwMode="auto">
            <a:xfrm>
              <a:off x="4544" y="3597"/>
              <a:ext cx="457" cy="0"/>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4" name="Line 28"/>
            <p:cNvSpPr>
              <a:spLocks noChangeShapeType="1"/>
            </p:cNvSpPr>
            <p:nvPr/>
          </p:nvSpPr>
          <p:spPr bwMode="auto">
            <a:xfrm>
              <a:off x="4005" y="3872"/>
              <a:ext cx="0" cy="187"/>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5" name="Text Box 29"/>
            <p:cNvSpPr txBox="1">
              <a:spLocks noChangeArrowheads="1"/>
            </p:cNvSpPr>
            <p:nvPr/>
          </p:nvSpPr>
          <p:spPr bwMode="auto">
            <a:xfrm>
              <a:off x="4553" y="3417"/>
              <a:ext cx="384" cy="205"/>
            </a:xfrm>
            <a:prstGeom prst="rect">
              <a:avLst/>
            </a:prstGeom>
            <a:noFill/>
            <a:ln w="12700" cap="sq" algn="ctr">
              <a:noFill/>
              <a:miter lim="800000"/>
            </a:ln>
          </p:spPr>
          <p:txBody>
            <a:bodyPr>
              <a:spAutoFit/>
            </a:bodyPr>
            <a:lstStyle/>
            <a:p>
              <a:pPr>
                <a:spcBef>
                  <a:spcPct val="50000"/>
                </a:spcBef>
              </a:pPr>
              <a:r>
                <a:rPr lang="en-US" altLang="zh-CN" sz="2000" b="1" i="0">
                  <a:solidFill>
                    <a:srgbClr val="000066"/>
                  </a:solidFill>
                  <a:latin typeface="Tahoma" panose="020B0604030504040204" pitchFamily="34" charset="0"/>
                </a:rPr>
                <a:t>yes</a:t>
              </a:r>
              <a:endParaRPr lang="en-US" altLang="zh-CN" sz="2000" b="1" i="0">
                <a:solidFill>
                  <a:srgbClr val="000066"/>
                </a:solidFill>
                <a:latin typeface="Tahoma" panose="020B0604030504040204" pitchFamily="34" charset="0"/>
              </a:endParaRPr>
            </a:p>
          </p:txBody>
        </p:sp>
        <p:sp>
          <p:nvSpPr>
            <p:cNvPr id="16" name="Line 30"/>
            <p:cNvSpPr>
              <a:spLocks noChangeShapeType="1"/>
            </p:cNvSpPr>
            <p:nvPr/>
          </p:nvSpPr>
          <p:spPr bwMode="auto">
            <a:xfrm flipV="1">
              <a:off x="5285" y="2912"/>
              <a:ext cx="0" cy="530"/>
            </a:xfrm>
            <a:prstGeom prst="line">
              <a:avLst/>
            </a:prstGeom>
            <a:noFill/>
            <a:ln w="12700">
              <a:solidFill>
                <a:schemeClr val="tx1"/>
              </a:solidFill>
              <a:prstDash val="dashDot"/>
              <a:round/>
              <a:tailEnd type="triangle" w="med" len="med"/>
            </a:ln>
          </p:spPr>
          <p:txBody>
            <a:bodyPr wrap="none" anchor="ctr"/>
            <a:lstStyle/>
            <a:p>
              <a:endParaRPr lang="zh-CN" altLang="en-US" sz="2400" b="1" i="0"/>
            </a:p>
          </p:txBody>
        </p:sp>
        <p:sp>
          <p:nvSpPr>
            <p:cNvPr id="17" name="Line 31"/>
            <p:cNvSpPr>
              <a:spLocks noChangeShapeType="1"/>
            </p:cNvSpPr>
            <p:nvPr/>
          </p:nvSpPr>
          <p:spPr bwMode="auto">
            <a:xfrm>
              <a:off x="4014" y="2966"/>
              <a:ext cx="0" cy="366"/>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8" name="Text Box 32"/>
            <p:cNvSpPr txBox="1">
              <a:spLocks noChangeArrowheads="1"/>
            </p:cNvSpPr>
            <p:nvPr/>
          </p:nvSpPr>
          <p:spPr bwMode="auto">
            <a:xfrm>
              <a:off x="4005" y="2958"/>
              <a:ext cx="466" cy="237"/>
            </a:xfrm>
            <a:prstGeom prst="rect">
              <a:avLst/>
            </a:prstGeom>
            <a:noFill/>
            <a:ln w="12700" cap="sq" algn="ctr">
              <a:noFill/>
              <a:miter lim="800000"/>
            </a:ln>
          </p:spPr>
          <p:txBody>
            <a:bodyPr>
              <a:spAutoFit/>
            </a:bodyPr>
            <a:lstStyle/>
            <a:p>
              <a:pPr>
                <a:spcBef>
                  <a:spcPct val="50000"/>
                </a:spcBef>
              </a:pPr>
              <a:r>
                <a:rPr lang="en-US" altLang="zh-CN" sz="2400" b="1" i="0">
                  <a:latin typeface="Tahoma" panose="020B0604030504040204" pitchFamily="34" charset="0"/>
                </a:rPr>
                <a:t>M</a:t>
              </a:r>
              <a:endParaRPr lang="en-US" altLang="zh-CN" sz="2400" b="1" i="0">
                <a:latin typeface="Tahoma" panose="020B0604030504040204" pitchFamily="34" charset="0"/>
              </a:endParaRPr>
            </a:p>
          </p:txBody>
        </p:sp>
      </p:grpSp>
    </p:spTree>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a:xfrm>
            <a:off x="1024255" y="990600"/>
            <a:ext cx="6595745" cy="5105400"/>
          </a:xfrm>
        </p:spPr>
        <p:txBody>
          <a:bodyPr/>
          <a:lstStyle/>
          <a:p>
            <a:pPr>
              <a:defRPr/>
            </a:pPr>
            <a:r>
              <a:rPr lang="zh-CN" altLang="en-US" smtClean="0"/>
              <a:t>第</a:t>
            </a:r>
            <a:r>
              <a:rPr lang="en-US" altLang="zh-CN" smtClean="0"/>
              <a:t>11</a:t>
            </a:r>
            <a:r>
              <a:rPr lang="zh-CN" altLang="en-US" smtClean="0"/>
              <a:t>步：等价变异体</a:t>
            </a:r>
            <a:endParaRPr lang="zh-CN" altLang="en-US" smtClean="0"/>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如果对于程序</a:t>
            </a:r>
            <a:r>
              <a:rPr lang="en-US" altLang="zh-CN" sz="2600">
                <a:ea typeface="华文新魏" panose="02010800040101010101" pitchFamily="2" charset="-122"/>
              </a:rPr>
              <a:t>P</a:t>
            </a:r>
            <a:r>
              <a:rPr lang="zh-CN" altLang="en-US" sz="2600">
                <a:ea typeface="华文新魏" panose="02010800040101010101" pitchFamily="2" charset="-122"/>
              </a:rPr>
              <a:t>的输入域中的每一个输入，变异体</a:t>
            </a:r>
            <a:r>
              <a:rPr lang="en-US" altLang="zh-CN" sz="2600">
                <a:ea typeface="华文新魏" panose="02010800040101010101" pitchFamily="2" charset="-122"/>
              </a:rPr>
              <a:t>M</a:t>
            </a:r>
            <a:r>
              <a:rPr lang="zh-CN" altLang="en-US" sz="2600">
                <a:ea typeface="华文新魏" panose="02010800040101010101" pitchFamily="2" charset="-122"/>
              </a:rPr>
              <a:t>的执行结果等于</a:t>
            </a:r>
            <a:r>
              <a:rPr lang="en-US" altLang="zh-CN" sz="2600">
                <a:ea typeface="华文新魏" panose="02010800040101010101" pitchFamily="2" charset="-122"/>
              </a:rPr>
              <a:t>P</a:t>
            </a:r>
            <a:r>
              <a:rPr lang="zh-CN" altLang="en-US" sz="2600">
                <a:ea typeface="华文新魏" panose="02010800040101010101" pitchFamily="2" charset="-122"/>
              </a:rPr>
              <a:t>的执行结果，则认为</a:t>
            </a:r>
            <a:r>
              <a:rPr lang="en-US" altLang="zh-CN" sz="2600">
                <a:ea typeface="华文新魏" panose="02010800040101010101" pitchFamily="2" charset="-122"/>
              </a:rPr>
              <a:t>M</a:t>
            </a:r>
            <a:r>
              <a:rPr lang="zh-CN" altLang="en-US" sz="2600">
                <a:ea typeface="华文新魏" panose="02010800040101010101" pitchFamily="2" charset="-122"/>
              </a:rPr>
              <a:t>等价于</a:t>
            </a:r>
            <a:r>
              <a:rPr lang="en-US" altLang="zh-CN" sz="2600">
                <a:ea typeface="华文新魏" panose="02010800040101010101" pitchFamily="2" charset="-122"/>
              </a:rPr>
              <a:t>P</a:t>
            </a:r>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5" name="Text Box 13"/>
          <p:cNvSpPr txBox="1">
            <a:spLocks noChangeArrowheads="1"/>
          </p:cNvSpPr>
          <p:nvPr/>
        </p:nvSpPr>
        <p:spPr bwMode="auto">
          <a:xfrm>
            <a:off x="1752601" y="3307239"/>
            <a:ext cx="2511425" cy="3200876"/>
          </a:xfrm>
          <a:prstGeom prst="rect">
            <a:avLst/>
          </a:prstGeom>
          <a:solidFill>
            <a:srgbClr val="D7D6AE"/>
          </a:solidFill>
          <a:ln w="12700" cap="sq" algn="ctr">
            <a:noFill/>
            <a:miter lim="800000"/>
          </a:ln>
        </p:spPr>
        <p:txBody>
          <a:bodyPr>
            <a:spAutoFit/>
          </a:bodyPr>
          <a:lstStyle/>
          <a:p>
            <a:pPr marL="342900" indent="-342900">
              <a:spcBef>
                <a:spcPts val="600"/>
              </a:spcBef>
            </a:pPr>
            <a:r>
              <a:rPr lang="en-US" altLang="zh-CN">
                <a:solidFill>
                  <a:srgbClr val="000066"/>
                </a:solidFill>
                <a:latin typeface="Tahoma" panose="020B0604030504040204" pitchFamily="34" charset="0"/>
              </a:rPr>
              <a:t>Example: Program 1</a:t>
            </a:r>
            <a:endParaRPr lang="en-US" altLang="zh-CN">
              <a:solidFill>
                <a:srgbClr val="000066"/>
              </a:solidFill>
              <a:latin typeface="Tahoma" panose="020B0604030504040204" pitchFamily="34" charset="0"/>
            </a:endParaRPr>
          </a:p>
          <a:p>
            <a:pPr marL="342900" indent="-342900">
              <a:spcBef>
                <a:spcPts val="6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if (x &lt; 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sp>
        <p:nvSpPr>
          <p:cNvPr id="6" name="Text Box 14"/>
          <p:cNvSpPr txBox="1">
            <a:spLocks noChangeArrowheads="1"/>
          </p:cNvSpPr>
          <p:nvPr/>
        </p:nvSpPr>
        <p:spPr bwMode="auto">
          <a:xfrm>
            <a:off x="4779963" y="3307239"/>
            <a:ext cx="2627313" cy="3200876"/>
          </a:xfrm>
          <a:prstGeom prst="rect">
            <a:avLst/>
          </a:prstGeom>
          <a:solidFill>
            <a:srgbClr val="C2D4CD"/>
          </a:solidFill>
          <a:ln w="12700" cap="sq" algn="ctr">
            <a:noFill/>
            <a:miter lim="800000"/>
          </a:ln>
        </p:spPr>
        <p:txBody>
          <a:bodyPr>
            <a:spAutoFit/>
          </a:bodyPr>
          <a:lstStyle/>
          <a:p>
            <a:pPr marL="342900" indent="-342900">
              <a:spcBef>
                <a:spcPts val="600"/>
              </a:spcBef>
            </a:pPr>
            <a:r>
              <a:rPr lang="en-US" altLang="zh-CN">
                <a:solidFill>
                  <a:srgbClr val="000066"/>
                </a:solidFill>
                <a:latin typeface="Tahoma" panose="020B0604030504040204" pitchFamily="34" charset="0"/>
              </a:rPr>
              <a:t>Program 1</a:t>
            </a:r>
            <a:r>
              <a:rPr lang="zh-CN" altLang="en-US">
                <a:solidFill>
                  <a:srgbClr val="000066"/>
                </a:solidFill>
                <a:latin typeface="Tahoma" panose="020B0604030504040204" pitchFamily="34" charset="0"/>
                <a:ea typeface="华文新魏" panose="02010800040101010101" pitchFamily="2" charset="-122"/>
              </a:rPr>
              <a:t>的变异体</a:t>
            </a:r>
            <a:r>
              <a:rPr lang="en-US" altLang="zh-CN">
                <a:solidFill>
                  <a:srgbClr val="000066"/>
                </a:solidFill>
                <a:latin typeface="Tahoma" panose="020B0604030504040204" pitchFamily="34" charset="0"/>
              </a:rPr>
              <a:t>M</a:t>
            </a:r>
            <a:endParaRPr lang="en-US" altLang="zh-CN">
              <a:solidFill>
                <a:srgbClr val="000066"/>
              </a:solidFill>
              <a:latin typeface="Tahoma" panose="020B0604030504040204" pitchFamily="34" charset="0"/>
            </a:endParaRPr>
          </a:p>
          <a:p>
            <a:pPr marL="342900" indent="-342900">
              <a:spcBef>
                <a:spcPts val="6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a:t>
            </a:r>
            <a:r>
              <a:rPr lang="en-US" altLang="zh-CN">
                <a:solidFill>
                  <a:srgbClr val="FF0000"/>
                </a:solidFill>
                <a:latin typeface="Tahoma" panose="020B0604030504040204" pitchFamily="34" charset="0"/>
              </a:rPr>
              <a:t>if (x &lt; y+1)</a:t>
            </a:r>
            <a:endParaRPr lang="en-US" altLang="zh-CN">
              <a:solidFill>
                <a:srgbClr val="FF0000"/>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grpSp>
        <p:nvGrpSpPr>
          <p:cNvPr id="16" name="组合 15"/>
          <p:cNvGrpSpPr/>
          <p:nvPr/>
        </p:nvGrpSpPr>
        <p:grpSpPr>
          <a:xfrm>
            <a:off x="7916862" y="838201"/>
            <a:ext cx="2446339" cy="4079875"/>
            <a:chOff x="6900863" y="1068388"/>
            <a:chExt cx="1793875" cy="3849687"/>
          </a:xfrm>
        </p:grpSpPr>
        <p:sp>
          <p:nvSpPr>
            <p:cNvPr id="7" name="Oval 4"/>
            <p:cNvSpPr>
              <a:spLocks noChangeArrowheads="1"/>
            </p:cNvSpPr>
            <p:nvPr/>
          </p:nvSpPr>
          <p:spPr bwMode="auto">
            <a:xfrm>
              <a:off x="6988175" y="1068388"/>
              <a:ext cx="1393825" cy="639762"/>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活的变异体</a:t>
              </a:r>
              <a:r>
                <a:rPr lang="en-US" altLang="zh-CN" sz="2000" b="1" i="0">
                  <a:solidFill>
                    <a:srgbClr val="000066"/>
                  </a:solidFill>
                  <a:latin typeface="华文新魏" panose="02010800040101010101" pitchFamily="2" charset="-122"/>
                  <a:ea typeface="华文新魏" panose="02010800040101010101" pitchFamily="2" charset="-122"/>
                </a:rPr>
                <a:t>L</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8" name="AutoShape 5"/>
            <p:cNvSpPr>
              <a:spLocks noChangeArrowheads="1"/>
            </p:cNvSpPr>
            <p:nvPr/>
          </p:nvSpPr>
          <p:spPr bwMode="auto">
            <a:xfrm>
              <a:off x="6900863" y="2189163"/>
              <a:ext cx="1481137" cy="654050"/>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确定并从</a:t>
              </a:r>
              <a:r>
                <a:rPr lang="en-US" altLang="zh-CN" sz="2000" b="1" i="0">
                  <a:solidFill>
                    <a:srgbClr val="000066"/>
                  </a:solidFill>
                  <a:latin typeface="华文新魏" panose="02010800040101010101" pitchFamily="2" charset="-122"/>
                  <a:ea typeface="华文新魏" panose="02010800040101010101" pitchFamily="2" charset="-122"/>
                </a:rPr>
                <a:t>L</a:t>
              </a:r>
              <a:r>
                <a:rPr lang="zh-CN" altLang="en-US" sz="2000" b="1" i="0">
                  <a:solidFill>
                    <a:srgbClr val="000066"/>
                  </a:solidFill>
                  <a:latin typeface="华文新魏" panose="02010800040101010101" pitchFamily="2" charset="-122"/>
                  <a:ea typeface="华文新魏" panose="02010800040101010101" pitchFamily="2" charset="-122"/>
                </a:rPr>
                <a:t>移出</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等价的变异体</a:t>
              </a:r>
              <a:endParaRPr lang="zh-CN" altLang="en-US" sz="2000" b="1" i="0">
                <a:solidFill>
                  <a:srgbClr val="000066"/>
                </a:solidFill>
                <a:latin typeface="华文新魏" panose="02010800040101010101" pitchFamily="2" charset="-122"/>
                <a:ea typeface="华文新魏" panose="02010800040101010101" pitchFamily="2" charset="-122"/>
              </a:endParaRPr>
            </a:p>
          </p:txBody>
        </p:sp>
        <p:sp>
          <p:nvSpPr>
            <p:cNvPr id="9" name="Oval 6"/>
            <p:cNvSpPr>
              <a:spLocks noChangeArrowheads="1"/>
            </p:cNvSpPr>
            <p:nvPr/>
          </p:nvSpPr>
          <p:spPr bwMode="auto">
            <a:xfrm>
              <a:off x="7162800" y="3617913"/>
              <a:ext cx="1393825" cy="639762"/>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等价的</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变异体</a:t>
              </a:r>
              <a:r>
                <a:rPr lang="en-US" altLang="zh-CN" sz="2000" b="1" i="0">
                  <a:solidFill>
                    <a:srgbClr val="000066"/>
                  </a:solidFill>
                  <a:latin typeface="华文新魏" panose="02010800040101010101" pitchFamily="2" charset="-122"/>
                  <a:ea typeface="华文新魏" panose="02010800040101010101" pitchFamily="2" charset="-122"/>
                </a:rPr>
                <a:t>E</a:t>
              </a:r>
              <a:endParaRPr lang="en-US" altLang="zh-CN" sz="2000" b="1" i="0">
                <a:solidFill>
                  <a:srgbClr val="000066"/>
                </a:solidFill>
                <a:latin typeface="华文新魏" panose="02010800040101010101" pitchFamily="2" charset="-122"/>
                <a:ea typeface="华文新魏" panose="02010800040101010101" pitchFamily="2" charset="-122"/>
              </a:endParaRPr>
            </a:p>
          </p:txBody>
        </p:sp>
        <p:cxnSp>
          <p:nvCxnSpPr>
            <p:cNvPr id="10" name="AutoShape 7"/>
            <p:cNvCxnSpPr>
              <a:cxnSpLocks noChangeShapeType="1"/>
            </p:cNvCxnSpPr>
            <p:nvPr/>
          </p:nvCxnSpPr>
          <p:spPr bwMode="auto">
            <a:xfrm>
              <a:off x="7853363" y="2843213"/>
              <a:ext cx="1587" cy="782637"/>
            </a:xfrm>
            <a:prstGeom prst="straightConnector1">
              <a:avLst/>
            </a:prstGeom>
            <a:noFill/>
            <a:ln w="12700" cap="sq">
              <a:solidFill>
                <a:schemeClr val="tx1"/>
              </a:solidFill>
              <a:round/>
              <a:tailEnd type="triangle" w="med" len="med"/>
            </a:ln>
          </p:spPr>
        </p:cxnSp>
        <p:sp>
          <p:nvSpPr>
            <p:cNvPr id="11" name="Line 8"/>
            <p:cNvSpPr>
              <a:spLocks noChangeShapeType="1"/>
            </p:cNvSpPr>
            <p:nvPr/>
          </p:nvSpPr>
          <p:spPr bwMode="auto">
            <a:xfrm>
              <a:off x="7842250" y="4278313"/>
              <a:ext cx="0" cy="639762"/>
            </a:xfrm>
            <a:prstGeom prst="line">
              <a:avLst/>
            </a:prstGeom>
            <a:noFill/>
            <a:ln w="12700">
              <a:solidFill>
                <a:schemeClr val="tx1"/>
              </a:solidFill>
              <a:prstDash val="dash"/>
              <a:round/>
              <a:tailEnd type="triangle" w="med" len="med"/>
            </a:ln>
          </p:spPr>
          <p:txBody>
            <a:bodyPr wrap="none" anchor="ctr"/>
            <a:lstStyle/>
            <a:p>
              <a:endParaRPr lang="zh-CN" altLang="en-US" sz="2400" b="1" i="0"/>
            </a:p>
          </p:txBody>
        </p:sp>
        <p:sp>
          <p:nvSpPr>
            <p:cNvPr id="12" name="Line 9"/>
            <p:cNvSpPr>
              <a:spLocks noChangeShapeType="1"/>
            </p:cNvSpPr>
            <p:nvPr/>
          </p:nvSpPr>
          <p:spPr bwMode="auto">
            <a:xfrm>
              <a:off x="7697788" y="1752600"/>
              <a:ext cx="0" cy="449263"/>
            </a:xfrm>
            <a:prstGeom prst="line">
              <a:avLst/>
            </a:prstGeom>
            <a:noFill/>
            <a:ln w="19050">
              <a:solidFill>
                <a:schemeClr val="tx1"/>
              </a:solidFill>
              <a:prstDash val="dashDot"/>
              <a:round/>
              <a:tailEnd type="triangle" w="med" len="med"/>
            </a:ln>
          </p:spPr>
          <p:txBody>
            <a:bodyPr wrap="none" anchor="ctr"/>
            <a:lstStyle/>
            <a:p>
              <a:endParaRPr lang="zh-CN" altLang="en-US" sz="2400" b="1" i="0"/>
            </a:p>
          </p:txBody>
        </p:sp>
        <p:sp>
          <p:nvSpPr>
            <p:cNvPr id="13" name="Text Box 10"/>
            <p:cNvSpPr txBox="1">
              <a:spLocks noChangeArrowheads="1"/>
            </p:cNvSpPr>
            <p:nvPr/>
          </p:nvSpPr>
          <p:spPr bwMode="auto">
            <a:xfrm>
              <a:off x="7751763" y="1715495"/>
              <a:ext cx="942975" cy="435618"/>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11</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4" name="Line 11"/>
            <p:cNvSpPr>
              <a:spLocks noChangeShapeType="1"/>
            </p:cNvSpPr>
            <p:nvPr/>
          </p:nvSpPr>
          <p:spPr bwMode="auto">
            <a:xfrm>
              <a:off x="7191375" y="2840038"/>
              <a:ext cx="0" cy="465137"/>
            </a:xfrm>
            <a:prstGeom prst="line">
              <a:avLst/>
            </a:prstGeom>
            <a:noFill/>
            <a:ln w="12700" cap="sq">
              <a:solidFill>
                <a:schemeClr val="tx1"/>
              </a:solidFill>
              <a:round/>
              <a:tailEnd type="triangle" w="med" len="med"/>
            </a:ln>
          </p:spPr>
          <p:txBody>
            <a:bodyPr wrap="none" anchor="ctr"/>
            <a:lstStyle/>
            <a:p>
              <a:endParaRPr lang="zh-CN" altLang="en-US" sz="2400" b="1" i="0"/>
            </a:p>
          </p:txBody>
        </p:sp>
      </p:grpSp>
      <p:sp>
        <p:nvSpPr>
          <p:cNvPr id="15" name="Text Box 15"/>
          <p:cNvSpPr txBox="1">
            <a:spLocks noChangeArrowheads="1"/>
          </p:cNvSpPr>
          <p:nvPr/>
        </p:nvSpPr>
        <p:spPr bwMode="auto">
          <a:xfrm>
            <a:off x="7786688" y="5103814"/>
            <a:ext cx="2582862" cy="915987"/>
          </a:xfrm>
          <a:prstGeom prst="rect">
            <a:avLst/>
          </a:prstGeom>
          <a:noFill/>
          <a:ln w="12700" cap="sq" algn="ctr">
            <a:noFill/>
            <a:miter lim="800000"/>
          </a:ln>
        </p:spPr>
        <p:txBody>
          <a:bodyPr>
            <a:spAutoFit/>
          </a:bodyPr>
          <a:lstStyle/>
          <a:p>
            <a:pPr>
              <a:spcBef>
                <a:spcPct val="50000"/>
              </a:spcBef>
            </a:pPr>
            <a:r>
              <a:rPr lang="zh-CN" altLang="en-US" b="1" i="0">
                <a:solidFill>
                  <a:srgbClr val="0000FF"/>
                </a:solidFill>
                <a:latin typeface="华文新魏" panose="02010800040101010101" pitchFamily="2" charset="-122"/>
                <a:ea typeface="华文新魏" panose="02010800040101010101" pitchFamily="2" charset="-122"/>
              </a:rPr>
              <a:t>测试</a:t>
            </a:r>
            <a:r>
              <a:rPr lang="en-US" altLang="zh-CN" b="1" i="0">
                <a:solidFill>
                  <a:srgbClr val="0000FF"/>
                </a:solidFill>
                <a:latin typeface="华文新魏" panose="02010800040101010101" pitchFamily="2" charset="-122"/>
                <a:ea typeface="华文新魏" panose="02010800040101010101" pitchFamily="2" charset="-122"/>
              </a:rPr>
              <a:t>t: &lt;x=1,y=1&gt;</a:t>
            </a:r>
            <a:r>
              <a:rPr lang="zh-CN" altLang="en-US" b="1" i="0">
                <a:solidFill>
                  <a:srgbClr val="0000FF"/>
                </a:solidFill>
                <a:latin typeface="华文新魏" panose="02010800040101010101" pitchFamily="2" charset="-122"/>
                <a:ea typeface="华文新魏" panose="02010800040101010101" pitchFamily="2" charset="-122"/>
              </a:rPr>
              <a:t>使得</a:t>
            </a:r>
            <a:r>
              <a:rPr lang="en-US" altLang="zh-CN" b="1" i="0">
                <a:solidFill>
                  <a:srgbClr val="0000FF"/>
                </a:solidFill>
                <a:latin typeface="华文新魏" panose="02010800040101010101" pitchFamily="2" charset="-122"/>
                <a:ea typeface="华文新魏" panose="02010800040101010101" pitchFamily="2" charset="-122"/>
              </a:rPr>
              <a:t>P(t)=2</a:t>
            </a:r>
            <a:r>
              <a:rPr lang="zh-CN" altLang="en-US" b="1" i="0">
                <a:solidFill>
                  <a:srgbClr val="0000FF"/>
                </a:solidFill>
                <a:latin typeface="华文新魏" panose="02010800040101010101" pitchFamily="2" charset="-122"/>
                <a:ea typeface="华文新魏" panose="02010800040101010101" pitchFamily="2" charset="-122"/>
              </a:rPr>
              <a:t>，</a:t>
            </a:r>
            <a:r>
              <a:rPr lang="en-US" altLang="zh-CN" b="1" i="0">
                <a:solidFill>
                  <a:srgbClr val="0000FF"/>
                </a:solidFill>
                <a:latin typeface="华文新魏" panose="02010800040101010101" pitchFamily="2" charset="-122"/>
                <a:ea typeface="华文新魏" panose="02010800040101010101" pitchFamily="2" charset="-122"/>
              </a:rPr>
              <a:t>M (t)=1</a:t>
            </a:r>
            <a:r>
              <a:rPr lang="zh-CN" altLang="en-US" b="1" i="0">
                <a:solidFill>
                  <a:srgbClr val="0000FF"/>
                </a:solidFill>
                <a:latin typeface="华文新魏" panose="02010800040101010101" pitchFamily="2" charset="-122"/>
                <a:ea typeface="华文新魏" panose="02010800040101010101" pitchFamily="2" charset="-122"/>
              </a:rPr>
              <a:t>，</a:t>
            </a:r>
            <a:r>
              <a:rPr lang="en-US" altLang="zh-CN" b="1" i="0">
                <a:solidFill>
                  <a:srgbClr val="0000FF"/>
                </a:solidFill>
                <a:latin typeface="华文新魏" panose="02010800040101010101" pitchFamily="2" charset="-122"/>
                <a:ea typeface="华文新魏" panose="02010800040101010101" pitchFamily="2" charset="-122"/>
              </a:rPr>
              <a:t>M</a:t>
            </a:r>
            <a:r>
              <a:rPr lang="zh-CN" altLang="en-US" b="1" i="0">
                <a:solidFill>
                  <a:srgbClr val="0000FF"/>
                </a:solidFill>
                <a:latin typeface="华文新魏" panose="02010800040101010101" pitchFamily="2" charset="-122"/>
                <a:ea typeface="华文新魏" panose="02010800040101010101" pitchFamily="2" charset="-122"/>
              </a:rPr>
              <a:t>不等价于</a:t>
            </a:r>
            <a:r>
              <a:rPr lang="en-US" altLang="zh-CN" b="1" i="0">
                <a:solidFill>
                  <a:srgbClr val="0000FF"/>
                </a:solidFill>
                <a:latin typeface="华文新魏" panose="02010800040101010101" pitchFamily="2" charset="-122"/>
                <a:ea typeface="华文新魏" panose="02010800040101010101" pitchFamily="2" charset="-122"/>
              </a:rPr>
              <a:t>P</a:t>
            </a:r>
            <a:endParaRPr lang="en-US" altLang="zh-CN" b="1" i="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a:xfrm>
            <a:off x="1031875" y="1376045"/>
            <a:ext cx="6054725" cy="4719955"/>
          </a:xfrm>
        </p:spPr>
        <p:txBody>
          <a:bodyPr>
            <a:normAutofit fontScale="90000"/>
          </a:bodyPr>
          <a:lstStyle/>
          <a:p>
            <a:pPr>
              <a:defRPr/>
            </a:pPr>
            <a:r>
              <a:rPr lang="zh-CN" altLang="en-US" smtClean="0"/>
              <a:t>第</a:t>
            </a:r>
            <a:r>
              <a:rPr lang="en-US" altLang="zh-CN" smtClean="0"/>
              <a:t>12</a:t>
            </a:r>
            <a:r>
              <a:rPr lang="zh-CN" altLang="en-US" smtClean="0"/>
              <a:t>步：变异数的计算</a:t>
            </a:r>
            <a:endParaRPr lang="zh-CN" altLang="en-US" smtClean="0"/>
          </a:p>
          <a:p>
            <a:pPr marL="692150" lvl="1" indent="-347980" fontAlgn="auto">
              <a:spcBef>
                <a:spcPct val="20000"/>
              </a:spcBef>
              <a:spcAft>
                <a:spcPts val="0"/>
              </a:spcAft>
              <a:buClr>
                <a:schemeClr val="accent2"/>
              </a:buClr>
              <a:buFont typeface="Wingdings" panose="05000000000000000000" pitchFamily="2" charset="2"/>
              <a:buChar char="l"/>
              <a:defRPr/>
            </a:pPr>
            <a:r>
              <a:rPr lang="zh-CN" altLang="en-US" sz="2600">
                <a:ea typeface="华文新魏" panose="02010800040101010101" pitchFamily="2" charset="-122"/>
              </a:rPr>
              <a:t>量化评价指标：</a:t>
            </a:r>
            <a:endParaRPr lang="zh-CN" altLang="en-US" sz="2600">
              <a:ea typeface="华文新魏" panose="02010800040101010101" pitchFamily="2" charset="-122"/>
            </a:endParaRPr>
          </a:p>
          <a:p>
            <a:pPr marL="987425" lvl="2" indent="-294005" fontAlgn="auto">
              <a:spcAft>
                <a:spcPts val="0"/>
              </a:spcAft>
              <a:buClr>
                <a:srgbClr val="FFC000"/>
              </a:buClr>
              <a:buSzPct val="70000"/>
              <a:buFont typeface="Wingdings" panose="05000000000000000000" pitchFamily="2" charset="2"/>
              <a:buChar char="l"/>
              <a:defRPr/>
            </a:pPr>
            <a:r>
              <a:rPr lang="zh-CN" altLang="en-US" sz="2300">
                <a:ea typeface="华文新魏" panose="02010800040101010101" pitchFamily="2" charset="-122"/>
              </a:rPr>
              <a:t>＝</a:t>
            </a:r>
            <a:r>
              <a:rPr lang="en-US" altLang="zh-CN" sz="2300">
                <a:ea typeface="华文新魏" panose="02010800040101010101" pitchFamily="2" charset="-122"/>
              </a:rPr>
              <a:t>1</a:t>
            </a:r>
            <a:r>
              <a:rPr lang="zh-CN" altLang="en-US" sz="2300">
                <a:ea typeface="华文新魏" panose="02010800040101010101" pitchFamily="2" charset="-122"/>
              </a:rPr>
              <a:t>代表相关于变异</a:t>
            </a:r>
            <a:r>
              <a:rPr lang="en-US" altLang="zh-CN" sz="2300">
                <a:ea typeface="华文新魏" panose="02010800040101010101" pitchFamily="2" charset="-122"/>
              </a:rPr>
              <a:t>T</a:t>
            </a:r>
            <a:r>
              <a:rPr lang="zh-CN" altLang="en-US" sz="2300">
                <a:ea typeface="华文新魏" panose="02010800040101010101" pitchFamily="2" charset="-122"/>
              </a:rPr>
              <a:t>是充分的</a:t>
            </a:r>
            <a:endParaRPr lang="zh-CN" altLang="en-US" sz="2300">
              <a:ea typeface="华文新魏" panose="02010800040101010101" pitchFamily="2" charset="-122"/>
            </a:endParaRPr>
          </a:p>
          <a:p>
            <a:pPr marL="987425" lvl="2" indent="-294005" fontAlgn="auto">
              <a:spcAft>
                <a:spcPts val="0"/>
              </a:spcAft>
              <a:buClr>
                <a:srgbClr val="FFC000"/>
              </a:buClr>
              <a:buSzPct val="70000"/>
              <a:buFont typeface="Wingdings" panose="05000000000000000000" pitchFamily="2" charset="2"/>
              <a:buChar char="l"/>
              <a:defRPr/>
            </a:pPr>
            <a:r>
              <a:rPr lang="en-US" altLang="zh-CN" sz="2300">
                <a:ea typeface="华文新魏" panose="02010800040101010101" pitchFamily="2" charset="-122"/>
              </a:rPr>
              <a:t>&lt;1</a:t>
            </a:r>
            <a:r>
              <a:rPr lang="zh-CN" altLang="en-US" sz="2300">
                <a:ea typeface="华文新魏" panose="02010800040101010101" pitchFamily="2" charset="-122"/>
              </a:rPr>
              <a:t>表示相关于变异</a:t>
            </a:r>
            <a:r>
              <a:rPr lang="en-US" altLang="zh-CN" sz="2300">
                <a:ea typeface="华文新魏" panose="02010800040101010101" pitchFamily="2" charset="-122"/>
              </a:rPr>
              <a:t>T</a:t>
            </a:r>
            <a:r>
              <a:rPr lang="zh-CN" altLang="en-US" sz="2300">
                <a:ea typeface="华文新魏" panose="02010800040101010101" pitchFamily="2" charset="-122"/>
              </a:rPr>
              <a:t>是不充分的</a:t>
            </a:r>
            <a:endParaRPr lang="zh-CN" altLang="en-US" sz="2300">
              <a:ea typeface="华文新魏" panose="02010800040101010101" pitchFamily="2" charset="-122"/>
            </a:endParaRPr>
          </a:p>
          <a:p>
            <a:pPr marL="987425" lvl="2" indent="-294005" fontAlgn="auto">
              <a:spcAft>
                <a:spcPts val="0"/>
              </a:spcAft>
              <a:buClr>
                <a:srgbClr val="FFC000"/>
              </a:buClr>
              <a:buSzPct val="70000"/>
              <a:buFont typeface="Wingdings" panose="05000000000000000000" pitchFamily="2" charset="2"/>
              <a:buChar char="l"/>
              <a:defRPr/>
            </a:pPr>
            <a:r>
              <a:rPr lang="zh-CN" altLang="en-US" sz="2300">
                <a:ea typeface="华文新魏" panose="02010800040101010101" pitchFamily="2" charset="-122"/>
              </a:rPr>
              <a:t>可以通过增加额外的测试用例提高变异数</a:t>
            </a:r>
            <a:endParaRPr lang="zh-CN" altLang="en-US" sz="2300">
              <a:ea typeface="华文新魏" panose="02010800040101010101" pitchFamily="2" charset="-122"/>
            </a:endParaRPr>
          </a:p>
          <a:p>
            <a:pPr marL="692150" lvl="1" indent="-347980" fontAlgn="auto">
              <a:spcBef>
                <a:spcPct val="20000"/>
              </a:spcBef>
              <a:spcAft>
                <a:spcPts val="0"/>
              </a:spcAft>
              <a:buClr>
                <a:schemeClr val="accent2"/>
              </a:buClr>
              <a:buFont typeface="Wingdings" panose="05000000000000000000" pitchFamily="2" charset="2"/>
              <a:buChar char="l"/>
              <a:defRPr/>
            </a:pPr>
            <a:r>
              <a:rPr lang="en-US" altLang="zh-CN" sz="2600">
                <a:ea typeface="华文新魏" panose="02010800040101010101" pitchFamily="2" charset="-122"/>
              </a:rPr>
              <a:t>T</a:t>
            </a:r>
            <a:r>
              <a:rPr lang="zh-CN" altLang="en-US" sz="2600">
                <a:ea typeface="华文新魏" panose="02010800040101010101" pitchFamily="2" charset="-122"/>
              </a:rPr>
              <a:t>的变异数记为</a:t>
            </a:r>
            <a:r>
              <a:rPr lang="en-US" altLang="zh-CN" sz="2600">
                <a:ea typeface="华文新魏" panose="02010800040101010101" pitchFamily="2" charset="-122"/>
              </a:rPr>
              <a:t>MS</a:t>
            </a:r>
            <a:r>
              <a:rPr lang="zh-CN" altLang="en-US" sz="2600">
                <a:ea typeface="华文新魏" panose="02010800040101010101" pitchFamily="2" charset="-122"/>
              </a:rPr>
              <a:t>（</a:t>
            </a:r>
            <a:r>
              <a:rPr lang="en-US" altLang="zh-CN" sz="2600">
                <a:ea typeface="华文新魏" panose="02010800040101010101" pitchFamily="2" charset="-122"/>
              </a:rPr>
              <a:t>T</a:t>
            </a:r>
            <a:r>
              <a:rPr lang="zh-CN" altLang="en-US" sz="2600">
                <a:ea typeface="华文新魏" panose="02010800040101010101" pitchFamily="2" charset="-122"/>
              </a:rPr>
              <a:t>）</a:t>
            </a:r>
            <a:endParaRPr lang="zh-CN" altLang="en-US" sz="2600">
              <a:ea typeface="华文新魏" panose="02010800040101010101" pitchFamily="2" charset="-122"/>
            </a:endParaRPr>
          </a:p>
          <a:p>
            <a:pPr marL="692150" lvl="1" indent="-347980" fontAlgn="auto">
              <a:spcBef>
                <a:spcPct val="20000"/>
              </a:spcBef>
              <a:spcAft>
                <a:spcPts val="0"/>
              </a:spcAft>
              <a:buClr>
                <a:schemeClr val="accent2"/>
              </a:buClr>
              <a:buNone/>
              <a:defRPr/>
            </a:pPr>
            <a:r>
              <a:rPr lang="zh-CN" altLang="en-US" sz="2000">
                <a:ea typeface="华文新魏" panose="02010800040101010101" pitchFamily="2" charset="-122"/>
              </a:rPr>
              <a:t>其中：</a:t>
            </a:r>
            <a:r>
              <a:rPr lang="en-US" altLang="zh-CN" sz="2000">
                <a:ea typeface="华文新魏" panose="02010800040101010101" pitchFamily="2" charset="-122"/>
              </a:rPr>
              <a:t>|D|</a:t>
            </a:r>
            <a:r>
              <a:rPr lang="zh-CN" altLang="en-US" sz="2000">
                <a:ea typeface="华文新魏" panose="02010800040101010101" pitchFamily="2" charset="-122"/>
              </a:rPr>
              <a:t>表示：杀死的变异体数</a:t>
            </a:r>
            <a:endParaRPr lang="zh-CN" altLang="en-US" sz="2000">
              <a:ea typeface="华文新魏" panose="02010800040101010101" pitchFamily="2" charset="-122"/>
            </a:endParaRPr>
          </a:p>
          <a:p>
            <a:pPr marL="692150" lvl="1" indent="-347980" fontAlgn="auto">
              <a:spcBef>
                <a:spcPct val="20000"/>
              </a:spcBef>
              <a:spcAft>
                <a:spcPts val="0"/>
              </a:spcAft>
              <a:buClr>
                <a:schemeClr val="accent2"/>
              </a:buClr>
              <a:buNone/>
              <a:defRPr/>
            </a:pPr>
            <a:r>
              <a:rPr lang="zh-CN" altLang="en-US" sz="2000">
                <a:ea typeface="华文新魏" panose="02010800040101010101" pitchFamily="2" charset="-122"/>
              </a:rPr>
              <a:t>      </a:t>
            </a:r>
            <a:r>
              <a:rPr lang="en-US" altLang="zh-CN" sz="2000">
                <a:ea typeface="华文新魏" panose="02010800040101010101" pitchFamily="2" charset="-122"/>
              </a:rPr>
              <a:t>|L|</a:t>
            </a:r>
            <a:r>
              <a:rPr lang="zh-CN" altLang="en-US" sz="2000">
                <a:ea typeface="华文新魏" panose="02010800040101010101" pitchFamily="2" charset="-122"/>
              </a:rPr>
              <a:t>表示：表示活的变异体数</a:t>
            </a:r>
            <a:endParaRPr lang="zh-CN" altLang="en-US" sz="2000">
              <a:ea typeface="华文新魏" panose="02010800040101010101" pitchFamily="2" charset="-122"/>
            </a:endParaRPr>
          </a:p>
          <a:p>
            <a:pPr marL="692150" lvl="1" indent="-347980" fontAlgn="auto">
              <a:spcBef>
                <a:spcPct val="20000"/>
              </a:spcBef>
              <a:spcAft>
                <a:spcPts val="0"/>
              </a:spcAft>
              <a:buClr>
                <a:schemeClr val="accent2"/>
              </a:buClr>
              <a:buNone/>
              <a:defRPr/>
            </a:pPr>
            <a:r>
              <a:rPr lang="zh-CN" altLang="en-US" sz="2000">
                <a:ea typeface="华文新魏" panose="02010800040101010101" pitchFamily="2" charset="-122"/>
              </a:rPr>
              <a:t>      </a:t>
            </a:r>
            <a:r>
              <a:rPr lang="en-US" altLang="zh-CN" sz="2000">
                <a:ea typeface="华文新魏" panose="02010800040101010101" pitchFamily="2" charset="-122"/>
              </a:rPr>
              <a:t>|E|</a:t>
            </a:r>
            <a:r>
              <a:rPr lang="zh-CN" altLang="en-US" sz="2000">
                <a:ea typeface="华文新魏" panose="02010800040101010101" pitchFamily="2" charset="-122"/>
              </a:rPr>
              <a:t>表示：等价的变异体数</a:t>
            </a:r>
            <a:endParaRPr lang="zh-CN" altLang="en-US" sz="2000">
              <a:ea typeface="华文新魏" panose="02010800040101010101" pitchFamily="2" charset="-122"/>
            </a:endParaRPr>
          </a:p>
          <a:p>
            <a:pPr marL="692150" lvl="1" indent="-347980" fontAlgn="auto">
              <a:spcBef>
                <a:spcPct val="20000"/>
              </a:spcBef>
              <a:spcAft>
                <a:spcPts val="0"/>
              </a:spcAft>
              <a:buClr>
                <a:schemeClr val="accent2"/>
              </a:buClr>
              <a:buNone/>
              <a:defRPr/>
            </a:pPr>
            <a:r>
              <a:rPr lang="zh-CN" altLang="en-US" sz="2000">
                <a:ea typeface="华文新魏" panose="02010800040101010101" pitchFamily="2" charset="-122"/>
              </a:rPr>
              <a:t>      </a:t>
            </a:r>
            <a:r>
              <a:rPr lang="en-US" altLang="zh-CN" sz="2000">
                <a:ea typeface="华文新魏" panose="02010800040101010101" pitchFamily="2" charset="-122"/>
              </a:rPr>
              <a:t>|M|</a:t>
            </a:r>
            <a:r>
              <a:rPr lang="zh-CN" altLang="en-US" sz="2000">
                <a:ea typeface="华文新魏" panose="02010800040101010101" pitchFamily="2" charset="-122"/>
              </a:rPr>
              <a:t>表示：第</a:t>
            </a:r>
            <a:r>
              <a:rPr lang="en-US" altLang="zh-CN" sz="2000">
                <a:ea typeface="华文新魏" panose="02010800040101010101" pitchFamily="2" charset="-122"/>
              </a:rPr>
              <a:t>2</a:t>
            </a:r>
            <a:r>
              <a:rPr lang="zh-CN" altLang="en-US" sz="2000">
                <a:ea typeface="华文新魏" panose="02010800040101010101" pitchFamily="2" charset="-122"/>
              </a:rPr>
              <a:t>步生成的所有变异体数</a:t>
            </a:r>
            <a:endParaRPr lang="zh-CN" altLang="en-US" sz="20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grpSp>
        <p:nvGrpSpPr>
          <p:cNvPr id="14" name="组合 13"/>
          <p:cNvGrpSpPr/>
          <p:nvPr/>
        </p:nvGrpSpPr>
        <p:grpSpPr>
          <a:xfrm>
            <a:off x="7250113" y="1052513"/>
            <a:ext cx="3417887" cy="4281487"/>
            <a:chOff x="5726113" y="1052513"/>
            <a:chExt cx="2944812" cy="3459162"/>
          </a:xfrm>
        </p:grpSpPr>
        <p:sp>
          <p:nvSpPr>
            <p:cNvPr id="5" name="AutoShape 9"/>
            <p:cNvSpPr>
              <a:spLocks noChangeArrowheads="1"/>
            </p:cNvSpPr>
            <p:nvPr/>
          </p:nvSpPr>
          <p:spPr bwMode="auto">
            <a:xfrm>
              <a:off x="6167438" y="2344738"/>
              <a:ext cx="1743075" cy="595312"/>
            </a:xfrm>
            <a:prstGeom prst="flowChartProcess">
              <a:avLst/>
            </a:prstGeom>
            <a:solidFill>
              <a:srgbClr val="D7D6AE"/>
            </a:solidFill>
            <a:ln w="12700" cap="sq" algn="ctr">
              <a:solidFill>
                <a:schemeClr val="tx1"/>
              </a:solidFill>
              <a:miter lim="800000"/>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计算变异</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的分数</a:t>
              </a:r>
              <a:endParaRPr lang="zh-CN" altLang="en-US" sz="2000" b="1" i="0">
                <a:solidFill>
                  <a:srgbClr val="000066"/>
                </a:solidFill>
                <a:latin typeface="华文新魏" panose="02010800040101010101" pitchFamily="2" charset="-122"/>
                <a:ea typeface="华文新魏" panose="02010800040101010101" pitchFamily="2" charset="-122"/>
              </a:endParaRPr>
            </a:p>
          </p:txBody>
        </p:sp>
        <p:sp>
          <p:nvSpPr>
            <p:cNvPr id="6" name="Oval 10"/>
            <p:cNvSpPr>
              <a:spLocks noChangeArrowheads="1"/>
            </p:cNvSpPr>
            <p:nvPr/>
          </p:nvSpPr>
          <p:spPr bwMode="auto">
            <a:xfrm>
              <a:off x="7277100" y="3871913"/>
              <a:ext cx="1393825" cy="639762"/>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杀掉的</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变异体</a:t>
              </a:r>
              <a:r>
                <a:rPr lang="en-US" altLang="zh-CN" sz="2000" b="1" i="0">
                  <a:solidFill>
                    <a:srgbClr val="000066"/>
                  </a:solidFill>
                  <a:latin typeface="华文新魏" panose="02010800040101010101" pitchFamily="2" charset="-122"/>
                  <a:ea typeface="华文新魏" panose="02010800040101010101" pitchFamily="2" charset="-122"/>
                </a:rPr>
                <a:t>D</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7" name="Oval 11"/>
            <p:cNvSpPr>
              <a:spLocks noChangeArrowheads="1"/>
            </p:cNvSpPr>
            <p:nvPr/>
          </p:nvSpPr>
          <p:spPr bwMode="auto">
            <a:xfrm>
              <a:off x="6977063" y="1052513"/>
              <a:ext cx="1393825" cy="639762"/>
            </a:xfrm>
            <a:prstGeom prst="ellipse">
              <a:avLst/>
            </a:prstGeom>
            <a:solidFill>
              <a:srgbClr val="D7D6AE"/>
            </a:solidFill>
            <a:ln w="12700" cap="sq" algn="ctr">
              <a:solidFill>
                <a:schemeClr val="tx1"/>
              </a:solidFill>
              <a:round/>
            </a:ln>
          </p:spPr>
          <p:txBody>
            <a:bodyPr wrap="none" anchor="ctr"/>
            <a:lstStyle/>
            <a:p>
              <a:pPr algn="ctr"/>
              <a:r>
                <a:rPr lang="zh-CN" altLang="en-US" sz="2000" b="1" i="0">
                  <a:solidFill>
                    <a:srgbClr val="000066"/>
                  </a:solidFill>
                  <a:latin typeface="华文新魏" panose="02010800040101010101" pitchFamily="2" charset="-122"/>
                  <a:ea typeface="华文新魏" panose="02010800040101010101" pitchFamily="2" charset="-122"/>
                </a:rPr>
                <a:t>等价的</a:t>
              </a:r>
              <a:endParaRPr lang="zh-CN" altLang="en-US" sz="2000" b="1" i="0">
                <a:solidFill>
                  <a:srgbClr val="000066"/>
                </a:solidFill>
                <a:latin typeface="华文新魏" panose="02010800040101010101" pitchFamily="2" charset="-122"/>
                <a:ea typeface="华文新魏" panose="02010800040101010101" pitchFamily="2" charset="-122"/>
              </a:endParaRPr>
            </a:p>
            <a:p>
              <a:pPr algn="ctr"/>
              <a:r>
                <a:rPr lang="zh-CN" altLang="en-US" sz="2000" b="1" i="0">
                  <a:solidFill>
                    <a:srgbClr val="000066"/>
                  </a:solidFill>
                  <a:latin typeface="华文新魏" panose="02010800040101010101" pitchFamily="2" charset="-122"/>
                  <a:ea typeface="华文新魏" panose="02010800040101010101" pitchFamily="2" charset="-122"/>
                </a:rPr>
                <a:t>变异体</a:t>
              </a:r>
              <a:r>
                <a:rPr lang="en-US" altLang="zh-CN" sz="2000" b="1" i="0">
                  <a:solidFill>
                    <a:srgbClr val="000066"/>
                  </a:solidFill>
                  <a:latin typeface="华文新魏" panose="02010800040101010101" pitchFamily="2" charset="-122"/>
                  <a:ea typeface="华文新魏" panose="02010800040101010101" pitchFamily="2" charset="-122"/>
                </a:rPr>
                <a:t>E</a:t>
              </a:r>
              <a:endParaRPr lang="en-US" altLang="zh-CN" sz="2000" b="1" i="0">
                <a:solidFill>
                  <a:srgbClr val="000066"/>
                </a:solidFill>
                <a:latin typeface="华文新魏" panose="02010800040101010101" pitchFamily="2" charset="-122"/>
                <a:ea typeface="华文新魏" panose="02010800040101010101" pitchFamily="2" charset="-122"/>
              </a:endParaRPr>
            </a:p>
          </p:txBody>
        </p:sp>
        <p:sp>
          <p:nvSpPr>
            <p:cNvPr id="8" name="Line 13"/>
            <p:cNvSpPr>
              <a:spLocks noChangeShapeType="1"/>
            </p:cNvSpPr>
            <p:nvPr/>
          </p:nvSpPr>
          <p:spPr bwMode="auto">
            <a:xfrm>
              <a:off x="7670800" y="1697038"/>
              <a:ext cx="0" cy="639762"/>
            </a:xfrm>
            <a:prstGeom prst="line">
              <a:avLst/>
            </a:prstGeom>
            <a:noFill/>
            <a:ln w="19050">
              <a:solidFill>
                <a:schemeClr val="tx1"/>
              </a:solidFill>
              <a:prstDash val="dashDot"/>
              <a:round/>
              <a:tailEnd type="triangle" w="med" len="med"/>
            </a:ln>
          </p:spPr>
          <p:txBody>
            <a:bodyPr wrap="none" anchor="ctr"/>
            <a:lstStyle/>
            <a:p>
              <a:endParaRPr lang="zh-CN" altLang="en-US" sz="2400" b="1" i="0"/>
            </a:p>
          </p:txBody>
        </p:sp>
        <p:sp>
          <p:nvSpPr>
            <p:cNvPr id="9" name="Line 14"/>
            <p:cNvSpPr>
              <a:spLocks noChangeShapeType="1"/>
            </p:cNvSpPr>
            <p:nvPr/>
          </p:nvSpPr>
          <p:spPr bwMode="auto">
            <a:xfrm flipV="1">
              <a:off x="7715250" y="2932113"/>
              <a:ext cx="0" cy="944562"/>
            </a:xfrm>
            <a:prstGeom prst="line">
              <a:avLst/>
            </a:prstGeom>
            <a:noFill/>
            <a:ln w="19050">
              <a:solidFill>
                <a:schemeClr val="tx1"/>
              </a:solidFill>
              <a:prstDash val="dashDot"/>
              <a:round/>
              <a:tailEnd type="triangle" w="med" len="med"/>
            </a:ln>
          </p:spPr>
          <p:txBody>
            <a:bodyPr wrap="none" anchor="ctr"/>
            <a:lstStyle/>
            <a:p>
              <a:endParaRPr lang="zh-CN" altLang="en-US" sz="2400" b="1" i="0"/>
            </a:p>
          </p:txBody>
        </p:sp>
        <p:sp>
          <p:nvSpPr>
            <p:cNvPr id="10" name="Text Box 15"/>
            <p:cNvSpPr txBox="1">
              <a:spLocks noChangeArrowheads="1"/>
            </p:cNvSpPr>
            <p:nvPr/>
          </p:nvSpPr>
          <p:spPr bwMode="auto">
            <a:xfrm>
              <a:off x="6869113" y="2897188"/>
              <a:ext cx="1074737" cy="372995"/>
            </a:xfrm>
            <a:prstGeom prst="rect">
              <a:avLst/>
            </a:prstGeom>
            <a:noFill/>
            <a:ln w="12700" cap="sq" algn="ctr">
              <a:noFill/>
              <a:miter lim="800000"/>
            </a:ln>
          </p:spPr>
          <p:txBody>
            <a:bodyPr>
              <a:spAutoFit/>
            </a:bodyPr>
            <a:lstStyle/>
            <a:p>
              <a:pPr>
                <a:spcBef>
                  <a:spcPct val="50000"/>
                </a:spcBef>
              </a:pPr>
              <a:r>
                <a:rPr lang="zh-CN" altLang="en-US" sz="2400" b="1" i="0">
                  <a:solidFill>
                    <a:srgbClr val="000066"/>
                  </a:solidFill>
                  <a:latin typeface="Tahoma" panose="020B0604030504040204" pitchFamily="34" charset="0"/>
                </a:rPr>
                <a:t>（</a:t>
              </a:r>
              <a:r>
                <a:rPr lang="en-US" altLang="zh-CN" sz="2400" b="1" i="0">
                  <a:solidFill>
                    <a:srgbClr val="000066"/>
                  </a:solidFill>
                  <a:latin typeface="Tahoma" panose="020B0604030504040204" pitchFamily="34" charset="0"/>
                </a:rPr>
                <a:t>12</a:t>
              </a:r>
              <a:r>
                <a:rPr lang="zh-CN" altLang="en-US" sz="2400" b="1" i="0">
                  <a:solidFill>
                    <a:srgbClr val="000066"/>
                  </a:solidFill>
                  <a:latin typeface="Tahoma" panose="020B0604030504040204" pitchFamily="34" charset="0"/>
                </a:rPr>
                <a:t>）</a:t>
              </a:r>
              <a:endParaRPr lang="zh-CN" altLang="en-US" sz="2400" b="1" i="0">
                <a:solidFill>
                  <a:srgbClr val="000066"/>
                </a:solidFill>
                <a:latin typeface="Tahoma" panose="020B0604030504040204" pitchFamily="34" charset="0"/>
              </a:endParaRPr>
            </a:p>
          </p:txBody>
        </p:sp>
        <p:sp>
          <p:nvSpPr>
            <p:cNvPr id="11" name="Line 16"/>
            <p:cNvSpPr>
              <a:spLocks noChangeShapeType="1"/>
            </p:cNvSpPr>
            <p:nvPr/>
          </p:nvSpPr>
          <p:spPr bwMode="auto">
            <a:xfrm>
              <a:off x="6451600" y="1873250"/>
              <a:ext cx="0" cy="477838"/>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2" name="Line 17"/>
            <p:cNvSpPr>
              <a:spLocks noChangeShapeType="1"/>
            </p:cNvSpPr>
            <p:nvPr/>
          </p:nvSpPr>
          <p:spPr bwMode="auto">
            <a:xfrm>
              <a:off x="6480175" y="2932113"/>
              <a:ext cx="0" cy="522287"/>
            </a:xfrm>
            <a:prstGeom prst="line">
              <a:avLst/>
            </a:prstGeom>
            <a:noFill/>
            <a:ln w="12700" cap="sq">
              <a:solidFill>
                <a:schemeClr val="tx1"/>
              </a:solidFill>
              <a:round/>
              <a:tailEnd type="triangle" w="med" len="med"/>
            </a:ln>
          </p:spPr>
          <p:txBody>
            <a:bodyPr wrap="none" anchor="ctr"/>
            <a:lstStyle/>
            <a:p>
              <a:endParaRPr lang="zh-CN" altLang="en-US" sz="2400" b="1" i="0"/>
            </a:p>
          </p:txBody>
        </p:sp>
        <p:sp>
          <p:nvSpPr>
            <p:cNvPr id="13" name="Text Box 18"/>
            <p:cNvSpPr txBox="1">
              <a:spLocks noChangeArrowheads="1"/>
            </p:cNvSpPr>
            <p:nvPr/>
          </p:nvSpPr>
          <p:spPr bwMode="auto">
            <a:xfrm>
              <a:off x="5726113" y="3454400"/>
              <a:ext cx="1508125" cy="671391"/>
            </a:xfrm>
            <a:prstGeom prst="rect">
              <a:avLst/>
            </a:prstGeom>
            <a:noFill/>
            <a:ln w="12700" cap="sq" algn="ctr">
              <a:noFill/>
              <a:miter lim="800000"/>
            </a:ln>
          </p:spPr>
          <p:txBody>
            <a:bodyPr>
              <a:spAutoFit/>
            </a:bodyPr>
            <a:lstStyle/>
            <a:p>
              <a:pPr algn="ctr">
                <a:spcBef>
                  <a:spcPct val="50000"/>
                </a:spcBef>
              </a:pPr>
              <a:r>
                <a:rPr lang="zh-CN" altLang="en-US" sz="2400" b="1" i="0">
                  <a:solidFill>
                    <a:srgbClr val="000066"/>
                  </a:solidFill>
                  <a:latin typeface="华文新魏" panose="02010800040101010101" pitchFamily="2" charset="-122"/>
                  <a:ea typeface="华文新魏" panose="02010800040101010101" pitchFamily="2" charset="-122"/>
                </a:rPr>
                <a:t>关于变异的</a:t>
              </a:r>
              <a:r>
                <a:rPr lang="en-US" altLang="zh-CN" sz="2400" b="1" i="0">
                  <a:solidFill>
                    <a:srgbClr val="000066"/>
                  </a:solidFill>
                  <a:latin typeface="华文新魏" panose="02010800040101010101" pitchFamily="2" charset="-122"/>
                  <a:ea typeface="华文新魏" panose="02010800040101010101" pitchFamily="2" charset="-122"/>
                </a:rPr>
                <a:t>T</a:t>
              </a:r>
              <a:r>
                <a:rPr lang="zh-CN" altLang="en-US" sz="2400" b="1" i="0">
                  <a:solidFill>
                    <a:srgbClr val="000066"/>
                  </a:solidFill>
                  <a:latin typeface="华文新魏" panose="02010800040101010101" pitchFamily="2" charset="-122"/>
                  <a:ea typeface="华文新魏" panose="02010800040101010101" pitchFamily="2" charset="-122"/>
                </a:rPr>
                <a:t>的充分性</a:t>
              </a:r>
              <a:endParaRPr lang="zh-CN" altLang="en-US" sz="2400" b="1" i="0">
                <a:solidFill>
                  <a:srgbClr val="000066"/>
                </a:solidFill>
                <a:latin typeface="华文新魏" panose="02010800040101010101" pitchFamily="2" charset="-122"/>
                <a:ea typeface="华文新魏" panose="02010800040101010101" pitchFamily="2" charset="-122"/>
              </a:endParaRPr>
            </a:p>
          </p:txBody>
        </p:sp>
      </p:grpSp>
    </p:spTree>
  </p:cSld>
  <p:clrMapOvr>
    <a:masterClrMapping/>
  </p:clrMapOvr>
  <p:transition spd="med"/>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olidFill>
                  <a:srgbClr val="C00000"/>
                </a:solidFill>
              </a:rPr>
              <a:t>程序变异步骤</a:t>
            </a:r>
            <a:endParaRPr lang="zh-CN" altLang="en-US" smtClean="0">
              <a:solidFill>
                <a:srgbClr val="C00000"/>
              </a:solidFill>
            </a:endParaRPr>
          </a:p>
        </p:txBody>
      </p:sp>
      <p:sp>
        <p:nvSpPr>
          <p:cNvPr id="3" name="内容占位符 2"/>
          <p:cNvSpPr>
            <a:spLocks noGrp="1"/>
          </p:cNvSpPr>
          <p:nvPr>
            <p:ph idx="1"/>
          </p:nvPr>
        </p:nvSpPr>
        <p:spPr>
          <a:xfrm>
            <a:off x="1052830" y="1240790"/>
            <a:ext cx="9615170" cy="4855210"/>
          </a:xfrm>
        </p:spPr>
        <p:txBody>
          <a:bodyPr/>
          <a:lstStyle/>
          <a:p>
            <a:pPr>
              <a:lnSpc>
                <a:spcPct val="80000"/>
              </a:lnSpc>
              <a:defRPr/>
            </a:pPr>
            <a:r>
              <a:rPr lang="en-US" altLang="zh-CN" smtClean="0"/>
              <a:t>P</a:t>
            </a:r>
            <a:r>
              <a:rPr lang="zh-CN" altLang="en-US" smtClean="0"/>
              <a:t>使用测试</a:t>
            </a:r>
            <a:r>
              <a:rPr lang="en-US" altLang="zh-CN" smtClean="0"/>
              <a:t>T</a:t>
            </a:r>
            <a:r>
              <a:rPr lang="zh-CN" altLang="en-US" smtClean="0"/>
              <a:t>并测试通过</a:t>
            </a:r>
            <a:endParaRPr lang="zh-CN" altLang="en-US" smtClean="0"/>
          </a:p>
          <a:p>
            <a:pPr>
              <a:buNone/>
              <a:defRPr/>
            </a:pPr>
            <a:r>
              <a:rPr lang="en-US" altLang="zh-CN" sz="2200">
                <a:ea typeface="华文新魏" panose="02010800040101010101" pitchFamily="2" charset="-122"/>
              </a:rPr>
              <a:t>{t1:&lt;x=0,y=0&gt;,t2:&lt;x=0,y=1&gt;,t3:&lt;x=1,y=0&gt;,t4:&lt;x=-1,y=-2&gt;}</a:t>
            </a:r>
            <a:endParaRPr lang="en-US" altLang="zh-CN" sz="2200">
              <a:ea typeface="华文新魏" panose="02010800040101010101" pitchFamily="2" charset="-122"/>
            </a:endParaRPr>
          </a:p>
          <a:p>
            <a:pPr marL="342900" fontAlgn="auto">
              <a:spcBef>
                <a:spcPct val="20000"/>
              </a:spcBef>
              <a:spcAft>
                <a:spcPts val="0"/>
              </a:spcAft>
              <a:buClr>
                <a:schemeClr val="tx2"/>
              </a:buClr>
              <a:buSzPct val="70000"/>
              <a:defRPr/>
            </a:pPr>
            <a:r>
              <a:rPr lang="en-US" altLang="zh-CN" sz="2400">
                <a:ea typeface="华文新魏" panose="02010800040101010101" pitchFamily="2" charset="-122"/>
              </a:rPr>
              <a:t>M</a:t>
            </a:r>
            <a:r>
              <a:rPr lang="zh-CN" altLang="en-US" sz="2400">
                <a:ea typeface="华文新魏" panose="02010800040101010101" pitchFamily="2" charset="-122"/>
              </a:rPr>
              <a:t>使用</a:t>
            </a:r>
            <a:r>
              <a:rPr lang="en-US" altLang="zh-CN" sz="2400">
                <a:ea typeface="华文新魏" panose="02010800040101010101" pitchFamily="2" charset="-122"/>
              </a:rPr>
              <a:t>T</a:t>
            </a:r>
            <a:r>
              <a:rPr lang="zh-CN" altLang="en-US" sz="2400">
                <a:ea typeface="华文新魏" panose="02010800040101010101" pitchFamily="2" charset="-122"/>
              </a:rPr>
              <a:t>运行的结果与</a:t>
            </a:r>
            <a:r>
              <a:rPr lang="en-US" altLang="zh-CN" sz="2400">
                <a:ea typeface="华文新魏" panose="02010800040101010101" pitchFamily="2" charset="-122"/>
              </a:rPr>
              <a:t>P</a:t>
            </a:r>
            <a:r>
              <a:rPr lang="zh-CN" altLang="en-US" sz="2400">
                <a:ea typeface="华文新魏" panose="02010800040101010101" pitchFamily="2" charset="-122"/>
              </a:rPr>
              <a:t>相同，无法区分</a:t>
            </a:r>
            <a:r>
              <a:rPr lang="en-US" altLang="zh-CN" sz="2400">
                <a:ea typeface="华文新魏" panose="02010800040101010101" pitchFamily="2" charset="-122"/>
              </a:rPr>
              <a:t>P</a:t>
            </a:r>
            <a:r>
              <a:rPr lang="zh-CN" altLang="en-US" sz="2400">
                <a:ea typeface="华文新魏" panose="02010800040101010101" pitchFamily="2" charset="-122"/>
              </a:rPr>
              <a:t>与</a:t>
            </a:r>
            <a:r>
              <a:rPr lang="en-US" altLang="zh-CN" sz="2400">
                <a:ea typeface="华文新魏" panose="02010800040101010101" pitchFamily="2" charset="-122"/>
              </a:rPr>
              <a:t>M</a:t>
            </a:r>
            <a:endParaRPr lang="en-US" altLang="zh-CN" sz="2400">
              <a:ea typeface="华文新魏" panose="02010800040101010101" pitchFamily="2" charset="-122"/>
            </a:endParaRPr>
          </a:p>
          <a:p>
            <a:pPr marL="342900" fontAlgn="auto">
              <a:spcBef>
                <a:spcPct val="20000"/>
              </a:spcBef>
              <a:spcAft>
                <a:spcPts val="0"/>
              </a:spcAft>
              <a:buClr>
                <a:schemeClr val="tx2"/>
              </a:buClr>
              <a:buSzPct val="70000"/>
              <a:defRPr/>
            </a:pPr>
            <a:r>
              <a:rPr lang="zh-CN" altLang="en-US" sz="2400">
                <a:ea typeface="华文新魏" panose="02010800040101010101" pitchFamily="2" charset="-122"/>
              </a:rPr>
              <a:t>增加一个测试用例 </a:t>
            </a:r>
            <a:r>
              <a:rPr lang="en-US" altLang="zh-CN" sz="2400">
                <a:ea typeface="华文新魏" panose="02010800040101010101" pitchFamily="2" charset="-122"/>
              </a:rPr>
              <a:t>&lt;x=1,y=1&gt;</a:t>
            </a:r>
            <a:r>
              <a:rPr lang="zh-CN" altLang="en-US" sz="2400">
                <a:ea typeface="华文新魏" panose="02010800040101010101" pitchFamily="2" charset="-122"/>
              </a:rPr>
              <a:t>，使</a:t>
            </a:r>
            <a:r>
              <a:rPr lang="en-US" altLang="zh-CN" sz="2400">
                <a:ea typeface="华文新魏" panose="02010800040101010101" pitchFamily="2" charset="-122"/>
              </a:rPr>
              <a:t>P</a:t>
            </a:r>
            <a:r>
              <a:rPr lang="zh-CN" altLang="en-US" sz="2400">
                <a:ea typeface="华文新魏" panose="02010800040101010101" pitchFamily="2" charset="-122"/>
              </a:rPr>
              <a:t>和</a:t>
            </a:r>
            <a:r>
              <a:rPr lang="en-US" altLang="zh-CN" sz="2400">
                <a:ea typeface="华文新魏" panose="02010800040101010101" pitchFamily="2" charset="-122"/>
              </a:rPr>
              <a:t>M</a:t>
            </a:r>
            <a:r>
              <a:rPr lang="zh-CN" altLang="en-US" sz="2400">
                <a:ea typeface="华文新魏" panose="02010800040101010101" pitchFamily="2" charset="-122"/>
              </a:rPr>
              <a:t>区别，表明增强了</a:t>
            </a:r>
            <a:r>
              <a:rPr lang="en-US" altLang="zh-CN" sz="2400">
                <a:ea typeface="华文新魏" panose="02010800040101010101" pitchFamily="2" charset="-122"/>
              </a:rPr>
              <a:t>T</a:t>
            </a:r>
            <a:endParaRPr lang="en-US" altLang="zh-CN" sz="2400">
              <a:ea typeface="华文新魏" panose="02010800040101010101" pitchFamily="2" charset="-122"/>
            </a:endParaRPr>
          </a:p>
          <a:p>
            <a:endParaRPr lang="zh-CN" altLang="en-US"/>
          </a:p>
        </p:txBody>
      </p:sp>
      <p:sp>
        <p:nvSpPr>
          <p:cNvPr id="4" name="页脚占位符 3"/>
          <p:cNvSpPr>
            <a:spLocks noGrp="1"/>
          </p:cNvSpPr>
          <p:nvPr>
            <p:ph type="ftr" sz="quarter" idx="10"/>
          </p:nvPr>
        </p:nvSpPr>
        <p:spPr/>
        <p:txBody>
          <a:bodyPr/>
          <a:lstStyle/>
          <a:p>
            <a:pPr>
              <a:defRPr/>
            </a:pPr>
            <a:fld id="{E77B0BC4-40B5-4A34-81CE-3B97425DA6DF}" type="slidenum">
              <a:rPr lang="en-US" altLang="zh-CN" smtClean="0"/>
            </a:fld>
            <a:endParaRPr lang="en-US" altLang="zh-CN"/>
          </a:p>
        </p:txBody>
      </p:sp>
      <p:sp>
        <p:nvSpPr>
          <p:cNvPr id="5" name="Text Box 4"/>
          <p:cNvSpPr txBox="1">
            <a:spLocks noChangeArrowheads="1"/>
          </p:cNvSpPr>
          <p:nvPr/>
        </p:nvSpPr>
        <p:spPr bwMode="auto">
          <a:xfrm>
            <a:off x="2667001" y="3418999"/>
            <a:ext cx="2511425" cy="3200876"/>
          </a:xfrm>
          <a:prstGeom prst="rect">
            <a:avLst/>
          </a:prstGeom>
          <a:solidFill>
            <a:srgbClr val="D7D6AE"/>
          </a:solidFill>
          <a:ln w="12700" cap="sq" algn="ctr">
            <a:solidFill>
              <a:srgbClr val="00B050"/>
            </a:solidFill>
            <a:miter lim="800000"/>
          </a:ln>
        </p:spPr>
        <p:txBody>
          <a:bodyPr>
            <a:spAutoFit/>
          </a:bodyPr>
          <a:lstStyle/>
          <a:p>
            <a:pPr marL="342900" indent="-342900">
              <a:spcBef>
                <a:spcPts val="600"/>
              </a:spcBef>
            </a:pPr>
            <a:r>
              <a:rPr lang="en-US" altLang="zh-CN">
                <a:solidFill>
                  <a:srgbClr val="000066"/>
                </a:solidFill>
                <a:latin typeface="Tahoma" panose="020B0604030504040204" pitchFamily="34" charset="0"/>
              </a:rPr>
              <a:t>Example: Program 1</a:t>
            </a:r>
            <a:endParaRPr lang="en-US" altLang="zh-CN">
              <a:solidFill>
                <a:srgbClr val="000066"/>
              </a:solidFill>
              <a:latin typeface="Tahoma" panose="020B0604030504040204" pitchFamily="34" charset="0"/>
            </a:endParaRPr>
          </a:p>
          <a:p>
            <a:pPr marL="342900" indent="-342900">
              <a:spcBef>
                <a:spcPts val="6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if (x &lt; 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sp>
        <p:nvSpPr>
          <p:cNvPr id="6" name="Text Box 5"/>
          <p:cNvSpPr txBox="1">
            <a:spLocks noChangeArrowheads="1"/>
          </p:cNvSpPr>
          <p:nvPr/>
        </p:nvSpPr>
        <p:spPr bwMode="auto">
          <a:xfrm>
            <a:off x="6691313" y="3412649"/>
            <a:ext cx="2627312" cy="3200876"/>
          </a:xfrm>
          <a:prstGeom prst="rect">
            <a:avLst/>
          </a:prstGeom>
          <a:solidFill>
            <a:srgbClr val="C2D4CD"/>
          </a:solidFill>
          <a:ln w="12700" cap="sq" algn="ctr">
            <a:solidFill>
              <a:srgbClr val="00B050"/>
            </a:solidFill>
            <a:miter lim="800000"/>
          </a:ln>
        </p:spPr>
        <p:txBody>
          <a:bodyPr>
            <a:spAutoFit/>
          </a:bodyPr>
          <a:lstStyle/>
          <a:p>
            <a:pPr marL="342900" indent="-342900">
              <a:spcBef>
                <a:spcPts val="600"/>
              </a:spcBef>
            </a:pPr>
            <a:r>
              <a:rPr lang="en-US" altLang="zh-CN">
                <a:solidFill>
                  <a:srgbClr val="000066"/>
                </a:solidFill>
                <a:latin typeface="Tahoma" panose="020B0604030504040204" pitchFamily="34" charset="0"/>
              </a:rPr>
              <a:t>Program 1</a:t>
            </a:r>
            <a:r>
              <a:rPr lang="zh-CN" altLang="en-US">
                <a:solidFill>
                  <a:srgbClr val="000066"/>
                </a:solidFill>
                <a:latin typeface="Tahoma" panose="020B0604030504040204" pitchFamily="34" charset="0"/>
                <a:ea typeface="华文新魏" panose="02010800040101010101" pitchFamily="2" charset="-122"/>
              </a:rPr>
              <a:t>的变异体</a:t>
            </a:r>
            <a:r>
              <a:rPr lang="en-US" altLang="zh-CN">
                <a:solidFill>
                  <a:srgbClr val="000066"/>
                </a:solidFill>
                <a:latin typeface="Tahoma" panose="020B0604030504040204" pitchFamily="34" charset="0"/>
              </a:rPr>
              <a:t>M</a:t>
            </a:r>
            <a:endParaRPr lang="en-US" altLang="zh-CN">
              <a:solidFill>
                <a:srgbClr val="000066"/>
              </a:solidFill>
              <a:latin typeface="Tahoma" panose="020B0604030504040204" pitchFamily="34" charset="0"/>
            </a:endParaRPr>
          </a:p>
          <a:p>
            <a:pPr marL="342900" indent="-342900">
              <a:spcBef>
                <a:spcPts val="600"/>
              </a:spcBef>
            </a:pPr>
            <a:r>
              <a:rPr lang="en-US" altLang="zh-CN">
                <a:solidFill>
                  <a:srgbClr val="000066"/>
                </a:solidFill>
                <a:latin typeface="Tahoma" panose="020B0604030504040204" pitchFamily="34" charset="0"/>
              </a:rPr>
              <a:t>1 begin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input (x,y);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a:t>
            </a:r>
            <a:r>
              <a:rPr lang="en-US" altLang="zh-CN">
                <a:solidFill>
                  <a:srgbClr val="FF0000"/>
                </a:solidFill>
                <a:latin typeface="Tahoma" panose="020B0604030504040204" pitchFamily="34" charset="0"/>
              </a:rPr>
              <a:t>if (x &lt; y+1)</a:t>
            </a:r>
            <a:endParaRPr lang="en-US" altLang="zh-CN">
              <a:solidFill>
                <a:srgbClr val="FF0000"/>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else   </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     output(x*y);</a:t>
            </a:r>
            <a:endParaRPr lang="en-US" altLang="zh-CN">
              <a:solidFill>
                <a:srgbClr val="000066"/>
              </a:solidFill>
              <a:latin typeface="Tahoma" panose="020B0604030504040204" pitchFamily="34" charset="0"/>
            </a:endParaRPr>
          </a:p>
          <a:p>
            <a:pPr marL="342900" indent="-342900">
              <a:spcBef>
                <a:spcPts val="600"/>
              </a:spcBef>
              <a:buFontTx/>
              <a:buAutoNum type="arabicPlain" startAt="2"/>
            </a:pPr>
            <a:r>
              <a:rPr lang="en-US" altLang="zh-CN">
                <a:solidFill>
                  <a:srgbClr val="000066"/>
                </a:solidFill>
                <a:latin typeface="Tahoma" panose="020B0604030504040204" pitchFamily="34" charset="0"/>
              </a:rPr>
              <a:t>end  </a:t>
            </a:r>
            <a:endParaRPr lang="en-US" altLang="zh-CN">
              <a:solidFill>
                <a:srgbClr val="000066"/>
              </a:solidFill>
              <a:latin typeface="Tahoma" panose="020B0604030504040204" pitchFamily="34" charset="0"/>
            </a:endParaRPr>
          </a:p>
        </p:txBody>
      </p:sp>
      <p:sp>
        <p:nvSpPr>
          <p:cNvPr id="7" name="右箭头 6"/>
          <p:cNvSpPr/>
          <p:nvPr/>
        </p:nvSpPr>
        <p:spPr bwMode="auto">
          <a:xfrm>
            <a:off x="5410200" y="4714875"/>
            <a:ext cx="990600" cy="152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PP_MARK_KEY" val="7bd29f46-b8e6-4582-857c-02eb3b47549f"/>
  <p:tag name="COMMONDATA" val="eyJoZGlkIjoiY2IxYTc3NzQxYzYwYWY3YzFjZDE3YmJmMWE0OTZjMWUifQ=="/>
  <p:tag name="commondata" val="eyJoZGlkIjoiNGVhMGEzMzFmYzE0NDk3ZTNmMGYzOThhM2NhOTZlNT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sz="2000"/>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9281</Words>
  <Application>WPS 演示</Application>
  <PresentationFormat>宽屏</PresentationFormat>
  <Paragraphs>1457</Paragraphs>
  <Slides>56</Slides>
  <Notes>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56</vt:i4>
      </vt:variant>
    </vt:vector>
  </HeadingPairs>
  <TitlesOfParts>
    <vt:vector size="79" baseType="lpstr">
      <vt:lpstr>Arial</vt:lpstr>
      <vt:lpstr>宋体</vt:lpstr>
      <vt:lpstr>Wingdings</vt:lpstr>
      <vt:lpstr>Times New Roman</vt:lpstr>
      <vt:lpstr>楷体</vt:lpstr>
      <vt:lpstr>黑体</vt:lpstr>
      <vt:lpstr>楷体_GB2312</vt:lpstr>
      <vt:lpstr>新宋体</vt:lpstr>
      <vt:lpstr>Basemic Times</vt:lpstr>
      <vt:lpstr>ksdb</vt:lpstr>
      <vt:lpstr>Calibri Light</vt:lpstr>
      <vt:lpstr>Calibri</vt:lpstr>
      <vt:lpstr>微软雅黑</vt:lpstr>
      <vt:lpstr>Arial Unicode MS</vt:lpstr>
      <vt:lpstr>华文楷体</vt:lpstr>
      <vt:lpstr>Tahoma</vt:lpstr>
      <vt:lpstr>Times New Roman</vt:lpstr>
      <vt:lpstr>华文新魏</vt:lpstr>
      <vt:lpstr>Arial</vt:lpstr>
      <vt:lpstr>MS PGothic</vt:lpstr>
      <vt:lpstr>Office 主题</vt:lpstr>
      <vt:lpstr>Equation.3</vt:lpstr>
      <vt:lpstr>Equation.3</vt:lpstr>
      <vt:lpstr>第7章 软件可靠性测试</vt:lpstr>
      <vt:lpstr>内容</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7.1 软件可靠性测试</vt:lpstr>
      <vt:lpstr>7.2 软件可靠性增长测试</vt:lpstr>
      <vt:lpstr>7.3 软件可靠性验证测试</vt:lpstr>
      <vt:lpstr>7.4 软件可靠性验证测试</vt:lpstr>
      <vt:lpstr>程序变异思想</vt:lpstr>
      <vt:lpstr>程序变异思想</vt:lpstr>
      <vt:lpstr>真假美猴王</vt:lpstr>
      <vt:lpstr>程序变异思想</vt:lpstr>
      <vt:lpstr>程序变异思想</vt:lpstr>
      <vt:lpstr>C语言的变异算子</vt:lpstr>
      <vt:lpstr>C语言的常量变异</vt:lpstr>
      <vt:lpstr>C语言的常量变异</vt:lpstr>
      <vt:lpstr>C语言的运算符变异</vt:lpstr>
      <vt:lpstr>C语言中运算符变异</vt:lpstr>
      <vt:lpstr>Oior中变异算子：算术运算符与位运算符</vt:lpstr>
      <vt:lpstr>Oior中变异算子：单纯赋值、逻辑和关系</vt:lpstr>
      <vt:lpstr>C语言的运算符变异</vt:lpstr>
      <vt:lpstr>C语言的语句变异</vt:lpstr>
      <vt:lpstr>语句变异实例：语句执行陷阱</vt:lpstr>
      <vt:lpstr>语句变异实例：语句删除变异</vt:lpstr>
      <vt:lpstr>C语言的变量变异</vt:lpstr>
      <vt:lpstr>变量变异：摆动变异</vt:lpstr>
      <vt:lpstr>Java语言的变异算子</vt:lpstr>
      <vt:lpstr>Java语言的变异算子</vt:lpstr>
      <vt:lpstr>Java语言的变异算子</vt:lpstr>
      <vt:lpstr>Java语言的变异算子</vt:lpstr>
      <vt:lpstr>Java语言的变异算子</vt:lpstr>
      <vt:lpstr>Java语言的变异算子</vt:lpstr>
      <vt:lpstr>Java语言的变异算子</vt:lpstr>
      <vt:lpstr>Java语言的变异算子</vt:lpstr>
      <vt:lpstr>Java语言的变异算子</vt:lpstr>
      <vt:lpstr>程序变异步骤</vt:lpstr>
      <vt:lpstr>程序变异步骤</vt:lpstr>
      <vt:lpstr>程序变异步骤</vt:lpstr>
      <vt:lpstr>程序变异步骤</vt:lpstr>
      <vt:lpstr>程序变异步骤</vt:lpstr>
      <vt:lpstr>程序变异步骤</vt:lpstr>
      <vt:lpstr>程序变异步骤</vt:lpstr>
      <vt:lpstr>程序变异步骤</vt:lpstr>
      <vt:lpstr>程序变异步骤</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软件分析概要</dc:title>
  <dc:creator>Microsoft</dc:creator>
  <cp:lastModifiedBy>董玉坤</cp:lastModifiedBy>
  <cp:revision>175</cp:revision>
  <dcterms:created xsi:type="dcterms:W3CDTF">2022-08-08T01:51:00Z</dcterms:created>
  <dcterms:modified xsi:type="dcterms:W3CDTF">2024-11-13T03:18:43Z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E9266E9539684B88B8E38D15771F6DA7_12</vt:lpwstr>
  </property>
  <property fmtid="{D5CDD505-2E9C-101B-9397-08002B2CF9AE}" pid="3" name="KSOProductBuildVer">
    <vt:lpwstr>2052-12.1.0.18608</vt:lpwstr>
  </property>
</Properties>
</file>