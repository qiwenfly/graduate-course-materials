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4"/>
  </p:notesMasterIdLst>
  <p:sldIdLst>
    <p:sldId id="256" r:id="rId3"/>
    <p:sldId id="747" r:id="rId4"/>
    <p:sldId id="748" r:id="rId5"/>
    <p:sldId id="749" r:id="rId6"/>
    <p:sldId id="257" r:id="rId7"/>
    <p:sldId id="750" r:id="rId8"/>
    <p:sldId id="751" r:id="rId9"/>
    <p:sldId id="588" r:id="rId10"/>
    <p:sldId id="656" r:id="rId11"/>
    <p:sldId id="657" r:id="rId12"/>
    <p:sldId id="658" r:id="rId13"/>
    <p:sldId id="659" r:id="rId14"/>
    <p:sldId id="660" r:id="rId15"/>
    <p:sldId id="661" r:id="rId16"/>
    <p:sldId id="662" r:id="rId17"/>
    <p:sldId id="663" r:id="rId18"/>
    <p:sldId id="752" r:id="rId19"/>
    <p:sldId id="754" r:id="rId20"/>
    <p:sldId id="755" r:id="rId21"/>
    <p:sldId id="756" r:id="rId22"/>
    <p:sldId id="757" r:id="rId23"/>
    <p:sldId id="758" r:id="rId24"/>
    <p:sldId id="759" r:id="rId25"/>
    <p:sldId id="760" r:id="rId26"/>
    <p:sldId id="665" r:id="rId27"/>
    <p:sldId id="667" r:id="rId28"/>
    <p:sldId id="668" r:id="rId29"/>
    <p:sldId id="669" r:id="rId30"/>
    <p:sldId id="670" r:id="rId31"/>
    <p:sldId id="675" r:id="rId32"/>
    <p:sldId id="676" r:id="rId33"/>
    <p:sldId id="677" r:id="rId34"/>
    <p:sldId id="678" r:id="rId35"/>
    <p:sldId id="679" r:id="rId36"/>
    <p:sldId id="682" r:id="rId37"/>
    <p:sldId id="683" r:id="rId38"/>
    <p:sldId id="684" r:id="rId39"/>
    <p:sldId id="685" r:id="rId40"/>
    <p:sldId id="686" r:id="rId41"/>
    <p:sldId id="708" r:id="rId42"/>
    <p:sldId id="709" r:id="rId43"/>
    <p:sldId id="725" r:id="rId44"/>
    <p:sldId id="711" r:id="rId45"/>
    <p:sldId id="713" r:id="rId46"/>
    <p:sldId id="726" r:id="rId47"/>
    <p:sldId id="714" r:id="rId48"/>
    <p:sldId id="715" r:id="rId49"/>
    <p:sldId id="730" r:id="rId50"/>
    <p:sldId id="761" r:id="rId51"/>
    <p:sldId id="762" r:id="rId52"/>
    <p:sldId id="732" r:id="rId53"/>
    <p:sldId id="763" r:id="rId54"/>
    <p:sldId id="733" r:id="rId55"/>
    <p:sldId id="764" r:id="rId56"/>
    <p:sldId id="734" r:id="rId57"/>
    <p:sldId id="765" r:id="rId58"/>
    <p:sldId id="731" r:id="rId59"/>
    <p:sldId id="735" r:id="rId60"/>
    <p:sldId id="766" r:id="rId61"/>
    <p:sldId id="736" r:id="rId62"/>
    <p:sldId id="767" r:id="rId63"/>
    <p:sldId id="737" r:id="rId64"/>
    <p:sldId id="716" r:id="rId65"/>
    <p:sldId id="717" r:id="rId66"/>
    <p:sldId id="718" r:id="rId67"/>
    <p:sldId id="719" r:id="rId68"/>
    <p:sldId id="727" r:id="rId69"/>
    <p:sldId id="728" r:id="rId70"/>
    <p:sldId id="720" r:id="rId71"/>
    <p:sldId id="721" r:id="rId72"/>
    <p:sldId id="768" r:id="rId73"/>
  </p:sldIdLst>
  <p:sldSz cx="12192000" cy="6858000"/>
  <p:notesSz cx="6858000" cy="9144000"/>
  <p:custDataLst>
    <p:tags r:id="rId7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9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8" Type="http://schemas.openxmlformats.org/officeDocument/2006/relationships/tags" Target="tags/tag97.xml"/><Relationship Id="rId77" Type="http://schemas.openxmlformats.org/officeDocument/2006/relationships/tableStyles" Target="tableStyles.xml"/><Relationship Id="rId76" Type="http://schemas.openxmlformats.org/officeDocument/2006/relationships/viewProps" Target="viewProps.xml"/><Relationship Id="rId75" Type="http://schemas.openxmlformats.org/officeDocument/2006/relationships/presProps" Target="presProps.xml"/><Relationship Id="rId74" Type="http://schemas.openxmlformats.org/officeDocument/2006/relationships/notesMaster" Target="notesMasters/notesMaster1.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5355"/>
          </a:xfrm>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a:xfrm>
            <a:off x="838200" y="1538605"/>
            <a:ext cx="10515600" cy="4638675"/>
          </a:xfrm>
        </p:spPr>
        <p:txBody>
          <a:bodyPr/>
          <a:lstStyle>
            <a:lvl1pPr eaLnBrk="1" fontAlgn="auto" latinLnBrk="0" hangingPunct="1">
              <a:lnSpc>
                <a:spcPct val="130000"/>
              </a:lnSpc>
              <a:defRPr/>
            </a:lvl1pPr>
            <a:lvl2pPr eaLnBrk="1" fontAlgn="auto" latinLnBrk="0" hangingPunct="1">
              <a:lnSpc>
                <a:spcPct val="130000"/>
              </a:lnSpc>
              <a:defRPr/>
            </a:lvl2pPr>
            <a:lvl3pPr eaLnBrk="1" fontAlgn="auto" latinLnBrk="0" hangingPunct="1">
              <a:lnSpc>
                <a:spcPct val="130000"/>
              </a:lnSpc>
              <a:defRPr/>
            </a:lvl3pPr>
            <a:lvl4pPr eaLnBrk="1" fontAlgn="auto" latinLnBrk="0" hangingPunct="1">
              <a:lnSpc>
                <a:spcPct val="130000"/>
              </a:lnSpc>
              <a:defRPr/>
            </a:lvl4pPr>
            <a:lvl5pPr eaLnBrk="1" fontAlgn="auto" latinLnBrk="0" hangingPunct="1">
              <a:lnSpc>
                <a:spcPct val="130000"/>
              </a:lnSpc>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24D90DF-7CA0-4224-96EF-983A14E14138}"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609600" y="1600201"/>
            <a:ext cx="10972800" cy="4525963"/>
          </a:xfrm>
        </p:spPr>
        <p:txBody>
          <a:bodyPr/>
          <a:lstStyle/>
          <a:p>
            <a:pPr lvl="0"/>
            <a:endParaRPr lang="zh-CN" altLang="en-US" noProof="0" smtClean="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1EFBB9-8D04-43DE-A59C-D9D9C885B1D2}" type="datetimeFigureOut">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4D90DF-7CA0-4224-96EF-983A14E1413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jpe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36.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1" Type="http://schemas.openxmlformats.org/officeDocument/2006/relationships/slideLayout" Target="../slideLayouts/slideLayout2.xml"/><Relationship Id="rId10" Type="http://schemas.openxmlformats.org/officeDocument/2006/relationships/tags" Target="../tags/tag35.xml"/><Relationship Id="rId1" Type="http://schemas.openxmlformats.org/officeDocument/2006/relationships/tags" Target="../tags/tag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40.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0" Type="http://schemas.openxmlformats.org/officeDocument/2006/relationships/slideLayout" Target="../slideLayouts/slideLayout2.xml"/><Relationship Id="rId2" Type="http://schemas.openxmlformats.org/officeDocument/2006/relationships/tags" Target="../tags/tag38.xml"/><Relationship Id="rId19" Type="http://schemas.openxmlformats.org/officeDocument/2006/relationships/tags" Target="../tags/tag55.xml"/><Relationship Id="rId18" Type="http://schemas.openxmlformats.org/officeDocument/2006/relationships/tags" Target="../tags/tag54.xml"/><Relationship Id="rId17" Type="http://schemas.openxmlformats.org/officeDocument/2006/relationships/tags" Target="../tags/tag53.xml"/><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tags" Target="../tags/tag50.xml"/><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tags" Target="../tags/tag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0" Type="http://schemas.openxmlformats.org/officeDocument/2006/relationships/slideLayout" Target="../slideLayouts/slideLayout2.xml"/><Relationship Id="rId2" Type="http://schemas.openxmlformats.org/officeDocument/2006/relationships/tags" Target="../tags/tag57.xml"/><Relationship Id="rId19" Type="http://schemas.openxmlformats.org/officeDocument/2006/relationships/tags" Target="../tags/tag74.xml"/><Relationship Id="rId18" Type="http://schemas.openxmlformats.org/officeDocument/2006/relationships/tags" Target="../tags/tag73.xml"/><Relationship Id="rId17" Type="http://schemas.openxmlformats.org/officeDocument/2006/relationships/tags" Target="../tags/tag72.xml"/><Relationship Id="rId16" Type="http://schemas.openxmlformats.org/officeDocument/2006/relationships/tags" Target="../tags/tag71.xml"/><Relationship Id="rId15" Type="http://schemas.openxmlformats.org/officeDocument/2006/relationships/tags" Target="../tags/tag70.xml"/><Relationship Id="rId14" Type="http://schemas.openxmlformats.org/officeDocument/2006/relationships/tags" Target="../tags/tag69.xml"/><Relationship Id="rId13" Type="http://schemas.openxmlformats.org/officeDocument/2006/relationships/tags" Target="../tags/tag68.xml"/><Relationship Id="rId12" Type="http://schemas.openxmlformats.org/officeDocument/2006/relationships/tags" Target="../tags/tag67.xml"/><Relationship Id="rId11" Type="http://schemas.openxmlformats.org/officeDocument/2006/relationships/tags" Target="../tags/tag66.xml"/><Relationship Id="rId10" Type="http://schemas.openxmlformats.org/officeDocument/2006/relationships/tags" Target="../tags/tag65.xml"/><Relationship Id="rId1" Type="http://schemas.openxmlformats.org/officeDocument/2006/relationships/tags" Target="../tags/tag56.xml"/></Relationships>
</file>

<file path=ppt/slides/_rels/slide45.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0" Type="http://schemas.openxmlformats.org/officeDocument/2006/relationships/slideLayout" Target="../slideLayouts/slideLayout2.xml"/><Relationship Id="rId2" Type="http://schemas.openxmlformats.org/officeDocument/2006/relationships/tags" Target="../tags/tag76.xml"/><Relationship Id="rId19" Type="http://schemas.openxmlformats.org/officeDocument/2006/relationships/tags" Target="../tags/tag93.xml"/><Relationship Id="rId18" Type="http://schemas.openxmlformats.org/officeDocument/2006/relationships/tags" Target="../tags/tag92.xml"/><Relationship Id="rId17" Type="http://schemas.openxmlformats.org/officeDocument/2006/relationships/tags" Target="../tags/tag91.xml"/><Relationship Id="rId16" Type="http://schemas.openxmlformats.org/officeDocument/2006/relationships/tags" Target="../tags/tag90.xml"/><Relationship Id="rId15" Type="http://schemas.openxmlformats.org/officeDocument/2006/relationships/tags" Target="../tags/tag89.xml"/><Relationship Id="rId14" Type="http://schemas.openxmlformats.org/officeDocument/2006/relationships/tags" Target="../tags/tag88.xml"/><Relationship Id="rId13" Type="http://schemas.openxmlformats.org/officeDocument/2006/relationships/tags" Target="../tags/tag87.xml"/><Relationship Id="rId12" Type="http://schemas.openxmlformats.org/officeDocument/2006/relationships/tags" Target="../tags/tag86.xml"/><Relationship Id="rId11" Type="http://schemas.openxmlformats.org/officeDocument/2006/relationships/tags" Target="../tags/tag85.xml"/><Relationship Id="rId10" Type="http://schemas.openxmlformats.org/officeDocument/2006/relationships/tags" Target="../tags/tag84.xml"/><Relationship Id="rId1" Type="http://schemas.openxmlformats.org/officeDocument/2006/relationships/tags" Target="../tags/tag7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a:t>
            </a:r>
            <a:r>
              <a:rPr lang="en-US" altLang="zh-CN" dirty="0" smtClean="0"/>
              <a:t>5</a:t>
            </a:r>
            <a:r>
              <a:rPr lang="zh-CN" altLang="en-US" dirty="0" smtClean="0"/>
              <a:t>章 软件可靠性</a:t>
            </a:r>
            <a:r>
              <a:rPr lang="zh-CN" altLang="en-US" dirty="0" smtClean="0"/>
              <a:t>设计</a:t>
            </a:r>
            <a:endParaRPr lang="zh-CN" altLang="en-US" dirty="0" smtClean="0"/>
          </a:p>
        </p:txBody>
      </p:sp>
      <p:sp>
        <p:nvSpPr>
          <p:cNvPr id="3" name="副标题 2"/>
          <p:cNvSpPr>
            <a:spLocks noGrp="1"/>
          </p:cNvSpPr>
          <p:nvPr>
            <p:ph type="subTitle" idx="1"/>
          </p:nvPr>
        </p:nvSpPr>
        <p:spPr>
          <a:xfrm>
            <a:off x="2667000" y="3934558"/>
            <a:ext cx="6858000" cy="866042"/>
          </a:xfrm>
        </p:spPr>
        <p:txBody>
          <a:bodyPr>
            <a:normAutofit lnSpcReduction="10000"/>
          </a:bodyPr>
          <a:lstStyle/>
          <a:p>
            <a:r>
              <a:rPr lang="zh-CN" altLang="en-US" dirty="0" smtClean="0"/>
              <a:t>中国石油大学（华东）</a:t>
            </a:r>
            <a:endParaRPr lang="zh-CN" altLang="en-US" dirty="0" smtClean="0"/>
          </a:p>
          <a:p>
            <a:r>
              <a:rPr lang="zh-CN" altLang="en-US" dirty="0"/>
              <a:t>青岛软件学院、计算机科学与技术</a:t>
            </a:r>
            <a:r>
              <a:rPr lang="zh-CN" altLang="en-US" dirty="0"/>
              <a:t>学院</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p:nvPr/>
        </p:nvPicPr>
        <p:blipFill>
          <a:blip r:embed="rId1"/>
          <a:stretch>
            <a:fillRect/>
          </a:stretch>
        </p:blipFill>
        <p:spPr>
          <a:xfrm>
            <a:off x="1645285" y="2502535"/>
            <a:ext cx="3782695" cy="2577465"/>
          </a:xfrm>
          <a:prstGeom prst="rect">
            <a:avLst/>
          </a:prstGeom>
        </p:spPr>
      </p:pic>
      <p:pic>
        <p:nvPicPr>
          <p:cNvPr id="6" name="图片 5"/>
          <p:cNvPicPr/>
          <p:nvPr/>
        </p:nvPicPr>
        <p:blipFill>
          <a:blip r:embed="rId2"/>
          <a:stretch>
            <a:fillRect/>
          </a:stretch>
        </p:blipFill>
        <p:spPr>
          <a:xfrm>
            <a:off x="6796405" y="760730"/>
            <a:ext cx="3857625" cy="5336540"/>
          </a:xfrm>
          <a:prstGeom prst="rect">
            <a:avLst/>
          </a:prstGeom>
        </p:spPr>
      </p:pic>
      <p:sp>
        <p:nvSpPr>
          <p:cNvPr id="7" name="标题 6"/>
          <p:cNvSpPr>
            <a:spLocks noGrp="1"/>
          </p:cNvSpPr>
          <p:nvPr>
            <p:ph type="title"/>
          </p:nvPr>
        </p:nvSpPr>
        <p:spPr>
          <a:xfrm>
            <a:off x="838200" y="760730"/>
            <a:ext cx="5718810" cy="935355"/>
          </a:xfrm>
        </p:spPr>
        <p:txBody>
          <a:bodyPr/>
          <a:p>
            <a:r>
              <a:rPr lang="zh-CN" altLang="en-US">
                <a:solidFill>
                  <a:srgbClr val="C00000"/>
                </a:solidFill>
              </a:rPr>
              <a:t>超高层建筑：</a:t>
            </a:r>
            <a:r>
              <a:rPr lang="zh-CN" altLang="en-US">
                <a:solidFill>
                  <a:srgbClr val="C00000"/>
                </a:solidFill>
              </a:rPr>
              <a:t>阻尼器</a:t>
            </a:r>
            <a:endParaRPr lang="zh-CN" altLang="en-US">
              <a:solidFill>
                <a:srgbClr val="C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title"/>
          </p:nvPr>
        </p:nvSpPr>
        <p:spPr>
          <a:xfrm>
            <a:off x="838200" y="760730"/>
            <a:ext cx="8335645" cy="935355"/>
          </a:xfrm>
        </p:spPr>
        <p:txBody>
          <a:bodyPr>
            <a:normAutofit/>
          </a:bodyPr>
          <a:p>
            <a:r>
              <a:rPr lang="zh-CN" altLang="en-US">
                <a:solidFill>
                  <a:srgbClr val="C00000"/>
                </a:solidFill>
              </a:rPr>
              <a:t>SpaceX火箭：33台猛禽发动机</a:t>
            </a:r>
            <a:endParaRPr lang="zh-CN" altLang="en-US">
              <a:solidFill>
                <a:srgbClr val="C00000"/>
              </a:solidFill>
            </a:endParaRPr>
          </a:p>
        </p:txBody>
      </p:sp>
      <p:pic>
        <p:nvPicPr>
          <p:cNvPr id="2" name="图片 1"/>
          <p:cNvPicPr/>
          <p:nvPr/>
        </p:nvPicPr>
        <p:blipFill>
          <a:blip r:embed="rId1"/>
          <a:stretch>
            <a:fillRect/>
          </a:stretch>
        </p:blipFill>
        <p:spPr>
          <a:xfrm>
            <a:off x="628650" y="2105025"/>
            <a:ext cx="7267575" cy="4224655"/>
          </a:xfrm>
          <a:prstGeom prst="rect">
            <a:avLst/>
          </a:prstGeom>
        </p:spPr>
      </p:pic>
      <p:pic>
        <p:nvPicPr>
          <p:cNvPr id="3" name="图片 2"/>
          <p:cNvPicPr/>
          <p:nvPr/>
        </p:nvPicPr>
        <p:blipFill>
          <a:blip r:embed="rId2"/>
          <a:stretch>
            <a:fillRect/>
          </a:stretch>
        </p:blipFill>
        <p:spPr>
          <a:xfrm>
            <a:off x="8251825" y="2540000"/>
            <a:ext cx="3340735" cy="3238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title"/>
          </p:nvPr>
        </p:nvSpPr>
        <p:spPr>
          <a:xfrm>
            <a:off x="838200" y="760730"/>
            <a:ext cx="8335645" cy="935355"/>
          </a:xfrm>
        </p:spPr>
        <p:txBody>
          <a:bodyPr>
            <a:normAutofit/>
          </a:bodyPr>
          <a:p>
            <a:r>
              <a:rPr lang="zh-CN" altLang="en-US">
                <a:solidFill>
                  <a:srgbClr val="C00000"/>
                </a:solidFill>
              </a:rPr>
              <a:t>赵州桥：敞肩拱</a:t>
            </a:r>
            <a:endParaRPr lang="zh-CN" altLang="en-US">
              <a:solidFill>
                <a:srgbClr val="C00000"/>
              </a:solidFill>
            </a:endParaRPr>
          </a:p>
        </p:txBody>
      </p:sp>
      <p:pic>
        <p:nvPicPr>
          <p:cNvPr id="4" name="图片 3"/>
          <p:cNvPicPr/>
          <p:nvPr/>
        </p:nvPicPr>
        <p:blipFill>
          <a:blip r:embed="rId1"/>
          <a:stretch>
            <a:fillRect/>
          </a:stretch>
        </p:blipFill>
        <p:spPr>
          <a:xfrm>
            <a:off x="2312670" y="2231390"/>
            <a:ext cx="7224395" cy="42030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C00000"/>
                </a:solidFill>
              </a:rPr>
              <a:t>内容</a:t>
            </a:r>
            <a:endParaRPr lang="zh-CN" altLang="en-US" dirty="0" smtClean="0">
              <a:solidFill>
                <a:srgbClr val="C00000"/>
              </a:solidFill>
            </a:endParaRPr>
          </a:p>
        </p:txBody>
      </p:sp>
      <p:sp>
        <p:nvSpPr>
          <p:cNvPr id="3" name="内容占位符 2"/>
          <p:cNvSpPr>
            <a:spLocks noGrp="1"/>
          </p:cNvSpPr>
          <p:nvPr>
            <p:ph idx="1"/>
          </p:nvPr>
        </p:nvSpPr>
        <p:spPr/>
        <p:txBody>
          <a:bodyPr>
            <a:normAutofit lnSpcReduction="10000"/>
          </a:bodyPr>
          <a:lstStyle/>
          <a:p>
            <a:r>
              <a:rPr lang="en-US" altLang="zh-CN" dirty="0" smtClean="0"/>
              <a:t>1</a:t>
            </a:r>
            <a:r>
              <a:rPr lang="en-US" altLang="zh-CN" dirty="0"/>
              <a:t>. </a:t>
            </a:r>
            <a:r>
              <a:rPr lang="zh-CN" altLang="en-US" dirty="0"/>
              <a:t>软件可靠性设计概述</a:t>
            </a:r>
            <a:endParaRPr lang="en-US" altLang="zh-CN" dirty="0"/>
          </a:p>
          <a:p>
            <a:r>
              <a:rPr lang="en-US" altLang="zh-CN" dirty="0"/>
              <a:t>2. </a:t>
            </a:r>
            <a:r>
              <a:rPr lang="zh-CN" altLang="en-US" dirty="0"/>
              <a:t>软件避错设计</a:t>
            </a:r>
            <a:endParaRPr lang="en-US" altLang="zh-CN" dirty="0"/>
          </a:p>
          <a:p>
            <a:r>
              <a:rPr lang="en-US" altLang="zh-CN" dirty="0"/>
              <a:t>3. </a:t>
            </a:r>
            <a:r>
              <a:rPr lang="zh-CN" altLang="en-US" dirty="0"/>
              <a:t>软件容错设计</a:t>
            </a:r>
            <a:endParaRPr lang="en-US" altLang="zh-CN" dirty="0"/>
          </a:p>
          <a:p>
            <a:r>
              <a:rPr lang="en-US" altLang="zh-CN" dirty="0"/>
              <a:t>4. </a:t>
            </a:r>
            <a:r>
              <a:rPr lang="zh-CN" altLang="en-US" dirty="0"/>
              <a:t>降低复杂度</a:t>
            </a:r>
            <a:r>
              <a:rPr lang="zh-CN" altLang="en-US" dirty="0"/>
              <a:t>设计</a:t>
            </a:r>
            <a:endParaRPr lang="zh-CN" altLang="en-US" dirty="0"/>
          </a:p>
          <a:p>
            <a:r>
              <a:rPr lang="en-US" altLang="zh-CN" dirty="0"/>
              <a:t>5. </a:t>
            </a:r>
            <a:r>
              <a:rPr lang="zh-CN" altLang="en-US" dirty="0"/>
              <a:t>系统配置技术</a:t>
            </a:r>
            <a:endParaRPr lang="en-US" altLang="zh-CN" dirty="0"/>
          </a:p>
          <a:p>
            <a:r>
              <a:rPr lang="en-US" altLang="zh-CN" dirty="0"/>
              <a:t>6. </a:t>
            </a:r>
            <a:r>
              <a:rPr lang="zh-CN" altLang="en-US" dirty="0"/>
              <a:t>软件可靠性设计</a:t>
            </a:r>
            <a:r>
              <a:rPr lang="zh-CN" altLang="en-US" dirty="0"/>
              <a:t>准则</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rPr>
              <a:t>5.1 </a:t>
            </a:r>
            <a:r>
              <a:rPr lang="zh-CN" altLang="en-US">
                <a:solidFill>
                  <a:srgbClr val="C00000"/>
                </a:solidFill>
              </a:rPr>
              <a:t>软件可靠性设计</a:t>
            </a:r>
            <a:r>
              <a:rPr lang="zh-CN" altLang="en-US">
                <a:solidFill>
                  <a:srgbClr val="C00000"/>
                </a:solidFill>
              </a:rPr>
              <a:t>概述</a:t>
            </a:r>
            <a:endParaRPr lang="zh-CN" altLang="en-US">
              <a:solidFill>
                <a:srgbClr val="C00000"/>
              </a:solidFill>
            </a:endParaRPr>
          </a:p>
        </p:txBody>
      </p:sp>
      <p:sp>
        <p:nvSpPr>
          <p:cNvPr id="3" name="内容占位符 2"/>
          <p:cNvSpPr>
            <a:spLocks noGrp="1"/>
          </p:cNvSpPr>
          <p:nvPr>
            <p:ph idx="1"/>
          </p:nvPr>
        </p:nvSpPr>
        <p:spPr>
          <a:xfrm>
            <a:off x="838200" y="1538605"/>
            <a:ext cx="10515600" cy="1659890"/>
          </a:xfrm>
        </p:spPr>
        <p:txBody>
          <a:bodyPr>
            <a:normAutofit lnSpcReduction="20000"/>
          </a:bodyPr>
          <a:p>
            <a:pPr fontAlgn="auto">
              <a:lnSpc>
                <a:spcPct val="130000"/>
              </a:lnSpc>
            </a:pPr>
            <a:r>
              <a:rPr lang="zh-CN" altLang="en-US"/>
              <a:t>软件可靠性设计的实质是在常规的软件设计中，应用各种必须的方法和技术，使程序设计在兼顾用户的各种需求时，全面满足软件的可靠性</a:t>
            </a:r>
            <a:r>
              <a:rPr lang="zh-CN" altLang="en-US"/>
              <a:t>要求。</a:t>
            </a:r>
            <a:endParaRPr lang="zh-CN" altLang="en-US"/>
          </a:p>
          <a:p>
            <a:pPr fontAlgn="auto">
              <a:lnSpc>
                <a:spcPct val="130000"/>
              </a:lnSpc>
            </a:pPr>
            <a:endParaRPr lang="zh-CN" altLang="en-US"/>
          </a:p>
        </p:txBody>
      </p:sp>
      <p:grpSp>
        <p:nvGrpSpPr>
          <p:cNvPr id="10" name="组合 9"/>
          <p:cNvGrpSpPr/>
          <p:nvPr/>
        </p:nvGrpSpPr>
        <p:grpSpPr>
          <a:xfrm>
            <a:off x="1423670" y="3482340"/>
            <a:ext cx="2461260" cy="2519680"/>
            <a:chOff x="2242" y="5544"/>
            <a:chExt cx="3876" cy="3968"/>
          </a:xfrm>
        </p:grpSpPr>
        <p:sp>
          <p:nvSpPr>
            <p:cNvPr id="4" name="矩形 3"/>
            <p:cNvSpPr/>
            <p:nvPr/>
          </p:nvSpPr>
          <p:spPr>
            <a:xfrm>
              <a:off x="2242" y="5544"/>
              <a:ext cx="3877" cy="702"/>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solidFill>
                    <a:schemeClr val="bg1"/>
                  </a:solidFill>
                  <a:sym typeface="+mn-ea"/>
                </a:rPr>
                <a:t>过程</a:t>
              </a:r>
              <a:endParaRPr lang="zh-CN" altLang="en-US" sz="2000" b="1">
                <a:solidFill>
                  <a:schemeClr val="bg1"/>
                </a:solidFill>
                <a:sym typeface="+mn-ea"/>
              </a:endParaRPr>
            </a:p>
          </p:txBody>
        </p:sp>
        <p:sp>
          <p:nvSpPr>
            <p:cNvPr id="5" name="矩形 4"/>
            <p:cNvSpPr/>
            <p:nvPr/>
          </p:nvSpPr>
          <p:spPr>
            <a:xfrm>
              <a:off x="2242" y="6246"/>
              <a:ext cx="3877" cy="3266"/>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solidFill>
                    <a:schemeClr val="tx1"/>
                  </a:solidFill>
                  <a:sym typeface="+mn-ea"/>
                </a:rPr>
                <a:t>软件的可靠性设计应和软件的常规设计紧密地结合，贯穿于常规设计过程的始终</a:t>
              </a:r>
              <a:endParaRPr lang="zh-CN" altLang="en-US" sz="2000">
                <a:solidFill>
                  <a:schemeClr val="tx1"/>
                </a:solidFill>
                <a:sym typeface="+mn-ea"/>
              </a:endParaRPr>
            </a:p>
          </p:txBody>
        </p:sp>
      </p:grpSp>
      <p:grpSp>
        <p:nvGrpSpPr>
          <p:cNvPr id="11" name="组合 10"/>
          <p:cNvGrpSpPr/>
          <p:nvPr/>
        </p:nvGrpSpPr>
        <p:grpSpPr>
          <a:xfrm>
            <a:off x="4632325" y="3482340"/>
            <a:ext cx="2461260" cy="2519680"/>
            <a:chOff x="6975" y="5544"/>
            <a:chExt cx="3876" cy="3968"/>
          </a:xfrm>
        </p:grpSpPr>
        <p:sp>
          <p:nvSpPr>
            <p:cNvPr id="6" name="矩形 5"/>
            <p:cNvSpPr/>
            <p:nvPr/>
          </p:nvSpPr>
          <p:spPr>
            <a:xfrm>
              <a:off x="6975" y="5544"/>
              <a:ext cx="3877" cy="702"/>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sym typeface="+mn-ea"/>
                </a:rPr>
                <a:t>范畴</a:t>
              </a:r>
              <a:endParaRPr lang="zh-CN" altLang="en-US" sz="2000" b="1">
                <a:solidFill>
                  <a:schemeClr val="bg1"/>
                </a:solidFill>
                <a:sym typeface="+mn-ea"/>
              </a:endParaRPr>
            </a:p>
          </p:txBody>
        </p:sp>
        <p:sp>
          <p:nvSpPr>
            <p:cNvPr id="7" name="矩形 6"/>
            <p:cNvSpPr/>
            <p:nvPr/>
          </p:nvSpPr>
          <p:spPr>
            <a:xfrm>
              <a:off x="6975" y="6246"/>
              <a:ext cx="3877" cy="3266"/>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solidFill>
                    <a:schemeClr val="tx1"/>
                  </a:solidFill>
                  <a:sym typeface="+mn-ea"/>
                </a:rPr>
                <a:t>所指的设计是广义的设计，它包括了从需求分析开始，直至实现的全过程</a:t>
              </a:r>
              <a:endParaRPr lang="zh-CN" altLang="en-US" sz="2000">
                <a:solidFill>
                  <a:schemeClr val="tx1"/>
                </a:solidFill>
                <a:sym typeface="+mn-ea"/>
              </a:endParaRPr>
            </a:p>
          </p:txBody>
        </p:sp>
      </p:grpSp>
      <p:grpSp>
        <p:nvGrpSpPr>
          <p:cNvPr id="12" name="组合 11"/>
          <p:cNvGrpSpPr/>
          <p:nvPr/>
        </p:nvGrpSpPr>
        <p:grpSpPr>
          <a:xfrm>
            <a:off x="7840980" y="3482340"/>
            <a:ext cx="2461260" cy="2519680"/>
            <a:chOff x="12348" y="5424"/>
            <a:chExt cx="3876" cy="3968"/>
          </a:xfrm>
        </p:grpSpPr>
        <p:sp>
          <p:nvSpPr>
            <p:cNvPr id="8" name="矩形 7"/>
            <p:cNvSpPr/>
            <p:nvPr/>
          </p:nvSpPr>
          <p:spPr>
            <a:xfrm>
              <a:off x="12348" y="5424"/>
              <a:ext cx="3877" cy="702"/>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sym typeface="+mn-ea"/>
                </a:rPr>
                <a:t>目的</a:t>
              </a:r>
              <a:endParaRPr lang="zh-CN" altLang="en-US" sz="2000" b="1">
                <a:solidFill>
                  <a:schemeClr val="bg1"/>
                </a:solidFill>
                <a:sym typeface="+mn-ea"/>
              </a:endParaRPr>
            </a:p>
          </p:txBody>
        </p:sp>
        <p:sp>
          <p:nvSpPr>
            <p:cNvPr id="9" name="矩形 8"/>
            <p:cNvSpPr/>
            <p:nvPr/>
          </p:nvSpPr>
          <p:spPr>
            <a:xfrm>
              <a:off x="12348" y="6126"/>
              <a:ext cx="3877" cy="3266"/>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solidFill>
                    <a:schemeClr val="tx1"/>
                  </a:solidFill>
                  <a:sym typeface="+mn-ea"/>
                </a:rPr>
                <a:t>设计可靠的软件</a:t>
              </a:r>
              <a:endParaRPr lang="zh-CN" altLang="en-US" sz="2000">
                <a:solidFill>
                  <a:schemeClr val="tx1"/>
                </a:solidFill>
                <a:sym typeface="+mn-ea"/>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a:t>
            </a:r>
            <a:r>
              <a:rPr lang="zh-CN" altLang="en-US">
                <a:solidFill>
                  <a:srgbClr val="C00000"/>
                </a:solidFill>
                <a:sym typeface="+mn-ea"/>
              </a:rPr>
              <a:t>可靠性要求</a:t>
            </a:r>
            <a:endParaRPr lang="zh-CN" altLang="en-US">
              <a:solidFill>
                <a:srgbClr val="C00000"/>
              </a:solidFill>
              <a:sym typeface="+mn-ea"/>
            </a:endParaRPr>
          </a:p>
        </p:txBody>
      </p:sp>
      <p:sp>
        <p:nvSpPr>
          <p:cNvPr id="5" name="矩形 4"/>
          <p:cNvSpPr/>
          <p:nvPr/>
        </p:nvSpPr>
        <p:spPr>
          <a:xfrm>
            <a:off x="1210310" y="1718310"/>
            <a:ext cx="3866515"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dirty="0">
                <a:latin typeface="Times New Roman" panose="02020603050405020304" pitchFamily="18" charset="0"/>
                <a:cs typeface="Times New Roman" panose="02020603050405020304" pitchFamily="18" charset="0"/>
                <a:sym typeface="+mn-ea"/>
              </a:rPr>
              <a:t>定性要求</a:t>
            </a:r>
            <a:endParaRPr lang="zh-CN" altLang="en-US" sz="2400" b="1">
              <a:solidFill>
                <a:schemeClr val="bg1"/>
              </a:solidFill>
              <a:sym typeface="+mn-ea"/>
            </a:endParaRPr>
          </a:p>
        </p:txBody>
      </p:sp>
      <p:sp>
        <p:nvSpPr>
          <p:cNvPr id="6" name="矩形 5"/>
          <p:cNvSpPr/>
          <p:nvPr/>
        </p:nvSpPr>
        <p:spPr>
          <a:xfrm>
            <a:off x="1210310" y="2164080"/>
            <a:ext cx="3866515" cy="3101340"/>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marL="0" lvl="1" algn="l">
              <a:buClrTx/>
              <a:buSzTx/>
              <a:buFontTx/>
            </a:pPr>
            <a:r>
              <a:rPr lang="zh-CN" altLang="en-US" sz="2400" dirty="0">
                <a:solidFill>
                  <a:schemeClr val="tx1"/>
                </a:solidFill>
                <a:latin typeface="Times New Roman" panose="02020603050405020304" pitchFamily="18" charset="0"/>
                <a:cs typeface="Times New Roman" panose="02020603050405020304" pitchFamily="18" charset="0"/>
                <a:sym typeface="+mn-ea"/>
              </a:rPr>
              <a:t>采用非量化的形式来设计、评价和保证软件的可靠性</a:t>
            </a:r>
            <a:endParaRPr lang="zh-CN" altLang="en-US" sz="2400" dirty="0">
              <a:solidFill>
                <a:schemeClr val="tx1"/>
              </a:solidFill>
              <a:latin typeface="Times New Roman" panose="02020603050405020304" pitchFamily="18" charset="0"/>
              <a:cs typeface="Times New Roman" panose="02020603050405020304" pitchFamily="18" charset="0"/>
              <a:sym typeface="+mn-ea"/>
            </a:endParaRPr>
          </a:p>
          <a:p>
            <a:pPr marL="0" lvl="1" algn="l">
              <a:buClrTx/>
              <a:buSzTx/>
              <a:buFontTx/>
            </a:pPr>
            <a:endParaRPr lang="zh-CN" altLang="en-US" sz="2400" dirty="0">
              <a:solidFill>
                <a:schemeClr val="tx1"/>
              </a:solidFill>
              <a:latin typeface="Times New Roman" panose="02020603050405020304" pitchFamily="18" charset="0"/>
              <a:cs typeface="Times New Roman" panose="02020603050405020304" pitchFamily="18" charset="0"/>
              <a:sym typeface="+mn-ea"/>
            </a:endParaRPr>
          </a:p>
          <a:p>
            <a:pPr marL="0" lvl="1" algn="l">
              <a:buClrTx/>
              <a:buSzTx/>
              <a:buFontTx/>
            </a:pPr>
            <a:r>
              <a:rPr lang="zh-CN" altLang="en-US" sz="2400" dirty="0">
                <a:solidFill>
                  <a:schemeClr val="tx1"/>
                </a:solidFill>
                <a:latin typeface="Times New Roman" panose="02020603050405020304" pitchFamily="18" charset="0"/>
                <a:cs typeface="Times New Roman" panose="02020603050405020304" pitchFamily="18" charset="0"/>
                <a:sym typeface="+mn-ea"/>
              </a:rPr>
              <a:t>包括定性设计要求和定性分析要求</a:t>
            </a:r>
            <a:endParaRPr lang="zh-CN" altLang="en-US" sz="2400" dirty="0">
              <a:solidFill>
                <a:schemeClr val="tx1"/>
              </a:solidFill>
              <a:latin typeface="Times New Roman" panose="02020603050405020304" pitchFamily="18" charset="0"/>
              <a:cs typeface="Times New Roman" panose="02020603050405020304" pitchFamily="18" charset="0"/>
              <a:sym typeface="+mn-ea"/>
            </a:endParaRPr>
          </a:p>
        </p:txBody>
      </p:sp>
      <p:sp>
        <p:nvSpPr>
          <p:cNvPr id="7" name="矩形 6"/>
          <p:cNvSpPr/>
          <p:nvPr/>
        </p:nvSpPr>
        <p:spPr>
          <a:xfrm>
            <a:off x="6405880" y="1641475"/>
            <a:ext cx="3866515" cy="4457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dirty="0">
                <a:latin typeface="Times New Roman" panose="02020603050405020304" pitchFamily="18" charset="0"/>
                <a:cs typeface="Times New Roman" panose="02020603050405020304" pitchFamily="18" charset="0"/>
                <a:sym typeface="+mn-ea"/>
              </a:rPr>
              <a:t>定量要求</a:t>
            </a:r>
            <a:endParaRPr lang="zh-CN" altLang="en-US" sz="2400" b="1">
              <a:solidFill>
                <a:schemeClr val="bg1"/>
              </a:solidFill>
              <a:sym typeface="+mn-ea"/>
            </a:endParaRPr>
          </a:p>
        </p:txBody>
      </p:sp>
      <p:sp>
        <p:nvSpPr>
          <p:cNvPr id="8" name="矩形 7"/>
          <p:cNvSpPr/>
          <p:nvPr/>
        </p:nvSpPr>
        <p:spPr>
          <a:xfrm>
            <a:off x="6405880" y="2087245"/>
            <a:ext cx="3866515" cy="3178175"/>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marL="0" lvl="1" indent="0" fontAlgn="auto"/>
            <a:r>
              <a:rPr lang="zh-CN" altLang="en-US" sz="2400" dirty="0">
                <a:solidFill>
                  <a:schemeClr val="tx1"/>
                </a:solidFill>
                <a:latin typeface="Times New Roman" panose="02020603050405020304" pitchFamily="18" charset="0"/>
                <a:cs typeface="Times New Roman" panose="02020603050405020304" pitchFamily="18" charset="0"/>
                <a:sym typeface="+mn-ea"/>
              </a:rPr>
              <a:t>规定软件的可靠性参数、指标和评估、</a:t>
            </a:r>
            <a:r>
              <a:rPr lang="zh-CN" altLang="en-US" sz="2400" dirty="0">
                <a:solidFill>
                  <a:schemeClr val="tx1"/>
                </a:solidFill>
                <a:latin typeface="Times New Roman" panose="02020603050405020304" pitchFamily="18" charset="0"/>
                <a:cs typeface="Times New Roman" panose="02020603050405020304" pitchFamily="18" charset="0"/>
                <a:sym typeface="+mn-ea"/>
              </a:rPr>
              <a:t>验证方法、用定量方法组织实施软件的可靠性设计、分析、测试、验证和管理</a:t>
            </a:r>
            <a:endParaRPr lang="zh-CN" altLang="en-US" sz="2400" dirty="0">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软件可靠性定性要求</a:t>
            </a:r>
            <a:r>
              <a:rPr lang="en-US" altLang="zh-CN">
                <a:solidFill>
                  <a:srgbClr val="C00000"/>
                </a:solidFill>
                <a:sym typeface="+mn-ea"/>
              </a:rPr>
              <a:t> - </a:t>
            </a:r>
            <a:r>
              <a:rPr lang="zh-CN" altLang="en-US">
                <a:solidFill>
                  <a:srgbClr val="C00000"/>
                </a:solidFill>
                <a:sym typeface="+mn-ea"/>
              </a:rPr>
              <a:t>示例</a:t>
            </a:r>
            <a:endParaRPr lang="zh-CN" altLang="en-US">
              <a:solidFill>
                <a:srgbClr val="C00000"/>
              </a:solidFill>
              <a:sym typeface="+mn-ea"/>
            </a:endParaRPr>
          </a:p>
        </p:txBody>
      </p:sp>
      <p:graphicFrame>
        <p:nvGraphicFramePr>
          <p:cNvPr id="7" name="表格 6"/>
          <p:cNvGraphicFramePr/>
          <p:nvPr>
            <p:custDataLst>
              <p:tags r:id="rId1"/>
            </p:custDataLst>
          </p:nvPr>
        </p:nvGraphicFramePr>
        <p:xfrm>
          <a:off x="1103630" y="1240790"/>
          <a:ext cx="9984740" cy="2291715"/>
        </p:xfrm>
        <a:graphic>
          <a:graphicData uri="http://schemas.openxmlformats.org/drawingml/2006/table">
            <a:tbl>
              <a:tblPr firstRow="1" bandRow="1">
                <a:tableStyleId>{5C22544A-7EE6-4342-B048-85BDC9FD1C3A}</a:tableStyleId>
              </a:tblPr>
              <a:tblGrid>
                <a:gridCol w="933450"/>
                <a:gridCol w="2047875"/>
                <a:gridCol w="7003415"/>
              </a:tblGrid>
              <a:tr h="379095">
                <a:tc>
                  <a:txBody>
                    <a:bodyPr/>
                    <a:p>
                      <a:pPr>
                        <a:buNone/>
                      </a:pPr>
                      <a:r>
                        <a:rPr lang="zh-CN" altLang="en-US" sz="2400"/>
                        <a:t>序号</a:t>
                      </a:r>
                      <a:endParaRPr lang="zh-CN" altLang="en-US" sz="2400"/>
                    </a:p>
                  </a:txBody>
                  <a:tcPr anchor="ctr" anchorCtr="1"/>
                </a:tc>
                <a:tc>
                  <a:txBody>
                    <a:bodyPr/>
                    <a:p>
                      <a:pPr>
                        <a:buNone/>
                      </a:pPr>
                      <a:r>
                        <a:rPr lang="zh-CN" altLang="en-US" sz="2400"/>
                        <a:t>定性设计方法</a:t>
                      </a:r>
                      <a:endParaRPr lang="zh-CN" altLang="en-US" sz="2400"/>
                    </a:p>
                  </a:txBody>
                  <a:tcPr anchor="ctr" anchorCtr="1"/>
                </a:tc>
                <a:tc>
                  <a:txBody>
                    <a:bodyPr/>
                    <a:p>
                      <a:pPr>
                        <a:buNone/>
                      </a:pPr>
                      <a:r>
                        <a:rPr lang="zh-CN" altLang="en-US" sz="2400"/>
                        <a:t>目的</a:t>
                      </a:r>
                      <a:endParaRPr lang="zh-CN" altLang="en-US" sz="2400"/>
                    </a:p>
                  </a:txBody>
                  <a:tcPr anchor="ctr" anchorCtr="1"/>
                </a:tc>
              </a:tr>
              <a:tr h="396240">
                <a:tc>
                  <a:txBody>
                    <a:bodyPr/>
                    <a:p>
                      <a:pPr>
                        <a:buNone/>
                      </a:pPr>
                      <a:r>
                        <a:rPr lang="en-US" altLang="zh-CN" sz="2400">
                          <a:solidFill>
                            <a:schemeClr val="bg1"/>
                          </a:solidFill>
                        </a:rPr>
                        <a:t>1</a:t>
                      </a:r>
                      <a:endParaRPr lang="en-US" altLang="zh-CN" sz="2400">
                        <a:solidFill>
                          <a:schemeClr val="bg1"/>
                        </a:solidFill>
                      </a:endParaRPr>
                    </a:p>
                  </a:txBody>
                  <a:tcPr anchor="ctr" anchorCtr="1">
                    <a:solidFill>
                      <a:srgbClr val="0070C0"/>
                    </a:solidFill>
                  </a:tcPr>
                </a:tc>
                <a:tc>
                  <a:txBody>
                    <a:bodyPr/>
                    <a:p>
                      <a:pPr algn="ctr">
                        <a:buNone/>
                      </a:pPr>
                      <a:r>
                        <a:rPr lang="zh-CN" altLang="en-US" sz="2400">
                          <a:solidFill>
                            <a:schemeClr val="bg1"/>
                          </a:solidFill>
                        </a:rPr>
                        <a:t>可靠性设计</a:t>
                      </a:r>
                      <a:endParaRPr lang="zh-CN" altLang="en-US" sz="2400">
                        <a:solidFill>
                          <a:schemeClr val="bg1"/>
                        </a:solidFill>
                      </a:endParaRPr>
                    </a:p>
                    <a:p>
                      <a:pPr algn="ctr">
                        <a:buNone/>
                      </a:pPr>
                      <a:r>
                        <a:rPr lang="zh-CN" altLang="en-US" sz="2400">
                          <a:solidFill>
                            <a:schemeClr val="bg1"/>
                          </a:solidFill>
                        </a:rPr>
                        <a:t>准则</a:t>
                      </a:r>
                      <a:endParaRPr lang="zh-CN" altLang="en-US" sz="2400">
                        <a:solidFill>
                          <a:schemeClr val="bg1"/>
                        </a:solidFill>
                      </a:endParaRPr>
                    </a:p>
                  </a:txBody>
                  <a:tcPr anchor="ctr" anchorCtr="0">
                    <a:solidFill>
                      <a:srgbClr val="0070C0"/>
                    </a:solidFill>
                  </a:tcPr>
                </a:tc>
                <a:tc>
                  <a:txBody>
                    <a:bodyPr/>
                    <a:p>
                      <a:pPr>
                        <a:buNone/>
                      </a:pPr>
                      <a:r>
                        <a:rPr lang="zh-CN" altLang="en-US" sz="2400">
                          <a:solidFill>
                            <a:schemeClr val="bg1"/>
                          </a:solidFill>
                        </a:rPr>
                        <a:t>将可靠性要求及使用约束条件转化为软件开发设计的边界条件，规定专门的技术要求和设计准则，规范和约束软件的可靠性设计过程及行为</a:t>
                      </a:r>
                      <a:endParaRPr lang="zh-CN" altLang="en-US" sz="2400">
                        <a:solidFill>
                          <a:schemeClr val="bg1"/>
                        </a:solidFill>
                      </a:endParaRPr>
                    </a:p>
                  </a:txBody>
                  <a:tcPr>
                    <a:solidFill>
                      <a:srgbClr val="0070C0"/>
                    </a:solidFill>
                  </a:tcPr>
                </a:tc>
              </a:tr>
              <a:tr h="379095">
                <a:tc>
                  <a:txBody>
                    <a:bodyPr/>
                    <a:p>
                      <a:pPr>
                        <a:buNone/>
                      </a:pPr>
                      <a:r>
                        <a:rPr lang="en-US" altLang="zh-CN" sz="2400"/>
                        <a:t>2</a:t>
                      </a:r>
                      <a:endParaRPr lang="en-US" altLang="zh-CN" sz="2400"/>
                    </a:p>
                  </a:txBody>
                  <a:tcPr anchor="ctr" anchorCtr="1"/>
                </a:tc>
                <a:tc>
                  <a:txBody>
                    <a:bodyPr/>
                    <a:p>
                      <a:pPr algn="ctr">
                        <a:buNone/>
                      </a:pPr>
                      <a:r>
                        <a:rPr lang="zh-CN" altLang="en-US" sz="2400"/>
                        <a:t>简化设计</a:t>
                      </a:r>
                      <a:endParaRPr lang="zh-CN" altLang="en-US" sz="2400"/>
                    </a:p>
                  </a:txBody>
                  <a:tcPr anchor="ctr" anchorCtr="0"/>
                </a:tc>
                <a:tc>
                  <a:txBody>
                    <a:bodyPr/>
                    <a:p>
                      <a:pPr>
                        <a:buNone/>
                      </a:pPr>
                      <a:r>
                        <a:rPr lang="zh-CN" altLang="en-US" sz="2400"/>
                        <a:t>在综合权衡的基础上，降低软件模块复杂性与结构复杂性以降低软件的总体复杂性，提高基本可靠性</a:t>
                      </a:r>
                      <a:endParaRPr lang="zh-CN" altLang="en-US" sz="2400"/>
                    </a:p>
                  </a:txBody>
                  <a:tcPr/>
                </a:tc>
              </a:tr>
              <a:tr h="379095">
                <a:tc>
                  <a:txBody>
                    <a:bodyPr/>
                    <a:p>
                      <a:pPr algn="l">
                        <a:buClrTx/>
                        <a:buSzTx/>
                        <a:buFontTx/>
                        <a:buNone/>
                      </a:pPr>
                      <a:r>
                        <a:rPr lang="zh-CN" altLang="en-US" sz="2400">
                          <a:solidFill>
                            <a:schemeClr val="bg1"/>
                          </a:solidFill>
                        </a:rPr>
                        <a:t>3</a:t>
                      </a:r>
                      <a:endParaRPr lang="zh-CN" altLang="en-US" sz="2400">
                        <a:solidFill>
                          <a:schemeClr val="bg1"/>
                        </a:solidFill>
                      </a:endParaRPr>
                    </a:p>
                  </a:txBody>
                  <a:tcPr anchor="ctr" anchorCtr="1">
                    <a:solidFill>
                      <a:srgbClr val="0070C0"/>
                    </a:solidFill>
                  </a:tcPr>
                </a:tc>
                <a:tc>
                  <a:txBody>
                    <a:bodyPr/>
                    <a:p>
                      <a:pPr algn="ctr">
                        <a:buClrTx/>
                        <a:buSzTx/>
                        <a:buFontTx/>
                        <a:buNone/>
                      </a:pPr>
                      <a:r>
                        <a:rPr lang="zh-CN" altLang="en-US" sz="2400">
                          <a:solidFill>
                            <a:schemeClr val="bg1"/>
                          </a:solidFill>
                        </a:rPr>
                        <a:t>重用设计</a:t>
                      </a:r>
                      <a:endParaRPr lang="zh-CN" altLang="en-US" sz="2400">
                        <a:solidFill>
                          <a:schemeClr val="bg1"/>
                        </a:solidFill>
                      </a:endParaRPr>
                    </a:p>
                  </a:txBody>
                  <a:tcPr anchor="ctr" anchorCtr="0">
                    <a:solidFill>
                      <a:srgbClr val="0070C0"/>
                    </a:solidFill>
                  </a:tcPr>
                </a:tc>
                <a:tc>
                  <a:txBody>
                    <a:bodyPr/>
                    <a:p>
                      <a:pPr algn="l">
                        <a:buClrTx/>
                        <a:buSzTx/>
                        <a:buFontTx/>
                        <a:buNone/>
                      </a:pPr>
                      <a:r>
                        <a:rPr lang="zh-CN" altLang="en-US" sz="2400">
                          <a:solidFill>
                            <a:schemeClr val="bg1"/>
                          </a:solidFill>
                        </a:rPr>
                        <a:t>通过软件重用，在确保软件各组成单元可靠性的前提下，提高软件系统的可靠性</a:t>
                      </a:r>
                      <a:endParaRPr lang="zh-CN" altLang="en-US" sz="2400">
                        <a:solidFill>
                          <a:schemeClr val="bg1"/>
                        </a:solidFill>
                      </a:endParaRPr>
                    </a:p>
                  </a:txBody>
                  <a:tcPr>
                    <a:solidFill>
                      <a:srgbClr val="0070C0"/>
                    </a:solidFill>
                  </a:tcPr>
                </a:tc>
              </a:tr>
              <a:tr h="379095">
                <a:tc>
                  <a:txBody>
                    <a:bodyPr/>
                    <a:p>
                      <a:pPr>
                        <a:buNone/>
                      </a:pPr>
                      <a:r>
                        <a:rPr lang="en-US" altLang="zh-CN" sz="2400"/>
                        <a:t>4</a:t>
                      </a:r>
                      <a:endParaRPr lang="en-US" altLang="zh-CN" sz="2400"/>
                    </a:p>
                  </a:txBody>
                  <a:tcPr anchor="ctr" anchorCtr="1"/>
                </a:tc>
                <a:tc>
                  <a:txBody>
                    <a:bodyPr/>
                    <a:p>
                      <a:pPr algn="ctr">
                        <a:buNone/>
                      </a:pPr>
                      <a:r>
                        <a:rPr lang="zh-CN" altLang="en-US" sz="2400"/>
                        <a:t>健壮性设计</a:t>
                      </a:r>
                      <a:endParaRPr lang="zh-CN" altLang="en-US" sz="2400"/>
                    </a:p>
                  </a:txBody>
                  <a:tcPr anchor="ctr" anchorCtr="0"/>
                </a:tc>
                <a:tc>
                  <a:txBody>
                    <a:bodyPr/>
                    <a:p>
                      <a:pPr>
                        <a:buNone/>
                      </a:pPr>
                      <a:r>
                        <a:rPr lang="zh-CN" altLang="en-US" sz="2400"/>
                        <a:t>提供软件防止错误输入的能力，以及在发生故障时能有效地控制故障地蔓延和扩散，确保软件的固有可靠性</a:t>
                      </a:r>
                      <a:endParaRPr lang="zh-CN" altLang="en-US" sz="2400"/>
                    </a:p>
                  </a:txBody>
                  <a:tcPr/>
                </a:tc>
              </a:tr>
              <a:tr h="379095">
                <a:tc>
                  <a:txBody>
                    <a:bodyPr/>
                    <a:p>
                      <a:pPr>
                        <a:buNone/>
                      </a:pPr>
                      <a:r>
                        <a:rPr lang="en-US" altLang="zh-CN" sz="2400">
                          <a:solidFill>
                            <a:schemeClr val="bg1"/>
                          </a:solidFill>
                        </a:rPr>
                        <a:t>5</a:t>
                      </a:r>
                      <a:endParaRPr lang="en-US" altLang="zh-CN" sz="2400">
                        <a:solidFill>
                          <a:schemeClr val="bg1"/>
                        </a:solidFill>
                      </a:endParaRPr>
                    </a:p>
                  </a:txBody>
                  <a:tcPr anchor="ctr" anchorCtr="1">
                    <a:solidFill>
                      <a:srgbClr val="0070C0"/>
                    </a:solidFill>
                  </a:tcPr>
                </a:tc>
                <a:tc>
                  <a:txBody>
                    <a:bodyPr/>
                    <a:p>
                      <a:pPr algn="ctr">
                        <a:buNone/>
                      </a:pPr>
                      <a:r>
                        <a:rPr lang="zh-CN" altLang="en-US" sz="2400">
                          <a:solidFill>
                            <a:schemeClr val="bg1"/>
                          </a:solidFill>
                        </a:rPr>
                        <a:t>容错设计</a:t>
                      </a:r>
                      <a:endParaRPr lang="zh-CN" altLang="en-US" sz="2400">
                        <a:solidFill>
                          <a:schemeClr val="bg1"/>
                        </a:solidFill>
                      </a:endParaRPr>
                    </a:p>
                  </a:txBody>
                  <a:tcPr anchor="ctr" anchorCtr="0">
                    <a:solidFill>
                      <a:srgbClr val="0070C0"/>
                    </a:solidFill>
                  </a:tcPr>
                </a:tc>
                <a:tc>
                  <a:txBody>
                    <a:bodyPr/>
                    <a:p>
                      <a:pPr>
                        <a:buNone/>
                      </a:pPr>
                      <a:r>
                        <a:rPr lang="zh-CN" altLang="en-US" sz="2400">
                          <a:solidFill>
                            <a:schemeClr val="bg1"/>
                          </a:solidFill>
                        </a:rPr>
                        <a:t>通过</a:t>
                      </a:r>
                      <a:r>
                        <a:rPr lang="en-US" altLang="zh-CN" sz="2400">
                          <a:solidFill>
                            <a:schemeClr val="bg1"/>
                          </a:solidFill>
                        </a:rPr>
                        <a:t>N</a:t>
                      </a:r>
                      <a:r>
                        <a:rPr lang="zh-CN" altLang="en-US" sz="2400">
                          <a:solidFill>
                            <a:schemeClr val="bg1"/>
                          </a:solidFill>
                        </a:rPr>
                        <a:t>版本程序设计和恢复块技术等实现软件容错，提高软件任务可靠性</a:t>
                      </a:r>
                      <a:endParaRPr lang="zh-CN" altLang="en-US" sz="2400">
                        <a:solidFill>
                          <a:schemeClr val="bg1"/>
                        </a:solidFill>
                      </a:endParaRPr>
                    </a:p>
                  </a:txBody>
                  <a:tcPr>
                    <a:solidFill>
                      <a:srgbClr val="0070C0"/>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软件可靠性设计的</a:t>
            </a:r>
            <a:r>
              <a:rPr lang="zh-CN" altLang="en-US">
                <a:solidFill>
                  <a:srgbClr val="C00000"/>
                </a:solidFill>
                <a:sym typeface="+mn-ea"/>
              </a:rPr>
              <a:t>实质</a:t>
            </a:r>
            <a:endParaRPr lang="zh-CN" altLang="en-US">
              <a:solidFill>
                <a:srgbClr val="C00000"/>
              </a:solidFill>
              <a:sym typeface="+mn-ea"/>
            </a:endParaRPr>
          </a:p>
        </p:txBody>
      </p:sp>
      <p:sp>
        <p:nvSpPr>
          <p:cNvPr id="3" name="内容占位符 2"/>
          <p:cNvSpPr>
            <a:spLocks noGrp="1"/>
          </p:cNvSpPr>
          <p:nvPr>
            <p:ph idx="1"/>
          </p:nvPr>
        </p:nvSpPr>
        <p:spPr>
          <a:xfrm>
            <a:off x="6482715" y="1538605"/>
            <a:ext cx="4871085" cy="4638675"/>
          </a:xfrm>
        </p:spPr>
        <p:txBody>
          <a:bodyPr>
            <a:normAutofit lnSpcReduction="10000"/>
          </a:bodyPr>
          <a:p>
            <a:r>
              <a:rPr lang="zh-CN" altLang="en-US" b="1">
                <a:solidFill>
                  <a:srgbClr val="0070C0"/>
                </a:solidFill>
              </a:rPr>
              <a:t>软件缺陷</a:t>
            </a:r>
            <a:r>
              <a:rPr lang="zh-CN" altLang="en-US"/>
              <a:t>是软件的根本属性</a:t>
            </a:r>
            <a:r>
              <a:rPr lang="zh-CN" altLang="en-US"/>
              <a:t>之一</a:t>
            </a:r>
            <a:endParaRPr lang="zh-CN" altLang="en-US"/>
          </a:p>
          <a:p>
            <a:r>
              <a:rPr lang="zh-CN" altLang="en-US" b="1">
                <a:solidFill>
                  <a:srgbClr val="0070C0"/>
                </a:solidFill>
              </a:rPr>
              <a:t>软件可靠性</a:t>
            </a:r>
            <a:r>
              <a:rPr lang="zh-CN" altLang="en-US"/>
              <a:t>是软件的生命，是软件的重要属性</a:t>
            </a:r>
            <a:r>
              <a:rPr lang="zh-CN" altLang="en-US"/>
              <a:t>之一</a:t>
            </a:r>
            <a:endParaRPr lang="zh-CN" altLang="en-US"/>
          </a:p>
          <a:p>
            <a:r>
              <a:rPr lang="zh-CN" altLang="en-US" b="1">
                <a:solidFill>
                  <a:srgbClr val="0070C0"/>
                </a:solidFill>
              </a:rPr>
              <a:t>软件失效</a:t>
            </a:r>
            <a:r>
              <a:rPr lang="zh-CN" altLang="en-US"/>
              <a:t>是影响软件可靠性的</a:t>
            </a:r>
            <a:r>
              <a:rPr lang="zh-CN" altLang="en-US"/>
              <a:t>关键</a:t>
            </a:r>
            <a:endParaRPr lang="zh-CN" altLang="en-US"/>
          </a:p>
          <a:p>
            <a:r>
              <a:rPr lang="zh-CN" altLang="en-US" b="1">
                <a:solidFill>
                  <a:srgbClr val="0070C0"/>
                </a:solidFill>
              </a:rPr>
              <a:t>软件缺陷</a:t>
            </a:r>
            <a:r>
              <a:rPr lang="zh-CN" altLang="en-US"/>
              <a:t>是导致软件失效的</a:t>
            </a:r>
            <a:r>
              <a:rPr lang="zh-CN" altLang="en-US"/>
              <a:t>根本原因</a:t>
            </a:r>
            <a:endParaRPr lang="zh-CN" altLang="en-US"/>
          </a:p>
        </p:txBody>
      </p:sp>
      <p:grpSp>
        <p:nvGrpSpPr>
          <p:cNvPr id="19" name="组合 18"/>
          <p:cNvGrpSpPr/>
          <p:nvPr/>
        </p:nvGrpSpPr>
        <p:grpSpPr>
          <a:xfrm>
            <a:off x="966470" y="1706245"/>
            <a:ext cx="5210810" cy="4003675"/>
            <a:chOff x="1522" y="2687"/>
            <a:chExt cx="8206" cy="6305"/>
          </a:xfrm>
        </p:grpSpPr>
        <p:sp>
          <p:nvSpPr>
            <p:cNvPr id="4" name="椭圆 3"/>
            <p:cNvSpPr/>
            <p:nvPr/>
          </p:nvSpPr>
          <p:spPr>
            <a:xfrm>
              <a:off x="7638" y="5097"/>
              <a:ext cx="2090" cy="1281"/>
            </a:xfrm>
            <a:prstGeom prst="ellipse">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p>
              <a:pPr algn="ctr"/>
              <a:r>
                <a:rPr lang="zh-CN" altLang="en-US" sz="2000" b="1"/>
                <a:t>可靠性</a:t>
              </a:r>
              <a:endParaRPr lang="zh-CN" altLang="en-US" sz="2000" b="1"/>
            </a:p>
          </p:txBody>
        </p:sp>
        <p:sp>
          <p:nvSpPr>
            <p:cNvPr id="5" name="椭圆 4"/>
            <p:cNvSpPr/>
            <p:nvPr>
              <p:custDataLst>
                <p:tags r:id="rId1"/>
              </p:custDataLst>
            </p:nvPr>
          </p:nvSpPr>
          <p:spPr>
            <a:xfrm>
              <a:off x="1522" y="2687"/>
              <a:ext cx="2090" cy="1281"/>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p>
              <a:pPr algn="ctr"/>
              <a:r>
                <a:rPr lang="zh-CN" altLang="en-US" sz="2000" b="1"/>
                <a:t>环境</a:t>
              </a:r>
              <a:endParaRPr lang="zh-CN" altLang="en-US" sz="2000" b="1"/>
            </a:p>
          </p:txBody>
        </p:sp>
        <p:sp>
          <p:nvSpPr>
            <p:cNvPr id="6" name="椭圆 5"/>
            <p:cNvSpPr/>
            <p:nvPr>
              <p:custDataLst>
                <p:tags r:id="rId2"/>
              </p:custDataLst>
            </p:nvPr>
          </p:nvSpPr>
          <p:spPr>
            <a:xfrm>
              <a:off x="1522" y="5097"/>
              <a:ext cx="2090" cy="1281"/>
            </a:xfrm>
            <a:prstGeom prst="ellipse">
              <a:avLst/>
            </a:prstGeom>
            <a:solidFill>
              <a:schemeClr val="accent2">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p>
              <a:pPr algn="ctr"/>
              <a:r>
                <a:rPr lang="zh-CN" altLang="en-US" sz="2000" b="1">
                  <a:solidFill>
                    <a:schemeClr val="tx1"/>
                  </a:solidFill>
                </a:rPr>
                <a:t>缺陷</a:t>
              </a:r>
              <a:endParaRPr lang="zh-CN" altLang="en-US" sz="2000" b="1">
                <a:solidFill>
                  <a:schemeClr val="tx1"/>
                </a:solidFill>
              </a:endParaRPr>
            </a:p>
          </p:txBody>
        </p:sp>
        <p:sp>
          <p:nvSpPr>
            <p:cNvPr id="7" name="椭圆 6"/>
            <p:cNvSpPr/>
            <p:nvPr>
              <p:custDataLst>
                <p:tags r:id="rId3"/>
              </p:custDataLst>
            </p:nvPr>
          </p:nvSpPr>
          <p:spPr>
            <a:xfrm>
              <a:off x="4580" y="5097"/>
              <a:ext cx="2090" cy="1281"/>
            </a:xfrm>
            <a:prstGeom prst="ellipse">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p>
              <a:pPr algn="ctr"/>
              <a:r>
                <a:rPr lang="zh-CN" altLang="en-US" sz="2000" b="1">
                  <a:solidFill>
                    <a:schemeClr val="tx1"/>
                  </a:solidFill>
                </a:rPr>
                <a:t>失效</a:t>
              </a:r>
              <a:endParaRPr lang="zh-CN" altLang="en-US" sz="2000" b="1">
                <a:solidFill>
                  <a:schemeClr val="tx1"/>
                </a:solidFill>
              </a:endParaRPr>
            </a:p>
          </p:txBody>
        </p:sp>
        <p:sp>
          <p:nvSpPr>
            <p:cNvPr id="8" name="圆角矩形 7"/>
            <p:cNvSpPr/>
            <p:nvPr/>
          </p:nvSpPr>
          <p:spPr>
            <a:xfrm>
              <a:off x="4440" y="7976"/>
              <a:ext cx="2369" cy="1017"/>
            </a:xfrm>
            <a:prstGeom prst="roundRect">
              <a:avLst/>
            </a:prstGeom>
            <a:solidFill>
              <a:schemeClr val="accent5">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t>软件产品</a:t>
              </a:r>
              <a:endParaRPr lang="zh-CN" altLang="en-US" sz="2000" b="1"/>
            </a:p>
          </p:txBody>
        </p:sp>
        <p:cxnSp>
          <p:nvCxnSpPr>
            <p:cNvPr id="9" name="直接箭头连接符 8"/>
            <p:cNvCxnSpPr>
              <a:stCxn id="5" idx="4"/>
              <a:endCxn id="6" idx="0"/>
            </p:cNvCxnSpPr>
            <p:nvPr/>
          </p:nvCxnSpPr>
          <p:spPr>
            <a:xfrm>
              <a:off x="2567" y="3968"/>
              <a:ext cx="0" cy="1129"/>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a:stCxn id="7" idx="6"/>
              <a:endCxn id="4" idx="2"/>
            </p:cNvCxnSpPr>
            <p:nvPr/>
          </p:nvCxnSpPr>
          <p:spPr>
            <a:xfrm>
              <a:off x="6670" y="5738"/>
              <a:ext cx="968"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a:stCxn id="6" idx="6"/>
              <a:endCxn id="7" idx="2"/>
            </p:cNvCxnSpPr>
            <p:nvPr/>
          </p:nvCxnSpPr>
          <p:spPr>
            <a:xfrm>
              <a:off x="3612" y="5738"/>
              <a:ext cx="968"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2" name="肘形连接符 11"/>
            <p:cNvCxnSpPr>
              <a:stCxn id="6" idx="4"/>
              <a:endCxn id="8" idx="1"/>
            </p:cNvCxnSpPr>
            <p:nvPr/>
          </p:nvCxnSpPr>
          <p:spPr>
            <a:xfrm rot="5400000" flipV="1">
              <a:off x="2450" y="6494"/>
              <a:ext cx="2107" cy="1873"/>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3" name="肘形连接符 12"/>
            <p:cNvCxnSpPr>
              <a:stCxn id="4" idx="4"/>
              <a:endCxn id="8" idx="3"/>
            </p:cNvCxnSpPr>
            <p:nvPr/>
          </p:nvCxnSpPr>
          <p:spPr>
            <a:xfrm rot="5400000">
              <a:off x="6693" y="6494"/>
              <a:ext cx="2107" cy="1874"/>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14" name="文本框 13"/>
            <p:cNvSpPr txBox="1"/>
            <p:nvPr/>
          </p:nvSpPr>
          <p:spPr>
            <a:xfrm>
              <a:off x="2567" y="4219"/>
              <a:ext cx="1143" cy="628"/>
            </a:xfrm>
            <a:prstGeom prst="rect">
              <a:avLst/>
            </a:prstGeom>
            <a:noFill/>
          </p:spPr>
          <p:txBody>
            <a:bodyPr wrap="square" rtlCol="0" anchor="t">
              <a:spAutoFit/>
            </a:bodyPr>
            <a:p>
              <a:r>
                <a:rPr lang="zh-CN" altLang="en-US" sz="2000" b="1">
                  <a:sym typeface="+mn-ea"/>
                </a:rPr>
                <a:t>作用</a:t>
              </a:r>
              <a:endParaRPr lang="zh-CN" altLang="en-US" sz="2000" b="1">
                <a:sym typeface="+mn-ea"/>
              </a:endParaRPr>
            </a:p>
          </p:txBody>
        </p:sp>
        <p:sp>
          <p:nvSpPr>
            <p:cNvPr id="15" name="文本框 14"/>
            <p:cNvSpPr txBox="1"/>
            <p:nvPr>
              <p:custDataLst>
                <p:tags r:id="rId4"/>
              </p:custDataLst>
            </p:nvPr>
          </p:nvSpPr>
          <p:spPr>
            <a:xfrm>
              <a:off x="3508" y="5098"/>
              <a:ext cx="1143" cy="628"/>
            </a:xfrm>
            <a:prstGeom prst="rect">
              <a:avLst/>
            </a:prstGeom>
            <a:noFill/>
          </p:spPr>
          <p:txBody>
            <a:bodyPr wrap="square" rtlCol="0" anchor="t">
              <a:spAutoFit/>
            </a:bodyPr>
            <a:p>
              <a:r>
                <a:rPr lang="zh-CN" altLang="en-US" sz="2000" b="1">
                  <a:sym typeface="+mn-ea"/>
                </a:rPr>
                <a:t>激发</a:t>
              </a:r>
              <a:endParaRPr lang="zh-CN" altLang="en-US" sz="2000" b="1">
                <a:sym typeface="+mn-ea"/>
              </a:endParaRPr>
            </a:p>
          </p:txBody>
        </p:sp>
        <p:sp>
          <p:nvSpPr>
            <p:cNvPr id="16" name="文本框 15"/>
            <p:cNvSpPr txBox="1"/>
            <p:nvPr>
              <p:custDataLst>
                <p:tags r:id="rId5"/>
              </p:custDataLst>
            </p:nvPr>
          </p:nvSpPr>
          <p:spPr>
            <a:xfrm>
              <a:off x="6592" y="5097"/>
              <a:ext cx="1143" cy="628"/>
            </a:xfrm>
            <a:prstGeom prst="rect">
              <a:avLst/>
            </a:prstGeom>
            <a:noFill/>
          </p:spPr>
          <p:txBody>
            <a:bodyPr wrap="square" rtlCol="0" anchor="t">
              <a:spAutoFit/>
            </a:bodyPr>
            <a:p>
              <a:r>
                <a:rPr lang="zh-CN" altLang="en-US" sz="2000" b="1">
                  <a:sym typeface="+mn-ea"/>
                </a:rPr>
                <a:t>影响</a:t>
              </a:r>
              <a:endParaRPr lang="zh-CN" altLang="en-US" sz="2000" b="1">
                <a:sym typeface="+mn-ea"/>
              </a:endParaRPr>
            </a:p>
          </p:txBody>
        </p:sp>
        <p:sp>
          <p:nvSpPr>
            <p:cNvPr id="17" name="文本框 16"/>
            <p:cNvSpPr txBox="1"/>
            <p:nvPr>
              <p:custDataLst>
                <p:tags r:id="rId6"/>
              </p:custDataLst>
            </p:nvPr>
          </p:nvSpPr>
          <p:spPr>
            <a:xfrm>
              <a:off x="7638" y="7206"/>
              <a:ext cx="1143" cy="628"/>
            </a:xfrm>
            <a:prstGeom prst="rect">
              <a:avLst/>
            </a:prstGeom>
            <a:noFill/>
          </p:spPr>
          <p:txBody>
            <a:bodyPr wrap="square" rtlCol="0" anchor="t">
              <a:spAutoFit/>
            </a:bodyPr>
            <a:p>
              <a:r>
                <a:rPr lang="zh-CN" altLang="en-US" sz="2000" b="1">
                  <a:sym typeface="+mn-ea"/>
                </a:rPr>
                <a:t>属性</a:t>
              </a:r>
              <a:endParaRPr lang="zh-CN" altLang="en-US" sz="2000" b="1">
                <a:sym typeface="+mn-ea"/>
              </a:endParaRPr>
            </a:p>
          </p:txBody>
        </p:sp>
        <p:sp>
          <p:nvSpPr>
            <p:cNvPr id="18" name="文本框 17"/>
            <p:cNvSpPr txBox="1"/>
            <p:nvPr>
              <p:custDataLst>
                <p:tags r:id="rId7"/>
              </p:custDataLst>
            </p:nvPr>
          </p:nvSpPr>
          <p:spPr>
            <a:xfrm>
              <a:off x="2655" y="7206"/>
              <a:ext cx="1143" cy="628"/>
            </a:xfrm>
            <a:prstGeom prst="rect">
              <a:avLst/>
            </a:prstGeom>
            <a:noFill/>
          </p:spPr>
          <p:txBody>
            <a:bodyPr wrap="square" rtlCol="0" anchor="t">
              <a:spAutoFit/>
            </a:bodyPr>
            <a:p>
              <a:r>
                <a:rPr lang="zh-CN" altLang="en-US" sz="2000" b="1">
                  <a:sym typeface="+mn-ea"/>
                </a:rPr>
                <a:t>属性</a:t>
              </a:r>
              <a:endParaRPr lang="zh-CN" altLang="en-US" sz="2000" b="1">
                <a:sym typeface="+mn-ea"/>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软件可靠性设计的</a:t>
            </a:r>
            <a:r>
              <a:rPr lang="zh-CN" altLang="en-US">
                <a:solidFill>
                  <a:srgbClr val="C00000"/>
                </a:solidFill>
                <a:sym typeface="+mn-ea"/>
              </a:rPr>
              <a:t>实质</a:t>
            </a:r>
            <a:endParaRPr lang="zh-CN" altLang="en-US">
              <a:solidFill>
                <a:srgbClr val="C00000"/>
              </a:solidFill>
              <a:sym typeface="+mn-ea"/>
            </a:endParaRPr>
          </a:p>
        </p:txBody>
      </p:sp>
      <p:sp>
        <p:nvSpPr>
          <p:cNvPr id="3" name="内容占位符 2"/>
          <p:cNvSpPr>
            <a:spLocks noGrp="1"/>
          </p:cNvSpPr>
          <p:nvPr>
            <p:ph idx="1"/>
          </p:nvPr>
        </p:nvSpPr>
        <p:spPr>
          <a:xfrm>
            <a:off x="6482715" y="1538605"/>
            <a:ext cx="4871085" cy="4638675"/>
          </a:xfrm>
        </p:spPr>
        <p:txBody>
          <a:bodyPr>
            <a:normAutofit/>
          </a:bodyPr>
          <a:p>
            <a:r>
              <a:rPr lang="zh-CN" altLang="en-US" b="1">
                <a:solidFill>
                  <a:srgbClr val="0070C0"/>
                </a:solidFill>
              </a:rPr>
              <a:t>软件可靠性设计的目的</a:t>
            </a:r>
            <a:r>
              <a:rPr lang="zh-CN" altLang="en-US"/>
              <a:t>：将可靠性设计到软件产品</a:t>
            </a:r>
            <a:r>
              <a:rPr lang="zh-CN" altLang="en-US"/>
              <a:t>当中</a:t>
            </a:r>
            <a:endParaRPr lang="zh-CN" altLang="en-US"/>
          </a:p>
          <a:p>
            <a:r>
              <a:rPr lang="zh-CN" altLang="en-US" b="1">
                <a:solidFill>
                  <a:srgbClr val="0070C0"/>
                </a:solidFill>
              </a:rPr>
              <a:t>软件可靠性设计的实质</a:t>
            </a:r>
            <a:r>
              <a:rPr lang="zh-CN" altLang="en-US"/>
              <a:t>：在软件设计的全过程中与软件缺陷作斗争的</a:t>
            </a:r>
            <a:r>
              <a:rPr lang="zh-CN" altLang="en-US"/>
              <a:t>过程</a:t>
            </a:r>
            <a:endParaRPr lang="zh-CN" altLang="en-US"/>
          </a:p>
          <a:p>
            <a:pPr lvl="1"/>
            <a:r>
              <a:rPr lang="zh-CN" altLang="en-US"/>
              <a:t>尽量减少</a:t>
            </a:r>
            <a:r>
              <a:rPr lang="zh-CN" altLang="en-US"/>
              <a:t>缺陷</a:t>
            </a:r>
            <a:endParaRPr lang="zh-CN" altLang="en-US"/>
          </a:p>
          <a:p>
            <a:pPr lvl="1"/>
            <a:r>
              <a:rPr lang="zh-CN" altLang="en-US"/>
              <a:t>避免缺陷</a:t>
            </a:r>
            <a:r>
              <a:rPr lang="zh-CN" altLang="en-US"/>
              <a:t>暴露</a:t>
            </a:r>
            <a:endParaRPr lang="zh-CN" altLang="en-US"/>
          </a:p>
        </p:txBody>
      </p:sp>
      <p:grpSp>
        <p:nvGrpSpPr>
          <p:cNvPr id="19" name="组合 18"/>
          <p:cNvGrpSpPr/>
          <p:nvPr/>
        </p:nvGrpSpPr>
        <p:grpSpPr>
          <a:xfrm>
            <a:off x="966470" y="1706245"/>
            <a:ext cx="5210810" cy="4003675"/>
            <a:chOff x="1522" y="2687"/>
            <a:chExt cx="8206" cy="6305"/>
          </a:xfrm>
        </p:grpSpPr>
        <p:sp>
          <p:nvSpPr>
            <p:cNvPr id="4" name="椭圆 3"/>
            <p:cNvSpPr/>
            <p:nvPr/>
          </p:nvSpPr>
          <p:spPr>
            <a:xfrm>
              <a:off x="7638" y="5097"/>
              <a:ext cx="2090" cy="1281"/>
            </a:xfrm>
            <a:prstGeom prst="ellipse">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p>
              <a:pPr algn="ctr"/>
              <a:r>
                <a:rPr lang="zh-CN" altLang="en-US" sz="2000" b="1"/>
                <a:t>可靠性</a:t>
              </a:r>
              <a:endParaRPr lang="zh-CN" altLang="en-US" sz="2000" b="1"/>
            </a:p>
          </p:txBody>
        </p:sp>
        <p:sp>
          <p:nvSpPr>
            <p:cNvPr id="5" name="椭圆 4"/>
            <p:cNvSpPr/>
            <p:nvPr>
              <p:custDataLst>
                <p:tags r:id="rId1"/>
              </p:custDataLst>
            </p:nvPr>
          </p:nvSpPr>
          <p:spPr>
            <a:xfrm>
              <a:off x="1522" y="2687"/>
              <a:ext cx="2090" cy="1281"/>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p>
              <a:pPr algn="ctr"/>
              <a:r>
                <a:rPr lang="zh-CN" altLang="en-US" sz="2000" b="1"/>
                <a:t>环境</a:t>
              </a:r>
              <a:endParaRPr lang="zh-CN" altLang="en-US" sz="2000" b="1"/>
            </a:p>
          </p:txBody>
        </p:sp>
        <p:sp>
          <p:nvSpPr>
            <p:cNvPr id="6" name="椭圆 5"/>
            <p:cNvSpPr/>
            <p:nvPr>
              <p:custDataLst>
                <p:tags r:id="rId2"/>
              </p:custDataLst>
            </p:nvPr>
          </p:nvSpPr>
          <p:spPr>
            <a:xfrm>
              <a:off x="1522" y="5097"/>
              <a:ext cx="2090" cy="1281"/>
            </a:xfrm>
            <a:prstGeom prst="ellipse">
              <a:avLst/>
            </a:prstGeom>
            <a:solidFill>
              <a:schemeClr val="accent2">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p>
              <a:pPr algn="ctr"/>
              <a:r>
                <a:rPr lang="zh-CN" altLang="en-US" sz="2000" b="1">
                  <a:solidFill>
                    <a:schemeClr val="tx1"/>
                  </a:solidFill>
                </a:rPr>
                <a:t>缺陷</a:t>
              </a:r>
              <a:endParaRPr lang="zh-CN" altLang="en-US" sz="2000" b="1">
                <a:solidFill>
                  <a:schemeClr val="tx1"/>
                </a:solidFill>
              </a:endParaRPr>
            </a:p>
          </p:txBody>
        </p:sp>
        <p:sp>
          <p:nvSpPr>
            <p:cNvPr id="7" name="椭圆 6"/>
            <p:cNvSpPr/>
            <p:nvPr>
              <p:custDataLst>
                <p:tags r:id="rId3"/>
              </p:custDataLst>
            </p:nvPr>
          </p:nvSpPr>
          <p:spPr>
            <a:xfrm>
              <a:off x="4580" y="5097"/>
              <a:ext cx="2090" cy="1281"/>
            </a:xfrm>
            <a:prstGeom prst="ellipse">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p>
              <a:pPr algn="ctr"/>
              <a:r>
                <a:rPr lang="zh-CN" altLang="en-US" sz="2000" b="1">
                  <a:solidFill>
                    <a:schemeClr val="tx1"/>
                  </a:solidFill>
                </a:rPr>
                <a:t>失效</a:t>
              </a:r>
              <a:endParaRPr lang="zh-CN" altLang="en-US" sz="2000" b="1">
                <a:solidFill>
                  <a:schemeClr val="tx1"/>
                </a:solidFill>
              </a:endParaRPr>
            </a:p>
          </p:txBody>
        </p:sp>
        <p:sp>
          <p:nvSpPr>
            <p:cNvPr id="8" name="圆角矩形 7"/>
            <p:cNvSpPr/>
            <p:nvPr/>
          </p:nvSpPr>
          <p:spPr>
            <a:xfrm>
              <a:off x="4440" y="7976"/>
              <a:ext cx="2369" cy="1017"/>
            </a:xfrm>
            <a:prstGeom prst="roundRect">
              <a:avLst/>
            </a:prstGeom>
            <a:solidFill>
              <a:schemeClr val="accent5">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t>软件产品</a:t>
              </a:r>
              <a:endParaRPr lang="zh-CN" altLang="en-US" sz="2000" b="1"/>
            </a:p>
          </p:txBody>
        </p:sp>
        <p:cxnSp>
          <p:nvCxnSpPr>
            <p:cNvPr id="9" name="直接箭头连接符 8"/>
            <p:cNvCxnSpPr>
              <a:stCxn id="5" idx="4"/>
              <a:endCxn id="6" idx="0"/>
            </p:cNvCxnSpPr>
            <p:nvPr/>
          </p:nvCxnSpPr>
          <p:spPr>
            <a:xfrm>
              <a:off x="2567" y="3968"/>
              <a:ext cx="0" cy="1129"/>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a:stCxn id="7" idx="6"/>
              <a:endCxn id="4" idx="2"/>
            </p:cNvCxnSpPr>
            <p:nvPr/>
          </p:nvCxnSpPr>
          <p:spPr>
            <a:xfrm>
              <a:off x="6670" y="5738"/>
              <a:ext cx="968"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a:stCxn id="6" idx="6"/>
              <a:endCxn id="7" idx="2"/>
            </p:cNvCxnSpPr>
            <p:nvPr/>
          </p:nvCxnSpPr>
          <p:spPr>
            <a:xfrm>
              <a:off x="3612" y="5738"/>
              <a:ext cx="968"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2" name="肘形连接符 11"/>
            <p:cNvCxnSpPr>
              <a:stCxn id="6" idx="4"/>
              <a:endCxn id="8" idx="1"/>
            </p:cNvCxnSpPr>
            <p:nvPr/>
          </p:nvCxnSpPr>
          <p:spPr>
            <a:xfrm rot="5400000" flipV="1">
              <a:off x="2450" y="6494"/>
              <a:ext cx="2107" cy="1873"/>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3" name="肘形连接符 12"/>
            <p:cNvCxnSpPr>
              <a:stCxn id="4" idx="4"/>
              <a:endCxn id="8" idx="3"/>
            </p:cNvCxnSpPr>
            <p:nvPr/>
          </p:nvCxnSpPr>
          <p:spPr>
            <a:xfrm rot="5400000">
              <a:off x="6693" y="6494"/>
              <a:ext cx="2107" cy="1874"/>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14" name="文本框 13"/>
            <p:cNvSpPr txBox="1"/>
            <p:nvPr/>
          </p:nvSpPr>
          <p:spPr>
            <a:xfrm>
              <a:off x="2567" y="4219"/>
              <a:ext cx="1143" cy="628"/>
            </a:xfrm>
            <a:prstGeom prst="rect">
              <a:avLst/>
            </a:prstGeom>
            <a:noFill/>
          </p:spPr>
          <p:txBody>
            <a:bodyPr wrap="square" rtlCol="0" anchor="t">
              <a:spAutoFit/>
            </a:bodyPr>
            <a:p>
              <a:r>
                <a:rPr lang="zh-CN" altLang="en-US" sz="2000" b="1">
                  <a:sym typeface="+mn-ea"/>
                </a:rPr>
                <a:t>作用</a:t>
              </a:r>
              <a:endParaRPr lang="zh-CN" altLang="en-US" sz="2000" b="1">
                <a:sym typeface="+mn-ea"/>
              </a:endParaRPr>
            </a:p>
          </p:txBody>
        </p:sp>
        <p:sp>
          <p:nvSpPr>
            <p:cNvPr id="15" name="文本框 14"/>
            <p:cNvSpPr txBox="1"/>
            <p:nvPr>
              <p:custDataLst>
                <p:tags r:id="rId4"/>
              </p:custDataLst>
            </p:nvPr>
          </p:nvSpPr>
          <p:spPr>
            <a:xfrm>
              <a:off x="3508" y="5098"/>
              <a:ext cx="1143" cy="628"/>
            </a:xfrm>
            <a:prstGeom prst="rect">
              <a:avLst/>
            </a:prstGeom>
            <a:noFill/>
          </p:spPr>
          <p:txBody>
            <a:bodyPr wrap="square" rtlCol="0" anchor="t">
              <a:spAutoFit/>
            </a:bodyPr>
            <a:p>
              <a:r>
                <a:rPr lang="zh-CN" altLang="en-US" sz="2000" b="1">
                  <a:sym typeface="+mn-ea"/>
                </a:rPr>
                <a:t>激发</a:t>
              </a:r>
              <a:endParaRPr lang="zh-CN" altLang="en-US" sz="2000" b="1">
                <a:sym typeface="+mn-ea"/>
              </a:endParaRPr>
            </a:p>
          </p:txBody>
        </p:sp>
        <p:sp>
          <p:nvSpPr>
            <p:cNvPr id="16" name="文本框 15"/>
            <p:cNvSpPr txBox="1"/>
            <p:nvPr>
              <p:custDataLst>
                <p:tags r:id="rId5"/>
              </p:custDataLst>
            </p:nvPr>
          </p:nvSpPr>
          <p:spPr>
            <a:xfrm>
              <a:off x="6592" y="5097"/>
              <a:ext cx="1143" cy="628"/>
            </a:xfrm>
            <a:prstGeom prst="rect">
              <a:avLst/>
            </a:prstGeom>
            <a:noFill/>
          </p:spPr>
          <p:txBody>
            <a:bodyPr wrap="square" rtlCol="0" anchor="t">
              <a:spAutoFit/>
            </a:bodyPr>
            <a:p>
              <a:r>
                <a:rPr lang="zh-CN" altLang="en-US" sz="2000" b="1">
                  <a:sym typeface="+mn-ea"/>
                </a:rPr>
                <a:t>影响</a:t>
              </a:r>
              <a:endParaRPr lang="zh-CN" altLang="en-US" sz="2000" b="1">
                <a:sym typeface="+mn-ea"/>
              </a:endParaRPr>
            </a:p>
          </p:txBody>
        </p:sp>
        <p:sp>
          <p:nvSpPr>
            <p:cNvPr id="17" name="文本框 16"/>
            <p:cNvSpPr txBox="1"/>
            <p:nvPr>
              <p:custDataLst>
                <p:tags r:id="rId6"/>
              </p:custDataLst>
            </p:nvPr>
          </p:nvSpPr>
          <p:spPr>
            <a:xfrm>
              <a:off x="7638" y="7206"/>
              <a:ext cx="1143" cy="628"/>
            </a:xfrm>
            <a:prstGeom prst="rect">
              <a:avLst/>
            </a:prstGeom>
            <a:noFill/>
          </p:spPr>
          <p:txBody>
            <a:bodyPr wrap="square" rtlCol="0" anchor="t">
              <a:spAutoFit/>
            </a:bodyPr>
            <a:p>
              <a:r>
                <a:rPr lang="zh-CN" altLang="en-US" sz="2000" b="1">
                  <a:sym typeface="+mn-ea"/>
                </a:rPr>
                <a:t>属性</a:t>
              </a:r>
              <a:endParaRPr lang="zh-CN" altLang="en-US" sz="2000" b="1">
                <a:sym typeface="+mn-ea"/>
              </a:endParaRPr>
            </a:p>
          </p:txBody>
        </p:sp>
        <p:sp>
          <p:nvSpPr>
            <p:cNvPr id="18" name="文本框 17"/>
            <p:cNvSpPr txBox="1"/>
            <p:nvPr>
              <p:custDataLst>
                <p:tags r:id="rId7"/>
              </p:custDataLst>
            </p:nvPr>
          </p:nvSpPr>
          <p:spPr>
            <a:xfrm>
              <a:off x="2655" y="7206"/>
              <a:ext cx="1143" cy="628"/>
            </a:xfrm>
            <a:prstGeom prst="rect">
              <a:avLst/>
            </a:prstGeom>
            <a:noFill/>
          </p:spPr>
          <p:txBody>
            <a:bodyPr wrap="square" rtlCol="0" anchor="t">
              <a:spAutoFit/>
            </a:bodyPr>
            <a:p>
              <a:r>
                <a:rPr lang="zh-CN" altLang="en-US" sz="2000" b="1">
                  <a:sym typeface="+mn-ea"/>
                </a:rPr>
                <a:t>属性</a:t>
              </a:r>
              <a:endParaRPr lang="zh-CN" altLang="en-US" sz="2000" b="1">
                <a:sym typeface="+mn-ea"/>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软件可靠性设计的</a:t>
            </a:r>
            <a:r>
              <a:rPr lang="zh-CN" altLang="en-US">
                <a:solidFill>
                  <a:srgbClr val="C00000"/>
                </a:solidFill>
                <a:sym typeface="+mn-ea"/>
              </a:rPr>
              <a:t>方法</a:t>
            </a:r>
            <a:endParaRPr lang="zh-CN" altLang="en-US">
              <a:solidFill>
                <a:srgbClr val="C00000"/>
              </a:solidFill>
              <a:sym typeface="+mn-ea"/>
            </a:endParaRPr>
          </a:p>
        </p:txBody>
      </p:sp>
      <p:sp>
        <p:nvSpPr>
          <p:cNvPr id="3" name="内容占位符 2"/>
          <p:cNvSpPr>
            <a:spLocks noGrp="1"/>
          </p:cNvSpPr>
          <p:nvPr>
            <p:ph idx="1"/>
          </p:nvPr>
        </p:nvSpPr>
        <p:spPr>
          <a:xfrm>
            <a:off x="838200" y="1543050"/>
            <a:ext cx="10713085" cy="4634230"/>
          </a:xfrm>
        </p:spPr>
        <p:txBody>
          <a:bodyPr/>
          <a:p>
            <a:r>
              <a:rPr lang="zh-CN" altLang="en-US" b="1" dirty="0">
                <a:latin typeface="Times New Roman" panose="02020603050405020304" pitchFamily="18" charset="0"/>
                <a:cs typeface="Times New Roman" panose="02020603050405020304" pitchFamily="18" charset="0"/>
                <a:sym typeface="+mn-ea"/>
              </a:rPr>
              <a:t>软件避错设计：尽量减少</a:t>
            </a:r>
            <a:r>
              <a:rPr lang="zh-CN" altLang="en-US" b="1" dirty="0">
                <a:latin typeface="Times New Roman" panose="02020603050405020304" pitchFamily="18" charset="0"/>
                <a:cs typeface="Times New Roman" panose="02020603050405020304" pitchFamily="18" charset="0"/>
                <a:sym typeface="+mn-ea"/>
              </a:rPr>
              <a:t>缺陷</a:t>
            </a:r>
            <a:endParaRPr lang="zh-CN" altLang="en-US" b="1" dirty="0">
              <a:latin typeface="Times New Roman" panose="02020603050405020304" pitchFamily="18" charset="0"/>
              <a:cs typeface="Times New Roman" panose="02020603050405020304" pitchFamily="18" charset="0"/>
              <a:sym typeface="+mn-ea"/>
            </a:endParaRPr>
          </a:p>
          <a:p>
            <a:pPr lvl="1"/>
            <a:r>
              <a:rPr lang="zh-CN" altLang="en-US" dirty="0">
                <a:latin typeface="Times New Roman" panose="02020603050405020304" pitchFamily="18" charset="0"/>
                <a:cs typeface="Times New Roman" panose="02020603050405020304" pitchFamily="18" charset="0"/>
                <a:sym typeface="+mn-ea"/>
              </a:rPr>
              <a:t>避错设计是使软件产品在设计过程中，不发生错误或减少错误的一种设计方法。总的设计原则是控制和减少程序的</a:t>
            </a:r>
            <a:r>
              <a:rPr lang="zh-CN" altLang="en-US" dirty="0">
                <a:latin typeface="Times New Roman" panose="02020603050405020304" pitchFamily="18" charset="0"/>
                <a:cs typeface="Times New Roman" panose="02020603050405020304" pitchFamily="18" charset="0"/>
                <a:sym typeface="+mn-ea"/>
              </a:rPr>
              <a:t>复杂性。</a:t>
            </a:r>
            <a:endParaRPr lang="zh-CN" altLang="en-US" dirty="0">
              <a:latin typeface="Times New Roman" panose="02020603050405020304" pitchFamily="18" charset="0"/>
              <a:cs typeface="Times New Roman" panose="02020603050405020304" pitchFamily="18" charset="0"/>
              <a:sym typeface="+mn-ea"/>
            </a:endParaRPr>
          </a:p>
          <a:p>
            <a:pPr lvl="1"/>
            <a:r>
              <a:rPr lang="zh-CN" altLang="en-US" dirty="0">
                <a:latin typeface="Times New Roman" panose="02020603050405020304" pitchFamily="18" charset="0"/>
                <a:cs typeface="Times New Roman" panose="02020603050405020304" pitchFamily="18" charset="0"/>
                <a:sym typeface="+mn-ea"/>
              </a:rPr>
              <a:t>软件避错设计体现了以</a:t>
            </a:r>
            <a:r>
              <a:rPr lang="zh-CN" altLang="en-US" b="1" dirty="0">
                <a:solidFill>
                  <a:srgbClr val="FF0000"/>
                </a:solidFill>
                <a:latin typeface="Times New Roman" panose="02020603050405020304" pitchFamily="18" charset="0"/>
                <a:cs typeface="Times New Roman" panose="02020603050405020304" pitchFamily="18" charset="0"/>
                <a:sym typeface="+mn-ea"/>
              </a:rPr>
              <a:t>预防为主</a:t>
            </a:r>
            <a:r>
              <a:rPr lang="zh-CN" altLang="en-US" dirty="0">
                <a:latin typeface="Times New Roman" panose="02020603050405020304" pitchFamily="18" charset="0"/>
                <a:cs typeface="Times New Roman" panose="02020603050405020304" pitchFamily="18" charset="0"/>
                <a:sym typeface="+mn-ea"/>
              </a:rPr>
              <a:t>的</a:t>
            </a:r>
            <a:r>
              <a:rPr lang="zh-CN" altLang="en-US" dirty="0">
                <a:latin typeface="Times New Roman" panose="02020603050405020304" pitchFamily="18" charset="0"/>
                <a:cs typeface="Times New Roman" panose="02020603050405020304" pitchFamily="18" charset="0"/>
                <a:sym typeface="+mn-ea"/>
              </a:rPr>
              <a:t>思想</a:t>
            </a:r>
            <a:endParaRPr lang="zh-CN" altLang="en-US" dirty="0">
              <a:latin typeface="Times New Roman" panose="02020603050405020304" pitchFamily="18" charset="0"/>
              <a:cs typeface="Times New Roman" panose="02020603050405020304" pitchFamily="18" charset="0"/>
              <a:sym typeface="+mn-ea"/>
            </a:endParaRPr>
          </a:p>
          <a:p>
            <a:r>
              <a:rPr lang="zh-CN" altLang="en-US" b="1" dirty="0">
                <a:latin typeface="Times New Roman" panose="02020603050405020304" pitchFamily="18" charset="0"/>
                <a:cs typeface="Times New Roman" panose="02020603050405020304" pitchFamily="18" charset="0"/>
                <a:sym typeface="+mn-ea"/>
              </a:rPr>
              <a:t>软件容错设计：避免缺陷</a:t>
            </a:r>
            <a:r>
              <a:rPr lang="zh-CN" altLang="en-US" b="1" dirty="0">
                <a:latin typeface="Times New Roman" panose="02020603050405020304" pitchFamily="18" charset="0"/>
                <a:cs typeface="Times New Roman" panose="02020603050405020304" pitchFamily="18" charset="0"/>
                <a:sym typeface="+mn-ea"/>
              </a:rPr>
              <a:t>暴露</a:t>
            </a:r>
            <a:endParaRPr lang="zh-CN" altLang="en-US" b="1" dirty="0">
              <a:latin typeface="Times New Roman" panose="02020603050405020304" pitchFamily="18" charset="0"/>
              <a:cs typeface="Times New Roman" panose="02020603050405020304" pitchFamily="18" charset="0"/>
              <a:sym typeface="+mn-ea"/>
            </a:endParaRPr>
          </a:p>
          <a:p>
            <a:pPr lvl="1"/>
            <a:r>
              <a:rPr lang="zh-CN" altLang="en-US" dirty="0">
                <a:latin typeface="Times New Roman" panose="02020603050405020304" pitchFamily="18" charset="0"/>
                <a:cs typeface="Times New Roman" panose="02020603050405020304" pitchFamily="18" charset="0"/>
                <a:sym typeface="+mn-ea"/>
              </a:rPr>
              <a:t>容错设计是指在设计中赋予程序某种特殊的功能，使程序在缺陷的情况下，系统仍然具有正常运行能力的一种</a:t>
            </a:r>
            <a:r>
              <a:rPr lang="zh-CN" altLang="en-US" dirty="0">
                <a:latin typeface="Times New Roman" panose="02020603050405020304" pitchFamily="18" charset="0"/>
                <a:cs typeface="Times New Roman" panose="02020603050405020304" pitchFamily="18" charset="0"/>
                <a:sym typeface="+mn-ea"/>
              </a:rPr>
              <a:t>设计方法。</a:t>
            </a:r>
            <a:endParaRPr lang="zh-CN" altLang="en-US"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软件可靠性设计</a:t>
            </a:r>
            <a:r>
              <a:rPr lang="zh-CN" altLang="en-US">
                <a:solidFill>
                  <a:srgbClr val="C00000"/>
                </a:solidFill>
                <a:sym typeface="+mn-ea"/>
              </a:rPr>
              <a:t>准则</a:t>
            </a:r>
            <a:endParaRPr lang="zh-CN" altLang="en-US">
              <a:solidFill>
                <a:srgbClr val="C00000"/>
              </a:solidFill>
              <a:sym typeface="+mn-ea"/>
            </a:endParaRPr>
          </a:p>
        </p:txBody>
      </p:sp>
      <p:sp>
        <p:nvSpPr>
          <p:cNvPr id="3" name="内容占位符 2"/>
          <p:cNvSpPr>
            <a:spLocks noGrp="1"/>
          </p:cNvSpPr>
          <p:nvPr>
            <p:ph idx="1"/>
          </p:nvPr>
        </p:nvSpPr>
        <p:spPr>
          <a:xfrm>
            <a:off x="838200" y="1543050"/>
            <a:ext cx="10713085" cy="4634230"/>
          </a:xfrm>
        </p:spPr>
        <p:txBody>
          <a:bodyPr/>
          <a:p>
            <a:r>
              <a:rPr lang="zh-CN" altLang="en-US" b="1" dirty="0">
                <a:latin typeface="Times New Roman" panose="02020603050405020304" pitchFamily="18" charset="0"/>
                <a:cs typeface="Times New Roman" panose="02020603050405020304" pitchFamily="18" charset="0"/>
                <a:sym typeface="+mn-ea"/>
              </a:rPr>
              <a:t>软件可靠性设计</a:t>
            </a:r>
            <a:r>
              <a:rPr lang="zh-CN" altLang="en-US" b="1" dirty="0">
                <a:latin typeface="Times New Roman" panose="02020603050405020304" pitchFamily="18" charset="0"/>
                <a:cs typeface="Times New Roman" panose="02020603050405020304" pitchFamily="18" charset="0"/>
                <a:sym typeface="+mn-ea"/>
              </a:rPr>
              <a:t>准则</a:t>
            </a:r>
            <a:endParaRPr lang="zh-CN" altLang="en-US" b="1" dirty="0">
              <a:latin typeface="Times New Roman" panose="02020603050405020304" pitchFamily="18" charset="0"/>
              <a:cs typeface="Times New Roman" panose="02020603050405020304" pitchFamily="18" charset="0"/>
              <a:sym typeface="+mn-ea"/>
            </a:endParaRPr>
          </a:p>
          <a:p>
            <a:pPr lvl="1"/>
            <a:r>
              <a:rPr lang="zh-CN" altLang="en-US" dirty="0">
                <a:latin typeface="Times New Roman" panose="02020603050405020304" pitchFamily="18" charset="0"/>
                <a:cs typeface="Times New Roman" panose="02020603050405020304" pitchFamily="18" charset="0"/>
                <a:sym typeface="+mn-ea"/>
              </a:rPr>
              <a:t>是一种设计规范，从软件可靠性角度出发，设计人员必须遵守的设计</a:t>
            </a:r>
            <a:r>
              <a:rPr lang="zh-CN" altLang="en-US" dirty="0">
                <a:latin typeface="Times New Roman" panose="02020603050405020304" pitchFamily="18" charset="0"/>
                <a:cs typeface="Times New Roman" panose="02020603050405020304" pitchFamily="18" charset="0"/>
                <a:sym typeface="+mn-ea"/>
              </a:rPr>
              <a:t>要求</a:t>
            </a:r>
            <a:endParaRPr lang="zh-CN" altLang="en-US" dirty="0">
              <a:latin typeface="Times New Roman" panose="02020603050405020304" pitchFamily="18" charset="0"/>
              <a:cs typeface="Times New Roman" panose="02020603050405020304" pitchFamily="18" charset="0"/>
              <a:sym typeface="+mn-ea"/>
            </a:endParaRPr>
          </a:p>
          <a:p>
            <a:pPr lvl="1"/>
            <a:r>
              <a:rPr lang="zh-CN" altLang="en-US" dirty="0">
                <a:latin typeface="Times New Roman" panose="02020603050405020304" pitchFamily="18" charset="0"/>
                <a:cs typeface="Times New Roman" panose="02020603050405020304" pitchFamily="18" charset="0"/>
                <a:sym typeface="+mn-ea"/>
              </a:rPr>
              <a:t>是已有的、相似软件的工程经验的总结，并系统化、科学化、规范化</a:t>
            </a:r>
            <a:r>
              <a:rPr lang="zh-CN" altLang="en-US" dirty="0">
                <a:latin typeface="Times New Roman" panose="02020603050405020304" pitchFamily="18" charset="0"/>
                <a:cs typeface="Times New Roman" panose="02020603050405020304" pitchFamily="18" charset="0"/>
                <a:sym typeface="+mn-ea"/>
              </a:rPr>
              <a:t>而成</a:t>
            </a:r>
            <a:endParaRPr lang="zh-CN" altLang="en-US"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5.2 </a:t>
            </a:r>
            <a:r>
              <a:rPr lang="zh-CN" altLang="en-US">
                <a:solidFill>
                  <a:srgbClr val="C00000"/>
                </a:solidFill>
                <a:sym typeface="+mn-ea"/>
              </a:rPr>
              <a:t>软件避错</a:t>
            </a:r>
            <a:r>
              <a:rPr lang="zh-CN" altLang="en-US">
                <a:solidFill>
                  <a:srgbClr val="C00000"/>
                </a:solidFill>
                <a:sym typeface="+mn-ea"/>
              </a:rPr>
              <a:t>设计</a:t>
            </a:r>
            <a:endParaRPr lang="zh-CN" altLang="en-US">
              <a:solidFill>
                <a:srgbClr val="C00000"/>
              </a:solidFill>
              <a:sym typeface="+mn-ea"/>
            </a:endParaRPr>
          </a:p>
        </p:txBody>
      </p:sp>
      <p:sp>
        <p:nvSpPr>
          <p:cNvPr id="3" name="内容占位符 2"/>
          <p:cNvSpPr>
            <a:spLocks noGrp="1"/>
          </p:cNvSpPr>
          <p:nvPr>
            <p:ph idx="1"/>
          </p:nvPr>
        </p:nvSpPr>
        <p:spPr>
          <a:xfrm>
            <a:off x="838200" y="1543050"/>
            <a:ext cx="10713085" cy="4634230"/>
          </a:xfrm>
        </p:spPr>
        <p:txBody>
          <a:bodyPr/>
          <a:p>
            <a:r>
              <a:rPr lang="zh-CN" altLang="en-US" b="1" dirty="0">
                <a:latin typeface="Times New Roman" panose="02020603050405020304" pitchFamily="18" charset="0"/>
                <a:cs typeface="Times New Roman" panose="02020603050405020304" pitchFamily="18" charset="0"/>
                <a:sym typeface="+mn-ea"/>
              </a:rPr>
              <a:t>避错设计体现了以</a:t>
            </a:r>
            <a:r>
              <a:rPr lang="zh-CN" altLang="en-US" b="1" dirty="0">
                <a:solidFill>
                  <a:srgbClr val="FF0000"/>
                </a:solidFill>
                <a:latin typeface="Times New Roman" panose="02020603050405020304" pitchFamily="18" charset="0"/>
                <a:cs typeface="Times New Roman" panose="02020603050405020304" pitchFamily="18" charset="0"/>
                <a:sym typeface="+mn-ea"/>
              </a:rPr>
              <a:t>预防为主</a:t>
            </a:r>
            <a:r>
              <a:rPr lang="zh-CN" altLang="en-US" b="1" dirty="0">
                <a:latin typeface="Times New Roman" panose="02020603050405020304" pitchFamily="18" charset="0"/>
                <a:cs typeface="Times New Roman" panose="02020603050405020304" pitchFamily="18" charset="0"/>
                <a:sym typeface="+mn-ea"/>
              </a:rPr>
              <a:t>的</a:t>
            </a:r>
            <a:r>
              <a:rPr lang="zh-CN" altLang="en-US" b="1" dirty="0">
                <a:latin typeface="Times New Roman" panose="02020603050405020304" pitchFamily="18" charset="0"/>
                <a:cs typeface="Times New Roman" panose="02020603050405020304" pitchFamily="18" charset="0"/>
                <a:sym typeface="+mn-ea"/>
              </a:rPr>
              <a:t>思想</a:t>
            </a:r>
            <a:endParaRPr lang="zh-CN" altLang="en-US" b="1" dirty="0">
              <a:latin typeface="Times New Roman" panose="02020603050405020304" pitchFamily="18" charset="0"/>
              <a:cs typeface="Times New Roman" panose="02020603050405020304" pitchFamily="18" charset="0"/>
              <a:sym typeface="+mn-ea"/>
            </a:endParaRPr>
          </a:p>
          <a:p>
            <a:r>
              <a:rPr lang="zh-CN" altLang="en-US" b="1" dirty="0">
                <a:latin typeface="Times New Roman" panose="02020603050405020304" pitchFamily="18" charset="0"/>
                <a:cs typeface="Times New Roman" panose="02020603050405020304" pitchFamily="18" charset="0"/>
                <a:sym typeface="+mn-ea"/>
              </a:rPr>
              <a:t>避错设计适用于一切类型的软件，是软件可靠性设计的首要</a:t>
            </a:r>
            <a:r>
              <a:rPr lang="zh-CN" altLang="en-US" b="1" dirty="0">
                <a:latin typeface="Times New Roman" panose="02020603050405020304" pitchFamily="18" charset="0"/>
                <a:cs typeface="Times New Roman" panose="02020603050405020304" pitchFamily="18" charset="0"/>
                <a:sym typeface="+mn-ea"/>
              </a:rPr>
              <a:t>方法</a:t>
            </a:r>
            <a:endParaRPr lang="zh-CN" altLang="en-US" b="1" dirty="0">
              <a:latin typeface="Times New Roman" panose="02020603050405020304" pitchFamily="18" charset="0"/>
              <a:cs typeface="Times New Roman" panose="02020603050405020304" pitchFamily="18" charset="0"/>
              <a:sym typeface="+mn-ea"/>
            </a:endParaRPr>
          </a:p>
          <a:p>
            <a:r>
              <a:rPr lang="zh-CN" altLang="en-US" b="1" dirty="0">
                <a:latin typeface="Times New Roman" panose="02020603050405020304" pitchFamily="18" charset="0"/>
                <a:cs typeface="Times New Roman" panose="02020603050405020304" pitchFamily="18" charset="0"/>
                <a:sym typeface="+mn-ea"/>
              </a:rPr>
              <a:t>软件避错设计，</a:t>
            </a:r>
            <a:r>
              <a:rPr lang="zh-CN" altLang="en-US" b="1" dirty="0">
                <a:latin typeface="Times New Roman" panose="02020603050405020304" pitchFamily="18" charset="0"/>
                <a:cs typeface="Times New Roman" panose="02020603050405020304" pitchFamily="18" charset="0"/>
                <a:sym typeface="+mn-ea"/>
              </a:rPr>
              <a:t>必须：</a:t>
            </a:r>
            <a:endParaRPr lang="zh-CN" altLang="en-US" b="1" dirty="0">
              <a:latin typeface="Times New Roman" panose="02020603050405020304" pitchFamily="18" charset="0"/>
              <a:cs typeface="Times New Roman" panose="02020603050405020304" pitchFamily="18" charset="0"/>
              <a:sym typeface="+mn-ea"/>
            </a:endParaRPr>
          </a:p>
          <a:p>
            <a:pPr lvl="1"/>
            <a:r>
              <a:rPr lang="zh-CN" altLang="en-US" dirty="0">
                <a:latin typeface="Times New Roman" panose="02020603050405020304" pitchFamily="18" charset="0"/>
                <a:cs typeface="Times New Roman" panose="02020603050405020304" pitchFamily="18" charset="0"/>
                <a:sym typeface="+mn-ea"/>
              </a:rPr>
              <a:t>贯彻软件工程化，采用合适的软件开发过程、开发方法及工具</a:t>
            </a:r>
            <a:endParaRPr lang="zh-CN" altLang="en-US" dirty="0">
              <a:latin typeface="Times New Roman" panose="02020603050405020304" pitchFamily="18" charset="0"/>
              <a:cs typeface="Times New Roman" panose="02020603050405020304" pitchFamily="18" charset="0"/>
              <a:sym typeface="+mn-ea"/>
            </a:endParaRPr>
          </a:p>
          <a:p>
            <a:pPr lvl="1"/>
            <a:r>
              <a:rPr lang="zh-CN" altLang="en-US" dirty="0">
                <a:latin typeface="Times New Roman" panose="02020603050405020304" pitchFamily="18" charset="0"/>
                <a:cs typeface="Times New Roman" panose="02020603050405020304" pitchFamily="18" charset="0"/>
                <a:sym typeface="+mn-ea"/>
              </a:rPr>
              <a:t>贯彻软件</a:t>
            </a:r>
            <a:r>
              <a:rPr lang="zh-CN" altLang="en-US" b="1" dirty="0">
                <a:solidFill>
                  <a:srgbClr val="FF0000"/>
                </a:solidFill>
                <a:latin typeface="Times New Roman" panose="02020603050405020304" pitchFamily="18" charset="0"/>
                <a:cs typeface="Times New Roman" panose="02020603050405020304" pitchFamily="18" charset="0"/>
                <a:sym typeface="+mn-ea"/>
              </a:rPr>
              <a:t>避错设计原理</a:t>
            </a:r>
            <a:endParaRPr lang="zh-CN" altLang="en-US" dirty="0">
              <a:latin typeface="Times New Roman" panose="02020603050405020304" pitchFamily="18" charset="0"/>
              <a:cs typeface="Times New Roman" panose="02020603050405020304" pitchFamily="18" charset="0"/>
              <a:sym typeface="+mn-ea"/>
            </a:endParaRPr>
          </a:p>
          <a:p>
            <a:pPr lvl="1"/>
            <a:r>
              <a:rPr lang="zh-CN" altLang="en-US" dirty="0">
                <a:latin typeface="Times New Roman" panose="02020603050405020304" pitchFamily="18" charset="0"/>
                <a:cs typeface="Times New Roman" panose="02020603050405020304" pitchFamily="18" charset="0"/>
                <a:sym typeface="+mn-ea"/>
              </a:rPr>
              <a:t>重点考虑</a:t>
            </a:r>
            <a:r>
              <a:rPr lang="zh-CN" altLang="en-US" b="1" dirty="0">
                <a:solidFill>
                  <a:srgbClr val="FF0000"/>
                </a:solidFill>
                <a:latin typeface="Times New Roman" panose="02020603050405020304" pitchFamily="18" charset="0"/>
                <a:cs typeface="Times New Roman" panose="02020603050405020304" pitchFamily="18" charset="0"/>
                <a:sym typeface="+mn-ea"/>
              </a:rPr>
              <a:t>抽象</a:t>
            </a:r>
            <a:r>
              <a:rPr lang="zh-CN" altLang="en-US" dirty="0">
                <a:latin typeface="Times New Roman" panose="02020603050405020304" pitchFamily="18" charset="0"/>
                <a:cs typeface="Times New Roman" panose="02020603050405020304" pitchFamily="18" charset="0"/>
                <a:sym typeface="+mn-ea"/>
              </a:rPr>
              <a:t>和</a:t>
            </a:r>
            <a:r>
              <a:rPr lang="zh-CN" altLang="en-US" b="1" dirty="0">
                <a:solidFill>
                  <a:srgbClr val="FF0000"/>
                </a:solidFill>
                <a:latin typeface="Times New Roman" panose="02020603050405020304" pitchFamily="18" charset="0"/>
                <a:cs typeface="Times New Roman" panose="02020603050405020304" pitchFamily="18" charset="0"/>
                <a:sym typeface="+mn-ea"/>
              </a:rPr>
              <a:t>逐步求精</a:t>
            </a:r>
            <a:r>
              <a:rPr lang="zh-CN" altLang="en-US" dirty="0">
                <a:latin typeface="Times New Roman" panose="02020603050405020304" pitchFamily="18" charset="0"/>
                <a:cs typeface="Times New Roman" panose="02020603050405020304" pitchFamily="18" charset="0"/>
                <a:sym typeface="+mn-ea"/>
              </a:rPr>
              <a:t>、</a:t>
            </a:r>
            <a:r>
              <a:rPr lang="zh-CN" altLang="en-US" b="1" dirty="0">
                <a:solidFill>
                  <a:srgbClr val="FF0000"/>
                </a:solidFill>
                <a:latin typeface="Times New Roman" panose="02020603050405020304" pitchFamily="18" charset="0"/>
                <a:cs typeface="Times New Roman" panose="02020603050405020304" pitchFamily="18" charset="0"/>
                <a:sym typeface="+mn-ea"/>
              </a:rPr>
              <a:t>模块独立</a:t>
            </a:r>
            <a:r>
              <a:rPr lang="zh-CN" altLang="en-US" dirty="0">
                <a:latin typeface="Times New Roman" panose="02020603050405020304" pitchFamily="18" charset="0"/>
                <a:cs typeface="Times New Roman" panose="02020603050405020304" pitchFamily="18" charset="0"/>
                <a:sym typeface="+mn-ea"/>
              </a:rPr>
              <a:t>与</a:t>
            </a:r>
            <a:r>
              <a:rPr lang="zh-CN" altLang="en-US" b="1" dirty="0">
                <a:solidFill>
                  <a:srgbClr val="FF0000"/>
                </a:solidFill>
                <a:latin typeface="Times New Roman" panose="02020603050405020304" pitchFamily="18" charset="0"/>
                <a:cs typeface="Times New Roman" panose="02020603050405020304" pitchFamily="18" charset="0"/>
                <a:sym typeface="+mn-ea"/>
              </a:rPr>
              <a:t>信息隐藏</a:t>
            </a:r>
            <a:r>
              <a:rPr lang="zh-CN" altLang="en-US" dirty="0">
                <a:latin typeface="Times New Roman" panose="02020603050405020304" pitchFamily="18" charset="0"/>
                <a:cs typeface="Times New Roman" panose="02020603050405020304" pitchFamily="18" charset="0"/>
                <a:sym typeface="+mn-ea"/>
              </a:rPr>
              <a:t>、</a:t>
            </a:r>
            <a:r>
              <a:rPr lang="zh-CN" altLang="en-US" b="1" dirty="0">
                <a:solidFill>
                  <a:srgbClr val="FF0000"/>
                </a:solidFill>
                <a:latin typeface="Times New Roman" panose="02020603050405020304" pitchFamily="18" charset="0"/>
                <a:cs typeface="Times New Roman" panose="02020603050405020304" pitchFamily="18" charset="0"/>
                <a:sym typeface="+mn-ea"/>
              </a:rPr>
              <a:t>健壮性设计</a:t>
            </a:r>
            <a:r>
              <a:rPr lang="zh-CN" altLang="en-US" dirty="0">
                <a:latin typeface="Times New Roman" panose="02020603050405020304" pitchFamily="18" charset="0"/>
                <a:cs typeface="Times New Roman" panose="02020603050405020304" pitchFamily="18" charset="0"/>
                <a:sym typeface="+mn-ea"/>
              </a:rPr>
              <a:t>、</a:t>
            </a:r>
            <a:r>
              <a:rPr lang="zh-CN" altLang="en-US" b="1" dirty="0">
                <a:solidFill>
                  <a:srgbClr val="FF0000"/>
                </a:solidFill>
                <a:latin typeface="Times New Roman" panose="02020603050405020304" pitchFamily="18" charset="0"/>
                <a:cs typeface="Times New Roman" panose="02020603050405020304" pitchFamily="18" charset="0"/>
                <a:sym typeface="+mn-ea"/>
              </a:rPr>
              <a:t>形式化方法</a:t>
            </a:r>
            <a:endParaRPr lang="zh-CN" altLang="en-US" b="1" dirty="0">
              <a:solidFill>
                <a:srgbClr val="FF0000"/>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a:t>
            </a:r>
            <a:r>
              <a:rPr lang="zh-CN" altLang="en-US">
                <a:solidFill>
                  <a:srgbClr val="C00000"/>
                </a:solidFill>
                <a:sym typeface="+mn-ea"/>
              </a:rPr>
              <a:t>开发过程</a:t>
            </a:r>
            <a:endParaRPr lang="zh-CN" altLang="en-US">
              <a:solidFill>
                <a:srgbClr val="C00000"/>
              </a:solidFill>
              <a:sym typeface="+mn-ea"/>
            </a:endParaRPr>
          </a:p>
        </p:txBody>
      </p:sp>
      <p:sp>
        <p:nvSpPr>
          <p:cNvPr id="3" name="内容占位符 2"/>
          <p:cNvSpPr>
            <a:spLocks noGrp="1"/>
          </p:cNvSpPr>
          <p:nvPr>
            <p:ph idx="1"/>
          </p:nvPr>
        </p:nvSpPr>
        <p:spPr>
          <a:xfrm>
            <a:off x="838200" y="1538605"/>
            <a:ext cx="10515600" cy="4876800"/>
          </a:xfrm>
        </p:spPr>
        <p:txBody>
          <a:bodyPr>
            <a:normAutofit lnSpcReduction="20000"/>
          </a:bodyPr>
          <a:p>
            <a:r>
              <a:rPr lang="zh-CN" altLang="en-US"/>
              <a:t>软件生存周期模型是指开发软件项目的总体过程</a:t>
            </a:r>
            <a:r>
              <a:rPr lang="zh-CN" altLang="en-US"/>
              <a:t>思路。</a:t>
            </a:r>
            <a:endParaRPr lang="zh-CN" altLang="en-US"/>
          </a:p>
          <a:p>
            <a:r>
              <a:rPr lang="zh-CN" altLang="en-US"/>
              <a:t>目前有若干种软件生存周期</a:t>
            </a:r>
            <a:r>
              <a:rPr lang="zh-CN" altLang="en-US"/>
              <a:t>模型：</a:t>
            </a:r>
            <a:endParaRPr lang="zh-CN" altLang="en-US"/>
          </a:p>
          <a:p>
            <a:pPr lvl="1"/>
            <a:r>
              <a:rPr lang="zh-CN" altLang="en-US"/>
              <a:t>瀑布模型</a:t>
            </a:r>
            <a:endParaRPr lang="zh-CN" altLang="en-US"/>
          </a:p>
          <a:p>
            <a:pPr lvl="1"/>
            <a:r>
              <a:rPr lang="zh-CN" altLang="en-US"/>
              <a:t>原型模型</a:t>
            </a:r>
            <a:endParaRPr lang="zh-CN" altLang="en-US"/>
          </a:p>
          <a:p>
            <a:pPr lvl="1"/>
            <a:r>
              <a:rPr lang="zh-CN" altLang="en-US"/>
              <a:t>增量</a:t>
            </a:r>
            <a:r>
              <a:rPr lang="zh-CN" altLang="en-US"/>
              <a:t>模型</a:t>
            </a:r>
            <a:endParaRPr lang="zh-CN" altLang="en-US"/>
          </a:p>
          <a:p>
            <a:pPr lvl="1"/>
            <a:r>
              <a:rPr lang="zh-CN" altLang="en-US"/>
              <a:t>螺旋模型</a:t>
            </a:r>
            <a:endParaRPr lang="zh-CN" altLang="en-US"/>
          </a:p>
          <a:p>
            <a:pPr lvl="1"/>
            <a:r>
              <a:rPr lang="zh-CN" altLang="en-US"/>
              <a:t>喷泉</a:t>
            </a:r>
            <a:r>
              <a:rPr lang="zh-CN" altLang="en-US"/>
              <a:t>模型</a:t>
            </a:r>
            <a:endParaRPr lang="zh-CN" altLang="en-US"/>
          </a:p>
          <a:p>
            <a:pPr lvl="1"/>
            <a:r>
              <a:rPr lang="zh-CN" altLang="en-US"/>
              <a:t>基于知识的</a:t>
            </a:r>
            <a:r>
              <a:rPr lang="zh-CN" altLang="en-US"/>
              <a:t>模型</a:t>
            </a:r>
            <a:endParaRPr lang="zh-CN" altLang="en-US"/>
          </a:p>
          <a:p>
            <a:pPr lvl="1"/>
            <a:r>
              <a:rPr lang="en-US" altLang="zh-CN"/>
              <a:t>....</a:t>
            </a:r>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软件设计</a:t>
            </a:r>
            <a:r>
              <a:rPr lang="zh-CN" altLang="en-US">
                <a:solidFill>
                  <a:srgbClr val="C00000"/>
                </a:solidFill>
                <a:sym typeface="+mn-ea"/>
              </a:rPr>
              <a:t>方法</a:t>
            </a:r>
            <a:endParaRPr lang="zh-CN" altLang="en-US">
              <a:solidFill>
                <a:srgbClr val="C00000"/>
              </a:solidFill>
              <a:sym typeface="+mn-ea"/>
            </a:endParaRPr>
          </a:p>
        </p:txBody>
      </p:sp>
      <p:sp>
        <p:nvSpPr>
          <p:cNvPr id="3" name="内容占位符 2"/>
          <p:cNvSpPr>
            <a:spLocks noGrp="1"/>
          </p:cNvSpPr>
          <p:nvPr>
            <p:ph idx="1"/>
          </p:nvPr>
        </p:nvSpPr>
        <p:spPr>
          <a:xfrm>
            <a:off x="838200" y="1538605"/>
            <a:ext cx="10515600" cy="4876800"/>
          </a:xfrm>
        </p:spPr>
        <p:txBody>
          <a:bodyPr>
            <a:normAutofit lnSpcReduction="10000"/>
          </a:bodyPr>
          <a:p>
            <a:r>
              <a:rPr lang="zh-CN" altLang="en-US"/>
              <a:t>软件设计方法是一种使用早已定义好的技术集及符合表示习惯来组织开发过程的</a:t>
            </a:r>
            <a:r>
              <a:rPr lang="zh-CN" altLang="en-US"/>
              <a:t>方法。</a:t>
            </a:r>
            <a:endParaRPr lang="zh-CN" altLang="en-US"/>
          </a:p>
          <a:p>
            <a:r>
              <a:rPr lang="zh-CN" altLang="en-US"/>
              <a:t>目前已经提出了多种软件开发方法和技术，</a:t>
            </a:r>
            <a:r>
              <a:rPr lang="zh-CN" altLang="en-US"/>
              <a:t>如：</a:t>
            </a:r>
            <a:endParaRPr lang="zh-CN" altLang="en-US"/>
          </a:p>
          <a:p>
            <a:pPr lvl="1"/>
            <a:r>
              <a:rPr lang="zh-CN" altLang="en-US"/>
              <a:t>结构化方法</a:t>
            </a:r>
            <a:endParaRPr lang="zh-CN" altLang="en-US"/>
          </a:p>
          <a:p>
            <a:pPr lvl="1"/>
            <a:r>
              <a:rPr lang="en-US" altLang="zh-CN"/>
              <a:t>Jackson</a:t>
            </a:r>
            <a:r>
              <a:rPr lang="zh-CN" altLang="en-US"/>
              <a:t>方法</a:t>
            </a:r>
            <a:endParaRPr lang="zh-CN" altLang="en-US"/>
          </a:p>
          <a:p>
            <a:pPr lvl="1"/>
            <a:r>
              <a:rPr lang="zh-CN" altLang="en-US"/>
              <a:t>维也纳开发方法</a:t>
            </a:r>
            <a:endParaRPr lang="zh-CN" altLang="en-US"/>
          </a:p>
          <a:p>
            <a:pPr lvl="1"/>
            <a:r>
              <a:rPr lang="zh-CN" altLang="en-US"/>
              <a:t>面向对象设计法</a:t>
            </a:r>
            <a:endParaRPr lang="zh-CN" altLang="en-US"/>
          </a:p>
          <a:p>
            <a:pPr lvl="1"/>
            <a:r>
              <a:rPr lang="zh-CN" altLang="en-US"/>
              <a:t>基于模型的软件开发方法</a:t>
            </a:r>
            <a:endParaRPr lang="zh-CN" altLang="en-US"/>
          </a:p>
          <a:p>
            <a:pPr lvl="1"/>
            <a:r>
              <a:rPr lang="zh-CN" altLang="en-US"/>
              <a:t>设计模式</a:t>
            </a:r>
            <a:r>
              <a:rPr lang="en-US" altLang="zh-CN"/>
              <a:t> </a:t>
            </a:r>
            <a:r>
              <a:rPr lang="zh-CN" altLang="en-US"/>
              <a:t>等</a:t>
            </a:r>
            <a:r>
              <a:rPr lang="en-US" altLang="zh-CN"/>
              <a:t>.</a:t>
            </a: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a:t>
            </a:r>
            <a:r>
              <a:rPr lang="zh-CN" altLang="en-US">
                <a:solidFill>
                  <a:srgbClr val="C00000"/>
                </a:solidFill>
                <a:sym typeface="+mn-ea"/>
              </a:rPr>
              <a:t>工具</a:t>
            </a:r>
            <a:endParaRPr lang="zh-CN" altLang="en-US">
              <a:solidFill>
                <a:srgbClr val="C00000"/>
              </a:solidFill>
              <a:sym typeface="+mn-ea"/>
            </a:endParaRPr>
          </a:p>
        </p:txBody>
      </p:sp>
      <p:sp>
        <p:nvSpPr>
          <p:cNvPr id="3" name="内容占位符 2"/>
          <p:cNvSpPr>
            <a:spLocks noGrp="1"/>
          </p:cNvSpPr>
          <p:nvPr>
            <p:ph idx="1"/>
          </p:nvPr>
        </p:nvSpPr>
        <p:spPr>
          <a:xfrm>
            <a:off x="838200" y="1538605"/>
            <a:ext cx="10515600" cy="4876800"/>
          </a:xfrm>
        </p:spPr>
        <p:txBody>
          <a:bodyPr>
            <a:normAutofit lnSpcReduction="10000"/>
          </a:bodyPr>
          <a:p>
            <a:r>
              <a:rPr lang="zh-CN" altLang="en-US"/>
              <a:t>软件工具一般被称为支持软件人员开发和为软件活动而使用的</a:t>
            </a:r>
            <a:r>
              <a:rPr lang="zh-CN" altLang="en-US"/>
              <a:t>软件。</a:t>
            </a:r>
            <a:endParaRPr lang="zh-CN" altLang="en-US"/>
          </a:p>
          <a:p>
            <a:r>
              <a:rPr lang="zh-CN" altLang="en-US"/>
              <a:t>目前与软件开发相关的常用工具软件主要</a:t>
            </a:r>
            <a:r>
              <a:rPr lang="zh-CN" altLang="en-US"/>
              <a:t>有：</a:t>
            </a:r>
            <a:endParaRPr lang="zh-CN" altLang="en-US"/>
          </a:p>
          <a:p>
            <a:pPr lvl="1"/>
            <a:r>
              <a:rPr lang="en-US"/>
              <a:t>Microsoft</a:t>
            </a:r>
            <a:r>
              <a:rPr lang="zh-CN" altLang="en-US"/>
              <a:t>的</a:t>
            </a:r>
            <a:r>
              <a:rPr lang="en-US"/>
              <a:t>Office Visio</a:t>
            </a:r>
            <a:r>
              <a:rPr lang="zh-CN" altLang="en-US"/>
              <a:t>、</a:t>
            </a:r>
            <a:r>
              <a:rPr lang="en-US" altLang="zh-CN"/>
              <a:t>Office Project</a:t>
            </a:r>
            <a:r>
              <a:rPr lang="zh-CN" altLang="en-US"/>
              <a:t>、</a:t>
            </a:r>
            <a:r>
              <a:rPr lang="en-US" altLang="zh-CN"/>
              <a:t>Visual Studio</a:t>
            </a:r>
            <a:r>
              <a:rPr lang="zh-CN" altLang="en-US"/>
              <a:t>、</a:t>
            </a:r>
            <a:r>
              <a:rPr lang="en-US" altLang="zh-CN"/>
              <a:t>Visual Sourcesafe</a:t>
            </a:r>
            <a:endParaRPr lang="en-US" altLang="zh-CN"/>
          </a:p>
          <a:p>
            <a:pPr lvl="1"/>
            <a:r>
              <a:rPr lang="en-US" altLang="zh-CN"/>
              <a:t>Rational Rose</a:t>
            </a:r>
            <a:endParaRPr lang="en-US" altLang="zh-CN"/>
          </a:p>
          <a:p>
            <a:pPr lvl="1"/>
            <a:r>
              <a:rPr lang="en-US" altLang="zh-CN"/>
              <a:t>Together</a:t>
            </a:r>
            <a:endParaRPr lang="en-US" altLang="zh-CN"/>
          </a:p>
          <a:p>
            <a:pPr lvl="1"/>
            <a:r>
              <a:rPr lang="en-US" altLang="zh-CN"/>
              <a:t>CASE Studio</a:t>
            </a:r>
            <a:endParaRPr lang="en-US" altLang="zh-CN"/>
          </a:p>
          <a:p>
            <a:pPr lvl="1"/>
            <a:r>
              <a:rPr lang="en-US" altLang="zh-CN"/>
              <a:t>Clear Case</a:t>
            </a:r>
            <a:endParaRPr lang="en-US" altLang="zh-CN"/>
          </a:p>
          <a:p>
            <a:pPr lvl="1"/>
            <a:r>
              <a:rPr lang="en-US" altLang="zh-CN"/>
              <a:t>...</a:t>
            </a:r>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软件避错设计</a:t>
            </a:r>
            <a:r>
              <a:rPr lang="zh-CN" altLang="en-US">
                <a:solidFill>
                  <a:srgbClr val="C00000"/>
                </a:solidFill>
                <a:sym typeface="+mn-ea"/>
              </a:rPr>
              <a:t>原理</a:t>
            </a:r>
            <a:endParaRPr lang="zh-CN" altLang="en-US">
              <a:solidFill>
                <a:srgbClr val="C00000"/>
              </a:solidFill>
              <a:sym typeface="+mn-ea"/>
            </a:endParaRPr>
          </a:p>
        </p:txBody>
      </p:sp>
      <p:grpSp>
        <p:nvGrpSpPr>
          <p:cNvPr id="7" name="组合 6"/>
          <p:cNvGrpSpPr/>
          <p:nvPr/>
        </p:nvGrpSpPr>
        <p:grpSpPr>
          <a:xfrm>
            <a:off x="6219825" y="3067050"/>
            <a:ext cx="1289685" cy="1249680"/>
            <a:chOff x="8284" y="4844"/>
            <a:chExt cx="2031" cy="1968"/>
          </a:xfrm>
        </p:grpSpPr>
        <p:sp>
          <p:nvSpPr>
            <p:cNvPr id="5" name="椭圆 4"/>
            <p:cNvSpPr/>
            <p:nvPr/>
          </p:nvSpPr>
          <p:spPr>
            <a:xfrm>
              <a:off x="8347" y="4844"/>
              <a:ext cx="1968" cy="196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6" name="文本框 5"/>
            <p:cNvSpPr txBox="1"/>
            <p:nvPr/>
          </p:nvSpPr>
          <p:spPr>
            <a:xfrm>
              <a:off x="8284" y="5271"/>
              <a:ext cx="2031" cy="1113"/>
            </a:xfrm>
            <a:prstGeom prst="rect">
              <a:avLst/>
            </a:prstGeom>
            <a:noFill/>
          </p:spPr>
          <p:txBody>
            <a:bodyPr wrap="square" rtlCol="0" anchor="t">
              <a:spAutoFit/>
            </a:bodyPr>
            <a:p>
              <a:pPr algn="ctr"/>
              <a:r>
                <a:rPr lang="en-US" altLang="zh-CN" sz="2000" b="1">
                  <a:solidFill>
                    <a:schemeClr val="bg1"/>
                  </a:solidFill>
                  <a:sym typeface="+mn-ea"/>
                </a:rPr>
                <a:t>7</a:t>
              </a:r>
              <a:r>
                <a:rPr lang="zh-CN" altLang="en-US" sz="2000" b="1">
                  <a:solidFill>
                    <a:schemeClr val="bg1"/>
                  </a:solidFill>
                  <a:sym typeface="+mn-ea"/>
                </a:rPr>
                <a:t>项避错设计原理</a:t>
              </a:r>
              <a:endParaRPr lang="zh-CN" altLang="en-US" sz="2000" b="1">
                <a:solidFill>
                  <a:schemeClr val="bg1"/>
                </a:solidFill>
                <a:sym typeface="+mn-ea"/>
              </a:endParaRPr>
            </a:p>
          </p:txBody>
        </p:sp>
      </p:grpSp>
      <p:sp>
        <p:nvSpPr>
          <p:cNvPr id="9" name="椭圆 8"/>
          <p:cNvSpPr/>
          <p:nvPr/>
        </p:nvSpPr>
        <p:spPr>
          <a:xfrm>
            <a:off x="4497070" y="1991995"/>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0" name="文本框 9"/>
          <p:cNvSpPr txBox="1"/>
          <p:nvPr/>
        </p:nvSpPr>
        <p:spPr>
          <a:xfrm>
            <a:off x="4457065" y="2444115"/>
            <a:ext cx="1289685" cy="398780"/>
          </a:xfrm>
          <a:prstGeom prst="rect">
            <a:avLst/>
          </a:prstGeom>
          <a:noFill/>
        </p:spPr>
        <p:txBody>
          <a:bodyPr wrap="square" rtlCol="0" anchor="t">
            <a:spAutoFit/>
          </a:bodyPr>
          <a:p>
            <a:pPr algn="ctr"/>
            <a:r>
              <a:rPr lang="zh-CN" altLang="en-US" sz="2000">
                <a:sym typeface="+mn-ea"/>
              </a:rPr>
              <a:t>安全原理</a:t>
            </a:r>
            <a:endParaRPr lang="zh-CN" altLang="en-US" sz="2000" b="1">
              <a:solidFill>
                <a:schemeClr val="bg1"/>
              </a:solidFill>
              <a:sym typeface="+mn-ea"/>
            </a:endParaRPr>
          </a:p>
        </p:txBody>
      </p:sp>
      <p:sp>
        <p:nvSpPr>
          <p:cNvPr id="12" name="椭圆 11"/>
          <p:cNvSpPr/>
          <p:nvPr/>
        </p:nvSpPr>
        <p:spPr>
          <a:xfrm>
            <a:off x="6259830" y="1359535"/>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13" name="文本框 12"/>
          <p:cNvSpPr txBox="1"/>
          <p:nvPr/>
        </p:nvSpPr>
        <p:spPr>
          <a:xfrm>
            <a:off x="6259830" y="1814195"/>
            <a:ext cx="1289685" cy="398780"/>
          </a:xfrm>
          <a:prstGeom prst="rect">
            <a:avLst/>
          </a:prstGeom>
          <a:noFill/>
        </p:spPr>
        <p:txBody>
          <a:bodyPr wrap="square" rtlCol="0" anchor="t">
            <a:spAutoFit/>
          </a:bodyPr>
          <a:p>
            <a:pPr algn="ctr"/>
            <a:r>
              <a:rPr lang="zh-CN" altLang="en-US" sz="2000">
                <a:sym typeface="+mn-ea"/>
              </a:rPr>
              <a:t>简单原理</a:t>
            </a:r>
            <a:endParaRPr lang="zh-CN" altLang="en-US" sz="2000" b="1">
              <a:solidFill>
                <a:schemeClr val="bg1"/>
              </a:solidFill>
              <a:sym typeface="+mn-ea"/>
            </a:endParaRPr>
          </a:p>
        </p:txBody>
      </p:sp>
      <p:sp>
        <p:nvSpPr>
          <p:cNvPr id="15" name="椭圆 14"/>
          <p:cNvSpPr/>
          <p:nvPr/>
        </p:nvSpPr>
        <p:spPr>
          <a:xfrm>
            <a:off x="8178165" y="194183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6" name="文本框 15"/>
          <p:cNvSpPr txBox="1"/>
          <p:nvPr/>
        </p:nvSpPr>
        <p:spPr>
          <a:xfrm>
            <a:off x="8157210" y="2393950"/>
            <a:ext cx="1289685" cy="398780"/>
          </a:xfrm>
          <a:prstGeom prst="rect">
            <a:avLst/>
          </a:prstGeom>
          <a:noFill/>
        </p:spPr>
        <p:txBody>
          <a:bodyPr wrap="square" rtlCol="0" anchor="t">
            <a:spAutoFit/>
          </a:bodyPr>
          <a:p>
            <a:pPr algn="ctr"/>
            <a:r>
              <a:rPr lang="zh-CN" altLang="en-US" sz="2000">
                <a:sym typeface="+mn-ea"/>
              </a:rPr>
              <a:t>同型原理</a:t>
            </a:r>
            <a:endParaRPr lang="zh-CN" altLang="en-US" sz="2000" b="1">
              <a:solidFill>
                <a:schemeClr val="bg1"/>
              </a:solidFill>
              <a:sym typeface="+mn-ea"/>
            </a:endParaRPr>
          </a:p>
        </p:txBody>
      </p:sp>
      <p:sp>
        <p:nvSpPr>
          <p:cNvPr id="18" name="椭圆 17"/>
          <p:cNvSpPr/>
          <p:nvPr/>
        </p:nvSpPr>
        <p:spPr>
          <a:xfrm>
            <a:off x="4217035" y="3773805"/>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9" name="文本框 18"/>
          <p:cNvSpPr txBox="1"/>
          <p:nvPr/>
        </p:nvSpPr>
        <p:spPr>
          <a:xfrm>
            <a:off x="4177030" y="4216400"/>
            <a:ext cx="1289685" cy="398780"/>
          </a:xfrm>
          <a:prstGeom prst="rect">
            <a:avLst/>
          </a:prstGeom>
          <a:noFill/>
        </p:spPr>
        <p:txBody>
          <a:bodyPr wrap="square" rtlCol="0" anchor="t">
            <a:spAutoFit/>
          </a:bodyPr>
          <a:p>
            <a:pPr algn="ctr"/>
            <a:r>
              <a:rPr lang="zh-CN" altLang="en-US" sz="2000">
                <a:sym typeface="+mn-ea"/>
              </a:rPr>
              <a:t>易证原理</a:t>
            </a:r>
            <a:endParaRPr lang="zh-CN" altLang="en-US" sz="2000" b="1">
              <a:solidFill>
                <a:schemeClr val="bg1"/>
              </a:solidFill>
              <a:sym typeface="+mn-ea"/>
            </a:endParaRPr>
          </a:p>
        </p:txBody>
      </p:sp>
      <p:sp>
        <p:nvSpPr>
          <p:cNvPr id="21" name="椭圆 20"/>
          <p:cNvSpPr/>
          <p:nvPr/>
        </p:nvSpPr>
        <p:spPr>
          <a:xfrm>
            <a:off x="5553075" y="4996815"/>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2" name="文本框 21"/>
          <p:cNvSpPr txBox="1"/>
          <p:nvPr/>
        </p:nvSpPr>
        <p:spPr>
          <a:xfrm>
            <a:off x="5513070" y="5467985"/>
            <a:ext cx="1289685" cy="398780"/>
          </a:xfrm>
          <a:prstGeom prst="rect">
            <a:avLst/>
          </a:prstGeom>
          <a:noFill/>
        </p:spPr>
        <p:txBody>
          <a:bodyPr wrap="square" rtlCol="0" anchor="t">
            <a:spAutoFit/>
          </a:bodyPr>
          <a:p>
            <a:pPr algn="ctr"/>
            <a:r>
              <a:rPr lang="zh-CN" altLang="en-US" sz="2000">
                <a:sym typeface="+mn-ea"/>
              </a:rPr>
              <a:t>线型原理</a:t>
            </a:r>
            <a:endParaRPr lang="zh-CN" altLang="en-US" sz="2000" b="1">
              <a:solidFill>
                <a:schemeClr val="bg1"/>
              </a:solidFill>
              <a:sym typeface="+mn-ea"/>
            </a:endParaRPr>
          </a:p>
        </p:txBody>
      </p:sp>
      <p:sp>
        <p:nvSpPr>
          <p:cNvPr id="24" name="椭圆 23"/>
          <p:cNvSpPr/>
          <p:nvPr/>
        </p:nvSpPr>
        <p:spPr>
          <a:xfrm>
            <a:off x="7133590" y="5062855"/>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5" name="文本框 24"/>
          <p:cNvSpPr txBox="1"/>
          <p:nvPr/>
        </p:nvSpPr>
        <p:spPr>
          <a:xfrm>
            <a:off x="7093585" y="5514975"/>
            <a:ext cx="1289685" cy="398780"/>
          </a:xfrm>
          <a:prstGeom prst="rect">
            <a:avLst/>
          </a:prstGeom>
          <a:noFill/>
        </p:spPr>
        <p:txBody>
          <a:bodyPr wrap="square" rtlCol="0" anchor="t">
            <a:spAutoFit/>
          </a:bodyPr>
          <a:p>
            <a:pPr algn="ctr"/>
            <a:r>
              <a:rPr lang="zh-CN" altLang="en-US" sz="2000">
                <a:sym typeface="+mn-ea"/>
              </a:rPr>
              <a:t>层次原理</a:t>
            </a:r>
            <a:endParaRPr lang="zh-CN" altLang="en-US" sz="2000" b="1">
              <a:solidFill>
                <a:schemeClr val="bg1"/>
              </a:solidFill>
              <a:sym typeface="+mn-ea"/>
            </a:endParaRPr>
          </a:p>
        </p:txBody>
      </p:sp>
      <p:sp>
        <p:nvSpPr>
          <p:cNvPr id="27" name="椭圆 26"/>
          <p:cNvSpPr/>
          <p:nvPr/>
        </p:nvSpPr>
        <p:spPr>
          <a:xfrm>
            <a:off x="8178165" y="3637915"/>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8" name="文本框 27"/>
          <p:cNvSpPr txBox="1"/>
          <p:nvPr/>
        </p:nvSpPr>
        <p:spPr>
          <a:xfrm>
            <a:off x="8166735" y="4080510"/>
            <a:ext cx="1289685" cy="398780"/>
          </a:xfrm>
          <a:prstGeom prst="rect">
            <a:avLst/>
          </a:prstGeom>
          <a:noFill/>
        </p:spPr>
        <p:txBody>
          <a:bodyPr wrap="square" rtlCol="0" anchor="t">
            <a:spAutoFit/>
          </a:bodyPr>
          <a:p>
            <a:pPr algn="ctr"/>
            <a:r>
              <a:rPr lang="zh-CN" altLang="en-US" sz="2000">
                <a:sym typeface="+mn-ea"/>
              </a:rPr>
              <a:t>对称原理</a:t>
            </a:r>
            <a:endParaRPr lang="zh-CN" altLang="en-US" sz="2000" b="1">
              <a:solidFill>
                <a:schemeClr val="bg1"/>
              </a:solidFill>
              <a:sym typeface="+mn-ea"/>
            </a:endParaRPr>
          </a:p>
        </p:txBody>
      </p:sp>
      <p:sp>
        <p:nvSpPr>
          <p:cNvPr id="29" name="文本框 28"/>
          <p:cNvSpPr txBox="1"/>
          <p:nvPr/>
        </p:nvSpPr>
        <p:spPr>
          <a:xfrm>
            <a:off x="1546225" y="2201545"/>
            <a:ext cx="1647825" cy="2861310"/>
          </a:xfrm>
          <a:prstGeom prst="rect">
            <a:avLst/>
          </a:prstGeom>
          <a:noFill/>
        </p:spPr>
        <p:txBody>
          <a:bodyPr wrap="square" rtlCol="0" anchor="t">
            <a:spAutoFit/>
          </a:bodyPr>
          <a:p>
            <a:pPr indent="0" fontAlgn="auto">
              <a:lnSpc>
                <a:spcPct val="150000"/>
              </a:lnSpc>
            </a:pPr>
            <a:r>
              <a:rPr lang="zh-CN" altLang="en-US" sz="2400">
                <a:sym typeface="+mn-ea"/>
              </a:rPr>
              <a:t>日本的日野克重提出了七个软件避错设计原理</a:t>
            </a:r>
            <a:endParaRPr lang="zh-CN" altLang="en-US" sz="240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软件避错设计</a:t>
            </a:r>
            <a:r>
              <a:rPr lang="zh-CN" altLang="en-US">
                <a:solidFill>
                  <a:srgbClr val="C00000"/>
                </a:solidFill>
                <a:sym typeface="+mn-ea"/>
              </a:rPr>
              <a:t>原理</a:t>
            </a:r>
            <a:endParaRPr lang="zh-CN" altLang="en-US">
              <a:solidFill>
                <a:srgbClr val="C00000"/>
              </a:solidFill>
              <a:sym typeface="+mn-ea"/>
            </a:endParaRPr>
          </a:p>
        </p:txBody>
      </p:sp>
      <p:grpSp>
        <p:nvGrpSpPr>
          <p:cNvPr id="7" name="组合 6"/>
          <p:cNvGrpSpPr/>
          <p:nvPr/>
        </p:nvGrpSpPr>
        <p:grpSpPr>
          <a:xfrm>
            <a:off x="3023870" y="3007995"/>
            <a:ext cx="1289685" cy="1249680"/>
            <a:chOff x="8284" y="4844"/>
            <a:chExt cx="2031" cy="1968"/>
          </a:xfrm>
        </p:grpSpPr>
        <p:sp>
          <p:nvSpPr>
            <p:cNvPr id="5" name="椭圆 4"/>
            <p:cNvSpPr/>
            <p:nvPr/>
          </p:nvSpPr>
          <p:spPr>
            <a:xfrm>
              <a:off x="8347" y="4844"/>
              <a:ext cx="1968" cy="196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6" name="文本框 5"/>
            <p:cNvSpPr txBox="1"/>
            <p:nvPr/>
          </p:nvSpPr>
          <p:spPr>
            <a:xfrm>
              <a:off x="8284" y="5271"/>
              <a:ext cx="2031" cy="1113"/>
            </a:xfrm>
            <a:prstGeom prst="rect">
              <a:avLst/>
            </a:prstGeom>
            <a:noFill/>
          </p:spPr>
          <p:txBody>
            <a:bodyPr wrap="square" rtlCol="0" anchor="t">
              <a:spAutoFit/>
            </a:bodyPr>
            <a:p>
              <a:pPr algn="ctr"/>
              <a:r>
                <a:rPr lang="en-US" altLang="zh-CN" sz="2000" b="1">
                  <a:solidFill>
                    <a:schemeClr val="bg1"/>
                  </a:solidFill>
                  <a:sym typeface="+mn-ea"/>
                </a:rPr>
                <a:t>7</a:t>
              </a:r>
              <a:r>
                <a:rPr lang="zh-CN" altLang="en-US" sz="2000" b="1">
                  <a:solidFill>
                    <a:schemeClr val="bg1"/>
                  </a:solidFill>
                  <a:sym typeface="+mn-ea"/>
                </a:rPr>
                <a:t>项避错设计原理</a:t>
              </a:r>
              <a:endParaRPr lang="zh-CN" altLang="en-US" sz="2000" b="1">
                <a:solidFill>
                  <a:schemeClr val="bg1"/>
                </a:solidFill>
                <a:sym typeface="+mn-ea"/>
              </a:endParaRPr>
            </a:p>
          </p:txBody>
        </p:sp>
      </p:grpSp>
      <p:sp>
        <p:nvSpPr>
          <p:cNvPr id="9" name="椭圆 8"/>
          <p:cNvSpPr/>
          <p:nvPr/>
        </p:nvSpPr>
        <p:spPr>
          <a:xfrm>
            <a:off x="1301115" y="193294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0" name="文本框 9"/>
          <p:cNvSpPr txBox="1"/>
          <p:nvPr/>
        </p:nvSpPr>
        <p:spPr>
          <a:xfrm>
            <a:off x="1261110" y="2385060"/>
            <a:ext cx="1289685" cy="398780"/>
          </a:xfrm>
          <a:prstGeom prst="rect">
            <a:avLst/>
          </a:prstGeom>
          <a:noFill/>
        </p:spPr>
        <p:txBody>
          <a:bodyPr wrap="square" rtlCol="0" anchor="t">
            <a:spAutoFit/>
          </a:bodyPr>
          <a:p>
            <a:pPr algn="ctr"/>
            <a:r>
              <a:rPr lang="zh-CN" altLang="en-US" sz="2000">
                <a:sym typeface="+mn-ea"/>
              </a:rPr>
              <a:t>安全原理</a:t>
            </a:r>
            <a:endParaRPr lang="zh-CN" altLang="en-US" sz="2000" b="1">
              <a:solidFill>
                <a:schemeClr val="bg1"/>
              </a:solidFill>
              <a:sym typeface="+mn-ea"/>
            </a:endParaRPr>
          </a:p>
        </p:txBody>
      </p:sp>
      <p:sp>
        <p:nvSpPr>
          <p:cNvPr id="12" name="椭圆 11"/>
          <p:cNvSpPr/>
          <p:nvPr/>
        </p:nvSpPr>
        <p:spPr>
          <a:xfrm>
            <a:off x="3063875" y="1300480"/>
            <a:ext cx="1249680" cy="1249680"/>
          </a:xfrm>
          <a:prstGeom prst="ellipse">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solidFill>
                <a:schemeClr val="bg1"/>
              </a:solidFill>
            </a:endParaRPr>
          </a:p>
        </p:txBody>
      </p:sp>
      <p:sp>
        <p:nvSpPr>
          <p:cNvPr id="13" name="文本框 12"/>
          <p:cNvSpPr txBox="1"/>
          <p:nvPr/>
        </p:nvSpPr>
        <p:spPr>
          <a:xfrm>
            <a:off x="3063875" y="1755140"/>
            <a:ext cx="1289685" cy="398780"/>
          </a:xfrm>
          <a:prstGeom prst="rect">
            <a:avLst/>
          </a:prstGeom>
          <a:noFill/>
        </p:spPr>
        <p:txBody>
          <a:bodyPr wrap="square" rtlCol="0" anchor="t">
            <a:spAutoFit/>
          </a:bodyPr>
          <a:p>
            <a:pPr algn="ctr"/>
            <a:r>
              <a:rPr lang="zh-CN" altLang="en-US" sz="2000" b="1">
                <a:solidFill>
                  <a:schemeClr val="bg1"/>
                </a:solidFill>
                <a:sym typeface="+mn-ea"/>
              </a:rPr>
              <a:t>简单原理</a:t>
            </a:r>
            <a:endParaRPr lang="zh-CN" altLang="en-US" sz="2000" b="1">
              <a:solidFill>
                <a:schemeClr val="bg1"/>
              </a:solidFill>
              <a:sym typeface="+mn-ea"/>
            </a:endParaRPr>
          </a:p>
        </p:txBody>
      </p:sp>
      <p:sp>
        <p:nvSpPr>
          <p:cNvPr id="15" name="椭圆 14"/>
          <p:cNvSpPr/>
          <p:nvPr/>
        </p:nvSpPr>
        <p:spPr>
          <a:xfrm>
            <a:off x="4982210" y="1882775"/>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6" name="文本框 15"/>
          <p:cNvSpPr txBox="1"/>
          <p:nvPr/>
        </p:nvSpPr>
        <p:spPr>
          <a:xfrm>
            <a:off x="4961255" y="2334895"/>
            <a:ext cx="1289685" cy="398780"/>
          </a:xfrm>
          <a:prstGeom prst="rect">
            <a:avLst/>
          </a:prstGeom>
          <a:noFill/>
        </p:spPr>
        <p:txBody>
          <a:bodyPr wrap="square" rtlCol="0" anchor="t">
            <a:spAutoFit/>
          </a:bodyPr>
          <a:p>
            <a:pPr algn="ctr"/>
            <a:r>
              <a:rPr lang="zh-CN" altLang="en-US" sz="2000">
                <a:sym typeface="+mn-ea"/>
              </a:rPr>
              <a:t>同型原理</a:t>
            </a:r>
            <a:endParaRPr lang="zh-CN" altLang="en-US" sz="2000" b="1">
              <a:solidFill>
                <a:schemeClr val="bg1"/>
              </a:solidFill>
              <a:sym typeface="+mn-ea"/>
            </a:endParaRPr>
          </a:p>
        </p:txBody>
      </p:sp>
      <p:sp>
        <p:nvSpPr>
          <p:cNvPr id="18" name="椭圆 17"/>
          <p:cNvSpPr/>
          <p:nvPr/>
        </p:nvSpPr>
        <p:spPr>
          <a:xfrm>
            <a:off x="1021080" y="371475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9" name="文本框 18"/>
          <p:cNvSpPr txBox="1"/>
          <p:nvPr/>
        </p:nvSpPr>
        <p:spPr>
          <a:xfrm>
            <a:off x="981075" y="4157345"/>
            <a:ext cx="1289685" cy="398780"/>
          </a:xfrm>
          <a:prstGeom prst="rect">
            <a:avLst/>
          </a:prstGeom>
          <a:noFill/>
        </p:spPr>
        <p:txBody>
          <a:bodyPr wrap="square" rtlCol="0" anchor="t">
            <a:spAutoFit/>
          </a:bodyPr>
          <a:p>
            <a:pPr algn="ctr"/>
            <a:r>
              <a:rPr lang="zh-CN" altLang="en-US" sz="2000">
                <a:sym typeface="+mn-ea"/>
              </a:rPr>
              <a:t>易证原理</a:t>
            </a:r>
            <a:endParaRPr lang="zh-CN" altLang="en-US" sz="2000" b="1">
              <a:solidFill>
                <a:schemeClr val="bg1"/>
              </a:solidFill>
              <a:sym typeface="+mn-ea"/>
            </a:endParaRPr>
          </a:p>
        </p:txBody>
      </p:sp>
      <p:sp>
        <p:nvSpPr>
          <p:cNvPr id="21" name="椭圆 20"/>
          <p:cNvSpPr/>
          <p:nvPr/>
        </p:nvSpPr>
        <p:spPr>
          <a:xfrm>
            <a:off x="2357120" y="493776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2" name="文本框 21"/>
          <p:cNvSpPr txBox="1"/>
          <p:nvPr/>
        </p:nvSpPr>
        <p:spPr>
          <a:xfrm>
            <a:off x="2317115" y="5408930"/>
            <a:ext cx="1289685" cy="398780"/>
          </a:xfrm>
          <a:prstGeom prst="rect">
            <a:avLst/>
          </a:prstGeom>
          <a:noFill/>
        </p:spPr>
        <p:txBody>
          <a:bodyPr wrap="square" rtlCol="0" anchor="t">
            <a:spAutoFit/>
          </a:bodyPr>
          <a:p>
            <a:pPr algn="ctr"/>
            <a:r>
              <a:rPr lang="zh-CN" altLang="en-US" sz="2000">
                <a:sym typeface="+mn-ea"/>
              </a:rPr>
              <a:t>线型原理</a:t>
            </a:r>
            <a:endParaRPr lang="zh-CN" altLang="en-US" sz="2000" b="1">
              <a:solidFill>
                <a:schemeClr val="bg1"/>
              </a:solidFill>
              <a:sym typeface="+mn-ea"/>
            </a:endParaRPr>
          </a:p>
        </p:txBody>
      </p:sp>
      <p:sp>
        <p:nvSpPr>
          <p:cNvPr id="24" name="椭圆 23"/>
          <p:cNvSpPr/>
          <p:nvPr/>
        </p:nvSpPr>
        <p:spPr>
          <a:xfrm>
            <a:off x="3937635" y="500380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5" name="文本框 24"/>
          <p:cNvSpPr txBox="1"/>
          <p:nvPr/>
        </p:nvSpPr>
        <p:spPr>
          <a:xfrm>
            <a:off x="3897630" y="5455920"/>
            <a:ext cx="1289685" cy="398780"/>
          </a:xfrm>
          <a:prstGeom prst="rect">
            <a:avLst/>
          </a:prstGeom>
          <a:noFill/>
        </p:spPr>
        <p:txBody>
          <a:bodyPr wrap="square" rtlCol="0" anchor="t">
            <a:spAutoFit/>
          </a:bodyPr>
          <a:p>
            <a:pPr algn="ctr"/>
            <a:r>
              <a:rPr lang="zh-CN" altLang="en-US" sz="2000">
                <a:sym typeface="+mn-ea"/>
              </a:rPr>
              <a:t>层次原理</a:t>
            </a:r>
            <a:endParaRPr lang="zh-CN" altLang="en-US" sz="2000" b="1">
              <a:solidFill>
                <a:schemeClr val="bg1"/>
              </a:solidFill>
              <a:sym typeface="+mn-ea"/>
            </a:endParaRPr>
          </a:p>
        </p:txBody>
      </p:sp>
      <p:sp>
        <p:nvSpPr>
          <p:cNvPr id="27" name="椭圆 26"/>
          <p:cNvSpPr/>
          <p:nvPr/>
        </p:nvSpPr>
        <p:spPr>
          <a:xfrm>
            <a:off x="4982210" y="357886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8" name="文本框 27"/>
          <p:cNvSpPr txBox="1"/>
          <p:nvPr/>
        </p:nvSpPr>
        <p:spPr>
          <a:xfrm>
            <a:off x="4970780" y="4021455"/>
            <a:ext cx="1289685" cy="398780"/>
          </a:xfrm>
          <a:prstGeom prst="rect">
            <a:avLst/>
          </a:prstGeom>
          <a:noFill/>
        </p:spPr>
        <p:txBody>
          <a:bodyPr wrap="square" rtlCol="0" anchor="t">
            <a:spAutoFit/>
          </a:bodyPr>
          <a:p>
            <a:pPr algn="ctr"/>
            <a:r>
              <a:rPr lang="zh-CN" altLang="en-US" sz="2000">
                <a:sym typeface="+mn-ea"/>
              </a:rPr>
              <a:t>对称原理</a:t>
            </a:r>
            <a:endParaRPr lang="zh-CN" altLang="en-US" sz="2000" b="1">
              <a:solidFill>
                <a:schemeClr val="bg1"/>
              </a:solidFill>
              <a:sym typeface="+mn-ea"/>
            </a:endParaRPr>
          </a:p>
        </p:txBody>
      </p:sp>
      <p:sp>
        <p:nvSpPr>
          <p:cNvPr id="3" name="文本框 2"/>
          <p:cNvSpPr txBox="1"/>
          <p:nvPr/>
        </p:nvSpPr>
        <p:spPr>
          <a:xfrm>
            <a:off x="7034530" y="1755140"/>
            <a:ext cx="3995420" cy="4015105"/>
          </a:xfrm>
          <a:prstGeom prst="rect">
            <a:avLst/>
          </a:prstGeom>
        </p:spPr>
        <p:txBody>
          <a:bodyPr wrap="square">
            <a:spAutoFit/>
          </a:bodyPr>
          <a:p>
            <a:pPr marL="0" indent="0" algn="l" fontAlgn="auto">
              <a:spcBef>
                <a:spcPts val="600"/>
              </a:spcBef>
            </a:pPr>
            <a:r>
              <a:rPr lang="zh-CN" altLang="en-US" sz="2400" b="1" i="0">
                <a:solidFill>
                  <a:srgbClr val="C00000"/>
                </a:solidFill>
                <a:latin typeface="-apple-system"/>
                <a:ea typeface="-apple-system"/>
              </a:rPr>
              <a:t>简单原理：</a:t>
            </a:r>
            <a:endParaRPr lang="zh-CN" altLang="en-US" sz="2400" b="1" i="0">
              <a:solidFill>
                <a:srgbClr val="C00000"/>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越简单越好，包括结构简单、关系简单、算法简单、语句简单等</a:t>
            </a:r>
            <a:endParaRPr lang="zh-CN" altLang="en-US" sz="2400" b="0" i="0">
              <a:solidFill>
                <a:srgbClr val="191B1F"/>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a:t>
            </a:r>
            <a:r>
              <a:rPr lang="zh-CN" altLang="en-US" sz="2400" b="1" i="0">
                <a:solidFill>
                  <a:srgbClr val="0070C0"/>
                </a:solidFill>
                <a:latin typeface="-apple-system"/>
                <a:ea typeface="-apple-system"/>
              </a:rPr>
              <a:t>抽象与逐步求精</a:t>
            </a:r>
            <a:r>
              <a:rPr lang="zh-CN" altLang="en-US" sz="2400" b="0" i="0">
                <a:solidFill>
                  <a:srgbClr val="191B1F"/>
                </a:solidFill>
                <a:latin typeface="-apple-system"/>
                <a:ea typeface="-apple-system"/>
              </a:rPr>
              <a:t>”和“</a:t>
            </a:r>
            <a:r>
              <a:rPr lang="zh-CN" altLang="en-US" sz="2400" b="1" i="0">
                <a:solidFill>
                  <a:srgbClr val="0070C0"/>
                </a:solidFill>
                <a:latin typeface="-apple-system"/>
                <a:ea typeface="-apple-system"/>
              </a:rPr>
              <a:t>封装与信息隐藏</a:t>
            </a:r>
            <a:r>
              <a:rPr lang="zh-CN" altLang="en-US" sz="2400" b="0" i="0">
                <a:solidFill>
                  <a:srgbClr val="191B1F"/>
                </a:solidFill>
                <a:latin typeface="-apple-system"/>
                <a:ea typeface="-apple-system"/>
              </a:rPr>
              <a:t>”是两种简化系统的手段，当然也要注意模块规模适中</a:t>
            </a:r>
            <a:endParaRPr lang="zh-CN" altLang="en-US" sz="2400" b="0" i="0">
              <a:solidFill>
                <a:srgbClr val="191B1F"/>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对接口复杂度和圈复杂度也要有限制</a:t>
            </a:r>
            <a:endParaRPr lang="zh-CN" altLang="en-US" sz="2400" b="0" i="0">
              <a:solidFill>
                <a:srgbClr val="191B1F"/>
              </a:solidFill>
              <a:latin typeface="-apple-system"/>
              <a:ea typeface="-apple-system"/>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软件避错设计</a:t>
            </a:r>
            <a:r>
              <a:rPr lang="zh-CN" altLang="en-US">
                <a:solidFill>
                  <a:srgbClr val="C00000"/>
                </a:solidFill>
                <a:sym typeface="+mn-ea"/>
              </a:rPr>
              <a:t>原理</a:t>
            </a:r>
            <a:endParaRPr lang="zh-CN" altLang="en-US">
              <a:solidFill>
                <a:srgbClr val="C00000"/>
              </a:solidFill>
              <a:sym typeface="+mn-ea"/>
            </a:endParaRPr>
          </a:p>
        </p:txBody>
      </p:sp>
      <p:grpSp>
        <p:nvGrpSpPr>
          <p:cNvPr id="7" name="组合 6"/>
          <p:cNvGrpSpPr/>
          <p:nvPr/>
        </p:nvGrpSpPr>
        <p:grpSpPr>
          <a:xfrm>
            <a:off x="3023870" y="3007995"/>
            <a:ext cx="1289685" cy="1249680"/>
            <a:chOff x="8284" y="4844"/>
            <a:chExt cx="2031" cy="1968"/>
          </a:xfrm>
        </p:grpSpPr>
        <p:sp>
          <p:nvSpPr>
            <p:cNvPr id="5" name="椭圆 4"/>
            <p:cNvSpPr/>
            <p:nvPr/>
          </p:nvSpPr>
          <p:spPr>
            <a:xfrm>
              <a:off x="8347" y="4844"/>
              <a:ext cx="1968" cy="196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6" name="文本框 5"/>
            <p:cNvSpPr txBox="1"/>
            <p:nvPr/>
          </p:nvSpPr>
          <p:spPr>
            <a:xfrm>
              <a:off x="8284" y="5271"/>
              <a:ext cx="2031" cy="1113"/>
            </a:xfrm>
            <a:prstGeom prst="rect">
              <a:avLst/>
            </a:prstGeom>
            <a:noFill/>
          </p:spPr>
          <p:txBody>
            <a:bodyPr wrap="square" rtlCol="0" anchor="t">
              <a:spAutoFit/>
            </a:bodyPr>
            <a:p>
              <a:pPr algn="ctr"/>
              <a:r>
                <a:rPr lang="en-US" altLang="zh-CN" sz="2000" b="1">
                  <a:solidFill>
                    <a:schemeClr val="bg1"/>
                  </a:solidFill>
                  <a:sym typeface="+mn-ea"/>
                </a:rPr>
                <a:t>7</a:t>
              </a:r>
              <a:r>
                <a:rPr lang="zh-CN" altLang="en-US" sz="2000" b="1">
                  <a:solidFill>
                    <a:schemeClr val="bg1"/>
                  </a:solidFill>
                  <a:sym typeface="+mn-ea"/>
                </a:rPr>
                <a:t>项避错设计原理</a:t>
              </a:r>
              <a:endParaRPr lang="zh-CN" altLang="en-US" sz="2000" b="1">
                <a:solidFill>
                  <a:schemeClr val="bg1"/>
                </a:solidFill>
                <a:sym typeface="+mn-ea"/>
              </a:endParaRPr>
            </a:p>
          </p:txBody>
        </p:sp>
      </p:grpSp>
      <p:sp>
        <p:nvSpPr>
          <p:cNvPr id="9" name="椭圆 8"/>
          <p:cNvSpPr/>
          <p:nvPr/>
        </p:nvSpPr>
        <p:spPr>
          <a:xfrm>
            <a:off x="1301115" y="193294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0" name="文本框 9"/>
          <p:cNvSpPr txBox="1"/>
          <p:nvPr/>
        </p:nvSpPr>
        <p:spPr>
          <a:xfrm>
            <a:off x="1261110" y="2385060"/>
            <a:ext cx="1289685" cy="398780"/>
          </a:xfrm>
          <a:prstGeom prst="rect">
            <a:avLst/>
          </a:prstGeom>
          <a:noFill/>
        </p:spPr>
        <p:txBody>
          <a:bodyPr wrap="square" rtlCol="0" anchor="t">
            <a:spAutoFit/>
          </a:bodyPr>
          <a:p>
            <a:pPr algn="ctr"/>
            <a:r>
              <a:rPr lang="zh-CN" altLang="en-US" sz="2000">
                <a:sym typeface="+mn-ea"/>
              </a:rPr>
              <a:t>安全原理</a:t>
            </a:r>
            <a:endParaRPr lang="zh-CN" altLang="en-US" sz="2000" b="1">
              <a:solidFill>
                <a:schemeClr val="bg1"/>
              </a:solidFill>
              <a:sym typeface="+mn-ea"/>
            </a:endParaRPr>
          </a:p>
        </p:txBody>
      </p:sp>
      <p:sp>
        <p:nvSpPr>
          <p:cNvPr id="12" name="椭圆 11"/>
          <p:cNvSpPr/>
          <p:nvPr/>
        </p:nvSpPr>
        <p:spPr>
          <a:xfrm>
            <a:off x="3063875" y="130048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3" name="文本框 12"/>
          <p:cNvSpPr txBox="1"/>
          <p:nvPr/>
        </p:nvSpPr>
        <p:spPr>
          <a:xfrm>
            <a:off x="3063875" y="1755140"/>
            <a:ext cx="1289685" cy="398780"/>
          </a:xfrm>
          <a:prstGeom prst="rect">
            <a:avLst/>
          </a:prstGeom>
          <a:noFill/>
        </p:spPr>
        <p:txBody>
          <a:bodyPr wrap="square" rtlCol="0" anchor="t">
            <a:spAutoFit/>
          </a:bodyPr>
          <a:p>
            <a:pPr lvl="0" algn="ctr">
              <a:buClrTx/>
              <a:buSzTx/>
              <a:buFontTx/>
            </a:pPr>
            <a:r>
              <a:rPr lang="zh-CN" altLang="en-US" sz="2000">
                <a:sym typeface="+mn-ea"/>
              </a:rPr>
              <a:t>简单原理</a:t>
            </a:r>
            <a:endParaRPr lang="zh-CN" altLang="en-US" sz="2000">
              <a:sym typeface="+mn-ea"/>
            </a:endParaRPr>
          </a:p>
        </p:txBody>
      </p:sp>
      <p:sp>
        <p:nvSpPr>
          <p:cNvPr id="15" name="椭圆 14"/>
          <p:cNvSpPr/>
          <p:nvPr/>
        </p:nvSpPr>
        <p:spPr>
          <a:xfrm>
            <a:off x="4982210" y="1882775"/>
            <a:ext cx="1249680" cy="1249680"/>
          </a:xfrm>
          <a:prstGeom prst="ellipse">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olidFill>
                <a:schemeClr val="bg1"/>
              </a:solidFill>
              <a:sym typeface="+mn-ea"/>
            </a:endParaRPr>
          </a:p>
        </p:txBody>
      </p:sp>
      <p:sp>
        <p:nvSpPr>
          <p:cNvPr id="16" name="文本框 15"/>
          <p:cNvSpPr txBox="1"/>
          <p:nvPr/>
        </p:nvSpPr>
        <p:spPr>
          <a:xfrm>
            <a:off x="4961255" y="2334895"/>
            <a:ext cx="1289685" cy="398780"/>
          </a:xfrm>
          <a:prstGeom prst="rect">
            <a:avLst/>
          </a:prstGeom>
          <a:noFill/>
        </p:spPr>
        <p:txBody>
          <a:bodyPr wrap="square" rtlCol="0" anchor="t">
            <a:spAutoFit/>
          </a:bodyPr>
          <a:p>
            <a:pPr lvl="0" algn="ctr">
              <a:buClrTx/>
              <a:buSzTx/>
              <a:buFontTx/>
            </a:pPr>
            <a:r>
              <a:rPr lang="en-US" altLang="zh-CN" sz="2000" b="1">
                <a:solidFill>
                  <a:schemeClr val="bg1"/>
                </a:solidFill>
                <a:sym typeface="+mn-ea"/>
              </a:rPr>
              <a:t>同型原理</a:t>
            </a:r>
            <a:endParaRPr lang="en-US" altLang="zh-CN" sz="2000" b="1">
              <a:solidFill>
                <a:schemeClr val="bg1"/>
              </a:solidFill>
              <a:sym typeface="+mn-ea"/>
            </a:endParaRPr>
          </a:p>
        </p:txBody>
      </p:sp>
      <p:sp>
        <p:nvSpPr>
          <p:cNvPr id="18" name="椭圆 17"/>
          <p:cNvSpPr/>
          <p:nvPr/>
        </p:nvSpPr>
        <p:spPr>
          <a:xfrm>
            <a:off x="1021080" y="371475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9" name="文本框 18"/>
          <p:cNvSpPr txBox="1"/>
          <p:nvPr/>
        </p:nvSpPr>
        <p:spPr>
          <a:xfrm>
            <a:off x="981075" y="4157345"/>
            <a:ext cx="1289685" cy="398780"/>
          </a:xfrm>
          <a:prstGeom prst="rect">
            <a:avLst/>
          </a:prstGeom>
          <a:noFill/>
        </p:spPr>
        <p:txBody>
          <a:bodyPr wrap="square" rtlCol="0" anchor="t">
            <a:spAutoFit/>
          </a:bodyPr>
          <a:p>
            <a:pPr algn="ctr"/>
            <a:r>
              <a:rPr lang="zh-CN" altLang="en-US" sz="2000">
                <a:sym typeface="+mn-ea"/>
              </a:rPr>
              <a:t>易证原理</a:t>
            </a:r>
            <a:endParaRPr lang="zh-CN" altLang="en-US" sz="2000" b="1">
              <a:solidFill>
                <a:schemeClr val="bg1"/>
              </a:solidFill>
              <a:sym typeface="+mn-ea"/>
            </a:endParaRPr>
          </a:p>
        </p:txBody>
      </p:sp>
      <p:sp>
        <p:nvSpPr>
          <p:cNvPr id="21" name="椭圆 20"/>
          <p:cNvSpPr/>
          <p:nvPr/>
        </p:nvSpPr>
        <p:spPr>
          <a:xfrm>
            <a:off x="2357120" y="493776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2" name="文本框 21"/>
          <p:cNvSpPr txBox="1"/>
          <p:nvPr/>
        </p:nvSpPr>
        <p:spPr>
          <a:xfrm>
            <a:off x="2317115" y="5408930"/>
            <a:ext cx="1289685" cy="398780"/>
          </a:xfrm>
          <a:prstGeom prst="rect">
            <a:avLst/>
          </a:prstGeom>
          <a:noFill/>
        </p:spPr>
        <p:txBody>
          <a:bodyPr wrap="square" rtlCol="0" anchor="t">
            <a:spAutoFit/>
          </a:bodyPr>
          <a:p>
            <a:pPr algn="ctr"/>
            <a:r>
              <a:rPr lang="zh-CN" altLang="en-US" sz="2000">
                <a:sym typeface="+mn-ea"/>
              </a:rPr>
              <a:t>线型原理</a:t>
            </a:r>
            <a:endParaRPr lang="zh-CN" altLang="en-US" sz="2000" b="1">
              <a:solidFill>
                <a:schemeClr val="bg1"/>
              </a:solidFill>
              <a:sym typeface="+mn-ea"/>
            </a:endParaRPr>
          </a:p>
        </p:txBody>
      </p:sp>
      <p:sp>
        <p:nvSpPr>
          <p:cNvPr id="24" name="椭圆 23"/>
          <p:cNvSpPr/>
          <p:nvPr/>
        </p:nvSpPr>
        <p:spPr>
          <a:xfrm>
            <a:off x="3937635" y="500380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5" name="文本框 24"/>
          <p:cNvSpPr txBox="1"/>
          <p:nvPr/>
        </p:nvSpPr>
        <p:spPr>
          <a:xfrm>
            <a:off x="3897630" y="5455920"/>
            <a:ext cx="1289685" cy="398780"/>
          </a:xfrm>
          <a:prstGeom prst="rect">
            <a:avLst/>
          </a:prstGeom>
          <a:noFill/>
        </p:spPr>
        <p:txBody>
          <a:bodyPr wrap="square" rtlCol="0" anchor="t">
            <a:spAutoFit/>
          </a:bodyPr>
          <a:p>
            <a:pPr algn="ctr"/>
            <a:r>
              <a:rPr lang="zh-CN" altLang="en-US" sz="2000">
                <a:sym typeface="+mn-ea"/>
              </a:rPr>
              <a:t>层次原理</a:t>
            </a:r>
            <a:endParaRPr lang="zh-CN" altLang="en-US" sz="2000" b="1">
              <a:solidFill>
                <a:schemeClr val="bg1"/>
              </a:solidFill>
              <a:sym typeface="+mn-ea"/>
            </a:endParaRPr>
          </a:p>
        </p:txBody>
      </p:sp>
      <p:sp>
        <p:nvSpPr>
          <p:cNvPr id="27" name="椭圆 26"/>
          <p:cNvSpPr/>
          <p:nvPr/>
        </p:nvSpPr>
        <p:spPr>
          <a:xfrm>
            <a:off x="4982210" y="357886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8" name="文本框 27"/>
          <p:cNvSpPr txBox="1"/>
          <p:nvPr/>
        </p:nvSpPr>
        <p:spPr>
          <a:xfrm>
            <a:off x="4970780" y="4021455"/>
            <a:ext cx="1289685" cy="398780"/>
          </a:xfrm>
          <a:prstGeom prst="rect">
            <a:avLst/>
          </a:prstGeom>
          <a:noFill/>
        </p:spPr>
        <p:txBody>
          <a:bodyPr wrap="square" rtlCol="0" anchor="t">
            <a:spAutoFit/>
          </a:bodyPr>
          <a:p>
            <a:pPr algn="ctr"/>
            <a:r>
              <a:rPr lang="zh-CN" altLang="en-US" sz="2000">
                <a:sym typeface="+mn-ea"/>
              </a:rPr>
              <a:t>对称原理</a:t>
            </a:r>
            <a:endParaRPr lang="zh-CN" altLang="en-US" sz="2000" b="1">
              <a:solidFill>
                <a:schemeClr val="bg1"/>
              </a:solidFill>
              <a:sym typeface="+mn-ea"/>
            </a:endParaRPr>
          </a:p>
        </p:txBody>
      </p:sp>
      <p:sp>
        <p:nvSpPr>
          <p:cNvPr id="3" name="文本框 2"/>
          <p:cNvSpPr txBox="1"/>
          <p:nvPr/>
        </p:nvSpPr>
        <p:spPr>
          <a:xfrm>
            <a:off x="7034530" y="1755140"/>
            <a:ext cx="3995420" cy="2461260"/>
          </a:xfrm>
          <a:prstGeom prst="rect">
            <a:avLst/>
          </a:prstGeom>
        </p:spPr>
        <p:txBody>
          <a:bodyPr wrap="square">
            <a:spAutoFit/>
          </a:bodyPr>
          <a:p>
            <a:pPr marL="0" indent="0" algn="l" fontAlgn="auto">
              <a:spcBef>
                <a:spcPts val="600"/>
              </a:spcBef>
            </a:pPr>
            <a:r>
              <a:rPr lang="zh-CN" altLang="en-US" sz="2400" b="1" i="0">
                <a:solidFill>
                  <a:srgbClr val="C00000"/>
                </a:solidFill>
                <a:latin typeface="-apple-system"/>
                <a:ea typeface="-apple-system"/>
              </a:rPr>
              <a:t>同型原理：</a:t>
            </a:r>
            <a:endParaRPr lang="zh-CN" altLang="en-US" sz="2400" b="1" i="0">
              <a:solidFill>
                <a:srgbClr val="C00000"/>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保持形式一样，包括需求建模方法统一、设计描述方法统一、编程风格统一等</a:t>
            </a:r>
            <a:endParaRPr lang="zh-CN" altLang="en-US" sz="2400" b="0" i="0">
              <a:solidFill>
                <a:srgbClr val="191B1F"/>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形成统一的规范和标准</a:t>
            </a:r>
            <a:endParaRPr lang="zh-CN" altLang="en-US" sz="2400" b="0" i="0">
              <a:solidFill>
                <a:srgbClr val="191B1F"/>
              </a:solidFill>
              <a:latin typeface="-apple-system"/>
              <a:ea typeface="-apple-system"/>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软件避错设计</a:t>
            </a:r>
            <a:r>
              <a:rPr lang="zh-CN" altLang="en-US">
                <a:solidFill>
                  <a:srgbClr val="C00000"/>
                </a:solidFill>
                <a:sym typeface="+mn-ea"/>
              </a:rPr>
              <a:t>原理</a:t>
            </a:r>
            <a:endParaRPr lang="zh-CN" altLang="en-US">
              <a:solidFill>
                <a:srgbClr val="C00000"/>
              </a:solidFill>
              <a:sym typeface="+mn-ea"/>
            </a:endParaRPr>
          </a:p>
        </p:txBody>
      </p:sp>
      <p:grpSp>
        <p:nvGrpSpPr>
          <p:cNvPr id="7" name="组合 6"/>
          <p:cNvGrpSpPr/>
          <p:nvPr/>
        </p:nvGrpSpPr>
        <p:grpSpPr>
          <a:xfrm>
            <a:off x="3023870" y="3007995"/>
            <a:ext cx="1289685" cy="1249680"/>
            <a:chOff x="8284" y="4844"/>
            <a:chExt cx="2031" cy="1968"/>
          </a:xfrm>
        </p:grpSpPr>
        <p:sp>
          <p:nvSpPr>
            <p:cNvPr id="5" name="椭圆 4"/>
            <p:cNvSpPr/>
            <p:nvPr/>
          </p:nvSpPr>
          <p:spPr>
            <a:xfrm>
              <a:off x="8347" y="4844"/>
              <a:ext cx="1968" cy="196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6" name="文本框 5"/>
            <p:cNvSpPr txBox="1"/>
            <p:nvPr/>
          </p:nvSpPr>
          <p:spPr>
            <a:xfrm>
              <a:off x="8284" y="5271"/>
              <a:ext cx="2031" cy="1113"/>
            </a:xfrm>
            <a:prstGeom prst="rect">
              <a:avLst/>
            </a:prstGeom>
            <a:noFill/>
          </p:spPr>
          <p:txBody>
            <a:bodyPr wrap="square" rtlCol="0" anchor="t">
              <a:spAutoFit/>
            </a:bodyPr>
            <a:p>
              <a:pPr algn="ctr"/>
              <a:r>
                <a:rPr lang="en-US" altLang="zh-CN" sz="2000" b="1">
                  <a:solidFill>
                    <a:schemeClr val="bg1"/>
                  </a:solidFill>
                  <a:sym typeface="+mn-ea"/>
                </a:rPr>
                <a:t>7</a:t>
              </a:r>
              <a:r>
                <a:rPr lang="zh-CN" altLang="en-US" sz="2000" b="1">
                  <a:solidFill>
                    <a:schemeClr val="bg1"/>
                  </a:solidFill>
                  <a:sym typeface="+mn-ea"/>
                </a:rPr>
                <a:t>项避错设计原理</a:t>
              </a:r>
              <a:endParaRPr lang="zh-CN" altLang="en-US" sz="2000" b="1">
                <a:solidFill>
                  <a:schemeClr val="bg1"/>
                </a:solidFill>
                <a:sym typeface="+mn-ea"/>
              </a:endParaRPr>
            </a:p>
          </p:txBody>
        </p:sp>
      </p:grpSp>
      <p:sp>
        <p:nvSpPr>
          <p:cNvPr id="9" name="椭圆 8"/>
          <p:cNvSpPr/>
          <p:nvPr/>
        </p:nvSpPr>
        <p:spPr>
          <a:xfrm>
            <a:off x="1301115" y="193294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0" name="文本框 9"/>
          <p:cNvSpPr txBox="1"/>
          <p:nvPr/>
        </p:nvSpPr>
        <p:spPr>
          <a:xfrm>
            <a:off x="1261110" y="2385060"/>
            <a:ext cx="1289685" cy="398780"/>
          </a:xfrm>
          <a:prstGeom prst="rect">
            <a:avLst/>
          </a:prstGeom>
          <a:noFill/>
        </p:spPr>
        <p:txBody>
          <a:bodyPr wrap="square" rtlCol="0" anchor="t">
            <a:spAutoFit/>
          </a:bodyPr>
          <a:p>
            <a:pPr algn="ctr"/>
            <a:r>
              <a:rPr lang="zh-CN" altLang="en-US" sz="2000">
                <a:sym typeface="+mn-ea"/>
              </a:rPr>
              <a:t>安全原理</a:t>
            </a:r>
            <a:endParaRPr lang="zh-CN" altLang="en-US" sz="2000" b="1">
              <a:solidFill>
                <a:schemeClr val="bg1"/>
              </a:solidFill>
              <a:sym typeface="+mn-ea"/>
            </a:endParaRPr>
          </a:p>
        </p:txBody>
      </p:sp>
      <p:sp>
        <p:nvSpPr>
          <p:cNvPr id="12" name="椭圆 11"/>
          <p:cNvSpPr/>
          <p:nvPr/>
        </p:nvSpPr>
        <p:spPr>
          <a:xfrm>
            <a:off x="3063875" y="130048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3" name="文本框 12"/>
          <p:cNvSpPr txBox="1"/>
          <p:nvPr/>
        </p:nvSpPr>
        <p:spPr>
          <a:xfrm>
            <a:off x="3063875" y="1755140"/>
            <a:ext cx="1289685" cy="398780"/>
          </a:xfrm>
          <a:prstGeom prst="rect">
            <a:avLst/>
          </a:prstGeom>
          <a:noFill/>
        </p:spPr>
        <p:txBody>
          <a:bodyPr wrap="square" rtlCol="0" anchor="t">
            <a:spAutoFit/>
          </a:bodyPr>
          <a:p>
            <a:pPr lvl="0" algn="ctr">
              <a:buClrTx/>
              <a:buSzTx/>
              <a:buFontTx/>
            </a:pPr>
            <a:r>
              <a:rPr lang="zh-CN" altLang="en-US" sz="2000">
                <a:sym typeface="+mn-ea"/>
              </a:rPr>
              <a:t>简单原理</a:t>
            </a:r>
            <a:endParaRPr lang="zh-CN" altLang="en-US" sz="2000">
              <a:sym typeface="+mn-ea"/>
            </a:endParaRPr>
          </a:p>
        </p:txBody>
      </p:sp>
      <p:sp>
        <p:nvSpPr>
          <p:cNvPr id="15" name="椭圆 14"/>
          <p:cNvSpPr/>
          <p:nvPr/>
        </p:nvSpPr>
        <p:spPr>
          <a:xfrm>
            <a:off x="4982210" y="1882775"/>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6" name="文本框 15"/>
          <p:cNvSpPr txBox="1"/>
          <p:nvPr/>
        </p:nvSpPr>
        <p:spPr>
          <a:xfrm>
            <a:off x="4961255" y="2334895"/>
            <a:ext cx="1289685" cy="398780"/>
          </a:xfrm>
          <a:prstGeom prst="rect">
            <a:avLst/>
          </a:prstGeom>
          <a:noFill/>
        </p:spPr>
        <p:txBody>
          <a:bodyPr wrap="square" rtlCol="0" anchor="t">
            <a:spAutoFit/>
          </a:bodyPr>
          <a:p>
            <a:pPr lvl="0" algn="ctr">
              <a:buClrTx/>
              <a:buSzTx/>
              <a:buFontTx/>
            </a:pPr>
            <a:r>
              <a:rPr lang="zh-CN" altLang="en-US" sz="2000">
                <a:sym typeface="+mn-ea"/>
              </a:rPr>
              <a:t>同型原理</a:t>
            </a:r>
            <a:endParaRPr lang="zh-CN" altLang="en-US" sz="2000">
              <a:sym typeface="+mn-ea"/>
            </a:endParaRPr>
          </a:p>
        </p:txBody>
      </p:sp>
      <p:sp>
        <p:nvSpPr>
          <p:cNvPr id="18" name="椭圆 17"/>
          <p:cNvSpPr/>
          <p:nvPr/>
        </p:nvSpPr>
        <p:spPr>
          <a:xfrm>
            <a:off x="1021080" y="371475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9" name="文本框 18"/>
          <p:cNvSpPr txBox="1"/>
          <p:nvPr/>
        </p:nvSpPr>
        <p:spPr>
          <a:xfrm>
            <a:off x="981075" y="4157345"/>
            <a:ext cx="1289685" cy="398780"/>
          </a:xfrm>
          <a:prstGeom prst="rect">
            <a:avLst/>
          </a:prstGeom>
          <a:noFill/>
        </p:spPr>
        <p:txBody>
          <a:bodyPr wrap="square" rtlCol="0" anchor="t">
            <a:spAutoFit/>
          </a:bodyPr>
          <a:p>
            <a:pPr algn="ctr"/>
            <a:r>
              <a:rPr lang="zh-CN" altLang="en-US" sz="2000">
                <a:sym typeface="+mn-ea"/>
              </a:rPr>
              <a:t>易证原理</a:t>
            </a:r>
            <a:endParaRPr lang="zh-CN" altLang="en-US" sz="2000" b="1">
              <a:solidFill>
                <a:schemeClr val="bg1"/>
              </a:solidFill>
              <a:sym typeface="+mn-ea"/>
            </a:endParaRPr>
          </a:p>
        </p:txBody>
      </p:sp>
      <p:sp>
        <p:nvSpPr>
          <p:cNvPr id="21" name="椭圆 20"/>
          <p:cNvSpPr/>
          <p:nvPr/>
        </p:nvSpPr>
        <p:spPr>
          <a:xfrm>
            <a:off x="2357120" y="493776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2" name="文本框 21"/>
          <p:cNvSpPr txBox="1"/>
          <p:nvPr/>
        </p:nvSpPr>
        <p:spPr>
          <a:xfrm>
            <a:off x="2317115" y="5408930"/>
            <a:ext cx="1289685" cy="398780"/>
          </a:xfrm>
          <a:prstGeom prst="rect">
            <a:avLst/>
          </a:prstGeom>
          <a:noFill/>
        </p:spPr>
        <p:txBody>
          <a:bodyPr wrap="square" rtlCol="0" anchor="t">
            <a:spAutoFit/>
          </a:bodyPr>
          <a:p>
            <a:pPr algn="ctr"/>
            <a:r>
              <a:rPr lang="zh-CN" altLang="en-US" sz="2000">
                <a:sym typeface="+mn-ea"/>
              </a:rPr>
              <a:t>线型原理</a:t>
            </a:r>
            <a:endParaRPr lang="zh-CN" altLang="en-US" sz="2000" b="1">
              <a:solidFill>
                <a:schemeClr val="bg1"/>
              </a:solidFill>
              <a:sym typeface="+mn-ea"/>
            </a:endParaRPr>
          </a:p>
        </p:txBody>
      </p:sp>
      <p:sp>
        <p:nvSpPr>
          <p:cNvPr id="24" name="椭圆 23"/>
          <p:cNvSpPr/>
          <p:nvPr/>
        </p:nvSpPr>
        <p:spPr>
          <a:xfrm>
            <a:off x="3937635" y="500380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5" name="文本框 24"/>
          <p:cNvSpPr txBox="1"/>
          <p:nvPr/>
        </p:nvSpPr>
        <p:spPr>
          <a:xfrm>
            <a:off x="3897630" y="5455920"/>
            <a:ext cx="1289685" cy="398780"/>
          </a:xfrm>
          <a:prstGeom prst="rect">
            <a:avLst/>
          </a:prstGeom>
          <a:noFill/>
        </p:spPr>
        <p:txBody>
          <a:bodyPr wrap="square" rtlCol="0" anchor="t">
            <a:spAutoFit/>
          </a:bodyPr>
          <a:p>
            <a:pPr algn="ctr"/>
            <a:r>
              <a:rPr lang="zh-CN" altLang="en-US" sz="2000">
                <a:sym typeface="+mn-ea"/>
              </a:rPr>
              <a:t>层次原理</a:t>
            </a:r>
            <a:endParaRPr lang="zh-CN" altLang="en-US" sz="2000" b="1">
              <a:solidFill>
                <a:schemeClr val="bg1"/>
              </a:solidFill>
              <a:sym typeface="+mn-ea"/>
            </a:endParaRPr>
          </a:p>
        </p:txBody>
      </p:sp>
      <p:sp>
        <p:nvSpPr>
          <p:cNvPr id="27" name="椭圆 26"/>
          <p:cNvSpPr/>
          <p:nvPr/>
        </p:nvSpPr>
        <p:spPr>
          <a:xfrm>
            <a:off x="4982210" y="3578860"/>
            <a:ext cx="1249680" cy="1249680"/>
          </a:xfrm>
          <a:prstGeom prst="ellipse">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olidFill>
                <a:schemeClr val="bg1"/>
              </a:solidFill>
              <a:sym typeface="+mn-ea"/>
            </a:endParaRPr>
          </a:p>
        </p:txBody>
      </p:sp>
      <p:sp>
        <p:nvSpPr>
          <p:cNvPr id="28" name="文本框 27"/>
          <p:cNvSpPr txBox="1"/>
          <p:nvPr/>
        </p:nvSpPr>
        <p:spPr>
          <a:xfrm>
            <a:off x="4970780" y="4021455"/>
            <a:ext cx="1289685" cy="398780"/>
          </a:xfrm>
          <a:prstGeom prst="rect">
            <a:avLst/>
          </a:prstGeom>
          <a:noFill/>
        </p:spPr>
        <p:txBody>
          <a:bodyPr wrap="square" rtlCol="0" anchor="t">
            <a:spAutoFit/>
          </a:bodyPr>
          <a:p>
            <a:pPr lvl="0" algn="ctr">
              <a:buClrTx/>
              <a:buSzTx/>
              <a:buFontTx/>
            </a:pPr>
            <a:r>
              <a:rPr lang="en-US" altLang="zh-CN" sz="2000" b="1">
                <a:solidFill>
                  <a:schemeClr val="bg1"/>
                </a:solidFill>
                <a:sym typeface="+mn-ea"/>
              </a:rPr>
              <a:t>对称原理</a:t>
            </a:r>
            <a:endParaRPr lang="en-US" altLang="zh-CN" sz="2000" b="1">
              <a:solidFill>
                <a:schemeClr val="bg1"/>
              </a:solidFill>
              <a:sym typeface="+mn-ea"/>
            </a:endParaRPr>
          </a:p>
        </p:txBody>
      </p:sp>
      <p:sp>
        <p:nvSpPr>
          <p:cNvPr id="3" name="文本框 2"/>
          <p:cNvSpPr txBox="1"/>
          <p:nvPr/>
        </p:nvSpPr>
        <p:spPr>
          <a:xfrm>
            <a:off x="7034530" y="1755140"/>
            <a:ext cx="3995420" cy="4384675"/>
          </a:xfrm>
          <a:prstGeom prst="rect">
            <a:avLst/>
          </a:prstGeom>
        </p:spPr>
        <p:txBody>
          <a:bodyPr wrap="square">
            <a:spAutoFit/>
          </a:bodyPr>
          <a:p>
            <a:pPr marL="0" indent="0" algn="l" fontAlgn="auto">
              <a:spcBef>
                <a:spcPts val="600"/>
              </a:spcBef>
            </a:pPr>
            <a:r>
              <a:rPr lang="zh-CN" altLang="en-US" sz="2400" b="1" i="0">
                <a:solidFill>
                  <a:srgbClr val="C00000"/>
                </a:solidFill>
                <a:latin typeface="-apple-system"/>
                <a:ea typeface="-apple-system"/>
              </a:rPr>
              <a:t>对称原理：</a:t>
            </a:r>
            <a:endParaRPr lang="zh-CN" altLang="en-US" sz="2400" b="1" i="0">
              <a:solidFill>
                <a:srgbClr val="C00000"/>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保持形式对称，包括软件的体系结构、逻辑控制、条件判断、状态处理等形式都力求对称</a:t>
            </a:r>
            <a:endParaRPr lang="zh-CN" altLang="en-US" sz="2400" b="0" i="0">
              <a:solidFill>
                <a:srgbClr val="191B1F"/>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例如有“是”就应该有“非”、有“范围内”就应该有“范围外”、有“正常处理”就应该有“异常处理”</a:t>
            </a:r>
            <a:endParaRPr lang="zh-CN" altLang="en-US" sz="2400" b="0" i="0">
              <a:solidFill>
                <a:srgbClr val="191B1F"/>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如果不对称，就应该重点检查是否存在遗漏</a:t>
            </a:r>
            <a:endParaRPr lang="zh-CN" altLang="en-US" sz="2400" b="0" i="0">
              <a:solidFill>
                <a:srgbClr val="191B1F"/>
              </a:solidFill>
              <a:latin typeface="-apple-system"/>
              <a:ea typeface="-apple-system"/>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软件避错设计</a:t>
            </a:r>
            <a:r>
              <a:rPr lang="zh-CN" altLang="en-US">
                <a:solidFill>
                  <a:srgbClr val="C00000"/>
                </a:solidFill>
                <a:sym typeface="+mn-ea"/>
              </a:rPr>
              <a:t>原理</a:t>
            </a:r>
            <a:endParaRPr lang="zh-CN" altLang="en-US">
              <a:solidFill>
                <a:srgbClr val="C00000"/>
              </a:solidFill>
              <a:sym typeface="+mn-ea"/>
            </a:endParaRPr>
          </a:p>
        </p:txBody>
      </p:sp>
      <p:grpSp>
        <p:nvGrpSpPr>
          <p:cNvPr id="7" name="组合 6"/>
          <p:cNvGrpSpPr/>
          <p:nvPr/>
        </p:nvGrpSpPr>
        <p:grpSpPr>
          <a:xfrm>
            <a:off x="3023870" y="3007995"/>
            <a:ext cx="1289685" cy="1249680"/>
            <a:chOff x="8284" y="4844"/>
            <a:chExt cx="2031" cy="1968"/>
          </a:xfrm>
        </p:grpSpPr>
        <p:sp>
          <p:nvSpPr>
            <p:cNvPr id="5" name="椭圆 4"/>
            <p:cNvSpPr/>
            <p:nvPr/>
          </p:nvSpPr>
          <p:spPr>
            <a:xfrm>
              <a:off x="8347" y="4844"/>
              <a:ext cx="1968" cy="196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6" name="文本框 5"/>
            <p:cNvSpPr txBox="1"/>
            <p:nvPr/>
          </p:nvSpPr>
          <p:spPr>
            <a:xfrm>
              <a:off x="8284" y="5271"/>
              <a:ext cx="2031" cy="1113"/>
            </a:xfrm>
            <a:prstGeom prst="rect">
              <a:avLst/>
            </a:prstGeom>
            <a:noFill/>
          </p:spPr>
          <p:txBody>
            <a:bodyPr wrap="square" rtlCol="0" anchor="t">
              <a:spAutoFit/>
            </a:bodyPr>
            <a:p>
              <a:pPr algn="ctr"/>
              <a:r>
                <a:rPr lang="en-US" altLang="zh-CN" sz="2000" b="1">
                  <a:solidFill>
                    <a:schemeClr val="bg1"/>
                  </a:solidFill>
                  <a:sym typeface="+mn-ea"/>
                </a:rPr>
                <a:t>7</a:t>
              </a:r>
              <a:r>
                <a:rPr lang="zh-CN" altLang="en-US" sz="2000" b="1">
                  <a:solidFill>
                    <a:schemeClr val="bg1"/>
                  </a:solidFill>
                  <a:sym typeface="+mn-ea"/>
                </a:rPr>
                <a:t>项避错设计原理</a:t>
              </a:r>
              <a:endParaRPr lang="zh-CN" altLang="en-US" sz="2000" b="1">
                <a:solidFill>
                  <a:schemeClr val="bg1"/>
                </a:solidFill>
                <a:sym typeface="+mn-ea"/>
              </a:endParaRPr>
            </a:p>
          </p:txBody>
        </p:sp>
      </p:grpSp>
      <p:sp>
        <p:nvSpPr>
          <p:cNvPr id="9" name="椭圆 8"/>
          <p:cNvSpPr/>
          <p:nvPr/>
        </p:nvSpPr>
        <p:spPr>
          <a:xfrm>
            <a:off x="1301115" y="193294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0" name="文本框 9"/>
          <p:cNvSpPr txBox="1"/>
          <p:nvPr/>
        </p:nvSpPr>
        <p:spPr>
          <a:xfrm>
            <a:off x="1261110" y="2385060"/>
            <a:ext cx="1289685" cy="398780"/>
          </a:xfrm>
          <a:prstGeom prst="rect">
            <a:avLst/>
          </a:prstGeom>
          <a:noFill/>
        </p:spPr>
        <p:txBody>
          <a:bodyPr wrap="square" rtlCol="0" anchor="t">
            <a:spAutoFit/>
          </a:bodyPr>
          <a:p>
            <a:pPr algn="ctr"/>
            <a:r>
              <a:rPr lang="zh-CN" altLang="en-US" sz="2000">
                <a:sym typeface="+mn-ea"/>
              </a:rPr>
              <a:t>安全原理</a:t>
            </a:r>
            <a:endParaRPr lang="zh-CN" altLang="en-US" sz="2000" b="1">
              <a:solidFill>
                <a:schemeClr val="bg1"/>
              </a:solidFill>
              <a:sym typeface="+mn-ea"/>
            </a:endParaRPr>
          </a:p>
        </p:txBody>
      </p:sp>
      <p:sp>
        <p:nvSpPr>
          <p:cNvPr id="12" name="椭圆 11"/>
          <p:cNvSpPr/>
          <p:nvPr/>
        </p:nvSpPr>
        <p:spPr>
          <a:xfrm>
            <a:off x="3063875" y="130048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3" name="文本框 12"/>
          <p:cNvSpPr txBox="1"/>
          <p:nvPr/>
        </p:nvSpPr>
        <p:spPr>
          <a:xfrm>
            <a:off x="3063875" y="1755140"/>
            <a:ext cx="1289685" cy="398780"/>
          </a:xfrm>
          <a:prstGeom prst="rect">
            <a:avLst/>
          </a:prstGeom>
          <a:noFill/>
        </p:spPr>
        <p:txBody>
          <a:bodyPr wrap="square" rtlCol="0" anchor="t">
            <a:spAutoFit/>
          </a:bodyPr>
          <a:p>
            <a:pPr lvl="0" algn="ctr">
              <a:buClrTx/>
              <a:buSzTx/>
              <a:buFontTx/>
            </a:pPr>
            <a:r>
              <a:rPr lang="zh-CN" altLang="en-US" sz="2000">
                <a:sym typeface="+mn-ea"/>
              </a:rPr>
              <a:t>简单原理</a:t>
            </a:r>
            <a:endParaRPr lang="zh-CN" altLang="en-US" sz="2000">
              <a:sym typeface="+mn-ea"/>
            </a:endParaRPr>
          </a:p>
        </p:txBody>
      </p:sp>
      <p:sp>
        <p:nvSpPr>
          <p:cNvPr id="15" name="椭圆 14"/>
          <p:cNvSpPr/>
          <p:nvPr/>
        </p:nvSpPr>
        <p:spPr>
          <a:xfrm>
            <a:off x="4982210" y="1882775"/>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6" name="文本框 15"/>
          <p:cNvSpPr txBox="1"/>
          <p:nvPr/>
        </p:nvSpPr>
        <p:spPr>
          <a:xfrm>
            <a:off x="4961255" y="2334895"/>
            <a:ext cx="1289685" cy="398780"/>
          </a:xfrm>
          <a:prstGeom prst="rect">
            <a:avLst/>
          </a:prstGeom>
          <a:noFill/>
        </p:spPr>
        <p:txBody>
          <a:bodyPr wrap="square" rtlCol="0" anchor="t">
            <a:spAutoFit/>
          </a:bodyPr>
          <a:p>
            <a:pPr lvl="0" algn="ctr">
              <a:buClrTx/>
              <a:buSzTx/>
              <a:buFontTx/>
            </a:pPr>
            <a:r>
              <a:rPr lang="zh-CN" altLang="en-US" sz="2000">
                <a:sym typeface="+mn-ea"/>
              </a:rPr>
              <a:t>同型原理</a:t>
            </a:r>
            <a:endParaRPr lang="zh-CN" altLang="en-US" sz="2000">
              <a:sym typeface="+mn-ea"/>
            </a:endParaRPr>
          </a:p>
        </p:txBody>
      </p:sp>
      <p:sp>
        <p:nvSpPr>
          <p:cNvPr id="18" name="椭圆 17"/>
          <p:cNvSpPr/>
          <p:nvPr/>
        </p:nvSpPr>
        <p:spPr>
          <a:xfrm>
            <a:off x="1021080" y="371475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9" name="文本框 18"/>
          <p:cNvSpPr txBox="1"/>
          <p:nvPr/>
        </p:nvSpPr>
        <p:spPr>
          <a:xfrm>
            <a:off x="981075" y="4157345"/>
            <a:ext cx="1289685" cy="398780"/>
          </a:xfrm>
          <a:prstGeom prst="rect">
            <a:avLst/>
          </a:prstGeom>
          <a:noFill/>
        </p:spPr>
        <p:txBody>
          <a:bodyPr wrap="square" rtlCol="0" anchor="t">
            <a:spAutoFit/>
          </a:bodyPr>
          <a:p>
            <a:pPr algn="ctr"/>
            <a:r>
              <a:rPr lang="zh-CN" altLang="en-US" sz="2000">
                <a:sym typeface="+mn-ea"/>
              </a:rPr>
              <a:t>易证原理</a:t>
            </a:r>
            <a:endParaRPr lang="zh-CN" altLang="en-US" sz="2000" b="1">
              <a:solidFill>
                <a:schemeClr val="bg1"/>
              </a:solidFill>
              <a:sym typeface="+mn-ea"/>
            </a:endParaRPr>
          </a:p>
        </p:txBody>
      </p:sp>
      <p:sp>
        <p:nvSpPr>
          <p:cNvPr id="21" name="椭圆 20"/>
          <p:cNvSpPr/>
          <p:nvPr/>
        </p:nvSpPr>
        <p:spPr>
          <a:xfrm>
            <a:off x="2357120" y="493776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2" name="文本框 21"/>
          <p:cNvSpPr txBox="1"/>
          <p:nvPr/>
        </p:nvSpPr>
        <p:spPr>
          <a:xfrm>
            <a:off x="2317115" y="5408930"/>
            <a:ext cx="1289685" cy="398780"/>
          </a:xfrm>
          <a:prstGeom prst="rect">
            <a:avLst/>
          </a:prstGeom>
          <a:noFill/>
        </p:spPr>
        <p:txBody>
          <a:bodyPr wrap="square" rtlCol="0" anchor="t">
            <a:spAutoFit/>
          </a:bodyPr>
          <a:p>
            <a:pPr algn="ctr"/>
            <a:r>
              <a:rPr lang="zh-CN" altLang="en-US" sz="2000">
                <a:sym typeface="+mn-ea"/>
              </a:rPr>
              <a:t>线型原理</a:t>
            </a:r>
            <a:endParaRPr lang="zh-CN" altLang="en-US" sz="2000" b="1">
              <a:solidFill>
                <a:schemeClr val="bg1"/>
              </a:solidFill>
              <a:sym typeface="+mn-ea"/>
            </a:endParaRPr>
          </a:p>
        </p:txBody>
      </p:sp>
      <p:sp>
        <p:nvSpPr>
          <p:cNvPr id="24" name="椭圆 23"/>
          <p:cNvSpPr/>
          <p:nvPr/>
        </p:nvSpPr>
        <p:spPr>
          <a:xfrm>
            <a:off x="3937635" y="5003800"/>
            <a:ext cx="1249680" cy="1249680"/>
          </a:xfrm>
          <a:prstGeom prst="ellipse">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olidFill>
                <a:schemeClr val="bg1"/>
              </a:solidFill>
              <a:sym typeface="+mn-ea"/>
            </a:endParaRPr>
          </a:p>
        </p:txBody>
      </p:sp>
      <p:sp>
        <p:nvSpPr>
          <p:cNvPr id="25" name="文本框 24"/>
          <p:cNvSpPr txBox="1"/>
          <p:nvPr/>
        </p:nvSpPr>
        <p:spPr>
          <a:xfrm>
            <a:off x="3897630" y="5455920"/>
            <a:ext cx="1289685" cy="398780"/>
          </a:xfrm>
          <a:prstGeom prst="rect">
            <a:avLst/>
          </a:prstGeom>
          <a:noFill/>
        </p:spPr>
        <p:txBody>
          <a:bodyPr wrap="square" rtlCol="0" anchor="t">
            <a:spAutoFit/>
          </a:bodyPr>
          <a:p>
            <a:pPr lvl="0" algn="ctr">
              <a:buClrTx/>
              <a:buSzTx/>
              <a:buFontTx/>
            </a:pPr>
            <a:r>
              <a:rPr lang="en-US" altLang="zh-CN" sz="2000" b="1">
                <a:solidFill>
                  <a:schemeClr val="bg1"/>
                </a:solidFill>
                <a:sym typeface="+mn-ea"/>
              </a:rPr>
              <a:t>层次原理</a:t>
            </a:r>
            <a:endParaRPr lang="en-US" altLang="zh-CN" sz="2000" b="1">
              <a:solidFill>
                <a:schemeClr val="bg1"/>
              </a:solidFill>
              <a:sym typeface="+mn-ea"/>
            </a:endParaRPr>
          </a:p>
        </p:txBody>
      </p:sp>
      <p:sp>
        <p:nvSpPr>
          <p:cNvPr id="27" name="椭圆 26"/>
          <p:cNvSpPr/>
          <p:nvPr/>
        </p:nvSpPr>
        <p:spPr>
          <a:xfrm>
            <a:off x="4982210" y="357886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8" name="文本框 27"/>
          <p:cNvSpPr txBox="1"/>
          <p:nvPr/>
        </p:nvSpPr>
        <p:spPr>
          <a:xfrm>
            <a:off x="4970780" y="4021455"/>
            <a:ext cx="1289685" cy="398780"/>
          </a:xfrm>
          <a:prstGeom prst="rect">
            <a:avLst/>
          </a:prstGeom>
          <a:noFill/>
        </p:spPr>
        <p:txBody>
          <a:bodyPr wrap="square" rtlCol="0" anchor="t">
            <a:spAutoFit/>
          </a:bodyPr>
          <a:p>
            <a:pPr lvl="0" algn="ctr">
              <a:buClrTx/>
              <a:buSzTx/>
              <a:buFontTx/>
            </a:pPr>
            <a:r>
              <a:rPr lang="zh-CN" altLang="en-US" sz="2000">
                <a:sym typeface="+mn-ea"/>
              </a:rPr>
              <a:t>对称原理</a:t>
            </a:r>
            <a:endParaRPr lang="zh-CN" altLang="en-US" sz="2000">
              <a:sym typeface="+mn-ea"/>
            </a:endParaRPr>
          </a:p>
        </p:txBody>
      </p:sp>
      <p:sp>
        <p:nvSpPr>
          <p:cNvPr id="3" name="文本框 2"/>
          <p:cNvSpPr txBox="1"/>
          <p:nvPr/>
        </p:nvSpPr>
        <p:spPr>
          <a:xfrm>
            <a:off x="7034530" y="1755140"/>
            <a:ext cx="3995420" cy="2091690"/>
          </a:xfrm>
          <a:prstGeom prst="rect">
            <a:avLst/>
          </a:prstGeom>
        </p:spPr>
        <p:txBody>
          <a:bodyPr wrap="square">
            <a:spAutoFit/>
          </a:bodyPr>
          <a:p>
            <a:pPr marL="0" indent="0" algn="l" fontAlgn="auto">
              <a:spcBef>
                <a:spcPts val="600"/>
              </a:spcBef>
            </a:pPr>
            <a:r>
              <a:rPr lang="zh-CN" altLang="en-US" sz="2400" b="1" i="0">
                <a:solidFill>
                  <a:srgbClr val="C00000"/>
                </a:solidFill>
                <a:latin typeface="-apple-system"/>
                <a:ea typeface="-apple-system"/>
              </a:rPr>
              <a:t>层次原理：</a:t>
            </a:r>
            <a:endParaRPr lang="zh-CN" altLang="en-US" sz="2400" b="1" i="0">
              <a:solidFill>
                <a:srgbClr val="C00000"/>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保持形式上和结构上的层次分明</a:t>
            </a:r>
            <a:endParaRPr lang="zh-CN" altLang="en-US" sz="2400" b="0" i="0">
              <a:solidFill>
                <a:srgbClr val="191B1F"/>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包括需求功能的分层、程序设计的分层等</a:t>
            </a:r>
            <a:endParaRPr lang="zh-CN" altLang="en-US" sz="2400" b="0" i="0">
              <a:solidFill>
                <a:srgbClr val="191B1F"/>
              </a:solidFill>
              <a:latin typeface="-apple-system"/>
              <a:ea typeface="-apple-system"/>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软件避错设计</a:t>
            </a:r>
            <a:r>
              <a:rPr lang="zh-CN" altLang="en-US">
                <a:solidFill>
                  <a:srgbClr val="C00000"/>
                </a:solidFill>
                <a:sym typeface="+mn-ea"/>
              </a:rPr>
              <a:t>原理</a:t>
            </a:r>
            <a:endParaRPr lang="zh-CN" altLang="en-US">
              <a:solidFill>
                <a:srgbClr val="C00000"/>
              </a:solidFill>
              <a:sym typeface="+mn-ea"/>
            </a:endParaRPr>
          </a:p>
        </p:txBody>
      </p:sp>
      <p:grpSp>
        <p:nvGrpSpPr>
          <p:cNvPr id="7" name="组合 6"/>
          <p:cNvGrpSpPr/>
          <p:nvPr/>
        </p:nvGrpSpPr>
        <p:grpSpPr>
          <a:xfrm>
            <a:off x="3023870" y="3007995"/>
            <a:ext cx="1289685" cy="1249680"/>
            <a:chOff x="8284" y="4844"/>
            <a:chExt cx="2031" cy="1968"/>
          </a:xfrm>
        </p:grpSpPr>
        <p:sp>
          <p:nvSpPr>
            <p:cNvPr id="5" name="椭圆 4"/>
            <p:cNvSpPr/>
            <p:nvPr/>
          </p:nvSpPr>
          <p:spPr>
            <a:xfrm>
              <a:off x="8347" y="4844"/>
              <a:ext cx="1968" cy="196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6" name="文本框 5"/>
            <p:cNvSpPr txBox="1"/>
            <p:nvPr/>
          </p:nvSpPr>
          <p:spPr>
            <a:xfrm>
              <a:off x="8284" y="5271"/>
              <a:ext cx="2031" cy="1113"/>
            </a:xfrm>
            <a:prstGeom prst="rect">
              <a:avLst/>
            </a:prstGeom>
            <a:noFill/>
          </p:spPr>
          <p:txBody>
            <a:bodyPr wrap="square" rtlCol="0" anchor="t">
              <a:spAutoFit/>
            </a:bodyPr>
            <a:p>
              <a:pPr algn="ctr"/>
              <a:r>
                <a:rPr lang="en-US" altLang="zh-CN" sz="2000" b="1">
                  <a:solidFill>
                    <a:schemeClr val="bg1"/>
                  </a:solidFill>
                  <a:sym typeface="+mn-ea"/>
                </a:rPr>
                <a:t>7</a:t>
              </a:r>
              <a:r>
                <a:rPr lang="zh-CN" altLang="en-US" sz="2000" b="1">
                  <a:solidFill>
                    <a:schemeClr val="bg1"/>
                  </a:solidFill>
                  <a:sym typeface="+mn-ea"/>
                </a:rPr>
                <a:t>项避错设计原理</a:t>
              </a:r>
              <a:endParaRPr lang="zh-CN" altLang="en-US" sz="2000" b="1">
                <a:solidFill>
                  <a:schemeClr val="bg1"/>
                </a:solidFill>
                <a:sym typeface="+mn-ea"/>
              </a:endParaRPr>
            </a:p>
          </p:txBody>
        </p:sp>
      </p:grpSp>
      <p:sp>
        <p:nvSpPr>
          <p:cNvPr id="9" name="椭圆 8"/>
          <p:cNvSpPr/>
          <p:nvPr/>
        </p:nvSpPr>
        <p:spPr>
          <a:xfrm>
            <a:off x="1301115" y="193294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0" name="文本框 9"/>
          <p:cNvSpPr txBox="1"/>
          <p:nvPr/>
        </p:nvSpPr>
        <p:spPr>
          <a:xfrm>
            <a:off x="1261110" y="2385060"/>
            <a:ext cx="1289685" cy="398780"/>
          </a:xfrm>
          <a:prstGeom prst="rect">
            <a:avLst/>
          </a:prstGeom>
          <a:noFill/>
        </p:spPr>
        <p:txBody>
          <a:bodyPr wrap="square" rtlCol="0" anchor="t">
            <a:spAutoFit/>
          </a:bodyPr>
          <a:p>
            <a:pPr algn="ctr"/>
            <a:r>
              <a:rPr lang="zh-CN" altLang="en-US" sz="2000">
                <a:sym typeface="+mn-ea"/>
              </a:rPr>
              <a:t>安全原理</a:t>
            </a:r>
            <a:endParaRPr lang="zh-CN" altLang="en-US" sz="2000" b="1">
              <a:solidFill>
                <a:schemeClr val="bg1"/>
              </a:solidFill>
              <a:sym typeface="+mn-ea"/>
            </a:endParaRPr>
          </a:p>
        </p:txBody>
      </p:sp>
      <p:sp>
        <p:nvSpPr>
          <p:cNvPr id="12" name="椭圆 11"/>
          <p:cNvSpPr/>
          <p:nvPr/>
        </p:nvSpPr>
        <p:spPr>
          <a:xfrm>
            <a:off x="3063875" y="130048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3" name="文本框 12"/>
          <p:cNvSpPr txBox="1"/>
          <p:nvPr/>
        </p:nvSpPr>
        <p:spPr>
          <a:xfrm>
            <a:off x="3063875" y="1755140"/>
            <a:ext cx="1289685" cy="398780"/>
          </a:xfrm>
          <a:prstGeom prst="rect">
            <a:avLst/>
          </a:prstGeom>
          <a:noFill/>
        </p:spPr>
        <p:txBody>
          <a:bodyPr wrap="square" rtlCol="0" anchor="t">
            <a:spAutoFit/>
          </a:bodyPr>
          <a:p>
            <a:pPr lvl="0" algn="ctr">
              <a:buClrTx/>
              <a:buSzTx/>
              <a:buFontTx/>
            </a:pPr>
            <a:r>
              <a:rPr lang="zh-CN" altLang="en-US" sz="2000">
                <a:sym typeface="+mn-ea"/>
              </a:rPr>
              <a:t>简单原理</a:t>
            </a:r>
            <a:endParaRPr lang="zh-CN" altLang="en-US" sz="2000">
              <a:sym typeface="+mn-ea"/>
            </a:endParaRPr>
          </a:p>
        </p:txBody>
      </p:sp>
      <p:sp>
        <p:nvSpPr>
          <p:cNvPr id="15" name="椭圆 14"/>
          <p:cNvSpPr/>
          <p:nvPr/>
        </p:nvSpPr>
        <p:spPr>
          <a:xfrm>
            <a:off x="4982210" y="1882775"/>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6" name="文本框 15"/>
          <p:cNvSpPr txBox="1"/>
          <p:nvPr/>
        </p:nvSpPr>
        <p:spPr>
          <a:xfrm>
            <a:off x="4961255" y="2334895"/>
            <a:ext cx="1289685" cy="398780"/>
          </a:xfrm>
          <a:prstGeom prst="rect">
            <a:avLst/>
          </a:prstGeom>
          <a:noFill/>
        </p:spPr>
        <p:txBody>
          <a:bodyPr wrap="square" rtlCol="0" anchor="t">
            <a:spAutoFit/>
          </a:bodyPr>
          <a:p>
            <a:pPr lvl="0" algn="ctr">
              <a:buClrTx/>
              <a:buSzTx/>
              <a:buFontTx/>
            </a:pPr>
            <a:r>
              <a:rPr lang="zh-CN" altLang="en-US" sz="2000">
                <a:sym typeface="+mn-ea"/>
              </a:rPr>
              <a:t>同型原理</a:t>
            </a:r>
            <a:endParaRPr lang="zh-CN" altLang="en-US" sz="2000">
              <a:sym typeface="+mn-ea"/>
            </a:endParaRPr>
          </a:p>
        </p:txBody>
      </p:sp>
      <p:sp>
        <p:nvSpPr>
          <p:cNvPr id="18" name="椭圆 17"/>
          <p:cNvSpPr/>
          <p:nvPr/>
        </p:nvSpPr>
        <p:spPr>
          <a:xfrm>
            <a:off x="1021080" y="371475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9" name="文本框 18"/>
          <p:cNvSpPr txBox="1"/>
          <p:nvPr/>
        </p:nvSpPr>
        <p:spPr>
          <a:xfrm>
            <a:off x="981075" y="4157345"/>
            <a:ext cx="1289685" cy="398780"/>
          </a:xfrm>
          <a:prstGeom prst="rect">
            <a:avLst/>
          </a:prstGeom>
          <a:noFill/>
        </p:spPr>
        <p:txBody>
          <a:bodyPr wrap="square" rtlCol="0" anchor="t">
            <a:spAutoFit/>
          </a:bodyPr>
          <a:p>
            <a:pPr algn="ctr"/>
            <a:r>
              <a:rPr lang="zh-CN" altLang="en-US" sz="2000">
                <a:sym typeface="+mn-ea"/>
              </a:rPr>
              <a:t>易证原理</a:t>
            </a:r>
            <a:endParaRPr lang="zh-CN" altLang="en-US" sz="2000" b="1">
              <a:solidFill>
                <a:schemeClr val="bg1"/>
              </a:solidFill>
              <a:sym typeface="+mn-ea"/>
            </a:endParaRPr>
          </a:p>
        </p:txBody>
      </p:sp>
      <p:sp>
        <p:nvSpPr>
          <p:cNvPr id="21" name="椭圆 20"/>
          <p:cNvSpPr/>
          <p:nvPr/>
        </p:nvSpPr>
        <p:spPr>
          <a:xfrm>
            <a:off x="2357120" y="4937760"/>
            <a:ext cx="1249680" cy="1249680"/>
          </a:xfrm>
          <a:prstGeom prst="ellipse">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olidFill>
                <a:schemeClr val="bg1"/>
              </a:solidFill>
              <a:sym typeface="+mn-ea"/>
            </a:endParaRPr>
          </a:p>
        </p:txBody>
      </p:sp>
      <p:sp>
        <p:nvSpPr>
          <p:cNvPr id="22" name="文本框 21"/>
          <p:cNvSpPr txBox="1"/>
          <p:nvPr/>
        </p:nvSpPr>
        <p:spPr>
          <a:xfrm>
            <a:off x="2317115" y="5408930"/>
            <a:ext cx="1289685" cy="398780"/>
          </a:xfrm>
          <a:prstGeom prst="rect">
            <a:avLst/>
          </a:prstGeom>
          <a:noFill/>
        </p:spPr>
        <p:txBody>
          <a:bodyPr wrap="square" rtlCol="0" anchor="t">
            <a:spAutoFit/>
          </a:bodyPr>
          <a:p>
            <a:pPr lvl="0" algn="ctr">
              <a:buClrTx/>
              <a:buSzTx/>
              <a:buFontTx/>
            </a:pPr>
            <a:r>
              <a:rPr lang="en-US" altLang="zh-CN" sz="2000" b="1">
                <a:solidFill>
                  <a:schemeClr val="bg1"/>
                </a:solidFill>
                <a:sym typeface="+mn-ea"/>
              </a:rPr>
              <a:t>线型原理</a:t>
            </a:r>
            <a:endParaRPr lang="en-US" altLang="zh-CN" sz="2000" b="1">
              <a:solidFill>
                <a:schemeClr val="bg1"/>
              </a:solidFill>
              <a:sym typeface="+mn-ea"/>
            </a:endParaRPr>
          </a:p>
        </p:txBody>
      </p:sp>
      <p:sp>
        <p:nvSpPr>
          <p:cNvPr id="24" name="椭圆 23"/>
          <p:cNvSpPr/>
          <p:nvPr/>
        </p:nvSpPr>
        <p:spPr>
          <a:xfrm>
            <a:off x="3937635" y="500380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5" name="文本框 24"/>
          <p:cNvSpPr txBox="1"/>
          <p:nvPr/>
        </p:nvSpPr>
        <p:spPr>
          <a:xfrm>
            <a:off x="3897630" y="5455920"/>
            <a:ext cx="1289685" cy="398780"/>
          </a:xfrm>
          <a:prstGeom prst="rect">
            <a:avLst/>
          </a:prstGeom>
          <a:noFill/>
        </p:spPr>
        <p:txBody>
          <a:bodyPr wrap="square" rtlCol="0" anchor="t">
            <a:spAutoFit/>
          </a:bodyPr>
          <a:p>
            <a:pPr lvl="0" algn="ctr">
              <a:buClrTx/>
              <a:buSzTx/>
              <a:buFontTx/>
            </a:pPr>
            <a:r>
              <a:rPr lang="zh-CN" altLang="en-US" sz="2000">
                <a:sym typeface="+mn-ea"/>
              </a:rPr>
              <a:t>层次原理</a:t>
            </a:r>
            <a:endParaRPr lang="zh-CN" altLang="en-US" sz="2000">
              <a:sym typeface="+mn-ea"/>
            </a:endParaRPr>
          </a:p>
        </p:txBody>
      </p:sp>
      <p:sp>
        <p:nvSpPr>
          <p:cNvPr id="27" name="椭圆 26"/>
          <p:cNvSpPr/>
          <p:nvPr/>
        </p:nvSpPr>
        <p:spPr>
          <a:xfrm>
            <a:off x="4982210" y="357886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8" name="文本框 27"/>
          <p:cNvSpPr txBox="1"/>
          <p:nvPr/>
        </p:nvSpPr>
        <p:spPr>
          <a:xfrm>
            <a:off x="4970780" y="4021455"/>
            <a:ext cx="1289685" cy="398780"/>
          </a:xfrm>
          <a:prstGeom prst="rect">
            <a:avLst/>
          </a:prstGeom>
          <a:noFill/>
        </p:spPr>
        <p:txBody>
          <a:bodyPr wrap="square" rtlCol="0" anchor="t">
            <a:spAutoFit/>
          </a:bodyPr>
          <a:p>
            <a:pPr lvl="0" algn="ctr">
              <a:buClrTx/>
              <a:buSzTx/>
              <a:buFontTx/>
            </a:pPr>
            <a:r>
              <a:rPr lang="zh-CN" altLang="en-US" sz="2000">
                <a:sym typeface="+mn-ea"/>
              </a:rPr>
              <a:t>对称原理</a:t>
            </a:r>
            <a:endParaRPr lang="zh-CN" altLang="en-US" sz="2000">
              <a:sym typeface="+mn-ea"/>
            </a:endParaRPr>
          </a:p>
        </p:txBody>
      </p:sp>
      <p:sp>
        <p:nvSpPr>
          <p:cNvPr id="3" name="文本框 2"/>
          <p:cNvSpPr txBox="1"/>
          <p:nvPr/>
        </p:nvSpPr>
        <p:spPr>
          <a:xfrm>
            <a:off x="7034530" y="1755140"/>
            <a:ext cx="3995420" cy="4092575"/>
          </a:xfrm>
          <a:prstGeom prst="rect">
            <a:avLst/>
          </a:prstGeom>
        </p:spPr>
        <p:txBody>
          <a:bodyPr wrap="square">
            <a:spAutoFit/>
          </a:bodyPr>
          <a:p>
            <a:pPr marL="0" indent="0" algn="l" fontAlgn="auto">
              <a:spcBef>
                <a:spcPts val="600"/>
              </a:spcBef>
            </a:pPr>
            <a:r>
              <a:rPr lang="zh-CN" altLang="en-US" sz="2400" b="1" i="0">
                <a:solidFill>
                  <a:srgbClr val="C00000"/>
                </a:solidFill>
                <a:latin typeface="-apple-system"/>
                <a:ea typeface="-apple-system"/>
              </a:rPr>
              <a:t>线型原理：</a:t>
            </a:r>
            <a:endParaRPr lang="zh-CN" altLang="en-US" sz="2400" b="1" i="0">
              <a:solidFill>
                <a:srgbClr val="C00000"/>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程序结构最好是线型的（顺序结构）</a:t>
            </a:r>
            <a:endParaRPr lang="zh-CN" altLang="en-US" sz="2400" b="0" i="0">
              <a:solidFill>
                <a:srgbClr val="191B1F"/>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最多是矩形的（判断或者循环）</a:t>
            </a:r>
            <a:endParaRPr lang="zh-CN" altLang="en-US" sz="2400" b="0" i="0">
              <a:solidFill>
                <a:srgbClr val="191B1F"/>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避免交叉型的复杂结构</a:t>
            </a:r>
            <a:endParaRPr lang="zh-CN" altLang="en-US" sz="2400" b="0" i="0">
              <a:solidFill>
                <a:srgbClr val="191B1F"/>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例如函数的逆向调用（你中有我、我中有你），</a:t>
            </a:r>
            <a:r>
              <a:rPr lang="zh-CN" altLang="en-US" sz="2400" b="0" i="0">
                <a:solidFill>
                  <a:srgbClr val="191B1F"/>
                </a:solidFill>
                <a:latin typeface="Times New Roman" panose="02020603050405020304" pitchFamily="18" charset="0"/>
                <a:ea typeface="-apple-system"/>
                <a:cs typeface="Times New Roman" panose="02020603050405020304" pitchFamily="18" charset="0"/>
              </a:rPr>
              <a:t>Goto语句，</a:t>
            </a:r>
            <a:r>
              <a:rPr lang="zh-CN" altLang="en-US" sz="2400" b="0" i="0">
                <a:solidFill>
                  <a:srgbClr val="191B1F"/>
                </a:solidFill>
                <a:latin typeface="-apple-system"/>
                <a:ea typeface="-apple-system"/>
              </a:rPr>
              <a:t>多重嵌套的判断或者循环等</a:t>
            </a:r>
            <a:endParaRPr lang="zh-CN" altLang="en-US" sz="2400" b="0" i="0">
              <a:solidFill>
                <a:srgbClr val="191B1F"/>
              </a:solidFill>
              <a:latin typeface="-apple-system"/>
              <a:ea typeface="-apple-system"/>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软件避错设计</a:t>
            </a:r>
            <a:r>
              <a:rPr lang="zh-CN" altLang="en-US">
                <a:solidFill>
                  <a:srgbClr val="C00000"/>
                </a:solidFill>
                <a:sym typeface="+mn-ea"/>
              </a:rPr>
              <a:t>原理</a:t>
            </a:r>
            <a:endParaRPr lang="zh-CN" altLang="en-US">
              <a:solidFill>
                <a:srgbClr val="C00000"/>
              </a:solidFill>
              <a:sym typeface="+mn-ea"/>
            </a:endParaRPr>
          </a:p>
        </p:txBody>
      </p:sp>
      <p:grpSp>
        <p:nvGrpSpPr>
          <p:cNvPr id="7" name="组合 6"/>
          <p:cNvGrpSpPr/>
          <p:nvPr/>
        </p:nvGrpSpPr>
        <p:grpSpPr>
          <a:xfrm>
            <a:off x="3023870" y="3007995"/>
            <a:ext cx="1289685" cy="1249680"/>
            <a:chOff x="8284" y="4844"/>
            <a:chExt cx="2031" cy="1968"/>
          </a:xfrm>
        </p:grpSpPr>
        <p:sp>
          <p:nvSpPr>
            <p:cNvPr id="5" name="椭圆 4"/>
            <p:cNvSpPr/>
            <p:nvPr/>
          </p:nvSpPr>
          <p:spPr>
            <a:xfrm>
              <a:off x="8347" y="4844"/>
              <a:ext cx="1968" cy="196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6" name="文本框 5"/>
            <p:cNvSpPr txBox="1"/>
            <p:nvPr/>
          </p:nvSpPr>
          <p:spPr>
            <a:xfrm>
              <a:off x="8284" y="5271"/>
              <a:ext cx="2031" cy="1113"/>
            </a:xfrm>
            <a:prstGeom prst="rect">
              <a:avLst/>
            </a:prstGeom>
            <a:noFill/>
          </p:spPr>
          <p:txBody>
            <a:bodyPr wrap="square" rtlCol="0" anchor="t">
              <a:spAutoFit/>
            </a:bodyPr>
            <a:p>
              <a:pPr algn="ctr"/>
              <a:r>
                <a:rPr lang="en-US" altLang="zh-CN" sz="2000" b="1">
                  <a:solidFill>
                    <a:schemeClr val="bg1"/>
                  </a:solidFill>
                  <a:sym typeface="+mn-ea"/>
                </a:rPr>
                <a:t>7</a:t>
              </a:r>
              <a:r>
                <a:rPr lang="zh-CN" altLang="en-US" sz="2000" b="1">
                  <a:solidFill>
                    <a:schemeClr val="bg1"/>
                  </a:solidFill>
                  <a:sym typeface="+mn-ea"/>
                </a:rPr>
                <a:t>项避错设计原理</a:t>
              </a:r>
              <a:endParaRPr lang="zh-CN" altLang="en-US" sz="2000" b="1">
                <a:solidFill>
                  <a:schemeClr val="bg1"/>
                </a:solidFill>
                <a:sym typeface="+mn-ea"/>
              </a:endParaRPr>
            </a:p>
          </p:txBody>
        </p:sp>
      </p:grpSp>
      <p:sp>
        <p:nvSpPr>
          <p:cNvPr id="9" name="椭圆 8"/>
          <p:cNvSpPr/>
          <p:nvPr/>
        </p:nvSpPr>
        <p:spPr>
          <a:xfrm>
            <a:off x="1301115" y="193294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0" name="文本框 9"/>
          <p:cNvSpPr txBox="1"/>
          <p:nvPr/>
        </p:nvSpPr>
        <p:spPr>
          <a:xfrm>
            <a:off x="1261110" y="2385060"/>
            <a:ext cx="1289685" cy="398780"/>
          </a:xfrm>
          <a:prstGeom prst="rect">
            <a:avLst/>
          </a:prstGeom>
          <a:noFill/>
        </p:spPr>
        <p:txBody>
          <a:bodyPr wrap="square" rtlCol="0" anchor="t">
            <a:spAutoFit/>
          </a:bodyPr>
          <a:p>
            <a:pPr algn="ctr"/>
            <a:r>
              <a:rPr lang="zh-CN" altLang="en-US" sz="2000">
                <a:sym typeface="+mn-ea"/>
              </a:rPr>
              <a:t>安全原理</a:t>
            </a:r>
            <a:endParaRPr lang="zh-CN" altLang="en-US" sz="2000" b="1">
              <a:solidFill>
                <a:schemeClr val="bg1"/>
              </a:solidFill>
              <a:sym typeface="+mn-ea"/>
            </a:endParaRPr>
          </a:p>
        </p:txBody>
      </p:sp>
      <p:sp>
        <p:nvSpPr>
          <p:cNvPr id="12" name="椭圆 11"/>
          <p:cNvSpPr/>
          <p:nvPr/>
        </p:nvSpPr>
        <p:spPr>
          <a:xfrm>
            <a:off x="3063875" y="130048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3" name="文本框 12"/>
          <p:cNvSpPr txBox="1"/>
          <p:nvPr/>
        </p:nvSpPr>
        <p:spPr>
          <a:xfrm>
            <a:off x="3063875" y="1755140"/>
            <a:ext cx="1289685" cy="398780"/>
          </a:xfrm>
          <a:prstGeom prst="rect">
            <a:avLst/>
          </a:prstGeom>
          <a:noFill/>
        </p:spPr>
        <p:txBody>
          <a:bodyPr wrap="square" rtlCol="0" anchor="t">
            <a:spAutoFit/>
          </a:bodyPr>
          <a:p>
            <a:pPr lvl="0" algn="ctr">
              <a:buClrTx/>
              <a:buSzTx/>
              <a:buFontTx/>
            </a:pPr>
            <a:r>
              <a:rPr lang="zh-CN" altLang="en-US" sz="2000">
                <a:sym typeface="+mn-ea"/>
              </a:rPr>
              <a:t>简单原理</a:t>
            </a:r>
            <a:endParaRPr lang="zh-CN" altLang="en-US" sz="2000">
              <a:sym typeface="+mn-ea"/>
            </a:endParaRPr>
          </a:p>
        </p:txBody>
      </p:sp>
      <p:sp>
        <p:nvSpPr>
          <p:cNvPr id="15" name="椭圆 14"/>
          <p:cNvSpPr/>
          <p:nvPr/>
        </p:nvSpPr>
        <p:spPr>
          <a:xfrm>
            <a:off x="4982210" y="1882775"/>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6" name="文本框 15"/>
          <p:cNvSpPr txBox="1"/>
          <p:nvPr/>
        </p:nvSpPr>
        <p:spPr>
          <a:xfrm>
            <a:off x="4961255" y="2334895"/>
            <a:ext cx="1289685" cy="398780"/>
          </a:xfrm>
          <a:prstGeom prst="rect">
            <a:avLst/>
          </a:prstGeom>
          <a:noFill/>
        </p:spPr>
        <p:txBody>
          <a:bodyPr wrap="square" rtlCol="0" anchor="t">
            <a:spAutoFit/>
          </a:bodyPr>
          <a:p>
            <a:pPr lvl="0" algn="ctr">
              <a:buClrTx/>
              <a:buSzTx/>
              <a:buFontTx/>
            </a:pPr>
            <a:r>
              <a:rPr lang="zh-CN" altLang="en-US" sz="2000">
                <a:sym typeface="+mn-ea"/>
              </a:rPr>
              <a:t>同型原理</a:t>
            </a:r>
            <a:endParaRPr lang="zh-CN" altLang="en-US" sz="2000">
              <a:sym typeface="+mn-ea"/>
            </a:endParaRPr>
          </a:p>
        </p:txBody>
      </p:sp>
      <p:sp>
        <p:nvSpPr>
          <p:cNvPr id="18" name="椭圆 17"/>
          <p:cNvSpPr/>
          <p:nvPr/>
        </p:nvSpPr>
        <p:spPr>
          <a:xfrm>
            <a:off x="1021080" y="3714750"/>
            <a:ext cx="1249680" cy="1249680"/>
          </a:xfrm>
          <a:prstGeom prst="ellipse">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olidFill>
                <a:schemeClr val="bg1"/>
              </a:solidFill>
              <a:sym typeface="+mn-ea"/>
            </a:endParaRPr>
          </a:p>
        </p:txBody>
      </p:sp>
      <p:sp>
        <p:nvSpPr>
          <p:cNvPr id="19" name="文本框 18"/>
          <p:cNvSpPr txBox="1"/>
          <p:nvPr/>
        </p:nvSpPr>
        <p:spPr>
          <a:xfrm>
            <a:off x="981075" y="4157345"/>
            <a:ext cx="1289685" cy="398780"/>
          </a:xfrm>
          <a:prstGeom prst="rect">
            <a:avLst/>
          </a:prstGeom>
          <a:noFill/>
        </p:spPr>
        <p:txBody>
          <a:bodyPr wrap="square" rtlCol="0" anchor="t">
            <a:spAutoFit/>
          </a:bodyPr>
          <a:p>
            <a:pPr lvl="0" algn="ctr">
              <a:buClrTx/>
              <a:buSzTx/>
              <a:buFontTx/>
            </a:pPr>
            <a:r>
              <a:rPr lang="en-US" altLang="zh-CN" sz="2000" b="1">
                <a:solidFill>
                  <a:schemeClr val="bg1"/>
                </a:solidFill>
                <a:sym typeface="+mn-ea"/>
              </a:rPr>
              <a:t>易证原理</a:t>
            </a:r>
            <a:endParaRPr lang="en-US" altLang="zh-CN" sz="2000" b="1">
              <a:solidFill>
                <a:schemeClr val="bg1"/>
              </a:solidFill>
              <a:sym typeface="+mn-ea"/>
            </a:endParaRPr>
          </a:p>
        </p:txBody>
      </p:sp>
      <p:sp>
        <p:nvSpPr>
          <p:cNvPr id="21" name="椭圆 20"/>
          <p:cNvSpPr/>
          <p:nvPr/>
        </p:nvSpPr>
        <p:spPr>
          <a:xfrm>
            <a:off x="2357120" y="493776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2" name="文本框 21"/>
          <p:cNvSpPr txBox="1"/>
          <p:nvPr/>
        </p:nvSpPr>
        <p:spPr>
          <a:xfrm>
            <a:off x="2317115" y="5408930"/>
            <a:ext cx="1289685" cy="398780"/>
          </a:xfrm>
          <a:prstGeom prst="rect">
            <a:avLst/>
          </a:prstGeom>
          <a:noFill/>
        </p:spPr>
        <p:txBody>
          <a:bodyPr wrap="square" rtlCol="0" anchor="t">
            <a:spAutoFit/>
          </a:bodyPr>
          <a:p>
            <a:pPr lvl="0" algn="ctr">
              <a:buClrTx/>
              <a:buSzTx/>
              <a:buFontTx/>
            </a:pPr>
            <a:r>
              <a:rPr lang="zh-CN" altLang="en-US" sz="2000">
                <a:sym typeface="+mn-ea"/>
              </a:rPr>
              <a:t>线型原理</a:t>
            </a:r>
            <a:endParaRPr lang="zh-CN" altLang="en-US" sz="2000">
              <a:sym typeface="+mn-ea"/>
            </a:endParaRPr>
          </a:p>
        </p:txBody>
      </p:sp>
      <p:sp>
        <p:nvSpPr>
          <p:cNvPr id="24" name="椭圆 23"/>
          <p:cNvSpPr/>
          <p:nvPr/>
        </p:nvSpPr>
        <p:spPr>
          <a:xfrm>
            <a:off x="3937635" y="500380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5" name="文本框 24"/>
          <p:cNvSpPr txBox="1"/>
          <p:nvPr/>
        </p:nvSpPr>
        <p:spPr>
          <a:xfrm>
            <a:off x="3897630" y="5455920"/>
            <a:ext cx="1289685" cy="398780"/>
          </a:xfrm>
          <a:prstGeom prst="rect">
            <a:avLst/>
          </a:prstGeom>
          <a:noFill/>
        </p:spPr>
        <p:txBody>
          <a:bodyPr wrap="square" rtlCol="0" anchor="t">
            <a:spAutoFit/>
          </a:bodyPr>
          <a:p>
            <a:pPr lvl="0" algn="ctr">
              <a:buClrTx/>
              <a:buSzTx/>
              <a:buFontTx/>
            </a:pPr>
            <a:r>
              <a:rPr lang="zh-CN" altLang="en-US" sz="2000">
                <a:sym typeface="+mn-ea"/>
              </a:rPr>
              <a:t>层次原理</a:t>
            </a:r>
            <a:endParaRPr lang="zh-CN" altLang="en-US" sz="2000">
              <a:sym typeface="+mn-ea"/>
            </a:endParaRPr>
          </a:p>
        </p:txBody>
      </p:sp>
      <p:sp>
        <p:nvSpPr>
          <p:cNvPr id="27" name="椭圆 26"/>
          <p:cNvSpPr/>
          <p:nvPr/>
        </p:nvSpPr>
        <p:spPr>
          <a:xfrm>
            <a:off x="4982210" y="357886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8" name="文本框 27"/>
          <p:cNvSpPr txBox="1"/>
          <p:nvPr/>
        </p:nvSpPr>
        <p:spPr>
          <a:xfrm>
            <a:off x="4970780" y="4021455"/>
            <a:ext cx="1289685" cy="398780"/>
          </a:xfrm>
          <a:prstGeom prst="rect">
            <a:avLst/>
          </a:prstGeom>
          <a:noFill/>
        </p:spPr>
        <p:txBody>
          <a:bodyPr wrap="square" rtlCol="0" anchor="t">
            <a:spAutoFit/>
          </a:bodyPr>
          <a:p>
            <a:pPr lvl="0" algn="ctr">
              <a:buClrTx/>
              <a:buSzTx/>
              <a:buFontTx/>
            </a:pPr>
            <a:r>
              <a:rPr lang="zh-CN" altLang="en-US" sz="2000">
                <a:sym typeface="+mn-ea"/>
              </a:rPr>
              <a:t>对称原理</a:t>
            </a:r>
            <a:endParaRPr lang="zh-CN" altLang="en-US" sz="2000">
              <a:sym typeface="+mn-ea"/>
            </a:endParaRPr>
          </a:p>
        </p:txBody>
      </p:sp>
      <p:sp>
        <p:nvSpPr>
          <p:cNvPr id="3" name="文本框 2"/>
          <p:cNvSpPr txBox="1"/>
          <p:nvPr/>
        </p:nvSpPr>
        <p:spPr>
          <a:xfrm>
            <a:off x="7034530" y="1755140"/>
            <a:ext cx="3995420" cy="2091690"/>
          </a:xfrm>
          <a:prstGeom prst="rect">
            <a:avLst/>
          </a:prstGeom>
        </p:spPr>
        <p:txBody>
          <a:bodyPr wrap="square">
            <a:spAutoFit/>
          </a:bodyPr>
          <a:p>
            <a:pPr marL="0" indent="0" algn="l" fontAlgn="auto">
              <a:spcBef>
                <a:spcPts val="600"/>
              </a:spcBef>
            </a:pPr>
            <a:r>
              <a:rPr lang="zh-CN" altLang="en-US" sz="2400" b="1" i="0">
                <a:solidFill>
                  <a:srgbClr val="C00000"/>
                </a:solidFill>
                <a:latin typeface="-apple-system"/>
                <a:ea typeface="-apple-system"/>
              </a:rPr>
              <a:t>易</a:t>
            </a:r>
            <a:r>
              <a:rPr lang="zh-CN" altLang="en-US" sz="2400" b="1" i="0">
                <a:solidFill>
                  <a:srgbClr val="C00000"/>
                </a:solidFill>
                <a:latin typeface="-apple-system"/>
                <a:ea typeface="-apple-system"/>
              </a:rPr>
              <a:t>证原理：</a:t>
            </a:r>
            <a:endParaRPr lang="zh-CN" altLang="en-US" sz="2400" b="1" i="0">
              <a:solidFill>
                <a:srgbClr val="C00000"/>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保证程序逻辑清晰并且易于证明</a:t>
            </a:r>
            <a:endParaRPr lang="zh-CN" altLang="en-US" sz="2400" b="0" i="0">
              <a:solidFill>
                <a:srgbClr val="191B1F"/>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软件的形式化验证是易证原理的一种典型应用</a:t>
            </a:r>
            <a:endParaRPr lang="zh-CN" altLang="en-US" sz="2400" b="0" i="0">
              <a:solidFill>
                <a:srgbClr val="191B1F"/>
              </a:solidFill>
              <a:latin typeface="-apple-system"/>
              <a:ea typeface="-apple-system"/>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软件避错设计</a:t>
            </a:r>
            <a:r>
              <a:rPr lang="zh-CN" altLang="en-US">
                <a:solidFill>
                  <a:srgbClr val="C00000"/>
                </a:solidFill>
                <a:sym typeface="+mn-ea"/>
              </a:rPr>
              <a:t>原理</a:t>
            </a:r>
            <a:endParaRPr lang="zh-CN" altLang="en-US">
              <a:solidFill>
                <a:srgbClr val="C00000"/>
              </a:solidFill>
              <a:sym typeface="+mn-ea"/>
            </a:endParaRPr>
          </a:p>
        </p:txBody>
      </p:sp>
      <p:grpSp>
        <p:nvGrpSpPr>
          <p:cNvPr id="7" name="组合 6"/>
          <p:cNvGrpSpPr/>
          <p:nvPr/>
        </p:nvGrpSpPr>
        <p:grpSpPr>
          <a:xfrm>
            <a:off x="3023870" y="3007995"/>
            <a:ext cx="1289685" cy="1249680"/>
            <a:chOff x="8284" y="4844"/>
            <a:chExt cx="2031" cy="1968"/>
          </a:xfrm>
        </p:grpSpPr>
        <p:sp>
          <p:nvSpPr>
            <p:cNvPr id="5" name="椭圆 4"/>
            <p:cNvSpPr/>
            <p:nvPr/>
          </p:nvSpPr>
          <p:spPr>
            <a:xfrm>
              <a:off x="8347" y="4844"/>
              <a:ext cx="1968" cy="1968"/>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6" name="文本框 5"/>
            <p:cNvSpPr txBox="1"/>
            <p:nvPr/>
          </p:nvSpPr>
          <p:spPr>
            <a:xfrm>
              <a:off x="8284" y="5271"/>
              <a:ext cx="2031" cy="1113"/>
            </a:xfrm>
            <a:prstGeom prst="rect">
              <a:avLst/>
            </a:prstGeom>
            <a:noFill/>
          </p:spPr>
          <p:txBody>
            <a:bodyPr wrap="square" rtlCol="0" anchor="t">
              <a:spAutoFit/>
            </a:bodyPr>
            <a:p>
              <a:pPr algn="ctr"/>
              <a:r>
                <a:rPr lang="en-US" altLang="zh-CN" sz="2000" b="1">
                  <a:solidFill>
                    <a:schemeClr val="bg1"/>
                  </a:solidFill>
                  <a:sym typeface="+mn-ea"/>
                </a:rPr>
                <a:t>7</a:t>
              </a:r>
              <a:r>
                <a:rPr lang="zh-CN" altLang="en-US" sz="2000" b="1">
                  <a:solidFill>
                    <a:schemeClr val="bg1"/>
                  </a:solidFill>
                  <a:sym typeface="+mn-ea"/>
                </a:rPr>
                <a:t>项避错设计原理</a:t>
              </a:r>
              <a:endParaRPr lang="zh-CN" altLang="en-US" sz="2000" b="1">
                <a:solidFill>
                  <a:schemeClr val="bg1"/>
                </a:solidFill>
                <a:sym typeface="+mn-ea"/>
              </a:endParaRPr>
            </a:p>
          </p:txBody>
        </p:sp>
      </p:grpSp>
      <p:sp>
        <p:nvSpPr>
          <p:cNvPr id="9" name="椭圆 8"/>
          <p:cNvSpPr/>
          <p:nvPr/>
        </p:nvSpPr>
        <p:spPr>
          <a:xfrm>
            <a:off x="1301115" y="1932940"/>
            <a:ext cx="1249680" cy="1249680"/>
          </a:xfrm>
          <a:prstGeom prst="ellipse">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olidFill>
                <a:schemeClr val="bg1"/>
              </a:solidFill>
              <a:sym typeface="+mn-ea"/>
            </a:endParaRPr>
          </a:p>
        </p:txBody>
      </p:sp>
      <p:sp>
        <p:nvSpPr>
          <p:cNvPr id="10" name="文本框 9"/>
          <p:cNvSpPr txBox="1"/>
          <p:nvPr/>
        </p:nvSpPr>
        <p:spPr>
          <a:xfrm>
            <a:off x="1261110" y="2385060"/>
            <a:ext cx="1289685" cy="398780"/>
          </a:xfrm>
          <a:prstGeom prst="rect">
            <a:avLst/>
          </a:prstGeom>
          <a:noFill/>
        </p:spPr>
        <p:txBody>
          <a:bodyPr wrap="square" rtlCol="0" anchor="t">
            <a:spAutoFit/>
          </a:bodyPr>
          <a:p>
            <a:pPr lvl="0" algn="ctr">
              <a:buClrTx/>
              <a:buSzTx/>
              <a:buFontTx/>
            </a:pPr>
            <a:r>
              <a:rPr lang="en-US" altLang="zh-CN" sz="2000" b="1">
                <a:solidFill>
                  <a:schemeClr val="bg1"/>
                </a:solidFill>
                <a:sym typeface="+mn-ea"/>
              </a:rPr>
              <a:t>安全原理</a:t>
            </a:r>
            <a:endParaRPr lang="en-US" altLang="zh-CN" sz="2000" b="1">
              <a:solidFill>
                <a:schemeClr val="bg1"/>
              </a:solidFill>
              <a:sym typeface="+mn-ea"/>
            </a:endParaRPr>
          </a:p>
        </p:txBody>
      </p:sp>
      <p:sp>
        <p:nvSpPr>
          <p:cNvPr id="12" name="椭圆 11"/>
          <p:cNvSpPr/>
          <p:nvPr/>
        </p:nvSpPr>
        <p:spPr>
          <a:xfrm>
            <a:off x="3063875" y="130048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3" name="文本框 12"/>
          <p:cNvSpPr txBox="1"/>
          <p:nvPr/>
        </p:nvSpPr>
        <p:spPr>
          <a:xfrm>
            <a:off x="3063875" y="1755140"/>
            <a:ext cx="1289685" cy="398780"/>
          </a:xfrm>
          <a:prstGeom prst="rect">
            <a:avLst/>
          </a:prstGeom>
          <a:noFill/>
        </p:spPr>
        <p:txBody>
          <a:bodyPr wrap="square" rtlCol="0" anchor="t">
            <a:spAutoFit/>
          </a:bodyPr>
          <a:p>
            <a:pPr lvl="0" algn="ctr">
              <a:buClrTx/>
              <a:buSzTx/>
              <a:buFontTx/>
            </a:pPr>
            <a:r>
              <a:rPr lang="zh-CN" altLang="en-US" sz="2000">
                <a:sym typeface="+mn-ea"/>
              </a:rPr>
              <a:t>简单原理</a:t>
            </a:r>
            <a:endParaRPr lang="zh-CN" altLang="en-US" sz="2000">
              <a:sym typeface="+mn-ea"/>
            </a:endParaRPr>
          </a:p>
        </p:txBody>
      </p:sp>
      <p:sp>
        <p:nvSpPr>
          <p:cNvPr id="15" name="椭圆 14"/>
          <p:cNvSpPr/>
          <p:nvPr/>
        </p:nvSpPr>
        <p:spPr>
          <a:xfrm>
            <a:off x="4982210" y="1882775"/>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6" name="文本框 15"/>
          <p:cNvSpPr txBox="1"/>
          <p:nvPr/>
        </p:nvSpPr>
        <p:spPr>
          <a:xfrm>
            <a:off x="4961255" y="2334895"/>
            <a:ext cx="1289685" cy="398780"/>
          </a:xfrm>
          <a:prstGeom prst="rect">
            <a:avLst/>
          </a:prstGeom>
          <a:noFill/>
        </p:spPr>
        <p:txBody>
          <a:bodyPr wrap="square" rtlCol="0" anchor="t">
            <a:spAutoFit/>
          </a:bodyPr>
          <a:p>
            <a:pPr lvl="0" algn="ctr">
              <a:buClrTx/>
              <a:buSzTx/>
              <a:buFontTx/>
            </a:pPr>
            <a:r>
              <a:rPr lang="zh-CN" altLang="en-US" sz="2000">
                <a:sym typeface="+mn-ea"/>
              </a:rPr>
              <a:t>同型原理</a:t>
            </a:r>
            <a:endParaRPr lang="zh-CN" altLang="en-US" sz="2000">
              <a:sym typeface="+mn-ea"/>
            </a:endParaRPr>
          </a:p>
        </p:txBody>
      </p:sp>
      <p:sp>
        <p:nvSpPr>
          <p:cNvPr id="18" name="椭圆 17"/>
          <p:cNvSpPr/>
          <p:nvPr/>
        </p:nvSpPr>
        <p:spPr>
          <a:xfrm>
            <a:off x="1021080" y="371475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19" name="文本框 18"/>
          <p:cNvSpPr txBox="1"/>
          <p:nvPr/>
        </p:nvSpPr>
        <p:spPr>
          <a:xfrm>
            <a:off x="981075" y="4157345"/>
            <a:ext cx="1289685" cy="398780"/>
          </a:xfrm>
          <a:prstGeom prst="rect">
            <a:avLst/>
          </a:prstGeom>
          <a:noFill/>
        </p:spPr>
        <p:txBody>
          <a:bodyPr wrap="square" rtlCol="0" anchor="t">
            <a:spAutoFit/>
          </a:bodyPr>
          <a:p>
            <a:pPr lvl="0" algn="ctr">
              <a:buClrTx/>
              <a:buSzTx/>
              <a:buFontTx/>
            </a:pPr>
            <a:r>
              <a:rPr lang="zh-CN" altLang="en-US" sz="2000">
                <a:sym typeface="+mn-ea"/>
              </a:rPr>
              <a:t>易证原理</a:t>
            </a:r>
            <a:endParaRPr lang="zh-CN" altLang="en-US" sz="2000">
              <a:sym typeface="+mn-ea"/>
            </a:endParaRPr>
          </a:p>
        </p:txBody>
      </p:sp>
      <p:sp>
        <p:nvSpPr>
          <p:cNvPr id="21" name="椭圆 20"/>
          <p:cNvSpPr/>
          <p:nvPr/>
        </p:nvSpPr>
        <p:spPr>
          <a:xfrm>
            <a:off x="2357120" y="493776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2" name="文本框 21"/>
          <p:cNvSpPr txBox="1"/>
          <p:nvPr/>
        </p:nvSpPr>
        <p:spPr>
          <a:xfrm>
            <a:off x="2317115" y="5408930"/>
            <a:ext cx="1289685" cy="398780"/>
          </a:xfrm>
          <a:prstGeom prst="rect">
            <a:avLst/>
          </a:prstGeom>
          <a:noFill/>
        </p:spPr>
        <p:txBody>
          <a:bodyPr wrap="square" rtlCol="0" anchor="t">
            <a:spAutoFit/>
          </a:bodyPr>
          <a:p>
            <a:pPr lvl="0" algn="ctr">
              <a:buClrTx/>
              <a:buSzTx/>
              <a:buFontTx/>
            </a:pPr>
            <a:r>
              <a:rPr lang="zh-CN" altLang="en-US" sz="2000">
                <a:sym typeface="+mn-ea"/>
              </a:rPr>
              <a:t>线型原理</a:t>
            </a:r>
            <a:endParaRPr lang="zh-CN" altLang="en-US" sz="2000">
              <a:sym typeface="+mn-ea"/>
            </a:endParaRPr>
          </a:p>
        </p:txBody>
      </p:sp>
      <p:sp>
        <p:nvSpPr>
          <p:cNvPr id="24" name="椭圆 23"/>
          <p:cNvSpPr/>
          <p:nvPr/>
        </p:nvSpPr>
        <p:spPr>
          <a:xfrm>
            <a:off x="3937635" y="500380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5" name="文本框 24"/>
          <p:cNvSpPr txBox="1"/>
          <p:nvPr/>
        </p:nvSpPr>
        <p:spPr>
          <a:xfrm>
            <a:off x="3897630" y="5455920"/>
            <a:ext cx="1289685" cy="398780"/>
          </a:xfrm>
          <a:prstGeom prst="rect">
            <a:avLst/>
          </a:prstGeom>
          <a:noFill/>
        </p:spPr>
        <p:txBody>
          <a:bodyPr wrap="square" rtlCol="0" anchor="t">
            <a:spAutoFit/>
          </a:bodyPr>
          <a:p>
            <a:pPr lvl="0" algn="ctr">
              <a:buClrTx/>
              <a:buSzTx/>
              <a:buFontTx/>
            </a:pPr>
            <a:r>
              <a:rPr lang="zh-CN" altLang="en-US" sz="2000">
                <a:sym typeface="+mn-ea"/>
              </a:rPr>
              <a:t>层次原理</a:t>
            </a:r>
            <a:endParaRPr lang="zh-CN" altLang="en-US" sz="2000">
              <a:sym typeface="+mn-ea"/>
            </a:endParaRPr>
          </a:p>
        </p:txBody>
      </p:sp>
      <p:sp>
        <p:nvSpPr>
          <p:cNvPr id="27" name="椭圆 26"/>
          <p:cNvSpPr/>
          <p:nvPr/>
        </p:nvSpPr>
        <p:spPr>
          <a:xfrm>
            <a:off x="4982210" y="3578860"/>
            <a:ext cx="1249680" cy="1249680"/>
          </a:xfrm>
          <a:prstGeom prst="ellipse">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2000">
              <a:sym typeface="+mn-ea"/>
            </a:endParaRPr>
          </a:p>
        </p:txBody>
      </p:sp>
      <p:sp>
        <p:nvSpPr>
          <p:cNvPr id="28" name="文本框 27"/>
          <p:cNvSpPr txBox="1"/>
          <p:nvPr/>
        </p:nvSpPr>
        <p:spPr>
          <a:xfrm>
            <a:off x="4970780" y="4021455"/>
            <a:ext cx="1289685" cy="398780"/>
          </a:xfrm>
          <a:prstGeom prst="rect">
            <a:avLst/>
          </a:prstGeom>
          <a:noFill/>
        </p:spPr>
        <p:txBody>
          <a:bodyPr wrap="square" rtlCol="0" anchor="t">
            <a:spAutoFit/>
          </a:bodyPr>
          <a:p>
            <a:pPr lvl="0" algn="ctr">
              <a:buClrTx/>
              <a:buSzTx/>
              <a:buFontTx/>
            </a:pPr>
            <a:r>
              <a:rPr lang="zh-CN" altLang="en-US" sz="2000">
                <a:sym typeface="+mn-ea"/>
              </a:rPr>
              <a:t>对称原理</a:t>
            </a:r>
            <a:endParaRPr lang="zh-CN" altLang="en-US" sz="2000">
              <a:sym typeface="+mn-ea"/>
            </a:endParaRPr>
          </a:p>
        </p:txBody>
      </p:sp>
      <p:sp>
        <p:nvSpPr>
          <p:cNvPr id="3" name="文本框 2"/>
          <p:cNvSpPr txBox="1"/>
          <p:nvPr/>
        </p:nvSpPr>
        <p:spPr>
          <a:xfrm>
            <a:off x="7034530" y="1755140"/>
            <a:ext cx="3995420" cy="2461260"/>
          </a:xfrm>
          <a:prstGeom prst="rect">
            <a:avLst/>
          </a:prstGeom>
        </p:spPr>
        <p:txBody>
          <a:bodyPr wrap="square">
            <a:spAutoFit/>
          </a:bodyPr>
          <a:p>
            <a:pPr marL="0" indent="0" algn="l" fontAlgn="auto">
              <a:spcBef>
                <a:spcPts val="600"/>
              </a:spcBef>
            </a:pPr>
            <a:r>
              <a:rPr lang="zh-CN" altLang="en-US" sz="2400" b="1" i="0">
                <a:solidFill>
                  <a:srgbClr val="C00000"/>
                </a:solidFill>
                <a:latin typeface="-apple-system"/>
                <a:ea typeface="-apple-system"/>
              </a:rPr>
              <a:t>安全原理：</a:t>
            </a:r>
            <a:endParaRPr lang="zh-CN" altLang="en-US" sz="2400" b="1" i="0">
              <a:solidFill>
                <a:srgbClr val="C00000"/>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保证程序必然稳妥</a:t>
            </a:r>
            <a:endParaRPr lang="zh-CN" altLang="en-US" sz="2400" b="0" i="0">
              <a:solidFill>
                <a:srgbClr val="191B1F"/>
              </a:solidFill>
              <a:latin typeface="-apple-system"/>
              <a:ea typeface="-apple-system"/>
            </a:endParaRPr>
          </a:p>
          <a:p>
            <a:pPr marL="342900" indent="-342900" algn="l" fontAlgn="auto">
              <a:spcBef>
                <a:spcPts val="600"/>
              </a:spcBef>
              <a:buFont typeface="Arial" panose="020B0604020202020204" pitchFamily="34" charset="0"/>
              <a:buChar char="•"/>
            </a:pPr>
            <a:r>
              <a:rPr lang="zh-CN" altLang="en-US" sz="2400" b="0" i="0">
                <a:solidFill>
                  <a:srgbClr val="191B1F"/>
                </a:solidFill>
                <a:latin typeface="-apple-system"/>
                <a:ea typeface="-apple-system"/>
              </a:rPr>
              <a:t>例如不遗漏可能出现的状态、不遗漏应该执行的操作、充分考虑人为失误和通信错误等</a:t>
            </a:r>
            <a:endParaRPr lang="zh-CN" altLang="en-US" sz="2400" b="0" i="0">
              <a:solidFill>
                <a:srgbClr val="191B1F"/>
              </a:solidFill>
              <a:latin typeface="-apple-system"/>
              <a:ea typeface="-apple-system"/>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5.3 </a:t>
            </a:r>
            <a:r>
              <a:rPr lang="zh-CN" altLang="en-US">
                <a:solidFill>
                  <a:srgbClr val="C00000"/>
                </a:solidFill>
                <a:sym typeface="+mn-ea"/>
              </a:rPr>
              <a:t>软件</a:t>
            </a:r>
            <a:r>
              <a:rPr lang="zh-CN" altLang="en-US">
                <a:solidFill>
                  <a:srgbClr val="C00000"/>
                </a:solidFill>
                <a:sym typeface="+mn-ea"/>
              </a:rPr>
              <a:t>容错设计</a:t>
            </a:r>
            <a:endParaRPr lang="zh-CN" altLang="en-US">
              <a:solidFill>
                <a:srgbClr val="C00000"/>
              </a:solidFill>
              <a:sym typeface="+mn-ea"/>
            </a:endParaRPr>
          </a:p>
        </p:txBody>
      </p:sp>
      <p:sp>
        <p:nvSpPr>
          <p:cNvPr id="5" name="文本框 4"/>
          <p:cNvSpPr txBox="1"/>
          <p:nvPr/>
        </p:nvSpPr>
        <p:spPr>
          <a:xfrm>
            <a:off x="1836420" y="2783840"/>
            <a:ext cx="7873365" cy="645160"/>
          </a:xfrm>
          <a:prstGeom prst="rect">
            <a:avLst/>
          </a:prstGeom>
          <a:noFill/>
        </p:spPr>
        <p:txBody>
          <a:bodyPr wrap="square" rtlCol="0" anchor="t">
            <a:spAutoFit/>
          </a:bodyPr>
          <a:p>
            <a:r>
              <a:rPr lang="zh-CN" altLang="en-US" sz="3600" b="1">
                <a:solidFill>
                  <a:srgbClr val="0070C0"/>
                </a:solidFill>
                <a:sym typeface="+mn-ea"/>
              </a:rPr>
              <a:t>思考：为什么需要进行软件容错设计</a:t>
            </a:r>
            <a:endParaRPr lang="zh-CN" altLang="en-US" sz="3600" b="1">
              <a:solidFill>
                <a:srgbClr val="0070C0"/>
              </a:solidFill>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无缺陷</a:t>
            </a:r>
            <a:r>
              <a:rPr lang="zh-CN" altLang="en-US">
                <a:solidFill>
                  <a:srgbClr val="C00000"/>
                </a:solidFill>
                <a:sym typeface="+mn-ea"/>
              </a:rPr>
              <a:t>很难实现</a:t>
            </a:r>
            <a:endParaRPr lang="zh-CN" altLang="en-US"/>
          </a:p>
        </p:txBody>
      </p:sp>
      <p:sp>
        <p:nvSpPr>
          <p:cNvPr id="3" name="内容占位符 2"/>
          <p:cNvSpPr>
            <a:spLocks noGrp="1"/>
          </p:cNvSpPr>
          <p:nvPr>
            <p:ph idx="1"/>
          </p:nvPr>
        </p:nvSpPr>
        <p:spPr/>
        <p:txBody>
          <a:bodyPr/>
          <a:p>
            <a:r>
              <a:rPr lang="zh-CN" altLang="en-US"/>
              <a:t>无缺陷首先需要软件的</a:t>
            </a:r>
            <a:r>
              <a:rPr lang="zh-CN" altLang="en-US" b="1">
                <a:solidFill>
                  <a:schemeClr val="accent5">
                    <a:lumMod val="75000"/>
                  </a:schemeClr>
                </a:solidFill>
              </a:rPr>
              <a:t>正确性设计</a:t>
            </a:r>
            <a:endParaRPr lang="zh-CN" altLang="en-US"/>
          </a:p>
          <a:p>
            <a:pPr lvl="1"/>
            <a:r>
              <a:rPr lang="zh-CN" altLang="en-US"/>
              <a:t>设计是否正确可以通过</a:t>
            </a:r>
            <a:r>
              <a:rPr lang="zh-CN" altLang="en-US" b="1">
                <a:solidFill>
                  <a:srgbClr val="FF0000"/>
                </a:solidFill>
              </a:rPr>
              <a:t>正确性证明</a:t>
            </a:r>
            <a:r>
              <a:rPr lang="zh-CN" altLang="en-US"/>
              <a:t>。</a:t>
            </a:r>
            <a:endParaRPr lang="zh-CN" altLang="en-US"/>
          </a:p>
          <a:p>
            <a:pPr lvl="2"/>
            <a:r>
              <a:rPr lang="zh-CN" altLang="en-US"/>
              <a:t>它具有一系列的理论基础，但实际上</a:t>
            </a:r>
            <a:r>
              <a:rPr lang="zh-CN" altLang="en-US"/>
              <a:t>很难实现</a:t>
            </a:r>
            <a:endParaRPr lang="zh-CN" altLang="en-US"/>
          </a:p>
          <a:p>
            <a:pPr lvl="1"/>
            <a:r>
              <a:rPr lang="zh-CN" altLang="en-US"/>
              <a:t>设计是否正确也可以</a:t>
            </a:r>
            <a:r>
              <a:rPr lang="zh-CN" altLang="en-US" b="1">
                <a:solidFill>
                  <a:srgbClr val="FF0000"/>
                </a:solidFill>
              </a:rPr>
              <a:t>使用测试来验证</a:t>
            </a:r>
            <a:r>
              <a:rPr lang="zh-CN" altLang="en-US"/>
              <a:t>。</a:t>
            </a:r>
            <a:endParaRPr lang="zh-CN" altLang="en-US"/>
          </a:p>
          <a:p>
            <a:pPr lvl="2"/>
            <a:r>
              <a:rPr lang="zh-CN" altLang="en-US"/>
              <a:t>但是穷举测试在大多数情况下是不现实的。</a:t>
            </a:r>
            <a:endParaRPr lang="zh-CN" altLang="en-US"/>
          </a:p>
          <a:p>
            <a:pPr lvl="2"/>
            <a:r>
              <a:rPr lang="zh-CN" altLang="en-US"/>
              <a:t>目前，测试只能发现缺陷，即使没有发现缺陷也不能保证软件绝对</a:t>
            </a:r>
            <a:r>
              <a:rPr lang="zh-CN" altLang="en-US"/>
              <a:t>正确。</a:t>
            </a: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无缺陷</a:t>
            </a:r>
            <a:r>
              <a:rPr lang="zh-CN" altLang="en-US">
                <a:solidFill>
                  <a:srgbClr val="C00000"/>
                </a:solidFill>
                <a:sym typeface="+mn-ea"/>
              </a:rPr>
              <a:t>很难实现</a:t>
            </a:r>
            <a:endParaRPr lang="zh-CN" altLang="en-US"/>
          </a:p>
        </p:txBody>
      </p:sp>
      <p:sp>
        <p:nvSpPr>
          <p:cNvPr id="3" name="内容占位符 2"/>
          <p:cNvSpPr>
            <a:spLocks noGrp="1"/>
          </p:cNvSpPr>
          <p:nvPr>
            <p:ph idx="1"/>
          </p:nvPr>
        </p:nvSpPr>
        <p:spPr/>
        <p:txBody>
          <a:bodyPr/>
          <a:p>
            <a:r>
              <a:rPr lang="zh-CN" altLang="en-US"/>
              <a:t>实现无缺陷的第二个因素是</a:t>
            </a:r>
            <a:r>
              <a:rPr lang="zh-CN" altLang="en-US" b="1">
                <a:solidFill>
                  <a:schemeClr val="accent5">
                    <a:lumMod val="75000"/>
                  </a:schemeClr>
                </a:solidFill>
              </a:rPr>
              <a:t>实现途径的无故障</a:t>
            </a:r>
            <a:r>
              <a:rPr lang="zh-CN" altLang="en-US"/>
              <a:t>，包括使用的开发</a:t>
            </a:r>
            <a:r>
              <a:rPr lang="zh-CN" altLang="en-US"/>
              <a:t>环境、工具</a:t>
            </a:r>
            <a:r>
              <a:rPr lang="zh-CN" altLang="en-US"/>
              <a:t>等</a:t>
            </a:r>
            <a:endParaRPr lang="zh-CN" altLang="en-US"/>
          </a:p>
          <a:p>
            <a:pPr lvl="1"/>
            <a:r>
              <a:rPr lang="zh-CN" altLang="en-US"/>
              <a:t>软件开发环境，例如编译系统、链接系统、加载调试系统等。同样，这样的环境是否完美，是否正确依然</a:t>
            </a:r>
            <a:r>
              <a:rPr lang="zh-CN" altLang="en-US"/>
              <a:t>难以保证。</a:t>
            </a:r>
            <a:endParaRPr lang="zh-CN" altLang="en-US"/>
          </a:p>
          <a:p>
            <a:pPr lvl="0"/>
            <a:r>
              <a:rPr lang="zh-CN" altLang="en-US"/>
              <a:t>第三个因素是软件产品的</a:t>
            </a:r>
            <a:r>
              <a:rPr lang="zh-CN" altLang="en-US" b="1">
                <a:solidFill>
                  <a:schemeClr val="accent5">
                    <a:lumMod val="75000"/>
                  </a:schemeClr>
                </a:solidFill>
              </a:rPr>
              <a:t>使用环境</a:t>
            </a:r>
            <a:r>
              <a:rPr lang="zh-CN" altLang="en-US"/>
              <a:t>，在实际的软件运行环境中难以保证</a:t>
            </a:r>
            <a:r>
              <a:rPr lang="zh-CN" altLang="en-US"/>
              <a:t>可靠运行。</a:t>
            </a:r>
            <a:endParaRPr lang="zh-CN" altLang="en-US"/>
          </a:p>
        </p:txBody>
      </p:sp>
      <p:sp>
        <p:nvSpPr>
          <p:cNvPr id="5" name="流程图: 可选过程 4"/>
          <p:cNvSpPr/>
          <p:nvPr/>
        </p:nvSpPr>
        <p:spPr>
          <a:xfrm>
            <a:off x="2034540" y="5002530"/>
            <a:ext cx="8289925" cy="1407795"/>
          </a:xfrm>
          <a:prstGeom prst="flowChartAlternateProcess">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150000"/>
              </a:lnSpc>
            </a:pPr>
            <a:r>
              <a:rPr lang="zh-CN" altLang="en-US" sz="2800"/>
              <a:t>必须有技术保证系统在出现故障的情况下也能运行</a:t>
            </a:r>
            <a:endParaRPr lang="zh-CN" altLang="en-US" sz="2800"/>
          </a:p>
          <a:p>
            <a:pPr indent="0" algn="ctr" fontAlgn="auto">
              <a:lnSpc>
                <a:spcPct val="150000"/>
              </a:lnSpc>
            </a:pPr>
            <a:r>
              <a:rPr lang="en-US" altLang="zh-CN" sz="2800"/>
              <a:t>---</a:t>
            </a:r>
            <a:r>
              <a:rPr lang="zh-CN" altLang="en-US" sz="2800"/>
              <a:t>即具有容错特性</a:t>
            </a:r>
            <a:endParaRPr lang="zh-CN" altLang="en-US" sz="2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a:t>
            </a:r>
            <a:r>
              <a:rPr lang="zh-CN" altLang="en-US">
                <a:solidFill>
                  <a:srgbClr val="C00000"/>
                </a:solidFill>
                <a:sym typeface="+mn-ea"/>
              </a:rPr>
              <a:t>冗余</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t>实现容错技术的关键思想是</a:t>
            </a:r>
            <a:r>
              <a:rPr lang="zh-CN" altLang="en-US" b="1">
                <a:solidFill>
                  <a:srgbClr val="FF0000"/>
                </a:solidFill>
              </a:rPr>
              <a:t>冗余</a:t>
            </a:r>
            <a:endParaRPr lang="zh-CN" altLang="en-US"/>
          </a:p>
          <a:p>
            <a:r>
              <a:rPr lang="zh-CN" altLang="en-US"/>
              <a:t>基本思路是采用增加多余资源获得高</a:t>
            </a:r>
            <a:r>
              <a:rPr lang="zh-CN" altLang="en-US"/>
              <a:t>可靠性</a:t>
            </a:r>
            <a:endParaRPr lang="zh-CN" altLang="en-US"/>
          </a:p>
          <a:p>
            <a:r>
              <a:rPr lang="zh-CN" altLang="en-US"/>
              <a:t>冗余数不是越多可靠性就</a:t>
            </a:r>
            <a:r>
              <a:rPr lang="zh-CN" altLang="en-US"/>
              <a:t>越高</a:t>
            </a:r>
            <a:endParaRPr lang="zh-CN" altLang="en-US"/>
          </a:p>
          <a:p>
            <a:r>
              <a:rPr lang="zh-CN" altLang="en-US"/>
              <a:t>冗余的含义是指当系统无故障时取消这些冗余措施不会影响正常的</a:t>
            </a:r>
            <a:r>
              <a:rPr lang="zh-CN" altLang="en-US"/>
              <a:t>运行。</a:t>
            </a:r>
            <a:endParaRPr lang="zh-CN" altLang="en-US"/>
          </a:p>
        </p:txBody>
      </p:sp>
      <p:sp>
        <p:nvSpPr>
          <p:cNvPr id="5" name="流程图: 可选过程 4"/>
          <p:cNvSpPr/>
          <p:nvPr>
            <p:custDataLst>
              <p:tags r:id="rId1"/>
            </p:custDataLst>
          </p:nvPr>
        </p:nvSpPr>
        <p:spPr>
          <a:xfrm>
            <a:off x="2406650" y="5131435"/>
            <a:ext cx="6670675" cy="1045845"/>
          </a:xfrm>
          <a:prstGeom prst="flowChartAlternateProcess">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indent="0" algn="ctr" fontAlgn="auto">
              <a:lnSpc>
                <a:spcPct val="150000"/>
              </a:lnSpc>
            </a:pPr>
            <a:r>
              <a:rPr lang="zh-CN" altLang="en-US" sz="2800" b="1"/>
              <a:t>到底可以对哪些资源进行冗余呢？</a:t>
            </a:r>
            <a:endParaRPr lang="zh-CN" altLang="en-US" sz="2800" b="1"/>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软件冗余</a:t>
            </a:r>
            <a:r>
              <a:rPr lang="zh-CN" altLang="en-US">
                <a:solidFill>
                  <a:srgbClr val="C00000"/>
                </a:solidFill>
                <a:sym typeface="+mn-ea"/>
              </a:rPr>
              <a:t>资源</a:t>
            </a:r>
            <a:endParaRPr lang="zh-CN" altLang="en-US">
              <a:solidFill>
                <a:srgbClr val="C00000"/>
              </a:solidFill>
              <a:sym typeface="+mn-ea"/>
            </a:endParaRPr>
          </a:p>
        </p:txBody>
      </p:sp>
      <p:sp>
        <p:nvSpPr>
          <p:cNvPr id="4" name="椭圆 3"/>
          <p:cNvSpPr/>
          <p:nvPr/>
        </p:nvSpPr>
        <p:spPr>
          <a:xfrm>
            <a:off x="4538345" y="2384425"/>
            <a:ext cx="2424430" cy="242443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3200" b="1"/>
              <a:t>软件冗余资源</a:t>
            </a:r>
            <a:endParaRPr lang="zh-CN" altLang="en-US" sz="3200" b="1"/>
          </a:p>
        </p:txBody>
      </p:sp>
      <p:sp>
        <p:nvSpPr>
          <p:cNvPr id="5" name="椭圆 4"/>
          <p:cNvSpPr/>
          <p:nvPr/>
        </p:nvSpPr>
        <p:spPr>
          <a:xfrm>
            <a:off x="5374640" y="2047875"/>
            <a:ext cx="751840" cy="751840"/>
          </a:xfrm>
          <a:prstGeom prst="ellips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t>时间</a:t>
            </a:r>
            <a:endParaRPr lang="zh-CN" altLang="en-US" sz="2000"/>
          </a:p>
        </p:txBody>
      </p:sp>
      <p:sp>
        <p:nvSpPr>
          <p:cNvPr id="6" name="椭圆 5"/>
          <p:cNvSpPr/>
          <p:nvPr>
            <p:custDataLst>
              <p:tags r:id="rId1"/>
            </p:custDataLst>
          </p:nvPr>
        </p:nvSpPr>
        <p:spPr>
          <a:xfrm>
            <a:off x="6581140" y="3705225"/>
            <a:ext cx="751840" cy="751840"/>
          </a:xfrm>
          <a:prstGeom prst="ellips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t>结构</a:t>
            </a:r>
            <a:endParaRPr lang="zh-CN" altLang="en-US" sz="2000"/>
          </a:p>
        </p:txBody>
      </p:sp>
      <p:sp>
        <p:nvSpPr>
          <p:cNvPr id="7" name="椭圆 6"/>
          <p:cNvSpPr/>
          <p:nvPr>
            <p:custDataLst>
              <p:tags r:id="rId2"/>
            </p:custDataLst>
          </p:nvPr>
        </p:nvSpPr>
        <p:spPr>
          <a:xfrm>
            <a:off x="4307205" y="3705225"/>
            <a:ext cx="751840" cy="751840"/>
          </a:xfrm>
          <a:prstGeom prst="ellipse">
            <a:avLst/>
          </a:prstGeom>
          <a:solidFill>
            <a:schemeClr val="accent2"/>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a:t>信息</a:t>
            </a:r>
            <a:endParaRPr lang="zh-CN" altLang="en-US" sz="2000"/>
          </a:p>
        </p:txBody>
      </p:sp>
      <p:sp>
        <p:nvSpPr>
          <p:cNvPr id="8" name="文本框 7"/>
          <p:cNvSpPr txBox="1"/>
          <p:nvPr/>
        </p:nvSpPr>
        <p:spPr>
          <a:xfrm>
            <a:off x="2702560" y="1413510"/>
            <a:ext cx="6096000" cy="460375"/>
          </a:xfrm>
          <a:prstGeom prst="rect">
            <a:avLst/>
          </a:prstGeom>
          <a:noFill/>
        </p:spPr>
        <p:txBody>
          <a:bodyPr wrap="square" rtlCol="0" anchor="t">
            <a:spAutoFit/>
          </a:bodyPr>
          <a:p>
            <a:r>
              <a:rPr lang="zh-CN" altLang="en-US" sz="2400" b="1">
                <a:solidFill>
                  <a:srgbClr val="0070C0"/>
                </a:solidFill>
                <a:sym typeface="+mn-ea"/>
              </a:rPr>
              <a:t>时间冗余</a:t>
            </a:r>
            <a:r>
              <a:rPr lang="zh-CN" altLang="en-US" sz="2400">
                <a:sym typeface="+mn-ea"/>
              </a:rPr>
              <a:t>通过软件指令的再执行实现</a:t>
            </a:r>
            <a:r>
              <a:rPr lang="zh-CN" altLang="en-US" sz="2400">
                <a:sym typeface="+mn-ea"/>
              </a:rPr>
              <a:t>冗余</a:t>
            </a:r>
            <a:endParaRPr lang="zh-CN" altLang="en-US" sz="2400">
              <a:sym typeface="+mn-ea"/>
            </a:endParaRPr>
          </a:p>
        </p:txBody>
      </p:sp>
      <p:sp>
        <p:nvSpPr>
          <p:cNvPr id="9" name="文本框 8"/>
          <p:cNvSpPr txBox="1"/>
          <p:nvPr>
            <p:custDataLst>
              <p:tags r:id="rId3"/>
            </p:custDataLst>
          </p:nvPr>
        </p:nvSpPr>
        <p:spPr>
          <a:xfrm>
            <a:off x="1192530" y="2575560"/>
            <a:ext cx="2344420" cy="3448685"/>
          </a:xfrm>
          <a:prstGeom prst="rect">
            <a:avLst/>
          </a:prstGeom>
          <a:noFill/>
        </p:spPr>
        <p:txBody>
          <a:bodyPr wrap="square" rtlCol="0" anchor="t">
            <a:spAutoFit/>
          </a:bodyPr>
          <a:p>
            <a:pPr indent="0" fontAlgn="auto">
              <a:lnSpc>
                <a:spcPct val="130000"/>
              </a:lnSpc>
            </a:pPr>
            <a:r>
              <a:rPr lang="zh-CN" altLang="en-US" sz="2400" b="1">
                <a:solidFill>
                  <a:srgbClr val="0070C0"/>
                </a:solidFill>
                <a:sym typeface="+mn-ea"/>
              </a:rPr>
              <a:t>信息冗余</a:t>
            </a:r>
            <a:r>
              <a:rPr lang="zh-CN" altLang="en-US" sz="2400">
                <a:sym typeface="+mn-ea"/>
              </a:rPr>
              <a:t>通过对信息中增加一部分信息码，或将信息存放在多个内存单元，或将信息进行备份等实现</a:t>
            </a:r>
            <a:r>
              <a:rPr lang="zh-CN" altLang="en-US" sz="2400">
                <a:sym typeface="+mn-ea"/>
              </a:rPr>
              <a:t>冗余</a:t>
            </a:r>
            <a:endParaRPr lang="zh-CN" altLang="en-US" sz="2400">
              <a:sym typeface="+mn-ea"/>
            </a:endParaRPr>
          </a:p>
        </p:txBody>
      </p:sp>
      <p:sp>
        <p:nvSpPr>
          <p:cNvPr id="10" name="文本框 9"/>
          <p:cNvSpPr txBox="1"/>
          <p:nvPr>
            <p:custDataLst>
              <p:tags r:id="rId4"/>
            </p:custDataLst>
          </p:nvPr>
        </p:nvSpPr>
        <p:spPr>
          <a:xfrm>
            <a:off x="7893685" y="2575560"/>
            <a:ext cx="2635885" cy="3448685"/>
          </a:xfrm>
          <a:prstGeom prst="rect">
            <a:avLst/>
          </a:prstGeom>
          <a:noFill/>
        </p:spPr>
        <p:txBody>
          <a:bodyPr wrap="square" rtlCol="0" anchor="t">
            <a:spAutoFit/>
          </a:bodyPr>
          <a:p>
            <a:pPr indent="0" fontAlgn="auto">
              <a:lnSpc>
                <a:spcPct val="130000"/>
              </a:lnSpc>
            </a:pPr>
            <a:r>
              <a:rPr lang="zh-CN" altLang="en-US" sz="2400" b="1">
                <a:solidFill>
                  <a:srgbClr val="0070C0"/>
                </a:solidFill>
                <a:sym typeface="+mn-ea"/>
              </a:rPr>
              <a:t>结构冗余</a:t>
            </a:r>
            <a:r>
              <a:rPr lang="zh-CN" altLang="en-US" sz="2400">
                <a:sym typeface="+mn-ea"/>
              </a:rPr>
              <a:t>通过余度配置模块单元或软件配置项来实现冗余，结构冗余包括结构静态冗余、结构动态冗余和结构混合</a:t>
            </a:r>
            <a:r>
              <a:rPr lang="zh-CN" altLang="en-US" sz="2400">
                <a:sym typeface="+mn-ea"/>
              </a:rPr>
              <a:t>冗余</a:t>
            </a:r>
            <a:endParaRPr lang="zh-CN" altLang="en-US" sz="2400">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信息容错</a:t>
            </a:r>
            <a:r>
              <a:rPr lang="en-US" altLang="zh-CN">
                <a:solidFill>
                  <a:srgbClr val="C00000"/>
                </a:solidFill>
                <a:sym typeface="+mn-ea"/>
              </a:rPr>
              <a:t> - </a:t>
            </a:r>
            <a:r>
              <a:rPr lang="zh-CN" altLang="en-US">
                <a:solidFill>
                  <a:srgbClr val="C00000"/>
                </a:solidFill>
                <a:sym typeface="+mn-ea"/>
              </a:rPr>
              <a:t>方式</a:t>
            </a:r>
            <a:r>
              <a:rPr lang="zh-CN" altLang="en-US">
                <a:solidFill>
                  <a:srgbClr val="C00000"/>
                </a:solidFill>
                <a:sym typeface="+mn-ea"/>
              </a:rPr>
              <a:t>一</a:t>
            </a:r>
            <a:endParaRPr lang="zh-CN" altLang="en-US">
              <a:solidFill>
                <a:srgbClr val="C00000"/>
              </a:solidFill>
              <a:sym typeface="+mn-ea"/>
            </a:endParaRPr>
          </a:p>
        </p:txBody>
      </p:sp>
      <p:sp>
        <p:nvSpPr>
          <p:cNvPr id="3" name="内容占位符 2"/>
          <p:cNvSpPr>
            <a:spLocks noGrp="1"/>
          </p:cNvSpPr>
          <p:nvPr>
            <p:ph idx="1"/>
          </p:nvPr>
        </p:nvSpPr>
        <p:spPr/>
        <p:txBody>
          <a:bodyPr>
            <a:normAutofit lnSpcReduction="10000"/>
          </a:bodyPr>
          <a:p>
            <a:r>
              <a:rPr lang="zh-CN" altLang="en-US"/>
              <a:t>信息容错方式之一通过在数据中</a:t>
            </a:r>
            <a:r>
              <a:rPr lang="zh-CN" altLang="en-US" b="1">
                <a:solidFill>
                  <a:srgbClr val="0070C0"/>
                </a:solidFill>
              </a:rPr>
              <a:t>外加一部分冗余信息码</a:t>
            </a:r>
            <a:r>
              <a:rPr lang="zh-CN" altLang="en-US"/>
              <a:t>以达到故障检测、故障屏蔽或容错的</a:t>
            </a:r>
            <a:r>
              <a:rPr lang="zh-CN" altLang="en-US"/>
              <a:t>目的。</a:t>
            </a:r>
            <a:endParaRPr lang="zh-CN" altLang="en-US"/>
          </a:p>
          <a:p>
            <a:pPr lvl="1"/>
            <a:r>
              <a:rPr lang="zh-CN" altLang="en-US"/>
              <a:t>这种方式一般用于数据通信软件系统中，外加的一部分信息常以编码的形式出现，称为</a:t>
            </a:r>
            <a:r>
              <a:rPr lang="zh-CN" altLang="en-US" b="1">
                <a:solidFill>
                  <a:srgbClr val="FF0000"/>
                </a:solidFill>
              </a:rPr>
              <a:t>检错码</a:t>
            </a:r>
            <a:r>
              <a:rPr lang="zh-CN" altLang="en-US"/>
              <a:t>或</a:t>
            </a:r>
            <a:r>
              <a:rPr lang="zh-CN" altLang="en-US" b="1">
                <a:solidFill>
                  <a:srgbClr val="FF0000"/>
                </a:solidFill>
              </a:rPr>
              <a:t>纠错码</a:t>
            </a:r>
            <a:r>
              <a:rPr lang="zh-CN" altLang="en-US"/>
              <a:t>。</a:t>
            </a:r>
            <a:endParaRPr lang="zh-CN" altLang="en-US"/>
          </a:p>
          <a:p>
            <a:pPr lvl="1"/>
            <a:r>
              <a:rPr lang="zh-CN" altLang="en-US"/>
              <a:t>常使用的检错码和纠错码有奇偶校验码、检验和、海明码、循环冗余校验</a:t>
            </a:r>
            <a:r>
              <a:rPr lang="zh-CN" altLang="en-US"/>
              <a:t>码</a:t>
            </a:r>
            <a:endParaRPr lang="zh-CN" altLang="en-US"/>
          </a:p>
          <a:p>
            <a:pPr lvl="1"/>
            <a:r>
              <a:rPr lang="zh-CN" altLang="en-US"/>
              <a:t>对于容易受到外界干扰的重要信息也可使用这种信息容错进行故障</a:t>
            </a:r>
            <a:r>
              <a:rPr lang="zh-CN" altLang="en-US"/>
              <a:t>屏蔽</a:t>
            </a:r>
            <a:endParaRPr lang="zh-CN" altLang="en-US"/>
          </a:p>
          <a:p>
            <a:pPr lvl="1"/>
            <a:r>
              <a:rPr lang="zh-CN" altLang="en-US"/>
              <a:t>一般而言，外加的信息位越多，其检错和纠错的能力就越强，但也不能无限制的</a:t>
            </a:r>
            <a:r>
              <a:rPr lang="zh-CN" altLang="en-US"/>
              <a:t>增加</a:t>
            </a: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信息容错</a:t>
            </a:r>
            <a:r>
              <a:rPr lang="en-US" altLang="zh-CN">
                <a:solidFill>
                  <a:srgbClr val="C00000"/>
                </a:solidFill>
                <a:sym typeface="+mn-ea"/>
              </a:rPr>
              <a:t> - </a:t>
            </a:r>
            <a:r>
              <a:rPr lang="zh-CN" altLang="en-US">
                <a:solidFill>
                  <a:srgbClr val="C00000"/>
                </a:solidFill>
                <a:sym typeface="+mn-ea"/>
              </a:rPr>
              <a:t>方式一距离</a:t>
            </a:r>
            <a:r>
              <a:rPr lang="en-US" altLang="zh-CN">
                <a:solidFill>
                  <a:srgbClr val="C00000"/>
                </a:solidFill>
                <a:sym typeface="+mn-ea"/>
              </a:rPr>
              <a:t> - </a:t>
            </a:r>
            <a:r>
              <a:rPr lang="zh-CN" altLang="en-US">
                <a:solidFill>
                  <a:srgbClr val="C00000"/>
                </a:solidFill>
                <a:sym typeface="+mn-ea"/>
              </a:rPr>
              <a:t>通信方面</a:t>
            </a:r>
            <a:endParaRPr lang="zh-CN" altLang="en-US">
              <a:solidFill>
                <a:srgbClr val="C00000"/>
              </a:solidFill>
              <a:sym typeface="+mn-ea"/>
            </a:endParaRPr>
          </a:p>
        </p:txBody>
      </p:sp>
      <p:sp>
        <p:nvSpPr>
          <p:cNvPr id="3" name="内容占位符 2"/>
          <p:cNvSpPr>
            <a:spLocks noGrp="1"/>
          </p:cNvSpPr>
          <p:nvPr>
            <p:ph idx="1"/>
          </p:nvPr>
        </p:nvSpPr>
        <p:spPr>
          <a:xfrm>
            <a:off x="838200" y="1538605"/>
            <a:ext cx="10515600" cy="5009515"/>
          </a:xfrm>
        </p:spPr>
        <p:txBody>
          <a:bodyPr>
            <a:normAutofit lnSpcReduction="20000"/>
          </a:bodyPr>
          <a:p>
            <a:r>
              <a:rPr lang="en-US" altLang="zh-CN"/>
              <a:t>RS-232</a:t>
            </a:r>
            <a:r>
              <a:rPr lang="zh-CN" altLang="en-US"/>
              <a:t>串行通信中，数据</a:t>
            </a:r>
            <a:r>
              <a:rPr lang="zh-CN" altLang="en-US"/>
              <a:t>格式：</a:t>
            </a:r>
            <a:endParaRPr lang="zh-CN" altLang="en-US"/>
          </a:p>
          <a:p>
            <a:endParaRPr lang="zh-CN" altLang="en-US"/>
          </a:p>
          <a:p>
            <a:endParaRPr lang="zh-CN" altLang="en-US" sz="1600"/>
          </a:p>
          <a:p>
            <a:pPr lvl="1">
              <a:lnSpc>
                <a:spcPts val="3480"/>
              </a:lnSpc>
            </a:pPr>
            <a:r>
              <a:rPr lang="zh-CN" altLang="en-US" b="1">
                <a:solidFill>
                  <a:srgbClr val="002060"/>
                </a:solidFill>
              </a:rPr>
              <a:t>编码：检验和（</a:t>
            </a:r>
            <a:r>
              <a:rPr lang="en-US" altLang="zh-CN" b="1">
                <a:solidFill>
                  <a:srgbClr val="002060"/>
                </a:solidFill>
              </a:rPr>
              <a:t>checksum</a:t>
            </a:r>
            <a:r>
              <a:rPr lang="zh-CN" altLang="en-US" b="1">
                <a:solidFill>
                  <a:srgbClr val="002060"/>
                </a:solidFill>
              </a:rPr>
              <a:t>）</a:t>
            </a:r>
            <a:endParaRPr lang="zh-CN" altLang="en-US"/>
          </a:p>
          <a:p>
            <a:pPr lvl="1">
              <a:lnSpc>
                <a:spcPts val="3480"/>
              </a:lnSpc>
            </a:pPr>
            <a:r>
              <a:rPr lang="zh-CN" altLang="en-US"/>
              <a:t>每当数据发送时，</a:t>
            </a:r>
            <a:r>
              <a:rPr lang="en-US" altLang="zh-CN">
                <a:sym typeface="+mn-ea"/>
              </a:rPr>
              <a:t>checksum</a:t>
            </a:r>
            <a:r>
              <a:rPr lang="zh-CN" altLang="en-US">
                <a:sym typeface="+mn-ea"/>
              </a:rPr>
              <a:t>随数据</a:t>
            </a:r>
            <a:r>
              <a:rPr lang="zh-CN" altLang="en-US">
                <a:sym typeface="+mn-ea"/>
              </a:rPr>
              <a:t>一起发送</a:t>
            </a:r>
            <a:endParaRPr lang="zh-CN" altLang="en-US">
              <a:sym typeface="+mn-ea"/>
            </a:endParaRPr>
          </a:p>
          <a:p>
            <a:pPr lvl="1">
              <a:lnSpc>
                <a:spcPts val="3480"/>
              </a:lnSpc>
            </a:pPr>
            <a:r>
              <a:rPr lang="zh-CN" altLang="en-US" b="1">
                <a:solidFill>
                  <a:srgbClr val="FF0000"/>
                </a:solidFill>
                <a:sym typeface="+mn-ea"/>
              </a:rPr>
              <a:t>过程</a:t>
            </a:r>
            <a:r>
              <a:rPr lang="zh-CN" altLang="en-US">
                <a:sym typeface="+mn-ea"/>
              </a:rPr>
              <a:t>：数据发送前，发送发运用</a:t>
            </a:r>
            <a:r>
              <a:rPr lang="en-US" altLang="zh-CN">
                <a:sym typeface="+mn-ea"/>
              </a:rPr>
              <a:t>checksum</a:t>
            </a:r>
            <a:r>
              <a:rPr lang="zh-CN" altLang="en-US">
                <a:sym typeface="+mn-ea"/>
              </a:rPr>
              <a:t>的计算方法计算出其值；接收方接收到数据时，也按同样的方法计算</a:t>
            </a:r>
            <a:r>
              <a:rPr lang="en-US" altLang="zh-CN">
                <a:sym typeface="+mn-ea"/>
              </a:rPr>
              <a:t>checksum</a:t>
            </a:r>
            <a:endParaRPr lang="en-US" altLang="zh-CN">
              <a:sym typeface="+mn-ea"/>
            </a:endParaRPr>
          </a:p>
          <a:p>
            <a:pPr lvl="1">
              <a:lnSpc>
                <a:spcPts val="3480"/>
              </a:lnSpc>
            </a:pPr>
            <a:r>
              <a:rPr lang="zh-CN" altLang="en-US" b="1">
                <a:solidFill>
                  <a:srgbClr val="FF0000"/>
                </a:solidFill>
                <a:sym typeface="+mn-ea"/>
              </a:rPr>
              <a:t>结果判定</a:t>
            </a:r>
            <a:r>
              <a:rPr lang="zh-CN" altLang="en-US">
                <a:sym typeface="+mn-ea"/>
              </a:rPr>
              <a:t>：将接收方的计算结果与发送方发送的</a:t>
            </a:r>
            <a:r>
              <a:rPr lang="en-US" altLang="zh-CN">
                <a:sym typeface="+mn-ea"/>
              </a:rPr>
              <a:t>checksum</a:t>
            </a:r>
            <a:r>
              <a:rPr lang="zh-CN" altLang="en-US">
                <a:sym typeface="+mn-ea"/>
              </a:rPr>
              <a:t>比较，若相等则说明数据通信没有错误；若不想等则说明数据通信</a:t>
            </a:r>
            <a:r>
              <a:rPr lang="zh-CN" altLang="en-US">
                <a:sym typeface="+mn-ea"/>
              </a:rPr>
              <a:t>有故障</a:t>
            </a:r>
            <a:endParaRPr lang="zh-CN" altLang="en-US">
              <a:sym typeface="+mn-ea"/>
            </a:endParaRPr>
          </a:p>
        </p:txBody>
      </p:sp>
      <p:grpSp>
        <p:nvGrpSpPr>
          <p:cNvPr id="9" name="组合 8"/>
          <p:cNvGrpSpPr/>
          <p:nvPr/>
        </p:nvGrpSpPr>
        <p:grpSpPr>
          <a:xfrm>
            <a:off x="2759710" y="2234565"/>
            <a:ext cx="6316980" cy="671830"/>
            <a:chOff x="2855" y="3700"/>
            <a:chExt cx="9948" cy="1058"/>
          </a:xfrm>
        </p:grpSpPr>
        <p:sp>
          <p:nvSpPr>
            <p:cNvPr id="4" name="矩形 3"/>
            <p:cNvSpPr/>
            <p:nvPr/>
          </p:nvSpPr>
          <p:spPr>
            <a:xfrm>
              <a:off x="2855" y="3700"/>
              <a:ext cx="2062" cy="1059"/>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a:t>信息头</a:t>
              </a:r>
              <a:endParaRPr lang="zh-CN" altLang="en-US" sz="2400"/>
            </a:p>
          </p:txBody>
        </p:sp>
        <p:sp>
          <p:nvSpPr>
            <p:cNvPr id="5" name="矩形 4"/>
            <p:cNvSpPr/>
            <p:nvPr>
              <p:custDataLst>
                <p:tags r:id="rId1"/>
              </p:custDataLst>
            </p:nvPr>
          </p:nvSpPr>
          <p:spPr>
            <a:xfrm>
              <a:off x="4917" y="3700"/>
              <a:ext cx="1700" cy="1059"/>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a:t>长度</a:t>
              </a:r>
              <a:endParaRPr lang="zh-CN" altLang="en-US" sz="2400"/>
            </a:p>
          </p:txBody>
        </p:sp>
        <p:sp>
          <p:nvSpPr>
            <p:cNvPr id="6" name="矩形 5"/>
            <p:cNvSpPr/>
            <p:nvPr>
              <p:custDataLst>
                <p:tags r:id="rId2"/>
              </p:custDataLst>
            </p:nvPr>
          </p:nvSpPr>
          <p:spPr>
            <a:xfrm>
              <a:off x="6617" y="3700"/>
              <a:ext cx="2062" cy="1059"/>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a:t>信息</a:t>
              </a:r>
              <a:r>
                <a:rPr lang="zh-CN" altLang="en-US" sz="2400"/>
                <a:t>体</a:t>
              </a:r>
              <a:endParaRPr lang="zh-CN" altLang="en-US" sz="2400"/>
            </a:p>
          </p:txBody>
        </p:sp>
        <p:sp>
          <p:nvSpPr>
            <p:cNvPr id="7" name="矩形 6"/>
            <p:cNvSpPr/>
            <p:nvPr>
              <p:custDataLst>
                <p:tags r:id="rId3"/>
              </p:custDataLst>
            </p:nvPr>
          </p:nvSpPr>
          <p:spPr>
            <a:xfrm>
              <a:off x="8679" y="3700"/>
              <a:ext cx="2062" cy="1059"/>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solidFill>
                    <a:srgbClr val="FFFF00"/>
                  </a:solidFill>
                </a:rPr>
                <a:t>编码</a:t>
              </a:r>
              <a:endParaRPr lang="zh-CN" altLang="en-US" sz="2400" b="1">
                <a:solidFill>
                  <a:srgbClr val="FFFF00"/>
                </a:solidFill>
              </a:endParaRPr>
            </a:p>
          </p:txBody>
        </p:sp>
        <p:sp>
          <p:nvSpPr>
            <p:cNvPr id="8" name="矩形 7"/>
            <p:cNvSpPr/>
            <p:nvPr>
              <p:custDataLst>
                <p:tags r:id="rId4"/>
              </p:custDataLst>
            </p:nvPr>
          </p:nvSpPr>
          <p:spPr>
            <a:xfrm>
              <a:off x="10741" y="3700"/>
              <a:ext cx="2062" cy="1059"/>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a:t>信息</a:t>
              </a:r>
              <a:r>
                <a:rPr lang="zh-CN" altLang="en-US" sz="2400"/>
                <a:t>尾</a:t>
              </a:r>
              <a:endParaRPr lang="zh-CN" altLang="en-US" sz="2400"/>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信息容错</a:t>
            </a:r>
            <a:r>
              <a:rPr lang="en-US" altLang="zh-CN">
                <a:solidFill>
                  <a:srgbClr val="C00000"/>
                </a:solidFill>
                <a:sym typeface="+mn-ea"/>
              </a:rPr>
              <a:t> - </a:t>
            </a:r>
            <a:r>
              <a:rPr lang="zh-CN" altLang="en-US">
                <a:solidFill>
                  <a:srgbClr val="C00000"/>
                </a:solidFill>
                <a:sym typeface="+mn-ea"/>
              </a:rPr>
              <a:t>方式</a:t>
            </a:r>
            <a:r>
              <a:rPr lang="zh-CN" altLang="en-US">
                <a:solidFill>
                  <a:srgbClr val="C00000"/>
                </a:solidFill>
                <a:sym typeface="+mn-ea"/>
              </a:rPr>
              <a:t>二</a:t>
            </a:r>
            <a:endParaRPr lang="zh-CN" altLang="en-US">
              <a:solidFill>
                <a:srgbClr val="C00000"/>
              </a:solidFill>
              <a:sym typeface="+mn-ea"/>
            </a:endParaRPr>
          </a:p>
        </p:txBody>
      </p:sp>
      <p:sp>
        <p:nvSpPr>
          <p:cNvPr id="3" name="内容占位符 2"/>
          <p:cNvSpPr>
            <a:spLocks noGrp="1"/>
          </p:cNvSpPr>
          <p:nvPr>
            <p:ph idx="1"/>
          </p:nvPr>
        </p:nvSpPr>
        <p:spPr>
          <a:xfrm>
            <a:off x="838200" y="1538605"/>
            <a:ext cx="7492365" cy="4638675"/>
          </a:xfrm>
        </p:spPr>
        <p:txBody>
          <a:bodyPr>
            <a:normAutofit lnSpcReduction="10000"/>
          </a:bodyPr>
          <a:p>
            <a:r>
              <a:rPr lang="zh-CN" altLang="en-US"/>
              <a:t>信息容错方式之二对</a:t>
            </a:r>
            <a:r>
              <a:rPr lang="zh-CN" altLang="en-US" b="1">
                <a:solidFill>
                  <a:srgbClr val="0070C0"/>
                </a:solidFill>
              </a:rPr>
              <a:t>随机存取存储器（RAM）</a:t>
            </a:r>
            <a:r>
              <a:rPr lang="zh-CN" altLang="en-US"/>
              <a:t>中的程序和数据，应存储在三个或三个以上不同的地方，而访问这些程序和数据都通过</a:t>
            </a:r>
            <a:r>
              <a:rPr lang="zh-CN" altLang="en-US" b="1">
                <a:solidFill>
                  <a:srgbClr val="0070C0"/>
                </a:solidFill>
              </a:rPr>
              <a:t>表决判断</a:t>
            </a:r>
            <a:r>
              <a:rPr lang="zh-CN" altLang="en-US"/>
              <a:t>的方式（一致表决或多数表决）来裁决，以防止因数据的偶然性故障造成不可挽回的</a:t>
            </a:r>
            <a:r>
              <a:rPr lang="zh-CN" altLang="en-US"/>
              <a:t>损失。</a:t>
            </a:r>
            <a:endParaRPr lang="zh-CN" altLang="en-US"/>
          </a:p>
          <a:p>
            <a:pPr lvl="1"/>
            <a:r>
              <a:rPr lang="zh-CN" altLang="en-US"/>
              <a:t>这种方式一般用于软件中某些重要的程序和数据中，如软件中某些关键标志，如点火、起飞、级间分离</a:t>
            </a:r>
            <a:r>
              <a:rPr lang="zh-CN" altLang="en-US"/>
              <a:t>等信息。</a:t>
            </a:r>
            <a:endParaRPr lang="zh-CN" altLang="en-US"/>
          </a:p>
          <a:p>
            <a:pPr lvl="1"/>
            <a:endParaRPr lang="zh-CN" altLang="en-US"/>
          </a:p>
        </p:txBody>
      </p:sp>
      <p:pic>
        <p:nvPicPr>
          <p:cNvPr id="4" name="图片 3"/>
          <p:cNvPicPr>
            <a:picLocks noChangeAspect="1"/>
          </p:cNvPicPr>
          <p:nvPr/>
        </p:nvPicPr>
        <p:blipFill>
          <a:blip r:embed="rId1"/>
          <a:stretch>
            <a:fillRect/>
          </a:stretch>
        </p:blipFill>
        <p:spPr>
          <a:xfrm>
            <a:off x="8865235" y="1655445"/>
            <a:ext cx="2786380" cy="3141345"/>
          </a:xfrm>
          <a:prstGeom prst="rect">
            <a:avLst/>
          </a:prstGeom>
        </p:spPr>
      </p:pic>
      <p:sp>
        <p:nvSpPr>
          <p:cNvPr id="5" name="文本框 4"/>
          <p:cNvSpPr txBox="1"/>
          <p:nvPr/>
        </p:nvSpPr>
        <p:spPr>
          <a:xfrm>
            <a:off x="9639300" y="4987290"/>
            <a:ext cx="1848485" cy="521970"/>
          </a:xfrm>
          <a:prstGeom prst="rect">
            <a:avLst/>
          </a:prstGeom>
          <a:noFill/>
        </p:spPr>
        <p:txBody>
          <a:bodyPr wrap="square" rtlCol="0" anchor="t">
            <a:spAutoFit/>
          </a:bodyPr>
          <a:p>
            <a:r>
              <a:rPr lang="zh-CN" altLang="en-US" sz="2800" b="1">
                <a:solidFill>
                  <a:srgbClr val="0070C0"/>
                </a:solidFill>
              </a:rPr>
              <a:t>狡兔三窟</a:t>
            </a:r>
            <a:endParaRPr lang="zh-CN" altLang="en-US" sz="2800" b="1">
              <a:solidFill>
                <a:srgbClr val="0070C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信息容错</a:t>
            </a:r>
            <a:r>
              <a:rPr lang="en-US" altLang="zh-CN">
                <a:solidFill>
                  <a:srgbClr val="C00000"/>
                </a:solidFill>
                <a:sym typeface="+mn-ea"/>
              </a:rPr>
              <a:t> - </a:t>
            </a:r>
            <a:r>
              <a:rPr lang="zh-CN" altLang="en-US">
                <a:solidFill>
                  <a:srgbClr val="C00000"/>
                </a:solidFill>
                <a:sym typeface="+mn-ea"/>
              </a:rPr>
              <a:t>方式</a:t>
            </a:r>
            <a:r>
              <a:rPr lang="zh-CN" altLang="en-US">
                <a:solidFill>
                  <a:srgbClr val="C00000"/>
                </a:solidFill>
                <a:sym typeface="+mn-ea"/>
              </a:rPr>
              <a:t>三</a:t>
            </a:r>
            <a:endParaRPr lang="zh-CN" altLang="en-US">
              <a:solidFill>
                <a:srgbClr val="C00000"/>
              </a:solidFill>
              <a:sym typeface="+mn-ea"/>
            </a:endParaRPr>
          </a:p>
        </p:txBody>
      </p:sp>
      <p:sp>
        <p:nvSpPr>
          <p:cNvPr id="3" name="内容占位符 2"/>
          <p:cNvSpPr>
            <a:spLocks noGrp="1"/>
          </p:cNvSpPr>
          <p:nvPr>
            <p:ph idx="1"/>
          </p:nvPr>
        </p:nvSpPr>
        <p:spPr>
          <a:xfrm>
            <a:off x="838200" y="1538605"/>
            <a:ext cx="7162800" cy="4638675"/>
          </a:xfrm>
        </p:spPr>
        <p:txBody>
          <a:bodyPr>
            <a:normAutofit lnSpcReduction="10000"/>
          </a:bodyPr>
          <a:p>
            <a:r>
              <a:rPr lang="zh-CN" altLang="en-US"/>
              <a:t>信息容错方式之三</a:t>
            </a:r>
            <a:r>
              <a:rPr lang="en-US" altLang="zh-CN"/>
              <a:t> </a:t>
            </a:r>
            <a:r>
              <a:rPr lang="zh-CN" altLang="en-US"/>
              <a:t>建立软件系统</a:t>
            </a:r>
            <a:r>
              <a:rPr lang="zh-CN" altLang="en-US" b="1">
                <a:solidFill>
                  <a:srgbClr val="0070C0"/>
                </a:solidFill>
              </a:rPr>
              <a:t>运行日志和数据副本</a:t>
            </a:r>
            <a:r>
              <a:rPr lang="zh-CN" altLang="en-US"/>
              <a:t>，设计较完备的</a:t>
            </a:r>
            <a:r>
              <a:rPr lang="zh-CN" altLang="en-US" b="1">
                <a:solidFill>
                  <a:srgbClr val="0070C0"/>
                </a:solidFill>
              </a:rPr>
              <a:t>数据备份和系统重构机制</a:t>
            </a:r>
            <a:r>
              <a:rPr lang="zh-CN" altLang="en-US"/>
              <a:t>，以便在出现修改或删除等严重误操作、硬盘损坏、人为或病毒破坏及遭遇灾害时能恢复</a:t>
            </a:r>
            <a:r>
              <a:rPr lang="zh-CN" altLang="en-US"/>
              <a:t>或重构系统。</a:t>
            </a:r>
            <a:endParaRPr lang="zh-CN" altLang="en-US"/>
          </a:p>
          <a:p>
            <a:pPr lvl="1"/>
            <a:r>
              <a:rPr lang="zh-CN" altLang="en-US" b="1">
                <a:solidFill>
                  <a:srgbClr val="FF0000"/>
                </a:solidFill>
              </a:rPr>
              <a:t>优点</a:t>
            </a:r>
            <a:r>
              <a:rPr lang="zh-CN" altLang="en-US"/>
              <a:t>是不必增加过多的硬件或软件</a:t>
            </a:r>
            <a:r>
              <a:rPr lang="zh-CN" altLang="en-US"/>
              <a:t>资源。</a:t>
            </a:r>
            <a:endParaRPr lang="zh-CN" altLang="en-US"/>
          </a:p>
          <a:p>
            <a:pPr lvl="1"/>
            <a:r>
              <a:rPr lang="zh-CN" altLang="en-US" b="1">
                <a:solidFill>
                  <a:srgbClr val="FF0000"/>
                </a:solidFill>
              </a:rPr>
              <a:t>缺点</a:t>
            </a:r>
            <a:r>
              <a:rPr lang="zh-CN" altLang="en-US"/>
              <a:t>是增加了时间开销和存储开销，降低了系统在无故障情况下的运行</a:t>
            </a:r>
            <a:r>
              <a:rPr lang="zh-CN" altLang="en-US"/>
              <a:t>效率</a:t>
            </a:r>
            <a:endParaRPr lang="zh-CN" altLang="en-US"/>
          </a:p>
          <a:p>
            <a:pPr lvl="1"/>
            <a:endParaRPr lang="zh-CN" altLang="en-US"/>
          </a:p>
        </p:txBody>
      </p:sp>
      <p:pic>
        <p:nvPicPr>
          <p:cNvPr id="4" name="图片 3"/>
          <p:cNvPicPr/>
          <p:nvPr/>
        </p:nvPicPr>
        <p:blipFill>
          <a:blip r:embed="rId1"/>
          <a:stretch>
            <a:fillRect/>
          </a:stretch>
        </p:blipFill>
        <p:spPr>
          <a:xfrm>
            <a:off x="9023985" y="1470660"/>
            <a:ext cx="1999615" cy="2586990"/>
          </a:xfrm>
          <a:prstGeom prst="rect">
            <a:avLst/>
          </a:prstGeom>
        </p:spPr>
      </p:pic>
      <p:sp>
        <p:nvSpPr>
          <p:cNvPr id="5" name="文本框 4"/>
          <p:cNvSpPr txBox="1"/>
          <p:nvPr/>
        </p:nvSpPr>
        <p:spPr>
          <a:xfrm>
            <a:off x="8900795" y="4144645"/>
            <a:ext cx="2245995" cy="953135"/>
          </a:xfrm>
          <a:prstGeom prst="rect">
            <a:avLst/>
          </a:prstGeom>
          <a:noFill/>
        </p:spPr>
        <p:txBody>
          <a:bodyPr wrap="square" rtlCol="0" anchor="t">
            <a:spAutoFit/>
          </a:bodyPr>
          <a:p>
            <a:pPr algn="ctr"/>
            <a:r>
              <a:rPr lang="zh-CN" altLang="en-US" sz="2800" b="1">
                <a:solidFill>
                  <a:srgbClr val="0070C0"/>
                </a:solidFill>
              </a:rPr>
              <a:t>白居易存诗</a:t>
            </a:r>
            <a:r>
              <a:rPr lang="en-US" altLang="zh-CN" sz="2800" b="1">
                <a:solidFill>
                  <a:srgbClr val="0070C0"/>
                </a:solidFill>
              </a:rPr>
              <a:t>3000</a:t>
            </a:r>
            <a:r>
              <a:rPr lang="zh-CN" altLang="en-US" sz="2800" b="1">
                <a:solidFill>
                  <a:srgbClr val="0070C0"/>
                </a:solidFill>
              </a:rPr>
              <a:t>首</a:t>
            </a:r>
            <a:endParaRPr lang="zh-CN" altLang="en-US" sz="2800" b="1">
              <a:solidFill>
                <a:srgbClr val="0070C0"/>
              </a:solidFill>
            </a:endParaRPr>
          </a:p>
        </p:txBody>
      </p:sp>
      <p:sp>
        <p:nvSpPr>
          <p:cNvPr id="6" name="文本框 5"/>
          <p:cNvSpPr txBox="1"/>
          <p:nvPr/>
        </p:nvSpPr>
        <p:spPr>
          <a:xfrm>
            <a:off x="8575040" y="5184775"/>
            <a:ext cx="2967990" cy="922020"/>
          </a:xfrm>
          <a:prstGeom prst="rect">
            <a:avLst/>
          </a:prstGeom>
          <a:solidFill>
            <a:srgbClr val="FFC000">
              <a:alpha val="13000"/>
            </a:srgbClr>
          </a:solidFill>
          <a:ln>
            <a:solidFill>
              <a:schemeClr val="accent1"/>
            </a:solidFill>
          </a:ln>
        </p:spPr>
        <p:txBody>
          <a:bodyPr wrap="square">
            <a:spAutoFit/>
          </a:bodyPr>
          <a:p>
            <a:pPr marL="0" indent="0"/>
            <a:r>
              <a:rPr lang="zh-CN" altLang="en-US" i="0">
                <a:solidFill>
                  <a:srgbClr val="222222"/>
                </a:solidFill>
                <a:latin typeface="Arial" panose="020B0604020202020204"/>
                <a:ea typeface="Arial" panose="020B0604020202020204"/>
              </a:rPr>
              <a:t>藏书处有：侄子白龟家；外甥谈玉童家；庐山东林寺；苏州南禅寺；洛阳胜善寺</a:t>
            </a:r>
            <a:endParaRPr lang="zh-CN" altLang="en-US" i="0">
              <a:solidFill>
                <a:srgbClr val="222222"/>
              </a:solidFill>
              <a:latin typeface="Arial" panose="020B0604020202020204"/>
              <a:ea typeface="Arial" panose="020B06040202020202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a:t>
            </a:r>
            <a:r>
              <a:rPr lang="zh-CN" altLang="en-US">
                <a:solidFill>
                  <a:srgbClr val="C00000"/>
                </a:solidFill>
                <a:sym typeface="+mn-ea"/>
              </a:rPr>
              <a:t>时间容错</a:t>
            </a:r>
            <a:endParaRPr lang="zh-CN" altLang="en-US">
              <a:solidFill>
                <a:srgbClr val="C00000"/>
              </a:solidFill>
              <a:sym typeface="+mn-ea"/>
            </a:endParaRPr>
          </a:p>
        </p:txBody>
      </p:sp>
      <p:sp>
        <p:nvSpPr>
          <p:cNvPr id="3" name="内容占位符 2"/>
          <p:cNvSpPr>
            <a:spLocks noGrp="1"/>
          </p:cNvSpPr>
          <p:nvPr>
            <p:ph idx="1"/>
          </p:nvPr>
        </p:nvSpPr>
        <p:spPr>
          <a:xfrm>
            <a:off x="838200" y="1538605"/>
            <a:ext cx="7550150" cy="4638675"/>
          </a:xfrm>
        </p:spPr>
        <p:txBody>
          <a:bodyPr>
            <a:normAutofit fontScale="90000" lnSpcReduction="10000"/>
          </a:bodyPr>
          <a:p>
            <a:pPr lvl="0"/>
            <a:r>
              <a:rPr lang="zh-CN" altLang="en-US"/>
              <a:t>时间容错是通过时间冗余的手段</a:t>
            </a:r>
            <a:r>
              <a:rPr lang="zh-CN" altLang="en-US"/>
              <a:t>实现的</a:t>
            </a:r>
            <a:endParaRPr lang="zh-CN" altLang="en-US"/>
          </a:p>
          <a:p>
            <a:pPr lvl="0"/>
            <a:r>
              <a:rPr lang="zh-CN" altLang="en-US"/>
              <a:t>时间容错主要是基于</a:t>
            </a:r>
            <a:r>
              <a:rPr lang="en-US" altLang="zh-CN"/>
              <a:t>“</a:t>
            </a:r>
            <a:r>
              <a:rPr lang="zh-CN" altLang="en-US" b="1">
                <a:solidFill>
                  <a:srgbClr val="FF0000"/>
                </a:solidFill>
              </a:rPr>
              <a:t>失败后重做</a:t>
            </a:r>
            <a:r>
              <a:rPr lang="zh-CN" altLang="en-US"/>
              <a:t>（</a:t>
            </a:r>
            <a:r>
              <a:rPr lang="en-US" altLang="zh-CN"/>
              <a:t>Retry-on-Failure</a:t>
            </a:r>
            <a:r>
              <a:rPr lang="zh-CN" altLang="en-US"/>
              <a:t>）</a:t>
            </a:r>
            <a:r>
              <a:rPr lang="en-US" altLang="zh-CN"/>
              <a:t>”</a:t>
            </a:r>
            <a:r>
              <a:rPr lang="zh-CN" altLang="en-US"/>
              <a:t>的思想，即重复执行相应的计算机任务实现检错</a:t>
            </a:r>
            <a:r>
              <a:rPr lang="zh-CN" altLang="en-US"/>
              <a:t>和容错。</a:t>
            </a:r>
            <a:endParaRPr lang="zh-CN" altLang="en-US"/>
          </a:p>
          <a:p>
            <a:pPr lvl="0"/>
            <a:r>
              <a:rPr lang="zh-CN" altLang="en-US"/>
              <a:t>时间容错是不惜以</a:t>
            </a:r>
            <a:r>
              <a:rPr lang="zh-CN" altLang="en-US" b="1">
                <a:solidFill>
                  <a:srgbClr val="FF0000"/>
                </a:solidFill>
              </a:rPr>
              <a:t>牺牲时间为代价</a:t>
            </a:r>
            <a:r>
              <a:rPr lang="zh-CN" altLang="en-US"/>
              <a:t>来换取软件系统高可靠性的一种手段，常被采用而行之有效的</a:t>
            </a:r>
            <a:r>
              <a:rPr lang="zh-CN" altLang="en-US"/>
              <a:t>方法。</a:t>
            </a:r>
            <a:endParaRPr lang="zh-CN" altLang="en-US"/>
          </a:p>
          <a:p>
            <a:pPr lvl="0"/>
            <a:r>
              <a:rPr lang="zh-CN" altLang="en-US"/>
              <a:t>时间容错有两种</a:t>
            </a:r>
            <a:r>
              <a:rPr lang="zh-CN" altLang="en-US"/>
              <a:t>基本形式：</a:t>
            </a:r>
            <a:endParaRPr lang="zh-CN" altLang="en-US"/>
          </a:p>
          <a:p>
            <a:pPr lvl="1"/>
            <a:r>
              <a:rPr lang="zh-CN" altLang="en-US"/>
              <a:t>指令重复</a:t>
            </a:r>
            <a:r>
              <a:rPr lang="zh-CN" altLang="en-US"/>
              <a:t>执行</a:t>
            </a:r>
            <a:endParaRPr lang="zh-CN" altLang="en-US"/>
          </a:p>
          <a:p>
            <a:pPr lvl="1"/>
            <a:r>
              <a:rPr lang="zh-CN" altLang="en-US"/>
              <a:t>程序</a:t>
            </a:r>
            <a:r>
              <a:rPr lang="zh-CN" altLang="en-US"/>
              <a:t>卷回</a:t>
            </a:r>
            <a:endParaRPr lang="zh-CN" altLang="en-US"/>
          </a:p>
        </p:txBody>
      </p:sp>
      <p:pic>
        <p:nvPicPr>
          <p:cNvPr id="4" name="图片 3"/>
          <p:cNvPicPr/>
          <p:nvPr/>
        </p:nvPicPr>
        <p:blipFill>
          <a:blip r:embed="rId1"/>
          <a:stretch>
            <a:fillRect/>
          </a:stretch>
        </p:blipFill>
        <p:spPr>
          <a:xfrm>
            <a:off x="8872220" y="1538605"/>
            <a:ext cx="2682875" cy="3709035"/>
          </a:xfrm>
          <a:prstGeom prst="rect">
            <a:avLst/>
          </a:prstGeom>
        </p:spPr>
      </p:pic>
      <p:sp>
        <p:nvSpPr>
          <p:cNvPr id="5" name="文本框 4"/>
          <p:cNvSpPr txBox="1"/>
          <p:nvPr/>
        </p:nvSpPr>
        <p:spPr>
          <a:xfrm>
            <a:off x="9357360" y="5394325"/>
            <a:ext cx="1848485" cy="521970"/>
          </a:xfrm>
          <a:prstGeom prst="rect">
            <a:avLst/>
          </a:prstGeom>
          <a:noFill/>
        </p:spPr>
        <p:txBody>
          <a:bodyPr wrap="square" rtlCol="0" anchor="t">
            <a:spAutoFit/>
          </a:bodyPr>
          <a:p>
            <a:r>
              <a:rPr lang="zh-CN" altLang="en-US" sz="2800" b="1">
                <a:solidFill>
                  <a:srgbClr val="0070C0"/>
                </a:solidFill>
              </a:rPr>
              <a:t>网球</a:t>
            </a:r>
            <a:r>
              <a:rPr lang="en-US" altLang="zh-CN" sz="2800" b="1">
                <a:solidFill>
                  <a:srgbClr val="0070C0"/>
                </a:solidFill>
              </a:rPr>
              <a:t> </a:t>
            </a:r>
            <a:r>
              <a:rPr lang="zh-CN" altLang="en-US" sz="2800" b="1">
                <a:solidFill>
                  <a:srgbClr val="0070C0"/>
                </a:solidFill>
              </a:rPr>
              <a:t>二发</a:t>
            </a:r>
            <a:endParaRPr lang="zh-CN" altLang="en-US" sz="2800" b="1">
              <a:solidFill>
                <a:srgbClr val="0070C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软件时间容错</a:t>
            </a:r>
            <a:r>
              <a:rPr lang="en-US" altLang="zh-CN">
                <a:solidFill>
                  <a:srgbClr val="C00000"/>
                </a:solidFill>
                <a:sym typeface="+mn-ea"/>
              </a:rPr>
              <a:t> - </a:t>
            </a:r>
            <a:r>
              <a:rPr lang="zh-CN" altLang="en-US">
                <a:solidFill>
                  <a:srgbClr val="C00000"/>
                </a:solidFill>
                <a:sym typeface="+mn-ea"/>
              </a:rPr>
              <a:t>指令重复</a:t>
            </a:r>
            <a:r>
              <a:rPr lang="zh-CN" altLang="en-US">
                <a:solidFill>
                  <a:srgbClr val="C00000"/>
                </a:solidFill>
                <a:sym typeface="+mn-ea"/>
              </a:rPr>
              <a:t>执行</a:t>
            </a:r>
            <a:endParaRPr lang="zh-CN" altLang="en-US">
              <a:solidFill>
                <a:srgbClr val="C00000"/>
              </a:solidFill>
              <a:sym typeface="+mn-ea"/>
            </a:endParaRPr>
          </a:p>
        </p:txBody>
      </p:sp>
      <p:sp>
        <p:nvSpPr>
          <p:cNvPr id="3" name="内容占位符 2"/>
          <p:cNvSpPr>
            <a:spLocks noGrp="1"/>
          </p:cNvSpPr>
          <p:nvPr>
            <p:ph idx="1"/>
          </p:nvPr>
        </p:nvSpPr>
        <p:spPr>
          <a:xfrm>
            <a:off x="838200" y="1538605"/>
            <a:ext cx="10515600" cy="1891030"/>
          </a:xfrm>
        </p:spPr>
        <p:txBody>
          <a:bodyPr/>
          <a:p>
            <a:r>
              <a:rPr lang="zh-CN" altLang="en-US"/>
              <a:t>指令重复执行是当应用软件系统检查出正在执行的指令出故障后，让当前指令重复执行</a:t>
            </a:r>
            <a:r>
              <a:rPr lang="en-US" altLang="zh-CN"/>
              <a:t>n</a:t>
            </a:r>
            <a:r>
              <a:rPr lang="zh-CN" altLang="en-US"/>
              <a:t>次（</a:t>
            </a:r>
            <a:r>
              <a:rPr lang="en-US" altLang="zh-CN"/>
              <a:t>n&gt;=3</a:t>
            </a:r>
            <a:r>
              <a:rPr lang="zh-CN" altLang="en-US"/>
              <a:t>），若故障是瞬时性干扰，在指令重复执行时间内故障有可能不再复现，这时程序可以</a:t>
            </a:r>
            <a:r>
              <a:rPr lang="zh-CN" altLang="en-US"/>
              <a:t>继续执行</a:t>
            </a:r>
            <a:endParaRPr lang="zh-CN" altLang="en-US"/>
          </a:p>
        </p:txBody>
      </p:sp>
      <p:sp>
        <p:nvSpPr>
          <p:cNvPr id="4" name="内容占位符 2"/>
          <p:cNvSpPr>
            <a:spLocks noGrp="1"/>
          </p:cNvSpPr>
          <p:nvPr>
            <p:custDataLst>
              <p:tags r:id="rId1"/>
            </p:custDataLst>
          </p:nvPr>
        </p:nvSpPr>
        <p:spPr>
          <a:xfrm>
            <a:off x="838200" y="3582035"/>
            <a:ext cx="3809365" cy="2595245"/>
          </a:xfrm>
          <a:prstGeom prst="rect">
            <a:avLst/>
          </a:prstGeom>
        </p:spPr>
        <p:txBody>
          <a:bodyPr vert="horz" lIns="91440" tIns="45720" rIns="91440" bIns="45720" rtlCol="0">
            <a:normAutofit/>
          </a:bodyPr>
          <a:lstStyle>
            <a:lvl1pPr marL="228600" indent="-228600" algn="l" defTabSz="914400" rtl="0" eaLnBrk="1" fontAlgn="auto" latinLnBrk="0" hangingPunct="1">
              <a:lnSpc>
                <a:spcPct val="13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fontAlgn="auto" latinLnBrk="0" hangingPunct="1">
              <a:lnSpc>
                <a:spcPct val="13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fontAlgn="auto" latinLnBrk="0" hangingPunct="1">
              <a:lnSpc>
                <a:spcPct val="13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fontAlgn="auto" latinLnBrk="0" hangingPunct="1">
              <a:lnSpc>
                <a:spcPct val="13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fontAlgn="auto" latinLnBrk="0" hangingPunct="1">
              <a:lnSpc>
                <a:spcPct val="13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a:t>指令重复执行是在指令（语句）级做重复执行。是最简单和传统的时间容错</a:t>
            </a:r>
            <a:r>
              <a:rPr lang="zh-CN" altLang="en-US" sz="2400"/>
              <a:t>方式。</a:t>
            </a:r>
            <a:endParaRPr lang="zh-CN" altLang="en-US" sz="2400"/>
          </a:p>
        </p:txBody>
      </p:sp>
      <p:sp>
        <p:nvSpPr>
          <p:cNvPr id="5" name="文本框 4"/>
          <p:cNvSpPr txBox="1"/>
          <p:nvPr/>
        </p:nvSpPr>
        <p:spPr>
          <a:xfrm>
            <a:off x="5551805" y="3429635"/>
            <a:ext cx="5291455" cy="3046095"/>
          </a:xfrm>
          <a:prstGeom prst="rect">
            <a:avLst/>
          </a:prstGeom>
          <a:solidFill>
            <a:schemeClr val="accent4">
              <a:lumMod val="20000"/>
              <a:lumOff val="80000"/>
              <a:alpha val="57000"/>
            </a:schemeClr>
          </a:solidFill>
          <a:ln>
            <a:solidFill>
              <a:schemeClr val="accent1"/>
            </a:solidFill>
          </a:ln>
        </p:spPr>
        <p:txBody>
          <a:bodyPr wrap="square" rtlCol="0" anchor="t">
            <a:spAutoFit/>
          </a:bodyPr>
          <a:p>
            <a:r>
              <a:rPr lang="en-US" altLang="zh-CN" sz="2400">
                <a:sym typeface="+mn-ea"/>
              </a:rPr>
              <a:t>for(i = 0; i&lt;3; i++){</a:t>
            </a:r>
            <a:endParaRPr lang="en-US" altLang="zh-CN" sz="2400">
              <a:sym typeface="+mn-ea"/>
            </a:endParaRPr>
          </a:p>
          <a:p>
            <a:r>
              <a:rPr lang="en-US" altLang="zh-CN" sz="2400">
                <a:sym typeface="+mn-ea"/>
              </a:rPr>
              <a:t>    ...</a:t>
            </a:r>
            <a:endParaRPr lang="en-US" altLang="zh-CN" sz="2400">
              <a:sym typeface="+mn-ea"/>
            </a:endParaRPr>
          </a:p>
          <a:p>
            <a:r>
              <a:rPr lang="en-US" altLang="zh-CN" sz="2400">
                <a:sym typeface="+mn-ea"/>
              </a:rPr>
              <a:t>    strData = ReadData(...);   //</a:t>
            </a:r>
            <a:r>
              <a:rPr lang="zh-CN" altLang="en-US" sz="2400">
                <a:sym typeface="+mn-ea"/>
              </a:rPr>
              <a:t>读入数据</a:t>
            </a:r>
            <a:r>
              <a:rPr lang="en-US" altLang="zh-CN" sz="2400">
                <a:sym typeface="+mn-ea"/>
              </a:rPr>
              <a:t>  </a:t>
            </a:r>
            <a:endParaRPr lang="en-US" altLang="zh-CN" sz="2400">
              <a:sym typeface="+mn-ea"/>
            </a:endParaRPr>
          </a:p>
          <a:p>
            <a:r>
              <a:rPr lang="en-US" altLang="zh-CN" sz="2400">
                <a:sym typeface="+mn-ea"/>
              </a:rPr>
              <a:t>    if ( strData is true){</a:t>
            </a:r>
            <a:endParaRPr lang="en-US" altLang="zh-CN" sz="2400">
              <a:sym typeface="+mn-ea"/>
            </a:endParaRPr>
          </a:p>
          <a:p>
            <a:r>
              <a:rPr lang="en-US" altLang="zh-CN" sz="2400">
                <a:sym typeface="+mn-ea"/>
              </a:rPr>
              <a:t>       ...  //exit For</a:t>
            </a:r>
            <a:endParaRPr lang="en-US" altLang="zh-CN" sz="2400">
              <a:sym typeface="+mn-ea"/>
            </a:endParaRPr>
          </a:p>
          <a:p>
            <a:r>
              <a:rPr lang="en-US" altLang="zh-CN" sz="2400">
                <a:sym typeface="+mn-ea"/>
              </a:rPr>
              <a:t>    }</a:t>
            </a:r>
            <a:endParaRPr lang="en-US" altLang="zh-CN" sz="2400">
              <a:sym typeface="+mn-ea"/>
            </a:endParaRPr>
          </a:p>
          <a:p>
            <a:r>
              <a:rPr lang="en-US" altLang="zh-CN" sz="2400">
                <a:sym typeface="+mn-ea"/>
              </a:rPr>
              <a:t>    ...</a:t>
            </a:r>
            <a:endParaRPr lang="en-US" altLang="zh-CN" sz="2400">
              <a:sym typeface="+mn-ea"/>
            </a:endParaRPr>
          </a:p>
          <a:p>
            <a:r>
              <a:rPr lang="en-US" altLang="zh-CN" sz="2400">
                <a:sym typeface="+mn-ea"/>
              </a:rPr>
              <a:t>} </a:t>
            </a:r>
            <a:endParaRPr lang="en-US" altLang="zh-CN" sz="2400">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软件时间容错</a:t>
            </a:r>
            <a:r>
              <a:rPr lang="en-US" altLang="zh-CN">
                <a:solidFill>
                  <a:srgbClr val="C00000"/>
                </a:solidFill>
                <a:sym typeface="+mn-ea"/>
              </a:rPr>
              <a:t> - </a:t>
            </a:r>
            <a:r>
              <a:rPr lang="zh-CN" altLang="en-US">
                <a:solidFill>
                  <a:srgbClr val="C00000"/>
                </a:solidFill>
                <a:sym typeface="+mn-ea"/>
              </a:rPr>
              <a:t>程序</a:t>
            </a:r>
            <a:r>
              <a:rPr lang="zh-CN" altLang="en-US">
                <a:solidFill>
                  <a:srgbClr val="C00000"/>
                </a:solidFill>
                <a:sym typeface="+mn-ea"/>
              </a:rPr>
              <a:t>卷回</a:t>
            </a:r>
            <a:endParaRPr lang="zh-CN" altLang="en-US">
              <a:solidFill>
                <a:srgbClr val="C00000"/>
              </a:solidFill>
              <a:sym typeface="+mn-ea"/>
            </a:endParaRPr>
          </a:p>
        </p:txBody>
      </p:sp>
      <p:sp>
        <p:nvSpPr>
          <p:cNvPr id="3" name="内容占位符 2"/>
          <p:cNvSpPr>
            <a:spLocks noGrp="1"/>
          </p:cNvSpPr>
          <p:nvPr>
            <p:ph idx="1"/>
          </p:nvPr>
        </p:nvSpPr>
        <p:spPr>
          <a:xfrm>
            <a:off x="838200" y="1538605"/>
            <a:ext cx="10515600" cy="1891030"/>
          </a:xfrm>
        </p:spPr>
        <p:txBody>
          <a:bodyPr/>
          <a:p>
            <a:r>
              <a:rPr lang="zh-CN" altLang="en-US"/>
              <a:t>程序卷回是当系统在运行过程中一经发现故障，便可进行程序卷回，返回到</a:t>
            </a:r>
            <a:r>
              <a:rPr lang="zh-CN" altLang="en-US" b="1">
                <a:solidFill>
                  <a:srgbClr val="FF0000"/>
                </a:solidFill>
              </a:rPr>
              <a:t>起始点</a:t>
            </a:r>
            <a:r>
              <a:rPr lang="zh-CN" altLang="en-US"/>
              <a:t>或故障点最近的</a:t>
            </a:r>
            <a:r>
              <a:rPr lang="zh-CN" altLang="en-US" b="1">
                <a:solidFill>
                  <a:srgbClr val="FF0000"/>
                </a:solidFill>
              </a:rPr>
              <a:t>预设恢复点</a:t>
            </a:r>
            <a:r>
              <a:rPr lang="zh-CN" altLang="en-US"/>
              <a:t>重试。</a:t>
            </a:r>
            <a:endParaRPr lang="zh-CN" altLang="en-US"/>
          </a:p>
          <a:p>
            <a:r>
              <a:rPr lang="zh-CN" altLang="en-US"/>
              <a:t>程序卷回是一种</a:t>
            </a:r>
            <a:r>
              <a:rPr lang="zh-CN" altLang="en-US" b="1">
                <a:solidFill>
                  <a:srgbClr val="FF0000"/>
                </a:solidFill>
              </a:rPr>
              <a:t>后向恢复技术</a:t>
            </a:r>
            <a:r>
              <a:rPr lang="zh-CN" altLang="en-US"/>
              <a:t>，是以事先建立</a:t>
            </a:r>
            <a:r>
              <a:rPr lang="zh-CN" altLang="en-US" b="1">
                <a:solidFill>
                  <a:srgbClr val="FF0000"/>
                </a:solidFill>
              </a:rPr>
              <a:t>恢复点</a:t>
            </a:r>
            <a:r>
              <a:rPr lang="zh-CN" altLang="en-US"/>
              <a:t>为基础</a:t>
            </a:r>
            <a:r>
              <a:rPr lang="zh-CN" altLang="en-US"/>
              <a:t>的。</a:t>
            </a:r>
            <a:endParaRPr lang="zh-CN" altLang="en-US"/>
          </a:p>
        </p:txBody>
      </p:sp>
      <p:cxnSp>
        <p:nvCxnSpPr>
          <p:cNvPr id="6" name="直接箭头连接符 5"/>
          <p:cNvCxnSpPr/>
          <p:nvPr/>
        </p:nvCxnSpPr>
        <p:spPr>
          <a:xfrm flipV="1">
            <a:off x="1397000" y="4546918"/>
            <a:ext cx="9201785" cy="0"/>
          </a:xfrm>
          <a:prstGeom prst="straightConnector1">
            <a:avLst/>
          </a:prstGeom>
          <a:ln w="31750">
            <a:tailEnd type="arrow"/>
          </a:ln>
        </p:spPr>
        <p:style>
          <a:lnRef idx="2">
            <a:schemeClr val="accent1"/>
          </a:lnRef>
          <a:fillRef idx="0">
            <a:srgbClr val="FFFFFF"/>
          </a:fillRef>
          <a:effectRef idx="0">
            <a:srgbClr val="FFFFFF"/>
          </a:effectRef>
          <a:fontRef idx="minor">
            <a:schemeClr val="tx1"/>
          </a:fontRef>
        </p:style>
      </p:cxnSp>
      <p:sp>
        <p:nvSpPr>
          <p:cNvPr id="7" name="椭圆 6"/>
          <p:cNvSpPr/>
          <p:nvPr/>
        </p:nvSpPr>
        <p:spPr>
          <a:xfrm>
            <a:off x="1804035" y="4436428"/>
            <a:ext cx="220980" cy="220980"/>
          </a:xfrm>
          <a:prstGeom prst="ellipse">
            <a:avLst/>
          </a:prstGeom>
          <a:solidFill>
            <a:schemeClr val="accent2">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8" name="椭圆 7"/>
          <p:cNvSpPr/>
          <p:nvPr>
            <p:custDataLst>
              <p:tags r:id="rId1"/>
            </p:custDataLst>
          </p:nvPr>
        </p:nvSpPr>
        <p:spPr>
          <a:xfrm>
            <a:off x="2663825" y="4436428"/>
            <a:ext cx="220980" cy="220980"/>
          </a:xfrm>
          <a:prstGeom prst="ellipse">
            <a:avLst/>
          </a:prstGeom>
          <a:solidFill>
            <a:schemeClr val="accent2">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9" name="椭圆 8"/>
          <p:cNvSpPr/>
          <p:nvPr>
            <p:custDataLst>
              <p:tags r:id="rId2"/>
            </p:custDataLst>
          </p:nvPr>
        </p:nvSpPr>
        <p:spPr>
          <a:xfrm>
            <a:off x="3523615" y="4436428"/>
            <a:ext cx="220980" cy="220980"/>
          </a:xfrm>
          <a:prstGeom prst="ellipse">
            <a:avLst/>
          </a:prstGeom>
          <a:solidFill>
            <a:schemeClr val="accent2">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10" name="椭圆 9"/>
          <p:cNvSpPr/>
          <p:nvPr>
            <p:custDataLst>
              <p:tags r:id="rId3"/>
            </p:custDataLst>
          </p:nvPr>
        </p:nvSpPr>
        <p:spPr>
          <a:xfrm>
            <a:off x="5452745" y="4436428"/>
            <a:ext cx="220980" cy="220980"/>
          </a:xfrm>
          <a:prstGeom prst="ellipse">
            <a:avLst/>
          </a:prstGeom>
          <a:solidFill>
            <a:schemeClr val="accent2">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11" name="椭圆 10"/>
          <p:cNvSpPr/>
          <p:nvPr>
            <p:custDataLst>
              <p:tags r:id="rId4"/>
            </p:custDataLst>
          </p:nvPr>
        </p:nvSpPr>
        <p:spPr>
          <a:xfrm>
            <a:off x="7814945" y="4436428"/>
            <a:ext cx="220980" cy="220980"/>
          </a:xfrm>
          <a:prstGeom prst="ellipse">
            <a:avLst/>
          </a:prstGeom>
          <a:solidFill>
            <a:schemeClr val="accent2">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12" name="椭圆 11"/>
          <p:cNvSpPr/>
          <p:nvPr>
            <p:custDataLst>
              <p:tags r:id="rId5"/>
            </p:custDataLst>
          </p:nvPr>
        </p:nvSpPr>
        <p:spPr>
          <a:xfrm>
            <a:off x="9558020" y="4436428"/>
            <a:ext cx="220980" cy="220980"/>
          </a:xfrm>
          <a:prstGeom prst="ellipse">
            <a:avLst/>
          </a:prstGeom>
          <a:solidFill>
            <a:schemeClr val="accent2">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p>
        </p:txBody>
      </p:sp>
      <p:sp>
        <p:nvSpPr>
          <p:cNvPr id="13" name="上弧形箭头 12"/>
          <p:cNvSpPr/>
          <p:nvPr/>
        </p:nvSpPr>
        <p:spPr>
          <a:xfrm flipH="1">
            <a:off x="7814945" y="3928110"/>
            <a:ext cx="1849120" cy="393700"/>
          </a:xfrm>
          <a:prstGeom prst="curved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2000">
              <a:solidFill>
                <a:schemeClr val="tx1"/>
              </a:solidFill>
            </a:endParaRPr>
          </a:p>
        </p:txBody>
      </p:sp>
      <p:sp>
        <p:nvSpPr>
          <p:cNvPr id="14" name="文本框 13"/>
          <p:cNvSpPr txBox="1"/>
          <p:nvPr/>
        </p:nvSpPr>
        <p:spPr>
          <a:xfrm>
            <a:off x="1762760" y="4814570"/>
            <a:ext cx="606425" cy="398780"/>
          </a:xfrm>
          <a:prstGeom prst="rect">
            <a:avLst/>
          </a:prstGeom>
          <a:noFill/>
        </p:spPr>
        <p:txBody>
          <a:bodyPr wrap="square" rtlCol="0" anchor="t">
            <a:spAutoFit/>
          </a:bodyPr>
          <a:p>
            <a:r>
              <a:rPr lang="en-US" altLang="zh-CN" sz="2000">
                <a:sym typeface="+mn-ea"/>
              </a:rPr>
              <a:t>t</a:t>
            </a:r>
            <a:r>
              <a:rPr lang="en-US" altLang="zh-CN" sz="2000" baseline="-25000">
                <a:solidFill>
                  <a:schemeClr val="tx1"/>
                </a:solidFill>
                <a:uFillTx/>
                <a:sym typeface="+mn-ea"/>
              </a:rPr>
              <a:t>0</a:t>
            </a:r>
            <a:endParaRPr lang="en-US" altLang="zh-CN" sz="2000" baseline="-25000">
              <a:solidFill>
                <a:schemeClr val="tx1"/>
              </a:solidFill>
              <a:uFillTx/>
              <a:sym typeface="+mn-ea"/>
            </a:endParaRPr>
          </a:p>
        </p:txBody>
      </p:sp>
      <p:sp>
        <p:nvSpPr>
          <p:cNvPr id="15" name="文本框 14"/>
          <p:cNvSpPr txBox="1"/>
          <p:nvPr>
            <p:custDataLst>
              <p:tags r:id="rId6"/>
            </p:custDataLst>
          </p:nvPr>
        </p:nvSpPr>
        <p:spPr>
          <a:xfrm>
            <a:off x="2611755" y="4814570"/>
            <a:ext cx="606425" cy="398780"/>
          </a:xfrm>
          <a:prstGeom prst="rect">
            <a:avLst/>
          </a:prstGeom>
          <a:noFill/>
        </p:spPr>
        <p:txBody>
          <a:bodyPr wrap="square" rtlCol="0" anchor="t">
            <a:spAutoFit/>
          </a:bodyPr>
          <a:p>
            <a:r>
              <a:rPr lang="en-US" altLang="zh-CN" sz="2000">
                <a:sym typeface="+mn-ea"/>
              </a:rPr>
              <a:t>t</a:t>
            </a:r>
            <a:r>
              <a:rPr lang="en-US" altLang="zh-CN" sz="2000" baseline="-25000">
                <a:solidFill>
                  <a:schemeClr val="tx1"/>
                </a:solidFill>
                <a:uFillTx/>
                <a:sym typeface="+mn-ea"/>
              </a:rPr>
              <a:t>1</a:t>
            </a:r>
            <a:endParaRPr lang="en-US" altLang="zh-CN" sz="2000" baseline="-25000">
              <a:solidFill>
                <a:schemeClr val="tx1"/>
              </a:solidFill>
              <a:uFillTx/>
              <a:sym typeface="+mn-ea"/>
            </a:endParaRPr>
          </a:p>
        </p:txBody>
      </p:sp>
      <p:sp>
        <p:nvSpPr>
          <p:cNvPr id="16" name="文本框 15"/>
          <p:cNvSpPr txBox="1"/>
          <p:nvPr>
            <p:custDataLst>
              <p:tags r:id="rId7"/>
            </p:custDataLst>
          </p:nvPr>
        </p:nvSpPr>
        <p:spPr>
          <a:xfrm>
            <a:off x="3511550" y="4814570"/>
            <a:ext cx="606425" cy="398780"/>
          </a:xfrm>
          <a:prstGeom prst="rect">
            <a:avLst/>
          </a:prstGeom>
          <a:noFill/>
        </p:spPr>
        <p:txBody>
          <a:bodyPr wrap="square" rtlCol="0" anchor="t">
            <a:spAutoFit/>
          </a:bodyPr>
          <a:p>
            <a:r>
              <a:rPr lang="en-US" altLang="zh-CN" sz="2000">
                <a:sym typeface="+mn-ea"/>
              </a:rPr>
              <a:t>t</a:t>
            </a:r>
            <a:r>
              <a:rPr lang="en-US" altLang="zh-CN" sz="2000" baseline="-25000">
                <a:solidFill>
                  <a:schemeClr val="tx1"/>
                </a:solidFill>
                <a:uFillTx/>
                <a:sym typeface="+mn-ea"/>
              </a:rPr>
              <a:t>2</a:t>
            </a:r>
            <a:endParaRPr lang="en-US" altLang="zh-CN" sz="2000" baseline="-25000">
              <a:solidFill>
                <a:schemeClr val="tx1"/>
              </a:solidFill>
              <a:uFillTx/>
              <a:sym typeface="+mn-ea"/>
            </a:endParaRPr>
          </a:p>
        </p:txBody>
      </p:sp>
      <p:sp>
        <p:nvSpPr>
          <p:cNvPr id="17" name="文本框 16"/>
          <p:cNvSpPr txBox="1"/>
          <p:nvPr>
            <p:custDataLst>
              <p:tags r:id="rId8"/>
            </p:custDataLst>
          </p:nvPr>
        </p:nvSpPr>
        <p:spPr>
          <a:xfrm>
            <a:off x="7783195" y="4814570"/>
            <a:ext cx="606425" cy="398780"/>
          </a:xfrm>
          <a:prstGeom prst="rect">
            <a:avLst/>
          </a:prstGeom>
          <a:noFill/>
        </p:spPr>
        <p:txBody>
          <a:bodyPr wrap="square" rtlCol="0" anchor="t">
            <a:spAutoFit/>
          </a:bodyPr>
          <a:p>
            <a:r>
              <a:rPr lang="en-US" altLang="zh-CN" sz="2000">
                <a:sym typeface="+mn-ea"/>
              </a:rPr>
              <a:t>t</a:t>
            </a:r>
            <a:r>
              <a:rPr lang="en-US" altLang="zh-CN" sz="2000" baseline="-25000">
                <a:solidFill>
                  <a:schemeClr val="tx1"/>
                </a:solidFill>
                <a:uFillTx/>
                <a:sym typeface="+mn-ea"/>
              </a:rPr>
              <a:t>i</a:t>
            </a:r>
            <a:endParaRPr lang="en-US" altLang="zh-CN" sz="2000" baseline="-25000">
              <a:solidFill>
                <a:schemeClr val="tx1"/>
              </a:solidFill>
              <a:uFillTx/>
              <a:sym typeface="+mn-ea"/>
            </a:endParaRPr>
          </a:p>
        </p:txBody>
      </p:sp>
      <p:sp>
        <p:nvSpPr>
          <p:cNvPr id="18" name="文本框 17"/>
          <p:cNvSpPr txBox="1"/>
          <p:nvPr>
            <p:custDataLst>
              <p:tags r:id="rId9"/>
            </p:custDataLst>
          </p:nvPr>
        </p:nvSpPr>
        <p:spPr>
          <a:xfrm>
            <a:off x="9526270" y="4814570"/>
            <a:ext cx="606425" cy="398780"/>
          </a:xfrm>
          <a:prstGeom prst="rect">
            <a:avLst/>
          </a:prstGeom>
          <a:noFill/>
        </p:spPr>
        <p:txBody>
          <a:bodyPr wrap="square" rtlCol="0" anchor="t">
            <a:spAutoFit/>
          </a:bodyPr>
          <a:p>
            <a:r>
              <a:rPr lang="en-US" altLang="zh-CN" sz="2000">
                <a:sym typeface="+mn-ea"/>
              </a:rPr>
              <a:t>t</a:t>
            </a:r>
            <a:r>
              <a:rPr lang="en-US" altLang="zh-CN" sz="2000" baseline="-25000">
                <a:solidFill>
                  <a:schemeClr val="tx1"/>
                </a:solidFill>
                <a:uFillTx/>
                <a:sym typeface="+mn-ea"/>
              </a:rPr>
              <a:t>j</a:t>
            </a:r>
            <a:endParaRPr lang="en-US" altLang="zh-CN" sz="2000" baseline="-25000">
              <a:solidFill>
                <a:schemeClr val="tx1"/>
              </a:solidFill>
              <a:uFillTx/>
              <a:sym typeface="+mn-ea"/>
            </a:endParaRPr>
          </a:p>
        </p:txBody>
      </p:sp>
      <p:sp>
        <p:nvSpPr>
          <p:cNvPr id="19" name="文本框 18"/>
          <p:cNvSpPr txBox="1"/>
          <p:nvPr/>
        </p:nvSpPr>
        <p:spPr>
          <a:xfrm>
            <a:off x="7416165" y="5326380"/>
            <a:ext cx="1006475" cy="398780"/>
          </a:xfrm>
          <a:prstGeom prst="rect">
            <a:avLst/>
          </a:prstGeom>
          <a:noFill/>
        </p:spPr>
        <p:txBody>
          <a:bodyPr wrap="square" rtlCol="0" anchor="t">
            <a:spAutoFit/>
          </a:bodyPr>
          <a:p>
            <a:r>
              <a:rPr lang="zh-CN" altLang="en-US" sz="2000" b="1">
                <a:solidFill>
                  <a:srgbClr val="C00000"/>
                </a:solidFill>
                <a:sym typeface="+mn-ea"/>
              </a:rPr>
              <a:t>恢复点</a:t>
            </a:r>
            <a:endParaRPr lang="zh-CN" altLang="en-US" sz="2000" b="1">
              <a:solidFill>
                <a:srgbClr val="C00000"/>
              </a:solidFill>
              <a:sym typeface="+mn-ea"/>
            </a:endParaRPr>
          </a:p>
        </p:txBody>
      </p:sp>
      <p:sp>
        <p:nvSpPr>
          <p:cNvPr id="20" name="文本框 19"/>
          <p:cNvSpPr txBox="1"/>
          <p:nvPr>
            <p:custDataLst>
              <p:tags r:id="rId10"/>
            </p:custDataLst>
          </p:nvPr>
        </p:nvSpPr>
        <p:spPr>
          <a:xfrm>
            <a:off x="9268460" y="5326380"/>
            <a:ext cx="1006475" cy="398780"/>
          </a:xfrm>
          <a:prstGeom prst="rect">
            <a:avLst/>
          </a:prstGeom>
          <a:noFill/>
        </p:spPr>
        <p:txBody>
          <a:bodyPr wrap="square" rtlCol="0" anchor="t">
            <a:spAutoFit/>
          </a:bodyPr>
          <a:p>
            <a:r>
              <a:rPr lang="zh-CN" altLang="en-US" sz="2000" b="1">
                <a:solidFill>
                  <a:srgbClr val="C00000"/>
                </a:solidFill>
                <a:sym typeface="+mn-ea"/>
              </a:rPr>
              <a:t>故障点</a:t>
            </a:r>
            <a:endParaRPr lang="zh-CN" altLang="en-US" sz="2000" b="1">
              <a:solidFill>
                <a:srgbClr val="C00000"/>
              </a:solidFill>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a:t>
            </a:r>
            <a:r>
              <a:rPr lang="zh-CN" altLang="en-US">
                <a:solidFill>
                  <a:srgbClr val="C00000"/>
                </a:solidFill>
                <a:sym typeface="+mn-ea"/>
              </a:rPr>
              <a:t>结构容错</a:t>
            </a:r>
            <a:endParaRPr lang="zh-CN" altLang="en-US">
              <a:solidFill>
                <a:srgbClr val="C00000"/>
              </a:solidFill>
              <a:sym typeface="+mn-ea"/>
            </a:endParaRPr>
          </a:p>
        </p:txBody>
      </p:sp>
      <p:sp>
        <p:nvSpPr>
          <p:cNvPr id="3" name="内容占位符 2"/>
          <p:cNvSpPr>
            <a:spLocks noGrp="1"/>
          </p:cNvSpPr>
          <p:nvPr>
            <p:ph idx="1"/>
          </p:nvPr>
        </p:nvSpPr>
        <p:spPr>
          <a:xfrm>
            <a:off x="838200" y="1538605"/>
            <a:ext cx="10515600" cy="5319395"/>
          </a:xfrm>
        </p:spPr>
        <p:txBody>
          <a:bodyPr>
            <a:normAutofit lnSpcReduction="10000"/>
          </a:bodyPr>
          <a:p>
            <a:pPr lvl="0"/>
            <a:r>
              <a:rPr lang="zh-CN" altLang="en-US"/>
              <a:t>结构容错是通过</a:t>
            </a:r>
            <a:r>
              <a:rPr lang="zh-CN" altLang="en-US"/>
              <a:t>结构冗余的手段</a:t>
            </a:r>
            <a:r>
              <a:rPr lang="zh-CN" altLang="en-US"/>
              <a:t>实现的</a:t>
            </a:r>
            <a:endParaRPr lang="zh-CN" altLang="en-US"/>
          </a:p>
          <a:p>
            <a:pPr lvl="0"/>
            <a:r>
              <a:rPr lang="zh-CN" altLang="en-US"/>
              <a:t>两个通常的结构容错软件方案</a:t>
            </a:r>
            <a:r>
              <a:rPr lang="zh-CN" altLang="en-US"/>
              <a:t>是：</a:t>
            </a:r>
            <a:endParaRPr lang="zh-CN" altLang="en-US"/>
          </a:p>
          <a:p>
            <a:pPr lvl="1"/>
            <a:r>
              <a:rPr lang="en-US" altLang="zh-CN"/>
              <a:t>N-</a:t>
            </a:r>
            <a:r>
              <a:rPr lang="zh-CN" altLang="en-US"/>
              <a:t>版本程序设计</a:t>
            </a:r>
            <a:r>
              <a:rPr lang="en-US" altLang="zh-CN"/>
              <a:t> NVP</a:t>
            </a:r>
            <a:r>
              <a:rPr lang="zh-CN" altLang="en-US"/>
              <a:t>（</a:t>
            </a:r>
            <a:r>
              <a:rPr lang="en-US" altLang="zh-CN"/>
              <a:t>N-Version Programming</a:t>
            </a:r>
            <a:r>
              <a:rPr lang="zh-CN" altLang="en-US"/>
              <a:t>）</a:t>
            </a:r>
            <a:endParaRPr lang="zh-CN" altLang="en-US"/>
          </a:p>
          <a:p>
            <a:pPr lvl="1"/>
            <a:r>
              <a:rPr lang="zh-CN" altLang="en-US"/>
              <a:t>恢复块法</a:t>
            </a:r>
            <a:r>
              <a:rPr lang="en-US" altLang="zh-CN"/>
              <a:t>RB</a:t>
            </a:r>
            <a:r>
              <a:rPr lang="zh-CN" altLang="en-US"/>
              <a:t>（</a:t>
            </a:r>
            <a:r>
              <a:rPr lang="en-US" altLang="zh-CN"/>
              <a:t>Recovery Block</a:t>
            </a:r>
            <a:r>
              <a:rPr lang="zh-CN" altLang="en-US"/>
              <a:t>）</a:t>
            </a:r>
            <a:endParaRPr lang="zh-CN" altLang="en-US"/>
          </a:p>
          <a:p>
            <a:pPr lvl="0"/>
            <a:r>
              <a:rPr lang="zh-CN" altLang="en-US"/>
              <a:t>将</a:t>
            </a:r>
            <a:r>
              <a:rPr lang="en-US" altLang="zh-CN"/>
              <a:t>NVP</a:t>
            </a:r>
            <a:r>
              <a:rPr lang="zh-CN" altLang="en-US"/>
              <a:t>和</a:t>
            </a:r>
            <a:r>
              <a:rPr lang="en-US" altLang="zh-CN"/>
              <a:t>RB</a:t>
            </a:r>
            <a:r>
              <a:rPr lang="zh-CN" altLang="en-US"/>
              <a:t>以不同的方式组合即可产生</a:t>
            </a:r>
            <a:r>
              <a:rPr lang="zh-CN" altLang="en-US" b="1">
                <a:solidFill>
                  <a:srgbClr val="FF0000"/>
                </a:solidFill>
              </a:rPr>
              <a:t>一致性恢复块</a:t>
            </a:r>
            <a:r>
              <a:rPr lang="zh-CN" altLang="en-US"/>
              <a:t>、</a:t>
            </a:r>
            <a:r>
              <a:rPr lang="zh-CN" altLang="en-US" b="1">
                <a:solidFill>
                  <a:srgbClr val="FF0000"/>
                </a:solidFill>
              </a:rPr>
              <a:t>接受表决</a:t>
            </a:r>
            <a:r>
              <a:rPr lang="zh-CN" altLang="en-US"/>
              <a:t>和</a:t>
            </a:r>
            <a:r>
              <a:rPr lang="en-US" altLang="zh-CN" b="1">
                <a:solidFill>
                  <a:srgbClr val="FF0000"/>
                </a:solidFill>
              </a:rPr>
              <a:t>N</a:t>
            </a:r>
            <a:r>
              <a:rPr lang="zh-CN" altLang="en-US" b="1">
                <a:solidFill>
                  <a:srgbClr val="FF0000"/>
                </a:solidFill>
              </a:rPr>
              <a:t>自检程序设计</a:t>
            </a:r>
            <a:endParaRPr lang="zh-CN" altLang="en-US"/>
          </a:p>
          <a:p>
            <a:pPr lvl="0"/>
            <a:r>
              <a:rPr lang="zh-CN" altLang="en-US"/>
              <a:t>结构容错是基于软件相异性设计</a:t>
            </a:r>
            <a:r>
              <a:rPr lang="zh-CN" altLang="en-US"/>
              <a:t>原理</a:t>
            </a:r>
            <a:endParaRPr lang="zh-CN" altLang="en-US"/>
          </a:p>
          <a:p>
            <a:pPr lvl="1"/>
            <a:r>
              <a:rPr lang="zh-CN" altLang="en-US"/>
              <a:t>软件相异性设计即由一个初始需求规范出发，几个独立的工作组独立设计出满足系统要求、能完成预先定义的功能实体，形成一个</a:t>
            </a:r>
            <a:r>
              <a:rPr lang="zh-CN" altLang="en-US"/>
              <a:t>系统</a:t>
            </a:r>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a:t>
            </a:r>
            <a:r>
              <a:rPr lang="zh-CN" altLang="en-US">
                <a:solidFill>
                  <a:srgbClr val="C00000"/>
                </a:solidFill>
                <a:sym typeface="+mn-ea"/>
              </a:rPr>
              <a:t>结构容错</a:t>
            </a:r>
            <a:endParaRPr lang="zh-CN" altLang="en-US">
              <a:solidFill>
                <a:srgbClr val="C00000"/>
              </a:solidFill>
              <a:sym typeface="+mn-ea"/>
            </a:endParaRPr>
          </a:p>
        </p:txBody>
      </p:sp>
      <p:sp>
        <p:nvSpPr>
          <p:cNvPr id="3" name="内容占位符 2"/>
          <p:cNvSpPr>
            <a:spLocks noGrp="1"/>
          </p:cNvSpPr>
          <p:nvPr>
            <p:ph idx="1"/>
          </p:nvPr>
        </p:nvSpPr>
        <p:spPr>
          <a:xfrm>
            <a:off x="838200" y="1538605"/>
            <a:ext cx="10515600" cy="5319395"/>
          </a:xfrm>
        </p:spPr>
        <p:txBody>
          <a:bodyPr>
            <a:normAutofit lnSpcReduction="10000"/>
          </a:bodyPr>
          <a:p>
            <a:pPr lvl="0"/>
            <a:r>
              <a:rPr lang="zh-CN" altLang="en-US"/>
              <a:t>软件相异性设计原理可以通过多种方法</a:t>
            </a:r>
            <a:r>
              <a:rPr lang="zh-CN" altLang="en-US"/>
              <a:t>达到：</a:t>
            </a:r>
            <a:endParaRPr lang="zh-CN" altLang="en-US"/>
          </a:p>
          <a:p>
            <a:pPr lvl="1"/>
            <a:r>
              <a:rPr lang="zh-CN" altLang="en-US" b="1">
                <a:solidFill>
                  <a:srgbClr val="FF0000"/>
                </a:solidFill>
              </a:rPr>
              <a:t>不同人员</a:t>
            </a:r>
            <a:r>
              <a:rPr lang="zh-CN" altLang="en-US"/>
              <a:t>进行设计</a:t>
            </a:r>
            <a:r>
              <a:rPr lang="zh-CN" altLang="en-US"/>
              <a:t>与开发</a:t>
            </a:r>
            <a:endParaRPr lang="zh-CN" altLang="en-US"/>
          </a:p>
          <a:p>
            <a:pPr lvl="1"/>
            <a:r>
              <a:rPr lang="zh-CN" altLang="en-US"/>
              <a:t>需要使用不同的</a:t>
            </a:r>
            <a:r>
              <a:rPr lang="zh-CN" altLang="en-US" b="1">
                <a:solidFill>
                  <a:srgbClr val="FF0000"/>
                </a:solidFill>
              </a:rPr>
              <a:t>设计方法</a:t>
            </a:r>
            <a:r>
              <a:rPr lang="zh-CN" altLang="en-US"/>
              <a:t>来实现</a:t>
            </a:r>
            <a:r>
              <a:rPr lang="zh-CN" altLang="en-US"/>
              <a:t>需求</a:t>
            </a:r>
            <a:endParaRPr lang="zh-CN" altLang="en-US"/>
          </a:p>
          <a:p>
            <a:pPr lvl="1"/>
            <a:r>
              <a:rPr lang="zh-CN" altLang="en-US"/>
              <a:t>使用不同的程序</a:t>
            </a:r>
            <a:r>
              <a:rPr lang="zh-CN" altLang="en-US" b="1">
                <a:solidFill>
                  <a:srgbClr val="FF0000"/>
                </a:solidFill>
              </a:rPr>
              <a:t>设计语言</a:t>
            </a:r>
            <a:r>
              <a:rPr lang="zh-CN" altLang="en-US"/>
              <a:t>来完成</a:t>
            </a:r>
            <a:r>
              <a:rPr lang="zh-CN" altLang="en-US"/>
              <a:t>实现</a:t>
            </a:r>
            <a:endParaRPr lang="zh-CN" altLang="en-US"/>
          </a:p>
          <a:p>
            <a:pPr lvl="1"/>
            <a:r>
              <a:rPr lang="zh-CN" altLang="en-US"/>
              <a:t>需求系统分别使用不同的</a:t>
            </a:r>
            <a:r>
              <a:rPr lang="zh-CN" altLang="en-US" b="1">
                <a:solidFill>
                  <a:srgbClr val="FF0000"/>
                </a:solidFill>
              </a:rPr>
              <a:t>开发工具</a:t>
            </a:r>
            <a:r>
              <a:rPr lang="zh-CN" altLang="en-US"/>
              <a:t>，且在不同的开发环境中</a:t>
            </a:r>
            <a:r>
              <a:rPr lang="zh-CN" altLang="en-US"/>
              <a:t>完成</a:t>
            </a:r>
            <a:endParaRPr lang="zh-CN" altLang="en-US"/>
          </a:p>
          <a:p>
            <a:pPr lvl="1"/>
            <a:r>
              <a:rPr lang="zh-CN" altLang="en-US"/>
              <a:t>明确要求在实现的某些部分使用不同的</a:t>
            </a:r>
            <a:r>
              <a:rPr lang="zh-CN" altLang="en-US" b="1">
                <a:solidFill>
                  <a:srgbClr val="FF0000"/>
                </a:solidFill>
              </a:rPr>
              <a:t>算法</a:t>
            </a:r>
            <a:endParaRPr lang="zh-CN" altLang="en-US"/>
          </a:p>
          <a:p>
            <a:pPr lvl="1"/>
            <a:r>
              <a:rPr lang="zh-CN" altLang="en-US"/>
              <a:t>测试程序的规范、测试方法、测试程序、测试组织，尽可能由不重复的</a:t>
            </a:r>
            <a:r>
              <a:rPr lang="zh-CN" altLang="en-US" b="1">
                <a:solidFill>
                  <a:srgbClr val="FF0000"/>
                </a:solidFill>
              </a:rPr>
              <a:t>相互独立的人员</a:t>
            </a:r>
            <a:r>
              <a:rPr lang="zh-CN" altLang="en-US"/>
              <a:t>开发</a:t>
            </a:r>
            <a:endParaRPr lang="zh-CN" altLang="en-US"/>
          </a:p>
          <a:p>
            <a:pPr lvl="1"/>
            <a:r>
              <a:rPr lang="zh-CN" altLang="en-US"/>
              <a:t>最终规范与最终设计、最终编程由</a:t>
            </a:r>
            <a:r>
              <a:rPr lang="zh-CN" altLang="en-US" b="1">
                <a:solidFill>
                  <a:srgbClr val="FF0000"/>
                </a:solidFill>
              </a:rPr>
              <a:t>不重复的审核人员</a:t>
            </a:r>
            <a:r>
              <a:rPr lang="zh-CN" altLang="en-US"/>
              <a:t>进行</a:t>
            </a:r>
            <a:r>
              <a:rPr lang="zh-CN" altLang="en-US"/>
              <a:t>审核</a:t>
            </a:r>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恢复块法</a:t>
            </a:r>
            <a:r>
              <a:rPr lang="en-US" altLang="zh-CN">
                <a:solidFill>
                  <a:srgbClr val="C00000"/>
                </a:solidFill>
                <a:sym typeface="+mn-ea"/>
              </a:rPr>
              <a:t>RB</a:t>
            </a:r>
            <a:endParaRPr lang="en-US" altLang="zh-CN">
              <a:solidFill>
                <a:srgbClr val="C00000"/>
              </a:solidFill>
              <a:sym typeface="+mn-ea"/>
            </a:endParaRPr>
          </a:p>
        </p:txBody>
      </p:sp>
      <p:sp>
        <p:nvSpPr>
          <p:cNvPr id="3" name="内容占位符 2"/>
          <p:cNvSpPr>
            <a:spLocks noGrp="1"/>
          </p:cNvSpPr>
          <p:nvPr>
            <p:ph idx="1"/>
          </p:nvPr>
        </p:nvSpPr>
        <p:spPr/>
        <p:txBody>
          <a:bodyPr/>
          <a:p>
            <a:r>
              <a:rPr lang="zh-CN" altLang="en-US"/>
              <a:t>恢复块法</a:t>
            </a:r>
            <a:r>
              <a:rPr lang="en-US" altLang="zh-CN"/>
              <a:t>RB</a:t>
            </a:r>
            <a:r>
              <a:rPr lang="zh-CN" altLang="en-US"/>
              <a:t>：每次模块处理结束时都要检验运算结果，在找出故障后，通过代替模块进行再次运算以便实现容错的</a:t>
            </a:r>
            <a:r>
              <a:rPr lang="zh-CN" altLang="en-US"/>
              <a:t>概念。</a:t>
            </a:r>
            <a:endParaRPr lang="zh-CN" altLang="en-US"/>
          </a:p>
          <a:p>
            <a:r>
              <a:rPr lang="zh-CN" altLang="en-US"/>
              <a:t>适用形式化的方式，一个功能模块在使用恢复块时的原理</a:t>
            </a:r>
            <a:r>
              <a:rPr lang="zh-CN" altLang="en-US"/>
              <a:t>如下：</a:t>
            </a:r>
            <a:endParaRPr lang="zh-CN" altLang="en-US"/>
          </a:p>
        </p:txBody>
      </p:sp>
      <p:sp>
        <p:nvSpPr>
          <p:cNvPr id="5" name="文本框 4"/>
          <p:cNvSpPr txBox="1"/>
          <p:nvPr>
            <p:custDataLst>
              <p:tags r:id="rId1"/>
            </p:custDataLst>
          </p:nvPr>
        </p:nvSpPr>
        <p:spPr>
          <a:xfrm>
            <a:off x="4676140" y="3870325"/>
            <a:ext cx="2654935" cy="2306955"/>
          </a:xfrm>
          <a:prstGeom prst="rect">
            <a:avLst/>
          </a:prstGeom>
          <a:solidFill>
            <a:schemeClr val="accent4">
              <a:lumMod val="20000"/>
              <a:lumOff val="80000"/>
            </a:schemeClr>
          </a:solidFill>
          <a:ln>
            <a:solidFill>
              <a:schemeClr val="accent1"/>
            </a:solidFill>
          </a:ln>
        </p:spPr>
        <p:txBody>
          <a:bodyPr wrap="square" rtlCol="0" anchor="t">
            <a:spAutoFit/>
          </a:bodyPr>
          <a:p>
            <a:r>
              <a:rPr lang="zh-CN" altLang="en-US" sz="2400">
                <a:sym typeface="+mn-ea"/>
              </a:rPr>
              <a:t>证明</a:t>
            </a:r>
            <a:r>
              <a:rPr lang="en-US" altLang="zh-CN" sz="2400">
                <a:sym typeface="+mn-ea"/>
              </a:rPr>
              <a:t> T </a:t>
            </a:r>
            <a:r>
              <a:rPr lang="zh-CN" altLang="en-US" sz="2400">
                <a:sym typeface="+mn-ea"/>
              </a:rPr>
              <a:t>正确</a:t>
            </a:r>
            <a:endParaRPr lang="zh-CN" altLang="en-US" sz="2400">
              <a:sym typeface="+mn-ea"/>
            </a:endParaRPr>
          </a:p>
          <a:p>
            <a:r>
              <a:rPr lang="en-US" altLang="zh-CN" sz="2400">
                <a:sym typeface="+mn-ea"/>
              </a:rPr>
              <a:t>        BY P</a:t>
            </a:r>
            <a:endParaRPr lang="en-US" altLang="zh-CN" sz="2400">
              <a:sym typeface="+mn-ea"/>
            </a:endParaRPr>
          </a:p>
          <a:p>
            <a:r>
              <a:rPr lang="en-US" altLang="zh-CN" sz="2400">
                <a:sym typeface="+mn-ea"/>
              </a:rPr>
              <a:t>        ELSE BY Q</a:t>
            </a:r>
            <a:endParaRPr lang="en-US" altLang="zh-CN" sz="2400">
              <a:sym typeface="+mn-ea"/>
            </a:endParaRPr>
          </a:p>
          <a:p>
            <a:r>
              <a:rPr lang="en-US" altLang="zh-CN" sz="2400">
                <a:sym typeface="+mn-ea"/>
              </a:rPr>
              <a:t>        ELSE BY R</a:t>
            </a:r>
            <a:endParaRPr lang="en-US" altLang="zh-CN" sz="2400">
              <a:sym typeface="+mn-ea"/>
            </a:endParaRPr>
          </a:p>
          <a:p>
            <a:r>
              <a:rPr lang="en-US" altLang="zh-CN" sz="2400">
                <a:sym typeface="+mn-ea"/>
              </a:rPr>
              <a:t>        ......</a:t>
            </a:r>
            <a:endParaRPr lang="en-US" altLang="zh-CN" sz="2400">
              <a:sym typeface="+mn-ea"/>
            </a:endParaRPr>
          </a:p>
          <a:p>
            <a:r>
              <a:rPr lang="en-US" altLang="zh-CN" sz="2400">
                <a:sym typeface="+mn-ea"/>
              </a:rPr>
              <a:t>ELSE </a:t>
            </a:r>
            <a:r>
              <a:rPr lang="zh-CN" altLang="en-US" sz="2400">
                <a:sym typeface="+mn-ea"/>
              </a:rPr>
              <a:t>故障</a:t>
            </a:r>
            <a:endParaRPr lang="zh-CN" altLang="en-US" sz="2400">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恢复块法</a:t>
            </a:r>
            <a:r>
              <a:rPr lang="en-US" altLang="zh-CN">
                <a:solidFill>
                  <a:srgbClr val="C00000"/>
                </a:solidFill>
                <a:sym typeface="+mn-ea"/>
              </a:rPr>
              <a:t>RB</a:t>
            </a:r>
            <a:endParaRPr lang="zh-CN" altLang="en-US"/>
          </a:p>
        </p:txBody>
      </p:sp>
      <p:sp>
        <p:nvSpPr>
          <p:cNvPr id="4" name="矩形 3"/>
          <p:cNvSpPr/>
          <p:nvPr/>
        </p:nvSpPr>
        <p:spPr>
          <a:xfrm>
            <a:off x="2442845" y="2661285"/>
            <a:ext cx="694055" cy="887730"/>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solidFill>
                  <a:srgbClr val="C00000"/>
                </a:solidFill>
              </a:rPr>
              <a:t>M1</a:t>
            </a:r>
            <a:endParaRPr lang="en-US" altLang="zh-CN" sz="2400" b="1">
              <a:solidFill>
                <a:srgbClr val="C00000"/>
              </a:solidFill>
            </a:endParaRPr>
          </a:p>
        </p:txBody>
      </p:sp>
      <p:sp>
        <p:nvSpPr>
          <p:cNvPr id="5" name="矩形 4"/>
          <p:cNvSpPr/>
          <p:nvPr>
            <p:custDataLst>
              <p:tags r:id="rId1"/>
            </p:custDataLst>
          </p:nvPr>
        </p:nvSpPr>
        <p:spPr>
          <a:xfrm>
            <a:off x="4134485" y="2661285"/>
            <a:ext cx="694055" cy="887730"/>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solidFill>
                  <a:srgbClr val="C00000"/>
                </a:solidFill>
              </a:rPr>
              <a:t>M2</a:t>
            </a:r>
            <a:endParaRPr lang="en-US" altLang="zh-CN" sz="2400" b="1">
              <a:solidFill>
                <a:srgbClr val="C00000"/>
              </a:solidFill>
            </a:endParaRPr>
          </a:p>
        </p:txBody>
      </p:sp>
      <p:sp>
        <p:nvSpPr>
          <p:cNvPr id="6" name="矩形 5"/>
          <p:cNvSpPr/>
          <p:nvPr>
            <p:custDataLst>
              <p:tags r:id="rId2"/>
            </p:custDataLst>
          </p:nvPr>
        </p:nvSpPr>
        <p:spPr>
          <a:xfrm>
            <a:off x="5826125" y="2661285"/>
            <a:ext cx="694055" cy="887730"/>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solidFill>
                  <a:srgbClr val="C00000"/>
                </a:solidFill>
              </a:rPr>
              <a:t>M3</a:t>
            </a:r>
            <a:endParaRPr lang="en-US" altLang="zh-CN" sz="2400" b="1">
              <a:solidFill>
                <a:srgbClr val="C00000"/>
              </a:solidFill>
            </a:endParaRPr>
          </a:p>
        </p:txBody>
      </p:sp>
      <p:sp>
        <p:nvSpPr>
          <p:cNvPr id="7" name="矩形 6"/>
          <p:cNvSpPr/>
          <p:nvPr>
            <p:custDataLst>
              <p:tags r:id="rId3"/>
            </p:custDataLst>
          </p:nvPr>
        </p:nvSpPr>
        <p:spPr>
          <a:xfrm>
            <a:off x="8878570" y="2661285"/>
            <a:ext cx="694055" cy="887730"/>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solidFill>
                  <a:srgbClr val="C00000"/>
                </a:solidFill>
              </a:rPr>
              <a:t>Mn</a:t>
            </a:r>
            <a:endParaRPr lang="en-US" altLang="zh-CN" sz="2400" b="1">
              <a:solidFill>
                <a:srgbClr val="C00000"/>
              </a:solidFill>
            </a:endParaRPr>
          </a:p>
        </p:txBody>
      </p:sp>
      <p:sp>
        <p:nvSpPr>
          <p:cNvPr id="13" name="矩形 12"/>
          <p:cNvSpPr/>
          <p:nvPr>
            <p:custDataLst>
              <p:tags r:id="rId4"/>
            </p:custDataLst>
          </p:nvPr>
        </p:nvSpPr>
        <p:spPr>
          <a:xfrm>
            <a:off x="2442845" y="4150995"/>
            <a:ext cx="694055" cy="887730"/>
          </a:xfrm>
          <a:prstGeom prst="rect">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solidFill>
                  <a:srgbClr val="C00000"/>
                </a:solidFill>
              </a:rPr>
              <a:t>A1</a:t>
            </a:r>
            <a:endParaRPr lang="en-US" altLang="zh-CN" sz="2400" b="1">
              <a:solidFill>
                <a:srgbClr val="C00000"/>
              </a:solidFill>
            </a:endParaRPr>
          </a:p>
        </p:txBody>
      </p:sp>
      <p:sp>
        <p:nvSpPr>
          <p:cNvPr id="14" name="矩形 13"/>
          <p:cNvSpPr/>
          <p:nvPr>
            <p:custDataLst>
              <p:tags r:id="rId5"/>
            </p:custDataLst>
          </p:nvPr>
        </p:nvSpPr>
        <p:spPr>
          <a:xfrm>
            <a:off x="4134485" y="4150995"/>
            <a:ext cx="694055" cy="887730"/>
          </a:xfrm>
          <a:prstGeom prst="rect">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solidFill>
                  <a:srgbClr val="C00000"/>
                </a:solidFill>
              </a:rPr>
              <a:t>A2</a:t>
            </a:r>
            <a:endParaRPr lang="en-US" altLang="zh-CN" sz="2400" b="1">
              <a:solidFill>
                <a:srgbClr val="C00000"/>
              </a:solidFill>
            </a:endParaRPr>
          </a:p>
        </p:txBody>
      </p:sp>
      <p:sp>
        <p:nvSpPr>
          <p:cNvPr id="15" name="矩形 14"/>
          <p:cNvSpPr/>
          <p:nvPr>
            <p:custDataLst>
              <p:tags r:id="rId6"/>
            </p:custDataLst>
          </p:nvPr>
        </p:nvSpPr>
        <p:spPr>
          <a:xfrm>
            <a:off x="5826125" y="4150995"/>
            <a:ext cx="694055" cy="887730"/>
          </a:xfrm>
          <a:prstGeom prst="rect">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solidFill>
                  <a:srgbClr val="C00000"/>
                </a:solidFill>
              </a:rPr>
              <a:t>A3</a:t>
            </a:r>
            <a:endParaRPr lang="en-US" altLang="zh-CN" sz="2400" b="1">
              <a:solidFill>
                <a:srgbClr val="C00000"/>
              </a:solidFill>
            </a:endParaRPr>
          </a:p>
        </p:txBody>
      </p:sp>
      <p:sp>
        <p:nvSpPr>
          <p:cNvPr id="16" name="矩形 15"/>
          <p:cNvSpPr/>
          <p:nvPr>
            <p:custDataLst>
              <p:tags r:id="rId7"/>
            </p:custDataLst>
          </p:nvPr>
        </p:nvSpPr>
        <p:spPr>
          <a:xfrm>
            <a:off x="8878570" y="4150995"/>
            <a:ext cx="694055" cy="887730"/>
          </a:xfrm>
          <a:prstGeom prst="rect">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solidFill>
                  <a:srgbClr val="C00000"/>
                </a:solidFill>
              </a:rPr>
              <a:t>An</a:t>
            </a:r>
            <a:endParaRPr lang="en-US" altLang="zh-CN" sz="2400" b="1">
              <a:solidFill>
                <a:srgbClr val="C00000"/>
              </a:solidFill>
            </a:endParaRPr>
          </a:p>
        </p:txBody>
      </p:sp>
      <p:sp>
        <p:nvSpPr>
          <p:cNvPr id="17" name="椭圆 16"/>
          <p:cNvSpPr/>
          <p:nvPr/>
        </p:nvSpPr>
        <p:spPr>
          <a:xfrm>
            <a:off x="733425" y="2687320"/>
            <a:ext cx="1070610" cy="83185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p>
            <a:pPr algn="ctr"/>
            <a:r>
              <a:rPr lang="zh-CN" altLang="en-US" sz="2400" b="1"/>
              <a:t>输入</a:t>
            </a:r>
            <a:endParaRPr lang="zh-CN" altLang="en-US" sz="2400" b="1"/>
          </a:p>
        </p:txBody>
      </p:sp>
      <p:cxnSp>
        <p:nvCxnSpPr>
          <p:cNvPr id="18" name="直接箭头连接符 17"/>
          <p:cNvCxnSpPr>
            <a:stCxn id="4" idx="2"/>
            <a:endCxn id="13" idx="0"/>
          </p:cNvCxnSpPr>
          <p:nvPr/>
        </p:nvCxnSpPr>
        <p:spPr>
          <a:xfrm>
            <a:off x="2790190" y="3549015"/>
            <a:ext cx="0" cy="6019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9" name="直接箭头连接符 18"/>
          <p:cNvCxnSpPr>
            <a:stCxn id="5" idx="2"/>
            <a:endCxn id="14" idx="0"/>
          </p:cNvCxnSpPr>
          <p:nvPr/>
        </p:nvCxnSpPr>
        <p:spPr>
          <a:xfrm>
            <a:off x="4481830" y="3549015"/>
            <a:ext cx="0" cy="6019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0" name="直接箭头连接符 19"/>
          <p:cNvCxnSpPr>
            <a:stCxn id="6" idx="2"/>
            <a:endCxn id="15" idx="0"/>
          </p:cNvCxnSpPr>
          <p:nvPr/>
        </p:nvCxnSpPr>
        <p:spPr>
          <a:xfrm>
            <a:off x="6173470" y="3549015"/>
            <a:ext cx="0" cy="6019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a:stCxn id="7" idx="2"/>
          </p:cNvCxnSpPr>
          <p:nvPr/>
        </p:nvCxnSpPr>
        <p:spPr>
          <a:xfrm flipH="1">
            <a:off x="9218295" y="3549015"/>
            <a:ext cx="7620" cy="6070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2" name="文本框 21"/>
          <p:cNvSpPr txBox="1"/>
          <p:nvPr/>
        </p:nvSpPr>
        <p:spPr>
          <a:xfrm>
            <a:off x="6888480" y="3449955"/>
            <a:ext cx="1176655" cy="678815"/>
          </a:xfrm>
          <a:prstGeom prst="rect">
            <a:avLst/>
          </a:prstGeom>
          <a:noFill/>
        </p:spPr>
        <p:txBody>
          <a:bodyPr wrap="square" rtlCol="0" anchor="t">
            <a:noAutofit/>
          </a:bodyPr>
          <a:p>
            <a:r>
              <a:rPr lang="en-US" altLang="zh-CN" sz="4800">
                <a:solidFill>
                  <a:srgbClr val="C00000"/>
                </a:solidFill>
                <a:sym typeface="+mn-ea"/>
              </a:rPr>
              <a:t>......</a:t>
            </a:r>
            <a:endParaRPr lang="en-US" altLang="zh-CN" sz="4800">
              <a:solidFill>
                <a:srgbClr val="C00000"/>
              </a:solidFill>
              <a:sym typeface="+mn-ea"/>
            </a:endParaRPr>
          </a:p>
        </p:txBody>
      </p:sp>
      <p:cxnSp>
        <p:nvCxnSpPr>
          <p:cNvPr id="23" name="直接箭头连接符 22"/>
          <p:cNvCxnSpPr/>
          <p:nvPr/>
        </p:nvCxnSpPr>
        <p:spPr>
          <a:xfrm flipV="1">
            <a:off x="3281680" y="3572510"/>
            <a:ext cx="751840" cy="50419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4" name="直接箭头连接符 23"/>
          <p:cNvCxnSpPr/>
          <p:nvPr>
            <p:custDataLst>
              <p:tags r:id="rId8"/>
            </p:custDataLst>
          </p:nvPr>
        </p:nvCxnSpPr>
        <p:spPr>
          <a:xfrm flipV="1">
            <a:off x="4983480" y="3572510"/>
            <a:ext cx="751840" cy="50419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5" name="直接箭头连接符 24"/>
          <p:cNvCxnSpPr/>
          <p:nvPr>
            <p:custDataLst>
              <p:tags r:id="rId9"/>
            </p:custDataLst>
          </p:nvPr>
        </p:nvCxnSpPr>
        <p:spPr>
          <a:xfrm flipV="1">
            <a:off x="7982585" y="3519170"/>
            <a:ext cx="751840" cy="50419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6" name="直接箭头连接符 25"/>
          <p:cNvCxnSpPr/>
          <p:nvPr>
            <p:custDataLst>
              <p:tags r:id="rId10"/>
            </p:custDataLst>
          </p:nvPr>
        </p:nvCxnSpPr>
        <p:spPr>
          <a:xfrm>
            <a:off x="2790190" y="5038725"/>
            <a:ext cx="0" cy="4320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7" name="直接箭头连接符 26"/>
          <p:cNvCxnSpPr/>
          <p:nvPr>
            <p:custDataLst>
              <p:tags r:id="rId11"/>
            </p:custDataLst>
          </p:nvPr>
        </p:nvCxnSpPr>
        <p:spPr>
          <a:xfrm>
            <a:off x="4481830" y="5038725"/>
            <a:ext cx="0" cy="4320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8" name="直接箭头连接符 27"/>
          <p:cNvCxnSpPr/>
          <p:nvPr>
            <p:custDataLst>
              <p:tags r:id="rId12"/>
            </p:custDataLst>
          </p:nvPr>
        </p:nvCxnSpPr>
        <p:spPr>
          <a:xfrm>
            <a:off x="6173470" y="5038725"/>
            <a:ext cx="0" cy="4320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9" name="直接箭头连接符 28"/>
          <p:cNvCxnSpPr/>
          <p:nvPr>
            <p:custDataLst>
              <p:tags r:id="rId13"/>
            </p:custDataLst>
          </p:nvPr>
        </p:nvCxnSpPr>
        <p:spPr>
          <a:xfrm>
            <a:off x="9234170" y="5038725"/>
            <a:ext cx="0" cy="4320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30" name="直接箭头连接符 29"/>
          <p:cNvCxnSpPr>
            <a:stCxn id="17" idx="6"/>
            <a:endCxn id="4" idx="1"/>
          </p:cNvCxnSpPr>
          <p:nvPr/>
        </p:nvCxnSpPr>
        <p:spPr>
          <a:xfrm>
            <a:off x="1804035" y="3103245"/>
            <a:ext cx="63881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1" name="文本框 30"/>
          <p:cNvSpPr txBox="1"/>
          <p:nvPr/>
        </p:nvSpPr>
        <p:spPr>
          <a:xfrm>
            <a:off x="2199640" y="2110105"/>
            <a:ext cx="1230630" cy="460375"/>
          </a:xfrm>
          <a:prstGeom prst="rect">
            <a:avLst/>
          </a:prstGeom>
          <a:noFill/>
        </p:spPr>
        <p:txBody>
          <a:bodyPr wrap="square" rtlCol="0" anchor="t">
            <a:spAutoFit/>
          </a:bodyPr>
          <a:p>
            <a:r>
              <a:rPr lang="zh-CN" altLang="en-US" sz="2400" b="1">
                <a:solidFill>
                  <a:schemeClr val="accent5">
                    <a:lumMod val="50000"/>
                  </a:schemeClr>
                </a:solidFill>
                <a:sym typeface="+mn-ea"/>
              </a:rPr>
              <a:t>基本块</a:t>
            </a:r>
            <a:endParaRPr lang="zh-CN" altLang="en-US" sz="2400" b="1">
              <a:solidFill>
                <a:schemeClr val="accent5">
                  <a:lumMod val="50000"/>
                </a:schemeClr>
              </a:solidFill>
              <a:sym typeface="+mn-ea"/>
            </a:endParaRPr>
          </a:p>
        </p:txBody>
      </p:sp>
      <p:sp>
        <p:nvSpPr>
          <p:cNvPr id="32" name="文本框 31"/>
          <p:cNvSpPr txBox="1"/>
          <p:nvPr>
            <p:custDataLst>
              <p:tags r:id="rId14"/>
            </p:custDataLst>
          </p:nvPr>
        </p:nvSpPr>
        <p:spPr>
          <a:xfrm>
            <a:off x="5557520" y="2183765"/>
            <a:ext cx="1230630" cy="460375"/>
          </a:xfrm>
          <a:prstGeom prst="rect">
            <a:avLst/>
          </a:prstGeom>
          <a:noFill/>
        </p:spPr>
        <p:txBody>
          <a:bodyPr wrap="square" rtlCol="0" anchor="t">
            <a:spAutoFit/>
          </a:bodyPr>
          <a:p>
            <a:r>
              <a:rPr lang="zh-CN" altLang="en-US" sz="2400" b="1">
                <a:solidFill>
                  <a:schemeClr val="accent5">
                    <a:lumMod val="50000"/>
                  </a:schemeClr>
                </a:solidFill>
                <a:sym typeface="+mn-ea"/>
              </a:rPr>
              <a:t>替换块</a:t>
            </a:r>
            <a:endParaRPr lang="zh-CN" altLang="en-US" sz="2400" b="1">
              <a:solidFill>
                <a:schemeClr val="accent5">
                  <a:lumMod val="50000"/>
                </a:schemeClr>
              </a:solidFill>
              <a:sym typeface="+mn-ea"/>
            </a:endParaRPr>
          </a:p>
        </p:txBody>
      </p:sp>
      <p:sp>
        <p:nvSpPr>
          <p:cNvPr id="33" name="矩形标注 32"/>
          <p:cNvSpPr/>
          <p:nvPr/>
        </p:nvSpPr>
        <p:spPr>
          <a:xfrm>
            <a:off x="289560" y="4023360"/>
            <a:ext cx="1443355" cy="548640"/>
          </a:xfrm>
          <a:prstGeom prst="wedgeRectCallout">
            <a:avLst>
              <a:gd name="adj1" fmla="val 121572"/>
              <a:gd name="adj2" fmla="val -90624"/>
            </a:avLst>
          </a:prstGeom>
          <a:solidFill>
            <a:schemeClr val="accent2">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t>验收测试</a:t>
            </a:r>
            <a:r>
              <a:rPr lang="en-US" altLang="zh-CN" sz="2000" b="1"/>
              <a:t>1</a:t>
            </a:r>
            <a:endParaRPr lang="en-US" altLang="zh-CN" sz="2000" b="1"/>
          </a:p>
        </p:txBody>
      </p:sp>
      <p:sp>
        <p:nvSpPr>
          <p:cNvPr id="34" name="矩形标注 33"/>
          <p:cNvSpPr/>
          <p:nvPr>
            <p:custDataLst>
              <p:tags r:id="rId15"/>
            </p:custDataLst>
          </p:nvPr>
        </p:nvSpPr>
        <p:spPr>
          <a:xfrm>
            <a:off x="10379075" y="3449955"/>
            <a:ext cx="1443355" cy="548640"/>
          </a:xfrm>
          <a:prstGeom prst="wedgeRectCallout">
            <a:avLst>
              <a:gd name="adj1" fmla="val -124791"/>
              <a:gd name="adj2" fmla="val 9375"/>
            </a:avLst>
          </a:prstGeom>
          <a:solidFill>
            <a:schemeClr val="accent2">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t>验收测试</a:t>
            </a:r>
            <a:r>
              <a:rPr lang="en-US" altLang="zh-CN" sz="2000" b="1"/>
              <a:t>n</a:t>
            </a:r>
            <a:endParaRPr lang="en-US" altLang="zh-CN" sz="2000" b="1"/>
          </a:p>
        </p:txBody>
      </p:sp>
      <p:sp>
        <p:nvSpPr>
          <p:cNvPr id="37" name="爆炸形 1 36"/>
          <p:cNvSpPr/>
          <p:nvPr/>
        </p:nvSpPr>
        <p:spPr>
          <a:xfrm>
            <a:off x="2700020" y="996950"/>
            <a:ext cx="2371090" cy="1273810"/>
          </a:xfrm>
          <a:prstGeom prst="irregularSeal1">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t>验收测</a:t>
            </a:r>
            <a:endParaRPr lang="zh-CN" altLang="en-US" sz="2000" b="1"/>
          </a:p>
          <a:p>
            <a:pPr algn="ctr"/>
            <a:r>
              <a:rPr lang="zh-CN" altLang="en-US" sz="2000" b="1"/>
              <a:t>试失效</a:t>
            </a:r>
            <a:endParaRPr lang="zh-CN" altLang="en-US" sz="2000" b="1"/>
          </a:p>
        </p:txBody>
      </p:sp>
      <p:cxnSp>
        <p:nvCxnSpPr>
          <p:cNvPr id="38" name="直接箭头连接符 37"/>
          <p:cNvCxnSpPr>
            <a:stCxn id="37" idx="2"/>
          </p:cNvCxnSpPr>
          <p:nvPr/>
        </p:nvCxnSpPr>
        <p:spPr>
          <a:xfrm>
            <a:off x="3631565" y="2270760"/>
            <a:ext cx="0" cy="1546860"/>
          </a:xfrm>
          <a:prstGeom prst="straightConnector1">
            <a:avLst/>
          </a:prstGeom>
          <a:ln>
            <a:prstDash val="dash"/>
            <a:tailEnd type="arrow"/>
          </a:ln>
        </p:spPr>
        <p:style>
          <a:lnRef idx="2">
            <a:schemeClr val="accent1"/>
          </a:lnRef>
          <a:fillRef idx="0">
            <a:srgbClr val="FFFFFF"/>
          </a:fillRef>
          <a:effectRef idx="0">
            <a:srgbClr val="FFFFFF"/>
          </a:effectRef>
          <a:fontRef idx="minor">
            <a:schemeClr val="tx1"/>
          </a:fontRef>
        </p:style>
      </p:cxnSp>
      <p:sp>
        <p:nvSpPr>
          <p:cNvPr id="39" name="文本框 38"/>
          <p:cNvSpPr txBox="1"/>
          <p:nvPr>
            <p:custDataLst>
              <p:tags r:id="rId16"/>
            </p:custDataLst>
          </p:nvPr>
        </p:nvSpPr>
        <p:spPr>
          <a:xfrm>
            <a:off x="1804035" y="5038725"/>
            <a:ext cx="895985" cy="460375"/>
          </a:xfrm>
          <a:prstGeom prst="rect">
            <a:avLst/>
          </a:prstGeom>
          <a:noFill/>
        </p:spPr>
        <p:txBody>
          <a:bodyPr wrap="square" rtlCol="0" anchor="t">
            <a:spAutoFit/>
          </a:bodyPr>
          <a:p>
            <a:r>
              <a:rPr lang="zh-CN" altLang="en-US" sz="2400" b="1">
                <a:solidFill>
                  <a:schemeClr val="accent6">
                    <a:lumMod val="50000"/>
                  </a:schemeClr>
                </a:solidFill>
                <a:sym typeface="+mn-ea"/>
              </a:rPr>
              <a:t>成功</a:t>
            </a:r>
            <a:endParaRPr lang="zh-CN" altLang="en-US" sz="2400" b="1">
              <a:solidFill>
                <a:schemeClr val="accent6">
                  <a:lumMod val="50000"/>
                </a:schemeClr>
              </a:solidFill>
              <a:sym typeface="+mn-ea"/>
            </a:endParaRPr>
          </a:p>
        </p:txBody>
      </p:sp>
      <p:sp>
        <p:nvSpPr>
          <p:cNvPr id="40" name="文本框 39"/>
          <p:cNvSpPr txBox="1"/>
          <p:nvPr>
            <p:custDataLst>
              <p:tags r:id="rId17"/>
            </p:custDataLst>
          </p:nvPr>
        </p:nvSpPr>
        <p:spPr>
          <a:xfrm>
            <a:off x="1899920" y="5640705"/>
            <a:ext cx="1731645" cy="460375"/>
          </a:xfrm>
          <a:prstGeom prst="rect">
            <a:avLst/>
          </a:prstGeom>
          <a:solidFill>
            <a:schemeClr val="accent6">
              <a:lumMod val="50000"/>
            </a:schemeClr>
          </a:solidFill>
        </p:spPr>
        <p:txBody>
          <a:bodyPr wrap="square" rtlCol="0" anchor="t">
            <a:spAutoFit/>
          </a:bodyPr>
          <a:p>
            <a:r>
              <a:rPr lang="en-US" altLang="zh-CN" sz="2400" b="1">
                <a:solidFill>
                  <a:schemeClr val="bg1"/>
                </a:solidFill>
                <a:sym typeface="+mn-ea"/>
              </a:rPr>
              <a:t>“</a:t>
            </a:r>
            <a:r>
              <a:rPr lang="zh-CN" altLang="en-US" sz="2400" b="1">
                <a:solidFill>
                  <a:schemeClr val="bg1"/>
                </a:solidFill>
                <a:sym typeface="+mn-ea"/>
              </a:rPr>
              <a:t>正确</a:t>
            </a:r>
            <a:r>
              <a:rPr lang="en-US" altLang="zh-CN" sz="2400" b="1">
                <a:solidFill>
                  <a:schemeClr val="bg1"/>
                </a:solidFill>
                <a:sym typeface="+mn-ea"/>
              </a:rPr>
              <a:t>”</a:t>
            </a:r>
            <a:r>
              <a:rPr lang="zh-CN" altLang="en-US" sz="2400" b="1">
                <a:solidFill>
                  <a:schemeClr val="bg1"/>
                </a:solidFill>
                <a:sym typeface="+mn-ea"/>
              </a:rPr>
              <a:t>输出</a:t>
            </a:r>
            <a:endParaRPr lang="zh-CN" altLang="en-US" sz="2400" b="1">
              <a:solidFill>
                <a:schemeClr val="bg1"/>
              </a:solidFill>
              <a:sym typeface="+mn-ea"/>
            </a:endParaRPr>
          </a:p>
        </p:txBody>
      </p:sp>
      <p:sp>
        <p:nvSpPr>
          <p:cNvPr id="41" name="文本框 40"/>
          <p:cNvSpPr txBox="1"/>
          <p:nvPr>
            <p:custDataLst>
              <p:tags r:id="rId18"/>
            </p:custDataLst>
          </p:nvPr>
        </p:nvSpPr>
        <p:spPr>
          <a:xfrm>
            <a:off x="8368665" y="5640705"/>
            <a:ext cx="1731645" cy="460375"/>
          </a:xfrm>
          <a:prstGeom prst="rect">
            <a:avLst/>
          </a:prstGeom>
          <a:solidFill>
            <a:schemeClr val="accent6">
              <a:lumMod val="50000"/>
            </a:schemeClr>
          </a:solidFill>
        </p:spPr>
        <p:txBody>
          <a:bodyPr wrap="square" rtlCol="0" anchor="t">
            <a:spAutoFit/>
          </a:bodyPr>
          <a:p>
            <a:r>
              <a:rPr lang="en-US" altLang="zh-CN" sz="2400" b="1">
                <a:solidFill>
                  <a:schemeClr val="bg1"/>
                </a:solidFill>
                <a:sym typeface="+mn-ea"/>
              </a:rPr>
              <a:t>“</a:t>
            </a:r>
            <a:r>
              <a:rPr lang="zh-CN" altLang="en-US" sz="2400" b="1">
                <a:solidFill>
                  <a:schemeClr val="bg1"/>
                </a:solidFill>
                <a:sym typeface="+mn-ea"/>
              </a:rPr>
              <a:t>正确</a:t>
            </a:r>
            <a:r>
              <a:rPr lang="en-US" altLang="zh-CN" sz="2400" b="1">
                <a:solidFill>
                  <a:schemeClr val="bg1"/>
                </a:solidFill>
                <a:sym typeface="+mn-ea"/>
              </a:rPr>
              <a:t>”</a:t>
            </a:r>
            <a:r>
              <a:rPr lang="zh-CN" altLang="en-US" sz="2400" b="1">
                <a:solidFill>
                  <a:schemeClr val="bg1"/>
                </a:solidFill>
                <a:sym typeface="+mn-ea"/>
              </a:rPr>
              <a:t>输出</a:t>
            </a:r>
            <a:endParaRPr lang="zh-CN" altLang="en-US" sz="2400" b="1">
              <a:solidFill>
                <a:schemeClr val="bg1"/>
              </a:solidFill>
              <a:sym typeface="+mn-ea"/>
            </a:endParaRPr>
          </a:p>
        </p:txBody>
      </p:sp>
      <p:sp>
        <p:nvSpPr>
          <p:cNvPr id="43" name="爆炸形 1 42"/>
          <p:cNvSpPr/>
          <p:nvPr>
            <p:custDataLst>
              <p:tags r:id="rId19"/>
            </p:custDataLst>
          </p:nvPr>
        </p:nvSpPr>
        <p:spPr>
          <a:xfrm>
            <a:off x="10382250" y="4173220"/>
            <a:ext cx="1257300" cy="1008380"/>
          </a:xfrm>
          <a:prstGeom prst="irregularSeal1">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t>故障</a:t>
            </a:r>
            <a:endParaRPr lang="zh-CN" altLang="en-US" sz="2000" b="1"/>
          </a:p>
        </p:txBody>
      </p:sp>
      <p:cxnSp>
        <p:nvCxnSpPr>
          <p:cNvPr id="44" name="直接箭头连接符 43"/>
          <p:cNvCxnSpPr>
            <a:stCxn id="16" idx="3"/>
          </p:cNvCxnSpPr>
          <p:nvPr/>
        </p:nvCxnSpPr>
        <p:spPr>
          <a:xfrm flipV="1">
            <a:off x="9572625" y="4587875"/>
            <a:ext cx="803275" cy="69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45" name="云形标注 44"/>
          <p:cNvSpPr/>
          <p:nvPr/>
        </p:nvSpPr>
        <p:spPr>
          <a:xfrm>
            <a:off x="7566660" y="220980"/>
            <a:ext cx="4388485" cy="1017270"/>
          </a:xfrm>
          <a:prstGeom prst="cloudCallout">
            <a:avLst>
              <a:gd name="adj1" fmla="val -44617"/>
              <a:gd name="adj2" fmla="val 157240"/>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400" b="1"/>
              <a:t>实现恢复块的难点和核心技术在哪？</a:t>
            </a:r>
            <a:endParaRPr lang="zh-CN" altLang="en-US" sz="2400" b="1"/>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恢复块法</a:t>
            </a:r>
            <a:r>
              <a:rPr lang="en-US" altLang="zh-CN">
                <a:solidFill>
                  <a:srgbClr val="C00000"/>
                </a:solidFill>
                <a:sym typeface="+mn-ea"/>
              </a:rPr>
              <a:t>RB</a:t>
            </a:r>
            <a:endParaRPr lang="zh-CN" altLang="en-US"/>
          </a:p>
        </p:txBody>
      </p:sp>
      <p:sp>
        <p:nvSpPr>
          <p:cNvPr id="3" name="内容占位符 2"/>
          <p:cNvSpPr>
            <a:spLocks noGrp="1"/>
          </p:cNvSpPr>
          <p:nvPr>
            <p:ph idx="1"/>
          </p:nvPr>
        </p:nvSpPr>
        <p:spPr/>
        <p:txBody>
          <a:bodyPr/>
          <a:p>
            <a:r>
              <a:rPr lang="zh-CN" altLang="en-US" b="1">
                <a:solidFill>
                  <a:srgbClr val="FF0000"/>
                </a:solidFill>
              </a:rPr>
              <a:t>恢复块技术的核心是验收测试</a:t>
            </a:r>
            <a:r>
              <a:rPr lang="zh-CN" altLang="en-US"/>
              <a:t>。</a:t>
            </a:r>
            <a:endParaRPr lang="zh-CN" altLang="en-US"/>
          </a:p>
          <a:p>
            <a:r>
              <a:rPr lang="zh-CN" altLang="en-US"/>
              <a:t>验收测试可按两种</a:t>
            </a:r>
            <a:r>
              <a:rPr lang="zh-CN" altLang="en-US"/>
              <a:t>要求设计：</a:t>
            </a:r>
            <a:endParaRPr lang="zh-CN" altLang="en-US"/>
          </a:p>
          <a:p>
            <a:pPr lvl="1"/>
            <a:r>
              <a:rPr lang="zh-CN" altLang="en-US"/>
              <a:t>检测运行结果与预期结果的偏离，这是较为严格的</a:t>
            </a:r>
            <a:r>
              <a:rPr lang="zh-CN" altLang="en-US"/>
              <a:t>要求</a:t>
            </a:r>
            <a:endParaRPr lang="zh-CN" altLang="en-US"/>
          </a:p>
          <a:p>
            <a:pPr lvl="1"/>
            <a:r>
              <a:rPr lang="zh-CN" altLang="en-US"/>
              <a:t>防止不安全的输出，这是较宽松的</a:t>
            </a:r>
            <a:r>
              <a:rPr lang="zh-CN" altLang="en-US"/>
              <a:t>要求</a:t>
            </a:r>
            <a:endParaRPr lang="zh-CN" altLang="en-US"/>
          </a:p>
          <a:p>
            <a:pPr lvl="1"/>
            <a:endParaRPr lang="zh-CN" altLang="en-US"/>
          </a:p>
          <a:p>
            <a:pPr lvl="0"/>
            <a:r>
              <a:rPr lang="zh-CN" altLang="en-US"/>
              <a:t>综上所述，完善的软件验收测试设计较难</a:t>
            </a:r>
            <a:r>
              <a:rPr lang="zh-CN" altLang="en-US"/>
              <a:t>确定</a:t>
            </a: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恢复块法</a:t>
            </a:r>
            <a:r>
              <a:rPr lang="en-US" altLang="zh-CN">
                <a:solidFill>
                  <a:srgbClr val="C00000"/>
                </a:solidFill>
                <a:sym typeface="+mn-ea"/>
              </a:rPr>
              <a:t>RB</a:t>
            </a:r>
            <a:r>
              <a:rPr lang="zh-CN" altLang="en-US">
                <a:solidFill>
                  <a:srgbClr val="C00000"/>
                </a:solidFill>
                <a:sym typeface="+mn-ea"/>
              </a:rPr>
              <a:t>的</a:t>
            </a:r>
            <a:r>
              <a:rPr lang="zh-CN" altLang="en-US">
                <a:solidFill>
                  <a:srgbClr val="C00000"/>
                </a:solidFill>
                <a:sym typeface="+mn-ea"/>
              </a:rPr>
              <a:t>优缺点</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t>优点：</a:t>
            </a:r>
            <a:endParaRPr lang="zh-CN" altLang="en-US"/>
          </a:p>
          <a:p>
            <a:pPr lvl="1"/>
            <a:r>
              <a:rPr lang="zh-CN" altLang="en-US"/>
              <a:t>在单处理机体系结构下可以实现，要求的硬件资源</a:t>
            </a:r>
            <a:r>
              <a:rPr lang="zh-CN" altLang="en-US"/>
              <a:t>较少</a:t>
            </a:r>
            <a:endParaRPr lang="zh-CN" altLang="en-US"/>
          </a:p>
          <a:p>
            <a:pPr lvl="0"/>
            <a:r>
              <a:rPr lang="zh-CN" altLang="en-US"/>
              <a:t>缺点：</a:t>
            </a:r>
            <a:endParaRPr lang="zh-CN" altLang="en-US"/>
          </a:p>
          <a:p>
            <a:pPr lvl="1"/>
            <a:r>
              <a:rPr lang="zh-CN" altLang="en-US" b="1">
                <a:solidFill>
                  <a:srgbClr val="C00000"/>
                </a:solidFill>
              </a:rPr>
              <a:t>需要相当的空间开销</a:t>
            </a:r>
            <a:endParaRPr lang="zh-CN" altLang="en-US" b="1">
              <a:solidFill>
                <a:srgbClr val="C00000"/>
              </a:solidFill>
            </a:endParaRPr>
          </a:p>
          <a:p>
            <a:pPr lvl="1"/>
            <a:r>
              <a:rPr lang="zh-CN" altLang="en-US"/>
              <a:t>需要一个</a:t>
            </a:r>
            <a:r>
              <a:rPr lang="zh-CN" altLang="en-US" b="1">
                <a:solidFill>
                  <a:srgbClr val="C00000"/>
                </a:solidFill>
              </a:rPr>
              <a:t>相当的延时</a:t>
            </a:r>
            <a:r>
              <a:rPr lang="zh-CN" altLang="en-US"/>
              <a:t>，对于某些系统会造成时间的</a:t>
            </a:r>
            <a:r>
              <a:rPr lang="zh-CN" altLang="en-US"/>
              <a:t>不确定性</a:t>
            </a:r>
            <a:endParaRPr lang="zh-CN" altLang="en-US"/>
          </a:p>
          <a:p>
            <a:pPr lvl="1"/>
            <a:r>
              <a:rPr lang="zh-CN" altLang="en-US"/>
              <a:t>在有些情况下，验收测试模块可能与运行的软件模块的规模、难度和复杂度处于同一个数量级，</a:t>
            </a:r>
            <a:r>
              <a:rPr lang="zh-CN" altLang="en-US" b="1">
                <a:solidFill>
                  <a:srgbClr val="C00000"/>
                </a:solidFill>
              </a:rPr>
              <a:t>难以保证验收测试的正确性</a:t>
            </a:r>
            <a:endParaRPr lang="zh-CN" altLang="en-US" b="1">
              <a:solidFill>
                <a:srgbClr val="C0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a:t>
            </a:r>
            <a:r>
              <a:rPr lang="en-US" altLang="zh-CN">
                <a:solidFill>
                  <a:srgbClr val="C00000"/>
                </a:solidFill>
                <a:sym typeface="+mn-ea"/>
              </a:rPr>
              <a:t>N</a:t>
            </a:r>
            <a:r>
              <a:rPr lang="zh-CN" altLang="en-US">
                <a:solidFill>
                  <a:srgbClr val="C00000"/>
                </a:solidFill>
                <a:sym typeface="+mn-ea"/>
              </a:rPr>
              <a:t>版本程序设计</a:t>
            </a:r>
            <a:r>
              <a:rPr lang="en-US" altLang="zh-CN">
                <a:solidFill>
                  <a:srgbClr val="C00000"/>
                </a:solidFill>
                <a:sym typeface="+mn-ea"/>
              </a:rPr>
              <a:t>NVP</a:t>
            </a:r>
            <a:endParaRPr lang="en-US" altLang="zh-CN">
              <a:solidFill>
                <a:srgbClr val="C00000"/>
              </a:solidFill>
              <a:sym typeface="+mn-ea"/>
            </a:endParaRPr>
          </a:p>
        </p:txBody>
      </p:sp>
      <p:sp>
        <p:nvSpPr>
          <p:cNvPr id="3" name="内容占位符 2"/>
          <p:cNvSpPr>
            <a:spLocks noGrp="1"/>
          </p:cNvSpPr>
          <p:nvPr>
            <p:ph idx="1"/>
          </p:nvPr>
        </p:nvSpPr>
        <p:spPr/>
        <p:txBody>
          <a:bodyPr/>
          <a:p>
            <a:r>
              <a:rPr lang="zh-CN" altLang="en-US"/>
              <a:t>软件</a:t>
            </a:r>
            <a:r>
              <a:rPr lang="en-US" altLang="zh-CN"/>
              <a:t>N</a:t>
            </a:r>
            <a:r>
              <a:rPr lang="zh-CN" altLang="en-US"/>
              <a:t>版本程序设计是指对一个给定的功能，由</a:t>
            </a:r>
            <a:r>
              <a:rPr lang="en-US" altLang="zh-CN"/>
              <a:t>N</a:t>
            </a:r>
            <a:r>
              <a:rPr lang="zh-CN" altLang="en-US"/>
              <a:t>（</a:t>
            </a:r>
            <a:r>
              <a:rPr lang="en-US" altLang="zh-CN"/>
              <a:t>N&gt;2</a:t>
            </a:r>
            <a:r>
              <a:rPr lang="zh-CN" altLang="en-US"/>
              <a:t>）个</a:t>
            </a:r>
            <a:r>
              <a:rPr lang="zh-CN" altLang="en-US" b="1">
                <a:solidFill>
                  <a:srgbClr val="C00000"/>
                </a:solidFill>
              </a:rPr>
              <a:t>不同的设计组</a:t>
            </a:r>
            <a:r>
              <a:rPr lang="zh-CN" altLang="en-US"/>
              <a:t>独立编制出</a:t>
            </a:r>
            <a:r>
              <a:rPr lang="en-US" altLang="zh-CN"/>
              <a:t>N</a:t>
            </a:r>
            <a:r>
              <a:rPr lang="zh-CN" altLang="en-US"/>
              <a:t>个不同的程序，然后同时在</a:t>
            </a:r>
            <a:r>
              <a:rPr lang="en-US" altLang="zh-CN" b="1">
                <a:solidFill>
                  <a:srgbClr val="C00000"/>
                </a:solidFill>
              </a:rPr>
              <a:t>N</a:t>
            </a:r>
            <a:r>
              <a:rPr lang="zh-CN" altLang="en-US" b="1">
                <a:solidFill>
                  <a:srgbClr val="C00000"/>
                </a:solidFill>
              </a:rPr>
              <a:t>个机器</a:t>
            </a:r>
            <a:r>
              <a:rPr lang="zh-CN" altLang="en-US"/>
              <a:t>上运行并比较运行的</a:t>
            </a:r>
            <a:r>
              <a:rPr lang="zh-CN" altLang="en-US"/>
              <a:t>结果</a:t>
            </a:r>
            <a:endParaRPr lang="zh-CN" altLang="en-US"/>
          </a:p>
          <a:p>
            <a:pPr lvl="0"/>
            <a:r>
              <a:rPr lang="en-US" altLang="zh-CN"/>
              <a:t>N</a:t>
            </a:r>
            <a:r>
              <a:rPr lang="zh-CN" altLang="en-US"/>
              <a:t>版本编程技术定义为从一个初始规范出发，</a:t>
            </a:r>
            <a:r>
              <a:rPr lang="en-US" altLang="zh-CN"/>
              <a:t>N</a:t>
            </a:r>
            <a:r>
              <a:rPr lang="zh-CN" altLang="en-US"/>
              <a:t>个设计组独立的开发</a:t>
            </a:r>
            <a:r>
              <a:rPr lang="en-US" altLang="zh-CN"/>
              <a:t>N</a:t>
            </a:r>
            <a:r>
              <a:rPr lang="zh-CN" altLang="en-US"/>
              <a:t>个功能等价的软件版本，在</a:t>
            </a:r>
            <a:r>
              <a:rPr lang="en-US" altLang="zh-CN"/>
              <a:t>N</a:t>
            </a:r>
            <a:r>
              <a:rPr lang="zh-CN" altLang="en-US"/>
              <a:t>个硬件通道的容错计算机上运行，从而避免</a:t>
            </a:r>
            <a:r>
              <a:rPr lang="zh-CN" altLang="en-US" b="1">
                <a:solidFill>
                  <a:srgbClr val="C00000"/>
                </a:solidFill>
              </a:rPr>
              <a:t>软件设计共性故障</a:t>
            </a:r>
            <a:r>
              <a:rPr lang="zh-CN" altLang="en-US"/>
              <a:t>。</a:t>
            </a:r>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a:t>
            </a:r>
            <a:r>
              <a:rPr lang="en-US" altLang="zh-CN">
                <a:solidFill>
                  <a:srgbClr val="C00000"/>
                </a:solidFill>
                <a:sym typeface="+mn-ea"/>
              </a:rPr>
              <a:t>N</a:t>
            </a:r>
            <a:r>
              <a:rPr lang="zh-CN" altLang="en-US">
                <a:solidFill>
                  <a:srgbClr val="C00000"/>
                </a:solidFill>
                <a:sym typeface="+mn-ea"/>
              </a:rPr>
              <a:t>版本程序设计</a:t>
            </a:r>
            <a:r>
              <a:rPr lang="en-US" altLang="zh-CN">
                <a:solidFill>
                  <a:srgbClr val="C00000"/>
                </a:solidFill>
                <a:sym typeface="+mn-ea"/>
              </a:rPr>
              <a:t>NVP</a:t>
            </a:r>
            <a:endParaRPr lang="zh-CN" altLang="en-US"/>
          </a:p>
        </p:txBody>
      </p:sp>
      <p:sp>
        <p:nvSpPr>
          <p:cNvPr id="3" name="内容占位符 2"/>
          <p:cNvSpPr>
            <a:spLocks noGrp="1"/>
          </p:cNvSpPr>
          <p:nvPr>
            <p:ph idx="1"/>
          </p:nvPr>
        </p:nvSpPr>
        <p:spPr>
          <a:xfrm>
            <a:off x="838200" y="1538605"/>
            <a:ext cx="4721225" cy="4638675"/>
          </a:xfrm>
        </p:spPr>
        <p:txBody>
          <a:bodyPr/>
          <a:p>
            <a:r>
              <a:rPr lang="zh-CN" altLang="en-US"/>
              <a:t>结果判决：对操作结果实行</a:t>
            </a:r>
            <a:r>
              <a:rPr lang="zh-CN" altLang="en-US" b="1">
                <a:solidFill>
                  <a:srgbClr val="FF0000"/>
                </a:solidFill>
              </a:rPr>
              <a:t>多数表决</a:t>
            </a:r>
            <a:r>
              <a:rPr lang="zh-CN" altLang="en-US"/>
              <a:t>或</a:t>
            </a:r>
            <a:r>
              <a:rPr lang="zh-CN" altLang="en-US" b="1">
                <a:solidFill>
                  <a:srgbClr val="FF0000"/>
                </a:solidFill>
              </a:rPr>
              <a:t>一致表决</a:t>
            </a:r>
            <a:endParaRPr lang="zh-CN" altLang="en-US"/>
          </a:p>
          <a:p>
            <a:pPr lvl="1"/>
            <a:r>
              <a:rPr lang="zh-CN" altLang="en-US"/>
              <a:t>如果</a:t>
            </a:r>
            <a:r>
              <a:rPr lang="en-US" altLang="zh-CN"/>
              <a:t>N</a:t>
            </a:r>
            <a:r>
              <a:rPr lang="zh-CN" altLang="en-US"/>
              <a:t>个</a:t>
            </a:r>
            <a:r>
              <a:rPr lang="zh-CN" altLang="en-US"/>
              <a:t>软件版本运行的结果是一致的，则认为</a:t>
            </a:r>
            <a:r>
              <a:rPr lang="zh-CN" altLang="en-US"/>
              <a:t>结果是正确的</a:t>
            </a:r>
            <a:endParaRPr lang="zh-CN" altLang="en-US"/>
          </a:p>
          <a:p>
            <a:pPr lvl="1"/>
            <a:r>
              <a:rPr lang="zh-CN" altLang="en-US"/>
              <a:t>如果</a:t>
            </a:r>
            <a:r>
              <a:rPr lang="en-US" altLang="zh-CN"/>
              <a:t>N</a:t>
            </a:r>
            <a:r>
              <a:rPr lang="zh-CN" altLang="en-US"/>
              <a:t>个软件版本输出不尽相同时，则按多数表决的方式判定结果的</a:t>
            </a:r>
            <a:r>
              <a:rPr lang="zh-CN" altLang="en-US"/>
              <a:t>正确性</a:t>
            </a:r>
            <a:endParaRPr lang="zh-CN" altLang="en-US"/>
          </a:p>
        </p:txBody>
      </p:sp>
      <p:sp>
        <p:nvSpPr>
          <p:cNvPr id="4" name="矩形 3"/>
          <p:cNvSpPr/>
          <p:nvPr>
            <p:custDataLst>
              <p:tags r:id="rId1"/>
            </p:custDataLst>
          </p:nvPr>
        </p:nvSpPr>
        <p:spPr>
          <a:xfrm>
            <a:off x="6659245" y="2749550"/>
            <a:ext cx="694055" cy="887730"/>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solidFill>
                  <a:srgbClr val="C00000"/>
                </a:solidFill>
              </a:rPr>
              <a:t>P1</a:t>
            </a:r>
            <a:endParaRPr lang="en-US" altLang="zh-CN" sz="2400" b="1">
              <a:solidFill>
                <a:srgbClr val="C00000"/>
              </a:solidFill>
            </a:endParaRPr>
          </a:p>
        </p:txBody>
      </p:sp>
      <p:sp>
        <p:nvSpPr>
          <p:cNvPr id="5" name="矩形 4"/>
          <p:cNvSpPr/>
          <p:nvPr>
            <p:custDataLst>
              <p:tags r:id="rId2"/>
            </p:custDataLst>
          </p:nvPr>
        </p:nvSpPr>
        <p:spPr>
          <a:xfrm>
            <a:off x="7731760" y="2749550"/>
            <a:ext cx="694055" cy="887730"/>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solidFill>
                  <a:srgbClr val="C00000"/>
                </a:solidFill>
              </a:rPr>
              <a:t>P2</a:t>
            </a:r>
            <a:endParaRPr lang="en-US" altLang="zh-CN" sz="2400" b="1">
              <a:solidFill>
                <a:srgbClr val="C00000"/>
              </a:solidFill>
            </a:endParaRPr>
          </a:p>
        </p:txBody>
      </p:sp>
      <p:sp>
        <p:nvSpPr>
          <p:cNvPr id="6" name="矩形 5"/>
          <p:cNvSpPr/>
          <p:nvPr>
            <p:custDataLst>
              <p:tags r:id="rId3"/>
            </p:custDataLst>
          </p:nvPr>
        </p:nvSpPr>
        <p:spPr>
          <a:xfrm>
            <a:off x="8829040" y="2749550"/>
            <a:ext cx="694055" cy="887730"/>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solidFill>
                  <a:srgbClr val="C00000"/>
                </a:solidFill>
              </a:rPr>
              <a:t>P3</a:t>
            </a:r>
            <a:endParaRPr lang="en-US" altLang="zh-CN" sz="2400" b="1">
              <a:solidFill>
                <a:srgbClr val="C00000"/>
              </a:solidFill>
            </a:endParaRPr>
          </a:p>
        </p:txBody>
      </p:sp>
      <p:sp>
        <p:nvSpPr>
          <p:cNvPr id="7" name="矩形 6"/>
          <p:cNvSpPr/>
          <p:nvPr>
            <p:custDataLst>
              <p:tags r:id="rId4"/>
            </p:custDataLst>
          </p:nvPr>
        </p:nvSpPr>
        <p:spPr>
          <a:xfrm>
            <a:off x="10519410" y="2749550"/>
            <a:ext cx="694055" cy="887730"/>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solidFill>
                  <a:srgbClr val="C00000"/>
                </a:solidFill>
              </a:rPr>
              <a:t>Pn</a:t>
            </a:r>
            <a:endParaRPr lang="en-US" altLang="zh-CN" sz="2400" b="1">
              <a:solidFill>
                <a:srgbClr val="C00000"/>
              </a:solidFill>
            </a:endParaRPr>
          </a:p>
        </p:txBody>
      </p:sp>
      <p:cxnSp>
        <p:nvCxnSpPr>
          <p:cNvPr id="18" name="直接箭头连接符 17"/>
          <p:cNvCxnSpPr>
            <a:stCxn id="4" idx="2"/>
          </p:cNvCxnSpPr>
          <p:nvPr>
            <p:custDataLst>
              <p:tags r:id="rId5"/>
            </p:custDataLst>
          </p:nvPr>
        </p:nvCxnSpPr>
        <p:spPr>
          <a:xfrm>
            <a:off x="7006590" y="3637280"/>
            <a:ext cx="0" cy="6019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9" name="直接箭头连接符 18"/>
          <p:cNvCxnSpPr>
            <a:stCxn id="5" idx="2"/>
          </p:cNvCxnSpPr>
          <p:nvPr>
            <p:custDataLst>
              <p:tags r:id="rId6"/>
            </p:custDataLst>
          </p:nvPr>
        </p:nvCxnSpPr>
        <p:spPr>
          <a:xfrm>
            <a:off x="8079105" y="3637280"/>
            <a:ext cx="0" cy="6019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0" name="直接箭头连接符 19"/>
          <p:cNvCxnSpPr>
            <a:stCxn id="6" idx="2"/>
          </p:cNvCxnSpPr>
          <p:nvPr>
            <p:custDataLst>
              <p:tags r:id="rId7"/>
            </p:custDataLst>
          </p:nvPr>
        </p:nvCxnSpPr>
        <p:spPr>
          <a:xfrm>
            <a:off x="9176385" y="3637280"/>
            <a:ext cx="0" cy="6019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a:stCxn id="7" idx="2"/>
          </p:cNvCxnSpPr>
          <p:nvPr>
            <p:custDataLst>
              <p:tags r:id="rId8"/>
            </p:custDataLst>
          </p:nvPr>
        </p:nvCxnSpPr>
        <p:spPr>
          <a:xfrm flipH="1">
            <a:off x="10859135" y="3637280"/>
            <a:ext cx="7620" cy="6070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2" name="文本框 21"/>
          <p:cNvSpPr txBox="1"/>
          <p:nvPr>
            <p:custDataLst>
              <p:tags r:id="rId9"/>
            </p:custDataLst>
          </p:nvPr>
        </p:nvSpPr>
        <p:spPr>
          <a:xfrm>
            <a:off x="9643110" y="2886710"/>
            <a:ext cx="876300" cy="678815"/>
          </a:xfrm>
          <a:prstGeom prst="rect">
            <a:avLst/>
          </a:prstGeom>
          <a:noFill/>
        </p:spPr>
        <p:txBody>
          <a:bodyPr wrap="square" rtlCol="0" anchor="t">
            <a:noAutofit/>
          </a:bodyPr>
          <a:p>
            <a:r>
              <a:rPr lang="en-US" altLang="zh-CN" sz="4800">
                <a:solidFill>
                  <a:srgbClr val="C00000"/>
                </a:solidFill>
                <a:sym typeface="+mn-ea"/>
              </a:rPr>
              <a:t>...</a:t>
            </a:r>
            <a:endParaRPr lang="en-US" altLang="zh-CN" sz="4800">
              <a:solidFill>
                <a:srgbClr val="C00000"/>
              </a:solidFill>
              <a:sym typeface="+mn-ea"/>
            </a:endParaRPr>
          </a:p>
        </p:txBody>
      </p:sp>
      <p:sp>
        <p:nvSpPr>
          <p:cNvPr id="17" name="椭圆 16"/>
          <p:cNvSpPr/>
          <p:nvPr>
            <p:custDataLst>
              <p:tags r:id="rId10"/>
            </p:custDataLst>
          </p:nvPr>
        </p:nvSpPr>
        <p:spPr>
          <a:xfrm>
            <a:off x="8352155" y="1120775"/>
            <a:ext cx="1070610" cy="83185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p>
            <a:pPr algn="ctr"/>
            <a:r>
              <a:rPr lang="zh-CN" altLang="en-US" sz="2400" b="1"/>
              <a:t>输入</a:t>
            </a:r>
            <a:endParaRPr lang="zh-CN" altLang="en-US" sz="2400" b="1"/>
          </a:p>
        </p:txBody>
      </p:sp>
      <p:cxnSp>
        <p:nvCxnSpPr>
          <p:cNvPr id="8" name="直接箭头连接符 7"/>
          <p:cNvCxnSpPr>
            <a:stCxn id="17" idx="4"/>
            <a:endCxn id="4" idx="0"/>
          </p:cNvCxnSpPr>
          <p:nvPr>
            <p:custDataLst>
              <p:tags r:id="rId11"/>
            </p:custDataLst>
          </p:nvPr>
        </p:nvCxnSpPr>
        <p:spPr>
          <a:xfrm flipH="1">
            <a:off x="7006590" y="1952625"/>
            <a:ext cx="1880870" cy="7969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a:stCxn id="17" idx="4"/>
            <a:endCxn id="5" idx="0"/>
          </p:cNvCxnSpPr>
          <p:nvPr>
            <p:custDataLst>
              <p:tags r:id="rId12"/>
            </p:custDataLst>
          </p:nvPr>
        </p:nvCxnSpPr>
        <p:spPr>
          <a:xfrm flipH="1">
            <a:off x="8079105" y="1952625"/>
            <a:ext cx="808355" cy="7969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a:endCxn id="6" idx="0"/>
          </p:cNvCxnSpPr>
          <p:nvPr>
            <p:custDataLst>
              <p:tags r:id="rId13"/>
            </p:custDataLst>
          </p:nvPr>
        </p:nvCxnSpPr>
        <p:spPr>
          <a:xfrm>
            <a:off x="8856980" y="1942465"/>
            <a:ext cx="319405" cy="8070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a:endCxn id="7" idx="0"/>
          </p:cNvCxnSpPr>
          <p:nvPr>
            <p:custDataLst>
              <p:tags r:id="rId14"/>
            </p:custDataLst>
          </p:nvPr>
        </p:nvCxnSpPr>
        <p:spPr>
          <a:xfrm>
            <a:off x="8830310" y="1960245"/>
            <a:ext cx="2036445" cy="7893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5727065" y="2877820"/>
            <a:ext cx="1087755" cy="460375"/>
          </a:xfrm>
          <a:prstGeom prst="rect">
            <a:avLst/>
          </a:prstGeom>
          <a:noFill/>
        </p:spPr>
        <p:txBody>
          <a:bodyPr wrap="square" rtlCol="0" anchor="t">
            <a:spAutoFit/>
          </a:bodyPr>
          <a:p>
            <a:r>
              <a:rPr lang="zh-CN" altLang="en-US" sz="2400" b="1">
                <a:solidFill>
                  <a:srgbClr val="C00000"/>
                </a:solidFill>
                <a:sym typeface="+mn-ea"/>
              </a:rPr>
              <a:t>版本</a:t>
            </a:r>
            <a:r>
              <a:rPr lang="en-US" altLang="zh-CN" sz="2400" b="1">
                <a:solidFill>
                  <a:srgbClr val="C00000"/>
                </a:solidFill>
                <a:sym typeface="+mn-ea"/>
              </a:rPr>
              <a:t>1</a:t>
            </a:r>
            <a:endParaRPr lang="en-US" altLang="zh-CN" sz="2400" b="1">
              <a:solidFill>
                <a:srgbClr val="C00000"/>
              </a:solidFill>
              <a:sym typeface="+mn-ea"/>
            </a:endParaRPr>
          </a:p>
        </p:txBody>
      </p:sp>
      <p:sp>
        <p:nvSpPr>
          <p:cNvPr id="13" name="文本框 12"/>
          <p:cNvSpPr txBox="1"/>
          <p:nvPr>
            <p:custDataLst>
              <p:tags r:id="rId15"/>
            </p:custDataLst>
          </p:nvPr>
        </p:nvSpPr>
        <p:spPr>
          <a:xfrm>
            <a:off x="11135995" y="2886710"/>
            <a:ext cx="1087755" cy="460375"/>
          </a:xfrm>
          <a:prstGeom prst="rect">
            <a:avLst/>
          </a:prstGeom>
          <a:noFill/>
        </p:spPr>
        <p:txBody>
          <a:bodyPr wrap="square" rtlCol="0" anchor="t">
            <a:spAutoFit/>
          </a:bodyPr>
          <a:p>
            <a:r>
              <a:rPr lang="zh-CN" altLang="en-US" sz="2400" b="1">
                <a:solidFill>
                  <a:srgbClr val="C00000"/>
                </a:solidFill>
                <a:sym typeface="+mn-ea"/>
              </a:rPr>
              <a:t>版本</a:t>
            </a:r>
            <a:r>
              <a:rPr lang="en-US" altLang="zh-CN" sz="2400" b="1">
                <a:solidFill>
                  <a:srgbClr val="C00000"/>
                </a:solidFill>
                <a:sym typeface="+mn-ea"/>
              </a:rPr>
              <a:t>n</a:t>
            </a:r>
            <a:endParaRPr lang="en-US" altLang="zh-CN" sz="2400" b="1">
              <a:solidFill>
                <a:srgbClr val="C00000"/>
              </a:solidFill>
              <a:sym typeface="+mn-ea"/>
            </a:endParaRPr>
          </a:p>
        </p:txBody>
      </p:sp>
      <p:sp>
        <p:nvSpPr>
          <p:cNvPr id="14" name="矩形 13"/>
          <p:cNvSpPr/>
          <p:nvPr/>
        </p:nvSpPr>
        <p:spPr>
          <a:xfrm>
            <a:off x="6665595" y="4239260"/>
            <a:ext cx="4547870" cy="716915"/>
          </a:xfrm>
          <a:prstGeom prst="rect">
            <a:avLst/>
          </a:prstGeom>
          <a:solidFill>
            <a:srgbClr val="C00000">
              <a:alpha val="65000"/>
            </a:srgb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b="1"/>
              <a:t>表</a:t>
            </a:r>
            <a:r>
              <a:rPr lang="en-US" altLang="zh-CN" sz="2800" b="1"/>
              <a:t> </a:t>
            </a:r>
            <a:r>
              <a:rPr lang="zh-CN" altLang="en-US" sz="2800" b="1"/>
              <a:t>决</a:t>
            </a:r>
            <a:r>
              <a:rPr lang="en-US" altLang="zh-CN" sz="2800" b="1"/>
              <a:t> </a:t>
            </a:r>
            <a:r>
              <a:rPr lang="zh-CN" altLang="en-US" sz="2800" b="1"/>
              <a:t>器</a:t>
            </a:r>
            <a:endParaRPr lang="zh-CN" altLang="en-US" sz="2800" b="1"/>
          </a:p>
        </p:txBody>
      </p:sp>
      <p:sp>
        <p:nvSpPr>
          <p:cNvPr id="41" name="文本框 40"/>
          <p:cNvSpPr txBox="1"/>
          <p:nvPr>
            <p:custDataLst>
              <p:tags r:id="rId16"/>
            </p:custDataLst>
          </p:nvPr>
        </p:nvSpPr>
        <p:spPr>
          <a:xfrm>
            <a:off x="7444740" y="5410200"/>
            <a:ext cx="1059180" cy="829945"/>
          </a:xfrm>
          <a:prstGeom prst="rect">
            <a:avLst/>
          </a:prstGeom>
          <a:solidFill>
            <a:schemeClr val="accent6">
              <a:lumMod val="50000"/>
            </a:schemeClr>
          </a:solidFill>
        </p:spPr>
        <p:txBody>
          <a:bodyPr wrap="square" rtlCol="0" anchor="t">
            <a:spAutoFit/>
          </a:bodyPr>
          <a:p>
            <a:pPr algn="ctr"/>
            <a:r>
              <a:rPr lang="en-US" altLang="zh-CN" sz="2400" b="1">
                <a:solidFill>
                  <a:schemeClr val="bg1"/>
                </a:solidFill>
                <a:sym typeface="+mn-ea"/>
              </a:rPr>
              <a:t>“</a:t>
            </a:r>
            <a:r>
              <a:rPr lang="zh-CN" altLang="en-US" sz="2400" b="1">
                <a:solidFill>
                  <a:schemeClr val="bg1"/>
                </a:solidFill>
                <a:sym typeface="+mn-ea"/>
              </a:rPr>
              <a:t>正确</a:t>
            </a:r>
            <a:r>
              <a:rPr lang="en-US" altLang="zh-CN" sz="2400" b="1">
                <a:solidFill>
                  <a:schemeClr val="bg1"/>
                </a:solidFill>
                <a:sym typeface="+mn-ea"/>
              </a:rPr>
              <a:t>”</a:t>
            </a:r>
            <a:endParaRPr lang="en-US" altLang="zh-CN" sz="2400" b="1">
              <a:solidFill>
                <a:schemeClr val="bg1"/>
              </a:solidFill>
              <a:sym typeface="+mn-ea"/>
            </a:endParaRPr>
          </a:p>
          <a:p>
            <a:pPr algn="ctr"/>
            <a:r>
              <a:rPr lang="zh-CN" altLang="en-US" sz="2400" b="1">
                <a:solidFill>
                  <a:schemeClr val="bg1"/>
                </a:solidFill>
                <a:sym typeface="+mn-ea"/>
              </a:rPr>
              <a:t>输出</a:t>
            </a:r>
            <a:endParaRPr lang="zh-CN" altLang="en-US" sz="2400" b="1">
              <a:solidFill>
                <a:schemeClr val="bg1"/>
              </a:solidFill>
              <a:sym typeface="+mn-ea"/>
            </a:endParaRPr>
          </a:p>
        </p:txBody>
      </p:sp>
      <p:sp>
        <p:nvSpPr>
          <p:cNvPr id="43" name="爆炸形 1 42"/>
          <p:cNvSpPr/>
          <p:nvPr>
            <p:custDataLst>
              <p:tags r:id="rId17"/>
            </p:custDataLst>
          </p:nvPr>
        </p:nvSpPr>
        <p:spPr>
          <a:xfrm>
            <a:off x="9733915" y="5410200"/>
            <a:ext cx="1257300" cy="1008380"/>
          </a:xfrm>
          <a:prstGeom prst="irregularSeal1">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t>告警</a:t>
            </a:r>
            <a:endParaRPr lang="zh-CN" altLang="en-US" sz="2000" b="1"/>
          </a:p>
        </p:txBody>
      </p:sp>
      <p:cxnSp>
        <p:nvCxnSpPr>
          <p:cNvPr id="15" name="直接箭头连接符 14"/>
          <p:cNvCxnSpPr>
            <a:stCxn id="14" idx="2"/>
            <a:endCxn id="41" idx="0"/>
          </p:cNvCxnSpPr>
          <p:nvPr>
            <p:custDataLst>
              <p:tags r:id="rId18"/>
            </p:custDataLst>
          </p:nvPr>
        </p:nvCxnSpPr>
        <p:spPr>
          <a:xfrm flipH="1">
            <a:off x="7974330" y="4956175"/>
            <a:ext cx="965200" cy="4540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6" name="直接箭头连接符 15"/>
          <p:cNvCxnSpPr>
            <a:stCxn id="14" idx="2"/>
          </p:cNvCxnSpPr>
          <p:nvPr>
            <p:custDataLst>
              <p:tags r:id="rId19"/>
            </p:custDataLst>
          </p:nvPr>
        </p:nvCxnSpPr>
        <p:spPr>
          <a:xfrm>
            <a:off x="8939530" y="4956175"/>
            <a:ext cx="809625" cy="5429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solidFill>
                  <a:srgbClr val="C00000"/>
                </a:solidFill>
                <a:sym typeface="+mn-ea"/>
              </a:rPr>
              <a:t>NVP</a:t>
            </a:r>
            <a:r>
              <a:rPr lang="zh-CN" altLang="en-US">
                <a:solidFill>
                  <a:srgbClr val="C00000"/>
                </a:solidFill>
                <a:sym typeface="+mn-ea"/>
              </a:rPr>
              <a:t>的</a:t>
            </a:r>
            <a:r>
              <a:rPr lang="zh-CN" altLang="en-US">
                <a:solidFill>
                  <a:srgbClr val="C00000"/>
                </a:solidFill>
                <a:sym typeface="+mn-ea"/>
              </a:rPr>
              <a:t>优缺点</a:t>
            </a:r>
            <a:endParaRPr lang="zh-CN" altLang="en-US">
              <a:solidFill>
                <a:srgbClr val="C00000"/>
              </a:solidFill>
              <a:sym typeface="+mn-ea"/>
            </a:endParaRPr>
          </a:p>
        </p:txBody>
      </p:sp>
      <p:sp>
        <p:nvSpPr>
          <p:cNvPr id="3" name="内容占位符 2"/>
          <p:cNvSpPr>
            <a:spLocks noGrp="1"/>
          </p:cNvSpPr>
          <p:nvPr>
            <p:ph idx="1"/>
          </p:nvPr>
        </p:nvSpPr>
        <p:spPr>
          <a:xfrm>
            <a:off x="838200" y="1538605"/>
            <a:ext cx="5514975" cy="4638675"/>
          </a:xfrm>
        </p:spPr>
        <p:txBody>
          <a:bodyPr>
            <a:normAutofit fontScale="90000" lnSpcReduction="10000"/>
          </a:bodyPr>
          <a:p>
            <a:r>
              <a:rPr lang="zh-CN" altLang="en-US"/>
              <a:t>优点：</a:t>
            </a:r>
            <a:endParaRPr lang="zh-CN" altLang="en-US"/>
          </a:p>
          <a:p>
            <a:pPr lvl="1"/>
            <a:r>
              <a:rPr lang="zh-CN" altLang="en-US"/>
              <a:t>不需要</a:t>
            </a:r>
            <a:r>
              <a:rPr lang="zh-CN" altLang="en-US"/>
              <a:t>验收测试</a:t>
            </a:r>
            <a:endParaRPr lang="zh-CN" altLang="en-US"/>
          </a:p>
          <a:p>
            <a:pPr lvl="1"/>
            <a:r>
              <a:rPr lang="zh-CN" altLang="en-US"/>
              <a:t>算法相对简单</a:t>
            </a:r>
            <a:endParaRPr lang="zh-CN" altLang="en-US"/>
          </a:p>
          <a:p>
            <a:pPr lvl="1"/>
            <a:r>
              <a:rPr lang="zh-CN" altLang="en-US"/>
              <a:t>输出具有更好的</a:t>
            </a:r>
            <a:r>
              <a:rPr lang="zh-CN" altLang="en-US"/>
              <a:t>实时性</a:t>
            </a:r>
            <a:endParaRPr lang="zh-CN" altLang="en-US"/>
          </a:p>
          <a:p>
            <a:pPr lvl="0"/>
            <a:r>
              <a:rPr lang="zh-CN" altLang="en-US"/>
              <a:t>缺点：</a:t>
            </a:r>
            <a:endParaRPr lang="zh-CN" altLang="en-US"/>
          </a:p>
          <a:p>
            <a:pPr lvl="1"/>
            <a:r>
              <a:rPr lang="zh-CN" altLang="en-US"/>
              <a:t>需要建立多台计算机平台，需要研究建立多机之间的同步</a:t>
            </a:r>
            <a:r>
              <a:rPr lang="en-US" altLang="zh-CN"/>
              <a:t>/</a:t>
            </a:r>
            <a:r>
              <a:rPr lang="zh-CN" altLang="en-US"/>
              <a:t>异步</a:t>
            </a:r>
            <a:r>
              <a:rPr lang="zh-CN" altLang="en-US"/>
              <a:t>关系</a:t>
            </a:r>
            <a:endParaRPr lang="zh-CN" altLang="en-US"/>
          </a:p>
          <a:p>
            <a:pPr lvl="1"/>
            <a:r>
              <a:rPr lang="zh-CN" altLang="en-US"/>
              <a:t>需要建立多机之间交叉通道数据</a:t>
            </a:r>
            <a:r>
              <a:rPr lang="zh-CN" altLang="en-US"/>
              <a:t>通讯</a:t>
            </a:r>
            <a:endParaRPr lang="zh-CN" altLang="en-US"/>
          </a:p>
          <a:p>
            <a:pPr lvl="1"/>
            <a:r>
              <a:rPr lang="zh-CN" altLang="en-US"/>
              <a:t>容易导致系统余度</a:t>
            </a:r>
            <a:r>
              <a:rPr lang="zh-CN" altLang="en-US"/>
              <a:t>降级</a:t>
            </a:r>
            <a:endParaRPr lang="zh-CN" altLang="en-US"/>
          </a:p>
        </p:txBody>
      </p:sp>
      <p:sp>
        <p:nvSpPr>
          <p:cNvPr id="4" name="矩形 3"/>
          <p:cNvSpPr/>
          <p:nvPr>
            <p:custDataLst>
              <p:tags r:id="rId1"/>
            </p:custDataLst>
          </p:nvPr>
        </p:nvSpPr>
        <p:spPr>
          <a:xfrm>
            <a:off x="6659245" y="2749550"/>
            <a:ext cx="694055" cy="887730"/>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solidFill>
                  <a:srgbClr val="C00000"/>
                </a:solidFill>
              </a:rPr>
              <a:t>P1</a:t>
            </a:r>
            <a:endParaRPr lang="en-US" altLang="zh-CN" sz="2400" b="1">
              <a:solidFill>
                <a:srgbClr val="C00000"/>
              </a:solidFill>
            </a:endParaRPr>
          </a:p>
        </p:txBody>
      </p:sp>
      <p:sp>
        <p:nvSpPr>
          <p:cNvPr id="5" name="矩形 4"/>
          <p:cNvSpPr/>
          <p:nvPr>
            <p:custDataLst>
              <p:tags r:id="rId2"/>
            </p:custDataLst>
          </p:nvPr>
        </p:nvSpPr>
        <p:spPr>
          <a:xfrm>
            <a:off x="7731760" y="2749550"/>
            <a:ext cx="694055" cy="887730"/>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solidFill>
                  <a:srgbClr val="C00000"/>
                </a:solidFill>
              </a:rPr>
              <a:t>P2</a:t>
            </a:r>
            <a:endParaRPr lang="en-US" altLang="zh-CN" sz="2400" b="1">
              <a:solidFill>
                <a:srgbClr val="C00000"/>
              </a:solidFill>
            </a:endParaRPr>
          </a:p>
        </p:txBody>
      </p:sp>
      <p:sp>
        <p:nvSpPr>
          <p:cNvPr id="6" name="矩形 5"/>
          <p:cNvSpPr/>
          <p:nvPr>
            <p:custDataLst>
              <p:tags r:id="rId3"/>
            </p:custDataLst>
          </p:nvPr>
        </p:nvSpPr>
        <p:spPr>
          <a:xfrm>
            <a:off x="8829040" y="2749550"/>
            <a:ext cx="694055" cy="887730"/>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solidFill>
                  <a:srgbClr val="C00000"/>
                </a:solidFill>
              </a:rPr>
              <a:t>P3</a:t>
            </a:r>
            <a:endParaRPr lang="en-US" altLang="zh-CN" sz="2400" b="1">
              <a:solidFill>
                <a:srgbClr val="C00000"/>
              </a:solidFill>
            </a:endParaRPr>
          </a:p>
        </p:txBody>
      </p:sp>
      <p:sp>
        <p:nvSpPr>
          <p:cNvPr id="7" name="矩形 6"/>
          <p:cNvSpPr/>
          <p:nvPr>
            <p:custDataLst>
              <p:tags r:id="rId4"/>
            </p:custDataLst>
          </p:nvPr>
        </p:nvSpPr>
        <p:spPr>
          <a:xfrm>
            <a:off x="10519410" y="2749550"/>
            <a:ext cx="694055" cy="887730"/>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2400" b="1">
                <a:solidFill>
                  <a:srgbClr val="C00000"/>
                </a:solidFill>
              </a:rPr>
              <a:t>Pn</a:t>
            </a:r>
            <a:endParaRPr lang="en-US" altLang="zh-CN" sz="2400" b="1">
              <a:solidFill>
                <a:srgbClr val="C00000"/>
              </a:solidFill>
            </a:endParaRPr>
          </a:p>
        </p:txBody>
      </p:sp>
      <p:cxnSp>
        <p:nvCxnSpPr>
          <p:cNvPr id="18" name="直接箭头连接符 17"/>
          <p:cNvCxnSpPr>
            <a:stCxn id="4" idx="2"/>
          </p:cNvCxnSpPr>
          <p:nvPr>
            <p:custDataLst>
              <p:tags r:id="rId5"/>
            </p:custDataLst>
          </p:nvPr>
        </p:nvCxnSpPr>
        <p:spPr>
          <a:xfrm>
            <a:off x="7006590" y="3637280"/>
            <a:ext cx="0" cy="6019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9" name="直接箭头连接符 18"/>
          <p:cNvCxnSpPr>
            <a:stCxn id="5" idx="2"/>
          </p:cNvCxnSpPr>
          <p:nvPr>
            <p:custDataLst>
              <p:tags r:id="rId6"/>
            </p:custDataLst>
          </p:nvPr>
        </p:nvCxnSpPr>
        <p:spPr>
          <a:xfrm>
            <a:off x="8079105" y="3637280"/>
            <a:ext cx="0" cy="6019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0" name="直接箭头连接符 19"/>
          <p:cNvCxnSpPr>
            <a:stCxn id="6" idx="2"/>
          </p:cNvCxnSpPr>
          <p:nvPr>
            <p:custDataLst>
              <p:tags r:id="rId7"/>
            </p:custDataLst>
          </p:nvPr>
        </p:nvCxnSpPr>
        <p:spPr>
          <a:xfrm>
            <a:off x="9176385" y="3637280"/>
            <a:ext cx="0" cy="60198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a:stCxn id="7" idx="2"/>
          </p:cNvCxnSpPr>
          <p:nvPr>
            <p:custDataLst>
              <p:tags r:id="rId8"/>
            </p:custDataLst>
          </p:nvPr>
        </p:nvCxnSpPr>
        <p:spPr>
          <a:xfrm flipH="1">
            <a:off x="10859135" y="3637280"/>
            <a:ext cx="7620" cy="6070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2" name="文本框 21"/>
          <p:cNvSpPr txBox="1"/>
          <p:nvPr>
            <p:custDataLst>
              <p:tags r:id="rId9"/>
            </p:custDataLst>
          </p:nvPr>
        </p:nvSpPr>
        <p:spPr>
          <a:xfrm>
            <a:off x="9643110" y="2886710"/>
            <a:ext cx="876300" cy="678815"/>
          </a:xfrm>
          <a:prstGeom prst="rect">
            <a:avLst/>
          </a:prstGeom>
          <a:noFill/>
        </p:spPr>
        <p:txBody>
          <a:bodyPr wrap="square" rtlCol="0" anchor="t">
            <a:noAutofit/>
          </a:bodyPr>
          <a:p>
            <a:r>
              <a:rPr lang="en-US" altLang="zh-CN" sz="4800">
                <a:solidFill>
                  <a:srgbClr val="C00000"/>
                </a:solidFill>
                <a:sym typeface="+mn-ea"/>
              </a:rPr>
              <a:t>...</a:t>
            </a:r>
            <a:endParaRPr lang="en-US" altLang="zh-CN" sz="4800">
              <a:solidFill>
                <a:srgbClr val="C00000"/>
              </a:solidFill>
              <a:sym typeface="+mn-ea"/>
            </a:endParaRPr>
          </a:p>
        </p:txBody>
      </p:sp>
      <p:sp>
        <p:nvSpPr>
          <p:cNvPr id="17" name="椭圆 16"/>
          <p:cNvSpPr/>
          <p:nvPr>
            <p:custDataLst>
              <p:tags r:id="rId10"/>
            </p:custDataLst>
          </p:nvPr>
        </p:nvSpPr>
        <p:spPr>
          <a:xfrm>
            <a:off x="8352155" y="1120775"/>
            <a:ext cx="1070610" cy="831850"/>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lIns="36195" rIns="36195" rtlCol="0" anchor="ctr"/>
          <a:p>
            <a:pPr algn="ctr"/>
            <a:r>
              <a:rPr lang="zh-CN" altLang="en-US" sz="2400" b="1"/>
              <a:t>输入</a:t>
            </a:r>
            <a:endParaRPr lang="zh-CN" altLang="en-US" sz="2400" b="1"/>
          </a:p>
        </p:txBody>
      </p:sp>
      <p:cxnSp>
        <p:nvCxnSpPr>
          <p:cNvPr id="8" name="直接箭头连接符 7"/>
          <p:cNvCxnSpPr>
            <a:stCxn id="17" idx="4"/>
            <a:endCxn id="4" idx="0"/>
          </p:cNvCxnSpPr>
          <p:nvPr>
            <p:custDataLst>
              <p:tags r:id="rId11"/>
            </p:custDataLst>
          </p:nvPr>
        </p:nvCxnSpPr>
        <p:spPr>
          <a:xfrm flipH="1">
            <a:off x="7006590" y="1952625"/>
            <a:ext cx="1880870" cy="7969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a:stCxn id="17" idx="4"/>
            <a:endCxn id="5" idx="0"/>
          </p:cNvCxnSpPr>
          <p:nvPr>
            <p:custDataLst>
              <p:tags r:id="rId12"/>
            </p:custDataLst>
          </p:nvPr>
        </p:nvCxnSpPr>
        <p:spPr>
          <a:xfrm flipH="1">
            <a:off x="8079105" y="1952625"/>
            <a:ext cx="808355" cy="7969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a:endCxn id="6" idx="0"/>
          </p:cNvCxnSpPr>
          <p:nvPr>
            <p:custDataLst>
              <p:tags r:id="rId13"/>
            </p:custDataLst>
          </p:nvPr>
        </p:nvCxnSpPr>
        <p:spPr>
          <a:xfrm>
            <a:off x="8856980" y="1942465"/>
            <a:ext cx="319405" cy="8070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a:endCxn id="7" idx="0"/>
          </p:cNvCxnSpPr>
          <p:nvPr>
            <p:custDataLst>
              <p:tags r:id="rId14"/>
            </p:custDataLst>
          </p:nvPr>
        </p:nvCxnSpPr>
        <p:spPr>
          <a:xfrm>
            <a:off x="8830310" y="1960245"/>
            <a:ext cx="2036445" cy="78930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5727065" y="2877820"/>
            <a:ext cx="1087755" cy="460375"/>
          </a:xfrm>
          <a:prstGeom prst="rect">
            <a:avLst/>
          </a:prstGeom>
          <a:noFill/>
        </p:spPr>
        <p:txBody>
          <a:bodyPr wrap="square" rtlCol="0" anchor="t">
            <a:spAutoFit/>
          </a:bodyPr>
          <a:p>
            <a:r>
              <a:rPr lang="zh-CN" altLang="en-US" sz="2400" b="1">
                <a:solidFill>
                  <a:srgbClr val="C00000"/>
                </a:solidFill>
                <a:sym typeface="+mn-ea"/>
              </a:rPr>
              <a:t>版本</a:t>
            </a:r>
            <a:r>
              <a:rPr lang="en-US" altLang="zh-CN" sz="2400" b="1">
                <a:solidFill>
                  <a:srgbClr val="C00000"/>
                </a:solidFill>
                <a:sym typeface="+mn-ea"/>
              </a:rPr>
              <a:t>1</a:t>
            </a:r>
            <a:endParaRPr lang="en-US" altLang="zh-CN" sz="2400" b="1">
              <a:solidFill>
                <a:srgbClr val="C00000"/>
              </a:solidFill>
              <a:sym typeface="+mn-ea"/>
            </a:endParaRPr>
          </a:p>
        </p:txBody>
      </p:sp>
      <p:sp>
        <p:nvSpPr>
          <p:cNvPr id="13" name="文本框 12"/>
          <p:cNvSpPr txBox="1"/>
          <p:nvPr>
            <p:custDataLst>
              <p:tags r:id="rId15"/>
            </p:custDataLst>
          </p:nvPr>
        </p:nvSpPr>
        <p:spPr>
          <a:xfrm>
            <a:off x="11135995" y="2886710"/>
            <a:ext cx="1087755" cy="460375"/>
          </a:xfrm>
          <a:prstGeom prst="rect">
            <a:avLst/>
          </a:prstGeom>
          <a:noFill/>
        </p:spPr>
        <p:txBody>
          <a:bodyPr wrap="square" rtlCol="0" anchor="t">
            <a:spAutoFit/>
          </a:bodyPr>
          <a:p>
            <a:r>
              <a:rPr lang="zh-CN" altLang="en-US" sz="2400" b="1">
                <a:solidFill>
                  <a:srgbClr val="C00000"/>
                </a:solidFill>
                <a:sym typeface="+mn-ea"/>
              </a:rPr>
              <a:t>版本</a:t>
            </a:r>
            <a:r>
              <a:rPr lang="en-US" altLang="zh-CN" sz="2400" b="1">
                <a:solidFill>
                  <a:srgbClr val="C00000"/>
                </a:solidFill>
                <a:sym typeface="+mn-ea"/>
              </a:rPr>
              <a:t>n</a:t>
            </a:r>
            <a:endParaRPr lang="en-US" altLang="zh-CN" sz="2400" b="1">
              <a:solidFill>
                <a:srgbClr val="C00000"/>
              </a:solidFill>
              <a:sym typeface="+mn-ea"/>
            </a:endParaRPr>
          </a:p>
        </p:txBody>
      </p:sp>
      <p:sp>
        <p:nvSpPr>
          <p:cNvPr id="14" name="矩形 13"/>
          <p:cNvSpPr/>
          <p:nvPr/>
        </p:nvSpPr>
        <p:spPr>
          <a:xfrm>
            <a:off x="6665595" y="4239260"/>
            <a:ext cx="4547870" cy="716915"/>
          </a:xfrm>
          <a:prstGeom prst="rect">
            <a:avLst/>
          </a:prstGeom>
          <a:solidFill>
            <a:srgbClr val="C00000">
              <a:alpha val="65000"/>
            </a:srgb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800" b="1"/>
              <a:t>表</a:t>
            </a:r>
            <a:r>
              <a:rPr lang="en-US" altLang="zh-CN" sz="2800" b="1"/>
              <a:t> </a:t>
            </a:r>
            <a:r>
              <a:rPr lang="zh-CN" altLang="en-US" sz="2800" b="1"/>
              <a:t>决</a:t>
            </a:r>
            <a:r>
              <a:rPr lang="en-US" altLang="zh-CN" sz="2800" b="1"/>
              <a:t> </a:t>
            </a:r>
            <a:r>
              <a:rPr lang="zh-CN" altLang="en-US" sz="2800" b="1"/>
              <a:t>器</a:t>
            </a:r>
            <a:endParaRPr lang="zh-CN" altLang="en-US" sz="2800" b="1"/>
          </a:p>
        </p:txBody>
      </p:sp>
      <p:sp>
        <p:nvSpPr>
          <p:cNvPr id="41" name="文本框 40"/>
          <p:cNvSpPr txBox="1"/>
          <p:nvPr>
            <p:custDataLst>
              <p:tags r:id="rId16"/>
            </p:custDataLst>
          </p:nvPr>
        </p:nvSpPr>
        <p:spPr>
          <a:xfrm>
            <a:off x="7444740" y="5410200"/>
            <a:ext cx="1059180" cy="829945"/>
          </a:xfrm>
          <a:prstGeom prst="rect">
            <a:avLst/>
          </a:prstGeom>
          <a:solidFill>
            <a:schemeClr val="accent6">
              <a:lumMod val="50000"/>
            </a:schemeClr>
          </a:solidFill>
        </p:spPr>
        <p:txBody>
          <a:bodyPr wrap="square" rtlCol="0" anchor="t">
            <a:spAutoFit/>
          </a:bodyPr>
          <a:p>
            <a:pPr algn="ctr"/>
            <a:r>
              <a:rPr lang="en-US" altLang="zh-CN" sz="2400" b="1">
                <a:solidFill>
                  <a:schemeClr val="bg1"/>
                </a:solidFill>
                <a:sym typeface="+mn-ea"/>
              </a:rPr>
              <a:t>“</a:t>
            </a:r>
            <a:r>
              <a:rPr lang="zh-CN" altLang="en-US" sz="2400" b="1">
                <a:solidFill>
                  <a:schemeClr val="bg1"/>
                </a:solidFill>
                <a:sym typeface="+mn-ea"/>
              </a:rPr>
              <a:t>正确</a:t>
            </a:r>
            <a:r>
              <a:rPr lang="en-US" altLang="zh-CN" sz="2400" b="1">
                <a:solidFill>
                  <a:schemeClr val="bg1"/>
                </a:solidFill>
                <a:sym typeface="+mn-ea"/>
              </a:rPr>
              <a:t>”</a:t>
            </a:r>
            <a:endParaRPr lang="en-US" altLang="zh-CN" sz="2400" b="1">
              <a:solidFill>
                <a:schemeClr val="bg1"/>
              </a:solidFill>
              <a:sym typeface="+mn-ea"/>
            </a:endParaRPr>
          </a:p>
          <a:p>
            <a:pPr algn="ctr"/>
            <a:r>
              <a:rPr lang="zh-CN" altLang="en-US" sz="2400" b="1">
                <a:solidFill>
                  <a:schemeClr val="bg1"/>
                </a:solidFill>
                <a:sym typeface="+mn-ea"/>
              </a:rPr>
              <a:t>输出</a:t>
            </a:r>
            <a:endParaRPr lang="zh-CN" altLang="en-US" sz="2400" b="1">
              <a:solidFill>
                <a:schemeClr val="bg1"/>
              </a:solidFill>
              <a:sym typeface="+mn-ea"/>
            </a:endParaRPr>
          </a:p>
        </p:txBody>
      </p:sp>
      <p:sp>
        <p:nvSpPr>
          <p:cNvPr id="43" name="爆炸形 1 42"/>
          <p:cNvSpPr/>
          <p:nvPr>
            <p:custDataLst>
              <p:tags r:id="rId17"/>
            </p:custDataLst>
          </p:nvPr>
        </p:nvSpPr>
        <p:spPr>
          <a:xfrm>
            <a:off x="9733915" y="5410200"/>
            <a:ext cx="1257300" cy="1008380"/>
          </a:xfrm>
          <a:prstGeom prst="irregularSeal1">
            <a:avLst/>
          </a:prstGeom>
          <a:solidFill>
            <a:srgbClr val="C0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a:t>告警</a:t>
            </a:r>
            <a:endParaRPr lang="zh-CN" altLang="en-US" sz="2000" b="1"/>
          </a:p>
        </p:txBody>
      </p:sp>
      <p:cxnSp>
        <p:nvCxnSpPr>
          <p:cNvPr id="15" name="直接箭头连接符 14"/>
          <p:cNvCxnSpPr>
            <a:stCxn id="14" idx="2"/>
            <a:endCxn id="41" idx="0"/>
          </p:cNvCxnSpPr>
          <p:nvPr>
            <p:custDataLst>
              <p:tags r:id="rId18"/>
            </p:custDataLst>
          </p:nvPr>
        </p:nvCxnSpPr>
        <p:spPr>
          <a:xfrm flipH="1">
            <a:off x="7974330" y="4956175"/>
            <a:ext cx="965200" cy="4540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6" name="直接箭头连接符 15"/>
          <p:cNvCxnSpPr>
            <a:stCxn id="14" idx="2"/>
          </p:cNvCxnSpPr>
          <p:nvPr>
            <p:custDataLst>
              <p:tags r:id="rId19"/>
            </p:custDataLst>
          </p:nvPr>
        </p:nvCxnSpPr>
        <p:spPr>
          <a:xfrm>
            <a:off x="8939530" y="4956175"/>
            <a:ext cx="809625" cy="54292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软件结构容错</a:t>
            </a:r>
            <a:endParaRPr lang="zh-CN" altLang="en-US"/>
          </a:p>
        </p:txBody>
      </p:sp>
      <p:sp>
        <p:nvSpPr>
          <p:cNvPr id="3" name="内容占位符 2"/>
          <p:cNvSpPr>
            <a:spLocks noGrp="1"/>
          </p:cNvSpPr>
          <p:nvPr>
            <p:ph idx="1"/>
          </p:nvPr>
        </p:nvSpPr>
        <p:spPr/>
        <p:txBody>
          <a:bodyPr/>
          <a:p>
            <a:r>
              <a:rPr lang="zh-CN" altLang="en-US"/>
              <a:t>综上所述，恢复块和</a:t>
            </a:r>
            <a:r>
              <a:rPr lang="en-US" altLang="zh-CN"/>
              <a:t>N</a:t>
            </a:r>
            <a:r>
              <a:rPr lang="zh-CN" altLang="en-US"/>
              <a:t>版本程序设计各自都有相应地应用领域</a:t>
            </a:r>
            <a:r>
              <a:rPr lang="zh-CN" altLang="en-US"/>
              <a:t>和场合</a:t>
            </a:r>
            <a:endParaRPr lang="zh-CN" altLang="en-US"/>
          </a:p>
          <a:p>
            <a:endParaRPr lang="zh-CN" altLang="en-US"/>
          </a:p>
          <a:p>
            <a:r>
              <a:rPr lang="zh-CN" altLang="en-US"/>
              <a:t>恢复块一般适应于实时性能要求不高的应用</a:t>
            </a:r>
            <a:r>
              <a:rPr lang="zh-CN" altLang="en-US"/>
              <a:t>场合</a:t>
            </a:r>
            <a:endParaRPr lang="zh-CN" altLang="en-US"/>
          </a:p>
          <a:p>
            <a:endParaRPr lang="zh-CN" altLang="en-US"/>
          </a:p>
          <a:p>
            <a:r>
              <a:rPr lang="en-US" altLang="zh-CN"/>
              <a:t>N</a:t>
            </a:r>
            <a:r>
              <a:rPr lang="zh-CN" altLang="en-US"/>
              <a:t>版本程设设计则在实时环境下</a:t>
            </a:r>
            <a:r>
              <a:rPr lang="zh-CN" altLang="en-US"/>
              <a:t>使用</a:t>
            </a:r>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容错设计</a:t>
            </a:r>
            <a:r>
              <a:rPr lang="en-US" altLang="zh-CN">
                <a:solidFill>
                  <a:srgbClr val="C00000"/>
                </a:solidFill>
                <a:sym typeface="+mn-ea"/>
              </a:rPr>
              <a:t>     </a:t>
            </a:r>
            <a:r>
              <a:rPr lang="zh-CN" altLang="en-US">
                <a:solidFill>
                  <a:srgbClr val="C00000"/>
                </a:solidFill>
                <a:sym typeface="+mn-ea"/>
              </a:rPr>
              <a:t>小结</a:t>
            </a:r>
            <a:endParaRPr lang="zh-CN" altLang="en-US">
              <a:solidFill>
                <a:srgbClr val="C00000"/>
              </a:solidFill>
              <a:sym typeface="+mn-ea"/>
            </a:endParaRPr>
          </a:p>
        </p:txBody>
      </p:sp>
      <p:sp>
        <p:nvSpPr>
          <p:cNvPr id="3" name="内容占位符 2"/>
          <p:cNvSpPr>
            <a:spLocks noGrp="1"/>
          </p:cNvSpPr>
          <p:nvPr>
            <p:ph idx="1"/>
          </p:nvPr>
        </p:nvSpPr>
        <p:spPr/>
        <p:txBody>
          <a:bodyPr>
            <a:normAutofit fontScale="90000" lnSpcReduction="20000"/>
          </a:bodyPr>
          <a:p>
            <a:r>
              <a:rPr lang="zh-CN" altLang="en-US"/>
              <a:t>一种处理未知和不可预知的软件失效地方法，即</a:t>
            </a:r>
            <a:r>
              <a:rPr lang="zh-CN" altLang="en-US"/>
              <a:t>容错</a:t>
            </a:r>
            <a:endParaRPr lang="zh-CN" altLang="en-US"/>
          </a:p>
          <a:p>
            <a:r>
              <a:rPr lang="zh-CN" altLang="en-US"/>
              <a:t>信息容错和时间容错应用的比较</a:t>
            </a:r>
            <a:r>
              <a:rPr lang="zh-CN" altLang="en-US"/>
              <a:t>广泛：</a:t>
            </a:r>
            <a:endParaRPr lang="zh-CN" altLang="en-US"/>
          </a:p>
          <a:p>
            <a:pPr lvl="1"/>
            <a:r>
              <a:rPr lang="zh-CN" altLang="en-US" b="1">
                <a:solidFill>
                  <a:srgbClr val="C00000"/>
                </a:solidFill>
              </a:rPr>
              <a:t>信息容错主要用于数据通信和某些关键标志中</a:t>
            </a:r>
            <a:endParaRPr lang="zh-CN" altLang="en-US" b="1">
              <a:solidFill>
                <a:srgbClr val="C00000"/>
              </a:solidFill>
            </a:endParaRPr>
          </a:p>
          <a:p>
            <a:pPr lvl="1"/>
            <a:r>
              <a:rPr lang="zh-CN" altLang="en-US" b="1">
                <a:solidFill>
                  <a:srgbClr val="C00000"/>
                </a:solidFill>
              </a:rPr>
              <a:t>时间容错主要用于采集硬件数据方面</a:t>
            </a:r>
            <a:endParaRPr lang="zh-CN" altLang="en-US" b="1">
              <a:solidFill>
                <a:srgbClr val="C00000"/>
              </a:solidFill>
            </a:endParaRPr>
          </a:p>
          <a:p>
            <a:pPr lvl="0"/>
            <a:r>
              <a:rPr lang="zh-CN" altLang="en-US"/>
              <a:t>结构容错由于大量增加的冗余部分扩大了程序的规模，因此只用于失效后果严重</a:t>
            </a:r>
            <a:r>
              <a:rPr lang="zh-CN" altLang="en-US"/>
              <a:t>的环节：</a:t>
            </a:r>
            <a:endParaRPr lang="zh-CN" altLang="en-US"/>
          </a:p>
          <a:p>
            <a:pPr lvl="1"/>
            <a:r>
              <a:rPr lang="en-US" altLang="zh-CN"/>
              <a:t>N</a:t>
            </a:r>
            <a:r>
              <a:rPr lang="zh-CN" altLang="en-US"/>
              <a:t>程序的开发</a:t>
            </a:r>
            <a:endParaRPr lang="zh-CN" altLang="en-US"/>
          </a:p>
          <a:p>
            <a:pPr lvl="1"/>
            <a:r>
              <a:rPr lang="zh-CN" altLang="en-US"/>
              <a:t>表决器的</a:t>
            </a:r>
            <a:r>
              <a:rPr lang="zh-CN" altLang="en-US"/>
              <a:t>算法</a:t>
            </a:r>
            <a:endParaRPr lang="zh-CN" altLang="en-US"/>
          </a:p>
          <a:p>
            <a:pPr lvl="1"/>
            <a:r>
              <a:rPr lang="en-US" altLang="zh-CN"/>
              <a:t>N</a:t>
            </a:r>
            <a:r>
              <a:rPr lang="zh-CN" altLang="en-US"/>
              <a:t>程序的</a:t>
            </a:r>
            <a:r>
              <a:rPr lang="zh-CN" altLang="en-US"/>
              <a:t>同步</a:t>
            </a:r>
            <a:endParaRPr lang="zh-CN" altLang="en-US"/>
          </a:p>
          <a:p>
            <a:pPr lvl="1"/>
            <a:r>
              <a:rPr lang="zh-CN" altLang="en-US"/>
              <a:t>复合技术的</a:t>
            </a:r>
            <a:r>
              <a:rPr lang="zh-CN" altLang="en-US"/>
              <a:t>工程应用</a:t>
            </a:r>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5.4 </a:t>
            </a:r>
            <a:r>
              <a:rPr lang="zh-CN" altLang="en-US">
                <a:solidFill>
                  <a:srgbClr val="C00000"/>
                </a:solidFill>
                <a:sym typeface="+mn-ea"/>
              </a:rPr>
              <a:t>降低</a:t>
            </a:r>
            <a:r>
              <a:rPr lang="zh-CN" altLang="en-US">
                <a:solidFill>
                  <a:srgbClr val="C00000"/>
                </a:solidFill>
                <a:sym typeface="+mn-ea"/>
              </a:rPr>
              <a:t>复杂度设计</a:t>
            </a:r>
            <a:endParaRPr lang="zh-CN" altLang="en-US"/>
          </a:p>
        </p:txBody>
      </p:sp>
      <p:sp>
        <p:nvSpPr>
          <p:cNvPr id="3" name="内容占位符 2"/>
          <p:cNvSpPr>
            <a:spLocks noGrp="1"/>
          </p:cNvSpPr>
          <p:nvPr>
            <p:ph idx="1"/>
          </p:nvPr>
        </p:nvSpPr>
        <p:spPr>
          <a:xfrm>
            <a:off x="838200" y="1538605"/>
            <a:ext cx="5257800" cy="4638675"/>
          </a:xfrm>
        </p:spPr>
        <p:txBody>
          <a:bodyPr/>
          <a:p>
            <a:r>
              <a:rPr lang="zh-CN" altLang="en-US"/>
              <a:t>模块化设计</a:t>
            </a:r>
            <a:endParaRPr lang="zh-CN" altLang="en-US"/>
          </a:p>
          <a:p>
            <a:pPr lvl="1"/>
            <a:r>
              <a:rPr lang="zh-CN" altLang="en-US"/>
              <a:t>将系统分解为相互独立且具有清晰职责的模块。</a:t>
            </a:r>
            <a:endParaRPr lang="zh-CN" altLang="en-US"/>
          </a:p>
          <a:p>
            <a:pPr lvl="1"/>
            <a:r>
              <a:rPr lang="zh-CN" altLang="en-US"/>
              <a:t>模块之间的接口应该简单和清晰，使得模块可以独立开发、测试和维护。</a:t>
            </a:r>
            <a:endParaRPr lang="zh-CN" altLang="en-US"/>
          </a:p>
          <a:p>
            <a:pPr lvl="1"/>
            <a:r>
              <a:rPr lang="zh-CN" altLang="en-US"/>
              <a:t>模块化设计可以提高系统的可组合性、可扩展性和可维护性。</a:t>
            </a:r>
            <a:endParaRPr lang="zh-CN" altLang="en-US"/>
          </a:p>
          <a:p>
            <a:pPr lvl="0"/>
            <a:endParaRPr lang="zh-CN" altLang="en-US"/>
          </a:p>
        </p:txBody>
      </p:sp>
      <p:pic>
        <p:nvPicPr>
          <p:cNvPr id="5" name="Picture 4" descr="G2"/>
          <p:cNvPicPr>
            <a:picLocks noChangeAspect="1" noChangeArrowheads="1"/>
          </p:cNvPicPr>
          <p:nvPr/>
        </p:nvPicPr>
        <p:blipFill>
          <a:blip r:embed="rId1"/>
          <a:srcRect/>
          <a:stretch>
            <a:fillRect/>
          </a:stretch>
        </p:blipFill>
        <p:spPr bwMode="auto">
          <a:xfrm>
            <a:off x="6628765" y="1757680"/>
            <a:ext cx="5132705" cy="1236345"/>
          </a:xfrm>
          <a:prstGeom prst="rect">
            <a:avLst/>
          </a:prstGeom>
          <a:noFill/>
          <a:ln w="9525">
            <a:solidFill>
              <a:srgbClr val="FFC000"/>
            </a:solidFill>
            <a:miter lim="800000"/>
            <a:headEnd/>
            <a:tailEnd/>
          </a:ln>
        </p:spPr>
      </p:pic>
      <p:pic>
        <p:nvPicPr>
          <p:cNvPr id="8" name="Picture 5" descr="G3"/>
          <p:cNvPicPr>
            <a:picLocks noChangeAspect="1" noChangeArrowheads="1"/>
          </p:cNvPicPr>
          <p:nvPr/>
        </p:nvPicPr>
        <p:blipFill>
          <a:blip r:embed="rId2"/>
          <a:srcRect/>
          <a:stretch>
            <a:fillRect/>
          </a:stretch>
        </p:blipFill>
        <p:spPr bwMode="auto">
          <a:xfrm>
            <a:off x="6628130" y="3406140"/>
            <a:ext cx="5133340" cy="2207895"/>
          </a:xfrm>
          <a:prstGeom prst="rect">
            <a:avLst/>
          </a:prstGeom>
          <a:noFill/>
          <a:ln w="9525">
            <a:solidFill>
              <a:srgbClr val="FFC000"/>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ppt_x</p:attrName>
                                        </p:attrNameLst>
                                      </p:cBhvr>
                                      <p:tavLst>
                                        <p:tav tm="0">
                                          <p:val>
                                            <p:strVal val="#ppt_x-.2"/>
                                          </p:val>
                                        </p:tav>
                                        <p:tav tm="100000">
                                          <p:val>
                                            <p:strVal val="#ppt_x"/>
                                          </p:val>
                                        </p:tav>
                                      </p:tavLst>
                                    </p:anim>
                                    <p:anim calcmode="lin" valueType="num">
                                      <p:cBhvr>
                                        <p:cTn id="8" dur="1000" fill="hold"/>
                                        <p:tgtEl>
                                          <p:spTgt spid="5"/>
                                        </p:tgtEl>
                                        <p:attrNameLst>
                                          <p:attrName>ppt_y</p:attrName>
                                        </p:attrNameLst>
                                      </p:cBhvr>
                                      <p:tavLst>
                                        <p:tav tm="0">
                                          <p:val>
                                            <p:strVal val="#ppt_y"/>
                                          </p:val>
                                        </p:tav>
                                        <p:tav tm="100000">
                                          <p:val>
                                            <p:strVal val="#ppt_y"/>
                                          </p:val>
                                        </p:tav>
                                      </p:tavLst>
                                    </p:anim>
                                    <p:animEffect transition="in" filter="wipe(right)" prLst="gradientSize: 0.1">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5.4 </a:t>
            </a:r>
            <a:r>
              <a:rPr lang="zh-CN" altLang="en-US">
                <a:solidFill>
                  <a:srgbClr val="C00000"/>
                </a:solidFill>
                <a:sym typeface="+mn-ea"/>
              </a:rPr>
              <a:t>降低</a:t>
            </a:r>
            <a:r>
              <a:rPr lang="zh-CN" altLang="en-US">
                <a:solidFill>
                  <a:srgbClr val="C00000"/>
                </a:solidFill>
                <a:sym typeface="+mn-ea"/>
              </a:rPr>
              <a:t>复杂度设计</a:t>
            </a:r>
            <a:endParaRPr lang="zh-CN" altLang="en-US"/>
          </a:p>
        </p:txBody>
      </p:sp>
      <p:sp>
        <p:nvSpPr>
          <p:cNvPr id="3" name="内容占位符 2"/>
          <p:cNvSpPr>
            <a:spLocks noGrp="1"/>
          </p:cNvSpPr>
          <p:nvPr>
            <p:ph idx="1"/>
          </p:nvPr>
        </p:nvSpPr>
        <p:spPr/>
        <p:txBody>
          <a:bodyPr/>
          <a:p>
            <a:pPr lvl="0"/>
            <a:r>
              <a:rPr lang="zh-CN" altLang="en-US"/>
              <a:t>单一职责原则 (SRP)</a:t>
            </a:r>
            <a:endParaRPr lang="zh-CN" altLang="en-US"/>
          </a:p>
          <a:p>
            <a:pPr lvl="1"/>
            <a:r>
              <a:rPr lang="zh-CN" altLang="en-US"/>
              <a:t>每个模块、类或函数应该只负责一个单一的功能或责任。</a:t>
            </a:r>
            <a:endParaRPr lang="zh-CN" altLang="en-US"/>
          </a:p>
          <a:p>
            <a:pPr lvl="1"/>
            <a:r>
              <a:rPr lang="zh-CN" altLang="en-US"/>
              <a:t>这有助于减少模块的复杂度，并使其易于理解和修改。</a:t>
            </a:r>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5.4 </a:t>
            </a:r>
            <a:r>
              <a:rPr lang="zh-CN" altLang="en-US">
                <a:solidFill>
                  <a:srgbClr val="C00000"/>
                </a:solidFill>
                <a:sym typeface="+mn-ea"/>
              </a:rPr>
              <a:t>降低</a:t>
            </a:r>
            <a:r>
              <a:rPr lang="zh-CN" altLang="en-US">
                <a:solidFill>
                  <a:srgbClr val="C00000"/>
                </a:solidFill>
                <a:sym typeface="+mn-ea"/>
              </a:rPr>
              <a:t>复杂度设计</a:t>
            </a:r>
            <a:endParaRPr lang="zh-CN" altLang="en-US"/>
          </a:p>
        </p:txBody>
      </p:sp>
      <p:sp>
        <p:nvSpPr>
          <p:cNvPr id="3" name="内容占位符 2"/>
          <p:cNvSpPr>
            <a:spLocks noGrp="1"/>
          </p:cNvSpPr>
          <p:nvPr>
            <p:ph idx="1"/>
          </p:nvPr>
        </p:nvSpPr>
        <p:spPr>
          <a:xfrm>
            <a:off x="838200" y="1538605"/>
            <a:ext cx="5331460" cy="4638675"/>
          </a:xfrm>
        </p:spPr>
        <p:txBody>
          <a:bodyPr>
            <a:normAutofit lnSpcReduction="10000"/>
          </a:bodyPr>
          <a:p>
            <a:r>
              <a:rPr lang="zh-CN" altLang="en-US"/>
              <a:t>分层架构</a:t>
            </a:r>
            <a:endParaRPr lang="zh-CN" altLang="en-US"/>
          </a:p>
          <a:p>
            <a:pPr lvl="1"/>
            <a:r>
              <a:rPr lang="zh-CN" altLang="en-US"/>
              <a:t>将系统划分为层次结构，每个层次具有不同的职责和抽象级别。</a:t>
            </a:r>
            <a:endParaRPr lang="zh-CN" altLang="en-US"/>
          </a:p>
          <a:p>
            <a:pPr lvl="1"/>
            <a:r>
              <a:rPr lang="zh-CN" altLang="en-US"/>
              <a:t>这种分层架构可以降低模块之间的耦合性，并提供清晰的界限，使得系统的设计和维护更加简化。</a:t>
            </a:r>
            <a:endParaRPr lang="zh-CN" altLang="en-US"/>
          </a:p>
          <a:p>
            <a:endParaRPr lang="zh-CN" altLang="en-US"/>
          </a:p>
        </p:txBody>
      </p:sp>
      <p:pic>
        <p:nvPicPr>
          <p:cNvPr id="4" name="图片 3"/>
          <p:cNvPicPr>
            <a:picLocks noChangeAspect="1"/>
          </p:cNvPicPr>
          <p:nvPr/>
        </p:nvPicPr>
        <p:blipFill>
          <a:blip r:embed="rId1"/>
          <a:stretch>
            <a:fillRect/>
          </a:stretch>
        </p:blipFill>
        <p:spPr>
          <a:xfrm>
            <a:off x="6403975" y="213995"/>
            <a:ext cx="5295900" cy="642937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5.4 </a:t>
            </a:r>
            <a:r>
              <a:rPr lang="zh-CN" altLang="en-US">
                <a:solidFill>
                  <a:srgbClr val="C00000"/>
                </a:solidFill>
                <a:sym typeface="+mn-ea"/>
              </a:rPr>
              <a:t>降低</a:t>
            </a:r>
            <a:r>
              <a:rPr lang="zh-CN" altLang="en-US">
                <a:solidFill>
                  <a:srgbClr val="C00000"/>
                </a:solidFill>
                <a:sym typeface="+mn-ea"/>
              </a:rPr>
              <a:t>复杂度设计</a:t>
            </a:r>
            <a:endParaRPr lang="zh-CN" altLang="en-US"/>
          </a:p>
        </p:txBody>
      </p:sp>
      <p:sp>
        <p:nvSpPr>
          <p:cNvPr id="3" name="内容占位符 2"/>
          <p:cNvSpPr>
            <a:spLocks noGrp="1"/>
          </p:cNvSpPr>
          <p:nvPr>
            <p:ph idx="1"/>
          </p:nvPr>
        </p:nvSpPr>
        <p:spPr/>
        <p:txBody>
          <a:bodyPr>
            <a:normAutofit lnSpcReduction="10000"/>
          </a:bodyPr>
          <a:p>
            <a:r>
              <a:rPr lang="zh-CN" altLang="en-US"/>
              <a:t>接口设计</a:t>
            </a:r>
            <a:endParaRPr lang="zh-CN" altLang="en-US"/>
          </a:p>
          <a:p>
            <a:pPr lvl="1"/>
            <a:r>
              <a:rPr lang="zh-CN" altLang="en-US"/>
              <a:t>定义简单、一致和易于使用的接口，避免过于复杂和冗余的接口。</a:t>
            </a:r>
            <a:endParaRPr lang="zh-CN" altLang="en-US"/>
          </a:p>
          <a:p>
            <a:pPr lvl="1"/>
            <a:r>
              <a:rPr lang="zh-CN" altLang="en-US"/>
              <a:t>良好的接口设计可以提高模块之间的交互效率和可靠性。</a:t>
            </a:r>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5.4 </a:t>
            </a:r>
            <a:r>
              <a:rPr lang="zh-CN" altLang="en-US">
                <a:solidFill>
                  <a:srgbClr val="C00000"/>
                </a:solidFill>
                <a:sym typeface="+mn-ea"/>
              </a:rPr>
              <a:t>降低</a:t>
            </a:r>
            <a:r>
              <a:rPr lang="zh-CN" altLang="en-US">
                <a:solidFill>
                  <a:srgbClr val="C00000"/>
                </a:solidFill>
                <a:sym typeface="+mn-ea"/>
              </a:rPr>
              <a:t>复杂度设计</a:t>
            </a:r>
            <a:endParaRPr lang="zh-CN" altLang="en-US"/>
          </a:p>
        </p:txBody>
      </p:sp>
      <p:sp>
        <p:nvSpPr>
          <p:cNvPr id="3" name="内容占位符 2"/>
          <p:cNvSpPr>
            <a:spLocks noGrp="1"/>
          </p:cNvSpPr>
          <p:nvPr>
            <p:ph idx="1"/>
          </p:nvPr>
        </p:nvSpPr>
        <p:spPr/>
        <p:txBody>
          <a:bodyPr>
            <a:normAutofit lnSpcReduction="10000"/>
          </a:bodyPr>
          <a:p>
            <a:r>
              <a:rPr lang="zh-CN" altLang="en-US"/>
              <a:t>抽象和封装</a:t>
            </a:r>
            <a:endParaRPr lang="zh-CN" altLang="en-US"/>
          </a:p>
          <a:p>
            <a:pPr lvl="1"/>
            <a:r>
              <a:rPr lang="zh-CN" altLang="en-US"/>
              <a:t>通过抽象和封装的方式隐藏实现的细节，提供高层次的接口和概念。</a:t>
            </a:r>
            <a:endParaRPr lang="zh-CN" altLang="en-US"/>
          </a:p>
          <a:p>
            <a:pPr lvl="1"/>
            <a:r>
              <a:rPr lang="zh-CN" altLang="en-US"/>
              <a:t>这样可以降低模块之间的依赖关系，减少复杂度。</a:t>
            </a:r>
            <a:endParaRPr lang="zh-CN" altLang="en-US"/>
          </a:p>
          <a:p>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5.4 </a:t>
            </a:r>
            <a:r>
              <a:rPr lang="zh-CN" altLang="en-US">
                <a:solidFill>
                  <a:srgbClr val="C00000"/>
                </a:solidFill>
                <a:sym typeface="+mn-ea"/>
              </a:rPr>
              <a:t>降低</a:t>
            </a:r>
            <a:r>
              <a:rPr lang="zh-CN" altLang="en-US">
                <a:solidFill>
                  <a:srgbClr val="C00000"/>
                </a:solidFill>
                <a:sym typeface="+mn-ea"/>
              </a:rPr>
              <a:t>复杂度设计</a:t>
            </a:r>
            <a:endParaRPr lang="zh-CN" altLang="en-US"/>
          </a:p>
        </p:txBody>
      </p:sp>
      <p:sp>
        <p:nvSpPr>
          <p:cNvPr id="3" name="内容占位符 2"/>
          <p:cNvSpPr>
            <a:spLocks noGrp="1"/>
          </p:cNvSpPr>
          <p:nvPr>
            <p:ph idx="1"/>
          </p:nvPr>
        </p:nvSpPr>
        <p:spPr/>
        <p:txBody>
          <a:bodyPr>
            <a:normAutofit lnSpcReduction="10000"/>
          </a:bodyPr>
          <a:p>
            <a:r>
              <a:rPr lang="zh-CN" altLang="en-US"/>
              <a:t>简化算法和逻辑</a:t>
            </a:r>
            <a:endParaRPr lang="zh-CN" altLang="en-US"/>
          </a:p>
          <a:p>
            <a:pPr lvl="1"/>
            <a:r>
              <a:rPr lang="zh-CN" altLang="en-US"/>
              <a:t>在设计和实现算法和逻辑时，尽量采用简单和直观的方式。</a:t>
            </a:r>
            <a:endParaRPr lang="zh-CN" altLang="en-US"/>
          </a:p>
          <a:p>
            <a:pPr lvl="1"/>
            <a:r>
              <a:rPr lang="zh-CN" altLang="en-US"/>
              <a:t>避免过度复杂的算法和逻辑结构，以降低错误的可能性，并提高代码的可读性。</a:t>
            </a:r>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5.4 </a:t>
            </a:r>
            <a:r>
              <a:rPr lang="zh-CN" altLang="en-US">
                <a:solidFill>
                  <a:srgbClr val="C00000"/>
                </a:solidFill>
                <a:sym typeface="+mn-ea"/>
              </a:rPr>
              <a:t>降低</a:t>
            </a:r>
            <a:r>
              <a:rPr lang="zh-CN" altLang="en-US">
                <a:solidFill>
                  <a:srgbClr val="C00000"/>
                </a:solidFill>
                <a:sym typeface="+mn-ea"/>
              </a:rPr>
              <a:t>复杂度设计</a:t>
            </a:r>
            <a:endParaRPr lang="zh-CN" altLang="en-US"/>
          </a:p>
        </p:txBody>
      </p:sp>
      <p:sp>
        <p:nvSpPr>
          <p:cNvPr id="3" name="内容占位符 2"/>
          <p:cNvSpPr>
            <a:spLocks noGrp="1"/>
          </p:cNvSpPr>
          <p:nvPr>
            <p:ph idx="1"/>
          </p:nvPr>
        </p:nvSpPr>
        <p:spPr/>
        <p:txBody>
          <a:bodyPr>
            <a:normAutofit lnSpcReduction="10000"/>
          </a:bodyPr>
          <a:p>
            <a:r>
              <a:rPr lang="zh-CN" altLang="en-US"/>
              <a:t>删除冗余代码</a:t>
            </a:r>
            <a:endParaRPr lang="zh-CN" altLang="en-US"/>
          </a:p>
          <a:p>
            <a:pPr lvl="1"/>
            <a:r>
              <a:rPr lang="zh-CN" altLang="en-US"/>
              <a:t>定期审查代码并删除冗余、重复或不必要的代码。</a:t>
            </a:r>
            <a:endParaRPr lang="zh-CN" altLang="en-US"/>
          </a:p>
          <a:p>
            <a:pPr lvl="1"/>
            <a:r>
              <a:rPr lang="zh-CN" altLang="en-US"/>
              <a:t>冗余代码会增加代码库的复杂度和维护成本，同时也增加错误的风险。</a:t>
            </a:r>
            <a:endParaRPr lang="zh-CN" altLang="en-US"/>
          </a:p>
          <a:p>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5.4 </a:t>
            </a:r>
            <a:r>
              <a:rPr lang="zh-CN" altLang="en-US">
                <a:solidFill>
                  <a:srgbClr val="C00000"/>
                </a:solidFill>
                <a:sym typeface="+mn-ea"/>
              </a:rPr>
              <a:t>降低</a:t>
            </a:r>
            <a:r>
              <a:rPr lang="zh-CN" altLang="en-US">
                <a:solidFill>
                  <a:srgbClr val="C00000"/>
                </a:solidFill>
                <a:sym typeface="+mn-ea"/>
              </a:rPr>
              <a:t>复杂度设计</a:t>
            </a:r>
            <a:endParaRPr lang="zh-CN" altLang="en-US"/>
          </a:p>
        </p:txBody>
      </p:sp>
      <p:sp>
        <p:nvSpPr>
          <p:cNvPr id="3" name="内容占位符 2"/>
          <p:cNvSpPr>
            <a:spLocks noGrp="1"/>
          </p:cNvSpPr>
          <p:nvPr>
            <p:ph idx="1"/>
          </p:nvPr>
        </p:nvSpPr>
        <p:spPr>
          <a:xfrm>
            <a:off x="838200" y="1538605"/>
            <a:ext cx="4671695" cy="4638675"/>
          </a:xfrm>
        </p:spPr>
        <p:txBody>
          <a:bodyPr>
            <a:normAutofit lnSpcReduction="10000"/>
          </a:bodyPr>
          <a:p>
            <a:r>
              <a:rPr lang="zh-CN" altLang="en-US"/>
              <a:t>使用设计模式和最佳实践</a:t>
            </a:r>
            <a:endParaRPr lang="zh-CN" altLang="en-US"/>
          </a:p>
          <a:p>
            <a:pPr lvl="1"/>
            <a:r>
              <a:rPr lang="zh-CN" altLang="en-US"/>
              <a:t>借助常用的设计模式和最佳实践，可以提供一套经过验证的解决方案，用于处理常见的设计问题。</a:t>
            </a:r>
            <a:endParaRPr lang="zh-CN" altLang="en-US"/>
          </a:p>
          <a:p>
            <a:pPr lvl="1"/>
            <a:r>
              <a:rPr lang="zh-CN" altLang="en-US"/>
              <a:t>这些模式和实践可以帮助降低复杂度，并提高系统的可维护性。</a:t>
            </a:r>
            <a:endParaRPr lang="zh-CN" altLang="en-US"/>
          </a:p>
        </p:txBody>
      </p:sp>
      <p:pic>
        <p:nvPicPr>
          <p:cNvPr id="5" name="图片 4"/>
          <p:cNvPicPr>
            <a:picLocks noChangeAspect="1"/>
          </p:cNvPicPr>
          <p:nvPr/>
        </p:nvPicPr>
        <p:blipFill>
          <a:blip r:embed="rId1"/>
          <a:stretch>
            <a:fillRect/>
          </a:stretch>
        </p:blipFill>
        <p:spPr>
          <a:xfrm>
            <a:off x="5509983" y="1700121"/>
            <a:ext cx="6485714" cy="3580952"/>
          </a:xfrm>
          <a:prstGeom prst="rect">
            <a:avLst/>
          </a:prstGeom>
        </p:spPr>
      </p:pic>
      <p:sp>
        <p:nvSpPr>
          <p:cNvPr id="4" name="文本框 3"/>
          <p:cNvSpPr txBox="1"/>
          <p:nvPr/>
        </p:nvSpPr>
        <p:spPr>
          <a:xfrm>
            <a:off x="7728585" y="5539105"/>
            <a:ext cx="3136900" cy="521970"/>
          </a:xfrm>
          <a:prstGeom prst="rect">
            <a:avLst/>
          </a:prstGeom>
          <a:noFill/>
        </p:spPr>
        <p:txBody>
          <a:bodyPr wrap="square" rtlCol="0" anchor="t">
            <a:spAutoFit/>
          </a:bodyPr>
          <a:p>
            <a:r>
              <a:rPr lang="zh-CN" sz="2800" b="1">
                <a:solidFill>
                  <a:srgbClr val="0070C0"/>
                </a:solidFill>
              </a:rPr>
              <a:t>访问者模式类图</a:t>
            </a:r>
            <a:endParaRPr lang="zh-CN" sz="2800" b="1">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5.5 </a:t>
            </a:r>
            <a:r>
              <a:rPr lang="zh-CN" altLang="en-US">
                <a:solidFill>
                  <a:srgbClr val="C00000"/>
                </a:solidFill>
                <a:sym typeface="+mn-ea"/>
              </a:rPr>
              <a:t>系统配置</a:t>
            </a:r>
            <a:r>
              <a:rPr lang="zh-CN" altLang="en-US">
                <a:solidFill>
                  <a:srgbClr val="C00000"/>
                </a:solidFill>
                <a:sym typeface="+mn-ea"/>
              </a:rPr>
              <a:t>技术</a:t>
            </a:r>
            <a:endParaRPr lang="zh-CN" altLang="en-US">
              <a:solidFill>
                <a:srgbClr val="C00000"/>
              </a:solidFill>
              <a:sym typeface="+mn-ea"/>
            </a:endParaRPr>
          </a:p>
        </p:txBody>
      </p:sp>
      <p:sp>
        <p:nvSpPr>
          <p:cNvPr id="3" name="内容占位符 2"/>
          <p:cNvSpPr>
            <a:spLocks noGrp="1"/>
          </p:cNvSpPr>
          <p:nvPr>
            <p:ph idx="1"/>
          </p:nvPr>
        </p:nvSpPr>
        <p:spPr/>
        <p:txBody>
          <a:bodyPr>
            <a:normAutofit/>
          </a:bodyPr>
          <a:p>
            <a:r>
              <a:rPr lang="zh-CN" altLang="en-US"/>
              <a:t>配置文件</a:t>
            </a:r>
            <a:endParaRPr lang="zh-CN" altLang="en-US"/>
          </a:p>
          <a:p>
            <a:pPr lvl="1"/>
            <a:r>
              <a:rPr lang="zh-CN" altLang="en-US"/>
              <a:t>使用配置文件来存储系统的设置和参数。</a:t>
            </a:r>
            <a:endParaRPr lang="zh-CN" altLang="en-US"/>
          </a:p>
          <a:p>
            <a:pPr lvl="1"/>
            <a:r>
              <a:rPr lang="zh-CN" altLang="en-US"/>
              <a:t>配置文件可以包含各种配置选项，如数据库连接信息、服务器端口、日志级别等。</a:t>
            </a:r>
            <a:endParaRPr lang="zh-CN" altLang="en-US"/>
          </a:p>
          <a:p>
            <a:pPr lvl="1"/>
            <a:r>
              <a:rPr lang="zh-CN" altLang="en-US"/>
              <a:t>通过修改配置文件，可以方便地更改系统的行为和配置。</a:t>
            </a:r>
            <a:endParaRPr lang="zh-CN" altLang="en-US"/>
          </a:p>
          <a:p>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5.5 </a:t>
            </a:r>
            <a:r>
              <a:rPr lang="zh-CN" altLang="en-US">
                <a:solidFill>
                  <a:srgbClr val="C00000"/>
                </a:solidFill>
                <a:sym typeface="+mn-ea"/>
              </a:rPr>
              <a:t>系统配置</a:t>
            </a:r>
            <a:r>
              <a:rPr lang="zh-CN" altLang="en-US">
                <a:solidFill>
                  <a:srgbClr val="C00000"/>
                </a:solidFill>
                <a:sym typeface="+mn-ea"/>
              </a:rPr>
              <a:t>技术</a:t>
            </a:r>
            <a:endParaRPr lang="zh-CN" altLang="en-US">
              <a:solidFill>
                <a:srgbClr val="C00000"/>
              </a:solidFill>
              <a:sym typeface="+mn-ea"/>
            </a:endParaRPr>
          </a:p>
        </p:txBody>
      </p:sp>
      <p:sp>
        <p:nvSpPr>
          <p:cNvPr id="3" name="内容占位符 2"/>
          <p:cNvSpPr>
            <a:spLocks noGrp="1"/>
          </p:cNvSpPr>
          <p:nvPr>
            <p:ph idx="1"/>
          </p:nvPr>
        </p:nvSpPr>
        <p:spPr/>
        <p:txBody>
          <a:bodyPr>
            <a:normAutofit/>
          </a:bodyPr>
          <a:p>
            <a:r>
              <a:rPr lang="zh-CN" altLang="en-US"/>
              <a:t>环境变量</a:t>
            </a:r>
            <a:endParaRPr lang="zh-CN" altLang="en-US"/>
          </a:p>
          <a:p>
            <a:pPr lvl="1"/>
            <a:r>
              <a:rPr lang="zh-CN" altLang="en-US"/>
              <a:t>使用环境变量来配置系统。环境变量是在操作系统中设置的全局变量，可以在系统的不同组件和程序中访问。</a:t>
            </a:r>
            <a:endParaRPr lang="zh-CN" altLang="en-US"/>
          </a:p>
          <a:p>
            <a:pPr lvl="1"/>
            <a:r>
              <a:rPr lang="zh-CN" altLang="en-US"/>
              <a:t>通过设置环境变量，可以在不修改代码的情况下更改系统的配置。</a:t>
            </a:r>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5.5 </a:t>
            </a:r>
            <a:r>
              <a:rPr lang="zh-CN" altLang="en-US">
                <a:solidFill>
                  <a:srgbClr val="C00000"/>
                </a:solidFill>
                <a:sym typeface="+mn-ea"/>
              </a:rPr>
              <a:t>系统配置</a:t>
            </a:r>
            <a:r>
              <a:rPr lang="zh-CN" altLang="en-US">
                <a:solidFill>
                  <a:srgbClr val="C00000"/>
                </a:solidFill>
                <a:sym typeface="+mn-ea"/>
              </a:rPr>
              <a:t>技术</a:t>
            </a:r>
            <a:endParaRPr lang="zh-CN" altLang="en-US">
              <a:solidFill>
                <a:srgbClr val="C00000"/>
              </a:solidFill>
              <a:sym typeface="+mn-ea"/>
            </a:endParaRPr>
          </a:p>
        </p:txBody>
      </p:sp>
      <p:sp>
        <p:nvSpPr>
          <p:cNvPr id="3" name="内容占位符 2"/>
          <p:cNvSpPr>
            <a:spLocks noGrp="1"/>
          </p:cNvSpPr>
          <p:nvPr>
            <p:ph idx="1"/>
          </p:nvPr>
        </p:nvSpPr>
        <p:spPr/>
        <p:txBody>
          <a:bodyPr>
            <a:normAutofit lnSpcReduction="10000"/>
          </a:bodyPr>
          <a:p>
            <a:r>
              <a:rPr lang="zh-CN" altLang="en-US"/>
              <a:t>命令行参数</a:t>
            </a:r>
            <a:endParaRPr lang="zh-CN" altLang="en-US"/>
          </a:p>
          <a:p>
            <a:pPr lvl="1"/>
            <a:r>
              <a:rPr lang="zh-CN" altLang="en-US"/>
              <a:t>使用命令行参数来配置系统。</a:t>
            </a:r>
            <a:endParaRPr lang="zh-CN" altLang="en-US"/>
          </a:p>
          <a:p>
            <a:pPr lvl="1"/>
            <a:r>
              <a:rPr lang="zh-CN" altLang="en-US"/>
              <a:t>在启动系统时，可以通过命令行参数传递配置选项，从而动态地配置系统的行为。</a:t>
            </a:r>
            <a:endParaRPr lang="zh-CN" altLang="en-US"/>
          </a:p>
          <a:p>
            <a:pPr lvl="1"/>
            <a:r>
              <a:rPr lang="zh-CN" altLang="en-US"/>
              <a:t>这对于需要频繁更改配置的情况非常有用。</a:t>
            </a:r>
            <a:endParaRPr lang="zh-CN" altLang="en-US"/>
          </a:p>
          <a:p>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5.5 </a:t>
            </a:r>
            <a:r>
              <a:rPr lang="zh-CN" altLang="en-US">
                <a:solidFill>
                  <a:srgbClr val="C00000"/>
                </a:solidFill>
                <a:sym typeface="+mn-ea"/>
              </a:rPr>
              <a:t>系统配置</a:t>
            </a:r>
            <a:r>
              <a:rPr lang="zh-CN" altLang="en-US">
                <a:solidFill>
                  <a:srgbClr val="C00000"/>
                </a:solidFill>
                <a:sym typeface="+mn-ea"/>
              </a:rPr>
              <a:t>技术</a:t>
            </a:r>
            <a:endParaRPr lang="zh-CN" altLang="en-US">
              <a:solidFill>
                <a:srgbClr val="C00000"/>
              </a:solidFill>
              <a:sym typeface="+mn-ea"/>
            </a:endParaRPr>
          </a:p>
        </p:txBody>
      </p:sp>
      <p:sp>
        <p:nvSpPr>
          <p:cNvPr id="3" name="内容占位符 2"/>
          <p:cNvSpPr>
            <a:spLocks noGrp="1"/>
          </p:cNvSpPr>
          <p:nvPr>
            <p:ph idx="1"/>
          </p:nvPr>
        </p:nvSpPr>
        <p:spPr/>
        <p:txBody>
          <a:bodyPr>
            <a:normAutofit lnSpcReduction="10000"/>
          </a:bodyPr>
          <a:p>
            <a:r>
              <a:rPr lang="zh-CN" altLang="en-US"/>
              <a:t>数据库配置</a:t>
            </a:r>
            <a:endParaRPr lang="zh-CN" altLang="en-US"/>
          </a:p>
          <a:p>
            <a:pPr lvl="1"/>
            <a:r>
              <a:rPr lang="zh-CN" altLang="en-US"/>
              <a:t>将系统配置存储在数据库中。</a:t>
            </a:r>
            <a:endParaRPr lang="zh-CN" altLang="en-US"/>
          </a:p>
          <a:p>
            <a:pPr lvl="1"/>
            <a:r>
              <a:rPr lang="zh-CN" altLang="en-US"/>
              <a:t>系统可以在启动时读取数据库中的配置信息，并根据配置来调整自身的行为。</a:t>
            </a:r>
            <a:endParaRPr lang="zh-CN" altLang="en-US"/>
          </a:p>
          <a:p>
            <a:pPr lvl="1"/>
            <a:r>
              <a:rPr lang="zh-CN" altLang="en-US"/>
              <a:t>这种方法使得配置更加灵活和可管理。</a:t>
            </a:r>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5.5 </a:t>
            </a:r>
            <a:r>
              <a:rPr lang="zh-CN" altLang="en-US">
                <a:solidFill>
                  <a:srgbClr val="C00000"/>
                </a:solidFill>
                <a:sym typeface="+mn-ea"/>
              </a:rPr>
              <a:t>系统配置</a:t>
            </a:r>
            <a:r>
              <a:rPr lang="zh-CN" altLang="en-US">
                <a:solidFill>
                  <a:srgbClr val="C00000"/>
                </a:solidFill>
                <a:sym typeface="+mn-ea"/>
              </a:rPr>
              <a:t>技术</a:t>
            </a:r>
            <a:endParaRPr lang="zh-CN" altLang="en-US">
              <a:solidFill>
                <a:srgbClr val="C00000"/>
              </a:solidFill>
              <a:sym typeface="+mn-ea"/>
            </a:endParaRPr>
          </a:p>
        </p:txBody>
      </p:sp>
      <p:sp>
        <p:nvSpPr>
          <p:cNvPr id="3" name="内容占位符 2"/>
          <p:cNvSpPr>
            <a:spLocks noGrp="1"/>
          </p:cNvSpPr>
          <p:nvPr>
            <p:ph idx="1"/>
          </p:nvPr>
        </p:nvSpPr>
        <p:spPr/>
        <p:txBody>
          <a:bodyPr>
            <a:normAutofit lnSpcReduction="20000"/>
          </a:bodyPr>
          <a:p>
            <a:r>
              <a:rPr lang="zh-CN" altLang="en-US"/>
              <a:t>配置管理工具</a:t>
            </a:r>
            <a:endParaRPr lang="zh-CN" altLang="en-US"/>
          </a:p>
          <a:p>
            <a:pPr lvl="1"/>
            <a:r>
              <a:rPr lang="zh-CN" altLang="en-US"/>
              <a:t>使用配置管理工具来自动化系统配置的管理和部署。</a:t>
            </a:r>
            <a:endParaRPr lang="zh-CN" altLang="en-US"/>
          </a:p>
          <a:p>
            <a:pPr lvl="1"/>
            <a:r>
              <a:rPr lang="zh-CN" altLang="en-US"/>
              <a:t>这些工具可以帮助集中管理配置文件、环境变量和命令行参数，并提供版本控制、自动化部署和回滚等功能。</a:t>
            </a:r>
            <a:endParaRPr lang="zh-CN" altLang="en-US"/>
          </a:p>
          <a:p>
            <a:pPr lvl="1"/>
            <a:r>
              <a:rPr lang="zh-CN" altLang="en-US"/>
              <a:t>常见的配置管理工具包括Ansible、Puppet和Chef等。</a:t>
            </a:r>
            <a:endParaRPr lang="zh-CN" altLang="en-US"/>
          </a:p>
          <a:p>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5.5 </a:t>
            </a:r>
            <a:r>
              <a:rPr lang="zh-CN" altLang="en-US">
                <a:solidFill>
                  <a:srgbClr val="C00000"/>
                </a:solidFill>
                <a:sym typeface="+mn-ea"/>
              </a:rPr>
              <a:t>系统配置</a:t>
            </a:r>
            <a:r>
              <a:rPr lang="zh-CN" altLang="en-US">
                <a:solidFill>
                  <a:srgbClr val="C00000"/>
                </a:solidFill>
                <a:sym typeface="+mn-ea"/>
              </a:rPr>
              <a:t>技术</a:t>
            </a:r>
            <a:endParaRPr lang="zh-CN" altLang="en-US">
              <a:solidFill>
                <a:srgbClr val="C00000"/>
              </a:solidFill>
              <a:sym typeface="+mn-ea"/>
            </a:endParaRPr>
          </a:p>
        </p:txBody>
      </p:sp>
      <p:sp>
        <p:nvSpPr>
          <p:cNvPr id="3" name="内容占位符 2"/>
          <p:cNvSpPr>
            <a:spLocks noGrp="1"/>
          </p:cNvSpPr>
          <p:nvPr>
            <p:ph idx="1"/>
          </p:nvPr>
        </p:nvSpPr>
        <p:spPr/>
        <p:txBody>
          <a:bodyPr>
            <a:normAutofit lnSpcReduction="20000"/>
          </a:bodyPr>
          <a:p>
            <a:r>
              <a:rPr lang="zh-CN" altLang="en-US"/>
              <a:t>容器化技术</a:t>
            </a:r>
            <a:endParaRPr lang="zh-CN" altLang="en-US"/>
          </a:p>
          <a:p>
            <a:pPr lvl="1"/>
            <a:r>
              <a:rPr lang="zh-CN" altLang="en-US"/>
              <a:t>使用容器化技术（如Docker、Kubernetes）来管理系统的配置和部署。</a:t>
            </a:r>
            <a:endParaRPr lang="zh-CN" altLang="en-US"/>
          </a:p>
          <a:p>
            <a:pPr lvl="1"/>
            <a:r>
              <a:rPr lang="zh-CN" altLang="en-US"/>
              <a:t>容器化可以将系统及其依赖项打包为一个可移植的镜像，包括配置设置。</a:t>
            </a:r>
            <a:endParaRPr lang="zh-CN" altLang="en-US"/>
          </a:p>
          <a:p>
            <a:pPr lvl="1"/>
            <a:r>
              <a:rPr lang="zh-CN" altLang="en-US"/>
              <a:t>通过容器编排工具，可以轻松管理和部署系统的配置。</a:t>
            </a:r>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5.5 </a:t>
            </a:r>
            <a:r>
              <a:rPr lang="zh-CN" altLang="en-US">
                <a:solidFill>
                  <a:srgbClr val="C00000"/>
                </a:solidFill>
                <a:sym typeface="+mn-ea"/>
              </a:rPr>
              <a:t>系统配置</a:t>
            </a:r>
            <a:r>
              <a:rPr lang="zh-CN" altLang="en-US">
                <a:solidFill>
                  <a:srgbClr val="C00000"/>
                </a:solidFill>
                <a:sym typeface="+mn-ea"/>
              </a:rPr>
              <a:t>技术</a:t>
            </a:r>
            <a:endParaRPr lang="zh-CN" altLang="en-US">
              <a:solidFill>
                <a:srgbClr val="C00000"/>
              </a:solidFill>
              <a:sym typeface="+mn-ea"/>
            </a:endParaRPr>
          </a:p>
        </p:txBody>
      </p:sp>
      <p:sp>
        <p:nvSpPr>
          <p:cNvPr id="3" name="内容占位符 2"/>
          <p:cNvSpPr>
            <a:spLocks noGrp="1"/>
          </p:cNvSpPr>
          <p:nvPr>
            <p:ph idx="1"/>
          </p:nvPr>
        </p:nvSpPr>
        <p:spPr/>
        <p:txBody>
          <a:bodyPr>
            <a:normAutofit lnSpcReduction="20000"/>
          </a:bodyPr>
          <a:p>
            <a:r>
              <a:rPr lang="zh-CN" altLang="en-US"/>
              <a:t>自动化脚本和工具</a:t>
            </a:r>
            <a:endParaRPr lang="zh-CN" altLang="en-US"/>
          </a:p>
          <a:p>
            <a:pPr lvl="1"/>
            <a:r>
              <a:rPr lang="zh-CN" altLang="en-US"/>
              <a:t>使用自动化脚本和工具来进行系统配置。这可以包括编写脚本来自动化配置文件的生成、环境变量的设置，或使用专门的配置管理工具来自动化配置过程。</a:t>
            </a:r>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5.6 </a:t>
            </a:r>
            <a:r>
              <a:rPr lang="zh-CN" altLang="en-US">
                <a:solidFill>
                  <a:srgbClr val="C00000"/>
                </a:solidFill>
                <a:sym typeface="+mn-ea"/>
              </a:rPr>
              <a:t>软件可靠性设计</a:t>
            </a:r>
            <a:r>
              <a:rPr lang="zh-CN" altLang="en-US">
                <a:solidFill>
                  <a:srgbClr val="C00000"/>
                </a:solidFill>
                <a:sym typeface="+mn-ea"/>
              </a:rPr>
              <a:t>准则</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a:t>制定流程</a:t>
            </a:r>
            <a:endParaRPr lang="zh-CN" altLang="en-US"/>
          </a:p>
          <a:p>
            <a:pPr marL="914400" lvl="1" indent="-457200">
              <a:buFont typeface="+mj-ea"/>
              <a:buAutoNum type="circleNumDbPlain"/>
            </a:pPr>
            <a:r>
              <a:rPr lang="zh-CN" altLang="en-US"/>
              <a:t>明确适用</a:t>
            </a:r>
            <a:r>
              <a:rPr lang="zh-CN" altLang="en-US"/>
              <a:t>范围</a:t>
            </a:r>
            <a:endParaRPr lang="zh-CN" altLang="en-US"/>
          </a:p>
          <a:p>
            <a:pPr marL="914400" lvl="1" indent="-457200">
              <a:buFont typeface="+mj-ea"/>
              <a:buAutoNum type="circleNumDbPlain"/>
            </a:pPr>
            <a:r>
              <a:rPr lang="zh-CN" altLang="en-US"/>
              <a:t>明确软件可靠性定性与定量</a:t>
            </a:r>
            <a:r>
              <a:rPr lang="zh-CN" altLang="en-US"/>
              <a:t>要求</a:t>
            </a:r>
            <a:endParaRPr lang="zh-CN" altLang="en-US"/>
          </a:p>
          <a:p>
            <a:pPr marL="914400" lvl="1" indent="-457200">
              <a:buFont typeface="+mj-ea"/>
              <a:buAutoNum type="circleNumDbPlain"/>
            </a:pPr>
            <a:r>
              <a:rPr lang="zh-CN" altLang="en-US"/>
              <a:t>参考国内外标准、同类产品</a:t>
            </a:r>
            <a:r>
              <a:rPr lang="en-US" altLang="zh-CN"/>
              <a:t>/</a:t>
            </a:r>
            <a:r>
              <a:rPr lang="zh-CN" altLang="en-US"/>
              <a:t>类似产品中的及通用的可靠性设计</a:t>
            </a:r>
            <a:r>
              <a:rPr lang="zh-CN" altLang="en-US"/>
              <a:t>准则</a:t>
            </a:r>
            <a:endParaRPr lang="zh-CN" altLang="en-US"/>
          </a:p>
          <a:p>
            <a:pPr marL="914400" lvl="1" indent="-457200">
              <a:buFont typeface="+mj-ea"/>
              <a:buAutoNum type="circleNumDbPlain"/>
            </a:pPr>
            <a:r>
              <a:rPr lang="zh-CN" altLang="en-US"/>
              <a:t>评审</a:t>
            </a:r>
            <a:endParaRPr lang="zh-CN" altLang="en-US"/>
          </a:p>
          <a:p>
            <a:pPr marL="914400" lvl="1" indent="-457200">
              <a:buFont typeface="+mj-ea"/>
              <a:buAutoNum type="circleNumDbPlain"/>
            </a:pPr>
            <a:r>
              <a:rPr lang="zh-CN" altLang="en-US"/>
              <a:t>不断积累</a:t>
            </a:r>
            <a:r>
              <a:rPr lang="zh-CN" altLang="en-US"/>
              <a:t>和完善</a:t>
            </a:r>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5.6 </a:t>
            </a:r>
            <a:r>
              <a:rPr lang="zh-CN" altLang="en-US">
                <a:solidFill>
                  <a:srgbClr val="C00000"/>
                </a:solidFill>
                <a:sym typeface="+mn-ea"/>
              </a:rPr>
              <a:t>软件可靠性设计准则</a:t>
            </a:r>
            <a:endParaRPr lang="zh-CN" altLang="en-US"/>
          </a:p>
        </p:txBody>
      </p:sp>
      <p:sp>
        <p:nvSpPr>
          <p:cNvPr id="3" name="内容占位符 2"/>
          <p:cNvSpPr>
            <a:spLocks noGrp="1"/>
          </p:cNvSpPr>
          <p:nvPr>
            <p:ph idx="1"/>
          </p:nvPr>
        </p:nvSpPr>
        <p:spPr/>
        <p:txBody>
          <a:bodyPr/>
          <a:p>
            <a:r>
              <a:rPr lang="zh-CN" altLang="en-US"/>
              <a:t>应用</a:t>
            </a:r>
            <a:endParaRPr lang="zh-CN" altLang="en-US"/>
          </a:p>
          <a:p>
            <a:pPr lvl="1"/>
            <a:r>
              <a:rPr lang="zh-CN" altLang="en-US"/>
              <a:t>正向应用：进行相应开发阶段的软件可靠性设计（</a:t>
            </a:r>
            <a:r>
              <a:rPr lang="zh-CN" altLang="en-US"/>
              <a:t>开发人员）</a:t>
            </a:r>
            <a:endParaRPr lang="zh-CN" altLang="en-US"/>
          </a:p>
          <a:p>
            <a:pPr lvl="1"/>
            <a:r>
              <a:rPr lang="zh-CN" altLang="en-US"/>
              <a:t>反向应用：进行相应审查工作，以发现可能存在的问题（</a:t>
            </a:r>
            <a:r>
              <a:rPr lang="zh-CN" altLang="en-US"/>
              <a:t>验证人员）</a:t>
            </a:r>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5.6 </a:t>
            </a:r>
            <a:r>
              <a:rPr lang="zh-CN" altLang="en-US">
                <a:solidFill>
                  <a:srgbClr val="C00000"/>
                </a:solidFill>
                <a:sym typeface="+mn-ea"/>
              </a:rPr>
              <a:t>软件可靠性设计准则</a:t>
            </a:r>
            <a:endParaRPr lang="zh-CN" altLang="en-US"/>
          </a:p>
        </p:txBody>
      </p:sp>
      <p:sp>
        <p:nvSpPr>
          <p:cNvPr id="3" name="内容占位符 2"/>
          <p:cNvSpPr>
            <a:spLocks noGrp="1"/>
          </p:cNvSpPr>
          <p:nvPr>
            <p:ph idx="1"/>
          </p:nvPr>
        </p:nvSpPr>
        <p:spPr/>
        <p:txBody>
          <a:bodyPr/>
          <a:p>
            <a:r>
              <a:rPr lang="zh-CN" altLang="en-US"/>
              <a:t>正向应用</a:t>
            </a:r>
            <a:endParaRPr lang="zh-CN" altLang="en-US"/>
          </a:p>
          <a:p>
            <a:pPr marL="914400" lvl="1" indent="-457200">
              <a:buFont typeface="+mj-ea"/>
              <a:buAutoNum type="circleNumDbPlain"/>
            </a:pPr>
            <a:r>
              <a:rPr lang="zh-CN" altLang="en-US"/>
              <a:t>下发执行</a:t>
            </a:r>
            <a:endParaRPr lang="zh-CN" altLang="en-US"/>
          </a:p>
          <a:p>
            <a:pPr marL="914400" lvl="1" indent="-457200">
              <a:buFont typeface="+mj-ea"/>
              <a:buAutoNum type="circleNumDbPlain"/>
            </a:pPr>
            <a:r>
              <a:rPr lang="zh-CN" altLang="en-US"/>
              <a:t>熟悉</a:t>
            </a:r>
            <a:r>
              <a:rPr lang="zh-CN" altLang="en-US"/>
              <a:t>内容</a:t>
            </a:r>
            <a:endParaRPr lang="zh-CN" altLang="en-US"/>
          </a:p>
          <a:p>
            <a:pPr marL="914400" lvl="1" indent="-457200">
              <a:buFont typeface="+mj-ea"/>
              <a:buAutoNum type="circleNumDbPlain"/>
            </a:pPr>
            <a:r>
              <a:rPr lang="zh-CN" altLang="en-US"/>
              <a:t>编制可靠性设计准则符合性</a:t>
            </a:r>
            <a:r>
              <a:rPr lang="zh-CN" altLang="en-US"/>
              <a:t>报告</a:t>
            </a:r>
            <a:endParaRPr lang="zh-CN" altLang="en-US"/>
          </a:p>
          <a:p>
            <a:pPr marL="914400" lvl="1" indent="-457200">
              <a:buFont typeface="+mj-ea"/>
              <a:buAutoNum type="circleNumDbPlain"/>
            </a:pPr>
            <a:r>
              <a:rPr lang="zh-CN" altLang="en-US"/>
              <a:t>质保部门进行定期的、必要的跟踪</a:t>
            </a:r>
            <a:r>
              <a:rPr lang="zh-CN" altLang="en-US"/>
              <a:t>和检查</a:t>
            </a:r>
            <a:endParaRPr lang="zh-CN" altLang="en-US"/>
          </a:p>
          <a:p>
            <a:pPr marL="914400" lvl="1" indent="-457200">
              <a:buFont typeface="+mj-ea"/>
              <a:buAutoNum type="circleNumDbPlain"/>
            </a:pPr>
            <a:r>
              <a:rPr lang="zh-CN" altLang="en-US"/>
              <a:t>组织专家进行</a:t>
            </a:r>
            <a:r>
              <a:rPr lang="en-US" altLang="zh-CN"/>
              <a:t>“</a:t>
            </a:r>
            <a:r>
              <a:rPr lang="zh-CN" altLang="en-US"/>
              <a:t>符合性</a:t>
            </a:r>
            <a:r>
              <a:rPr lang="en-US" altLang="zh-CN"/>
              <a:t>”</a:t>
            </a:r>
            <a:r>
              <a:rPr lang="zh-CN" altLang="en-US"/>
              <a:t>检查</a:t>
            </a:r>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5.6 </a:t>
            </a:r>
            <a:r>
              <a:rPr lang="zh-CN" altLang="en-US">
                <a:solidFill>
                  <a:srgbClr val="C00000"/>
                </a:solidFill>
                <a:sym typeface="+mn-ea"/>
              </a:rPr>
              <a:t>软件可靠性设计准则</a:t>
            </a:r>
            <a:endParaRPr lang="zh-CN" altLang="en-US"/>
          </a:p>
        </p:txBody>
      </p:sp>
      <p:sp>
        <p:nvSpPr>
          <p:cNvPr id="3" name="内容占位符 2"/>
          <p:cNvSpPr>
            <a:spLocks noGrp="1"/>
          </p:cNvSpPr>
          <p:nvPr>
            <p:ph idx="1"/>
          </p:nvPr>
        </p:nvSpPr>
        <p:spPr>
          <a:xfrm>
            <a:off x="838200" y="1266190"/>
            <a:ext cx="10515600" cy="746760"/>
          </a:xfrm>
        </p:spPr>
        <p:txBody>
          <a:bodyPr/>
          <a:p>
            <a:r>
              <a:rPr lang="zh-CN" altLang="en-US"/>
              <a:t>正向应用</a:t>
            </a:r>
            <a:r>
              <a:rPr lang="en-US" altLang="zh-CN"/>
              <a:t> - </a:t>
            </a:r>
            <a:r>
              <a:rPr lang="zh-CN" altLang="en-US"/>
              <a:t>准则</a:t>
            </a:r>
            <a:r>
              <a:rPr lang="zh-CN" altLang="en-US"/>
              <a:t>内容格式</a:t>
            </a:r>
            <a:endParaRPr lang="zh-CN" altLang="en-US"/>
          </a:p>
        </p:txBody>
      </p:sp>
      <p:graphicFrame>
        <p:nvGraphicFramePr>
          <p:cNvPr id="4" name="表格 3"/>
          <p:cNvGraphicFramePr/>
          <p:nvPr>
            <p:custDataLst>
              <p:tags r:id="rId1"/>
            </p:custDataLst>
          </p:nvPr>
        </p:nvGraphicFramePr>
        <p:xfrm>
          <a:off x="1262380" y="2171065"/>
          <a:ext cx="9717405" cy="4253230"/>
        </p:xfrm>
        <a:graphic>
          <a:graphicData uri="http://schemas.openxmlformats.org/drawingml/2006/table">
            <a:tbl>
              <a:tblPr firstRow="1" bandRow="1">
                <a:tableStyleId>{5C22544A-7EE6-4342-B048-85BDC9FD1C3A}</a:tableStyleId>
              </a:tblPr>
              <a:tblGrid>
                <a:gridCol w="1671955"/>
                <a:gridCol w="1204595"/>
                <a:gridCol w="6840855"/>
              </a:tblGrid>
              <a:tr h="457200">
                <a:tc>
                  <a:txBody>
                    <a:bodyPr/>
                    <a:p>
                      <a:pPr>
                        <a:buNone/>
                      </a:pPr>
                      <a:r>
                        <a:rPr lang="zh-CN" altLang="en-US" sz="2400"/>
                        <a:t>开发阶段</a:t>
                      </a:r>
                      <a:endParaRPr lang="zh-CN" altLang="en-US" sz="2400"/>
                    </a:p>
                  </a:txBody>
                  <a:tcPr anchor="ctr" anchorCtr="1"/>
                </a:tc>
                <a:tc>
                  <a:txBody>
                    <a:bodyPr/>
                    <a:p>
                      <a:pPr>
                        <a:buNone/>
                      </a:pPr>
                      <a:r>
                        <a:rPr lang="zh-CN" altLang="en-US" sz="2400"/>
                        <a:t>序号</a:t>
                      </a:r>
                      <a:endParaRPr lang="zh-CN" altLang="en-US" sz="2400"/>
                    </a:p>
                  </a:txBody>
                  <a:tcPr anchor="ctr" anchorCtr="1"/>
                </a:tc>
                <a:tc>
                  <a:txBody>
                    <a:bodyPr/>
                    <a:p>
                      <a:pPr>
                        <a:buNone/>
                      </a:pPr>
                      <a:r>
                        <a:rPr lang="zh-CN" altLang="en-US" sz="2400"/>
                        <a:t>设计准则条款</a:t>
                      </a:r>
                      <a:endParaRPr lang="zh-CN" altLang="en-US" sz="2400"/>
                    </a:p>
                  </a:txBody>
                  <a:tcPr anchor="ctr" anchorCtr="1"/>
                </a:tc>
              </a:tr>
              <a:tr h="1235710">
                <a:tc rowSpan="2">
                  <a:txBody>
                    <a:bodyPr/>
                    <a:p>
                      <a:pPr>
                        <a:buNone/>
                      </a:pPr>
                      <a:r>
                        <a:rPr lang="zh-CN" altLang="en-US" sz="2400"/>
                        <a:t>软件需求</a:t>
                      </a:r>
                      <a:endParaRPr lang="zh-CN" altLang="en-US" sz="2400"/>
                    </a:p>
                    <a:p>
                      <a:pPr>
                        <a:buNone/>
                      </a:pPr>
                      <a:r>
                        <a:rPr lang="zh-CN" altLang="en-US" sz="2400"/>
                        <a:t>分析阶段</a:t>
                      </a:r>
                      <a:endParaRPr lang="zh-CN" altLang="en-US" sz="2400"/>
                    </a:p>
                  </a:txBody>
                  <a:tcPr anchor="ctr" anchorCtr="1"/>
                </a:tc>
                <a:tc>
                  <a:txBody>
                    <a:bodyPr/>
                    <a:p>
                      <a:pPr>
                        <a:buNone/>
                      </a:pPr>
                      <a:r>
                        <a:rPr lang="en-US" altLang="zh-CN" sz="2400"/>
                        <a:t>1.1</a:t>
                      </a:r>
                      <a:endParaRPr lang="en-US" altLang="zh-CN" sz="2400"/>
                    </a:p>
                  </a:txBody>
                  <a:tcPr anchor="ctr" anchorCtr="1"/>
                </a:tc>
                <a:tc>
                  <a:txBody>
                    <a:bodyPr/>
                    <a:p>
                      <a:pPr>
                        <a:buNone/>
                      </a:pPr>
                      <a:r>
                        <a:rPr lang="zh-CN" altLang="en-US" sz="2400"/>
                        <a:t>在进行软件的功能描述时不仅要描述系统应当做什么的功能性说明，而且还必须明确指出系统不应当做什么的附加说明</a:t>
                      </a:r>
                      <a:endParaRPr lang="zh-CN" altLang="en-US" sz="2400"/>
                    </a:p>
                  </a:txBody>
                  <a:tcPr/>
                </a:tc>
              </a:tr>
              <a:tr h="457200">
                <a:tc vMerge="1">
                  <a:tcPr/>
                </a:tc>
                <a:tc>
                  <a:txBody>
                    <a:bodyPr/>
                    <a:p>
                      <a:pPr>
                        <a:buNone/>
                      </a:pPr>
                      <a:r>
                        <a:rPr lang="en-US" altLang="zh-CN" sz="2400"/>
                        <a:t>...</a:t>
                      </a:r>
                      <a:endParaRPr lang="en-US" altLang="zh-CN" sz="2400"/>
                    </a:p>
                  </a:txBody>
                  <a:tcPr anchor="ctr" anchorCtr="1"/>
                </a:tc>
                <a:tc>
                  <a:txBody>
                    <a:bodyPr/>
                    <a:p>
                      <a:pPr>
                        <a:buNone/>
                      </a:pPr>
                      <a:r>
                        <a:rPr lang="en-US" altLang="zh-CN" sz="2400"/>
                        <a:t>...</a:t>
                      </a:r>
                      <a:endParaRPr lang="en-US" altLang="zh-CN" sz="2400"/>
                    </a:p>
                  </a:txBody>
                  <a:tcPr/>
                </a:tc>
              </a:tr>
              <a:tr h="1188720">
                <a:tc rowSpan="2">
                  <a:txBody>
                    <a:bodyPr/>
                    <a:p>
                      <a:pPr>
                        <a:buNone/>
                      </a:pPr>
                      <a:r>
                        <a:rPr lang="zh-CN" altLang="en-US" sz="2400"/>
                        <a:t>软件设</a:t>
                      </a:r>
                      <a:endParaRPr lang="zh-CN" altLang="en-US" sz="2400"/>
                    </a:p>
                    <a:p>
                      <a:pPr>
                        <a:buNone/>
                      </a:pPr>
                      <a:r>
                        <a:rPr lang="zh-CN" altLang="en-US" sz="2400"/>
                        <a:t>计阶段</a:t>
                      </a:r>
                      <a:endParaRPr lang="zh-CN" altLang="en-US" sz="2400"/>
                    </a:p>
                  </a:txBody>
                  <a:tcPr anchor="ctr" anchorCtr="1"/>
                </a:tc>
                <a:tc>
                  <a:txBody>
                    <a:bodyPr/>
                    <a:p>
                      <a:pPr>
                        <a:buNone/>
                      </a:pPr>
                      <a:r>
                        <a:rPr lang="en-US" altLang="zh-CN" sz="2400"/>
                        <a:t>2.1</a:t>
                      </a:r>
                      <a:endParaRPr lang="en-US" altLang="zh-CN" sz="2400"/>
                    </a:p>
                  </a:txBody>
                  <a:tcPr anchor="ctr" anchorCtr="1"/>
                </a:tc>
                <a:tc>
                  <a:txBody>
                    <a:bodyPr/>
                    <a:p>
                      <a:pPr>
                        <a:buNone/>
                      </a:pPr>
                      <a:r>
                        <a:rPr lang="zh-CN" altLang="en-US" sz="2400"/>
                        <a:t>在设计软件的关键信息（即系统正常状态、异常状态）时，不要使用一位的逻辑</a:t>
                      </a:r>
                      <a:r>
                        <a:rPr lang="en-US" altLang="zh-CN" sz="2400"/>
                        <a:t>“0”</a:t>
                      </a:r>
                      <a:r>
                        <a:rPr lang="zh-CN" altLang="en-US" sz="2400"/>
                        <a:t>和</a:t>
                      </a:r>
                      <a:r>
                        <a:rPr lang="en-US" altLang="zh-CN" sz="2400"/>
                        <a:t>“1”</a:t>
                      </a:r>
                      <a:r>
                        <a:rPr lang="zh-CN" altLang="en-US" sz="2400"/>
                        <a:t>来表示关键信息</a:t>
                      </a:r>
                      <a:endParaRPr lang="zh-CN" altLang="en-US" sz="2400"/>
                    </a:p>
                  </a:txBody>
                  <a:tcPr/>
                </a:tc>
              </a:tr>
              <a:tr h="457200">
                <a:tc vMerge="1">
                  <a:tcPr/>
                </a:tc>
                <a:tc>
                  <a:txBody>
                    <a:bodyPr/>
                    <a:p>
                      <a:pPr>
                        <a:buNone/>
                      </a:pPr>
                      <a:r>
                        <a:rPr lang="en-US" altLang="zh-CN" sz="2400"/>
                        <a:t>...</a:t>
                      </a:r>
                      <a:endParaRPr lang="en-US" altLang="zh-CN" sz="2400"/>
                    </a:p>
                  </a:txBody>
                  <a:tcPr anchor="ctr" anchorCtr="1"/>
                </a:tc>
                <a:tc>
                  <a:txBody>
                    <a:bodyPr/>
                    <a:p>
                      <a:pPr>
                        <a:buNone/>
                      </a:pPr>
                      <a:r>
                        <a:rPr lang="en-US" altLang="zh-CN" sz="2400"/>
                        <a:t>...</a:t>
                      </a:r>
                      <a:endParaRPr lang="en-US" altLang="zh-CN" sz="2400"/>
                    </a:p>
                  </a:txBody>
                  <a:tcPr/>
                </a:tc>
              </a:tr>
              <a:tr h="457200">
                <a:tc>
                  <a:txBody>
                    <a:bodyPr/>
                    <a:p>
                      <a:pPr>
                        <a:buNone/>
                      </a:pPr>
                      <a:r>
                        <a:rPr lang="en-US" altLang="zh-CN" sz="2400"/>
                        <a:t>...</a:t>
                      </a:r>
                      <a:endParaRPr lang="en-US" altLang="zh-CN" sz="2400"/>
                    </a:p>
                  </a:txBody>
                  <a:tcPr anchor="ctr" anchorCtr="1"/>
                </a:tc>
                <a:tc>
                  <a:txBody>
                    <a:bodyPr/>
                    <a:p>
                      <a:pPr>
                        <a:buNone/>
                      </a:pPr>
                      <a:r>
                        <a:rPr lang="en-US" altLang="zh-CN" sz="2400"/>
                        <a:t>...</a:t>
                      </a:r>
                      <a:endParaRPr lang="en-US" altLang="zh-CN" sz="2400"/>
                    </a:p>
                  </a:txBody>
                  <a:tcPr anchor="ctr" anchorCtr="1"/>
                </a:tc>
                <a:tc>
                  <a:txBody>
                    <a:bodyPr/>
                    <a:p>
                      <a:pPr>
                        <a:buNone/>
                      </a:pPr>
                      <a:r>
                        <a:rPr lang="en-US" altLang="zh-CN" sz="2400"/>
                        <a:t>...</a:t>
                      </a:r>
                      <a:endParaRPr lang="en-US" altLang="zh-CN" sz="2400"/>
                    </a:p>
                  </a:txBody>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5.6 </a:t>
            </a:r>
            <a:r>
              <a:rPr lang="zh-CN" altLang="en-US">
                <a:solidFill>
                  <a:srgbClr val="C00000"/>
                </a:solidFill>
                <a:sym typeface="+mn-ea"/>
              </a:rPr>
              <a:t>软件可靠性设计准则</a:t>
            </a:r>
            <a:endParaRPr lang="zh-CN" altLang="en-US"/>
          </a:p>
        </p:txBody>
      </p:sp>
      <p:sp>
        <p:nvSpPr>
          <p:cNvPr id="3" name="内容占位符 2"/>
          <p:cNvSpPr>
            <a:spLocks noGrp="1"/>
          </p:cNvSpPr>
          <p:nvPr>
            <p:ph idx="1"/>
          </p:nvPr>
        </p:nvSpPr>
        <p:spPr>
          <a:xfrm>
            <a:off x="838200" y="1274445"/>
            <a:ext cx="10515600" cy="746760"/>
          </a:xfrm>
        </p:spPr>
        <p:txBody>
          <a:bodyPr/>
          <a:p>
            <a:r>
              <a:rPr lang="zh-CN" altLang="en-US"/>
              <a:t>正向应用</a:t>
            </a:r>
            <a:r>
              <a:rPr lang="en-US" altLang="zh-CN"/>
              <a:t> - </a:t>
            </a:r>
            <a:r>
              <a:rPr lang="zh-CN" altLang="en-US"/>
              <a:t>符合性</a:t>
            </a:r>
            <a:r>
              <a:rPr lang="zh-CN" altLang="en-US"/>
              <a:t>报告内容格式</a:t>
            </a:r>
            <a:endParaRPr lang="zh-CN" altLang="en-US"/>
          </a:p>
        </p:txBody>
      </p:sp>
      <p:graphicFrame>
        <p:nvGraphicFramePr>
          <p:cNvPr id="4" name="表格 3"/>
          <p:cNvGraphicFramePr/>
          <p:nvPr>
            <p:custDataLst>
              <p:tags r:id="rId1"/>
            </p:custDataLst>
          </p:nvPr>
        </p:nvGraphicFramePr>
        <p:xfrm>
          <a:off x="404495" y="1959610"/>
          <a:ext cx="11354435" cy="4653280"/>
        </p:xfrm>
        <a:graphic>
          <a:graphicData uri="http://schemas.openxmlformats.org/drawingml/2006/table">
            <a:tbl>
              <a:tblPr firstRow="1" bandRow="1">
                <a:tableStyleId>{5C22544A-7EE6-4342-B048-85BDC9FD1C3A}</a:tableStyleId>
              </a:tblPr>
              <a:tblGrid>
                <a:gridCol w="1473835"/>
                <a:gridCol w="826135"/>
                <a:gridCol w="5062220"/>
                <a:gridCol w="3992245"/>
              </a:tblGrid>
              <a:tr h="824230">
                <a:tc>
                  <a:txBody>
                    <a:bodyPr/>
                    <a:p>
                      <a:pPr>
                        <a:buNone/>
                      </a:pPr>
                      <a:r>
                        <a:rPr lang="zh-CN" altLang="en-US" sz="2400"/>
                        <a:t>开发阶段</a:t>
                      </a:r>
                      <a:endParaRPr lang="zh-CN" altLang="en-US" sz="2400"/>
                    </a:p>
                  </a:txBody>
                  <a:tcPr anchor="ctr" anchorCtr="1"/>
                </a:tc>
                <a:tc>
                  <a:txBody>
                    <a:bodyPr/>
                    <a:p>
                      <a:pPr>
                        <a:buNone/>
                      </a:pPr>
                      <a:r>
                        <a:rPr lang="zh-CN" altLang="en-US" sz="2400"/>
                        <a:t>序号</a:t>
                      </a:r>
                      <a:endParaRPr lang="zh-CN" altLang="en-US" sz="2400"/>
                    </a:p>
                  </a:txBody>
                  <a:tcPr anchor="ctr" anchorCtr="1"/>
                </a:tc>
                <a:tc>
                  <a:txBody>
                    <a:bodyPr/>
                    <a:p>
                      <a:pPr>
                        <a:buNone/>
                      </a:pPr>
                      <a:r>
                        <a:rPr lang="zh-CN" altLang="en-US" sz="2400"/>
                        <a:t>设计准则条款</a:t>
                      </a:r>
                      <a:endParaRPr lang="zh-CN" altLang="en-US" sz="2400"/>
                    </a:p>
                  </a:txBody>
                  <a:tcPr anchor="ctr" anchorCtr="1"/>
                </a:tc>
                <a:tc>
                  <a:txBody>
                    <a:bodyPr/>
                    <a:p>
                      <a:pPr>
                        <a:buNone/>
                      </a:pPr>
                      <a:r>
                        <a:rPr lang="zh-CN" altLang="en-US" sz="2400"/>
                        <a:t>设计措施</a:t>
                      </a:r>
                      <a:endParaRPr lang="zh-CN" altLang="en-US" sz="2400"/>
                    </a:p>
                  </a:txBody>
                  <a:tcPr anchor="ctr" anchorCtr="1"/>
                </a:tc>
              </a:tr>
              <a:tr h="1108075">
                <a:tc rowSpan="2">
                  <a:txBody>
                    <a:bodyPr/>
                    <a:p>
                      <a:pPr>
                        <a:buNone/>
                      </a:pPr>
                      <a:r>
                        <a:rPr lang="zh-CN" altLang="en-US" sz="2400"/>
                        <a:t>软件</a:t>
                      </a:r>
                      <a:endParaRPr lang="zh-CN" altLang="en-US" sz="2400"/>
                    </a:p>
                    <a:p>
                      <a:pPr>
                        <a:buNone/>
                      </a:pPr>
                      <a:r>
                        <a:rPr lang="zh-CN" altLang="en-US" sz="2400"/>
                        <a:t>需求</a:t>
                      </a:r>
                      <a:endParaRPr lang="zh-CN" altLang="en-US" sz="2400"/>
                    </a:p>
                    <a:p>
                      <a:pPr>
                        <a:buNone/>
                      </a:pPr>
                      <a:r>
                        <a:rPr lang="zh-CN" altLang="en-US" sz="2400"/>
                        <a:t>分析</a:t>
                      </a:r>
                      <a:endParaRPr lang="zh-CN" altLang="en-US" sz="2400"/>
                    </a:p>
                    <a:p>
                      <a:pPr>
                        <a:buNone/>
                      </a:pPr>
                      <a:r>
                        <a:rPr lang="zh-CN" altLang="en-US" sz="2400"/>
                        <a:t>阶段</a:t>
                      </a:r>
                      <a:endParaRPr lang="zh-CN" altLang="en-US" sz="2400"/>
                    </a:p>
                  </a:txBody>
                  <a:tcPr anchor="ctr" anchorCtr="1"/>
                </a:tc>
                <a:tc>
                  <a:txBody>
                    <a:bodyPr/>
                    <a:p>
                      <a:pPr>
                        <a:buNone/>
                      </a:pPr>
                      <a:r>
                        <a:rPr lang="en-US" altLang="zh-CN" sz="2400"/>
                        <a:t>1.1</a:t>
                      </a:r>
                      <a:endParaRPr lang="en-US" altLang="zh-CN" sz="2400"/>
                    </a:p>
                  </a:txBody>
                  <a:tcPr anchor="ctr" anchorCtr="1"/>
                </a:tc>
                <a:tc>
                  <a:txBody>
                    <a:bodyPr/>
                    <a:p>
                      <a:pPr>
                        <a:buNone/>
                      </a:pPr>
                      <a:r>
                        <a:rPr lang="zh-CN" altLang="en-US" sz="2000"/>
                        <a:t>在进行软件的功能描述时不仅要描述系统应当做什么的功能性说明，而且还必须明确指出系统不应当做什么的附加说明</a:t>
                      </a:r>
                      <a:endParaRPr lang="zh-CN" altLang="en-US" sz="2000"/>
                    </a:p>
                  </a:txBody>
                  <a:tcPr/>
                </a:tc>
                <a:tc>
                  <a:txBody>
                    <a:bodyPr/>
                    <a:p>
                      <a:pPr>
                        <a:buNone/>
                      </a:pPr>
                      <a:r>
                        <a:rPr lang="zh-CN" altLang="en-US" sz="2000"/>
                        <a:t>加入对不正确的飞行控制方式的异常处理</a:t>
                      </a:r>
                      <a:endParaRPr lang="zh-CN" altLang="en-US" sz="2000"/>
                    </a:p>
                  </a:txBody>
                  <a:tcPr/>
                </a:tc>
              </a:tr>
              <a:tr h="457835">
                <a:tc vMerge="1">
                  <a:tcPr/>
                </a:tc>
                <a:tc>
                  <a:txBody>
                    <a:bodyPr/>
                    <a:p>
                      <a:pPr>
                        <a:buNone/>
                      </a:pPr>
                      <a:r>
                        <a:rPr lang="en-US" altLang="zh-CN" sz="2400"/>
                        <a:t>...</a:t>
                      </a:r>
                      <a:endParaRPr lang="en-US" altLang="zh-CN" sz="2400"/>
                    </a:p>
                  </a:txBody>
                  <a:tcPr anchor="ctr" anchorCtr="1"/>
                </a:tc>
                <a:tc>
                  <a:txBody>
                    <a:bodyPr/>
                    <a:p>
                      <a:pPr>
                        <a:buNone/>
                      </a:pPr>
                      <a:r>
                        <a:rPr lang="en-US" altLang="zh-CN" sz="2000"/>
                        <a:t>...</a:t>
                      </a:r>
                      <a:endParaRPr lang="en-US" altLang="zh-CN" sz="2000"/>
                    </a:p>
                  </a:txBody>
                  <a:tcPr/>
                </a:tc>
                <a:tc>
                  <a:txBody>
                    <a:bodyPr/>
                    <a:p>
                      <a:pPr>
                        <a:buNone/>
                      </a:pPr>
                      <a:endParaRPr lang="en-US" altLang="zh-CN" sz="2000"/>
                    </a:p>
                  </a:txBody>
                  <a:tcPr/>
                </a:tc>
              </a:tr>
              <a:tr h="1347470">
                <a:tc rowSpan="2">
                  <a:txBody>
                    <a:bodyPr/>
                    <a:p>
                      <a:pPr>
                        <a:buNone/>
                      </a:pPr>
                      <a:r>
                        <a:rPr lang="zh-CN" altLang="en-US" sz="2400"/>
                        <a:t>软件</a:t>
                      </a:r>
                      <a:endParaRPr lang="zh-CN" altLang="en-US" sz="2400"/>
                    </a:p>
                    <a:p>
                      <a:pPr>
                        <a:buNone/>
                      </a:pPr>
                      <a:r>
                        <a:rPr lang="zh-CN" altLang="en-US" sz="2400"/>
                        <a:t>设计</a:t>
                      </a:r>
                      <a:endParaRPr lang="zh-CN" altLang="en-US" sz="2400"/>
                    </a:p>
                    <a:p>
                      <a:pPr>
                        <a:buNone/>
                      </a:pPr>
                      <a:r>
                        <a:rPr lang="zh-CN" altLang="en-US" sz="2400"/>
                        <a:t>阶段</a:t>
                      </a:r>
                      <a:endParaRPr lang="zh-CN" altLang="en-US" sz="2400"/>
                    </a:p>
                  </a:txBody>
                  <a:tcPr anchor="ctr" anchorCtr="1"/>
                </a:tc>
                <a:tc>
                  <a:txBody>
                    <a:bodyPr/>
                    <a:p>
                      <a:pPr>
                        <a:buNone/>
                      </a:pPr>
                      <a:r>
                        <a:rPr lang="en-US" altLang="zh-CN" sz="2400"/>
                        <a:t>2.1</a:t>
                      </a:r>
                      <a:endParaRPr lang="en-US" altLang="zh-CN" sz="2400"/>
                    </a:p>
                  </a:txBody>
                  <a:tcPr anchor="ctr" anchorCtr="1"/>
                </a:tc>
                <a:tc>
                  <a:txBody>
                    <a:bodyPr/>
                    <a:p>
                      <a:pPr>
                        <a:buNone/>
                      </a:pPr>
                      <a:r>
                        <a:rPr lang="zh-CN" altLang="en-US" sz="2000"/>
                        <a:t>在设计软件的关键信息（即系统正常状态、异常状态）时，不要使用一位的逻辑</a:t>
                      </a:r>
                      <a:r>
                        <a:rPr lang="en-US" altLang="zh-CN" sz="2000"/>
                        <a:t>“0”</a:t>
                      </a:r>
                      <a:r>
                        <a:rPr lang="zh-CN" altLang="en-US" sz="2000"/>
                        <a:t>和</a:t>
                      </a:r>
                      <a:r>
                        <a:rPr lang="en-US" altLang="zh-CN" sz="2000"/>
                        <a:t>“1”</a:t>
                      </a:r>
                      <a:r>
                        <a:rPr lang="zh-CN" altLang="en-US" sz="2000"/>
                        <a:t>来表示关键信息</a:t>
                      </a:r>
                      <a:endParaRPr lang="zh-CN" altLang="en-US" sz="2000"/>
                    </a:p>
                  </a:txBody>
                  <a:tcPr/>
                </a:tc>
                <a:tc>
                  <a:txBody>
                    <a:bodyPr/>
                    <a:p>
                      <a:pPr>
                        <a:buNone/>
                      </a:pPr>
                      <a:r>
                        <a:rPr lang="zh-CN" altLang="en-US" sz="2000"/>
                        <a:t>采用</a:t>
                      </a:r>
                      <a:r>
                        <a:rPr lang="en-US" altLang="zh-CN" sz="2000"/>
                        <a:t>4</a:t>
                      </a:r>
                      <a:r>
                        <a:rPr lang="zh-CN" altLang="en-US" sz="2000"/>
                        <a:t>位模式</a:t>
                      </a:r>
                      <a:r>
                        <a:rPr lang="en-US" altLang="zh-CN" sz="2000"/>
                        <a:t>“0110”</a:t>
                      </a:r>
                      <a:r>
                        <a:rPr lang="zh-CN" altLang="en-US" sz="2000"/>
                        <a:t>来表示系统的正常状态，用</a:t>
                      </a:r>
                      <a:r>
                        <a:rPr lang="en-US" altLang="zh-CN" sz="2000"/>
                        <a:t>“1001”</a:t>
                      </a:r>
                      <a:r>
                        <a:rPr lang="zh-CN" altLang="en-US" sz="2000"/>
                        <a:t>来表示系统的异常状态，用</a:t>
                      </a:r>
                      <a:r>
                        <a:rPr lang="en-US" altLang="zh-CN" sz="2000"/>
                        <a:t>“0000”</a:t>
                      </a:r>
                      <a:r>
                        <a:rPr lang="zh-CN" altLang="en-US" sz="2000"/>
                        <a:t>、</a:t>
                      </a:r>
                      <a:r>
                        <a:rPr lang="en-US" altLang="zh-CN" sz="2000"/>
                        <a:t>“1111”</a:t>
                      </a:r>
                      <a:r>
                        <a:rPr lang="zh-CN" altLang="en-US" sz="2000"/>
                        <a:t>等其它模式来表示系统出错等</a:t>
                      </a:r>
                      <a:endParaRPr lang="zh-CN" altLang="en-US" sz="2000"/>
                    </a:p>
                  </a:txBody>
                  <a:tcPr/>
                </a:tc>
              </a:tr>
              <a:tr h="457835">
                <a:tc vMerge="1">
                  <a:tcPr/>
                </a:tc>
                <a:tc>
                  <a:txBody>
                    <a:bodyPr/>
                    <a:p>
                      <a:pPr>
                        <a:buNone/>
                      </a:pPr>
                      <a:r>
                        <a:rPr lang="en-US" altLang="zh-CN" sz="2400"/>
                        <a:t>...</a:t>
                      </a:r>
                      <a:endParaRPr lang="en-US" altLang="zh-CN" sz="2400"/>
                    </a:p>
                  </a:txBody>
                  <a:tcPr anchor="ctr" anchorCtr="1"/>
                </a:tc>
                <a:tc>
                  <a:txBody>
                    <a:bodyPr/>
                    <a:p>
                      <a:pPr>
                        <a:buNone/>
                      </a:pPr>
                      <a:r>
                        <a:rPr lang="en-US" altLang="zh-CN" sz="2400"/>
                        <a:t>...</a:t>
                      </a:r>
                      <a:endParaRPr lang="en-US" altLang="zh-CN" sz="2400"/>
                    </a:p>
                  </a:txBody>
                  <a:tcPr/>
                </a:tc>
                <a:tc>
                  <a:txBody>
                    <a:bodyPr/>
                    <a:p>
                      <a:pPr>
                        <a:buNone/>
                      </a:pPr>
                      <a:endParaRPr lang="en-US" altLang="zh-CN" sz="2400"/>
                    </a:p>
                  </a:txBody>
                  <a:tcPr/>
                </a:tc>
              </a:tr>
              <a:tr h="457835">
                <a:tc>
                  <a:txBody>
                    <a:bodyPr/>
                    <a:p>
                      <a:pPr>
                        <a:buNone/>
                      </a:pPr>
                      <a:r>
                        <a:rPr lang="en-US" altLang="zh-CN" sz="2400"/>
                        <a:t>...</a:t>
                      </a:r>
                      <a:endParaRPr lang="en-US" altLang="zh-CN" sz="2400"/>
                    </a:p>
                  </a:txBody>
                  <a:tcPr anchor="ctr" anchorCtr="1"/>
                </a:tc>
                <a:tc>
                  <a:txBody>
                    <a:bodyPr/>
                    <a:p>
                      <a:pPr>
                        <a:buNone/>
                      </a:pPr>
                      <a:r>
                        <a:rPr lang="en-US" altLang="zh-CN" sz="2400"/>
                        <a:t>...</a:t>
                      </a:r>
                      <a:endParaRPr lang="en-US" altLang="zh-CN" sz="2400"/>
                    </a:p>
                  </a:txBody>
                  <a:tcPr anchor="ctr" anchorCtr="1"/>
                </a:tc>
                <a:tc>
                  <a:txBody>
                    <a:bodyPr/>
                    <a:p>
                      <a:pPr>
                        <a:buNone/>
                      </a:pPr>
                      <a:r>
                        <a:rPr lang="en-US" altLang="zh-CN" sz="2400"/>
                        <a:t>...</a:t>
                      </a:r>
                      <a:endParaRPr lang="en-US" altLang="zh-CN" sz="2400"/>
                    </a:p>
                  </a:txBody>
                  <a:tcPr/>
                </a:tc>
                <a:tc>
                  <a:txBody>
                    <a:bodyPr/>
                    <a:p>
                      <a:pPr>
                        <a:buNone/>
                      </a:pPr>
                      <a:endParaRPr lang="en-US" altLang="zh-CN" sz="2400"/>
                    </a:p>
                  </a:txBody>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5.6 </a:t>
            </a:r>
            <a:r>
              <a:rPr lang="zh-CN" altLang="en-US">
                <a:solidFill>
                  <a:srgbClr val="C00000"/>
                </a:solidFill>
                <a:sym typeface="+mn-ea"/>
              </a:rPr>
              <a:t>软件可靠性设计准则</a:t>
            </a:r>
            <a:endParaRPr lang="zh-CN" altLang="en-US"/>
          </a:p>
        </p:txBody>
      </p:sp>
      <p:sp>
        <p:nvSpPr>
          <p:cNvPr id="3" name="内容占位符 2"/>
          <p:cNvSpPr>
            <a:spLocks noGrp="1"/>
          </p:cNvSpPr>
          <p:nvPr>
            <p:ph idx="1"/>
          </p:nvPr>
        </p:nvSpPr>
        <p:spPr/>
        <p:txBody>
          <a:bodyPr/>
          <a:p>
            <a:r>
              <a:rPr lang="zh-CN" altLang="en-US"/>
              <a:t>反向应用</a:t>
            </a:r>
            <a:endParaRPr lang="zh-CN" altLang="en-US"/>
          </a:p>
          <a:p>
            <a:pPr marL="914400" lvl="1" indent="-457200">
              <a:buFont typeface="+mj-ea"/>
              <a:buAutoNum type="circleNumDbPlain"/>
            </a:pPr>
            <a:r>
              <a:rPr lang="zh-CN" altLang="en-US"/>
              <a:t>制定软件</a:t>
            </a:r>
            <a:r>
              <a:rPr lang="zh-CN" altLang="en-US"/>
              <a:t>检查单</a:t>
            </a:r>
            <a:endParaRPr lang="zh-CN" altLang="en-US"/>
          </a:p>
          <a:p>
            <a:pPr marL="914400" lvl="1" indent="-457200">
              <a:buFont typeface="+mj-ea"/>
              <a:buAutoNum type="circleNumDbPlain"/>
            </a:pPr>
            <a:r>
              <a:rPr lang="zh-CN" altLang="en-US"/>
              <a:t>按照软件检查单进行相应的审查，以此发现可能存在的</a:t>
            </a:r>
            <a:r>
              <a:rPr lang="zh-CN" altLang="en-US"/>
              <a:t>问题</a:t>
            </a:r>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olidFill>
                  <a:srgbClr val="C00000"/>
                </a:solidFill>
                <a:sym typeface="+mn-ea"/>
              </a:rPr>
              <a:t>5.6 </a:t>
            </a:r>
            <a:r>
              <a:rPr lang="zh-CN" altLang="en-US">
                <a:solidFill>
                  <a:srgbClr val="C00000"/>
                </a:solidFill>
                <a:sym typeface="+mn-ea"/>
              </a:rPr>
              <a:t>软件可靠性设计准则</a:t>
            </a:r>
            <a:endParaRPr lang="zh-CN" altLang="en-US"/>
          </a:p>
        </p:txBody>
      </p:sp>
      <p:sp>
        <p:nvSpPr>
          <p:cNvPr id="3" name="内容占位符 2"/>
          <p:cNvSpPr>
            <a:spLocks noGrp="1"/>
          </p:cNvSpPr>
          <p:nvPr>
            <p:ph idx="1"/>
          </p:nvPr>
        </p:nvSpPr>
        <p:spPr>
          <a:xfrm>
            <a:off x="838200" y="1323975"/>
            <a:ext cx="10515600" cy="727710"/>
          </a:xfrm>
        </p:spPr>
        <p:txBody>
          <a:bodyPr/>
          <a:p>
            <a:r>
              <a:rPr lang="zh-CN" altLang="en-US"/>
              <a:t>反向应用</a:t>
            </a:r>
            <a:r>
              <a:rPr lang="en-US" altLang="zh-CN"/>
              <a:t> - </a:t>
            </a:r>
            <a:r>
              <a:rPr lang="zh-CN" altLang="en-US"/>
              <a:t>软件检查单</a:t>
            </a:r>
            <a:r>
              <a:rPr lang="zh-CN" altLang="en-US"/>
              <a:t>内容格式</a:t>
            </a:r>
            <a:endParaRPr lang="zh-CN" altLang="en-US"/>
          </a:p>
        </p:txBody>
      </p:sp>
      <p:graphicFrame>
        <p:nvGraphicFramePr>
          <p:cNvPr id="4" name="表格 3"/>
          <p:cNvGraphicFramePr/>
          <p:nvPr>
            <p:custDataLst>
              <p:tags r:id="rId1"/>
            </p:custDataLst>
          </p:nvPr>
        </p:nvGraphicFramePr>
        <p:xfrm>
          <a:off x="838200" y="2072640"/>
          <a:ext cx="10516870" cy="3331845"/>
        </p:xfrm>
        <a:graphic>
          <a:graphicData uri="http://schemas.openxmlformats.org/drawingml/2006/table">
            <a:tbl>
              <a:tblPr firstRow="1" bandRow="1">
                <a:tableStyleId>{5C22544A-7EE6-4342-B048-85BDC9FD1C3A}</a:tableStyleId>
              </a:tblPr>
              <a:tblGrid>
                <a:gridCol w="1281430"/>
                <a:gridCol w="714375"/>
                <a:gridCol w="6006465"/>
                <a:gridCol w="564515"/>
                <a:gridCol w="635000"/>
                <a:gridCol w="617855"/>
                <a:gridCol w="697230"/>
              </a:tblGrid>
              <a:tr h="370205">
                <a:tc>
                  <a:txBody>
                    <a:bodyPr/>
                    <a:p>
                      <a:pPr>
                        <a:buNone/>
                      </a:pPr>
                      <a:r>
                        <a:rPr lang="zh-CN" altLang="en-US" sz="2000"/>
                        <a:t>项目名称</a:t>
                      </a:r>
                      <a:endParaRPr lang="zh-CN" altLang="en-US" sz="2000"/>
                    </a:p>
                  </a:txBody>
                  <a:tcPr/>
                </a:tc>
                <a:tc gridSpan="6">
                  <a:txBody>
                    <a:bodyPr/>
                    <a:p>
                      <a:pPr>
                        <a:buNone/>
                      </a:pPr>
                      <a:endParaRPr lang="zh-CN" altLang="en-US" sz="2000"/>
                    </a:p>
                  </a:txBody>
                  <a:tcPr/>
                </a:tc>
                <a:tc hMerge="1">
                  <a:tcPr/>
                </a:tc>
                <a:tc hMerge="1">
                  <a:tcPr/>
                </a:tc>
                <a:tc hMerge="1">
                  <a:tcPr/>
                </a:tc>
                <a:tc hMerge="1">
                  <a:tcPr/>
                </a:tc>
                <a:tc hMerge="1">
                  <a:tcPr/>
                </a:tc>
              </a:tr>
              <a:tr h="370205">
                <a:tc gridSpan="2">
                  <a:txBody>
                    <a:bodyPr/>
                    <a:p>
                      <a:pPr>
                        <a:buNone/>
                      </a:pPr>
                      <a:r>
                        <a:rPr lang="zh-CN" altLang="en-US" sz="2000"/>
                        <a:t>审查人</a:t>
                      </a:r>
                      <a:endParaRPr lang="zh-CN" altLang="en-US" sz="2000"/>
                    </a:p>
                  </a:txBody>
                  <a:tcPr/>
                </a:tc>
                <a:tc hMerge="1">
                  <a:tcPr/>
                </a:tc>
                <a:tc>
                  <a:txBody>
                    <a:bodyPr/>
                    <a:p>
                      <a:pPr>
                        <a:buNone/>
                      </a:pPr>
                      <a:endParaRPr lang="zh-CN" altLang="en-US" sz="2000"/>
                    </a:p>
                  </a:txBody>
                  <a:tcPr/>
                </a:tc>
                <a:tc gridSpan="3">
                  <a:txBody>
                    <a:bodyPr/>
                    <a:p>
                      <a:pPr>
                        <a:buNone/>
                      </a:pPr>
                      <a:r>
                        <a:rPr lang="zh-CN" altLang="en-US" sz="2000"/>
                        <a:t>审查时间</a:t>
                      </a:r>
                      <a:endParaRPr lang="zh-CN" altLang="en-US" sz="2000"/>
                    </a:p>
                  </a:txBody>
                  <a:tcPr/>
                </a:tc>
                <a:tc hMerge="1">
                  <a:tcPr/>
                </a:tc>
                <a:tc hMerge="1">
                  <a:tcPr/>
                </a:tc>
                <a:tc>
                  <a:txBody>
                    <a:bodyPr/>
                    <a:p>
                      <a:pPr>
                        <a:buNone/>
                      </a:pPr>
                      <a:endParaRPr lang="zh-CN" altLang="en-US" sz="2000"/>
                    </a:p>
                  </a:txBody>
                  <a:tcPr/>
                </a:tc>
              </a:tr>
              <a:tr h="370205">
                <a:tc rowSpan="2">
                  <a:txBody>
                    <a:bodyPr/>
                    <a:p>
                      <a:pPr>
                        <a:buNone/>
                      </a:pPr>
                      <a:r>
                        <a:rPr lang="zh-CN" altLang="en-US" sz="2000"/>
                        <a:t>所属分类</a:t>
                      </a:r>
                      <a:endParaRPr lang="zh-CN" altLang="en-US" sz="2000"/>
                    </a:p>
                  </a:txBody>
                  <a:tcPr/>
                </a:tc>
                <a:tc rowSpan="2">
                  <a:txBody>
                    <a:bodyPr/>
                    <a:p>
                      <a:pPr>
                        <a:buNone/>
                      </a:pPr>
                      <a:r>
                        <a:rPr lang="zh-CN" altLang="en-US" sz="2000"/>
                        <a:t>编号</a:t>
                      </a:r>
                      <a:endParaRPr lang="zh-CN" altLang="en-US" sz="2000"/>
                    </a:p>
                  </a:txBody>
                  <a:tcPr/>
                </a:tc>
                <a:tc rowSpan="2">
                  <a:txBody>
                    <a:bodyPr/>
                    <a:p>
                      <a:pPr>
                        <a:buNone/>
                      </a:pPr>
                      <a:r>
                        <a:rPr lang="zh-CN" altLang="en-US" sz="2000"/>
                        <a:t>检查内容</a:t>
                      </a:r>
                      <a:endParaRPr lang="zh-CN" altLang="en-US" sz="2000"/>
                    </a:p>
                  </a:txBody>
                  <a:tcPr/>
                </a:tc>
                <a:tc gridSpan="3">
                  <a:txBody>
                    <a:bodyPr/>
                    <a:p>
                      <a:pPr>
                        <a:buNone/>
                      </a:pPr>
                      <a:r>
                        <a:rPr lang="zh-CN" altLang="en-US" sz="2000"/>
                        <a:t>是否满足</a:t>
                      </a:r>
                      <a:endParaRPr lang="zh-CN" altLang="en-US" sz="2000"/>
                    </a:p>
                  </a:txBody>
                  <a:tcPr/>
                </a:tc>
                <a:tc hMerge="1">
                  <a:tcPr/>
                </a:tc>
                <a:tc hMerge="1">
                  <a:tcPr/>
                </a:tc>
                <a:tc rowSpan="2">
                  <a:txBody>
                    <a:bodyPr/>
                    <a:p>
                      <a:pPr>
                        <a:buNone/>
                      </a:pPr>
                      <a:r>
                        <a:rPr lang="zh-CN" altLang="en-US" sz="2000"/>
                        <a:t>备注</a:t>
                      </a:r>
                      <a:endParaRPr lang="zh-CN" altLang="en-US" sz="2000"/>
                    </a:p>
                  </a:txBody>
                  <a:tcPr/>
                </a:tc>
              </a:tr>
              <a:tr h="370205">
                <a:tc vMerge="1">
                  <a:tcPr/>
                </a:tc>
                <a:tc vMerge="1">
                  <a:tcPr/>
                </a:tc>
                <a:tc vMerge="1">
                  <a:tcPr/>
                </a:tc>
                <a:tc>
                  <a:txBody>
                    <a:bodyPr/>
                    <a:p>
                      <a:pPr>
                        <a:buNone/>
                      </a:pPr>
                      <a:r>
                        <a:rPr lang="zh-CN" altLang="en-US" sz="2000"/>
                        <a:t>是</a:t>
                      </a:r>
                      <a:endParaRPr lang="zh-CN" altLang="en-US" sz="2000"/>
                    </a:p>
                  </a:txBody>
                  <a:tcPr/>
                </a:tc>
                <a:tc>
                  <a:txBody>
                    <a:bodyPr/>
                    <a:p>
                      <a:pPr>
                        <a:buNone/>
                      </a:pPr>
                      <a:r>
                        <a:rPr lang="zh-CN" altLang="en-US" sz="2000"/>
                        <a:t>否</a:t>
                      </a:r>
                      <a:endParaRPr lang="zh-CN" altLang="en-US" sz="2000"/>
                    </a:p>
                  </a:txBody>
                  <a:tcPr/>
                </a:tc>
                <a:tc>
                  <a:txBody>
                    <a:bodyPr/>
                    <a:p>
                      <a:pPr>
                        <a:buNone/>
                      </a:pPr>
                      <a:r>
                        <a:rPr lang="en-US" altLang="zh-CN" sz="2000"/>
                        <a:t>N/A</a:t>
                      </a:r>
                      <a:endParaRPr lang="en-US" altLang="zh-CN" sz="2000"/>
                    </a:p>
                  </a:txBody>
                  <a:tcPr/>
                </a:tc>
                <a:tc vMerge="1">
                  <a:tcPr/>
                </a:tc>
              </a:tr>
              <a:tr h="370205">
                <a:tc>
                  <a:txBody>
                    <a:bodyPr/>
                    <a:p>
                      <a:pPr>
                        <a:buNone/>
                      </a:pPr>
                      <a:r>
                        <a:rPr lang="zh-CN" altLang="en-US" sz="2000"/>
                        <a:t>总体要求</a:t>
                      </a:r>
                      <a:endParaRPr lang="zh-CN" altLang="en-US" sz="2000"/>
                    </a:p>
                  </a:txBody>
                  <a:tcPr/>
                </a:tc>
                <a:tc>
                  <a:txBody>
                    <a:bodyPr/>
                    <a:p>
                      <a:pPr>
                        <a:buNone/>
                      </a:pPr>
                      <a:r>
                        <a:rPr lang="en-US" altLang="zh-CN" sz="2000"/>
                        <a:t>1</a:t>
                      </a:r>
                      <a:endParaRPr lang="en-US" altLang="zh-CN" sz="2000"/>
                    </a:p>
                  </a:txBody>
                  <a:tcPr/>
                </a:tc>
                <a:tc>
                  <a:txBody>
                    <a:bodyPr/>
                    <a:p>
                      <a:pPr>
                        <a:buNone/>
                      </a:pPr>
                      <a:r>
                        <a:rPr lang="zh-CN" altLang="en-US" sz="2000"/>
                        <a:t>每个软件单元的源代码是否最多不超过</a:t>
                      </a:r>
                      <a:r>
                        <a:rPr lang="en-US" altLang="zh-CN" sz="2000"/>
                        <a:t>250</a:t>
                      </a:r>
                      <a:r>
                        <a:rPr lang="zh-CN" altLang="en-US" sz="2000"/>
                        <a:t>行，一般不超过</a:t>
                      </a:r>
                      <a:r>
                        <a:rPr lang="en-US" altLang="zh-CN" sz="2000"/>
                        <a:t>150</a:t>
                      </a:r>
                      <a:r>
                        <a:rPr lang="zh-CN" altLang="en-US" sz="2000"/>
                        <a:t>行？</a:t>
                      </a:r>
                      <a:endParaRPr lang="zh-CN" altLang="en-US" sz="2000"/>
                    </a:p>
                  </a:txBody>
                  <a:tcPr/>
                </a:tc>
                <a:tc>
                  <a:txBody>
                    <a:bodyPr/>
                    <a:p>
                      <a:pPr>
                        <a:buNone/>
                      </a:pPr>
                      <a:endParaRPr lang="zh-CN" altLang="en-US" sz="2000"/>
                    </a:p>
                  </a:txBody>
                  <a:tcPr/>
                </a:tc>
                <a:tc>
                  <a:txBody>
                    <a:bodyPr/>
                    <a:p>
                      <a:pPr>
                        <a:buNone/>
                      </a:pPr>
                      <a:endParaRPr lang="zh-CN" altLang="en-US" sz="2000"/>
                    </a:p>
                  </a:txBody>
                  <a:tcPr/>
                </a:tc>
                <a:tc>
                  <a:txBody>
                    <a:bodyPr/>
                    <a:p>
                      <a:pPr>
                        <a:buNone/>
                      </a:pPr>
                      <a:endParaRPr lang="zh-CN" altLang="en-US" sz="2000"/>
                    </a:p>
                  </a:txBody>
                  <a:tcPr/>
                </a:tc>
                <a:tc>
                  <a:txBody>
                    <a:bodyPr/>
                    <a:p>
                      <a:pPr>
                        <a:buNone/>
                      </a:pPr>
                      <a:endParaRPr lang="zh-CN" altLang="en-US" sz="2000"/>
                    </a:p>
                  </a:txBody>
                  <a:tcPr/>
                </a:tc>
              </a:tr>
              <a:tr h="370205">
                <a:tc>
                  <a:txBody>
                    <a:bodyPr/>
                    <a:p>
                      <a:pPr>
                        <a:buNone/>
                      </a:pPr>
                      <a:endParaRPr lang="zh-CN" altLang="en-US" sz="2000"/>
                    </a:p>
                  </a:txBody>
                  <a:tcPr/>
                </a:tc>
                <a:tc>
                  <a:txBody>
                    <a:bodyPr/>
                    <a:p>
                      <a:pPr>
                        <a:buNone/>
                      </a:pPr>
                      <a:r>
                        <a:rPr lang="en-US" altLang="zh-CN" sz="2000"/>
                        <a:t>2</a:t>
                      </a:r>
                      <a:endParaRPr lang="en-US" altLang="zh-CN" sz="2000"/>
                    </a:p>
                  </a:txBody>
                  <a:tcPr/>
                </a:tc>
                <a:tc>
                  <a:txBody>
                    <a:bodyPr/>
                    <a:p>
                      <a:pPr>
                        <a:buNone/>
                      </a:pPr>
                      <a:r>
                        <a:rPr lang="zh-CN" altLang="en-US" sz="2000"/>
                        <a:t>对顺序程序的编制，应参照</a:t>
                      </a:r>
                      <a:r>
                        <a:rPr lang="en-US" altLang="zh-CN" sz="2000"/>
                        <a:t>GJB2255</a:t>
                      </a:r>
                      <a:r>
                        <a:rPr lang="zh-CN" altLang="en-US" sz="2000"/>
                        <a:t>推荐的几种控制结构来编制程序；并对程序的编制，应选择便于测试并且简单的结构来编制程序</a:t>
                      </a:r>
                      <a:endParaRPr lang="zh-CN" altLang="en-US" sz="2000"/>
                    </a:p>
                  </a:txBody>
                  <a:tcPr/>
                </a:tc>
                <a:tc>
                  <a:txBody>
                    <a:bodyPr/>
                    <a:p>
                      <a:pPr>
                        <a:buNone/>
                      </a:pPr>
                      <a:endParaRPr lang="zh-CN" altLang="en-US" sz="2000"/>
                    </a:p>
                  </a:txBody>
                  <a:tcPr/>
                </a:tc>
                <a:tc>
                  <a:txBody>
                    <a:bodyPr/>
                    <a:p>
                      <a:pPr>
                        <a:buNone/>
                      </a:pPr>
                      <a:endParaRPr lang="zh-CN" altLang="en-US" sz="2000"/>
                    </a:p>
                  </a:txBody>
                  <a:tcPr/>
                </a:tc>
                <a:tc>
                  <a:txBody>
                    <a:bodyPr/>
                    <a:p>
                      <a:pPr>
                        <a:buNone/>
                      </a:pPr>
                      <a:endParaRPr lang="zh-CN" altLang="en-US" sz="2000"/>
                    </a:p>
                  </a:txBody>
                  <a:tcPr/>
                </a:tc>
                <a:tc>
                  <a:txBody>
                    <a:bodyPr/>
                    <a:p>
                      <a:pPr>
                        <a:buNone/>
                      </a:pPr>
                      <a:endParaRPr lang="zh-CN" altLang="en-US" sz="2000"/>
                    </a:p>
                  </a:txBody>
                  <a:tcPr/>
                </a:tc>
              </a:tr>
              <a:tr h="370205">
                <a:tc>
                  <a:txBody>
                    <a:bodyPr/>
                    <a:p>
                      <a:pPr>
                        <a:buNone/>
                      </a:pPr>
                      <a:endParaRPr lang="zh-CN" altLang="en-US" sz="2000"/>
                    </a:p>
                  </a:txBody>
                  <a:tcPr/>
                </a:tc>
                <a:tc>
                  <a:txBody>
                    <a:bodyPr/>
                    <a:p>
                      <a:pPr>
                        <a:buNone/>
                      </a:pPr>
                      <a:r>
                        <a:rPr lang="en-US" altLang="zh-CN" sz="2000"/>
                        <a:t>...</a:t>
                      </a:r>
                      <a:endParaRPr lang="en-US" altLang="zh-CN" sz="2000"/>
                    </a:p>
                  </a:txBody>
                  <a:tcPr/>
                </a:tc>
                <a:tc>
                  <a:txBody>
                    <a:bodyPr/>
                    <a:p>
                      <a:pPr>
                        <a:buNone/>
                      </a:pPr>
                      <a:r>
                        <a:rPr lang="en-US" altLang="zh-CN" sz="2000"/>
                        <a:t>...</a:t>
                      </a:r>
                      <a:endParaRPr lang="en-US" altLang="zh-CN" sz="2000"/>
                    </a:p>
                  </a:txBody>
                  <a:tcPr/>
                </a:tc>
                <a:tc>
                  <a:txBody>
                    <a:bodyPr/>
                    <a:p>
                      <a:pPr>
                        <a:buNone/>
                      </a:pPr>
                      <a:endParaRPr lang="zh-CN" altLang="en-US" sz="2000"/>
                    </a:p>
                  </a:txBody>
                  <a:tcPr/>
                </a:tc>
                <a:tc>
                  <a:txBody>
                    <a:bodyPr/>
                    <a:p>
                      <a:pPr>
                        <a:buNone/>
                      </a:pPr>
                      <a:endParaRPr lang="zh-CN" altLang="en-US" sz="2000"/>
                    </a:p>
                  </a:txBody>
                  <a:tcPr/>
                </a:tc>
                <a:tc>
                  <a:txBody>
                    <a:bodyPr/>
                    <a:p>
                      <a:pPr>
                        <a:buNone/>
                      </a:pPr>
                      <a:endParaRPr lang="zh-CN" altLang="en-US" sz="2000"/>
                    </a:p>
                  </a:txBody>
                  <a:tcPr/>
                </a:tc>
                <a:tc>
                  <a:txBody>
                    <a:bodyPr/>
                    <a:p>
                      <a:pPr>
                        <a:buNone/>
                      </a:pPr>
                      <a:endParaRPr lang="zh-CN" altLang="en-US" sz="2000"/>
                    </a:p>
                  </a:txBody>
                  <a:tcPr/>
                </a:tc>
              </a:tr>
              <a:tr h="370205">
                <a:tc gridSpan="7">
                  <a:txBody>
                    <a:bodyPr/>
                    <a:p>
                      <a:pPr algn="ctr">
                        <a:buNone/>
                      </a:pPr>
                      <a:r>
                        <a:rPr lang="zh-CN" altLang="en-US" sz="2000"/>
                        <a:t>审查情况说明</a:t>
                      </a:r>
                      <a:endParaRPr lang="zh-CN" altLang="en-US" sz="2000"/>
                    </a:p>
                  </a:txBody>
                  <a:tcPr anchor="ctr" anchorCtr="0"/>
                </a:tc>
                <a:tc hMerge="1">
                  <a:tcPr/>
                </a:tc>
                <a:tc hMerge="1">
                  <a:tcPr/>
                </a:tc>
                <a:tc hMerge="1">
                  <a:tcPr/>
                </a:tc>
                <a:tc hMerge="1">
                  <a:tcPr/>
                </a:tc>
                <a:tc hMerge="1">
                  <a:tcPr/>
                </a:tc>
                <a:tc hMerge="1">
                  <a:tcPr/>
                </a:tc>
              </a:tr>
              <a:tr h="370205">
                <a:tc gridSpan="7">
                  <a:txBody>
                    <a:bodyPr/>
                    <a:p>
                      <a:pPr>
                        <a:buNone/>
                      </a:pPr>
                      <a:endParaRPr lang="zh-CN" altLang="en-US" sz="2000"/>
                    </a:p>
                  </a:txBody>
                  <a:tcPr/>
                </a:tc>
                <a:tc hMerge="1">
                  <a:tcPr/>
                </a:tc>
                <a:tc hMerge="1">
                  <a:tcPr/>
                </a:tc>
                <a:tc hMerge="1">
                  <a:tcPr/>
                </a:tc>
                <a:tc hMerge="1">
                  <a:tcPr/>
                </a:tc>
                <a:tc hMerge="1">
                  <a:tcPr/>
                </a:tc>
                <a:tc hMerge="1">
                  <a:tcP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olidFill>
                  <a:srgbClr val="C00000"/>
                </a:solidFill>
                <a:sym typeface="+mn-ea"/>
              </a:rPr>
              <a:t>小结</a:t>
            </a:r>
            <a:endParaRPr lang="zh-CN" altLang="en-US">
              <a:solidFill>
                <a:srgbClr val="C00000"/>
              </a:solidFill>
              <a:sym typeface="+mn-ea"/>
            </a:endParaRPr>
          </a:p>
        </p:txBody>
      </p:sp>
      <p:sp>
        <p:nvSpPr>
          <p:cNvPr id="3" name="内容占位符 2"/>
          <p:cNvSpPr>
            <a:spLocks noGrp="1"/>
          </p:cNvSpPr>
          <p:nvPr>
            <p:ph idx="1"/>
          </p:nvPr>
        </p:nvSpPr>
        <p:spPr/>
        <p:txBody>
          <a:bodyPr/>
          <a:p>
            <a:r>
              <a:rPr lang="zh-CN" altLang="en-US" sz="2400"/>
              <a:t>软件可靠性设计内容包括产生高可靠软件的有关方法、准则和技术</a:t>
            </a:r>
            <a:endParaRPr lang="zh-CN" altLang="en-US" sz="2400"/>
          </a:p>
          <a:p>
            <a:r>
              <a:rPr lang="zh-CN" altLang="en-US" sz="2400"/>
              <a:t>软件的设计工作抓住两个基本原则：</a:t>
            </a:r>
            <a:endParaRPr lang="zh-CN" altLang="en-US" sz="2400"/>
          </a:p>
          <a:p>
            <a:pPr lvl="1"/>
            <a:r>
              <a:rPr lang="zh-CN" altLang="en-US" sz="2055"/>
              <a:t>采用合适的软件开发</a:t>
            </a:r>
            <a:r>
              <a:rPr lang="zh-CN" altLang="en-US" sz="2055"/>
              <a:t>工具</a:t>
            </a:r>
            <a:endParaRPr lang="zh-CN" altLang="en-US" sz="2055"/>
          </a:p>
          <a:p>
            <a:pPr lvl="1"/>
            <a:r>
              <a:rPr lang="zh-CN" altLang="en-US" sz="2055"/>
              <a:t>降低软件的</a:t>
            </a:r>
            <a:r>
              <a:rPr lang="zh-CN" altLang="en-US" sz="2055"/>
              <a:t>复杂度</a:t>
            </a:r>
            <a:endParaRPr lang="zh-CN" altLang="en-US" sz="2055"/>
          </a:p>
          <a:p>
            <a:pPr lvl="0"/>
            <a:r>
              <a:rPr lang="zh-CN" altLang="en-US" sz="2395"/>
              <a:t>软件可靠性设计实质是与软件缺陷做斗争</a:t>
            </a:r>
            <a:r>
              <a:rPr lang="zh-CN" altLang="en-US" sz="2395"/>
              <a:t>的过程</a:t>
            </a:r>
            <a:endParaRPr lang="zh-CN" altLang="en-US" sz="2395"/>
          </a:p>
          <a:p>
            <a:pPr lvl="1"/>
            <a:r>
              <a:rPr lang="zh-CN" altLang="en-US" sz="2050"/>
              <a:t>一方面努力防止</a:t>
            </a:r>
            <a:r>
              <a:rPr lang="zh-CN" altLang="en-US" sz="2050"/>
              <a:t>引入错误</a:t>
            </a:r>
            <a:endParaRPr lang="zh-CN" altLang="en-US" sz="2050"/>
          </a:p>
          <a:p>
            <a:pPr lvl="1"/>
            <a:r>
              <a:rPr lang="zh-CN" altLang="en-US" sz="2050"/>
              <a:t>另一方面使软件具有</a:t>
            </a:r>
            <a:r>
              <a:rPr lang="zh-CN" altLang="en-US" sz="2050"/>
              <a:t>容错能力</a:t>
            </a:r>
            <a:endParaRPr lang="zh-CN" altLang="en-US" sz="2050"/>
          </a:p>
          <a:p>
            <a:pPr lvl="1"/>
            <a:endParaRPr lang="zh-CN" altLang="en-US" sz="2050"/>
          </a:p>
          <a:p>
            <a:endParaRPr lang="zh-CN" altLang="en-US" sz="24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本章</a:t>
            </a:r>
            <a:r>
              <a:rPr lang="zh-CN" altLang="en-US"/>
              <a:t>作业</a:t>
            </a:r>
            <a:endParaRPr lang="zh-CN" altLang="en-US"/>
          </a:p>
        </p:txBody>
      </p:sp>
      <p:sp>
        <p:nvSpPr>
          <p:cNvPr id="3" name="内容占位符 2"/>
          <p:cNvSpPr>
            <a:spLocks noGrp="1"/>
          </p:cNvSpPr>
          <p:nvPr>
            <p:ph idx="1"/>
          </p:nvPr>
        </p:nvSpPr>
        <p:spPr/>
        <p:txBody>
          <a:bodyPr>
            <a:normAutofit/>
          </a:bodyPr>
          <a:p>
            <a:r>
              <a:rPr lang="zh-CN" altLang="en-US"/>
              <a:t>针对一个需求规格说明书，给出至少</a:t>
            </a:r>
            <a:r>
              <a:rPr lang="en-US" altLang="zh-CN"/>
              <a:t>10</a:t>
            </a:r>
            <a:r>
              <a:rPr lang="zh-CN" altLang="en-US"/>
              <a:t>条提升可靠性的设计策略</a:t>
            </a:r>
            <a:r>
              <a:rPr lang="zh-CN" altLang="en-US">
                <a:sym typeface="+mn-ea"/>
              </a:rPr>
              <a:t>。</a:t>
            </a:r>
            <a:endParaRPr lang="zh-CN" altLang="en-US">
              <a:sym typeface="+mn-ea"/>
            </a:endParaRPr>
          </a:p>
          <a:p>
            <a:endParaRPr lang="zh-CN" altLang="en-US">
              <a:sym typeface="+mn-ea"/>
            </a:endParaRPr>
          </a:p>
        </p:txBody>
      </p:sp>
    </p:spTree>
  </p:cSld>
  <p:clrMapOvr>
    <a:masterClrMapping/>
  </p:clrMapOvr>
</p:sld>
</file>

<file path=ppt/tags/tag1.xml><?xml version="1.0" encoding="utf-8"?>
<p:tagLst xmlns:p="http://schemas.openxmlformats.org/presentationml/2006/main">
  <p:tag name="TABLE_ENDDRAG_ORIGIN_RECT" val="786*178"/>
  <p:tag name="TABLE_ENDDRAG_RECT" val="80*118*786*178"/>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TABLE_ENDDRAG_ORIGIN_RECT" val="765*357"/>
  <p:tag name="TABLE_ENDDRAG_RECT" val="99*172*765*357"/>
</p:tagLst>
</file>

<file path=ppt/tags/tag95.xml><?xml version="1.0" encoding="utf-8"?>
<p:tagLst xmlns:p="http://schemas.openxmlformats.org/presentationml/2006/main">
  <p:tag name="TABLE_ENDDRAG_ORIGIN_RECT" val="894*475"/>
  <p:tag name="TABLE_ENDDRAG_RECT" val="31*154*894*475"/>
</p:tagLst>
</file>

<file path=ppt/tags/tag96.xml><?xml version="1.0" encoding="utf-8"?>
<p:tagLst xmlns:p="http://schemas.openxmlformats.org/presentationml/2006/main">
  <p:tag name="TABLE_ENDDRAG_ORIGIN_RECT" val="827*262"/>
  <p:tag name="TABLE_ENDDRAG_RECT" val="66*163*827*262"/>
</p:tagLst>
</file>

<file path=ppt/tags/tag97.xml><?xml version="1.0" encoding="utf-8"?>
<p:tagLst xmlns:p="http://schemas.openxmlformats.org/presentationml/2006/main">
  <p:tag name="KSO_WPP_MARK_KEY" val="7bd29f46-b8e6-4582-857c-02eb3b47549f"/>
  <p:tag name="COMMONDATA" val="eyJoZGlkIjoiY2IxYTc3NzQxYzYwYWY3YzFjZDE3YmJmMWE0OTZjMWUifQ=="/>
  <p:tag name="commondata" val="eyJoZGlkIjoiNGVhMGEzMzFmYzE0NDk3ZTNmMGYzOThhM2NhOTZlNTg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lang="zh-CN" altLang="en-US" sz="2000"/>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8192</Words>
  <Application>WPS 演示</Application>
  <PresentationFormat>宽屏</PresentationFormat>
  <Paragraphs>1021</Paragraphs>
  <Slides>71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71</vt:i4>
      </vt:variant>
    </vt:vector>
  </HeadingPairs>
  <TitlesOfParts>
    <vt:vector size="83" baseType="lpstr">
      <vt:lpstr>Arial</vt:lpstr>
      <vt:lpstr>宋体</vt:lpstr>
      <vt:lpstr>Wingdings</vt:lpstr>
      <vt:lpstr>Times New Roman</vt:lpstr>
      <vt:lpstr>Calibri Light</vt:lpstr>
      <vt:lpstr>Calibri</vt:lpstr>
      <vt:lpstr>微软雅黑</vt:lpstr>
      <vt:lpstr>Arial Unicode MS</vt:lpstr>
      <vt:lpstr>-apple-system</vt:lpstr>
      <vt:lpstr>ksdb</vt:lpstr>
      <vt:lpstr>Arial</vt:lpstr>
      <vt:lpstr>Office 主题</vt:lpstr>
      <vt:lpstr>第5章 软件可靠性设计</vt:lpstr>
      <vt:lpstr>超高层建筑：阻尼器</vt:lpstr>
      <vt:lpstr>SpaceX火箭：33台猛禽发动机</vt:lpstr>
      <vt:lpstr>赵州桥：敞肩拱</vt:lpstr>
      <vt:lpstr>内容</vt:lpstr>
      <vt:lpstr>5.1 软件可靠性设计概述</vt:lpstr>
      <vt:lpstr>软件可靠性要求</vt:lpstr>
      <vt:lpstr>软件可靠性定性要求 - 示例</vt:lpstr>
      <vt:lpstr>软件可靠性设计的实质</vt:lpstr>
      <vt:lpstr>软件可靠性设计的实质</vt:lpstr>
      <vt:lpstr>软件可靠性设计的方法</vt:lpstr>
      <vt:lpstr>软件可靠性设计准则</vt:lpstr>
      <vt:lpstr>5.2 软件避错设计</vt:lpstr>
      <vt:lpstr>软件开发过程</vt:lpstr>
      <vt:lpstr>软件设计方法</vt:lpstr>
      <vt:lpstr>软件工具</vt:lpstr>
      <vt:lpstr>软件避错设计原理</vt:lpstr>
      <vt:lpstr>软件避错设计原理</vt:lpstr>
      <vt:lpstr>软件避错设计原理</vt:lpstr>
      <vt:lpstr>软件避错设计原理</vt:lpstr>
      <vt:lpstr>软件避错设计原理</vt:lpstr>
      <vt:lpstr>软件避错设计原理</vt:lpstr>
      <vt:lpstr>软件避错设计原理</vt:lpstr>
      <vt:lpstr>软件避错设计原理</vt:lpstr>
      <vt:lpstr>5.3 软件容错设计</vt:lpstr>
      <vt:lpstr>无缺陷很难实现</vt:lpstr>
      <vt:lpstr>无缺陷很难实现</vt:lpstr>
      <vt:lpstr>软件冗余</vt:lpstr>
      <vt:lpstr>软件冗余资源</vt:lpstr>
      <vt:lpstr>信息容错 - 方式一</vt:lpstr>
      <vt:lpstr>信息容错 - 方式一距离 - 通信方面</vt:lpstr>
      <vt:lpstr>信息容错 - 方式二</vt:lpstr>
      <vt:lpstr>信息容错 - 方式三</vt:lpstr>
      <vt:lpstr>软件时间容错</vt:lpstr>
      <vt:lpstr>软件时间容错 - 指令重复执行</vt:lpstr>
      <vt:lpstr>软件时间容错 - 程序卷回</vt:lpstr>
      <vt:lpstr>软件结构容错</vt:lpstr>
      <vt:lpstr>软件结构容错</vt:lpstr>
      <vt:lpstr>恢复块法RB</vt:lpstr>
      <vt:lpstr>恢复块法RB</vt:lpstr>
      <vt:lpstr>恢复块法RB</vt:lpstr>
      <vt:lpstr>恢复块法RB的优缺点</vt:lpstr>
      <vt:lpstr>软件N版本程序设计NVP</vt:lpstr>
      <vt:lpstr>软件N版本程序设计NVP</vt:lpstr>
      <vt:lpstr>NVP的优缺点</vt:lpstr>
      <vt:lpstr>软件结构容错</vt:lpstr>
      <vt:lpstr>容错设计     小结</vt:lpstr>
      <vt:lpstr>5.4 降低复杂度设计</vt:lpstr>
      <vt:lpstr>5.4 降低复杂度设计</vt:lpstr>
      <vt:lpstr>5.4 降低复杂度设计</vt:lpstr>
      <vt:lpstr>5.4 降低复杂度设计</vt:lpstr>
      <vt:lpstr>5.4 降低复杂度设计</vt:lpstr>
      <vt:lpstr>5.4 降低复杂度设计</vt:lpstr>
      <vt:lpstr>5.4 降低复杂度设计</vt:lpstr>
      <vt:lpstr>5.4 降低复杂度设计</vt:lpstr>
      <vt:lpstr>5.5 系统配置技术</vt:lpstr>
      <vt:lpstr>5.5 系统配置技术</vt:lpstr>
      <vt:lpstr>5.5 系统配置技术</vt:lpstr>
      <vt:lpstr>5.5 系统配置技术</vt:lpstr>
      <vt:lpstr>5.5 系统配置技术</vt:lpstr>
      <vt:lpstr>5.5 系统配置技术</vt:lpstr>
      <vt:lpstr>5.5 系统配置技术</vt:lpstr>
      <vt:lpstr>5.6 软件可靠性设计准则</vt:lpstr>
      <vt:lpstr>5.6 软件可靠性设计准则</vt:lpstr>
      <vt:lpstr>5.6 软件可靠性设计准则</vt:lpstr>
      <vt:lpstr>5.6 软件可靠性设计准则</vt:lpstr>
      <vt:lpstr>5.6 软件可靠性设计准则</vt:lpstr>
      <vt:lpstr>5.6 软件可靠性设计准则</vt:lpstr>
      <vt:lpstr>5.6 软件可靠性设计准则</vt:lpstr>
      <vt:lpstr>小结</vt:lpstr>
      <vt:lpstr>本章作业</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软件分析概要</dc:title>
  <dc:creator>Microsoft</dc:creator>
  <cp:lastModifiedBy>董玉坤</cp:lastModifiedBy>
  <cp:revision>187</cp:revision>
  <dcterms:created xsi:type="dcterms:W3CDTF">2022-08-08T01:51:00Z</dcterms:created>
  <dcterms:modified xsi:type="dcterms:W3CDTF">2024-11-06T02:12:33Z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E9266E9539684B88B8E38D15771F6DA7_12</vt:lpwstr>
  </property>
  <property fmtid="{D5CDD505-2E9C-101B-9397-08002B2CF9AE}" pid="3" name="KSOProductBuildVer">
    <vt:lpwstr>2052-12.1.0.18608</vt:lpwstr>
  </property>
</Properties>
</file>