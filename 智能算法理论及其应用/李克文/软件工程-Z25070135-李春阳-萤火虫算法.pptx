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9" r:id="rId2"/>
  </p:sldMasterIdLst>
  <p:sldIdLst>
    <p:sldId id="256" r:id="rId3"/>
    <p:sldId id="258" r:id="rId4"/>
    <p:sldId id="262" r:id="rId5"/>
    <p:sldId id="272" r:id="rId6"/>
    <p:sldId id="324" r:id="rId7"/>
    <p:sldId id="325" r:id="rId8"/>
    <p:sldId id="273" r:id="rId9"/>
    <p:sldId id="263" r:id="rId10"/>
    <p:sldId id="326" r:id="rId11"/>
    <p:sldId id="327" r:id="rId12"/>
    <p:sldId id="328" r:id="rId13"/>
    <p:sldId id="264" r:id="rId14"/>
    <p:sldId id="331" r:id="rId15"/>
    <p:sldId id="265" r:id="rId16"/>
    <p:sldId id="330" r:id="rId17"/>
    <p:sldId id="266" r:id="rId18"/>
    <p:sldId id="332" r:id="rId19"/>
    <p:sldId id="334" r:id="rId20"/>
    <p:sldId id="333" r:id="rId21"/>
    <p:sldId id="267" r:id="rId22"/>
    <p:sldId id="305" r:id="rId23"/>
    <p:sldId id="335" r:id="rId24"/>
    <p:sldId id="337" r:id="rId25"/>
    <p:sldId id="336" r:id="rId26"/>
    <p:sldId id="323" r:id="rId27"/>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2E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520" autoAdjust="0"/>
    <p:restoredTop sz="94660"/>
  </p:normalViewPr>
  <p:slideViewPr>
    <p:cSldViewPr snapToGrid="0" showGuides="1">
      <p:cViewPr varScale="1">
        <p:scale>
          <a:sx n="109" d="100"/>
          <a:sy n="109" d="100"/>
        </p:scale>
        <p:origin x="78" y="144"/>
      </p:cViewPr>
      <p:guideLst>
        <p:guide pos="416"/>
        <p:guide pos="7256"/>
        <p:guide orient="horz" pos="648"/>
        <p:guide orient="horz" pos="712"/>
        <p:guide orient="horz" pos="3928"/>
        <p:guide orient="horz" pos="3864"/>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7" name="任意多边形: 形状 16">
            <a:extLst>
              <a:ext uri="{FF2B5EF4-FFF2-40B4-BE49-F238E27FC236}">
                <a16:creationId xmlns:a16="http://schemas.microsoft.com/office/drawing/2014/main" id="{C0EB142D-9574-4384-A5E6-34C00A42B34F}"/>
              </a:ext>
            </a:extLst>
          </p:cNvPr>
          <p:cNvSpPr/>
          <p:nvPr userDrawn="1"/>
        </p:nvSpPr>
        <p:spPr>
          <a:xfrm>
            <a:off x="0" y="0"/>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a:extLst>
              <a:ext uri="{FF2B5EF4-FFF2-40B4-BE49-F238E27FC236}">
                <a16:creationId xmlns:a16="http://schemas.microsoft.com/office/drawing/2014/main" id="{A19665FE-503E-4460-BDD1-6DCF431D60E5}"/>
              </a:ext>
            </a:extLst>
          </p:cNvPr>
          <p:cNvSpPr/>
          <p:nvPr userDrawn="1"/>
        </p:nvSpPr>
        <p:spPr>
          <a:xfrm>
            <a:off x="289383" y="254634"/>
            <a:ext cx="11613235" cy="6348733"/>
          </a:xfrm>
          <a:prstGeom prst="roundRect">
            <a:avLst>
              <a:gd name="adj" fmla="val 1328"/>
            </a:avLst>
          </a:prstGeom>
          <a:solidFill>
            <a:schemeClr val="bg1">
              <a:alpha val="90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ABB4B086-4071-4C4C-9FF8-B987D7306B9B}"/>
              </a:ext>
            </a:extLst>
          </p:cNvPr>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14A60CE9-1EA3-4611-84E6-17C89EA4377F}"/>
              </a:ext>
            </a:extLst>
          </p:cNvPr>
          <p:cNvSpPr>
            <a:spLocks noGrp="1"/>
          </p:cNvSpPr>
          <p:nvPr>
            <p:ph type="subTitle" idx="1"/>
          </p:nvPr>
        </p:nvSpPr>
        <p:spPr>
          <a:xfrm>
            <a:off x="2002549" y="3234727"/>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18" name="图片 17">
            <a:extLst>
              <a:ext uri="{FF2B5EF4-FFF2-40B4-BE49-F238E27FC236}">
                <a16:creationId xmlns:a16="http://schemas.microsoft.com/office/drawing/2014/main" id="{94492432-9BB1-4669-BEEE-B68FB0384BC7}"/>
              </a:ext>
            </a:extLst>
          </p:cNvPr>
          <p:cNvPicPr>
            <a:picLocks noChangeAspect="1"/>
          </p:cNvPicPr>
          <p:nvPr userDrawn="1"/>
        </p:nvPicPr>
        <p:blipFill>
          <a:blip r:embed="rId2"/>
          <a:stretch>
            <a:fillRect/>
          </a:stretch>
        </p:blipFill>
        <p:spPr>
          <a:xfrm>
            <a:off x="4559659" y="1128211"/>
            <a:ext cx="3072682" cy="767856"/>
          </a:xfrm>
          <a:prstGeom prst="rect">
            <a:avLst/>
          </a:prstGeom>
        </p:spPr>
      </p:pic>
      <p:cxnSp>
        <p:nvCxnSpPr>
          <p:cNvPr id="20" name="直接连接符 19">
            <a:extLst>
              <a:ext uri="{FF2B5EF4-FFF2-40B4-BE49-F238E27FC236}">
                <a16:creationId xmlns:a16="http://schemas.microsoft.com/office/drawing/2014/main" id="{8977E7C2-2B89-433F-A7EE-303D1B03D9D7}"/>
              </a:ext>
            </a:extLst>
          </p:cNvPr>
          <p:cNvCxnSpPr/>
          <p:nvPr userDrawn="1"/>
        </p:nvCxnSpPr>
        <p:spPr>
          <a:xfrm>
            <a:off x="5186680" y="3897585"/>
            <a:ext cx="181864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2" name="文本占位符 21">
            <a:extLst>
              <a:ext uri="{FF2B5EF4-FFF2-40B4-BE49-F238E27FC236}">
                <a16:creationId xmlns:a16="http://schemas.microsoft.com/office/drawing/2014/main" id="{2CC9A4A0-69C9-4E77-A0BB-28CAB1458C4A}"/>
              </a:ext>
            </a:extLst>
          </p:cNvPr>
          <p:cNvSpPr>
            <a:spLocks noGrp="1"/>
          </p:cNvSpPr>
          <p:nvPr>
            <p:ph type="body" sz="quarter" idx="13"/>
          </p:nvPr>
        </p:nvSpPr>
        <p:spPr>
          <a:xfrm>
            <a:off x="3520598" y="4207533"/>
            <a:ext cx="5150803" cy="472252"/>
          </a:xfrm>
        </p:spPr>
        <p:txBody>
          <a:bodyPr anchor="ctr" anchorCtr="0">
            <a:normAutofit/>
          </a:bodyPr>
          <a:lstStyle>
            <a:lvl1pPr marL="0" indent="0" algn="ctr">
              <a:buNone/>
              <a:defRPr sz="2000"/>
            </a:lvl1pPr>
            <a:lvl2pPr marL="457200" indent="0">
              <a:buNone/>
              <a:defRPr/>
            </a:lvl2pPr>
          </a:lstStyle>
          <a:p>
            <a:pPr lvl="0"/>
            <a:r>
              <a:rPr lang="zh-CN" altLang="en-US" dirty="0"/>
              <a:t>编辑母版文本样式</a:t>
            </a:r>
          </a:p>
        </p:txBody>
      </p:sp>
      <p:sp>
        <p:nvSpPr>
          <p:cNvPr id="26" name="文本占位符 25">
            <a:extLst>
              <a:ext uri="{FF2B5EF4-FFF2-40B4-BE49-F238E27FC236}">
                <a16:creationId xmlns:a16="http://schemas.microsoft.com/office/drawing/2014/main" id="{ACDFF073-5D91-4F98-8F4C-D6BEB5D8F787}"/>
              </a:ext>
            </a:extLst>
          </p:cNvPr>
          <p:cNvSpPr>
            <a:spLocks noGrp="1"/>
          </p:cNvSpPr>
          <p:nvPr>
            <p:ph type="body" sz="quarter" idx="15" hasCustomPrompt="1"/>
          </p:nvPr>
        </p:nvSpPr>
        <p:spPr>
          <a:xfrm>
            <a:off x="3971639" y="5893688"/>
            <a:ext cx="4248721" cy="342012"/>
          </a:xfrm>
        </p:spPr>
        <p:txBody>
          <a:bodyPr wrap="square">
            <a:noAutofit/>
          </a:bodyPr>
          <a:lstStyle>
            <a:lvl1pPr marL="0" indent="0" algn="ctr">
              <a:buNone/>
              <a:defRPr lang="zh-CN" altLang="en-US" sz="1600" kern="1200" dirty="0">
                <a:solidFill>
                  <a:schemeClr val="bg1">
                    <a:lumMod val="50000"/>
                  </a:schemeClr>
                </a:solidFill>
                <a:latin typeface="+mn-ea"/>
                <a:ea typeface="+mn-ea"/>
                <a:cs typeface="+mn-cs"/>
              </a:defRPr>
            </a:lvl1pPr>
            <a:lvl2pPr>
              <a:defRPr/>
            </a:lvl2pPr>
            <a:lvl3pPr>
              <a:defRPr/>
            </a:lvl3pPr>
            <a:lvl4pPr>
              <a:defRPr/>
            </a:lvl4pPr>
            <a:lvl5pPr>
              <a:defRPr/>
            </a:lvl5pPr>
          </a:lstStyle>
          <a:p>
            <a:pPr marL="228600" lvl="0" indent="-228600" algn="ctr" defTabSz="914400" rtl="0" eaLnBrk="1" latinLnBrk="0" hangingPunct="1">
              <a:lnSpc>
                <a:spcPct val="90000"/>
              </a:lnSpc>
              <a:spcBef>
                <a:spcPts val="1000"/>
              </a:spcBef>
            </a:pPr>
            <a:r>
              <a:rPr lang="zh-CN" altLang="en-US" dirty="0"/>
              <a:t>这里可以写你的学院或者专业名称</a:t>
            </a:r>
          </a:p>
        </p:txBody>
      </p:sp>
    </p:spTree>
    <p:extLst>
      <p:ext uri="{BB962C8B-B14F-4D97-AF65-F5344CB8AC3E}">
        <p14:creationId xmlns:p14="http://schemas.microsoft.com/office/powerpoint/2010/main" val="4069016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E7C4DB3B-6C84-4775-B214-EEA8CBAA6620}"/>
              </a:ext>
            </a:extLst>
          </p:cNvPr>
          <p:cNvSpPr/>
          <p:nvPr userDrawn="1"/>
        </p:nvSpPr>
        <p:spPr>
          <a:xfrm>
            <a:off x="0" y="1130300"/>
            <a:ext cx="12192000" cy="5365107"/>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8" name="矩形 7">
            <a:extLst>
              <a:ext uri="{FF2B5EF4-FFF2-40B4-BE49-F238E27FC236}">
                <a16:creationId xmlns:a16="http://schemas.microsoft.com/office/drawing/2014/main" id="{3EB1EFD8-4239-4934-A32E-58F21ABC0A87}"/>
              </a:ext>
            </a:extLst>
          </p:cNvPr>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5745006-E3F6-4664-8C8B-93DE4309AFA6}"/>
              </a:ext>
            </a:extLst>
          </p:cNvPr>
          <p:cNvSpPr txBox="1"/>
          <p:nvPr userDrawn="1"/>
        </p:nvSpPr>
        <p:spPr>
          <a:xfrm>
            <a:off x="539511" y="307331"/>
            <a:ext cx="3250169" cy="923330"/>
          </a:xfrm>
          <a:prstGeom prst="rect">
            <a:avLst/>
          </a:prstGeom>
          <a:noFill/>
        </p:spPr>
        <p:txBody>
          <a:bodyPr wrap="square" rtlCol="0">
            <a:spAutoFit/>
          </a:bodyPr>
          <a:lstStyle/>
          <a:p>
            <a:pPr algn="dist"/>
            <a:r>
              <a:rPr lang="en-US" altLang="zh-CN" sz="5400" b="1" dirty="0">
                <a:solidFill>
                  <a:schemeClr val="bg1">
                    <a:alpha val="31000"/>
                  </a:schemeClr>
                </a:solidFill>
                <a:latin typeface="+mj-lt"/>
              </a:rPr>
              <a:t>Contents</a:t>
            </a:r>
            <a:endParaRPr lang="zh-CN" altLang="en-US" sz="5400" b="1" dirty="0">
              <a:solidFill>
                <a:schemeClr val="bg1">
                  <a:alpha val="31000"/>
                </a:schemeClr>
              </a:solidFill>
              <a:latin typeface="+mj-lt"/>
            </a:endParaRPr>
          </a:p>
        </p:txBody>
      </p:sp>
      <p:sp>
        <p:nvSpPr>
          <p:cNvPr id="9" name="文本框 8">
            <a:extLst>
              <a:ext uri="{FF2B5EF4-FFF2-40B4-BE49-F238E27FC236}">
                <a16:creationId xmlns:a16="http://schemas.microsoft.com/office/drawing/2014/main" id="{86E114F3-4350-4C4C-B15F-458EE1DB0EC0}"/>
              </a:ext>
            </a:extLst>
          </p:cNvPr>
          <p:cNvSpPr txBox="1"/>
          <p:nvPr userDrawn="1"/>
        </p:nvSpPr>
        <p:spPr>
          <a:xfrm>
            <a:off x="501023" y="171621"/>
            <a:ext cx="1503036" cy="830997"/>
          </a:xfrm>
          <a:prstGeom prst="rect">
            <a:avLst/>
          </a:prstGeom>
          <a:noFill/>
        </p:spPr>
        <p:txBody>
          <a:bodyPr wrap="square" rtlCol="0">
            <a:spAutoFit/>
          </a:bodyPr>
          <a:lstStyle/>
          <a:p>
            <a:pPr algn="dist"/>
            <a:r>
              <a:rPr lang="zh-CN" altLang="en-US" sz="4800" b="1" dirty="0">
                <a:solidFill>
                  <a:schemeClr val="bg1"/>
                </a:solidFill>
                <a:latin typeface="+mj-ea"/>
                <a:ea typeface="+mj-ea"/>
              </a:rPr>
              <a:t>目录</a:t>
            </a:r>
          </a:p>
        </p:txBody>
      </p:sp>
      <p:sp>
        <p:nvSpPr>
          <p:cNvPr id="12" name="矩形 11">
            <a:extLst>
              <a:ext uri="{FF2B5EF4-FFF2-40B4-BE49-F238E27FC236}">
                <a16:creationId xmlns:a16="http://schemas.microsoft.com/office/drawing/2014/main" id="{81EA85BF-DD8A-4E6A-9E5B-D9E11C8715BF}"/>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B77E6410-D38F-4219-B483-6A69663EC7FF}"/>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14" name="图片 13">
            <a:extLst>
              <a:ext uri="{FF2B5EF4-FFF2-40B4-BE49-F238E27FC236}">
                <a16:creationId xmlns:a16="http://schemas.microsoft.com/office/drawing/2014/main" id="{FBF1AC4E-4A54-4824-AA49-FCDA3F0E720A}"/>
              </a:ext>
            </a:extLst>
          </p:cNvPr>
          <p:cNvPicPr>
            <a:picLocks noChangeAspect="1"/>
          </p:cNvPicPr>
          <p:nvPr userDrawn="1"/>
        </p:nvPicPr>
        <p:blipFill>
          <a:blip r:embed="rId3"/>
          <a:stretch>
            <a:fillRect/>
          </a:stretch>
        </p:blipFill>
        <p:spPr>
          <a:xfrm>
            <a:off x="8610600" y="6626002"/>
            <a:ext cx="2908300" cy="111568"/>
          </a:xfrm>
          <a:prstGeom prst="rect">
            <a:avLst/>
          </a:prstGeom>
        </p:spPr>
      </p:pic>
      <p:sp>
        <p:nvSpPr>
          <p:cNvPr id="18" name="文本占位符 17">
            <a:extLst>
              <a:ext uri="{FF2B5EF4-FFF2-40B4-BE49-F238E27FC236}">
                <a16:creationId xmlns:a16="http://schemas.microsoft.com/office/drawing/2014/main" id="{C73C918A-C35C-4DBD-9097-07144D33CB00}"/>
              </a:ext>
            </a:extLst>
          </p:cNvPr>
          <p:cNvSpPr>
            <a:spLocks noGrp="1"/>
          </p:cNvSpPr>
          <p:nvPr>
            <p:ph type="body" sz="quarter" idx="13"/>
          </p:nvPr>
        </p:nvSpPr>
        <p:spPr>
          <a:xfrm>
            <a:off x="2569759" y="2028114"/>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22" name="文本占位符 21">
            <a:extLst>
              <a:ext uri="{FF2B5EF4-FFF2-40B4-BE49-F238E27FC236}">
                <a16:creationId xmlns:a16="http://schemas.microsoft.com/office/drawing/2014/main" id="{A55D9FF0-FD22-4D69-ABD4-5574F6DDD2DE}"/>
              </a:ext>
            </a:extLst>
          </p:cNvPr>
          <p:cNvSpPr>
            <a:spLocks noGrp="1"/>
          </p:cNvSpPr>
          <p:nvPr>
            <p:ph type="body" sz="quarter" idx="14"/>
          </p:nvPr>
        </p:nvSpPr>
        <p:spPr>
          <a:xfrm>
            <a:off x="2569759" y="2519790"/>
            <a:ext cx="3250169"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编辑母版文本样式</a:t>
            </a:r>
          </a:p>
        </p:txBody>
      </p:sp>
      <p:sp>
        <p:nvSpPr>
          <p:cNvPr id="30" name="文本占位符 17">
            <a:extLst>
              <a:ext uri="{FF2B5EF4-FFF2-40B4-BE49-F238E27FC236}">
                <a16:creationId xmlns:a16="http://schemas.microsoft.com/office/drawing/2014/main" id="{E3E7A2D5-E546-42EF-8B24-28D9B51F3D63}"/>
              </a:ext>
            </a:extLst>
          </p:cNvPr>
          <p:cNvSpPr>
            <a:spLocks noGrp="1"/>
          </p:cNvSpPr>
          <p:nvPr>
            <p:ph type="body" sz="quarter" idx="15"/>
          </p:nvPr>
        </p:nvSpPr>
        <p:spPr>
          <a:xfrm>
            <a:off x="7152979" y="2028114"/>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31" name="文本占位符 21">
            <a:extLst>
              <a:ext uri="{FF2B5EF4-FFF2-40B4-BE49-F238E27FC236}">
                <a16:creationId xmlns:a16="http://schemas.microsoft.com/office/drawing/2014/main" id="{C820380A-48E4-4515-8865-B73589094AFB}"/>
              </a:ext>
            </a:extLst>
          </p:cNvPr>
          <p:cNvSpPr>
            <a:spLocks noGrp="1"/>
          </p:cNvSpPr>
          <p:nvPr>
            <p:ph type="body" sz="quarter" idx="16"/>
          </p:nvPr>
        </p:nvSpPr>
        <p:spPr>
          <a:xfrm>
            <a:off x="7152979" y="2519790"/>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39" name="文本占位符 17">
            <a:extLst>
              <a:ext uri="{FF2B5EF4-FFF2-40B4-BE49-F238E27FC236}">
                <a16:creationId xmlns:a16="http://schemas.microsoft.com/office/drawing/2014/main" id="{92C8D714-DA0A-42AF-9AEB-408B59B3170A}"/>
              </a:ext>
            </a:extLst>
          </p:cNvPr>
          <p:cNvSpPr>
            <a:spLocks noGrp="1"/>
          </p:cNvSpPr>
          <p:nvPr>
            <p:ph type="body" sz="quarter" idx="17"/>
          </p:nvPr>
        </p:nvSpPr>
        <p:spPr>
          <a:xfrm>
            <a:off x="2569759" y="3329661"/>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0" name="文本占位符 21">
            <a:extLst>
              <a:ext uri="{FF2B5EF4-FFF2-40B4-BE49-F238E27FC236}">
                <a16:creationId xmlns:a16="http://schemas.microsoft.com/office/drawing/2014/main" id="{9F1CD8A8-68D8-46EF-BE97-6AB7216C274D}"/>
              </a:ext>
            </a:extLst>
          </p:cNvPr>
          <p:cNvSpPr>
            <a:spLocks noGrp="1"/>
          </p:cNvSpPr>
          <p:nvPr>
            <p:ph type="body" sz="quarter" idx="18"/>
          </p:nvPr>
        </p:nvSpPr>
        <p:spPr>
          <a:xfrm>
            <a:off x="2569759" y="3821337"/>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2" name="文本占位符 17">
            <a:extLst>
              <a:ext uri="{FF2B5EF4-FFF2-40B4-BE49-F238E27FC236}">
                <a16:creationId xmlns:a16="http://schemas.microsoft.com/office/drawing/2014/main" id="{094A045B-464D-4DF7-B9BF-2F74E634F78D}"/>
              </a:ext>
            </a:extLst>
          </p:cNvPr>
          <p:cNvSpPr>
            <a:spLocks noGrp="1"/>
          </p:cNvSpPr>
          <p:nvPr>
            <p:ph type="body" sz="quarter" idx="19"/>
          </p:nvPr>
        </p:nvSpPr>
        <p:spPr>
          <a:xfrm>
            <a:off x="7152979" y="3329661"/>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3" name="文本占位符 21">
            <a:extLst>
              <a:ext uri="{FF2B5EF4-FFF2-40B4-BE49-F238E27FC236}">
                <a16:creationId xmlns:a16="http://schemas.microsoft.com/office/drawing/2014/main" id="{24FC5B44-4BCE-461C-A227-4DDA77413BEC}"/>
              </a:ext>
            </a:extLst>
          </p:cNvPr>
          <p:cNvSpPr>
            <a:spLocks noGrp="1"/>
          </p:cNvSpPr>
          <p:nvPr>
            <p:ph type="body" sz="quarter" idx="20"/>
          </p:nvPr>
        </p:nvSpPr>
        <p:spPr>
          <a:xfrm>
            <a:off x="7152979" y="3821337"/>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5" name="文本占位符 17">
            <a:extLst>
              <a:ext uri="{FF2B5EF4-FFF2-40B4-BE49-F238E27FC236}">
                <a16:creationId xmlns:a16="http://schemas.microsoft.com/office/drawing/2014/main" id="{939450F7-90D7-4D39-9C67-81EF29B78A46}"/>
              </a:ext>
            </a:extLst>
          </p:cNvPr>
          <p:cNvSpPr>
            <a:spLocks noGrp="1"/>
          </p:cNvSpPr>
          <p:nvPr>
            <p:ph type="body" sz="quarter" idx="21"/>
          </p:nvPr>
        </p:nvSpPr>
        <p:spPr>
          <a:xfrm>
            <a:off x="2569759" y="4712488"/>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6" name="文本占位符 21">
            <a:extLst>
              <a:ext uri="{FF2B5EF4-FFF2-40B4-BE49-F238E27FC236}">
                <a16:creationId xmlns:a16="http://schemas.microsoft.com/office/drawing/2014/main" id="{489A4F79-960D-4E0E-92F5-44ADC3E7DCC7}"/>
              </a:ext>
            </a:extLst>
          </p:cNvPr>
          <p:cNvSpPr>
            <a:spLocks noGrp="1"/>
          </p:cNvSpPr>
          <p:nvPr>
            <p:ph type="body" sz="quarter" idx="22"/>
          </p:nvPr>
        </p:nvSpPr>
        <p:spPr>
          <a:xfrm>
            <a:off x="2569759" y="5204164"/>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8" name="文本占位符 17">
            <a:extLst>
              <a:ext uri="{FF2B5EF4-FFF2-40B4-BE49-F238E27FC236}">
                <a16:creationId xmlns:a16="http://schemas.microsoft.com/office/drawing/2014/main" id="{BD1F4161-C7D8-4991-B3D1-821D38970E19}"/>
              </a:ext>
            </a:extLst>
          </p:cNvPr>
          <p:cNvSpPr>
            <a:spLocks noGrp="1"/>
          </p:cNvSpPr>
          <p:nvPr>
            <p:ph type="body" sz="quarter" idx="23"/>
          </p:nvPr>
        </p:nvSpPr>
        <p:spPr>
          <a:xfrm>
            <a:off x="7152979" y="4712488"/>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9" name="文本占位符 21">
            <a:extLst>
              <a:ext uri="{FF2B5EF4-FFF2-40B4-BE49-F238E27FC236}">
                <a16:creationId xmlns:a16="http://schemas.microsoft.com/office/drawing/2014/main" id="{9ACD3E2E-AFA4-4EA4-868F-8F17634D7D70}"/>
              </a:ext>
            </a:extLst>
          </p:cNvPr>
          <p:cNvSpPr>
            <a:spLocks noGrp="1"/>
          </p:cNvSpPr>
          <p:nvPr>
            <p:ph type="body" sz="quarter" idx="24"/>
          </p:nvPr>
        </p:nvSpPr>
        <p:spPr>
          <a:xfrm>
            <a:off x="7152979" y="5204164"/>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52" name="文本占位符 51">
            <a:extLst>
              <a:ext uri="{FF2B5EF4-FFF2-40B4-BE49-F238E27FC236}">
                <a16:creationId xmlns:a16="http://schemas.microsoft.com/office/drawing/2014/main" id="{AB68936D-40B7-448F-A5B0-1FFCC95446AF}"/>
              </a:ext>
            </a:extLst>
          </p:cNvPr>
          <p:cNvSpPr>
            <a:spLocks noGrp="1"/>
          </p:cNvSpPr>
          <p:nvPr>
            <p:ph type="body" sz="quarter" idx="25" hasCustomPrompt="1"/>
          </p:nvPr>
        </p:nvSpPr>
        <p:spPr>
          <a:xfrm>
            <a:off x="1708078"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2" name="文本占位符 51">
            <a:extLst>
              <a:ext uri="{FF2B5EF4-FFF2-40B4-BE49-F238E27FC236}">
                <a16:creationId xmlns:a16="http://schemas.microsoft.com/office/drawing/2014/main" id="{6DA3D8CD-850A-4608-845A-4D41E939B79E}"/>
              </a:ext>
            </a:extLst>
          </p:cNvPr>
          <p:cNvSpPr>
            <a:spLocks noGrp="1"/>
          </p:cNvSpPr>
          <p:nvPr>
            <p:ph type="body" sz="quarter" idx="26" hasCustomPrompt="1"/>
          </p:nvPr>
        </p:nvSpPr>
        <p:spPr>
          <a:xfrm>
            <a:off x="6283367"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3" name="文本占位符 51">
            <a:extLst>
              <a:ext uri="{FF2B5EF4-FFF2-40B4-BE49-F238E27FC236}">
                <a16:creationId xmlns:a16="http://schemas.microsoft.com/office/drawing/2014/main" id="{3DB4F64D-2F10-480C-B470-4C070035DF9B}"/>
              </a:ext>
            </a:extLst>
          </p:cNvPr>
          <p:cNvSpPr>
            <a:spLocks noGrp="1"/>
          </p:cNvSpPr>
          <p:nvPr>
            <p:ph type="body" sz="quarter" idx="27" hasCustomPrompt="1"/>
          </p:nvPr>
        </p:nvSpPr>
        <p:spPr>
          <a:xfrm>
            <a:off x="1708078" y="333218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4" name="文本占位符 51">
            <a:extLst>
              <a:ext uri="{FF2B5EF4-FFF2-40B4-BE49-F238E27FC236}">
                <a16:creationId xmlns:a16="http://schemas.microsoft.com/office/drawing/2014/main" id="{60AB3A18-7A2F-4FD4-ABB3-1CDE67DF88E1}"/>
              </a:ext>
            </a:extLst>
          </p:cNvPr>
          <p:cNvSpPr>
            <a:spLocks noGrp="1"/>
          </p:cNvSpPr>
          <p:nvPr>
            <p:ph type="body" sz="quarter" idx="28" hasCustomPrompt="1"/>
          </p:nvPr>
        </p:nvSpPr>
        <p:spPr>
          <a:xfrm>
            <a:off x="6283367" y="332842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5" name="文本占位符 51">
            <a:extLst>
              <a:ext uri="{FF2B5EF4-FFF2-40B4-BE49-F238E27FC236}">
                <a16:creationId xmlns:a16="http://schemas.microsoft.com/office/drawing/2014/main" id="{4668EF71-B816-4732-A6FB-9AAEFAF3E5C8}"/>
              </a:ext>
            </a:extLst>
          </p:cNvPr>
          <p:cNvSpPr>
            <a:spLocks noGrp="1"/>
          </p:cNvSpPr>
          <p:nvPr>
            <p:ph type="body" sz="quarter" idx="29" hasCustomPrompt="1"/>
          </p:nvPr>
        </p:nvSpPr>
        <p:spPr>
          <a:xfrm>
            <a:off x="1708078"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6" name="文本占位符 51">
            <a:extLst>
              <a:ext uri="{FF2B5EF4-FFF2-40B4-BE49-F238E27FC236}">
                <a16:creationId xmlns:a16="http://schemas.microsoft.com/office/drawing/2014/main" id="{20285630-4C32-48BA-BF4B-B2730023A00C}"/>
              </a:ext>
            </a:extLst>
          </p:cNvPr>
          <p:cNvSpPr>
            <a:spLocks noGrp="1"/>
          </p:cNvSpPr>
          <p:nvPr>
            <p:ph type="body" sz="quarter" idx="30" hasCustomPrompt="1"/>
          </p:nvPr>
        </p:nvSpPr>
        <p:spPr>
          <a:xfrm>
            <a:off x="6283367"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pic>
        <p:nvPicPr>
          <p:cNvPr id="37" name="图片 36">
            <a:extLst>
              <a:ext uri="{FF2B5EF4-FFF2-40B4-BE49-F238E27FC236}">
                <a16:creationId xmlns:a16="http://schemas.microsoft.com/office/drawing/2014/main" id="{DC204C41-1572-4884-9F8F-D226B9450054}"/>
              </a:ext>
            </a:extLst>
          </p:cNvPr>
          <p:cNvPicPr>
            <a:picLocks noChangeAspect="1"/>
          </p:cNvPicPr>
          <p:nvPr userDrawn="1"/>
        </p:nvPicPr>
        <p:blipFill>
          <a:blip r:embed="rId4"/>
          <a:stretch>
            <a:fillRect/>
          </a:stretch>
        </p:blipFill>
        <p:spPr>
          <a:xfrm>
            <a:off x="9551847" y="550504"/>
            <a:ext cx="1967053" cy="469531"/>
          </a:xfrm>
          <a:prstGeom prst="rect">
            <a:avLst/>
          </a:prstGeom>
        </p:spPr>
      </p:pic>
    </p:spTree>
    <p:extLst>
      <p:ext uri="{BB962C8B-B14F-4D97-AF65-F5344CB8AC3E}">
        <p14:creationId xmlns:p14="http://schemas.microsoft.com/office/powerpoint/2010/main" val="2621862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四项目录">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D95C08E6-650F-4716-BD5F-E7309AFAB73E}"/>
              </a:ext>
            </a:extLst>
          </p:cNvPr>
          <p:cNvSpPr/>
          <p:nvPr userDrawn="1"/>
        </p:nvSpPr>
        <p:spPr>
          <a:xfrm>
            <a:off x="0" y="1130300"/>
            <a:ext cx="12192000" cy="5375272"/>
          </a:xfrm>
          <a:prstGeom prst="rect">
            <a:avLst/>
          </a:prstGeom>
          <a:gradFill>
            <a:gsLst>
              <a:gs pos="0">
                <a:schemeClr val="accent1">
                  <a:lumMod val="5000"/>
                  <a:lumOff val="95000"/>
                  <a:alpha val="93000"/>
                </a:schemeClr>
              </a:gs>
              <a:gs pos="50000">
                <a:srgbClr val="F6FAFF">
                  <a:alpha val="93000"/>
                </a:srgbClr>
              </a:gs>
              <a:gs pos="100000">
                <a:schemeClr val="bg1">
                  <a:alpha val="0"/>
                </a:schemeClr>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1" name="矩形 20">
            <a:extLst>
              <a:ext uri="{FF2B5EF4-FFF2-40B4-BE49-F238E27FC236}">
                <a16:creationId xmlns:a16="http://schemas.microsoft.com/office/drawing/2014/main" id="{F0B970F3-899F-4B6A-8544-6BEE66DCD1E8}"/>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7C070401-592E-44D7-984E-F9FA8BBF29EA}"/>
              </a:ext>
            </a:extLst>
          </p:cNvPr>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FEF23FB8-F858-4EF4-9A4C-8B27C02D4567}"/>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a:extLst>
              <a:ext uri="{FF2B5EF4-FFF2-40B4-BE49-F238E27FC236}">
                <a16:creationId xmlns:a16="http://schemas.microsoft.com/office/drawing/2014/main" id="{6F7494B1-89CC-4440-9787-AE3C0855C84D}"/>
              </a:ext>
            </a:extLst>
          </p:cNvPr>
          <p:cNvPicPr>
            <a:picLocks noChangeAspect="1"/>
          </p:cNvPicPr>
          <p:nvPr userDrawn="1"/>
        </p:nvPicPr>
        <p:blipFill>
          <a:blip r:embed="rId3"/>
          <a:stretch>
            <a:fillRect/>
          </a:stretch>
        </p:blipFill>
        <p:spPr>
          <a:xfrm>
            <a:off x="8610600" y="6626002"/>
            <a:ext cx="2908300" cy="111568"/>
          </a:xfrm>
          <a:prstGeom prst="rect">
            <a:avLst/>
          </a:prstGeom>
        </p:spPr>
      </p:pic>
      <p:pic>
        <p:nvPicPr>
          <p:cNvPr id="56" name="图片 55">
            <a:extLst>
              <a:ext uri="{FF2B5EF4-FFF2-40B4-BE49-F238E27FC236}">
                <a16:creationId xmlns:a16="http://schemas.microsoft.com/office/drawing/2014/main" id="{A5B702B5-21F7-4463-8119-20EDC12691B6}"/>
              </a:ext>
            </a:extLst>
          </p:cNvPr>
          <p:cNvPicPr>
            <a:picLocks noChangeAspect="1"/>
          </p:cNvPicPr>
          <p:nvPr userDrawn="1"/>
        </p:nvPicPr>
        <p:blipFill>
          <a:blip r:embed="rId4"/>
          <a:stretch>
            <a:fillRect/>
          </a:stretch>
        </p:blipFill>
        <p:spPr>
          <a:xfrm>
            <a:off x="660401" y="611569"/>
            <a:ext cx="1747519" cy="417129"/>
          </a:xfrm>
          <a:prstGeom prst="rect">
            <a:avLst/>
          </a:prstGeom>
        </p:spPr>
      </p:pic>
      <p:sp>
        <p:nvSpPr>
          <p:cNvPr id="5" name="文本占位符 4">
            <a:extLst>
              <a:ext uri="{FF2B5EF4-FFF2-40B4-BE49-F238E27FC236}">
                <a16:creationId xmlns:a16="http://schemas.microsoft.com/office/drawing/2014/main" id="{2D5F2F7C-B6BB-4975-90FC-43129AC459E1}"/>
              </a:ext>
            </a:extLst>
          </p:cNvPr>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
        <p:nvSpPr>
          <p:cNvPr id="3" name="文本占位符 2">
            <a:extLst>
              <a:ext uri="{FF2B5EF4-FFF2-40B4-BE49-F238E27FC236}">
                <a16:creationId xmlns:a16="http://schemas.microsoft.com/office/drawing/2014/main" id="{6603695B-E410-470D-8026-AF5AED3AB030}"/>
              </a:ext>
            </a:extLst>
          </p:cNvPr>
          <p:cNvSpPr>
            <a:spLocks noGrp="1"/>
          </p:cNvSpPr>
          <p:nvPr>
            <p:ph type="body" sz="quarter" idx="13" hasCustomPrompt="1"/>
          </p:nvPr>
        </p:nvSpPr>
        <p:spPr>
          <a:xfrm>
            <a:off x="1320160"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0" name="文本占位符 17">
            <a:extLst>
              <a:ext uri="{FF2B5EF4-FFF2-40B4-BE49-F238E27FC236}">
                <a16:creationId xmlns:a16="http://schemas.microsoft.com/office/drawing/2014/main" id="{D4628D5E-8657-47D2-BFF3-FE05E9B009FD}"/>
              </a:ext>
            </a:extLst>
          </p:cNvPr>
          <p:cNvSpPr>
            <a:spLocks noGrp="1"/>
          </p:cNvSpPr>
          <p:nvPr>
            <p:ph type="body" sz="quarter" idx="14" hasCustomPrompt="1"/>
          </p:nvPr>
        </p:nvSpPr>
        <p:spPr>
          <a:xfrm>
            <a:off x="1320160" y="2622561"/>
            <a:ext cx="2376000" cy="361081"/>
          </a:xfrm>
        </p:spPr>
        <p:txBody>
          <a:bodyPr lIns="0" tIns="0" anchor="t" anchorCtr="0">
            <a:noAutofit/>
          </a:bodyPr>
          <a:lstStyle>
            <a:lvl1pPr marL="0" indent="0" algn="l">
              <a:buNone/>
              <a:defRPr sz="3000" b="1">
                <a:solidFill>
                  <a:schemeClr val="tx1">
                    <a:lumMod val="95000"/>
                    <a:lumOff val="5000"/>
                  </a:schemeClr>
                </a:solidFill>
                <a:latin typeface="+mj-ea"/>
                <a:ea typeface="+mj-ea"/>
              </a:defRPr>
            </a:lvl1pPr>
            <a:lvl2pPr marL="457200" indent="0">
              <a:buNone/>
              <a:defRPr/>
            </a:lvl2pPr>
          </a:lstStyle>
          <a:p>
            <a:pPr lvl="0"/>
            <a:r>
              <a:rPr lang="zh-CN" altLang="en-US" dirty="0"/>
              <a:t>编辑文本</a:t>
            </a:r>
          </a:p>
        </p:txBody>
      </p:sp>
      <p:sp>
        <p:nvSpPr>
          <p:cNvPr id="51" name="文本占位符 21">
            <a:extLst>
              <a:ext uri="{FF2B5EF4-FFF2-40B4-BE49-F238E27FC236}">
                <a16:creationId xmlns:a16="http://schemas.microsoft.com/office/drawing/2014/main" id="{1A445DC9-AF52-41B9-BE52-94FB776F1CA0}"/>
              </a:ext>
            </a:extLst>
          </p:cNvPr>
          <p:cNvSpPr>
            <a:spLocks noGrp="1"/>
          </p:cNvSpPr>
          <p:nvPr>
            <p:ph type="body" sz="quarter" idx="15" hasCustomPrompt="1"/>
          </p:nvPr>
        </p:nvSpPr>
        <p:spPr>
          <a:xfrm>
            <a:off x="1320160"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58" name="文本占位符 2">
            <a:extLst>
              <a:ext uri="{FF2B5EF4-FFF2-40B4-BE49-F238E27FC236}">
                <a16:creationId xmlns:a16="http://schemas.microsoft.com/office/drawing/2014/main" id="{4ED10E10-4418-444F-9A7E-8579DA218021}"/>
              </a:ext>
            </a:extLst>
          </p:cNvPr>
          <p:cNvSpPr>
            <a:spLocks noGrp="1"/>
          </p:cNvSpPr>
          <p:nvPr>
            <p:ph type="body" sz="quarter" idx="16" hasCustomPrompt="1"/>
          </p:nvPr>
        </p:nvSpPr>
        <p:spPr>
          <a:xfrm>
            <a:off x="4171321"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9" name="文本占位符 17">
            <a:extLst>
              <a:ext uri="{FF2B5EF4-FFF2-40B4-BE49-F238E27FC236}">
                <a16:creationId xmlns:a16="http://schemas.microsoft.com/office/drawing/2014/main" id="{58F421A8-1F52-44B7-99E0-82FCF910C08B}"/>
              </a:ext>
            </a:extLst>
          </p:cNvPr>
          <p:cNvSpPr>
            <a:spLocks noGrp="1"/>
          </p:cNvSpPr>
          <p:nvPr>
            <p:ph type="body" sz="quarter" idx="17" hasCustomPrompt="1"/>
          </p:nvPr>
        </p:nvSpPr>
        <p:spPr>
          <a:xfrm>
            <a:off x="4171321" y="2622561"/>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0" name="文本占位符 21">
            <a:extLst>
              <a:ext uri="{FF2B5EF4-FFF2-40B4-BE49-F238E27FC236}">
                <a16:creationId xmlns:a16="http://schemas.microsoft.com/office/drawing/2014/main" id="{BCC9515C-247E-45C4-B96C-92597CB8E286}"/>
              </a:ext>
            </a:extLst>
          </p:cNvPr>
          <p:cNvSpPr>
            <a:spLocks noGrp="1"/>
          </p:cNvSpPr>
          <p:nvPr>
            <p:ph type="body" sz="quarter" idx="18" hasCustomPrompt="1"/>
          </p:nvPr>
        </p:nvSpPr>
        <p:spPr>
          <a:xfrm>
            <a:off x="4171321"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1" name="文本占位符 2">
            <a:extLst>
              <a:ext uri="{FF2B5EF4-FFF2-40B4-BE49-F238E27FC236}">
                <a16:creationId xmlns:a16="http://schemas.microsoft.com/office/drawing/2014/main" id="{04822418-D9B5-41BF-9DB5-CE382E9084F2}"/>
              </a:ext>
            </a:extLst>
          </p:cNvPr>
          <p:cNvSpPr>
            <a:spLocks noGrp="1"/>
          </p:cNvSpPr>
          <p:nvPr>
            <p:ph type="body" sz="quarter" idx="19" hasCustomPrompt="1"/>
          </p:nvPr>
        </p:nvSpPr>
        <p:spPr>
          <a:xfrm>
            <a:off x="1320160"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2" name="文本占位符 17">
            <a:extLst>
              <a:ext uri="{FF2B5EF4-FFF2-40B4-BE49-F238E27FC236}">
                <a16:creationId xmlns:a16="http://schemas.microsoft.com/office/drawing/2014/main" id="{AEC3E920-9158-40D5-877A-809183197A6F}"/>
              </a:ext>
            </a:extLst>
          </p:cNvPr>
          <p:cNvSpPr>
            <a:spLocks noGrp="1"/>
          </p:cNvSpPr>
          <p:nvPr>
            <p:ph type="body" sz="quarter" idx="20" hasCustomPrompt="1"/>
          </p:nvPr>
        </p:nvSpPr>
        <p:spPr>
          <a:xfrm>
            <a:off x="1320160"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lvl="0"/>
            <a:r>
              <a:rPr lang="zh-CN" altLang="en-US" dirty="0"/>
              <a:t>编辑文本</a:t>
            </a:r>
          </a:p>
        </p:txBody>
      </p:sp>
      <p:sp>
        <p:nvSpPr>
          <p:cNvPr id="63" name="文本占位符 21">
            <a:extLst>
              <a:ext uri="{FF2B5EF4-FFF2-40B4-BE49-F238E27FC236}">
                <a16:creationId xmlns:a16="http://schemas.microsoft.com/office/drawing/2014/main" id="{181E1569-E929-419A-92A2-DBDC8A36A016}"/>
              </a:ext>
            </a:extLst>
          </p:cNvPr>
          <p:cNvSpPr>
            <a:spLocks noGrp="1"/>
          </p:cNvSpPr>
          <p:nvPr>
            <p:ph type="body" sz="quarter" idx="21" hasCustomPrompt="1"/>
          </p:nvPr>
        </p:nvSpPr>
        <p:spPr>
          <a:xfrm>
            <a:off x="1320160"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4" name="文本占位符 2">
            <a:extLst>
              <a:ext uri="{FF2B5EF4-FFF2-40B4-BE49-F238E27FC236}">
                <a16:creationId xmlns:a16="http://schemas.microsoft.com/office/drawing/2014/main" id="{014596BE-DAA3-48D3-9E36-53BFFC90E35F}"/>
              </a:ext>
            </a:extLst>
          </p:cNvPr>
          <p:cNvSpPr>
            <a:spLocks noGrp="1"/>
          </p:cNvSpPr>
          <p:nvPr>
            <p:ph type="body" sz="quarter" idx="22" hasCustomPrompt="1"/>
          </p:nvPr>
        </p:nvSpPr>
        <p:spPr>
          <a:xfrm>
            <a:off x="4171321"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5" name="文本占位符 17">
            <a:extLst>
              <a:ext uri="{FF2B5EF4-FFF2-40B4-BE49-F238E27FC236}">
                <a16:creationId xmlns:a16="http://schemas.microsoft.com/office/drawing/2014/main" id="{6B0474F5-18F8-494E-A93A-7431814AD3CC}"/>
              </a:ext>
            </a:extLst>
          </p:cNvPr>
          <p:cNvSpPr>
            <a:spLocks noGrp="1"/>
          </p:cNvSpPr>
          <p:nvPr>
            <p:ph type="body" sz="quarter" idx="23" hasCustomPrompt="1"/>
          </p:nvPr>
        </p:nvSpPr>
        <p:spPr>
          <a:xfrm>
            <a:off x="4171321"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6" name="文本占位符 21">
            <a:extLst>
              <a:ext uri="{FF2B5EF4-FFF2-40B4-BE49-F238E27FC236}">
                <a16:creationId xmlns:a16="http://schemas.microsoft.com/office/drawing/2014/main" id="{CE0A22B7-EB8B-46D9-80C0-EC9F8FCA2E81}"/>
              </a:ext>
            </a:extLst>
          </p:cNvPr>
          <p:cNvSpPr>
            <a:spLocks noGrp="1"/>
          </p:cNvSpPr>
          <p:nvPr>
            <p:ph type="body" sz="quarter" idx="24" hasCustomPrompt="1"/>
          </p:nvPr>
        </p:nvSpPr>
        <p:spPr>
          <a:xfrm>
            <a:off x="4171321"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Tree>
    <p:extLst>
      <p:ext uri="{BB962C8B-B14F-4D97-AF65-F5344CB8AC3E}">
        <p14:creationId xmlns:p14="http://schemas.microsoft.com/office/powerpoint/2010/main" val="1924402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D95C08E6-650F-4716-BD5F-E7309AFAB73E}"/>
              </a:ext>
            </a:extLst>
          </p:cNvPr>
          <p:cNvSpPr/>
          <p:nvPr userDrawn="1"/>
        </p:nvSpPr>
        <p:spPr>
          <a:xfrm>
            <a:off x="0" y="1130300"/>
            <a:ext cx="12192000" cy="5357038"/>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grpSp>
        <p:nvGrpSpPr>
          <p:cNvPr id="29" name="组合 28">
            <a:extLst>
              <a:ext uri="{FF2B5EF4-FFF2-40B4-BE49-F238E27FC236}">
                <a16:creationId xmlns:a16="http://schemas.microsoft.com/office/drawing/2014/main" id="{FA154494-C4CB-4134-B170-9FCB65F0E056}"/>
              </a:ext>
            </a:extLst>
          </p:cNvPr>
          <p:cNvGrpSpPr/>
          <p:nvPr userDrawn="1"/>
        </p:nvGrpSpPr>
        <p:grpSpPr>
          <a:xfrm>
            <a:off x="6190092" y="0"/>
            <a:ext cx="6882359" cy="6858000"/>
            <a:chOff x="4804858" y="3977648"/>
            <a:chExt cx="1793875" cy="1787526"/>
          </a:xfrm>
          <a:solidFill>
            <a:schemeClr val="bg1">
              <a:lumMod val="85000"/>
              <a:alpha val="70000"/>
            </a:schemeClr>
          </a:solidFill>
        </p:grpSpPr>
        <p:sp>
          <p:nvSpPr>
            <p:cNvPr id="30" name="Rectangle 51">
              <a:extLst>
                <a:ext uri="{FF2B5EF4-FFF2-40B4-BE49-F238E27FC236}">
                  <a16:creationId xmlns:a16="http://schemas.microsoft.com/office/drawing/2014/main" id="{0CA5A6A9-5F7A-4A1F-A7CB-AF56DD82870F}"/>
                </a:ext>
              </a:extLst>
            </p:cNvPr>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52">
              <a:extLst>
                <a:ext uri="{FF2B5EF4-FFF2-40B4-BE49-F238E27FC236}">
                  <a16:creationId xmlns:a16="http://schemas.microsoft.com/office/drawing/2014/main" id="{867A24B0-D9BF-4E18-9D9B-A9B2DB8D1378}"/>
                </a:ext>
              </a:extLst>
            </p:cNvPr>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53">
              <a:extLst>
                <a:ext uri="{FF2B5EF4-FFF2-40B4-BE49-F238E27FC236}">
                  <a16:creationId xmlns:a16="http://schemas.microsoft.com/office/drawing/2014/main" id="{CC5E87EE-A223-4776-97FA-680101AB2186}"/>
                </a:ext>
              </a:extLst>
            </p:cNvPr>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54">
              <a:extLst>
                <a:ext uri="{FF2B5EF4-FFF2-40B4-BE49-F238E27FC236}">
                  <a16:creationId xmlns:a16="http://schemas.microsoft.com/office/drawing/2014/main" id="{AA1BD646-AD69-4E37-AAC4-EEC540BF9BBF}"/>
                </a:ext>
              </a:extLst>
            </p:cNvPr>
            <p:cNvSpPr>
              <a:spLocks/>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55">
              <a:extLst>
                <a:ext uri="{FF2B5EF4-FFF2-40B4-BE49-F238E27FC236}">
                  <a16:creationId xmlns:a16="http://schemas.microsoft.com/office/drawing/2014/main" id="{9B01B03D-283E-4353-B117-5BD2E64984B0}"/>
                </a:ext>
              </a:extLst>
            </p:cNvPr>
            <p:cNvSpPr>
              <a:spLocks/>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56">
              <a:extLst>
                <a:ext uri="{FF2B5EF4-FFF2-40B4-BE49-F238E27FC236}">
                  <a16:creationId xmlns:a16="http://schemas.microsoft.com/office/drawing/2014/main" id="{E3DC6487-2035-4D8C-ABD9-65015B9327BC}"/>
                </a:ext>
              </a:extLst>
            </p:cNvPr>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57">
              <a:extLst>
                <a:ext uri="{FF2B5EF4-FFF2-40B4-BE49-F238E27FC236}">
                  <a16:creationId xmlns:a16="http://schemas.microsoft.com/office/drawing/2014/main" id="{BD4D8A61-5B58-4064-98B6-EA0590331E60}"/>
                </a:ext>
              </a:extLst>
            </p:cNvPr>
            <p:cNvSpPr>
              <a:spLocks/>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58">
              <a:extLst>
                <a:ext uri="{FF2B5EF4-FFF2-40B4-BE49-F238E27FC236}">
                  <a16:creationId xmlns:a16="http://schemas.microsoft.com/office/drawing/2014/main" id="{DCDD3F66-1FE9-4C27-BA82-07FB097310F3}"/>
                </a:ext>
              </a:extLst>
            </p:cNvPr>
            <p:cNvSpPr>
              <a:spLocks/>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59">
              <a:extLst>
                <a:ext uri="{FF2B5EF4-FFF2-40B4-BE49-F238E27FC236}">
                  <a16:creationId xmlns:a16="http://schemas.microsoft.com/office/drawing/2014/main" id="{04F6FD11-E0D4-43B4-90C7-4A0E926EA480}"/>
                </a:ext>
              </a:extLst>
            </p:cNvPr>
            <p:cNvSpPr>
              <a:spLocks/>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60">
              <a:extLst>
                <a:ext uri="{FF2B5EF4-FFF2-40B4-BE49-F238E27FC236}">
                  <a16:creationId xmlns:a16="http://schemas.microsoft.com/office/drawing/2014/main" id="{FE200AEE-D4A1-4E21-8F5C-297A49BDB2EA}"/>
                </a:ext>
              </a:extLst>
            </p:cNvPr>
            <p:cNvSpPr>
              <a:spLocks/>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61">
              <a:extLst>
                <a:ext uri="{FF2B5EF4-FFF2-40B4-BE49-F238E27FC236}">
                  <a16:creationId xmlns:a16="http://schemas.microsoft.com/office/drawing/2014/main" id="{86159E54-4EC5-4D56-BDA2-17DF7A37AF85}"/>
                </a:ext>
              </a:extLst>
            </p:cNvPr>
            <p:cNvSpPr>
              <a:spLocks/>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62">
              <a:extLst>
                <a:ext uri="{FF2B5EF4-FFF2-40B4-BE49-F238E27FC236}">
                  <a16:creationId xmlns:a16="http://schemas.microsoft.com/office/drawing/2014/main" id="{0A8A6A06-FBF4-4AFC-BBBA-4E22E9C84C64}"/>
                </a:ext>
              </a:extLst>
            </p:cNvPr>
            <p:cNvSpPr>
              <a:spLocks/>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63">
              <a:extLst>
                <a:ext uri="{FF2B5EF4-FFF2-40B4-BE49-F238E27FC236}">
                  <a16:creationId xmlns:a16="http://schemas.microsoft.com/office/drawing/2014/main" id="{05BECB14-101A-40C8-91C0-90AB5D053C0D}"/>
                </a:ext>
              </a:extLst>
            </p:cNvPr>
            <p:cNvSpPr>
              <a:spLocks/>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64">
              <a:extLst>
                <a:ext uri="{FF2B5EF4-FFF2-40B4-BE49-F238E27FC236}">
                  <a16:creationId xmlns:a16="http://schemas.microsoft.com/office/drawing/2014/main" id="{C8E54980-2AFF-481A-9172-813B1144D964}"/>
                </a:ext>
              </a:extLst>
            </p:cNvPr>
            <p:cNvSpPr>
              <a:spLocks/>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65">
              <a:extLst>
                <a:ext uri="{FF2B5EF4-FFF2-40B4-BE49-F238E27FC236}">
                  <a16:creationId xmlns:a16="http://schemas.microsoft.com/office/drawing/2014/main" id="{70EA85F6-4343-4B69-A812-A3891ADC66F0}"/>
                </a:ext>
              </a:extLst>
            </p:cNvPr>
            <p:cNvSpPr>
              <a:spLocks/>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66">
              <a:extLst>
                <a:ext uri="{FF2B5EF4-FFF2-40B4-BE49-F238E27FC236}">
                  <a16:creationId xmlns:a16="http://schemas.microsoft.com/office/drawing/2014/main" id="{DD769AD1-4A03-4B7F-9DE7-52A5BE103254}"/>
                </a:ext>
              </a:extLst>
            </p:cNvPr>
            <p:cNvSpPr>
              <a:spLocks/>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67">
              <a:extLst>
                <a:ext uri="{FF2B5EF4-FFF2-40B4-BE49-F238E27FC236}">
                  <a16:creationId xmlns:a16="http://schemas.microsoft.com/office/drawing/2014/main" id="{73BA7010-9DCC-4238-AEE8-C7FC41AEDFD1}"/>
                </a:ext>
              </a:extLst>
            </p:cNvPr>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68">
              <a:extLst>
                <a:ext uri="{FF2B5EF4-FFF2-40B4-BE49-F238E27FC236}">
                  <a16:creationId xmlns:a16="http://schemas.microsoft.com/office/drawing/2014/main" id="{434E4E18-427D-4749-8268-8D82C4BD9359}"/>
                </a:ext>
              </a:extLst>
            </p:cNvPr>
            <p:cNvSpPr>
              <a:spLocks/>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69">
              <a:extLst>
                <a:ext uri="{FF2B5EF4-FFF2-40B4-BE49-F238E27FC236}">
                  <a16:creationId xmlns:a16="http://schemas.microsoft.com/office/drawing/2014/main" id="{D700C67B-4D7A-45D5-B610-562ABFCAED42}"/>
                </a:ext>
              </a:extLst>
            </p:cNvPr>
            <p:cNvSpPr>
              <a:spLocks/>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70">
              <a:extLst>
                <a:ext uri="{FF2B5EF4-FFF2-40B4-BE49-F238E27FC236}">
                  <a16:creationId xmlns:a16="http://schemas.microsoft.com/office/drawing/2014/main" id="{BDF63ECB-E04D-4D9E-83A7-219A2ADA24A2}"/>
                </a:ext>
              </a:extLst>
            </p:cNvPr>
            <p:cNvSpPr>
              <a:spLocks/>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矩形 20">
            <a:extLst>
              <a:ext uri="{FF2B5EF4-FFF2-40B4-BE49-F238E27FC236}">
                <a16:creationId xmlns:a16="http://schemas.microsoft.com/office/drawing/2014/main" id="{F0B970F3-899F-4B6A-8544-6BEE66DCD1E8}"/>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7C070401-592E-44D7-984E-F9FA8BBF29EA}"/>
              </a:ext>
            </a:extLst>
          </p:cNvPr>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FEF23FB8-F858-4EF4-9A4C-8B27C02D4567}"/>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a:extLst>
              <a:ext uri="{FF2B5EF4-FFF2-40B4-BE49-F238E27FC236}">
                <a16:creationId xmlns:a16="http://schemas.microsoft.com/office/drawing/2014/main" id="{6F7494B1-89CC-4440-9787-AE3C0855C84D}"/>
              </a:ext>
            </a:extLst>
          </p:cNvPr>
          <p:cNvPicPr>
            <a:picLocks noChangeAspect="1"/>
          </p:cNvPicPr>
          <p:nvPr userDrawn="1"/>
        </p:nvPicPr>
        <p:blipFill>
          <a:blip r:embed="rId3"/>
          <a:stretch>
            <a:fillRect/>
          </a:stretch>
        </p:blipFill>
        <p:spPr>
          <a:xfrm>
            <a:off x="8610600" y="6626002"/>
            <a:ext cx="2908300" cy="111568"/>
          </a:xfrm>
          <a:prstGeom prst="rect">
            <a:avLst/>
          </a:prstGeom>
        </p:spPr>
      </p:pic>
      <p:sp>
        <p:nvSpPr>
          <p:cNvPr id="53" name="文本占位符 52">
            <a:extLst>
              <a:ext uri="{FF2B5EF4-FFF2-40B4-BE49-F238E27FC236}">
                <a16:creationId xmlns:a16="http://schemas.microsoft.com/office/drawing/2014/main" id="{170122F7-E3E5-48F7-83C3-31548943A36F}"/>
              </a:ext>
            </a:extLst>
          </p:cNvPr>
          <p:cNvSpPr>
            <a:spLocks noGrp="1"/>
          </p:cNvSpPr>
          <p:nvPr>
            <p:ph type="body" sz="quarter" idx="10" hasCustomPrompt="1"/>
          </p:nvPr>
        </p:nvSpPr>
        <p:spPr>
          <a:xfrm>
            <a:off x="1842552" y="2204791"/>
            <a:ext cx="2706708" cy="2336718"/>
          </a:xfrm>
        </p:spPr>
        <p:txBody>
          <a:bodyPr lIns="0" anchor="ctr" anchorCtr="0">
            <a:noAutofit/>
          </a:bodyPr>
          <a:lstStyle>
            <a:lvl1pPr marL="0" indent="0" algn="l">
              <a:buNone/>
              <a:defRPr sz="16800">
                <a:gradFill>
                  <a:gsLst>
                    <a:gs pos="0">
                      <a:schemeClr val="accent1">
                        <a:alpha val="90000"/>
                      </a:schemeClr>
                    </a:gs>
                    <a:gs pos="100000">
                      <a:schemeClr val="accent1">
                        <a:lumMod val="20000"/>
                        <a:lumOff val="80000"/>
                        <a:alpha val="0"/>
                      </a:schemeClr>
                    </a:gs>
                  </a:gsLst>
                  <a:lin ang="5400000" scaled="1"/>
                </a:gradFill>
                <a:latin typeface="Impact" panose="020B0806030902050204" pitchFamily="34" charset="0"/>
              </a:defRPr>
            </a:lvl1pPr>
            <a:lvl2pPr marL="457200" indent="0">
              <a:buNone/>
              <a:defRPr/>
            </a:lvl2pPr>
          </a:lstStyle>
          <a:p>
            <a:pPr lvl="0"/>
            <a:r>
              <a:rPr lang="en-US" altLang="zh-CN" dirty="0"/>
              <a:t>00</a:t>
            </a:r>
            <a:endParaRPr lang="zh-CN" altLang="en-US" dirty="0"/>
          </a:p>
        </p:txBody>
      </p:sp>
      <p:sp>
        <p:nvSpPr>
          <p:cNvPr id="27" name="标题 26">
            <a:extLst>
              <a:ext uri="{FF2B5EF4-FFF2-40B4-BE49-F238E27FC236}">
                <a16:creationId xmlns:a16="http://schemas.microsoft.com/office/drawing/2014/main" id="{1CA0DE95-F720-474E-97A3-DACAD6C3A7E7}"/>
              </a:ext>
            </a:extLst>
          </p:cNvPr>
          <p:cNvSpPr>
            <a:spLocks noGrp="1"/>
          </p:cNvSpPr>
          <p:nvPr>
            <p:ph type="title" hasCustomPrompt="1"/>
          </p:nvPr>
        </p:nvSpPr>
        <p:spPr>
          <a:xfrm>
            <a:off x="1842552" y="3689995"/>
            <a:ext cx="4012560" cy="552357"/>
          </a:xfrm>
        </p:spPr>
        <p:txBody>
          <a:bodyPr lIns="0">
            <a:noAutofit/>
          </a:bodyPr>
          <a:lstStyle>
            <a:lvl1pPr algn="l">
              <a:defRPr sz="5400" b="1">
                <a:solidFill>
                  <a:schemeClr val="accent1"/>
                </a:solidFill>
              </a:defRPr>
            </a:lvl1pPr>
          </a:lstStyle>
          <a:p>
            <a:r>
              <a:rPr lang="zh-CN" altLang="en-US" dirty="0"/>
              <a:t>章节题目</a:t>
            </a:r>
          </a:p>
        </p:txBody>
      </p:sp>
      <p:pic>
        <p:nvPicPr>
          <p:cNvPr id="56" name="图片 55">
            <a:extLst>
              <a:ext uri="{FF2B5EF4-FFF2-40B4-BE49-F238E27FC236}">
                <a16:creationId xmlns:a16="http://schemas.microsoft.com/office/drawing/2014/main" id="{A5B702B5-21F7-4463-8119-20EDC12691B6}"/>
              </a:ext>
            </a:extLst>
          </p:cNvPr>
          <p:cNvPicPr>
            <a:picLocks noChangeAspect="1"/>
          </p:cNvPicPr>
          <p:nvPr userDrawn="1"/>
        </p:nvPicPr>
        <p:blipFill>
          <a:blip r:embed="rId4"/>
          <a:stretch>
            <a:fillRect/>
          </a:stretch>
        </p:blipFill>
        <p:spPr>
          <a:xfrm>
            <a:off x="660401" y="611569"/>
            <a:ext cx="1747519" cy="417129"/>
          </a:xfrm>
          <a:prstGeom prst="rect">
            <a:avLst/>
          </a:prstGeom>
        </p:spPr>
      </p:pic>
      <p:sp>
        <p:nvSpPr>
          <p:cNvPr id="58" name="文本占位符 57">
            <a:extLst>
              <a:ext uri="{FF2B5EF4-FFF2-40B4-BE49-F238E27FC236}">
                <a16:creationId xmlns:a16="http://schemas.microsoft.com/office/drawing/2014/main" id="{B7188D90-168E-4649-910B-8A6A3BD06B20}"/>
              </a:ext>
            </a:extLst>
          </p:cNvPr>
          <p:cNvSpPr>
            <a:spLocks noGrp="1"/>
          </p:cNvSpPr>
          <p:nvPr>
            <p:ph type="body" sz="quarter" idx="11" hasCustomPrompt="1"/>
          </p:nvPr>
        </p:nvSpPr>
        <p:spPr>
          <a:xfrm>
            <a:off x="1842552" y="4305568"/>
            <a:ext cx="4012560" cy="471882"/>
          </a:xfrm>
        </p:spPr>
        <p:txBody>
          <a:bodyPr lIns="0">
            <a:noAutofit/>
          </a:bodyPr>
          <a:lstStyle>
            <a:lvl1pPr marL="0" indent="0" algn="l">
              <a:buNone/>
              <a:defRPr sz="2400">
                <a:solidFill>
                  <a:schemeClr val="bg1">
                    <a:lumMod val="50000"/>
                  </a:schemeClr>
                </a:solidFill>
              </a:defRPr>
            </a:lvl1pPr>
            <a:lvl2pPr marL="457200" indent="0">
              <a:buNone/>
              <a:defRPr/>
            </a:lvl2pPr>
          </a:lstStyle>
          <a:p>
            <a:pPr lvl="0"/>
            <a:r>
              <a:rPr lang="zh-CN" altLang="en-US" dirty="0"/>
              <a:t>插入章节描述或者英文</a:t>
            </a:r>
          </a:p>
        </p:txBody>
      </p:sp>
      <p:sp>
        <p:nvSpPr>
          <p:cNvPr id="5" name="文本占位符 4">
            <a:extLst>
              <a:ext uri="{FF2B5EF4-FFF2-40B4-BE49-F238E27FC236}">
                <a16:creationId xmlns:a16="http://schemas.microsoft.com/office/drawing/2014/main" id="{2D5F2F7C-B6BB-4975-90FC-43129AC459E1}"/>
              </a:ext>
            </a:extLst>
          </p:cNvPr>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Tree>
    <p:extLst>
      <p:ext uri="{BB962C8B-B14F-4D97-AF65-F5344CB8AC3E}">
        <p14:creationId xmlns:p14="http://schemas.microsoft.com/office/powerpoint/2010/main" val="1149512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尾幻灯片">
    <p:spTree>
      <p:nvGrpSpPr>
        <p:cNvPr id="1" name=""/>
        <p:cNvGrpSpPr/>
        <p:nvPr/>
      </p:nvGrpSpPr>
      <p:grpSpPr>
        <a:xfrm>
          <a:off x="0" y="0"/>
          <a:ext cx="0" cy="0"/>
          <a:chOff x="0" y="0"/>
          <a:chExt cx="0" cy="0"/>
        </a:xfrm>
      </p:grpSpPr>
      <p:sp>
        <p:nvSpPr>
          <p:cNvPr id="17" name="任意多边形: 形状 16">
            <a:extLst>
              <a:ext uri="{FF2B5EF4-FFF2-40B4-BE49-F238E27FC236}">
                <a16:creationId xmlns:a16="http://schemas.microsoft.com/office/drawing/2014/main" id="{C0EB142D-9574-4384-A5E6-34C00A42B34F}"/>
              </a:ext>
            </a:extLst>
          </p:cNvPr>
          <p:cNvSpPr/>
          <p:nvPr userDrawn="1"/>
        </p:nvSpPr>
        <p:spPr>
          <a:xfrm>
            <a:off x="0" y="0"/>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a:extLst>
              <a:ext uri="{FF2B5EF4-FFF2-40B4-BE49-F238E27FC236}">
                <a16:creationId xmlns:a16="http://schemas.microsoft.com/office/drawing/2014/main" id="{A19665FE-503E-4460-BDD1-6DCF431D60E5}"/>
              </a:ext>
            </a:extLst>
          </p:cNvPr>
          <p:cNvSpPr/>
          <p:nvPr userDrawn="1"/>
        </p:nvSpPr>
        <p:spPr>
          <a:xfrm>
            <a:off x="289383" y="254634"/>
            <a:ext cx="11613235" cy="6348733"/>
          </a:xfrm>
          <a:prstGeom prst="roundRect">
            <a:avLst>
              <a:gd name="adj" fmla="val 1328"/>
            </a:avLst>
          </a:prstGeom>
          <a:solidFill>
            <a:schemeClr val="bg1">
              <a:alpha val="90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429AF2EF-D536-42D3-86A7-16327B81A270}"/>
              </a:ext>
            </a:extLst>
          </p:cNvPr>
          <p:cNvGrpSpPr/>
          <p:nvPr userDrawn="1"/>
        </p:nvGrpSpPr>
        <p:grpSpPr>
          <a:xfrm>
            <a:off x="8817557" y="0"/>
            <a:ext cx="6882359" cy="6858000"/>
            <a:chOff x="4804858" y="3977648"/>
            <a:chExt cx="1793875" cy="1787526"/>
          </a:xfrm>
          <a:solidFill>
            <a:schemeClr val="bg1">
              <a:lumMod val="85000"/>
              <a:alpha val="40000"/>
            </a:schemeClr>
          </a:solidFill>
        </p:grpSpPr>
        <p:sp>
          <p:nvSpPr>
            <p:cNvPr id="42" name="Rectangle 51">
              <a:extLst>
                <a:ext uri="{FF2B5EF4-FFF2-40B4-BE49-F238E27FC236}">
                  <a16:creationId xmlns:a16="http://schemas.microsoft.com/office/drawing/2014/main" id="{6713D310-EEAB-4462-AE9C-747C64BF35BC}"/>
                </a:ext>
              </a:extLst>
            </p:cNvPr>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52">
              <a:extLst>
                <a:ext uri="{FF2B5EF4-FFF2-40B4-BE49-F238E27FC236}">
                  <a16:creationId xmlns:a16="http://schemas.microsoft.com/office/drawing/2014/main" id="{FDF2ACF9-F5B5-4A65-9F62-CA1334D7F006}"/>
                </a:ext>
              </a:extLst>
            </p:cNvPr>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53">
              <a:extLst>
                <a:ext uri="{FF2B5EF4-FFF2-40B4-BE49-F238E27FC236}">
                  <a16:creationId xmlns:a16="http://schemas.microsoft.com/office/drawing/2014/main" id="{2028C96A-498C-4DC3-9A17-28E4317CB04A}"/>
                </a:ext>
              </a:extLst>
            </p:cNvPr>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54">
              <a:extLst>
                <a:ext uri="{FF2B5EF4-FFF2-40B4-BE49-F238E27FC236}">
                  <a16:creationId xmlns:a16="http://schemas.microsoft.com/office/drawing/2014/main" id="{734A2889-6417-4A17-B2CB-D074F35E744B}"/>
                </a:ext>
              </a:extLst>
            </p:cNvPr>
            <p:cNvSpPr>
              <a:spLocks/>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55">
              <a:extLst>
                <a:ext uri="{FF2B5EF4-FFF2-40B4-BE49-F238E27FC236}">
                  <a16:creationId xmlns:a16="http://schemas.microsoft.com/office/drawing/2014/main" id="{CE3D9E6B-856B-4ACD-9720-4C8030A12321}"/>
                </a:ext>
              </a:extLst>
            </p:cNvPr>
            <p:cNvSpPr>
              <a:spLocks/>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56">
              <a:extLst>
                <a:ext uri="{FF2B5EF4-FFF2-40B4-BE49-F238E27FC236}">
                  <a16:creationId xmlns:a16="http://schemas.microsoft.com/office/drawing/2014/main" id="{1DE7746A-6B89-42A1-AF1B-D2A6E02FE29E}"/>
                </a:ext>
              </a:extLst>
            </p:cNvPr>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57">
              <a:extLst>
                <a:ext uri="{FF2B5EF4-FFF2-40B4-BE49-F238E27FC236}">
                  <a16:creationId xmlns:a16="http://schemas.microsoft.com/office/drawing/2014/main" id="{F790BB2D-DB9B-40EB-9248-310A17DE67F1}"/>
                </a:ext>
              </a:extLst>
            </p:cNvPr>
            <p:cNvSpPr>
              <a:spLocks/>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58">
              <a:extLst>
                <a:ext uri="{FF2B5EF4-FFF2-40B4-BE49-F238E27FC236}">
                  <a16:creationId xmlns:a16="http://schemas.microsoft.com/office/drawing/2014/main" id="{FC881B05-F5FE-4E93-9EE5-329CEA052900}"/>
                </a:ext>
              </a:extLst>
            </p:cNvPr>
            <p:cNvSpPr>
              <a:spLocks/>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59">
              <a:extLst>
                <a:ext uri="{FF2B5EF4-FFF2-40B4-BE49-F238E27FC236}">
                  <a16:creationId xmlns:a16="http://schemas.microsoft.com/office/drawing/2014/main" id="{1F3EE822-4F13-4995-8B88-14F3355DC4E3}"/>
                </a:ext>
              </a:extLst>
            </p:cNvPr>
            <p:cNvSpPr>
              <a:spLocks/>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60">
              <a:extLst>
                <a:ext uri="{FF2B5EF4-FFF2-40B4-BE49-F238E27FC236}">
                  <a16:creationId xmlns:a16="http://schemas.microsoft.com/office/drawing/2014/main" id="{6B861C13-21B3-4954-83ED-2A8A0932E1B5}"/>
                </a:ext>
              </a:extLst>
            </p:cNvPr>
            <p:cNvSpPr>
              <a:spLocks/>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61">
              <a:extLst>
                <a:ext uri="{FF2B5EF4-FFF2-40B4-BE49-F238E27FC236}">
                  <a16:creationId xmlns:a16="http://schemas.microsoft.com/office/drawing/2014/main" id="{F31CE27D-48F1-4F7C-9F65-82597B1E2F5A}"/>
                </a:ext>
              </a:extLst>
            </p:cNvPr>
            <p:cNvSpPr>
              <a:spLocks/>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62">
              <a:extLst>
                <a:ext uri="{FF2B5EF4-FFF2-40B4-BE49-F238E27FC236}">
                  <a16:creationId xmlns:a16="http://schemas.microsoft.com/office/drawing/2014/main" id="{E749DC76-AF97-475D-9287-67CD09394956}"/>
                </a:ext>
              </a:extLst>
            </p:cNvPr>
            <p:cNvSpPr>
              <a:spLocks/>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63">
              <a:extLst>
                <a:ext uri="{FF2B5EF4-FFF2-40B4-BE49-F238E27FC236}">
                  <a16:creationId xmlns:a16="http://schemas.microsoft.com/office/drawing/2014/main" id="{D7544BF4-7F78-4262-86C9-07FC6EA0E88B}"/>
                </a:ext>
              </a:extLst>
            </p:cNvPr>
            <p:cNvSpPr>
              <a:spLocks/>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64">
              <a:extLst>
                <a:ext uri="{FF2B5EF4-FFF2-40B4-BE49-F238E27FC236}">
                  <a16:creationId xmlns:a16="http://schemas.microsoft.com/office/drawing/2014/main" id="{78920277-B1AA-4CF0-AAC7-39542AB82D5C}"/>
                </a:ext>
              </a:extLst>
            </p:cNvPr>
            <p:cNvSpPr>
              <a:spLocks/>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65">
              <a:extLst>
                <a:ext uri="{FF2B5EF4-FFF2-40B4-BE49-F238E27FC236}">
                  <a16:creationId xmlns:a16="http://schemas.microsoft.com/office/drawing/2014/main" id="{A54BCB52-20FB-411B-B5C3-5114FD578329}"/>
                </a:ext>
              </a:extLst>
            </p:cNvPr>
            <p:cNvSpPr>
              <a:spLocks/>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66">
              <a:extLst>
                <a:ext uri="{FF2B5EF4-FFF2-40B4-BE49-F238E27FC236}">
                  <a16:creationId xmlns:a16="http://schemas.microsoft.com/office/drawing/2014/main" id="{8C9E9751-5F90-468C-ADA3-17EB4C042CA0}"/>
                </a:ext>
              </a:extLst>
            </p:cNvPr>
            <p:cNvSpPr>
              <a:spLocks/>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67">
              <a:extLst>
                <a:ext uri="{FF2B5EF4-FFF2-40B4-BE49-F238E27FC236}">
                  <a16:creationId xmlns:a16="http://schemas.microsoft.com/office/drawing/2014/main" id="{3BDF1643-2E89-451C-8DBB-3384B4FDA537}"/>
                </a:ext>
              </a:extLst>
            </p:cNvPr>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68">
              <a:extLst>
                <a:ext uri="{FF2B5EF4-FFF2-40B4-BE49-F238E27FC236}">
                  <a16:creationId xmlns:a16="http://schemas.microsoft.com/office/drawing/2014/main" id="{015BF771-E8FB-492E-9FB3-3B6694E64A6A}"/>
                </a:ext>
              </a:extLst>
            </p:cNvPr>
            <p:cNvSpPr>
              <a:spLocks/>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69">
              <a:extLst>
                <a:ext uri="{FF2B5EF4-FFF2-40B4-BE49-F238E27FC236}">
                  <a16:creationId xmlns:a16="http://schemas.microsoft.com/office/drawing/2014/main" id="{D1FAA13E-7209-4451-89BD-CA978A6CA041}"/>
                </a:ext>
              </a:extLst>
            </p:cNvPr>
            <p:cNvSpPr>
              <a:spLocks/>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70">
              <a:extLst>
                <a:ext uri="{FF2B5EF4-FFF2-40B4-BE49-F238E27FC236}">
                  <a16:creationId xmlns:a16="http://schemas.microsoft.com/office/drawing/2014/main" id="{8E2E4C7D-FFF9-4617-8DFA-F21FDED366F6}"/>
                </a:ext>
              </a:extLst>
            </p:cNvPr>
            <p:cNvSpPr>
              <a:spLocks/>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2" name="组合 61">
            <a:extLst>
              <a:ext uri="{FF2B5EF4-FFF2-40B4-BE49-F238E27FC236}">
                <a16:creationId xmlns:a16="http://schemas.microsoft.com/office/drawing/2014/main" id="{6ADBFEBD-5E77-4378-BA2D-B0541D3F26E0}"/>
              </a:ext>
            </a:extLst>
          </p:cNvPr>
          <p:cNvGrpSpPr/>
          <p:nvPr userDrawn="1"/>
        </p:nvGrpSpPr>
        <p:grpSpPr>
          <a:xfrm>
            <a:off x="-3520096" y="0"/>
            <a:ext cx="6882359" cy="6858000"/>
            <a:chOff x="4804858" y="3977648"/>
            <a:chExt cx="1793875" cy="1787526"/>
          </a:xfrm>
          <a:solidFill>
            <a:schemeClr val="bg1">
              <a:lumMod val="85000"/>
              <a:alpha val="40000"/>
            </a:schemeClr>
          </a:solidFill>
        </p:grpSpPr>
        <p:sp>
          <p:nvSpPr>
            <p:cNvPr id="63" name="Rectangle 51">
              <a:extLst>
                <a:ext uri="{FF2B5EF4-FFF2-40B4-BE49-F238E27FC236}">
                  <a16:creationId xmlns:a16="http://schemas.microsoft.com/office/drawing/2014/main" id="{6B7E4719-139E-4E9A-A3D6-93F5E30A9C33}"/>
                </a:ext>
              </a:extLst>
            </p:cNvPr>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52">
              <a:extLst>
                <a:ext uri="{FF2B5EF4-FFF2-40B4-BE49-F238E27FC236}">
                  <a16:creationId xmlns:a16="http://schemas.microsoft.com/office/drawing/2014/main" id="{68F124EC-6F9B-4B28-9F3F-4F9963C51203}"/>
                </a:ext>
              </a:extLst>
            </p:cNvPr>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53">
              <a:extLst>
                <a:ext uri="{FF2B5EF4-FFF2-40B4-BE49-F238E27FC236}">
                  <a16:creationId xmlns:a16="http://schemas.microsoft.com/office/drawing/2014/main" id="{45425EF7-6385-4D0B-A112-1C196F41AF14}"/>
                </a:ext>
              </a:extLst>
            </p:cNvPr>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54">
              <a:extLst>
                <a:ext uri="{FF2B5EF4-FFF2-40B4-BE49-F238E27FC236}">
                  <a16:creationId xmlns:a16="http://schemas.microsoft.com/office/drawing/2014/main" id="{055993F8-9DEA-46BA-A6E9-1748D40635A3}"/>
                </a:ext>
              </a:extLst>
            </p:cNvPr>
            <p:cNvSpPr>
              <a:spLocks/>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55">
              <a:extLst>
                <a:ext uri="{FF2B5EF4-FFF2-40B4-BE49-F238E27FC236}">
                  <a16:creationId xmlns:a16="http://schemas.microsoft.com/office/drawing/2014/main" id="{121C4019-58B2-4336-A5C8-41A1D3EEC08F}"/>
                </a:ext>
              </a:extLst>
            </p:cNvPr>
            <p:cNvSpPr>
              <a:spLocks/>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56">
              <a:extLst>
                <a:ext uri="{FF2B5EF4-FFF2-40B4-BE49-F238E27FC236}">
                  <a16:creationId xmlns:a16="http://schemas.microsoft.com/office/drawing/2014/main" id="{4E1BFDFE-14F3-43F3-96A9-4983249295DB}"/>
                </a:ext>
              </a:extLst>
            </p:cNvPr>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Freeform 57">
              <a:extLst>
                <a:ext uri="{FF2B5EF4-FFF2-40B4-BE49-F238E27FC236}">
                  <a16:creationId xmlns:a16="http://schemas.microsoft.com/office/drawing/2014/main" id="{DB8CF6AA-A277-4BB3-9468-1EB39BFE9EA7}"/>
                </a:ext>
              </a:extLst>
            </p:cNvPr>
            <p:cNvSpPr>
              <a:spLocks/>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58">
              <a:extLst>
                <a:ext uri="{FF2B5EF4-FFF2-40B4-BE49-F238E27FC236}">
                  <a16:creationId xmlns:a16="http://schemas.microsoft.com/office/drawing/2014/main" id="{78D65A36-0655-44D3-8E49-7457D01C8D57}"/>
                </a:ext>
              </a:extLst>
            </p:cNvPr>
            <p:cNvSpPr>
              <a:spLocks/>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59">
              <a:extLst>
                <a:ext uri="{FF2B5EF4-FFF2-40B4-BE49-F238E27FC236}">
                  <a16:creationId xmlns:a16="http://schemas.microsoft.com/office/drawing/2014/main" id="{133CAF8F-2240-48FB-A5D0-092D16179177}"/>
                </a:ext>
              </a:extLst>
            </p:cNvPr>
            <p:cNvSpPr>
              <a:spLocks/>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60">
              <a:extLst>
                <a:ext uri="{FF2B5EF4-FFF2-40B4-BE49-F238E27FC236}">
                  <a16:creationId xmlns:a16="http://schemas.microsoft.com/office/drawing/2014/main" id="{EF673BFB-5245-4EA1-B1F4-12DD2C4A225B}"/>
                </a:ext>
              </a:extLst>
            </p:cNvPr>
            <p:cNvSpPr>
              <a:spLocks/>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61">
              <a:extLst>
                <a:ext uri="{FF2B5EF4-FFF2-40B4-BE49-F238E27FC236}">
                  <a16:creationId xmlns:a16="http://schemas.microsoft.com/office/drawing/2014/main" id="{887C566D-5AAE-4C01-992E-34CC7BAC8DBF}"/>
                </a:ext>
              </a:extLst>
            </p:cNvPr>
            <p:cNvSpPr>
              <a:spLocks/>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62">
              <a:extLst>
                <a:ext uri="{FF2B5EF4-FFF2-40B4-BE49-F238E27FC236}">
                  <a16:creationId xmlns:a16="http://schemas.microsoft.com/office/drawing/2014/main" id="{3D7121C0-EFD3-4D2C-967A-CD5B1AF057FE}"/>
                </a:ext>
              </a:extLst>
            </p:cNvPr>
            <p:cNvSpPr>
              <a:spLocks/>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63">
              <a:extLst>
                <a:ext uri="{FF2B5EF4-FFF2-40B4-BE49-F238E27FC236}">
                  <a16:creationId xmlns:a16="http://schemas.microsoft.com/office/drawing/2014/main" id="{45839955-055F-49A5-B3BA-6D552FD178A2}"/>
                </a:ext>
              </a:extLst>
            </p:cNvPr>
            <p:cNvSpPr>
              <a:spLocks/>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64">
              <a:extLst>
                <a:ext uri="{FF2B5EF4-FFF2-40B4-BE49-F238E27FC236}">
                  <a16:creationId xmlns:a16="http://schemas.microsoft.com/office/drawing/2014/main" id="{B6C6CCCB-35EE-46EE-B908-A1DE910CA866}"/>
                </a:ext>
              </a:extLst>
            </p:cNvPr>
            <p:cNvSpPr>
              <a:spLocks/>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65">
              <a:extLst>
                <a:ext uri="{FF2B5EF4-FFF2-40B4-BE49-F238E27FC236}">
                  <a16:creationId xmlns:a16="http://schemas.microsoft.com/office/drawing/2014/main" id="{92D8A39E-B4DB-4A16-A95E-084DD81665F1}"/>
                </a:ext>
              </a:extLst>
            </p:cNvPr>
            <p:cNvSpPr>
              <a:spLocks/>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66">
              <a:extLst>
                <a:ext uri="{FF2B5EF4-FFF2-40B4-BE49-F238E27FC236}">
                  <a16:creationId xmlns:a16="http://schemas.microsoft.com/office/drawing/2014/main" id="{304C3957-ED5B-4A8C-A6F0-EE36192EF7FF}"/>
                </a:ext>
              </a:extLst>
            </p:cNvPr>
            <p:cNvSpPr>
              <a:spLocks/>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67">
              <a:extLst>
                <a:ext uri="{FF2B5EF4-FFF2-40B4-BE49-F238E27FC236}">
                  <a16:creationId xmlns:a16="http://schemas.microsoft.com/office/drawing/2014/main" id="{8E6FBDE8-DC43-44EF-B9D9-E9BF8A211FC2}"/>
                </a:ext>
              </a:extLst>
            </p:cNvPr>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68">
              <a:extLst>
                <a:ext uri="{FF2B5EF4-FFF2-40B4-BE49-F238E27FC236}">
                  <a16:creationId xmlns:a16="http://schemas.microsoft.com/office/drawing/2014/main" id="{D03EA49C-0014-44EE-981A-8EBA7CBBFDEA}"/>
                </a:ext>
              </a:extLst>
            </p:cNvPr>
            <p:cNvSpPr>
              <a:spLocks/>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69">
              <a:extLst>
                <a:ext uri="{FF2B5EF4-FFF2-40B4-BE49-F238E27FC236}">
                  <a16:creationId xmlns:a16="http://schemas.microsoft.com/office/drawing/2014/main" id="{28C81247-07F6-4443-861F-F380CA393BDF}"/>
                </a:ext>
              </a:extLst>
            </p:cNvPr>
            <p:cNvSpPr>
              <a:spLocks/>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70">
              <a:extLst>
                <a:ext uri="{FF2B5EF4-FFF2-40B4-BE49-F238E27FC236}">
                  <a16:creationId xmlns:a16="http://schemas.microsoft.com/office/drawing/2014/main" id="{006FEBEF-16D8-43CF-8411-4654AA63EB1D}"/>
                </a:ext>
              </a:extLst>
            </p:cNvPr>
            <p:cNvSpPr>
              <a:spLocks/>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4" name="文本框 3">
            <a:extLst>
              <a:ext uri="{FF2B5EF4-FFF2-40B4-BE49-F238E27FC236}">
                <a16:creationId xmlns:a16="http://schemas.microsoft.com/office/drawing/2014/main" id="{66A19AAD-1CDF-4899-8D9B-772D397CF09A}"/>
              </a:ext>
            </a:extLst>
          </p:cNvPr>
          <p:cNvSpPr txBox="1"/>
          <p:nvPr userDrawn="1"/>
        </p:nvSpPr>
        <p:spPr>
          <a:xfrm>
            <a:off x="1043939" y="1761846"/>
            <a:ext cx="9758680" cy="1323439"/>
          </a:xfrm>
          <a:prstGeom prst="rect">
            <a:avLst/>
          </a:prstGeom>
          <a:noFill/>
        </p:spPr>
        <p:txBody>
          <a:bodyPr wrap="square" rtlCol="0">
            <a:spAutoFit/>
          </a:bodyPr>
          <a:lstStyle/>
          <a:p>
            <a:pPr algn="ctr"/>
            <a:r>
              <a:rPr lang="en-US" altLang="zh-CN" sz="8000" dirty="0">
                <a:gradFill>
                  <a:gsLst>
                    <a:gs pos="0">
                      <a:schemeClr val="accent1"/>
                    </a:gs>
                    <a:gs pos="100000">
                      <a:schemeClr val="bg1">
                        <a:alpha val="0"/>
                      </a:schemeClr>
                    </a:gs>
                  </a:gsLst>
                  <a:lin ang="5400000" scaled="1"/>
                </a:gradFill>
                <a:latin typeface="Impact" panose="020B0806030902050204" pitchFamily="34" charset="0"/>
              </a:rPr>
              <a:t>THANKS FOR LISTENING</a:t>
            </a:r>
            <a:endParaRPr lang="zh-CN" altLang="en-US" sz="8000" dirty="0">
              <a:gradFill>
                <a:gsLst>
                  <a:gs pos="0">
                    <a:schemeClr val="accent1"/>
                  </a:gs>
                  <a:gs pos="100000">
                    <a:schemeClr val="bg1">
                      <a:alpha val="0"/>
                    </a:schemeClr>
                  </a:gs>
                </a:gsLst>
                <a:lin ang="5400000" scaled="1"/>
              </a:gradFill>
              <a:latin typeface="Impact" panose="020B0806030902050204" pitchFamily="34" charset="0"/>
            </a:endParaRPr>
          </a:p>
        </p:txBody>
      </p:sp>
      <p:sp>
        <p:nvSpPr>
          <p:cNvPr id="2" name="标题 1">
            <a:extLst>
              <a:ext uri="{FF2B5EF4-FFF2-40B4-BE49-F238E27FC236}">
                <a16:creationId xmlns:a16="http://schemas.microsoft.com/office/drawing/2014/main" id="{ABB4B086-4071-4C4C-9FF8-B987D7306B9B}"/>
              </a:ext>
            </a:extLst>
          </p:cNvPr>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14A60CE9-1EA3-4611-84E6-17C89EA4377F}"/>
              </a:ext>
            </a:extLst>
          </p:cNvPr>
          <p:cNvSpPr>
            <a:spLocks noGrp="1"/>
          </p:cNvSpPr>
          <p:nvPr>
            <p:ph type="subTitle" idx="1"/>
          </p:nvPr>
        </p:nvSpPr>
        <p:spPr>
          <a:xfrm>
            <a:off x="2002549" y="4013895"/>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84" name="图片 83">
            <a:extLst>
              <a:ext uri="{FF2B5EF4-FFF2-40B4-BE49-F238E27FC236}">
                <a16:creationId xmlns:a16="http://schemas.microsoft.com/office/drawing/2014/main" id="{48F930BE-2181-49E9-923D-B47EE281802C}"/>
              </a:ext>
            </a:extLst>
          </p:cNvPr>
          <p:cNvPicPr>
            <a:picLocks noChangeAspect="1"/>
          </p:cNvPicPr>
          <p:nvPr userDrawn="1"/>
        </p:nvPicPr>
        <p:blipFill>
          <a:blip r:embed="rId2"/>
          <a:stretch>
            <a:fillRect/>
          </a:stretch>
        </p:blipFill>
        <p:spPr>
          <a:xfrm>
            <a:off x="5100338" y="5571410"/>
            <a:ext cx="1991324" cy="475325"/>
          </a:xfrm>
          <a:prstGeom prst="rect">
            <a:avLst/>
          </a:prstGeom>
        </p:spPr>
      </p:pic>
      <p:cxnSp>
        <p:nvCxnSpPr>
          <p:cNvPr id="85" name="直接连接符 84">
            <a:extLst>
              <a:ext uri="{FF2B5EF4-FFF2-40B4-BE49-F238E27FC236}">
                <a16:creationId xmlns:a16="http://schemas.microsoft.com/office/drawing/2014/main" id="{088BDD40-E24E-4746-A412-A7D5C0F30B2D}"/>
              </a:ext>
            </a:extLst>
          </p:cNvPr>
          <p:cNvCxnSpPr/>
          <p:nvPr userDrawn="1"/>
        </p:nvCxnSpPr>
        <p:spPr>
          <a:xfrm>
            <a:off x="5186680" y="3632200"/>
            <a:ext cx="181864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194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tx1"/>
                </a:solidFill>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383BA538-016A-4651-BD25-C4067E19EB84}"/>
              </a:ext>
            </a:extLst>
          </p:cNvPr>
          <p:cNvSpPr>
            <a:spLocks noGrp="1"/>
          </p:cNvSpPr>
          <p:nvPr>
            <p:ph idx="1"/>
          </p:nvPr>
        </p:nvSpPr>
        <p:spPr>
          <a:xfrm>
            <a:off x="660400" y="1165224"/>
            <a:ext cx="10858500" cy="473773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6748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94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特别说明版式">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CA55B20A-4598-4B45-8FA8-ABE47E818F9B}"/>
              </a:ext>
            </a:extLst>
          </p:cNvPr>
          <p:cNvGrpSpPr/>
          <p:nvPr userDrawn="1"/>
        </p:nvGrpSpPr>
        <p:grpSpPr>
          <a:xfrm>
            <a:off x="1243080" y="1702820"/>
            <a:ext cx="3038400" cy="2341146"/>
            <a:chOff x="1243693" y="1981257"/>
            <a:chExt cx="3038400" cy="2341146"/>
          </a:xfrm>
        </p:grpSpPr>
        <p:cxnSp>
          <p:nvCxnSpPr>
            <p:cNvPr id="14" name="直接连接符 13">
              <a:extLst>
                <a:ext uri="{FF2B5EF4-FFF2-40B4-BE49-F238E27FC236}">
                  <a16:creationId xmlns:a16="http://schemas.microsoft.com/office/drawing/2014/main" id="{6A948C93-EAEB-4D10-8DB2-E1655D38547C}"/>
                </a:ext>
              </a:extLst>
            </p:cNvPr>
            <p:cNvCxnSpPr>
              <a:cxnSpLocks/>
            </p:cNvCxnSpPr>
            <p:nvPr/>
          </p:nvCxnSpPr>
          <p:spPr>
            <a:xfrm>
              <a:off x="237671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80F16B89-D5A5-4C23-BFB1-1BEA14DE561A}"/>
                </a:ext>
              </a:extLst>
            </p:cNvPr>
            <p:cNvSpPr txBox="1"/>
            <p:nvPr/>
          </p:nvSpPr>
          <p:spPr>
            <a:xfrm>
              <a:off x="216039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模板作者</a:t>
              </a:r>
            </a:p>
          </p:txBody>
        </p:sp>
        <p:sp>
          <p:nvSpPr>
            <p:cNvPr id="17" name="文本框 16">
              <a:extLst>
                <a:ext uri="{FF2B5EF4-FFF2-40B4-BE49-F238E27FC236}">
                  <a16:creationId xmlns:a16="http://schemas.microsoft.com/office/drawing/2014/main" id="{7C8FAFED-B307-42DD-A013-5E41E551CA15}"/>
                </a:ext>
              </a:extLst>
            </p:cNvPr>
            <p:cNvSpPr txBox="1"/>
            <p:nvPr/>
          </p:nvSpPr>
          <p:spPr>
            <a:xfrm>
              <a:off x="1243693" y="2823851"/>
              <a:ext cx="3038400"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作者：王志浩</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中国石油大学</a:t>
              </a:r>
              <a:r>
                <a:rPr lang="en-US" altLang="zh-CN" dirty="0">
                  <a:solidFill>
                    <a:schemeClr val="tx1">
                      <a:lumMod val="85000"/>
                      <a:lumOff val="15000"/>
                    </a:schemeClr>
                  </a:solidFill>
                </a:rPr>
                <a:t>(</a:t>
              </a:r>
              <a:r>
                <a:rPr lang="zh-CN" altLang="en-US" dirty="0">
                  <a:solidFill>
                    <a:schemeClr val="tx1">
                      <a:lumMod val="85000"/>
                      <a:lumOff val="15000"/>
                    </a:schemeClr>
                  </a:solidFill>
                </a:rPr>
                <a:t>华东</a:t>
              </a:r>
              <a:r>
                <a:rPr lang="en-US" altLang="zh-CN" dirty="0">
                  <a:solidFill>
                    <a:schemeClr val="tx1">
                      <a:lumMod val="85000"/>
                      <a:lumOff val="15000"/>
                    </a:schemeClr>
                  </a:solidFill>
                </a:rPr>
                <a:t>) </a:t>
              </a:r>
            </a:p>
            <a:p>
              <a:pPr algn="ctr">
                <a:lnSpc>
                  <a:spcPct val="130000"/>
                </a:lnSpc>
              </a:pPr>
              <a:r>
                <a:rPr lang="zh-CN" altLang="en-US" dirty="0">
                  <a:solidFill>
                    <a:schemeClr val="tx1">
                      <a:lumMod val="85000"/>
                      <a:lumOff val="15000"/>
                    </a:schemeClr>
                  </a:solidFill>
                </a:rPr>
                <a:t>计算机科学与技术</a:t>
              </a:r>
              <a:r>
                <a:rPr lang="en-US" altLang="zh-CN" dirty="0">
                  <a:solidFill>
                    <a:schemeClr val="tx1">
                      <a:lumMod val="85000"/>
                      <a:lumOff val="15000"/>
                    </a:schemeClr>
                  </a:solidFill>
                </a:rPr>
                <a:t>(</a:t>
              </a:r>
              <a:r>
                <a:rPr lang="zh-CN" altLang="en-US" dirty="0">
                  <a:solidFill>
                    <a:schemeClr val="tx1">
                      <a:lumMod val="85000"/>
                      <a:lumOff val="15000"/>
                    </a:schemeClr>
                  </a:solidFill>
                </a:rPr>
                <a:t>实验</a:t>
              </a:r>
              <a:r>
                <a:rPr lang="en-US" altLang="zh-CN" dirty="0">
                  <a:solidFill>
                    <a:schemeClr val="tx1">
                      <a:lumMod val="85000"/>
                      <a:lumOff val="15000"/>
                    </a:schemeClr>
                  </a:solidFill>
                </a:rPr>
                <a:t>)</a:t>
              </a:r>
            </a:p>
            <a:p>
              <a:pPr algn="ctr">
                <a:lnSpc>
                  <a:spcPct val="130000"/>
                </a:lnSpc>
              </a:pPr>
              <a:r>
                <a:rPr lang="en-US" altLang="zh-CN" dirty="0">
                  <a:solidFill>
                    <a:schemeClr val="tx1">
                      <a:lumMod val="85000"/>
                      <a:lumOff val="15000"/>
                    </a:schemeClr>
                  </a:solidFill>
                </a:rPr>
                <a:t>2015</a:t>
              </a:r>
              <a:r>
                <a:rPr lang="zh-CN" altLang="en-US" dirty="0">
                  <a:solidFill>
                    <a:schemeClr val="tx1">
                      <a:lumMod val="85000"/>
                      <a:lumOff val="15000"/>
                    </a:schemeClr>
                  </a:solidFill>
                </a:rPr>
                <a:t>级</a:t>
              </a:r>
            </a:p>
          </p:txBody>
        </p:sp>
      </p:grpSp>
      <p:cxnSp>
        <p:nvCxnSpPr>
          <p:cNvPr id="18" name="直接连接符 17">
            <a:extLst>
              <a:ext uri="{FF2B5EF4-FFF2-40B4-BE49-F238E27FC236}">
                <a16:creationId xmlns:a16="http://schemas.microsoft.com/office/drawing/2014/main" id="{A32693B7-3E3E-4A57-9E6A-2D909D169240}"/>
              </a:ext>
            </a:extLst>
          </p:cNvPr>
          <p:cNvCxnSpPr>
            <a:cxnSpLocks/>
          </p:cNvCxnSpPr>
          <p:nvPr userDrawn="1"/>
        </p:nvCxnSpPr>
        <p:spPr>
          <a:xfrm>
            <a:off x="442914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3E9B82AC-1ED8-42CD-A976-4B0E6190A349}"/>
              </a:ext>
            </a:extLst>
          </p:cNvPr>
          <p:cNvGrpSpPr/>
          <p:nvPr userDrawn="1"/>
        </p:nvGrpSpPr>
        <p:grpSpPr>
          <a:xfrm>
            <a:off x="4576800" y="1702820"/>
            <a:ext cx="3038400" cy="1981047"/>
            <a:chOff x="4577413" y="1981257"/>
            <a:chExt cx="3038400" cy="1981047"/>
          </a:xfrm>
        </p:grpSpPr>
        <p:cxnSp>
          <p:nvCxnSpPr>
            <p:cNvPr id="20" name="直接连接符 19">
              <a:extLst>
                <a:ext uri="{FF2B5EF4-FFF2-40B4-BE49-F238E27FC236}">
                  <a16:creationId xmlns:a16="http://schemas.microsoft.com/office/drawing/2014/main" id="{571EC9CF-A728-435F-AD70-85A2DAAC3D0E}"/>
                </a:ext>
              </a:extLst>
            </p:cNvPr>
            <p:cNvCxnSpPr>
              <a:cxnSpLocks/>
            </p:cNvCxnSpPr>
            <p:nvPr/>
          </p:nvCxnSpPr>
          <p:spPr>
            <a:xfrm>
              <a:off x="571043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7994B606-91AB-45A3-8EC9-25A812F1C744}"/>
                </a:ext>
              </a:extLst>
            </p:cNvPr>
            <p:cNvSpPr txBox="1"/>
            <p:nvPr/>
          </p:nvSpPr>
          <p:spPr>
            <a:xfrm>
              <a:off x="549411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特别感谢</a:t>
              </a:r>
            </a:p>
          </p:txBody>
        </p:sp>
        <p:sp>
          <p:nvSpPr>
            <p:cNvPr id="22" name="文本框 21">
              <a:extLst>
                <a:ext uri="{FF2B5EF4-FFF2-40B4-BE49-F238E27FC236}">
                  <a16:creationId xmlns:a16="http://schemas.microsoft.com/office/drawing/2014/main" id="{95D00589-01B3-4BC6-AAC4-78F4A505D451}"/>
                </a:ext>
              </a:extLst>
            </p:cNvPr>
            <p:cNvSpPr txBox="1"/>
            <p:nvPr/>
          </p:nvSpPr>
          <p:spPr>
            <a:xfrm>
              <a:off x="4577413" y="2823851"/>
              <a:ext cx="3038400" cy="1138453"/>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图片素材：</a:t>
              </a:r>
              <a:r>
                <a:rPr lang="en-US" altLang="zh-CN" dirty="0">
                  <a:solidFill>
                    <a:schemeClr val="tx1">
                      <a:lumMod val="85000"/>
                      <a:lumOff val="15000"/>
                    </a:schemeClr>
                  </a:solidFill>
                </a:rPr>
                <a:t>@</a:t>
              </a:r>
              <a:r>
                <a:rPr lang="zh-CN" altLang="en-US" dirty="0">
                  <a:solidFill>
                    <a:schemeClr val="tx1">
                      <a:lumMod val="85000"/>
                      <a:lumOff val="15000"/>
                    </a:schemeClr>
                  </a:solidFill>
                </a:rPr>
                <a:t>图说石大</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主办方：秋叶</a:t>
              </a:r>
              <a:r>
                <a:rPr lang="en-US" altLang="zh-CN" dirty="0">
                  <a:solidFill>
                    <a:schemeClr val="tx1">
                      <a:lumMod val="85000"/>
                      <a:lumOff val="15000"/>
                    </a:schemeClr>
                  </a:solidFill>
                </a:rPr>
                <a:t>PPT</a:t>
              </a:r>
            </a:p>
            <a:p>
              <a:pPr algn="ctr">
                <a:lnSpc>
                  <a:spcPct val="130000"/>
                </a:lnSpc>
              </a:pPr>
              <a:r>
                <a:rPr lang="zh-CN" altLang="en-US" dirty="0">
                  <a:solidFill>
                    <a:schemeClr val="tx1">
                      <a:lumMod val="85000"/>
                      <a:lumOff val="15000"/>
                    </a:schemeClr>
                  </a:solidFill>
                </a:rPr>
                <a:t>指导老师：老秦、伟崇</a:t>
              </a:r>
            </a:p>
          </p:txBody>
        </p:sp>
      </p:grpSp>
      <p:grpSp>
        <p:nvGrpSpPr>
          <p:cNvPr id="23" name="组合 22">
            <a:extLst>
              <a:ext uri="{FF2B5EF4-FFF2-40B4-BE49-F238E27FC236}">
                <a16:creationId xmlns:a16="http://schemas.microsoft.com/office/drawing/2014/main" id="{5CF7B87C-BE10-495D-8CB5-A6D3424CAA1D}"/>
              </a:ext>
            </a:extLst>
          </p:cNvPr>
          <p:cNvGrpSpPr/>
          <p:nvPr userDrawn="1"/>
        </p:nvGrpSpPr>
        <p:grpSpPr>
          <a:xfrm>
            <a:off x="7910519" y="1702820"/>
            <a:ext cx="3037175" cy="2341146"/>
            <a:chOff x="7911132" y="1981257"/>
            <a:chExt cx="3037175" cy="2341146"/>
          </a:xfrm>
        </p:grpSpPr>
        <p:cxnSp>
          <p:nvCxnSpPr>
            <p:cNvPr id="24" name="直接连接符 23">
              <a:extLst>
                <a:ext uri="{FF2B5EF4-FFF2-40B4-BE49-F238E27FC236}">
                  <a16:creationId xmlns:a16="http://schemas.microsoft.com/office/drawing/2014/main" id="{1CD016F4-00CB-45F4-AB20-03D1C413961A}"/>
                </a:ext>
              </a:extLst>
            </p:cNvPr>
            <p:cNvCxnSpPr>
              <a:cxnSpLocks/>
            </p:cNvCxnSpPr>
            <p:nvPr/>
          </p:nvCxnSpPr>
          <p:spPr>
            <a:xfrm>
              <a:off x="9043540"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47FA3DF4-10E8-4D21-9940-E108C0700E88}"/>
                </a:ext>
              </a:extLst>
            </p:cNvPr>
            <p:cNvSpPr txBox="1"/>
            <p:nvPr/>
          </p:nvSpPr>
          <p:spPr>
            <a:xfrm>
              <a:off x="8827222"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版权说明</a:t>
              </a:r>
            </a:p>
          </p:txBody>
        </p:sp>
        <p:sp>
          <p:nvSpPr>
            <p:cNvPr id="26" name="文本框 25">
              <a:extLst>
                <a:ext uri="{FF2B5EF4-FFF2-40B4-BE49-F238E27FC236}">
                  <a16:creationId xmlns:a16="http://schemas.microsoft.com/office/drawing/2014/main" id="{F3943D6F-8123-4A79-B73D-FA5608A15BF2}"/>
                </a:ext>
              </a:extLst>
            </p:cNvPr>
            <p:cNvSpPr txBox="1"/>
            <p:nvPr/>
          </p:nvSpPr>
          <p:spPr>
            <a:xfrm>
              <a:off x="7911132" y="2823851"/>
              <a:ext cx="3037175"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本套模板为</a:t>
              </a:r>
              <a:r>
                <a:rPr lang="zh-CN" altLang="en-US" b="1" dirty="0">
                  <a:solidFill>
                    <a:schemeClr val="tx1">
                      <a:lumMod val="85000"/>
                      <a:lumOff val="15000"/>
                    </a:schemeClr>
                  </a:solidFill>
                  <a:latin typeface="+mj-ea"/>
                  <a:ea typeface="+mj-ea"/>
                </a:rPr>
                <a:t>公益性质</a:t>
              </a:r>
              <a:endParaRPr lang="en-US" altLang="zh-CN" b="1" dirty="0">
                <a:solidFill>
                  <a:schemeClr val="tx1">
                    <a:lumMod val="85000"/>
                    <a:lumOff val="15000"/>
                  </a:schemeClr>
                </a:solidFill>
                <a:latin typeface="+mj-ea"/>
                <a:ea typeface="+mj-ea"/>
              </a:endParaRPr>
            </a:p>
            <a:p>
              <a:pPr algn="ctr">
                <a:lnSpc>
                  <a:spcPct val="130000"/>
                </a:lnSpc>
              </a:pPr>
              <a:r>
                <a:rPr lang="zh-CN" altLang="en-US" b="1" dirty="0">
                  <a:solidFill>
                    <a:schemeClr val="tx1">
                      <a:lumMod val="85000"/>
                      <a:lumOff val="15000"/>
                    </a:schemeClr>
                  </a:solidFill>
                  <a:latin typeface="+mj-ea"/>
                  <a:ea typeface="+mj-ea"/>
                </a:rPr>
                <a:t>免费</a:t>
              </a:r>
              <a:r>
                <a:rPr lang="zh-CN" altLang="en-US" dirty="0">
                  <a:solidFill>
                    <a:schemeClr val="tx1">
                      <a:lumMod val="85000"/>
                      <a:lumOff val="15000"/>
                    </a:schemeClr>
                  </a:solidFill>
                </a:rPr>
                <a:t>赠与学校师生使用</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盈利行为请勿相信</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商用请注意图片和字体版权</a:t>
              </a:r>
            </a:p>
          </p:txBody>
        </p:sp>
      </p:grpSp>
      <p:cxnSp>
        <p:nvCxnSpPr>
          <p:cNvPr id="27" name="直接连接符 26">
            <a:extLst>
              <a:ext uri="{FF2B5EF4-FFF2-40B4-BE49-F238E27FC236}">
                <a16:creationId xmlns:a16="http://schemas.microsoft.com/office/drawing/2014/main" id="{852A774F-77AE-4E40-892A-662B549BD88D}"/>
              </a:ext>
            </a:extLst>
          </p:cNvPr>
          <p:cNvCxnSpPr>
            <a:cxnSpLocks/>
          </p:cNvCxnSpPr>
          <p:nvPr userDrawn="1"/>
        </p:nvCxnSpPr>
        <p:spPr>
          <a:xfrm>
            <a:off x="776286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B78A9C43-B1F0-4871-8803-40E61D9245B7}"/>
              </a:ext>
            </a:extLst>
          </p:cNvPr>
          <p:cNvGrpSpPr/>
          <p:nvPr userDrawn="1"/>
        </p:nvGrpSpPr>
        <p:grpSpPr>
          <a:xfrm>
            <a:off x="3179324" y="4339865"/>
            <a:ext cx="6852280" cy="1560741"/>
            <a:chOff x="3179937" y="4561006"/>
            <a:chExt cx="6852280" cy="1560741"/>
          </a:xfrm>
        </p:grpSpPr>
        <p:pic>
          <p:nvPicPr>
            <p:cNvPr id="29" name="图片 28">
              <a:extLst>
                <a:ext uri="{FF2B5EF4-FFF2-40B4-BE49-F238E27FC236}">
                  <a16:creationId xmlns:a16="http://schemas.microsoft.com/office/drawing/2014/main" id="{3BC3CEC8-A8CA-492A-9C53-885E1D31452F}"/>
                </a:ext>
              </a:extLst>
            </p:cNvPr>
            <p:cNvPicPr>
              <a:picLocks noChangeAspect="1"/>
            </p:cNvPicPr>
            <p:nvPr/>
          </p:nvPicPr>
          <p:blipFill rotWithShape="1">
            <a:blip r:embed="rId5">
              <a:extLst>
                <a:ext uri="{28A0092B-C50C-407E-A947-70E740481C1C}">
                  <a14:useLocalDpi xmlns:a14="http://schemas.microsoft.com/office/drawing/2010/main" val="0"/>
                </a:ext>
              </a:extLst>
            </a:blip>
            <a:srcRect b="18818"/>
            <a:stretch/>
          </p:blipFill>
          <p:spPr>
            <a:xfrm>
              <a:off x="3179937" y="4561006"/>
              <a:ext cx="1402932" cy="1560741"/>
            </a:xfrm>
            <a:prstGeom prst="rect">
              <a:avLst/>
            </a:prstGeom>
          </p:spPr>
        </p:pic>
        <p:sp>
          <p:nvSpPr>
            <p:cNvPr id="30" name="文本框 29">
              <a:extLst>
                <a:ext uri="{FF2B5EF4-FFF2-40B4-BE49-F238E27FC236}">
                  <a16:creationId xmlns:a16="http://schemas.microsoft.com/office/drawing/2014/main" id="{454B9E16-CD56-4094-8AB3-69239A0961C2}"/>
                </a:ext>
              </a:extLst>
            </p:cNvPr>
            <p:cNvSpPr txBox="1"/>
            <p:nvPr/>
          </p:nvSpPr>
          <p:spPr>
            <a:xfrm>
              <a:off x="4934551" y="4772150"/>
              <a:ext cx="5097666" cy="1138453"/>
            </a:xfrm>
            <a:prstGeom prst="rect">
              <a:avLst/>
            </a:prstGeom>
            <a:noFill/>
          </p:spPr>
          <p:txBody>
            <a:bodyPr wrap="square" rtlCol="0">
              <a:spAutoFit/>
            </a:bodyPr>
            <a:lstStyle/>
            <a:p>
              <a:pPr>
                <a:lnSpc>
                  <a:spcPct val="130000"/>
                </a:lnSpc>
              </a:pPr>
              <a:r>
                <a:rPr lang="zh-CN" altLang="en-US" dirty="0"/>
                <a:t>有什么想对作者说的吗</a:t>
              </a:r>
              <a:endParaRPr lang="en-US" altLang="zh-CN" dirty="0"/>
            </a:p>
            <a:p>
              <a:pPr>
                <a:lnSpc>
                  <a:spcPct val="130000"/>
                </a:lnSpc>
              </a:pPr>
              <a:r>
                <a:rPr lang="zh-CN" altLang="en-US" dirty="0"/>
                <a:t>对模板还有更好的建议或者使用方面的困惑吗</a:t>
              </a:r>
              <a:endParaRPr lang="en-US" altLang="zh-CN" dirty="0"/>
            </a:p>
            <a:p>
              <a:pPr>
                <a:lnSpc>
                  <a:spcPct val="130000"/>
                </a:lnSpc>
              </a:pPr>
              <a:r>
                <a:rPr lang="zh-CN" altLang="en-US" dirty="0"/>
                <a:t>欢迎加入模板公测</a:t>
              </a:r>
              <a:r>
                <a:rPr lang="en-US" altLang="zh-CN" dirty="0"/>
                <a:t>QQ</a:t>
              </a:r>
              <a:r>
                <a:rPr lang="zh-CN" altLang="en-US" dirty="0"/>
                <a:t>群</a:t>
              </a:r>
              <a:r>
                <a:rPr lang="en-US" altLang="zh-CN" dirty="0"/>
                <a:t>~(</a:t>
              </a:r>
              <a:r>
                <a:rPr lang="zh-CN" altLang="en-US" dirty="0"/>
                <a:t>群号：</a:t>
              </a:r>
              <a:r>
                <a:rPr lang="en-US" altLang="zh-CN" dirty="0"/>
                <a:t>521252309)</a:t>
              </a:r>
              <a:endParaRPr lang="zh-CN" altLang="en-US" dirty="0"/>
            </a:p>
          </p:txBody>
        </p:sp>
      </p:grpSp>
    </p:spTree>
    <p:extLst>
      <p:ext uri="{BB962C8B-B14F-4D97-AF65-F5344CB8AC3E}">
        <p14:creationId xmlns:p14="http://schemas.microsoft.com/office/powerpoint/2010/main" val="1733892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4233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仅底部">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BF644C8-485C-464C-9055-7A7425A9AE93}"/>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7" name="矩形 6">
            <a:extLst>
              <a:ext uri="{FF2B5EF4-FFF2-40B4-BE49-F238E27FC236}">
                <a16:creationId xmlns:a16="http://schemas.microsoft.com/office/drawing/2014/main" id="{EC2C93CA-1026-4279-9CA6-3343633DB369}"/>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8DC8C761-9FB6-44CB-A4F6-FA26FEFDF12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A843333D-8292-4D26-B934-8C4462A814CA}"/>
              </a:ext>
            </a:extLst>
          </p:cNvPr>
          <p:cNvPicPr>
            <a:picLocks noChangeAspect="1"/>
          </p:cNvPicPr>
          <p:nvPr userDrawn="1"/>
        </p:nvPicPr>
        <p:blipFill>
          <a:blip r:embed="rId3"/>
          <a:stretch>
            <a:fillRect/>
          </a:stretch>
        </p:blipFill>
        <p:spPr>
          <a:xfrm>
            <a:off x="8610600" y="6626002"/>
            <a:ext cx="2908300" cy="111568"/>
          </a:xfrm>
          <a:prstGeom prst="rect">
            <a:avLst/>
          </a:prstGeom>
        </p:spPr>
      </p:pic>
    </p:spTree>
    <p:extLst>
      <p:ext uri="{BB962C8B-B14F-4D97-AF65-F5344CB8AC3E}">
        <p14:creationId xmlns:p14="http://schemas.microsoft.com/office/powerpoint/2010/main" val="3790362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一张图片">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图片占位符 3">
            <a:extLst>
              <a:ext uri="{FF2B5EF4-FFF2-40B4-BE49-F238E27FC236}">
                <a16:creationId xmlns:a16="http://schemas.microsoft.com/office/drawing/2014/main" id="{2A4991FC-73E2-4BF2-A28B-7D7A275207F9}"/>
              </a:ext>
            </a:extLst>
          </p:cNvPr>
          <p:cNvSpPr>
            <a:spLocks noGrp="1"/>
          </p:cNvSpPr>
          <p:nvPr>
            <p:ph type="pic" sz="quarter" idx="10"/>
          </p:nvPr>
        </p:nvSpPr>
        <p:spPr>
          <a:xfrm>
            <a:off x="660400" y="1444625"/>
            <a:ext cx="10871200" cy="3059113"/>
          </a:xfrm>
        </p:spPr>
        <p:txBody>
          <a:bodyPr/>
          <a:lstStyle/>
          <a:p>
            <a:endParaRPr lang="zh-CN" altLang="en-US"/>
          </a:p>
        </p:txBody>
      </p:sp>
    </p:spTree>
    <p:extLst>
      <p:ext uri="{BB962C8B-B14F-4D97-AF65-F5344CB8AC3E}">
        <p14:creationId xmlns:p14="http://schemas.microsoft.com/office/powerpoint/2010/main" val="535888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单图">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5022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单张图片说明">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图片占位符 13">
            <a:extLst>
              <a:ext uri="{FF2B5EF4-FFF2-40B4-BE49-F238E27FC236}">
                <a16:creationId xmlns:a16="http://schemas.microsoft.com/office/drawing/2014/main" id="{EF255A9C-133E-4C50-9FC6-625B392297F2}"/>
              </a:ext>
            </a:extLst>
          </p:cNvPr>
          <p:cNvSpPr>
            <a:spLocks noGrp="1"/>
          </p:cNvSpPr>
          <p:nvPr>
            <p:ph type="pic" sz="quarter" idx="10"/>
          </p:nvPr>
        </p:nvSpPr>
        <p:spPr>
          <a:xfrm>
            <a:off x="4456140" y="1789140"/>
            <a:ext cx="3279720" cy="3279720"/>
          </a:xfrm>
          <a:custGeom>
            <a:avLst/>
            <a:gdLst>
              <a:gd name="connsiteX0" fmla="*/ 1849434 w 3698868"/>
              <a:gd name="connsiteY0" fmla="*/ 0 h 3698868"/>
              <a:gd name="connsiteX1" fmla="*/ 3698868 w 3698868"/>
              <a:gd name="connsiteY1" fmla="*/ 1849434 h 3698868"/>
              <a:gd name="connsiteX2" fmla="*/ 1849434 w 3698868"/>
              <a:gd name="connsiteY2" fmla="*/ 3698868 h 3698868"/>
              <a:gd name="connsiteX3" fmla="*/ 0 w 3698868"/>
              <a:gd name="connsiteY3" fmla="*/ 1849434 h 3698868"/>
              <a:gd name="connsiteX4" fmla="*/ 1849434 w 3698868"/>
              <a:gd name="connsiteY4" fmla="*/ 0 h 369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8868" h="3698868">
                <a:moveTo>
                  <a:pt x="1849434" y="0"/>
                </a:moveTo>
                <a:cubicBezTo>
                  <a:pt x="2870848" y="0"/>
                  <a:pt x="3698868" y="828020"/>
                  <a:pt x="3698868" y="1849434"/>
                </a:cubicBezTo>
                <a:cubicBezTo>
                  <a:pt x="3698868" y="2870848"/>
                  <a:pt x="2870848" y="3698868"/>
                  <a:pt x="1849434" y="3698868"/>
                </a:cubicBezTo>
                <a:cubicBezTo>
                  <a:pt x="828020" y="3698868"/>
                  <a:pt x="0" y="2870848"/>
                  <a:pt x="0" y="1849434"/>
                </a:cubicBezTo>
                <a:cubicBezTo>
                  <a:pt x="0" y="828020"/>
                  <a:pt x="828020" y="0"/>
                  <a:pt x="1849434" y="0"/>
                </a:cubicBezTo>
                <a:close/>
              </a:path>
            </a:pathLst>
          </a:custGeom>
          <a:ln w="19050">
            <a:solidFill>
              <a:schemeClr val="accent1"/>
            </a:solidFill>
          </a:ln>
          <a:effectLst>
            <a:glow rad="254000">
              <a:schemeClr val="tx1">
                <a:lumMod val="95000"/>
                <a:lumOff val="5000"/>
                <a:alpha val="15000"/>
              </a:schemeClr>
            </a:glow>
          </a:effectLst>
        </p:spPr>
        <p:txBody>
          <a:bodyPr wrap="square">
            <a:noAutofit/>
          </a:bodyPr>
          <a:lstStyle/>
          <a:p>
            <a:endParaRPr lang="zh-CN" altLang="en-US"/>
          </a:p>
        </p:txBody>
      </p:sp>
    </p:spTree>
    <p:extLst>
      <p:ext uri="{BB962C8B-B14F-4D97-AF65-F5344CB8AC3E}">
        <p14:creationId xmlns:p14="http://schemas.microsoft.com/office/powerpoint/2010/main" val="179374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三张图片说明">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图片占位符 3">
            <a:extLst>
              <a:ext uri="{FF2B5EF4-FFF2-40B4-BE49-F238E27FC236}">
                <a16:creationId xmlns:a16="http://schemas.microsoft.com/office/drawing/2014/main" id="{2A4991FC-73E2-4BF2-A28B-7D7A275207F9}"/>
              </a:ext>
            </a:extLst>
          </p:cNvPr>
          <p:cNvSpPr>
            <a:spLocks noGrp="1"/>
          </p:cNvSpPr>
          <p:nvPr>
            <p:ph type="pic" sz="quarter" idx="10"/>
          </p:nvPr>
        </p:nvSpPr>
        <p:spPr>
          <a:xfrm>
            <a:off x="673100" y="1729550"/>
            <a:ext cx="3262292" cy="1699450"/>
          </a:xfrm>
        </p:spPr>
        <p:txBody>
          <a:bodyPr/>
          <a:lstStyle/>
          <a:p>
            <a:endParaRPr lang="zh-CN" altLang="en-US"/>
          </a:p>
        </p:txBody>
      </p:sp>
      <p:sp>
        <p:nvSpPr>
          <p:cNvPr id="14" name="图片占位符 3">
            <a:extLst>
              <a:ext uri="{FF2B5EF4-FFF2-40B4-BE49-F238E27FC236}">
                <a16:creationId xmlns:a16="http://schemas.microsoft.com/office/drawing/2014/main" id="{24003A37-675B-4FEC-8112-753FF16AD9F0}"/>
              </a:ext>
            </a:extLst>
          </p:cNvPr>
          <p:cNvSpPr>
            <a:spLocks noGrp="1"/>
          </p:cNvSpPr>
          <p:nvPr>
            <p:ph type="pic" sz="quarter" idx="11"/>
          </p:nvPr>
        </p:nvSpPr>
        <p:spPr>
          <a:xfrm>
            <a:off x="4464854" y="1729550"/>
            <a:ext cx="3262292" cy="1699450"/>
          </a:xfrm>
        </p:spPr>
        <p:txBody>
          <a:bodyPr/>
          <a:lstStyle/>
          <a:p>
            <a:endParaRPr lang="zh-CN" altLang="en-US"/>
          </a:p>
        </p:txBody>
      </p:sp>
      <p:sp>
        <p:nvSpPr>
          <p:cNvPr id="15" name="图片占位符 3">
            <a:extLst>
              <a:ext uri="{FF2B5EF4-FFF2-40B4-BE49-F238E27FC236}">
                <a16:creationId xmlns:a16="http://schemas.microsoft.com/office/drawing/2014/main" id="{48F354C4-9F0E-4DFF-A66E-087418301CB0}"/>
              </a:ext>
            </a:extLst>
          </p:cNvPr>
          <p:cNvSpPr>
            <a:spLocks noGrp="1"/>
          </p:cNvSpPr>
          <p:nvPr>
            <p:ph type="pic" sz="quarter" idx="12"/>
          </p:nvPr>
        </p:nvSpPr>
        <p:spPr>
          <a:xfrm>
            <a:off x="8256608" y="1729550"/>
            <a:ext cx="3262292" cy="1699450"/>
          </a:xfrm>
        </p:spPr>
        <p:txBody>
          <a:bodyPr/>
          <a:lstStyle/>
          <a:p>
            <a:endParaRPr lang="zh-CN" altLang="en-US"/>
          </a:p>
        </p:txBody>
      </p:sp>
    </p:spTree>
    <p:extLst>
      <p:ext uri="{BB962C8B-B14F-4D97-AF65-F5344CB8AC3E}">
        <p14:creationId xmlns:p14="http://schemas.microsoft.com/office/powerpoint/2010/main" val="3008815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多张图片展示">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9" name="图片占位符 5">
            <a:extLst>
              <a:ext uri="{FF2B5EF4-FFF2-40B4-BE49-F238E27FC236}">
                <a16:creationId xmlns:a16="http://schemas.microsoft.com/office/drawing/2014/main" id="{0A954E3B-33D0-44B1-9DDD-ADB37DC9A54F}"/>
              </a:ext>
            </a:extLst>
          </p:cNvPr>
          <p:cNvSpPr>
            <a:spLocks noGrp="1" noChangeAspect="1"/>
          </p:cNvSpPr>
          <p:nvPr>
            <p:ph type="pic" sz="quarter" idx="11"/>
          </p:nvPr>
        </p:nvSpPr>
        <p:spPr>
          <a:xfrm>
            <a:off x="2950316" y="1733533"/>
            <a:ext cx="1978618" cy="2798331"/>
          </a:xfrm>
          <a:ln w="19050">
            <a:solidFill>
              <a:schemeClr val="accent1"/>
            </a:solidFill>
          </a:ln>
          <a:effectLst>
            <a:reflection blurRad="6350" stA="30000" endPos="34000" dist="50800" dir="5400000" sy="-100000" algn="bl" rotWithShape="0"/>
          </a:effectLst>
          <a:scene3d>
            <a:camera prst="perspectiveRight"/>
            <a:lightRig rig="threePt" dir="t"/>
          </a:scene3d>
        </p:spPr>
        <p:txBody>
          <a:bodyPr/>
          <a:lstStyle/>
          <a:p>
            <a:endParaRPr lang="zh-CN" altLang="en-US" dirty="0"/>
          </a:p>
        </p:txBody>
      </p:sp>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图片占位符 5">
            <a:extLst>
              <a:ext uri="{FF2B5EF4-FFF2-40B4-BE49-F238E27FC236}">
                <a16:creationId xmlns:a16="http://schemas.microsoft.com/office/drawing/2014/main" id="{5C2011D7-5DAD-4F7F-AE97-88B1AF02C3C5}"/>
              </a:ext>
            </a:extLst>
          </p:cNvPr>
          <p:cNvSpPr>
            <a:spLocks noGrp="1" noChangeAspect="1"/>
          </p:cNvSpPr>
          <p:nvPr>
            <p:ph type="pic" sz="quarter" idx="10"/>
          </p:nvPr>
        </p:nvSpPr>
        <p:spPr>
          <a:xfrm>
            <a:off x="5104910" y="1755639"/>
            <a:ext cx="1978618" cy="2798331"/>
          </a:xfrm>
          <a:ln w="19050">
            <a:solidFill>
              <a:schemeClr val="accent1"/>
            </a:solidFill>
          </a:ln>
          <a:effectLst>
            <a:reflection blurRad="6350" stA="30000" endPos="34000" dist="50800" dir="5400000" sy="-100000" algn="bl" rotWithShape="0"/>
          </a:effectLst>
        </p:spPr>
        <p:txBody>
          <a:bodyPr/>
          <a:lstStyle/>
          <a:p>
            <a:endParaRPr lang="zh-CN" altLang="en-US" dirty="0"/>
          </a:p>
        </p:txBody>
      </p:sp>
      <p:sp>
        <p:nvSpPr>
          <p:cNvPr id="20" name="图片占位符 5">
            <a:extLst>
              <a:ext uri="{FF2B5EF4-FFF2-40B4-BE49-F238E27FC236}">
                <a16:creationId xmlns:a16="http://schemas.microsoft.com/office/drawing/2014/main" id="{A3A5E883-88C8-4752-A03D-6340D9D0CBBB}"/>
              </a:ext>
            </a:extLst>
          </p:cNvPr>
          <p:cNvSpPr>
            <a:spLocks noGrp="1" noChangeAspect="1"/>
          </p:cNvSpPr>
          <p:nvPr>
            <p:ph type="pic" sz="quarter" idx="12"/>
          </p:nvPr>
        </p:nvSpPr>
        <p:spPr>
          <a:xfrm>
            <a:off x="7259504" y="1733532"/>
            <a:ext cx="1978618" cy="2798331"/>
          </a:xfrm>
          <a:ln w="19050">
            <a:solidFill>
              <a:schemeClr val="accent1"/>
            </a:solidFill>
          </a:ln>
          <a:effectLst>
            <a:reflection blurRad="6350" stA="30000" endPos="34000" dist="50800" dir="5400000" sy="-100000" algn="bl" rotWithShape="0"/>
          </a:effectLst>
          <a:scene3d>
            <a:camera prst="perspectiveLeft"/>
            <a:lightRig rig="threePt" dir="t"/>
          </a:scene3d>
        </p:spPr>
        <p:txBody>
          <a:bodyPr/>
          <a:lstStyle/>
          <a:p>
            <a:endParaRPr lang="zh-CN" altLang="en-US" dirty="0"/>
          </a:p>
        </p:txBody>
      </p:sp>
      <p:sp>
        <p:nvSpPr>
          <p:cNvPr id="21" name="图片占位符 5">
            <a:extLst>
              <a:ext uri="{FF2B5EF4-FFF2-40B4-BE49-F238E27FC236}">
                <a16:creationId xmlns:a16="http://schemas.microsoft.com/office/drawing/2014/main" id="{2E95BD9A-E246-40D1-9E0D-612E969586FA}"/>
              </a:ext>
            </a:extLst>
          </p:cNvPr>
          <p:cNvSpPr>
            <a:spLocks noGrp="1" noChangeAspect="1"/>
          </p:cNvSpPr>
          <p:nvPr>
            <p:ph type="pic" sz="quarter" idx="13"/>
          </p:nvPr>
        </p:nvSpPr>
        <p:spPr>
          <a:xfrm>
            <a:off x="669539" y="1555073"/>
            <a:ext cx="2104801" cy="2976790"/>
          </a:xfrm>
          <a:ln w="19050">
            <a:solidFill>
              <a:schemeClr val="accent1"/>
            </a:solidFill>
          </a:ln>
          <a:effectLst>
            <a:reflection blurRad="6350" stA="30000" endPos="34000" dist="50800" dir="5400000" sy="-100000" algn="bl" rotWithShape="0"/>
          </a:effectLst>
          <a:scene3d>
            <a:camera prst="perspectiveRight" fov="3300000"/>
            <a:lightRig rig="threePt" dir="t"/>
          </a:scene3d>
        </p:spPr>
        <p:txBody>
          <a:bodyPr/>
          <a:lstStyle/>
          <a:p>
            <a:endParaRPr lang="zh-CN" altLang="en-US" dirty="0"/>
          </a:p>
        </p:txBody>
      </p:sp>
      <p:sp>
        <p:nvSpPr>
          <p:cNvPr id="22" name="图片占位符 5">
            <a:extLst>
              <a:ext uri="{FF2B5EF4-FFF2-40B4-BE49-F238E27FC236}">
                <a16:creationId xmlns:a16="http://schemas.microsoft.com/office/drawing/2014/main" id="{BEBBAA86-0599-4A73-99CC-1E710BA97CE1}"/>
              </a:ext>
            </a:extLst>
          </p:cNvPr>
          <p:cNvSpPr>
            <a:spLocks noGrp="1" noChangeAspect="1"/>
          </p:cNvSpPr>
          <p:nvPr>
            <p:ph type="pic" sz="quarter" idx="14"/>
          </p:nvPr>
        </p:nvSpPr>
        <p:spPr>
          <a:xfrm>
            <a:off x="9414099" y="1555073"/>
            <a:ext cx="2104801" cy="2976790"/>
          </a:xfrm>
          <a:ln w="19050">
            <a:solidFill>
              <a:schemeClr val="accent1"/>
            </a:solidFill>
          </a:ln>
          <a:effectLst>
            <a:reflection blurRad="6350" stA="30000" endPos="34000" dist="50800" dir="5400000" sy="-100000" algn="bl" rotWithShape="0"/>
          </a:effectLst>
          <a:scene3d>
            <a:camera prst="perspectiveRight" fov="3300000">
              <a:rot lat="0" lon="1200000" rev="0"/>
            </a:camera>
            <a:lightRig rig="threePt" dir="t"/>
          </a:scene3d>
        </p:spPr>
        <p:txBody>
          <a:bodyPr/>
          <a:lstStyle/>
          <a:p>
            <a:endParaRPr lang="zh-CN" altLang="en-US" dirty="0"/>
          </a:p>
        </p:txBody>
      </p:sp>
    </p:spTree>
    <p:extLst>
      <p:ext uri="{BB962C8B-B14F-4D97-AF65-F5344CB8AC3E}">
        <p14:creationId xmlns:p14="http://schemas.microsoft.com/office/powerpoint/2010/main" val="3825809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引言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图片占位符 5">
            <a:extLst>
              <a:ext uri="{FF2B5EF4-FFF2-40B4-BE49-F238E27FC236}">
                <a16:creationId xmlns:a16="http://schemas.microsoft.com/office/drawing/2014/main" id="{85A5A06A-E5B4-47C4-A65B-E416659003A5}"/>
              </a:ext>
            </a:extLst>
          </p:cNvPr>
          <p:cNvSpPr>
            <a:spLocks noGrp="1" noChangeAspect="1"/>
          </p:cNvSpPr>
          <p:nvPr>
            <p:ph type="pic" sz="quarter" idx="10"/>
          </p:nvPr>
        </p:nvSpPr>
        <p:spPr>
          <a:xfrm>
            <a:off x="1499073" y="1825844"/>
            <a:ext cx="2751289" cy="3553289"/>
          </a:xfrm>
          <a:ln w="19050">
            <a:noFill/>
          </a:ln>
          <a:effectLst/>
        </p:spPr>
        <p:txBody>
          <a:bodyPr/>
          <a:lstStyle/>
          <a:p>
            <a:endParaRPr lang="zh-CN" altLang="en-US" dirty="0"/>
          </a:p>
        </p:txBody>
      </p:sp>
      <p:sp>
        <p:nvSpPr>
          <p:cNvPr id="3" name="椭圆 2">
            <a:extLst>
              <a:ext uri="{FF2B5EF4-FFF2-40B4-BE49-F238E27FC236}">
                <a16:creationId xmlns:a16="http://schemas.microsoft.com/office/drawing/2014/main" id="{F0A50C9A-40BD-43B3-AA6B-25B789C372AE}"/>
              </a:ext>
            </a:extLst>
          </p:cNvPr>
          <p:cNvSpPr/>
          <p:nvPr userDrawn="1"/>
        </p:nvSpPr>
        <p:spPr>
          <a:xfrm>
            <a:off x="1673503" y="5512260"/>
            <a:ext cx="2402429" cy="318692"/>
          </a:xfrm>
          <a:prstGeom prst="ellipse">
            <a:avLst/>
          </a:prstGeom>
          <a:gradFill flip="none" rotWithShape="1">
            <a:gsLst>
              <a:gs pos="100000">
                <a:schemeClr val="tx1">
                  <a:lumMod val="95000"/>
                  <a:lumOff val="5000"/>
                  <a:alpha val="0"/>
                </a:schemeClr>
              </a:gs>
              <a:gs pos="0">
                <a:schemeClr val="tx1">
                  <a:lumMod val="95000"/>
                  <a:lumOff val="5000"/>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610218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单人介绍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317"/>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占位符 5">
            <a:extLst>
              <a:ext uri="{FF2B5EF4-FFF2-40B4-BE49-F238E27FC236}">
                <a16:creationId xmlns:a16="http://schemas.microsoft.com/office/drawing/2014/main" id="{6FB0873F-331B-4A62-A539-28BB838A68E6}"/>
              </a:ext>
            </a:extLst>
          </p:cNvPr>
          <p:cNvSpPr>
            <a:spLocks noGrp="1"/>
          </p:cNvSpPr>
          <p:nvPr>
            <p:ph type="body" sz="quarter" idx="11" hasCustomPrompt="1"/>
          </p:nvPr>
        </p:nvSpPr>
        <p:spPr>
          <a:xfrm>
            <a:off x="4968964" y="4932365"/>
            <a:ext cx="4348599" cy="341632"/>
          </a:xfrm>
        </p:spPr>
        <p:txBody>
          <a:bodyPr wrap="square">
            <a:spAutoFit/>
          </a:bodyPr>
          <a:lstStyle>
            <a:lvl1pPr marL="0" indent="0" algn="ctr">
              <a:buNone/>
              <a:defRPr lang="zh-CN" altLang="en-US" sz="1800" kern="1200" dirty="0" smtClean="0">
                <a:solidFill>
                  <a:schemeClr val="bg1">
                    <a:lumMod val="50000"/>
                  </a:schemeClr>
                </a:solidFill>
                <a:latin typeface="+mn-ea"/>
                <a:ea typeface="+mn-ea"/>
                <a:cs typeface="+mn-cs"/>
              </a:defRPr>
            </a:lvl1pPr>
            <a:lvl2pPr marL="457200" indent="0">
              <a:buNone/>
              <a:defRPr/>
            </a:lvl2pPr>
          </a:lstStyle>
          <a:p>
            <a:pPr algn="ctr"/>
            <a:r>
              <a:rPr lang="zh-CN" altLang="en-US" dirty="0">
                <a:solidFill>
                  <a:schemeClr val="bg1">
                    <a:lumMod val="50000"/>
                  </a:schemeClr>
                </a:solidFill>
                <a:latin typeface="+mn-ea"/>
              </a:rPr>
              <a:t>“这里可以写一句话”</a:t>
            </a:r>
          </a:p>
        </p:txBody>
      </p:sp>
      <p:sp>
        <p:nvSpPr>
          <p:cNvPr id="25" name="文本占位符 24">
            <a:extLst>
              <a:ext uri="{FF2B5EF4-FFF2-40B4-BE49-F238E27FC236}">
                <a16:creationId xmlns:a16="http://schemas.microsoft.com/office/drawing/2014/main" id="{07CF5320-0426-447F-969B-92B73210ECC1}"/>
              </a:ext>
            </a:extLst>
          </p:cNvPr>
          <p:cNvSpPr>
            <a:spLocks noGrp="1"/>
          </p:cNvSpPr>
          <p:nvPr>
            <p:ph type="body" sz="quarter" idx="12" hasCustomPrompt="1"/>
          </p:nvPr>
        </p:nvSpPr>
        <p:spPr>
          <a:xfrm>
            <a:off x="6013765" y="2436142"/>
            <a:ext cx="1151586" cy="522087"/>
          </a:xfrm>
        </p:spPr>
        <p:txBody>
          <a:bodyPr lIns="0" rIns="0" bIns="0" anchor="b" anchorCtr="0">
            <a:noAutofit/>
          </a:bodyPr>
          <a:lstStyle>
            <a:lvl1pPr marL="0" indent="0" algn="ctr">
              <a:buNone/>
              <a:defRPr lang="zh-CN" altLang="en-US" sz="2800" b="1" kern="1200" dirty="0" smtClean="0">
                <a:solidFill>
                  <a:schemeClr val="accent1"/>
                </a:solidFill>
                <a:latin typeface="+mj-ea"/>
                <a:ea typeface="+mj-ea"/>
                <a:cs typeface="+mn-cs"/>
              </a:defRPr>
            </a:lvl1pPr>
            <a:lvl2pPr>
              <a:defRPr lang="zh-CN" altLang="en-US" sz="2800" b="1" kern="1200" dirty="0" smtClean="0">
                <a:solidFill>
                  <a:schemeClr val="accent1"/>
                </a:solidFill>
                <a:latin typeface="+mj-ea"/>
                <a:ea typeface="+mj-ea"/>
                <a:cs typeface="+mn-cs"/>
              </a:defRPr>
            </a:lvl2pPr>
            <a:lvl3pPr>
              <a:defRPr lang="zh-CN" altLang="en-US" sz="2800" b="1" kern="1200" dirty="0" smtClean="0">
                <a:solidFill>
                  <a:schemeClr val="accent1"/>
                </a:solidFill>
                <a:latin typeface="+mj-ea"/>
                <a:ea typeface="+mj-ea"/>
                <a:cs typeface="+mn-cs"/>
              </a:defRPr>
            </a:lvl3pPr>
            <a:lvl4pPr>
              <a:defRPr lang="zh-CN" altLang="en-US" sz="2800" b="1" kern="1200" dirty="0" smtClean="0">
                <a:solidFill>
                  <a:schemeClr val="accent1"/>
                </a:solidFill>
                <a:latin typeface="+mj-ea"/>
                <a:ea typeface="+mj-ea"/>
                <a:cs typeface="+mn-cs"/>
              </a:defRPr>
            </a:lvl4pPr>
            <a:lvl5pPr>
              <a:defRPr lang="zh-CN" altLang="en-US" sz="2800" b="1" kern="1200" dirty="0">
                <a:solidFill>
                  <a:schemeClr val="accent1"/>
                </a:solidFill>
                <a:latin typeface="+mj-ea"/>
                <a:ea typeface="+mj-ea"/>
                <a:cs typeface="+mn-cs"/>
              </a:defRPr>
            </a:lvl5pPr>
          </a:lstStyle>
          <a:p>
            <a:pPr lvl="0"/>
            <a:r>
              <a:rPr lang="zh-CN" altLang="en-US" dirty="0"/>
              <a:t>姓名</a:t>
            </a:r>
          </a:p>
        </p:txBody>
      </p:sp>
      <p:sp>
        <p:nvSpPr>
          <p:cNvPr id="31" name="文本占位符 26">
            <a:extLst>
              <a:ext uri="{FF2B5EF4-FFF2-40B4-BE49-F238E27FC236}">
                <a16:creationId xmlns:a16="http://schemas.microsoft.com/office/drawing/2014/main" id="{BD6B96F8-978A-4D00-BBC4-09102F627A35}"/>
              </a:ext>
            </a:extLst>
          </p:cNvPr>
          <p:cNvSpPr>
            <a:spLocks noGrp="1"/>
          </p:cNvSpPr>
          <p:nvPr>
            <p:ph type="body" sz="quarter" idx="14" hasCustomPrompt="1"/>
          </p:nvPr>
        </p:nvSpPr>
        <p:spPr>
          <a:xfrm>
            <a:off x="7184414" y="2599498"/>
            <a:ext cx="1324446" cy="342008"/>
          </a:xfrm>
        </p:spPr>
        <p:txBody>
          <a:bodyPr lIns="0" rIns="0" bIns="0" anchor="b" anchorCtr="0">
            <a:normAutofit/>
          </a:bodyPr>
          <a:lstStyle>
            <a:lvl1pPr marL="0" indent="0" algn="ctr">
              <a:buNone/>
              <a:defRPr lang="zh-CN" altLang="en-US" sz="1800" kern="1200" dirty="0" smtClean="0">
                <a:solidFill>
                  <a:schemeClr val="tx1">
                    <a:lumMod val="95000"/>
                    <a:lumOff val="5000"/>
                  </a:schemeClr>
                </a:solidFill>
                <a:latin typeface="+mn-ea"/>
                <a:ea typeface="+mn-ea"/>
                <a:cs typeface="+mn-cs"/>
              </a:defRPr>
            </a:lvl1pPr>
            <a:lvl2pPr marL="457200" indent="0">
              <a:buNone/>
              <a:defRPr lang="zh-CN" altLang="en-US" sz="1800" kern="1200" dirty="0" smtClean="0">
                <a:solidFill>
                  <a:schemeClr val="tx1">
                    <a:lumMod val="95000"/>
                    <a:lumOff val="5000"/>
                  </a:schemeClr>
                </a:solidFill>
                <a:latin typeface="+mn-ea"/>
                <a:ea typeface="+mn-ea"/>
                <a:cs typeface="+mn-cs"/>
              </a:defRPr>
            </a:lvl2pPr>
            <a:lvl3pPr>
              <a:defRPr lang="zh-CN" altLang="en-US" sz="1800" kern="1200" dirty="0" smtClean="0">
                <a:solidFill>
                  <a:schemeClr val="tx1">
                    <a:lumMod val="95000"/>
                    <a:lumOff val="5000"/>
                  </a:schemeClr>
                </a:solidFill>
                <a:latin typeface="+mn-ea"/>
                <a:ea typeface="+mn-ea"/>
                <a:cs typeface="+mn-cs"/>
              </a:defRPr>
            </a:lvl3pPr>
            <a:lvl4pPr>
              <a:defRPr lang="zh-CN" altLang="en-US" sz="1800" kern="1200" dirty="0" smtClean="0">
                <a:solidFill>
                  <a:schemeClr val="tx1">
                    <a:lumMod val="95000"/>
                    <a:lumOff val="5000"/>
                  </a:schemeClr>
                </a:solidFill>
                <a:latin typeface="+mn-ea"/>
                <a:ea typeface="+mn-ea"/>
                <a:cs typeface="+mn-cs"/>
              </a:defRPr>
            </a:lvl4pPr>
            <a:lvl5pPr>
              <a:defRPr lang="zh-CN" altLang="en-US" sz="1800" kern="1200" dirty="0">
                <a:solidFill>
                  <a:schemeClr val="tx1">
                    <a:lumMod val="95000"/>
                    <a:lumOff val="5000"/>
                  </a:schemeClr>
                </a:solidFill>
                <a:latin typeface="+mn-ea"/>
                <a:ea typeface="+mn-ea"/>
                <a:cs typeface="+mn-cs"/>
              </a:defRPr>
            </a:lvl5pPr>
          </a:lstStyle>
          <a:p>
            <a:pPr lvl="0"/>
            <a:r>
              <a:rPr lang="zh-CN" altLang="en-US" dirty="0"/>
              <a:t>职称</a:t>
            </a:r>
            <a:r>
              <a:rPr lang="en-US" altLang="zh-CN" dirty="0"/>
              <a:t>&amp;</a:t>
            </a:r>
            <a:r>
              <a:rPr lang="zh-CN" altLang="en-US" dirty="0"/>
              <a:t>职位</a:t>
            </a:r>
          </a:p>
        </p:txBody>
      </p:sp>
      <p:sp>
        <p:nvSpPr>
          <p:cNvPr id="35" name="文本占位符 34">
            <a:extLst>
              <a:ext uri="{FF2B5EF4-FFF2-40B4-BE49-F238E27FC236}">
                <a16:creationId xmlns:a16="http://schemas.microsoft.com/office/drawing/2014/main" id="{4DB14F8F-DD93-4DC6-B435-5E4E79023D95}"/>
              </a:ext>
            </a:extLst>
          </p:cNvPr>
          <p:cNvSpPr>
            <a:spLocks noGrp="1"/>
          </p:cNvSpPr>
          <p:nvPr>
            <p:ph type="body" sz="quarter" idx="15" hasCustomPrompt="1"/>
          </p:nvPr>
        </p:nvSpPr>
        <p:spPr>
          <a:xfrm>
            <a:off x="4312920" y="3225444"/>
            <a:ext cx="5660687" cy="1394934"/>
          </a:xfrm>
        </p:spPr>
        <p:txBody>
          <a:bodyPr wrap="square">
            <a:spAutoFit/>
          </a:bodyPr>
          <a:lstStyle>
            <a:lvl1pPr marL="0" indent="0" algn="ctr">
              <a:lnSpc>
                <a:spcPct val="130000"/>
              </a:lnSpc>
              <a:buNone/>
              <a:defRPr sz="1800"/>
            </a:lvl1pPr>
            <a:lvl2pPr marL="457200" indent="0">
              <a:buNone/>
              <a:defRPr/>
            </a:lvl2pPr>
          </a:lstStyle>
          <a:p>
            <a:pPr lvl="0"/>
            <a:r>
              <a:rPr lang="zh-CN" altLang="en-US" dirty="0"/>
              <a:t>请输入你的内容 请输入你的内容</a:t>
            </a:r>
            <a:endParaRPr lang="en-US" altLang="zh-CN" dirty="0"/>
          </a:p>
          <a:p>
            <a:pPr lvl="0"/>
            <a:r>
              <a:rPr lang="zh-CN" altLang="en-US" dirty="0"/>
              <a:t>请输入你的内容 请输入你的内容 </a:t>
            </a:r>
            <a:endParaRPr lang="en-US" altLang="zh-CN" dirty="0"/>
          </a:p>
          <a:p>
            <a:pPr lvl="0"/>
            <a:r>
              <a:rPr lang="zh-CN" altLang="en-US" dirty="0"/>
              <a:t>请输入你的内容 请输入你的内容</a:t>
            </a:r>
          </a:p>
        </p:txBody>
      </p:sp>
      <p:grpSp>
        <p:nvGrpSpPr>
          <p:cNvPr id="20" name="组合 19">
            <a:extLst>
              <a:ext uri="{FF2B5EF4-FFF2-40B4-BE49-F238E27FC236}">
                <a16:creationId xmlns:a16="http://schemas.microsoft.com/office/drawing/2014/main" id="{CE87E27E-CFD9-422E-BB0F-274492EAA431}"/>
              </a:ext>
            </a:extLst>
          </p:cNvPr>
          <p:cNvGrpSpPr/>
          <p:nvPr userDrawn="1"/>
        </p:nvGrpSpPr>
        <p:grpSpPr>
          <a:xfrm>
            <a:off x="2708535" y="1822324"/>
            <a:ext cx="7728532" cy="3693073"/>
            <a:chOff x="2665485" y="1700404"/>
            <a:chExt cx="7728532" cy="3693073"/>
          </a:xfrm>
        </p:grpSpPr>
        <p:sp>
          <p:nvSpPr>
            <p:cNvPr id="3" name="矩形 2">
              <a:extLst>
                <a:ext uri="{FF2B5EF4-FFF2-40B4-BE49-F238E27FC236}">
                  <a16:creationId xmlns:a16="http://schemas.microsoft.com/office/drawing/2014/main" id="{39E854E8-2AB5-48E5-954D-143685DD67C4}"/>
                </a:ext>
              </a:extLst>
            </p:cNvPr>
            <p:cNvSpPr/>
            <p:nvPr userDrawn="1"/>
          </p:nvSpPr>
          <p:spPr>
            <a:xfrm>
              <a:off x="2665485" y="1712747"/>
              <a:ext cx="7718645" cy="368073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等腰三角形 4">
              <a:extLst>
                <a:ext uri="{FF2B5EF4-FFF2-40B4-BE49-F238E27FC236}">
                  <a16:creationId xmlns:a16="http://schemas.microsoft.com/office/drawing/2014/main" id="{C6EF7709-4F14-4AEA-AC3C-3B75D461C88B}"/>
                </a:ext>
              </a:extLst>
            </p:cNvPr>
            <p:cNvSpPr/>
            <p:nvPr userDrawn="1"/>
          </p:nvSpPr>
          <p:spPr>
            <a:xfrm rot="5400000" flipV="1">
              <a:off x="9518824" y="1700352"/>
              <a:ext cx="875141" cy="875245"/>
            </a:xfrm>
            <a:prstGeom prst="triangle">
              <a:avLst>
                <a:gd name="adj" fmla="val 0"/>
              </a:avLst>
            </a:prstGeom>
            <a:ln>
              <a:noFill/>
            </a:ln>
            <a:effectLst>
              <a:outerShdw blurRad="127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图片占位符 16">
            <a:extLst>
              <a:ext uri="{FF2B5EF4-FFF2-40B4-BE49-F238E27FC236}">
                <a16:creationId xmlns:a16="http://schemas.microsoft.com/office/drawing/2014/main" id="{301BB9F6-FBCB-4C38-B72E-22FD3A16C723}"/>
              </a:ext>
            </a:extLst>
          </p:cNvPr>
          <p:cNvSpPr>
            <a:spLocks noGrp="1"/>
          </p:cNvSpPr>
          <p:nvPr>
            <p:ph type="pic" sz="quarter" idx="16"/>
          </p:nvPr>
        </p:nvSpPr>
        <p:spPr>
          <a:xfrm>
            <a:off x="1318563" y="2109256"/>
            <a:ext cx="2364579" cy="3115317"/>
          </a:xfrm>
          <a:effectLst>
            <a:outerShdw blurRad="127000" dist="38100" dir="2700000" algn="tl" rotWithShape="0">
              <a:prstClr val="black">
                <a:alpha val="40000"/>
              </a:prstClr>
            </a:outerShdw>
          </a:effectLst>
        </p:spPr>
        <p:txBody>
          <a:bodyPr/>
          <a:lstStyle/>
          <a:p>
            <a:endParaRPr lang="zh-CN" altLang="en-US"/>
          </a:p>
        </p:txBody>
      </p:sp>
      <p:cxnSp>
        <p:nvCxnSpPr>
          <p:cNvPr id="19" name="直接连接符 18">
            <a:extLst>
              <a:ext uri="{FF2B5EF4-FFF2-40B4-BE49-F238E27FC236}">
                <a16:creationId xmlns:a16="http://schemas.microsoft.com/office/drawing/2014/main" id="{419E17A5-51E7-435E-B570-A1492D3FB4DF}"/>
              </a:ext>
            </a:extLst>
          </p:cNvPr>
          <p:cNvCxnSpPr>
            <a:cxnSpLocks/>
          </p:cNvCxnSpPr>
          <p:nvPr userDrawn="1"/>
        </p:nvCxnSpPr>
        <p:spPr>
          <a:xfrm>
            <a:off x="6013765" y="3118681"/>
            <a:ext cx="2495095"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5259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三人介绍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8" name="图片占位符 17">
            <a:extLst>
              <a:ext uri="{FF2B5EF4-FFF2-40B4-BE49-F238E27FC236}">
                <a16:creationId xmlns:a16="http://schemas.microsoft.com/office/drawing/2014/main" id="{398111DA-1926-4FF8-A3B2-F9B59CEBC1ED}"/>
              </a:ext>
            </a:extLst>
          </p:cNvPr>
          <p:cNvSpPr>
            <a:spLocks noGrp="1"/>
          </p:cNvSpPr>
          <p:nvPr>
            <p:ph type="pic" sz="quarter" idx="11"/>
          </p:nvPr>
        </p:nvSpPr>
        <p:spPr>
          <a:xfrm>
            <a:off x="8318763" y="2034369"/>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vert="horz" wrap="square" lIns="91440" tIns="45720" rIns="91440" bIns="45720" rtlCol="0">
            <a:noAutofit/>
          </a:bodyPr>
          <a:lstStyle>
            <a:lvl1pPr>
              <a:defRPr lang="zh-CN" altLang="en-US"/>
            </a:lvl1pPr>
          </a:lstStyle>
          <a:p>
            <a:pPr lvl="0"/>
            <a:endParaRPr lang="zh-CN" altLang="en-US"/>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图片占位符 18">
            <a:extLst>
              <a:ext uri="{FF2B5EF4-FFF2-40B4-BE49-F238E27FC236}">
                <a16:creationId xmlns:a16="http://schemas.microsoft.com/office/drawing/2014/main" id="{A8BC427A-7DBA-4310-B1A4-6F41A9269960}"/>
              </a:ext>
            </a:extLst>
          </p:cNvPr>
          <p:cNvSpPr>
            <a:spLocks noGrp="1"/>
          </p:cNvSpPr>
          <p:nvPr>
            <p:ph type="pic" sz="quarter" idx="12"/>
          </p:nvPr>
        </p:nvSpPr>
        <p:spPr>
          <a:xfrm>
            <a:off x="4944317" y="2009982"/>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vert="horz" wrap="square" lIns="91440" tIns="45720" rIns="91440" bIns="45720" rtlCol="0">
            <a:noAutofit/>
          </a:bodyPr>
          <a:lstStyle>
            <a:lvl1pPr>
              <a:defRPr lang="zh-CN" altLang="en-US"/>
            </a:lvl1pPr>
          </a:lstStyle>
          <a:p>
            <a:pPr lvl="0"/>
            <a:endParaRPr lang="zh-CN" altLang="en-US"/>
          </a:p>
        </p:txBody>
      </p:sp>
      <p:sp>
        <p:nvSpPr>
          <p:cNvPr id="17" name="图片占位符 16">
            <a:extLst>
              <a:ext uri="{FF2B5EF4-FFF2-40B4-BE49-F238E27FC236}">
                <a16:creationId xmlns:a16="http://schemas.microsoft.com/office/drawing/2014/main" id="{07C9B739-1C04-4ED7-A02A-171C6D5AA5AC}"/>
              </a:ext>
            </a:extLst>
          </p:cNvPr>
          <p:cNvSpPr>
            <a:spLocks noGrp="1"/>
          </p:cNvSpPr>
          <p:nvPr>
            <p:ph type="pic" sz="quarter" idx="10"/>
          </p:nvPr>
        </p:nvSpPr>
        <p:spPr>
          <a:xfrm>
            <a:off x="1578761" y="2009983"/>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wrap="square">
            <a:noAutofit/>
          </a:bodyPr>
          <a:lstStyle/>
          <a:p>
            <a:endParaRPr lang="zh-CN" altLang="en-US"/>
          </a:p>
        </p:txBody>
      </p:sp>
    </p:spTree>
    <p:extLst>
      <p:ext uri="{BB962C8B-B14F-4D97-AF65-F5344CB8AC3E}">
        <p14:creationId xmlns:p14="http://schemas.microsoft.com/office/powerpoint/2010/main" val="11704897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样机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Freeform 45">
            <a:extLst>
              <a:ext uri="{FF2B5EF4-FFF2-40B4-BE49-F238E27FC236}">
                <a16:creationId xmlns:a16="http://schemas.microsoft.com/office/drawing/2014/main" id="{221EB8A2-4E91-4E4F-A387-46AB7ACD13EA}"/>
              </a:ext>
            </a:extLst>
          </p:cNvPr>
          <p:cNvSpPr>
            <a:spLocks/>
          </p:cNvSpPr>
          <p:nvPr/>
        </p:nvSpPr>
        <p:spPr bwMode="auto">
          <a:xfrm>
            <a:off x="2891583" y="5252070"/>
            <a:ext cx="3004934" cy="132606"/>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5" name="Freeform 46">
            <a:extLst>
              <a:ext uri="{FF2B5EF4-FFF2-40B4-BE49-F238E27FC236}">
                <a16:creationId xmlns:a16="http://schemas.microsoft.com/office/drawing/2014/main" id="{1ACA4D26-9BB4-46B9-915C-702783F63E9D}"/>
              </a:ext>
            </a:extLst>
          </p:cNvPr>
          <p:cNvSpPr>
            <a:spLocks/>
          </p:cNvSpPr>
          <p:nvPr/>
        </p:nvSpPr>
        <p:spPr bwMode="auto">
          <a:xfrm>
            <a:off x="5852327" y="5252070"/>
            <a:ext cx="3004934" cy="132606"/>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7" name="Freeform 47">
            <a:extLst>
              <a:ext uri="{FF2B5EF4-FFF2-40B4-BE49-F238E27FC236}">
                <a16:creationId xmlns:a16="http://schemas.microsoft.com/office/drawing/2014/main" id="{A4B8622A-3DE8-4531-B546-514E71E2DE78}"/>
              </a:ext>
            </a:extLst>
          </p:cNvPr>
          <p:cNvSpPr>
            <a:spLocks/>
          </p:cNvSpPr>
          <p:nvPr/>
        </p:nvSpPr>
        <p:spPr bwMode="auto">
          <a:xfrm>
            <a:off x="3479652" y="1950543"/>
            <a:ext cx="4833729" cy="3311728"/>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8" name="Freeform 48">
            <a:extLst>
              <a:ext uri="{FF2B5EF4-FFF2-40B4-BE49-F238E27FC236}">
                <a16:creationId xmlns:a16="http://schemas.microsoft.com/office/drawing/2014/main" id="{93D0A57E-1120-46BB-ABE4-724F388C7662}"/>
              </a:ext>
            </a:extLst>
          </p:cNvPr>
          <p:cNvSpPr>
            <a:spLocks/>
          </p:cNvSpPr>
          <p:nvPr/>
        </p:nvSpPr>
        <p:spPr bwMode="auto">
          <a:xfrm>
            <a:off x="3496649" y="1967543"/>
            <a:ext cx="4803138" cy="3277727"/>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9" name="Rectangle 50">
            <a:extLst>
              <a:ext uri="{FF2B5EF4-FFF2-40B4-BE49-F238E27FC236}">
                <a16:creationId xmlns:a16="http://schemas.microsoft.com/office/drawing/2014/main" id="{2D04603D-E9F6-4705-8F37-93266BAC2758}"/>
              </a:ext>
            </a:extLst>
          </p:cNvPr>
          <p:cNvSpPr>
            <a:spLocks noChangeArrowheads="1"/>
          </p:cNvSpPr>
          <p:nvPr/>
        </p:nvSpPr>
        <p:spPr bwMode="auto">
          <a:xfrm>
            <a:off x="2891583" y="5197667"/>
            <a:ext cx="5965680" cy="108804"/>
          </a:xfrm>
          <a:prstGeom prst="rect">
            <a:avLst/>
          </a:prstGeom>
          <a:solidFill>
            <a:srgbClr val="FFFFFF">
              <a:lumMod val="95000"/>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5" name="图片占位符 4">
            <a:extLst>
              <a:ext uri="{FF2B5EF4-FFF2-40B4-BE49-F238E27FC236}">
                <a16:creationId xmlns:a16="http://schemas.microsoft.com/office/drawing/2014/main" id="{61B863E5-CC91-49CB-BB6B-E263486E6531}"/>
              </a:ext>
            </a:extLst>
          </p:cNvPr>
          <p:cNvSpPr>
            <a:spLocks noGrp="1"/>
          </p:cNvSpPr>
          <p:nvPr>
            <p:ph type="pic" sz="quarter" idx="10"/>
          </p:nvPr>
        </p:nvSpPr>
        <p:spPr>
          <a:xfrm>
            <a:off x="3656414" y="2174950"/>
            <a:ext cx="4483608" cy="2832311"/>
          </a:xfrm>
        </p:spPr>
        <p:txBody>
          <a:bodyPr/>
          <a:lstStyle/>
          <a:p>
            <a:endParaRPr lang="zh-CN" altLang="en-US"/>
          </a:p>
        </p:txBody>
      </p:sp>
      <p:sp>
        <p:nvSpPr>
          <p:cNvPr id="20" name="Freeform 51">
            <a:extLst>
              <a:ext uri="{FF2B5EF4-FFF2-40B4-BE49-F238E27FC236}">
                <a16:creationId xmlns:a16="http://schemas.microsoft.com/office/drawing/2014/main" id="{54A6738D-D833-42A9-A2F9-DCEE5CD00470}"/>
              </a:ext>
            </a:extLst>
          </p:cNvPr>
          <p:cNvSpPr>
            <a:spLocks/>
          </p:cNvSpPr>
          <p:nvPr/>
        </p:nvSpPr>
        <p:spPr bwMode="auto">
          <a:xfrm>
            <a:off x="5444416" y="5197667"/>
            <a:ext cx="856610" cy="61202"/>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2" name="Oval 54">
            <a:extLst>
              <a:ext uri="{FF2B5EF4-FFF2-40B4-BE49-F238E27FC236}">
                <a16:creationId xmlns:a16="http://schemas.microsoft.com/office/drawing/2014/main" id="{A52C5F2B-3C52-4FB4-AB57-0D540D3334A6}"/>
              </a:ext>
            </a:extLst>
          </p:cNvPr>
          <p:cNvSpPr>
            <a:spLocks noChangeArrowheads="1"/>
          </p:cNvSpPr>
          <p:nvPr/>
        </p:nvSpPr>
        <p:spPr bwMode="auto">
          <a:xfrm>
            <a:off x="5869324" y="2055946"/>
            <a:ext cx="50989" cy="51003"/>
          </a:xfrm>
          <a:prstGeom prst="ellipse">
            <a:avLst/>
          </a:prstGeom>
          <a:solidFill>
            <a:srgbClr val="2C2C2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3" name="Oval 55">
            <a:extLst>
              <a:ext uri="{FF2B5EF4-FFF2-40B4-BE49-F238E27FC236}">
                <a16:creationId xmlns:a16="http://schemas.microsoft.com/office/drawing/2014/main" id="{D795516F-1E01-4018-9B71-B5741DC2EEF1}"/>
              </a:ext>
            </a:extLst>
          </p:cNvPr>
          <p:cNvSpPr>
            <a:spLocks noChangeArrowheads="1"/>
          </p:cNvSpPr>
          <p:nvPr/>
        </p:nvSpPr>
        <p:spPr bwMode="auto">
          <a:xfrm>
            <a:off x="5869324" y="2052547"/>
            <a:ext cx="50989" cy="47602"/>
          </a:xfrm>
          <a:prstGeom prst="ellipse">
            <a:avLst/>
          </a:prstGeom>
          <a:solidFill>
            <a:srgbClr val="0A0A0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4" name="Oval 56">
            <a:extLst>
              <a:ext uri="{FF2B5EF4-FFF2-40B4-BE49-F238E27FC236}">
                <a16:creationId xmlns:a16="http://schemas.microsoft.com/office/drawing/2014/main" id="{28CADEAE-2D10-4A72-AAA3-F94B33359708}"/>
              </a:ext>
            </a:extLst>
          </p:cNvPr>
          <p:cNvSpPr>
            <a:spLocks noChangeArrowheads="1"/>
          </p:cNvSpPr>
          <p:nvPr/>
        </p:nvSpPr>
        <p:spPr bwMode="auto">
          <a:xfrm>
            <a:off x="5879520" y="2059347"/>
            <a:ext cx="30595" cy="34001"/>
          </a:xfrm>
          <a:prstGeom prst="ellipse">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5" name="Oval 57">
            <a:extLst>
              <a:ext uri="{FF2B5EF4-FFF2-40B4-BE49-F238E27FC236}">
                <a16:creationId xmlns:a16="http://schemas.microsoft.com/office/drawing/2014/main" id="{343F6F32-0741-42E6-9CA7-B6C8894002D9}"/>
              </a:ext>
            </a:extLst>
          </p:cNvPr>
          <p:cNvSpPr>
            <a:spLocks noChangeArrowheads="1"/>
          </p:cNvSpPr>
          <p:nvPr/>
        </p:nvSpPr>
        <p:spPr bwMode="auto">
          <a:xfrm>
            <a:off x="5886318" y="2069547"/>
            <a:ext cx="16998" cy="17002"/>
          </a:xfrm>
          <a:prstGeom prst="ellipse">
            <a:avLst/>
          </a:prstGeom>
          <a:solidFill>
            <a:srgbClr val="2C99B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6" name="Freeform 58">
            <a:extLst>
              <a:ext uri="{FF2B5EF4-FFF2-40B4-BE49-F238E27FC236}">
                <a16:creationId xmlns:a16="http://schemas.microsoft.com/office/drawing/2014/main" id="{8BFE0A9B-A41F-4A60-85B6-DE6990F0154D}"/>
              </a:ext>
            </a:extLst>
          </p:cNvPr>
          <p:cNvSpPr>
            <a:spLocks/>
          </p:cNvSpPr>
          <p:nvPr/>
        </p:nvSpPr>
        <p:spPr bwMode="auto">
          <a:xfrm>
            <a:off x="5893117" y="2072948"/>
            <a:ext cx="3400" cy="6801"/>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0" name="Oval 61">
            <a:extLst>
              <a:ext uri="{FF2B5EF4-FFF2-40B4-BE49-F238E27FC236}">
                <a16:creationId xmlns:a16="http://schemas.microsoft.com/office/drawing/2014/main" id="{6F4C7AF5-5D45-4698-A829-8D21B8449FA2}"/>
              </a:ext>
            </a:extLst>
          </p:cNvPr>
          <p:cNvSpPr>
            <a:spLocks noChangeArrowheads="1"/>
          </p:cNvSpPr>
          <p:nvPr/>
        </p:nvSpPr>
        <p:spPr bwMode="auto">
          <a:xfrm>
            <a:off x="8791476" y="3186115"/>
            <a:ext cx="36151" cy="3616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1" name="Oval 62">
            <a:extLst>
              <a:ext uri="{FF2B5EF4-FFF2-40B4-BE49-F238E27FC236}">
                <a16:creationId xmlns:a16="http://schemas.microsoft.com/office/drawing/2014/main" id="{31D76F62-4CA1-4689-B82B-D37D4F3581C0}"/>
              </a:ext>
            </a:extLst>
          </p:cNvPr>
          <p:cNvSpPr>
            <a:spLocks noChangeArrowheads="1"/>
          </p:cNvSpPr>
          <p:nvPr/>
        </p:nvSpPr>
        <p:spPr bwMode="auto">
          <a:xfrm>
            <a:off x="8803526" y="3198168"/>
            <a:ext cx="9039" cy="904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2" name="Oval 63">
            <a:extLst>
              <a:ext uri="{FF2B5EF4-FFF2-40B4-BE49-F238E27FC236}">
                <a16:creationId xmlns:a16="http://schemas.microsoft.com/office/drawing/2014/main" id="{4425A9F4-E7C9-43D7-ACB5-A34091E652FF}"/>
              </a:ext>
            </a:extLst>
          </p:cNvPr>
          <p:cNvSpPr>
            <a:spLocks noChangeArrowheads="1"/>
          </p:cNvSpPr>
          <p:nvPr/>
        </p:nvSpPr>
        <p:spPr bwMode="auto">
          <a:xfrm>
            <a:off x="8791476" y="3183100"/>
            <a:ext cx="36151" cy="3616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3" name="Oval 64">
            <a:extLst>
              <a:ext uri="{FF2B5EF4-FFF2-40B4-BE49-F238E27FC236}">
                <a16:creationId xmlns:a16="http://schemas.microsoft.com/office/drawing/2014/main" id="{10E40350-C9B7-4E62-900A-9D9416EAD8A6}"/>
              </a:ext>
            </a:extLst>
          </p:cNvPr>
          <p:cNvSpPr>
            <a:spLocks noChangeArrowheads="1"/>
          </p:cNvSpPr>
          <p:nvPr/>
        </p:nvSpPr>
        <p:spPr bwMode="auto">
          <a:xfrm>
            <a:off x="8803526" y="3195154"/>
            <a:ext cx="9039" cy="904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4" name="Oval 65">
            <a:extLst>
              <a:ext uri="{FF2B5EF4-FFF2-40B4-BE49-F238E27FC236}">
                <a16:creationId xmlns:a16="http://schemas.microsoft.com/office/drawing/2014/main" id="{9E2E22DC-4F3A-4790-A30F-046FBF96B2AE}"/>
              </a:ext>
            </a:extLst>
          </p:cNvPr>
          <p:cNvSpPr>
            <a:spLocks noChangeArrowheads="1"/>
          </p:cNvSpPr>
          <p:nvPr/>
        </p:nvSpPr>
        <p:spPr bwMode="auto">
          <a:xfrm>
            <a:off x="8797501" y="3189127"/>
            <a:ext cx="24101" cy="24107"/>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5" name="Oval 66">
            <a:extLst>
              <a:ext uri="{FF2B5EF4-FFF2-40B4-BE49-F238E27FC236}">
                <a16:creationId xmlns:a16="http://schemas.microsoft.com/office/drawing/2014/main" id="{057FA838-5568-42E9-8B65-A812AE22ABC4}"/>
              </a:ext>
            </a:extLst>
          </p:cNvPr>
          <p:cNvSpPr>
            <a:spLocks noChangeArrowheads="1"/>
          </p:cNvSpPr>
          <p:nvPr/>
        </p:nvSpPr>
        <p:spPr bwMode="auto">
          <a:xfrm>
            <a:off x="8797501" y="3189127"/>
            <a:ext cx="24101" cy="24107"/>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6" name="Oval 67">
            <a:extLst>
              <a:ext uri="{FF2B5EF4-FFF2-40B4-BE49-F238E27FC236}">
                <a16:creationId xmlns:a16="http://schemas.microsoft.com/office/drawing/2014/main" id="{51624F16-2207-4181-8EC3-0A03CB5B45C4}"/>
              </a:ext>
            </a:extLst>
          </p:cNvPr>
          <p:cNvSpPr>
            <a:spLocks noChangeArrowheads="1"/>
          </p:cNvSpPr>
          <p:nvPr/>
        </p:nvSpPr>
        <p:spPr bwMode="auto">
          <a:xfrm>
            <a:off x="8803526" y="3195154"/>
            <a:ext cx="12050" cy="12054"/>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7" name="Oval 68">
            <a:extLst>
              <a:ext uri="{FF2B5EF4-FFF2-40B4-BE49-F238E27FC236}">
                <a16:creationId xmlns:a16="http://schemas.microsoft.com/office/drawing/2014/main" id="{8AD5CD56-41B4-4B06-BC24-90E697781C45}"/>
              </a:ext>
            </a:extLst>
          </p:cNvPr>
          <p:cNvSpPr>
            <a:spLocks noChangeArrowheads="1"/>
          </p:cNvSpPr>
          <p:nvPr/>
        </p:nvSpPr>
        <p:spPr bwMode="auto">
          <a:xfrm>
            <a:off x="8803526" y="3195154"/>
            <a:ext cx="12050" cy="12054"/>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8" name="Freeform 69">
            <a:extLst>
              <a:ext uri="{FF2B5EF4-FFF2-40B4-BE49-F238E27FC236}">
                <a16:creationId xmlns:a16="http://schemas.microsoft.com/office/drawing/2014/main" id="{C1E2B9AE-A46B-44BC-8D69-174286DE3389}"/>
              </a:ext>
            </a:extLst>
          </p:cNvPr>
          <p:cNvSpPr>
            <a:spLocks/>
          </p:cNvSpPr>
          <p:nvPr/>
        </p:nvSpPr>
        <p:spPr bwMode="auto">
          <a:xfrm>
            <a:off x="8806540" y="3198168"/>
            <a:ext cx="3013" cy="3014"/>
          </a:xfrm>
          <a:custGeom>
            <a:avLst/>
            <a:gdLst>
              <a:gd name="T0" fmla="*/ 1 w 1"/>
              <a:gd name="T1" fmla="*/ 1 h 1"/>
              <a:gd name="T2" fmla="*/ 1 w 1"/>
              <a:gd name="T3" fmla="*/ 1 h 1"/>
              <a:gd name="T4" fmla="*/ 0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0" y="1"/>
                </a:lnTo>
                <a:lnTo>
                  <a:pt x="1" y="0"/>
                </a:lnTo>
                <a:lnTo>
                  <a:pt x="1" y="1"/>
                </a:ln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9" name="Freeform 70">
            <a:extLst>
              <a:ext uri="{FF2B5EF4-FFF2-40B4-BE49-F238E27FC236}">
                <a16:creationId xmlns:a16="http://schemas.microsoft.com/office/drawing/2014/main" id="{F3523725-B51B-46CC-AD09-D73B14308E79}"/>
              </a:ext>
            </a:extLst>
          </p:cNvPr>
          <p:cNvSpPr>
            <a:spLocks/>
          </p:cNvSpPr>
          <p:nvPr/>
        </p:nvSpPr>
        <p:spPr bwMode="auto">
          <a:xfrm>
            <a:off x="8806540" y="3198168"/>
            <a:ext cx="3013" cy="3014"/>
          </a:xfrm>
          <a:custGeom>
            <a:avLst/>
            <a:gdLst>
              <a:gd name="T0" fmla="*/ 1 w 1"/>
              <a:gd name="T1" fmla="*/ 1 h 1"/>
              <a:gd name="T2" fmla="*/ 1 w 1"/>
              <a:gd name="T3" fmla="*/ 1 h 1"/>
              <a:gd name="T4" fmla="*/ 0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0" y="1"/>
                </a:lnTo>
                <a:lnTo>
                  <a:pt x="1" y="0"/>
                </a:lnTo>
                <a:lnTo>
                  <a:pt x="1" y="1"/>
                </a:ln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0" name="Oval 71">
            <a:extLst>
              <a:ext uri="{FF2B5EF4-FFF2-40B4-BE49-F238E27FC236}">
                <a16:creationId xmlns:a16="http://schemas.microsoft.com/office/drawing/2014/main" id="{DE7F9372-38EA-41BC-834A-69FE1B7FF812}"/>
              </a:ext>
            </a:extLst>
          </p:cNvPr>
          <p:cNvSpPr>
            <a:spLocks noChangeArrowheads="1"/>
          </p:cNvSpPr>
          <p:nvPr/>
        </p:nvSpPr>
        <p:spPr bwMode="auto">
          <a:xfrm>
            <a:off x="8710136" y="5361792"/>
            <a:ext cx="195821" cy="195872"/>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1" name="Freeform 72">
            <a:extLst>
              <a:ext uri="{FF2B5EF4-FFF2-40B4-BE49-F238E27FC236}">
                <a16:creationId xmlns:a16="http://schemas.microsoft.com/office/drawing/2014/main" id="{43709C02-BBB4-4F21-A5CF-D707FE4A9133}"/>
              </a:ext>
            </a:extLst>
          </p:cNvPr>
          <p:cNvSpPr>
            <a:spLocks/>
          </p:cNvSpPr>
          <p:nvPr/>
        </p:nvSpPr>
        <p:spPr bwMode="auto">
          <a:xfrm>
            <a:off x="8758338" y="5410006"/>
            <a:ext cx="99417" cy="99443"/>
          </a:xfrm>
          <a:custGeom>
            <a:avLst/>
            <a:gdLst>
              <a:gd name="T0" fmla="*/ 31 w 33"/>
              <a:gd name="T1" fmla="*/ 22 h 33"/>
              <a:gd name="T2" fmla="*/ 29 w 33"/>
              <a:gd name="T3" fmla="*/ 22 h 33"/>
              <a:gd name="T4" fmla="*/ 22 w 33"/>
              <a:gd name="T5" fmla="*/ 29 h 33"/>
              <a:gd name="T6" fmla="*/ 11 w 33"/>
              <a:gd name="T7" fmla="*/ 29 h 33"/>
              <a:gd name="T8" fmla="*/ 4 w 33"/>
              <a:gd name="T9" fmla="*/ 22 h 33"/>
              <a:gd name="T10" fmla="*/ 4 w 33"/>
              <a:gd name="T11" fmla="*/ 11 h 33"/>
              <a:gd name="T12" fmla="*/ 11 w 33"/>
              <a:gd name="T13" fmla="*/ 4 h 33"/>
              <a:gd name="T14" fmla="*/ 22 w 33"/>
              <a:gd name="T15" fmla="*/ 4 h 33"/>
              <a:gd name="T16" fmla="*/ 29 w 33"/>
              <a:gd name="T17" fmla="*/ 11 h 33"/>
              <a:gd name="T18" fmla="*/ 29 w 33"/>
              <a:gd name="T19" fmla="*/ 22 h 33"/>
              <a:gd name="T20" fmla="*/ 31 w 33"/>
              <a:gd name="T21" fmla="*/ 22 h 33"/>
              <a:gd name="T22" fmla="*/ 33 w 33"/>
              <a:gd name="T23" fmla="*/ 22 h 33"/>
              <a:gd name="T24" fmla="*/ 33 w 33"/>
              <a:gd name="T25" fmla="*/ 11 h 33"/>
              <a:gd name="T26" fmla="*/ 22 w 33"/>
              <a:gd name="T27" fmla="*/ 0 h 33"/>
              <a:gd name="T28" fmla="*/ 11 w 33"/>
              <a:gd name="T29" fmla="*/ 0 h 33"/>
              <a:gd name="T30" fmla="*/ 0 w 33"/>
              <a:gd name="T31" fmla="*/ 11 h 33"/>
              <a:gd name="T32" fmla="*/ 0 w 33"/>
              <a:gd name="T33" fmla="*/ 22 h 33"/>
              <a:gd name="T34" fmla="*/ 11 w 33"/>
              <a:gd name="T35" fmla="*/ 33 h 33"/>
              <a:gd name="T36" fmla="*/ 22 w 33"/>
              <a:gd name="T37" fmla="*/ 33 h 33"/>
              <a:gd name="T38" fmla="*/ 33 w 33"/>
              <a:gd name="T39" fmla="*/ 22 h 33"/>
              <a:gd name="T40" fmla="*/ 31 w 33"/>
              <a:gd name="T4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33">
                <a:moveTo>
                  <a:pt x="31" y="22"/>
                </a:moveTo>
                <a:cubicBezTo>
                  <a:pt x="29" y="22"/>
                  <a:pt x="29" y="22"/>
                  <a:pt x="29" y="22"/>
                </a:cubicBezTo>
                <a:cubicBezTo>
                  <a:pt x="29" y="26"/>
                  <a:pt x="26" y="29"/>
                  <a:pt x="22" y="29"/>
                </a:cubicBezTo>
                <a:cubicBezTo>
                  <a:pt x="11" y="29"/>
                  <a:pt x="11" y="29"/>
                  <a:pt x="11" y="29"/>
                </a:cubicBezTo>
                <a:cubicBezTo>
                  <a:pt x="7" y="29"/>
                  <a:pt x="4" y="26"/>
                  <a:pt x="4" y="22"/>
                </a:cubicBezTo>
                <a:cubicBezTo>
                  <a:pt x="4" y="11"/>
                  <a:pt x="4" y="11"/>
                  <a:pt x="4" y="11"/>
                </a:cubicBezTo>
                <a:cubicBezTo>
                  <a:pt x="4" y="7"/>
                  <a:pt x="7" y="4"/>
                  <a:pt x="11" y="4"/>
                </a:cubicBezTo>
                <a:cubicBezTo>
                  <a:pt x="22" y="4"/>
                  <a:pt x="22" y="4"/>
                  <a:pt x="22" y="4"/>
                </a:cubicBezTo>
                <a:cubicBezTo>
                  <a:pt x="26" y="4"/>
                  <a:pt x="29" y="7"/>
                  <a:pt x="29" y="11"/>
                </a:cubicBezTo>
                <a:cubicBezTo>
                  <a:pt x="29" y="22"/>
                  <a:pt x="29" y="22"/>
                  <a:pt x="29" y="22"/>
                </a:cubicBezTo>
                <a:cubicBezTo>
                  <a:pt x="31" y="22"/>
                  <a:pt x="31" y="22"/>
                  <a:pt x="31" y="22"/>
                </a:cubicBezTo>
                <a:cubicBezTo>
                  <a:pt x="33" y="22"/>
                  <a:pt x="33" y="22"/>
                  <a:pt x="33" y="22"/>
                </a:cubicBezTo>
                <a:cubicBezTo>
                  <a:pt x="33" y="11"/>
                  <a:pt x="33" y="11"/>
                  <a:pt x="33" y="11"/>
                </a:cubicBezTo>
                <a:cubicBezTo>
                  <a:pt x="33" y="5"/>
                  <a:pt x="28" y="0"/>
                  <a:pt x="22" y="0"/>
                </a:cubicBezTo>
                <a:cubicBezTo>
                  <a:pt x="11" y="0"/>
                  <a:pt x="11" y="0"/>
                  <a:pt x="11" y="0"/>
                </a:cubicBezTo>
                <a:cubicBezTo>
                  <a:pt x="5" y="0"/>
                  <a:pt x="0" y="5"/>
                  <a:pt x="0" y="11"/>
                </a:cubicBezTo>
                <a:cubicBezTo>
                  <a:pt x="0" y="22"/>
                  <a:pt x="0" y="22"/>
                  <a:pt x="0" y="22"/>
                </a:cubicBezTo>
                <a:cubicBezTo>
                  <a:pt x="0" y="28"/>
                  <a:pt x="5" y="33"/>
                  <a:pt x="11" y="33"/>
                </a:cubicBezTo>
                <a:cubicBezTo>
                  <a:pt x="22" y="33"/>
                  <a:pt x="22" y="33"/>
                  <a:pt x="22" y="33"/>
                </a:cubicBezTo>
                <a:cubicBezTo>
                  <a:pt x="28" y="33"/>
                  <a:pt x="33" y="28"/>
                  <a:pt x="33" y="22"/>
                </a:cubicBezTo>
                <a:lnTo>
                  <a:pt x="31" y="22"/>
                </a:lnTo>
                <a:close/>
              </a:path>
            </a:pathLst>
          </a:custGeom>
          <a:solidFill>
            <a:srgbClr val="FFFFFF">
              <a:lumMod val="7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3" name="Freeform 75">
            <a:extLst>
              <a:ext uri="{FF2B5EF4-FFF2-40B4-BE49-F238E27FC236}">
                <a16:creationId xmlns:a16="http://schemas.microsoft.com/office/drawing/2014/main" id="{53A1ED6B-E44B-48D4-BD29-6FE94F70D839}"/>
              </a:ext>
            </a:extLst>
          </p:cNvPr>
          <p:cNvSpPr>
            <a:spLocks/>
          </p:cNvSpPr>
          <p:nvPr/>
        </p:nvSpPr>
        <p:spPr bwMode="auto">
          <a:xfrm>
            <a:off x="8716162" y="3273502"/>
            <a:ext cx="219923" cy="51229"/>
          </a:xfrm>
          <a:custGeom>
            <a:avLst/>
            <a:gdLst>
              <a:gd name="T0" fmla="*/ 8 w 73"/>
              <a:gd name="T1" fmla="*/ 17 h 17"/>
              <a:gd name="T2" fmla="*/ 0 w 73"/>
              <a:gd name="T3" fmla="*/ 9 h 17"/>
              <a:gd name="T4" fmla="*/ 8 w 73"/>
              <a:gd name="T5" fmla="*/ 0 h 17"/>
              <a:gd name="T6" fmla="*/ 65 w 73"/>
              <a:gd name="T7" fmla="*/ 0 h 17"/>
              <a:gd name="T8" fmla="*/ 73 w 73"/>
              <a:gd name="T9" fmla="*/ 9 h 17"/>
              <a:gd name="T10" fmla="*/ 65 w 73"/>
              <a:gd name="T11" fmla="*/ 17 h 17"/>
              <a:gd name="T12" fmla="*/ 8 w 7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73" h="17">
                <a:moveTo>
                  <a:pt x="8" y="17"/>
                </a:moveTo>
                <a:cubicBezTo>
                  <a:pt x="3" y="17"/>
                  <a:pt x="0" y="13"/>
                  <a:pt x="0" y="9"/>
                </a:cubicBezTo>
                <a:cubicBezTo>
                  <a:pt x="0" y="4"/>
                  <a:pt x="3" y="0"/>
                  <a:pt x="8" y="0"/>
                </a:cubicBezTo>
                <a:cubicBezTo>
                  <a:pt x="65" y="0"/>
                  <a:pt x="65" y="0"/>
                  <a:pt x="65" y="0"/>
                </a:cubicBezTo>
                <a:cubicBezTo>
                  <a:pt x="70" y="0"/>
                  <a:pt x="73" y="4"/>
                  <a:pt x="73" y="9"/>
                </a:cubicBezTo>
                <a:cubicBezTo>
                  <a:pt x="73" y="13"/>
                  <a:pt x="70" y="17"/>
                  <a:pt x="65" y="17"/>
                </a:cubicBezTo>
                <a:lnTo>
                  <a:pt x="8" y="17"/>
                </a:ln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4" name="Freeform 76">
            <a:extLst>
              <a:ext uri="{FF2B5EF4-FFF2-40B4-BE49-F238E27FC236}">
                <a16:creationId xmlns:a16="http://schemas.microsoft.com/office/drawing/2014/main" id="{3A966E8F-6CB7-459B-917B-6A4AE1734DE9}"/>
              </a:ext>
            </a:extLst>
          </p:cNvPr>
          <p:cNvSpPr>
            <a:spLocks/>
          </p:cNvSpPr>
          <p:nvPr/>
        </p:nvSpPr>
        <p:spPr bwMode="auto">
          <a:xfrm>
            <a:off x="8728212" y="3288570"/>
            <a:ext cx="195821" cy="21095"/>
          </a:xfrm>
          <a:custGeom>
            <a:avLst/>
            <a:gdLst>
              <a:gd name="T0" fmla="*/ 65 w 65"/>
              <a:gd name="T1" fmla="*/ 4 h 7"/>
              <a:gd name="T2" fmla="*/ 61 w 65"/>
              <a:gd name="T3" fmla="*/ 7 h 7"/>
              <a:gd name="T4" fmla="*/ 4 w 65"/>
              <a:gd name="T5" fmla="*/ 7 h 7"/>
              <a:gd name="T6" fmla="*/ 0 w 65"/>
              <a:gd name="T7" fmla="*/ 4 h 7"/>
              <a:gd name="T8" fmla="*/ 4 w 65"/>
              <a:gd name="T9" fmla="*/ 0 h 7"/>
              <a:gd name="T10" fmla="*/ 61 w 65"/>
              <a:gd name="T11" fmla="*/ 0 h 7"/>
              <a:gd name="T12" fmla="*/ 65 w 65"/>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5" h="7">
                <a:moveTo>
                  <a:pt x="65" y="4"/>
                </a:moveTo>
                <a:cubicBezTo>
                  <a:pt x="65" y="6"/>
                  <a:pt x="63" y="7"/>
                  <a:pt x="61" y="7"/>
                </a:cubicBezTo>
                <a:cubicBezTo>
                  <a:pt x="4" y="7"/>
                  <a:pt x="4" y="7"/>
                  <a:pt x="4" y="7"/>
                </a:cubicBezTo>
                <a:cubicBezTo>
                  <a:pt x="2" y="7"/>
                  <a:pt x="0" y="6"/>
                  <a:pt x="0" y="4"/>
                </a:cubicBezTo>
                <a:cubicBezTo>
                  <a:pt x="0" y="2"/>
                  <a:pt x="2" y="0"/>
                  <a:pt x="4" y="0"/>
                </a:cubicBezTo>
                <a:cubicBezTo>
                  <a:pt x="61" y="0"/>
                  <a:pt x="61" y="0"/>
                  <a:pt x="61" y="0"/>
                </a:cubicBezTo>
                <a:cubicBezTo>
                  <a:pt x="63" y="0"/>
                  <a:pt x="65" y="2"/>
                  <a:pt x="65" y="4"/>
                </a:cubicBez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5" name="Oval 77">
            <a:extLst>
              <a:ext uri="{FF2B5EF4-FFF2-40B4-BE49-F238E27FC236}">
                <a16:creationId xmlns:a16="http://schemas.microsoft.com/office/drawing/2014/main" id="{BE19A5BC-A0AD-4202-B9E7-5B9D6592B039}"/>
              </a:ext>
            </a:extLst>
          </p:cNvPr>
          <p:cNvSpPr>
            <a:spLocks noChangeArrowheads="1"/>
          </p:cNvSpPr>
          <p:nvPr/>
        </p:nvSpPr>
        <p:spPr bwMode="auto">
          <a:xfrm>
            <a:off x="8643859" y="3282543"/>
            <a:ext cx="33140" cy="33148"/>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Tree>
    <p:extLst>
      <p:ext uri="{BB962C8B-B14F-4D97-AF65-F5344CB8AC3E}">
        <p14:creationId xmlns:p14="http://schemas.microsoft.com/office/powerpoint/2010/main" val="1893387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视频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56F145ED-F2E4-4AA7-A4D3-D53C16269E0A}"/>
              </a:ext>
            </a:extLst>
          </p:cNvPr>
          <p:cNvGrpSpPr/>
          <p:nvPr userDrawn="1"/>
        </p:nvGrpSpPr>
        <p:grpSpPr>
          <a:xfrm>
            <a:off x="670560" y="1959198"/>
            <a:ext cx="6136670" cy="3434133"/>
            <a:chOff x="2891583" y="1950543"/>
            <a:chExt cx="5965680" cy="3434133"/>
          </a:xfrm>
        </p:grpSpPr>
        <p:sp>
          <p:nvSpPr>
            <p:cNvPr id="14" name="Freeform 45">
              <a:extLst>
                <a:ext uri="{FF2B5EF4-FFF2-40B4-BE49-F238E27FC236}">
                  <a16:creationId xmlns:a16="http://schemas.microsoft.com/office/drawing/2014/main" id="{221EB8A2-4E91-4E4F-A387-46AB7ACD13EA}"/>
                </a:ext>
              </a:extLst>
            </p:cNvPr>
            <p:cNvSpPr>
              <a:spLocks/>
            </p:cNvSpPr>
            <p:nvPr/>
          </p:nvSpPr>
          <p:spPr bwMode="auto">
            <a:xfrm>
              <a:off x="2891583" y="5252070"/>
              <a:ext cx="3004934" cy="132606"/>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5" name="Freeform 46">
              <a:extLst>
                <a:ext uri="{FF2B5EF4-FFF2-40B4-BE49-F238E27FC236}">
                  <a16:creationId xmlns:a16="http://schemas.microsoft.com/office/drawing/2014/main" id="{1ACA4D26-9BB4-46B9-915C-702783F63E9D}"/>
                </a:ext>
              </a:extLst>
            </p:cNvPr>
            <p:cNvSpPr>
              <a:spLocks/>
            </p:cNvSpPr>
            <p:nvPr/>
          </p:nvSpPr>
          <p:spPr bwMode="auto">
            <a:xfrm>
              <a:off x="5852327" y="5252070"/>
              <a:ext cx="3004934" cy="132606"/>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7" name="Freeform 47">
              <a:extLst>
                <a:ext uri="{FF2B5EF4-FFF2-40B4-BE49-F238E27FC236}">
                  <a16:creationId xmlns:a16="http://schemas.microsoft.com/office/drawing/2014/main" id="{A4B8622A-3DE8-4531-B546-514E71E2DE78}"/>
                </a:ext>
              </a:extLst>
            </p:cNvPr>
            <p:cNvSpPr>
              <a:spLocks/>
            </p:cNvSpPr>
            <p:nvPr/>
          </p:nvSpPr>
          <p:spPr bwMode="auto">
            <a:xfrm>
              <a:off x="3479652" y="1950543"/>
              <a:ext cx="4833729" cy="3311728"/>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8" name="Freeform 48">
              <a:extLst>
                <a:ext uri="{FF2B5EF4-FFF2-40B4-BE49-F238E27FC236}">
                  <a16:creationId xmlns:a16="http://schemas.microsoft.com/office/drawing/2014/main" id="{93D0A57E-1120-46BB-ABE4-724F388C7662}"/>
                </a:ext>
              </a:extLst>
            </p:cNvPr>
            <p:cNvSpPr>
              <a:spLocks/>
            </p:cNvSpPr>
            <p:nvPr/>
          </p:nvSpPr>
          <p:spPr bwMode="auto">
            <a:xfrm>
              <a:off x="3496649" y="1967543"/>
              <a:ext cx="4803138" cy="3277727"/>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9" name="Rectangle 50">
              <a:extLst>
                <a:ext uri="{FF2B5EF4-FFF2-40B4-BE49-F238E27FC236}">
                  <a16:creationId xmlns:a16="http://schemas.microsoft.com/office/drawing/2014/main" id="{2D04603D-E9F6-4705-8F37-93266BAC2758}"/>
                </a:ext>
              </a:extLst>
            </p:cNvPr>
            <p:cNvSpPr>
              <a:spLocks noChangeArrowheads="1"/>
            </p:cNvSpPr>
            <p:nvPr/>
          </p:nvSpPr>
          <p:spPr bwMode="auto">
            <a:xfrm>
              <a:off x="2891583" y="5197667"/>
              <a:ext cx="5965680" cy="108804"/>
            </a:xfrm>
            <a:prstGeom prst="rect">
              <a:avLst/>
            </a:prstGeom>
            <a:solidFill>
              <a:srgbClr val="FFFFFF">
                <a:lumMod val="95000"/>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0" name="Freeform 51">
              <a:extLst>
                <a:ext uri="{FF2B5EF4-FFF2-40B4-BE49-F238E27FC236}">
                  <a16:creationId xmlns:a16="http://schemas.microsoft.com/office/drawing/2014/main" id="{54A6738D-D833-42A9-A2F9-DCEE5CD00470}"/>
                </a:ext>
              </a:extLst>
            </p:cNvPr>
            <p:cNvSpPr>
              <a:spLocks/>
            </p:cNvSpPr>
            <p:nvPr/>
          </p:nvSpPr>
          <p:spPr bwMode="auto">
            <a:xfrm>
              <a:off x="5444416" y="5197667"/>
              <a:ext cx="856610" cy="61202"/>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2" name="Oval 54">
              <a:extLst>
                <a:ext uri="{FF2B5EF4-FFF2-40B4-BE49-F238E27FC236}">
                  <a16:creationId xmlns:a16="http://schemas.microsoft.com/office/drawing/2014/main" id="{A52C5F2B-3C52-4FB4-AB57-0D540D3334A6}"/>
                </a:ext>
              </a:extLst>
            </p:cNvPr>
            <p:cNvSpPr>
              <a:spLocks noChangeArrowheads="1"/>
            </p:cNvSpPr>
            <p:nvPr/>
          </p:nvSpPr>
          <p:spPr bwMode="auto">
            <a:xfrm>
              <a:off x="5869324" y="2055946"/>
              <a:ext cx="50989" cy="51003"/>
            </a:xfrm>
            <a:prstGeom prst="ellipse">
              <a:avLst/>
            </a:prstGeom>
            <a:solidFill>
              <a:srgbClr val="2C2C2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3" name="Oval 55">
              <a:extLst>
                <a:ext uri="{FF2B5EF4-FFF2-40B4-BE49-F238E27FC236}">
                  <a16:creationId xmlns:a16="http://schemas.microsoft.com/office/drawing/2014/main" id="{D795516F-1E01-4018-9B71-B5741DC2EEF1}"/>
                </a:ext>
              </a:extLst>
            </p:cNvPr>
            <p:cNvSpPr>
              <a:spLocks noChangeArrowheads="1"/>
            </p:cNvSpPr>
            <p:nvPr/>
          </p:nvSpPr>
          <p:spPr bwMode="auto">
            <a:xfrm>
              <a:off x="5869324" y="2052547"/>
              <a:ext cx="50989" cy="47602"/>
            </a:xfrm>
            <a:prstGeom prst="ellipse">
              <a:avLst/>
            </a:prstGeom>
            <a:solidFill>
              <a:srgbClr val="0A0A0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4" name="Oval 56">
              <a:extLst>
                <a:ext uri="{FF2B5EF4-FFF2-40B4-BE49-F238E27FC236}">
                  <a16:creationId xmlns:a16="http://schemas.microsoft.com/office/drawing/2014/main" id="{28CADEAE-2D10-4A72-AAA3-F94B33359708}"/>
                </a:ext>
              </a:extLst>
            </p:cNvPr>
            <p:cNvSpPr>
              <a:spLocks noChangeArrowheads="1"/>
            </p:cNvSpPr>
            <p:nvPr/>
          </p:nvSpPr>
          <p:spPr bwMode="auto">
            <a:xfrm>
              <a:off x="5879520" y="2059347"/>
              <a:ext cx="30595" cy="34001"/>
            </a:xfrm>
            <a:prstGeom prst="ellipse">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5" name="Oval 57">
              <a:extLst>
                <a:ext uri="{FF2B5EF4-FFF2-40B4-BE49-F238E27FC236}">
                  <a16:creationId xmlns:a16="http://schemas.microsoft.com/office/drawing/2014/main" id="{343F6F32-0741-42E6-9CA7-B6C8894002D9}"/>
                </a:ext>
              </a:extLst>
            </p:cNvPr>
            <p:cNvSpPr>
              <a:spLocks noChangeArrowheads="1"/>
            </p:cNvSpPr>
            <p:nvPr/>
          </p:nvSpPr>
          <p:spPr bwMode="auto">
            <a:xfrm>
              <a:off x="5886318" y="2069547"/>
              <a:ext cx="16998" cy="17002"/>
            </a:xfrm>
            <a:prstGeom prst="ellipse">
              <a:avLst/>
            </a:prstGeom>
            <a:solidFill>
              <a:srgbClr val="2C99B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6" name="Freeform 58">
              <a:extLst>
                <a:ext uri="{FF2B5EF4-FFF2-40B4-BE49-F238E27FC236}">
                  <a16:creationId xmlns:a16="http://schemas.microsoft.com/office/drawing/2014/main" id="{8BFE0A9B-A41F-4A60-85B6-DE6990F0154D}"/>
                </a:ext>
              </a:extLst>
            </p:cNvPr>
            <p:cNvSpPr>
              <a:spLocks/>
            </p:cNvSpPr>
            <p:nvPr/>
          </p:nvSpPr>
          <p:spPr bwMode="auto">
            <a:xfrm>
              <a:off x="5893117" y="2072948"/>
              <a:ext cx="3400" cy="6801"/>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grpSp>
      <p:sp>
        <p:nvSpPr>
          <p:cNvPr id="3" name="矩形 2">
            <a:extLst>
              <a:ext uri="{FF2B5EF4-FFF2-40B4-BE49-F238E27FC236}">
                <a16:creationId xmlns:a16="http://schemas.microsoft.com/office/drawing/2014/main" id="{B0920997-CFBD-46E3-B932-CAA3E1B89BB2}"/>
              </a:ext>
            </a:extLst>
          </p:cNvPr>
          <p:cNvSpPr>
            <a:spLocks noChangeAspect="1"/>
          </p:cNvSpPr>
          <p:nvPr userDrawn="1"/>
        </p:nvSpPr>
        <p:spPr>
          <a:xfrm>
            <a:off x="1469639" y="2349701"/>
            <a:ext cx="4592069" cy="25830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内容占位符 3">
            <a:extLst>
              <a:ext uri="{FF2B5EF4-FFF2-40B4-BE49-F238E27FC236}">
                <a16:creationId xmlns:a16="http://schemas.microsoft.com/office/drawing/2014/main" id="{03E804BD-F1B6-49E5-ABA6-3976E2780915}"/>
              </a:ext>
            </a:extLst>
          </p:cNvPr>
          <p:cNvSpPr>
            <a:spLocks noGrp="1" noChangeAspect="1"/>
          </p:cNvSpPr>
          <p:nvPr>
            <p:ph sz="quarter" idx="11"/>
          </p:nvPr>
        </p:nvSpPr>
        <p:spPr>
          <a:xfrm>
            <a:off x="1468873" y="2345176"/>
            <a:ext cx="4593600" cy="259208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60713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7685559"/>
      </p:ext>
    </p:extLst>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311077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4044201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D8DA52A9-2D7F-4CFC-BEE6-313DF6F96983}"/>
              </a:ext>
            </a:extLst>
          </p:cNvPr>
          <p:cNvPicPr>
            <a:picLocks noChangeAspect="1"/>
          </p:cNvPicPr>
          <p:nvPr userDrawn="1"/>
        </p:nvPicPr>
        <p:blipFill>
          <a:blip r:embed="rId23"/>
          <a:stretch>
            <a:fillRect/>
          </a:stretch>
        </p:blipFill>
        <p:spPr>
          <a:xfrm>
            <a:off x="0" y="1"/>
            <a:ext cx="12192000" cy="6857999"/>
          </a:xfrm>
          <a:prstGeom prst="rect">
            <a:avLst/>
          </a:prstGeom>
        </p:spPr>
      </p:pic>
      <p:sp>
        <p:nvSpPr>
          <p:cNvPr id="2" name="标题占位符 1">
            <a:extLst>
              <a:ext uri="{FF2B5EF4-FFF2-40B4-BE49-F238E27FC236}">
                <a16:creationId xmlns:a16="http://schemas.microsoft.com/office/drawing/2014/main" id="{D529CD16-6B55-4C57-A3F2-7893436BF5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C94C8FD-BEA5-4E0C-BF35-1699EC287C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5D85989-BD0D-495F-A9D5-148F6D0E9F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87D1D0-11BC-4610-B275-571C8521F02E}" type="datetimeFigureOut">
              <a:rPr lang="zh-CN" altLang="en-US" smtClean="0"/>
              <a:t>2025/12/7</a:t>
            </a:fld>
            <a:endParaRPr lang="zh-CN" altLang="en-US"/>
          </a:p>
        </p:txBody>
      </p:sp>
      <p:sp>
        <p:nvSpPr>
          <p:cNvPr id="5" name="页脚占位符 4">
            <a:extLst>
              <a:ext uri="{FF2B5EF4-FFF2-40B4-BE49-F238E27FC236}">
                <a16:creationId xmlns:a16="http://schemas.microsoft.com/office/drawing/2014/main" id="{104185D7-CCA3-492C-9E18-AFC305FB2D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6A02DE0-0246-4AEC-A42E-62C2253585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67563A-2BCF-4CDB-AAE4-8FFF0BA89BF6}" type="slidenum">
              <a:rPr lang="zh-CN" altLang="en-US" smtClean="0"/>
              <a:t>‹#›</a:t>
            </a:fld>
            <a:endParaRPr lang="zh-CN" altLang="en-US"/>
          </a:p>
        </p:txBody>
      </p:sp>
    </p:spTree>
    <p:extLst>
      <p:ext uri="{BB962C8B-B14F-4D97-AF65-F5344CB8AC3E}">
        <p14:creationId xmlns:p14="http://schemas.microsoft.com/office/powerpoint/2010/main" val="2185023398"/>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6" r:id="rId3"/>
    <p:sldLayoutId id="2147483651" r:id="rId4"/>
    <p:sldLayoutId id="2147483658" r:id="rId5"/>
    <p:sldLayoutId id="2147483650" r:id="rId6"/>
    <p:sldLayoutId id="2147483660" r:id="rId7"/>
    <p:sldLayoutId id="2147483674" r:id="rId8"/>
    <p:sldLayoutId id="2147483655" r:id="rId9"/>
    <p:sldLayoutId id="2147483661" r:id="rId10"/>
    <p:sldLayoutId id="2147483667" r:id="rId11"/>
    <p:sldLayoutId id="2147483671" r:id="rId12"/>
    <p:sldLayoutId id="2147483670" r:id="rId13"/>
    <p:sldLayoutId id="2147483668" r:id="rId14"/>
    <p:sldLayoutId id="2147483669" r:id="rId15"/>
    <p:sldLayoutId id="2147483673" r:id="rId16"/>
    <p:sldLayoutId id="2147483663" r:id="rId17"/>
    <p:sldLayoutId id="2147483664" r:id="rId18"/>
    <p:sldLayoutId id="2147483665" r:id="rId19"/>
    <p:sldLayoutId id="2147483672" r:id="rId20"/>
    <p:sldLayoutId id="2147483675"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5845813"/>
      </p:ext>
    </p:extLst>
  </p:cSld>
  <p:clrMap bg1="lt1" tx1="dk1" bg2="lt2" tx2="dk2" accent1="accent1" accent2="accent2" accent3="accent3" accent4="accent4" accent5="accent5" accent6="accent6" hlink="hlink" folHlink="folHlink"/>
  <p:sldLayoutIdLst>
    <p:sldLayoutId id="2147483680" r:id="rId1"/>
    <p:sldLayoutId id="214748368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C58AE834-316A-4AFB-837C-994044880A80}"/>
              </a:ext>
            </a:extLst>
          </p:cNvPr>
          <p:cNvSpPr>
            <a:spLocks noGrp="1"/>
          </p:cNvSpPr>
          <p:nvPr>
            <p:ph type="ctrTitle"/>
          </p:nvPr>
        </p:nvSpPr>
        <p:spPr/>
        <p:txBody>
          <a:bodyPr/>
          <a:lstStyle/>
          <a:p>
            <a:r>
              <a:rPr lang="zh-CN" altLang="en-US" dirty="0"/>
              <a:t>萤火虫算法</a:t>
            </a:r>
          </a:p>
        </p:txBody>
      </p:sp>
      <p:sp>
        <p:nvSpPr>
          <p:cNvPr id="3" name="副标题 2">
            <a:extLst>
              <a:ext uri="{FF2B5EF4-FFF2-40B4-BE49-F238E27FC236}">
                <a16:creationId xmlns:a16="http://schemas.microsoft.com/office/drawing/2014/main" id="{FC89192B-3A93-482D-A650-DD8BF4195EF0}"/>
              </a:ext>
            </a:extLst>
          </p:cNvPr>
          <p:cNvSpPr>
            <a:spLocks noGrp="1"/>
          </p:cNvSpPr>
          <p:nvPr>
            <p:ph type="subTitle" idx="1"/>
          </p:nvPr>
        </p:nvSpPr>
        <p:spPr/>
        <p:txBody>
          <a:bodyPr/>
          <a:lstStyle/>
          <a:p>
            <a:r>
              <a:rPr lang="en-US" altLang="zh-CN" dirty="0"/>
              <a:t>Firefly Algorithm</a:t>
            </a:r>
            <a:endParaRPr lang="zh-CN" altLang="en-US" dirty="0"/>
          </a:p>
        </p:txBody>
      </p:sp>
      <p:sp>
        <p:nvSpPr>
          <p:cNvPr id="18" name="文本占位符 17">
            <a:extLst>
              <a:ext uri="{FF2B5EF4-FFF2-40B4-BE49-F238E27FC236}">
                <a16:creationId xmlns:a16="http://schemas.microsoft.com/office/drawing/2014/main" id="{44BBB5C7-1DDF-43C3-8E06-22C049A3C389}"/>
              </a:ext>
            </a:extLst>
          </p:cNvPr>
          <p:cNvSpPr>
            <a:spLocks noGrp="1"/>
          </p:cNvSpPr>
          <p:nvPr>
            <p:ph type="body" sz="quarter" idx="13"/>
          </p:nvPr>
        </p:nvSpPr>
        <p:spPr/>
        <p:txBody>
          <a:bodyPr/>
          <a:lstStyle/>
          <a:p>
            <a:r>
              <a:rPr lang="zh-CN" altLang="en-US" dirty="0"/>
              <a:t>汇报人：李春阳</a:t>
            </a:r>
          </a:p>
        </p:txBody>
      </p:sp>
    </p:spTree>
    <p:extLst>
      <p:ext uri="{BB962C8B-B14F-4D97-AF65-F5344CB8AC3E}">
        <p14:creationId xmlns:p14="http://schemas.microsoft.com/office/powerpoint/2010/main" val="3216220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BE5D5150-F2B6-449E-A4E4-AE50AAACB55D}"/>
              </a:ext>
            </a:extLst>
          </p:cNvPr>
          <p:cNvSpPr>
            <a:spLocks noGrp="1"/>
          </p:cNvSpPr>
          <p:nvPr>
            <p:ph type="body" sz="quarter" idx="13"/>
          </p:nvPr>
        </p:nvSpPr>
        <p:spPr/>
        <p:txBody>
          <a:bodyPr/>
          <a:lstStyle/>
          <a:p>
            <a:r>
              <a:rPr lang="zh-CN" altLang="en-US" dirty="0"/>
              <a:t>算法背景</a:t>
            </a:r>
          </a:p>
        </p:txBody>
      </p:sp>
      <p:sp>
        <p:nvSpPr>
          <p:cNvPr id="5" name="文本占位符 4">
            <a:extLst>
              <a:ext uri="{FF2B5EF4-FFF2-40B4-BE49-F238E27FC236}">
                <a16:creationId xmlns:a16="http://schemas.microsoft.com/office/drawing/2014/main" id="{D8590C14-268D-490B-ADF5-3CF561B4506F}"/>
              </a:ext>
            </a:extLst>
          </p:cNvPr>
          <p:cNvSpPr>
            <a:spLocks noGrp="1"/>
          </p:cNvSpPr>
          <p:nvPr>
            <p:ph type="body" sz="quarter" idx="14"/>
          </p:nvPr>
        </p:nvSpPr>
        <p:spPr/>
        <p:txBody>
          <a:bodyPr/>
          <a:lstStyle/>
          <a:p>
            <a:r>
              <a:rPr lang="en-US" altLang="zh-CN" dirty="0"/>
              <a:t>Background</a:t>
            </a:r>
            <a:endParaRPr lang="zh-CN" altLang="en-US" dirty="0"/>
          </a:p>
        </p:txBody>
      </p:sp>
      <p:sp>
        <p:nvSpPr>
          <p:cNvPr id="18" name="文本占位符 17">
            <a:extLst>
              <a:ext uri="{FF2B5EF4-FFF2-40B4-BE49-F238E27FC236}">
                <a16:creationId xmlns:a16="http://schemas.microsoft.com/office/drawing/2014/main" id="{D8EB523F-0FBF-4613-BBF9-21B6F47B6799}"/>
              </a:ext>
            </a:extLst>
          </p:cNvPr>
          <p:cNvSpPr>
            <a:spLocks noGrp="1"/>
          </p:cNvSpPr>
          <p:nvPr>
            <p:ph type="body" sz="quarter" idx="15"/>
          </p:nvPr>
        </p:nvSpPr>
        <p:spPr/>
        <p:txBody>
          <a:bodyPr/>
          <a:lstStyle/>
          <a:p>
            <a:r>
              <a:rPr lang="zh-CN" altLang="en-US" dirty="0"/>
              <a:t>算法流程</a:t>
            </a:r>
          </a:p>
        </p:txBody>
      </p:sp>
      <p:sp>
        <p:nvSpPr>
          <p:cNvPr id="19" name="文本占位符 18">
            <a:extLst>
              <a:ext uri="{FF2B5EF4-FFF2-40B4-BE49-F238E27FC236}">
                <a16:creationId xmlns:a16="http://schemas.microsoft.com/office/drawing/2014/main" id="{09E38E02-8708-4E5A-B514-DE54AA1C19EB}"/>
              </a:ext>
            </a:extLst>
          </p:cNvPr>
          <p:cNvSpPr>
            <a:spLocks noGrp="1"/>
          </p:cNvSpPr>
          <p:nvPr>
            <p:ph type="body" sz="quarter" idx="16"/>
          </p:nvPr>
        </p:nvSpPr>
        <p:spPr/>
        <p:txBody>
          <a:bodyPr/>
          <a:lstStyle/>
          <a:p>
            <a:r>
              <a:rPr lang="en-US" altLang="zh-CN" dirty="0"/>
              <a:t>Process</a:t>
            </a:r>
            <a:endParaRPr lang="zh-CN" altLang="en-US" dirty="0"/>
          </a:p>
        </p:txBody>
      </p:sp>
      <p:sp>
        <p:nvSpPr>
          <p:cNvPr id="32" name="文本占位符 31">
            <a:extLst>
              <a:ext uri="{FF2B5EF4-FFF2-40B4-BE49-F238E27FC236}">
                <a16:creationId xmlns:a16="http://schemas.microsoft.com/office/drawing/2014/main" id="{256812FC-3710-4082-BB6A-CED0DE5F5DA6}"/>
              </a:ext>
            </a:extLst>
          </p:cNvPr>
          <p:cNvSpPr>
            <a:spLocks noGrp="1"/>
          </p:cNvSpPr>
          <p:nvPr>
            <p:ph type="body" sz="quarter" idx="17"/>
          </p:nvPr>
        </p:nvSpPr>
        <p:spPr/>
        <p:txBody>
          <a:bodyPr/>
          <a:lstStyle/>
          <a:p>
            <a:r>
              <a:rPr lang="zh-CN" altLang="en-US" dirty="0"/>
              <a:t>算法优点</a:t>
            </a:r>
          </a:p>
        </p:txBody>
      </p:sp>
      <p:sp>
        <p:nvSpPr>
          <p:cNvPr id="33" name="文本占位符 32">
            <a:extLst>
              <a:ext uri="{FF2B5EF4-FFF2-40B4-BE49-F238E27FC236}">
                <a16:creationId xmlns:a16="http://schemas.microsoft.com/office/drawing/2014/main" id="{90378F39-46C0-40D8-BBB0-EA1C54DBD581}"/>
              </a:ext>
            </a:extLst>
          </p:cNvPr>
          <p:cNvSpPr>
            <a:spLocks noGrp="1"/>
          </p:cNvSpPr>
          <p:nvPr>
            <p:ph type="body" sz="quarter" idx="18"/>
          </p:nvPr>
        </p:nvSpPr>
        <p:spPr/>
        <p:txBody>
          <a:bodyPr/>
          <a:lstStyle/>
          <a:p>
            <a:r>
              <a:rPr lang="en-US" altLang="zh-CN" dirty="0"/>
              <a:t>Advantage</a:t>
            </a:r>
            <a:endParaRPr lang="zh-CN" altLang="en-US" dirty="0"/>
          </a:p>
        </p:txBody>
      </p:sp>
      <p:sp>
        <p:nvSpPr>
          <p:cNvPr id="34" name="文本占位符 33">
            <a:extLst>
              <a:ext uri="{FF2B5EF4-FFF2-40B4-BE49-F238E27FC236}">
                <a16:creationId xmlns:a16="http://schemas.microsoft.com/office/drawing/2014/main" id="{8A512FC9-9CDF-4148-BD49-93CAB98C42D0}"/>
              </a:ext>
            </a:extLst>
          </p:cNvPr>
          <p:cNvSpPr>
            <a:spLocks noGrp="1"/>
          </p:cNvSpPr>
          <p:nvPr>
            <p:ph type="body" sz="quarter" idx="19"/>
          </p:nvPr>
        </p:nvSpPr>
        <p:spPr/>
        <p:txBody>
          <a:bodyPr/>
          <a:lstStyle/>
          <a:p>
            <a:r>
              <a:rPr lang="zh-CN" altLang="en-US" dirty="0"/>
              <a:t>算法缺点</a:t>
            </a:r>
          </a:p>
        </p:txBody>
      </p:sp>
      <p:sp>
        <p:nvSpPr>
          <p:cNvPr id="35" name="文本占位符 34">
            <a:extLst>
              <a:ext uri="{FF2B5EF4-FFF2-40B4-BE49-F238E27FC236}">
                <a16:creationId xmlns:a16="http://schemas.microsoft.com/office/drawing/2014/main" id="{6E5E1140-F918-446C-8EFB-E7A1FC48C54D}"/>
              </a:ext>
            </a:extLst>
          </p:cNvPr>
          <p:cNvSpPr>
            <a:spLocks noGrp="1"/>
          </p:cNvSpPr>
          <p:nvPr>
            <p:ph type="body" sz="quarter" idx="20"/>
          </p:nvPr>
        </p:nvSpPr>
        <p:spPr/>
        <p:txBody>
          <a:bodyPr/>
          <a:lstStyle/>
          <a:p>
            <a:r>
              <a:rPr lang="en-US" altLang="zh-CN" dirty="0"/>
              <a:t>Disadvantage</a:t>
            </a:r>
            <a:endParaRPr lang="zh-CN" altLang="en-US" dirty="0"/>
          </a:p>
        </p:txBody>
      </p:sp>
      <p:sp>
        <p:nvSpPr>
          <p:cNvPr id="36" name="文本占位符 35">
            <a:extLst>
              <a:ext uri="{FF2B5EF4-FFF2-40B4-BE49-F238E27FC236}">
                <a16:creationId xmlns:a16="http://schemas.microsoft.com/office/drawing/2014/main" id="{2CA0A5AE-1C80-4DB6-ABEB-469D6EAB7B23}"/>
              </a:ext>
            </a:extLst>
          </p:cNvPr>
          <p:cNvSpPr>
            <a:spLocks noGrp="1"/>
          </p:cNvSpPr>
          <p:nvPr>
            <p:ph type="body" sz="quarter" idx="21"/>
          </p:nvPr>
        </p:nvSpPr>
        <p:spPr/>
        <p:txBody>
          <a:bodyPr/>
          <a:lstStyle/>
          <a:p>
            <a:r>
              <a:rPr lang="zh-CN" altLang="en-US" dirty="0"/>
              <a:t>改进思路</a:t>
            </a:r>
          </a:p>
        </p:txBody>
      </p:sp>
      <p:sp>
        <p:nvSpPr>
          <p:cNvPr id="50" name="文本占位符 49">
            <a:extLst>
              <a:ext uri="{FF2B5EF4-FFF2-40B4-BE49-F238E27FC236}">
                <a16:creationId xmlns:a16="http://schemas.microsoft.com/office/drawing/2014/main" id="{5B5C8A7C-D1E4-478D-A0D8-8285F0202E8F}"/>
              </a:ext>
            </a:extLst>
          </p:cNvPr>
          <p:cNvSpPr>
            <a:spLocks noGrp="1"/>
          </p:cNvSpPr>
          <p:nvPr>
            <p:ph type="body" sz="quarter" idx="22"/>
          </p:nvPr>
        </p:nvSpPr>
        <p:spPr/>
        <p:txBody>
          <a:bodyPr/>
          <a:lstStyle/>
          <a:p>
            <a:r>
              <a:rPr lang="en-US" altLang="zh-CN" dirty="0"/>
              <a:t>Improve</a:t>
            </a:r>
            <a:endParaRPr lang="zh-CN" altLang="en-US" dirty="0"/>
          </a:p>
        </p:txBody>
      </p:sp>
      <p:sp>
        <p:nvSpPr>
          <p:cNvPr id="38" name="文本占位符 37">
            <a:extLst>
              <a:ext uri="{FF2B5EF4-FFF2-40B4-BE49-F238E27FC236}">
                <a16:creationId xmlns:a16="http://schemas.microsoft.com/office/drawing/2014/main" id="{418BB145-43C9-4403-962D-1669FD243959}"/>
              </a:ext>
            </a:extLst>
          </p:cNvPr>
          <p:cNvSpPr>
            <a:spLocks noGrp="1"/>
          </p:cNvSpPr>
          <p:nvPr>
            <p:ph type="body" sz="quarter" idx="23"/>
          </p:nvPr>
        </p:nvSpPr>
        <p:spPr/>
        <p:txBody>
          <a:bodyPr/>
          <a:lstStyle/>
          <a:p>
            <a:r>
              <a:rPr lang="zh-CN" altLang="en-US" dirty="0"/>
              <a:t>应用方向</a:t>
            </a:r>
          </a:p>
        </p:txBody>
      </p:sp>
      <p:sp>
        <p:nvSpPr>
          <p:cNvPr id="51" name="文本占位符 50">
            <a:extLst>
              <a:ext uri="{FF2B5EF4-FFF2-40B4-BE49-F238E27FC236}">
                <a16:creationId xmlns:a16="http://schemas.microsoft.com/office/drawing/2014/main" id="{2F09C621-9602-4270-BE41-07F7D18395CC}"/>
              </a:ext>
            </a:extLst>
          </p:cNvPr>
          <p:cNvSpPr>
            <a:spLocks noGrp="1"/>
          </p:cNvSpPr>
          <p:nvPr>
            <p:ph type="body" sz="quarter" idx="24"/>
          </p:nvPr>
        </p:nvSpPr>
        <p:spPr/>
        <p:txBody>
          <a:bodyPr/>
          <a:lstStyle/>
          <a:p>
            <a:r>
              <a:rPr lang="en-US" altLang="zh-CN" dirty="0"/>
              <a:t>Application</a:t>
            </a:r>
            <a:endParaRPr lang="zh-CN" altLang="en-US" dirty="0"/>
          </a:p>
        </p:txBody>
      </p:sp>
      <p:sp>
        <p:nvSpPr>
          <p:cNvPr id="64" name="文本占位符 63">
            <a:extLst>
              <a:ext uri="{FF2B5EF4-FFF2-40B4-BE49-F238E27FC236}">
                <a16:creationId xmlns:a16="http://schemas.microsoft.com/office/drawing/2014/main" id="{F7AB99D8-F701-4D71-A53C-4A5605F78F3A}"/>
              </a:ext>
            </a:extLst>
          </p:cNvPr>
          <p:cNvSpPr>
            <a:spLocks noGrp="1"/>
          </p:cNvSpPr>
          <p:nvPr>
            <p:ph type="body" sz="quarter" idx="25"/>
          </p:nvPr>
        </p:nvSpPr>
        <p:spPr/>
        <p:txBody>
          <a:bodyPr/>
          <a:lstStyle/>
          <a:p>
            <a:r>
              <a:rPr lang="en-US" altLang="zh-CN" dirty="0"/>
              <a:t>01</a:t>
            </a:r>
            <a:endParaRPr lang="zh-CN" altLang="en-US" dirty="0"/>
          </a:p>
        </p:txBody>
      </p:sp>
      <p:sp>
        <p:nvSpPr>
          <p:cNvPr id="17" name="文本占位符 16">
            <a:extLst>
              <a:ext uri="{FF2B5EF4-FFF2-40B4-BE49-F238E27FC236}">
                <a16:creationId xmlns:a16="http://schemas.microsoft.com/office/drawing/2014/main" id="{A7FEBBE7-6505-4FDC-8219-DDD826D2BA64}"/>
              </a:ext>
            </a:extLst>
          </p:cNvPr>
          <p:cNvSpPr>
            <a:spLocks noGrp="1"/>
          </p:cNvSpPr>
          <p:nvPr>
            <p:ph type="body" sz="quarter" idx="26"/>
          </p:nvPr>
        </p:nvSpPr>
        <p:spPr/>
        <p:txBody>
          <a:bodyPr/>
          <a:lstStyle/>
          <a:p>
            <a:r>
              <a:rPr lang="en-US" altLang="zh-CN" dirty="0"/>
              <a:t>02</a:t>
            </a:r>
            <a:endParaRPr lang="zh-CN" altLang="en-US" dirty="0"/>
          </a:p>
        </p:txBody>
      </p:sp>
      <p:sp>
        <p:nvSpPr>
          <p:cNvPr id="20" name="文本占位符 19">
            <a:extLst>
              <a:ext uri="{FF2B5EF4-FFF2-40B4-BE49-F238E27FC236}">
                <a16:creationId xmlns:a16="http://schemas.microsoft.com/office/drawing/2014/main" id="{1A855430-40D5-43C6-BD0C-FD1B79732A4D}"/>
              </a:ext>
            </a:extLst>
          </p:cNvPr>
          <p:cNvSpPr>
            <a:spLocks noGrp="1"/>
          </p:cNvSpPr>
          <p:nvPr>
            <p:ph type="body" sz="quarter" idx="27"/>
          </p:nvPr>
        </p:nvSpPr>
        <p:spPr/>
        <p:txBody>
          <a:bodyPr/>
          <a:lstStyle/>
          <a:p>
            <a:r>
              <a:rPr lang="en-US" altLang="zh-CN" dirty="0"/>
              <a:t>03</a:t>
            </a:r>
            <a:endParaRPr lang="zh-CN" altLang="en-US" dirty="0"/>
          </a:p>
        </p:txBody>
      </p:sp>
      <p:sp>
        <p:nvSpPr>
          <p:cNvPr id="21" name="文本占位符 20">
            <a:extLst>
              <a:ext uri="{FF2B5EF4-FFF2-40B4-BE49-F238E27FC236}">
                <a16:creationId xmlns:a16="http://schemas.microsoft.com/office/drawing/2014/main" id="{F7F83C35-4B23-4E93-B5BA-9D06B0771ADE}"/>
              </a:ext>
            </a:extLst>
          </p:cNvPr>
          <p:cNvSpPr>
            <a:spLocks noGrp="1"/>
          </p:cNvSpPr>
          <p:nvPr>
            <p:ph type="body" sz="quarter" idx="28"/>
          </p:nvPr>
        </p:nvSpPr>
        <p:spPr/>
        <p:txBody>
          <a:bodyPr/>
          <a:lstStyle/>
          <a:p>
            <a:r>
              <a:rPr lang="en-US" altLang="zh-CN" dirty="0"/>
              <a:t>04</a:t>
            </a:r>
            <a:endParaRPr lang="zh-CN" altLang="en-US" dirty="0"/>
          </a:p>
        </p:txBody>
      </p:sp>
      <p:sp>
        <p:nvSpPr>
          <p:cNvPr id="22" name="文本占位符 21">
            <a:extLst>
              <a:ext uri="{FF2B5EF4-FFF2-40B4-BE49-F238E27FC236}">
                <a16:creationId xmlns:a16="http://schemas.microsoft.com/office/drawing/2014/main" id="{A0D32376-30FF-43BD-B1D9-41FE23890B4B}"/>
              </a:ext>
            </a:extLst>
          </p:cNvPr>
          <p:cNvSpPr>
            <a:spLocks noGrp="1"/>
          </p:cNvSpPr>
          <p:nvPr>
            <p:ph type="body" sz="quarter" idx="29"/>
          </p:nvPr>
        </p:nvSpPr>
        <p:spPr/>
        <p:txBody>
          <a:bodyPr/>
          <a:lstStyle/>
          <a:p>
            <a:r>
              <a:rPr lang="en-US" altLang="zh-CN" dirty="0"/>
              <a:t>05</a:t>
            </a:r>
            <a:endParaRPr lang="zh-CN" altLang="en-US" dirty="0"/>
          </a:p>
        </p:txBody>
      </p:sp>
      <p:sp>
        <p:nvSpPr>
          <p:cNvPr id="23" name="文本占位符 22">
            <a:extLst>
              <a:ext uri="{FF2B5EF4-FFF2-40B4-BE49-F238E27FC236}">
                <a16:creationId xmlns:a16="http://schemas.microsoft.com/office/drawing/2014/main" id="{3263E569-18BE-414D-8EB9-28DF5FA78A88}"/>
              </a:ext>
            </a:extLst>
          </p:cNvPr>
          <p:cNvSpPr>
            <a:spLocks noGrp="1"/>
          </p:cNvSpPr>
          <p:nvPr>
            <p:ph type="body" sz="quarter" idx="30"/>
          </p:nvPr>
        </p:nvSpPr>
        <p:spPr/>
        <p:txBody>
          <a:bodyPr/>
          <a:lstStyle/>
          <a:p>
            <a:r>
              <a:rPr lang="en-US" altLang="zh-CN" dirty="0"/>
              <a:t>06</a:t>
            </a:r>
            <a:endParaRPr lang="zh-CN" altLang="en-US" dirty="0"/>
          </a:p>
        </p:txBody>
      </p:sp>
      <p:sp>
        <p:nvSpPr>
          <p:cNvPr id="24" name="矩形 23">
            <a:extLst>
              <a:ext uri="{FF2B5EF4-FFF2-40B4-BE49-F238E27FC236}">
                <a16:creationId xmlns:a16="http://schemas.microsoft.com/office/drawing/2014/main" id="{DC5A7AB0-60F6-4A64-ABDC-8CBE3B623F35}"/>
              </a:ext>
            </a:extLst>
          </p:cNvPr>
          <p:cNvSpPr/>
          <p:nvPr/>
        </p:nvSpPr>
        <p:spPr>
          <a:xfrm>
            <a:off x="1037463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AEB5FD3A-4B42-4FCC-8700-389EC869BE37}"/>
              </a:ext>
            </a:extLst>
          </p:cNvPr>
          <p:cNvSpPr/>
          <p:nvPr/>
        </p:nvSpPr>
        <p:spPr>
          <a:xfrm>
            <a:off x="10576561"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50475A20-795B-4860-B9F4-627CCA277DC5}"/>
              </a:ext>
            </a:extLst>
          </p:cNvPr>
          <p:cNvSpPr/>
          <p:nvPr/>
        </p:nvSpPr>
        <p:spPr>
          <a:xfrm>
            <a:off x="1077849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211061FA-8BDD-4188-8CB5-E7A49F6C85BE}"/>
              </a:ext>
            </a:extLst>
          </p:cNvPr>
          <p:cNvSpPr/>
          <p:nvPr/>
        </p:nvSpPr>
        <p:spPr>
          <a:xfrm>
            <a:off x="1098042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0903B7D6-E5CC-4A2D-9A48-86B3A236D190}"/>
              </a:ext>
            </a:extLst>
          </p:cNvPr>
          <p:cNvSpPr/>
          <p:nvPr/>
        </p:nvSpPr>
        <p:spPr>
          <a:xfrm>
            <a:off x="1118235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AE322770-F5A9-4ECF-BA2B-3146B892C426}"/>
              </a:ext>
            </a:extLst>
          </p:cNvPr>
          <p:cNvSpPr/>
          <p:nvPr/>
        </p:nvSpPr>
        <p:spPr>
          <a:xfrm>
            <a:off x="1138428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28935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01</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算法背景</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Background</a:t>
            </a:r>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萤火虫算法</a:t>
            </a:r>
            <a:r>
              <a:rPr lang="en-US" altLang="zh-CN" dirty="0"/>
              <a:t>-</a:t>
            </a:r>
            <a:r>
              <a:rPr lang="zh-CN" altLang="en-US" dirty="0"/>
              <a:t>算法背景</a:t>
            </a:r>
          </a:p>
        </p:txBody>
      </p:sp>
      <p:sp>
        <p:nvSpPr>
          <p:cNvPr id="7" name="矩形 6">
            <a:extLst>
              <a:ext uri="{FF2B5EF4-FFF2-40B4-BE49-F238E27FC236}">
                <a16:creationId xmlns:a16="http://schemas.microsoft.com/office/drawing/2014/main" id="{D820D1AB-7AB0-46B9-A544-5A22C9D2AD6A}"/>
              </a:ext>
            </a:extLst>
          </p:cNvPr>
          <p:cNvSpPr/>
          <p:nvPr/>
        </p:nvSpPr>
        <p:spPr>
          <a:xfrm>
            <a:off x="67310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875031"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889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808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00338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a:t>
            </a:r>
            <a:r>
              <a:rPr lang="zh-CN" altLang="en-US" dirty="0"/>
              <a:t> 萤火虫算法是什么？</a:t>
            </a:r>
          </a:p>
        </p:txBody>
      </p:sp>
      <p:sp>
        <p:nvSpPr>
          <p:cNvPr id="9" name="文本框 8">
            <a:extLst>
              <a:ext uri="{FF2B5EF4-FFF2-40B4-BE49-F238E27FC236}">
                <a16:creationId xmlns:a16="http://schemas.microsoft.com/office/drawing/2014/main" id="{19EC3AA4-1C7A-CEB5-5324-4B698B53D665}"/>
              </a:ext>
            </a:extLst>
          </p:cNvPr>
          <p:cNvSpPr txBox="1"/>
          <p:nvPr/>
        </p:nvSpPr>
        <p:spPr>
          <a:xfrm>
            <a:off x="695766" y="1775773"/>
            <a:ext cx="4788811"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由 </a:t>
            </a:r>
            <a:r>
              <a:rPr lang="en-US" altLang="zh-CN" dirty="0">
                <a:latin typeface="Times New Roman" panose="02020603050405020304" pitchFamily="18" charset="0"/>
                <a:cs typeface="Times New Roman" panose="02020603050405020304" pitchFamily="18" charset="0"/>
              </a:rPr>
              <a:t>Xin-She Yang</a:t>
            </a:r>
            <a:r>
              <a:rPr lang="zh-CN" altLang="en-US" dirty="0"/>
              <a:t>（杨新社）于 </a:t>
            </a:r>
            <a:r>
              <a:rPr lang="en-US" altLang="zh-CN" dirty="0"/>
              <a:t>2008 </a:t>
            </a:r>
            <a:r>
              <a:rPr lang="zh-CN" altLang="en-US" dirty="0"/>
              <a:t>年提出</a:t>
            </a:r>
          </a:p>
        </p:txBody>
      </p:sp>
      <p:sp>
        <p:nvSpPr>
          <p:cNvPr id="10" name="矩形 9">
            <a:extLst>
              <a:ext uri="{FF2B5EF4-FFF2-40B4-BE49-F238E27FC236}">
                <a16:creationId xmlns:a16="http://schemas.microsoft.com/office/drawing/2014/main" id="{277AF599-C6C8-FBB7-7E2A-165118097B81}"/>
              </a:ext>
            </a:extLst>
          </p:cNvPr>
          <p:cNvSpPr/>
          <p:nvPr/>
        </p:nvSpPr>
        <p:spPr>
          <a:xfrm>
            <a:off x="792481" y="1279648"/>
            <a:ext cx="3480581"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萤火虫算法（</a:t>
            </a:r>
            <a:r>
              <a:rPr lang="en-US" altLang="zh-CN" dirty="0"/>
              <a:t>Firefly Algorithm, FA</a:t>
            </a:r>
            <a:r>
              <a:rPr lang="zh-CN" altLang="en-US" dirty="0"/>
              <a:t>）</a:t>
            </a:r>
          </a:p>
        </p:txBody>
      </p:sp>
      <p:sp>
        <p:nvSpPr>
          <p:cNvPr id="12" name="文本框 11">
            <a:extLst>
              <a:ext uri="{FF2B5EF4-FFF2-40B4-BE49-F238E27FC236}">
                <a16:creationId xmlns:a16="http://schemas.microsoft.com/office/drawing/2014/main" id="{6CA301EE-80EE-9237-427A-3DE6FD8253AB}"/>
              </a:ext>
            </a:extLst>
          </p:cNvPr>
          <p:cNvSpPr txBox="1"/>
          <p:nvPr/>
        </p:nvSpPr>
        <p:spPr>
          <a:xfrm>
            <a:off x="695766" y="2194029"/>
            <a:ext cx="6434069"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属于</a:t>
            </a:r>
            <a:r>
              <a:rPr lang="zh-CN" altLang="en-US" dirty="0">
                <a:solidFill>
                  <a:srgbClr val="FF0000"/>
                </a:solidFill>
              </a:rPr>
              <a:t>群体智能优化算法</a:t>
            </a:r>
            <a:r>
              <a:rPr lang="zh-CN" altLang="en-US" dirty="0"/>
              <a:t>（</a:t>
            </a:r>
            <a:r>
              <a:rPr lang="en-US" altLang="zh-CN" dirty="0">
                <a:latin typeface="Times New Roman" panose="02020603050405020304" pitchFamily="18" charset="0"/>
                <a:cs typeface="Times New Roman" panose="02020603050405020304" pitchFamily="18" charset="0"/>
              </a:rPr>
              <a:t>Swarm Intelligence Optimization</a:t>
            </a:r>
            <a:r>
              <a:rPr lang="zh-CN" altLang="en-US" dirty="0"/>
              <a:t>）</a:t>
            </a:r>
          </a:p>
        </p:txBody>
      </p:sp>
      <p:sp>
        <p:nvSpPr>
          <p:cNvPr id="13" name="文本框 12">
            <a:extLst>
              <a:ext uri="{FF2B5EF4-FFF2-40B4-BE49-F238E27FC236}">
                <a16:creationId xmlns:a16="http://schemas.microsoft.com/office/drawing/2014/main" id="{54CF315E-60AF-DC10-07A0-B07EBB179871}"/>
              </a:ext>
            </a:extLst>
          </p:cNvPr>
          <p:cNvSpPr txBox="1"/>
          <p:nvPr/>
        </p:nvSpPr>
        <p:spPr>
          <a:xfrm>
            <a:off x="695766" y="2612285"/>
            <a:ext cx="5152373"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灵感来自自然界萤火虫之间的发光与吸引行为</a:t>
            </a:r>
          </a:p>
        </p:txBody>
      </p:sp>
      <p:pic>
        <p:nvPicPr>
          <p:cNvPr id="1026" name="Picture 2" descr="萤火虫光点摄影图片-萤火虫光点摄影作品-千库网">
            <a:extLst>
              <a:ext uri="{FF2B5EF4-FFF2-40B4-BE49-F238E27FC236}">
                <a16:creationId xmlns:a16="http://schemas.microsoft.com/office/drawing/2014/main" id="{15945C4E-6930-1898-46A9-E1DB88C8B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8031" y="2701232"/>
            <a:ext cx="4815254" cy="3214137"/>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FFFD4A39-7BB2-FB5C-B604-D11CC828902E}"/>
              </a:ext>
            </a:extLst>
          </p:cNvPr>
          <p:cNvSpPr txBox="1"/>
          <p:nvPr/>
        </p:nvSpPr>
        <p:spPr>
          <a:xfrm>
            <a:off x="695766" y="3030541"/>
            <a:ext cx="1396536"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常用于：</a:t>
            </a:r>
          </a:p>
        </p:txBody>
      </p:sp>
      <p:sp>
        <p:nvSpPr>
          <p:cNvPr id="20" name="文本框 19">
            <a:extLst>
              <a:ext uri="{FF2B5EF4-FFF2-40B4-BE49-F238E27FC236}">
                <a16:creationId xmlns:a16="http://schemas.microsoft.com/office/drawing/2014/main" id="{81B9E315-55EA-4309-885C-8AAAF150BA3E}"/>
              </a:ext>
            </a:extLst>
          </p:cNvPr>
          <p:cNvSpPr txBox="1"/>
          <p:nvPr/>
        </p:nvSpPr>
        <p:spPr>
          <a:xfrm>
            <a:off x="1136235" y="3471789"/>
            <a:ext cx="1396536"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多峰优化</a:t>
            </a:r>
          </a:p>
        </p:txBody>
      </p:sp>
      <p:sp>
        <p:nvSpPr>
          <p:cNvPr id="21" name="文本框 20">
            <a:extLst>
              <a:ext uri="{FF2B5EF4-FFF2-40B4-BE49-F238E27FC236}">
                <a16:creationId xmlns:a16="http://schemas.microsoft.com/office/drawing/2014/main" id="{02909851-CEFA-E2D9-216D-528D2EE715FA}"/>
              </a:ext>
            </a:extLst>
          </p:cNvPr>
          <p:cNvSpPr txBox="1"/>
          <p:nvPr/>
        </p:nvSpPr>
        <p:spPr>
          <a:xfrm>
            <a:off x="1136235" y="3890045"/>
            <a:ext cx="2550698"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非线性、不可微优化</a:t>
            </a:r>
          </a:p>
        </p:txBody>
      </p:sp>
      <p:sp>
        <p:nvSpPr>
          <p:cNvPr id="22" name="文本框 21">
            <a:extLst>
              <a:ext uri="{FF2B5EF4-FFF2-40B4-BE49-F238E27FC236}">
                <a16:creationId xmlns:a16="http://schemas.microsoft.com/office/drawing/2014/main" id="{0843E517-52FE-9F2F-C396-36E47DFF60BF}"/>
              </a:ext>
            </a:extLst>
          </p:cNvPr>
          <p:cNvSpPr txBox="1"/>
          <p:nvPr/>
        </p:nvSpPr>
        <p:spPr>
          <a:xfrm>
            <a:off x="1136235" y="4308301"/>
            <a:ext cx="1396536"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高维搜索</a:t>
            </a:r>
          </a:p>
        </p:txBody>
      </p:sp>
      <p:sp>
        <p:nvSpPr>
          <p:cNvPr id="23" name="文本框 22">
            <a:extLst>
              <a:ext uri="{FF2B5EF4-FFF2-40B4-BE49-F238E27FC236}">
                <a16:creationId xmlns:a16="http://schemas.microsoft.com/office/drawing/2014/main" id="{D1A65D9E-DA82-E667-6C25-7B19D239E63F}"/>
              </a:ext>
            </a:extLst>
          </p:cNvPr>
          <p:cNvSpPr txBox="1"/>
          <p:nvPr/>
        </p:nvSpPr>
        <p:spPr>
          <a:xfrm>
            <a:off x="1136235" y="4726557"/>
            <a:ext cx="3704860"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工程优化、机器学习参数调优等</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F7439-0FA3-7596-30E5-4CF1DA59AB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E8F29C1-FA42-DA9D-94D4-1651B21EC7AE}"/>
              </a:ext>
            </a:extLst>
          </p:cNvPr>
          <p:cNvSpPr>
            <a:spLocks noGrp="1"/>
          </p:cNvSpPr>
          <p:nvPr>
            <p:ph type="title"/>
          </p:nvPr>
        </p:nvSpPr>
        <p:spPr/>
        <p:txBody>
          <a:bodyPr/>
          <a:lstStyle/>
          <a:p>
            <a:r>
              <a:rPr lang="en-US" altLang="zh-CN" dirty="0"/>
              <a:t>1.2 </a:t>
            </a:r>
            <a:r>
              <a:rPr lang="zh-CN" altLang="en-US" dirty="0"/>
              <a:t>萤火虫算法的生物学灵感来源</a:t>
            </a:r>
          </a:p>
        </p:txBody>
      </p:sp>
      <p:sp>
        <p:nvSpPr>
          <p:cNvPr id="3" name="矩形 2">
            <a:extLst>
              <a:ext uri="{FF2B5EF4-FFF2-40B4-BE49-F238E27FC236}">
                <a16:creationId xmlns:a16="http://schemas.microsoft.com/office/drawing/2014/main" id="{052E8800-C3A6-BA7C-E2E0-F4E67965C304}"/>
              </a:ext>
            </a:extLst>
          </p:cNvPr>
          <p:cNvSpPr/>
          <p:nvPr/>
        </p:nvSpPr>
        <p:spPr>
          <a:xfrm>
            <a:off x="792482" y="1314817"/>
            <a:ext cx="3005796"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萤火虫的三大真实生物特性：</a:t>
            </a:r>
          </a:p>
        </p:txBody>
      </p:sp>
      <p:sp>
        <p:nvSpPr>
          <p:cNvPr id="6" name="文本框 5">
            <a:extLst>
              <a:ext uri="{FF2B5EF4-FFF2-40B4-BE49-F238E27FC236}">
                <a16:creationId xmlns:a16="http://schemas.microsoft.com/office/drawing/2014/main" id="{7FC78870-1C6F-625B-8E03-794DD0E2CCA2}"/>
              </a:ext>
            </a:extLst>
          </p:cNvPr>
          <p:cNvSpPr txBox="1"/>
          <p:nvPr/>
        </p:nvSpPr>
        <p:spPr>
          <a:xfrm>
            <a:off x="792480" y="1749396"/>
            <a:ext cx="9503311" cy="1494961"/>
          </a:xfrm>
          <a:prstGeom prst="rect">
            <a:avLst/>
          </a:prstGeom>
          <a:noFill/>
        </p:spPr>
        <p:txBody>
          <a:bodyPr wrap="square" rtlCol="0">
            <a:spAutoFit/>
          </a:bodyPr>
          <a:lstStyle/>
          <a:p>
            <a:pPr marL="342900" indent="-342900">
              <a:lnSpc>
                <a:spcPct val="130000"/>
              </a:lnSpc>
              <a:buFont typeface="+mj-lt"/>
              <a:buAutoNum type="arabicPeriod"/>
            </a:pPr>
            <a:r>
              <a:rPr lang="zh-CN" altLang="en-US" dirty="0"/>
              <a:t>会发光且亮度不同</a:t>
            </a:r>
            <a:r>
              <a:rPr lang="en-US" altLang="zh-CN" dirty="0"/>
              <a:t>			——	</a:t>
            </a:r>
            <a:r>
              <a:rPr lang="zh-CN" altLang="en-US" dirty="0"/>
              <a:t>亮度代表吸引力</a:t>
            </a:r>
            <a:endParaRPr lang="en-US" altLang="zh-CN" dirty="0"/>
          </a:p>
          <a:p>
            <a:pPr marL="342900" indent="-342900">
              <a:lnSpc>
                <a:spcPct val="130000"/>
              </a:lnSpc>
              <a:buFont typeface="+mj-lt"/>
              <a:buAutoNum type="arabicPeriod"/>
            </a:pPr>
            <a:r>
              <a:rPr lang="zh-CN" altLang="en-US" dirty="0"/>
              <a:t>暗的萤火虫会向亮的萤火虫靠近</a:t>
            </a:r>
            <a:r>
              <a:rPr lang="en-US" altLang="zh-CN" dirty="0"/>
              <a:t>		——	</a:t>
            </a:r>
            <a:r>
              <a:rPr lang="zh-CN" altLang="en-US" dirty="0"/>
              <a:t>越亮越吸引</a:t>
            </a:r>
            <a:endParaRPr lang="en-US" altLang="zh-CN" dirty="0"/>
          </a:p>
          <a:p>
            <a:pPr marL="342900" indent="-342900">
              <a:lnSpc>
                <a:spcPct val="130000"/>
              </a:lnSpc>
              <a:buFont typeface="+mj-lt"/>
              <a:buAutoNum type="arabicPeriod"/>
            </a:pPr>
            <a:r>
              <a:rPr lang="zh-CN" altLang="en-US" dirty="0"/>
              <a:t>光强随距离衰减即越远越暗</a:t>
            </a:r>
            <a:r>
              <a:rPr lang="en-US" altLang="zh-CN" dirty="0"/>
              <a:t>		——	</a:t>
            </a:r>
            <a:r>
              <a:rPr lang="zh-CN" altLang="en-US" dirty="0"/>
              <a:t>近距离吸引强，远距离吸引弱</a:t>
            </a:r>
            <a:endParaRPr lang="en-US" altLang="zh-CN" dirty="0"/>
          </a:p>
          <a:p>
            <a:pPr marL="342900" indent="-342900">
              <a:lnSpc>
                <a:spcPct val="130000"/>
              </a:lnSpc>
              <a:buFont typeface="+mj-lt"/>
              <a:buAutoNum type="arabicPeriod"/>
            </a:pPr>
            <a:endParaRPr lang="zh-CN" altLang="en-US" dirty="0"/>
          </a:p>
        </p:txBody>
      </p:sp>
      <p:sp>
        <p:nvSpPr>
          <p:cNvPr id="10" name="矩形 9">
            <a:extLst>
              <a:ext uri="{FF2B5EF4-FFF2-40B4-BE49-F238E27FC236}">
                <a16:creationId xmlns:a16="http://schemas.microsoft.com/office/drawing/2014/main" id="{F3D71E3C-2A09-2514-D6B7-EA828AEB7CF9}"/>
              </a:ext>
            </a:extLst>
          </p:cNvPr>
          <p:cNvSpPr/>
          <p:nvPr/>
        </p:nvSpPr>
        <p:spPr>
          <a:xfrm>
            <a:off x="792482" y="3429000"/>
            <a:ext cx="3005796"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将生物特征抽象到算法中：</a:t>
            </a:r>
          </a:p>
        </p:txBody>
      </p:sp>
      <p:sp>
        <p:nvSpPr>
          <p:cNvPr id="11" name="文本框 10">
            <a:extLst>
              <a:ext uri="{FF2B5EF4-FFF2-40B4-BE49-F238E27FC236}">
                <a16:creationId xmlns:a16="http://schemas.microsoft.com/office/drawing/2014/main" id="{A3E68608-169F-64AF-ED22-8774E4578FFF}"/>
              </a:ext>
            </a:extLst>
          </p:cNvPr>
          <p:cNvSpPr txBox="1"/>
          <p:nvPr/>
        </p:nvSpPr>
        <p:spPr>
          <a:xfrm>
            <a:off x="792479" y="4161419"/>
            <a:ext cx="9503311" cy="1134862"/>
          </a:xfrm>
          <a:prstGeom prst="rect">
            <a:avLst/>
          </a:prstGeom>
          <a:noFill/>
        </p:spPr>
        <p:txBody>
          <a:bodyPr wrap="square" rtlCol="0">
            <a:spAutoFit/>
          </a:bodyPr>
          <a:lstStyle/>
          <a:p>
            <a:pPr marL="342900" indent="-342900">
              <a:lnSpc>
                <a:spcPct val="130000"/>
              </a:lnSpc>
              <a:buFont typeface="+mj-lt"/>
              <a:buAutoNum type="arabicPeriod"/>
            </a:pPr>
            <a:r>
              <a:rPr lang="zh-CN" altLang="en-US" dirty="0"/>
              <a:t>亮度</a:t>
            </a:r>
            <a:r>
              <a:rPr lang="en-US" altLang="zh-CN" dirty="0"/>
              <a:t> </a:t>
            </a:r>
            <a:r>
              <a:rPr lang="en-US" altLang="zh-CN" dirty="0">
                <a:sym typeface="Wingdings" panose="05000000000000000000" pitchFamily="2" charset="2"/>
              </a:rPr>
              <a:t> </a:t>
            </a:r>
            <a:r>
              <a:rPr lang="zh-CN" altLang="en-US" dirty="0"/>
              <a:t>目标函数值</a:t>
            </a:r>
            <a:endParaRPr lang="en-US" altLang="zh-CN" dirty="0"/>
          </a:p>
          <a:p>
            <a:pPr marL="342900" indent="-342900">
              <a:lnSpc>
                <a:spcPct val="130000"/>
              </a:lnSpc>
              <a:buFont typeface="+mj-lt"/>
              <a:buAutoNum type="arabicPeriod"/>
            </a:pPr>
            <a:r>
              <a:rPr lang="zh-CN" altLang="en-US" dirty="0"/>
              <a:t>亮者为王 </a:t>
            </a:r>
            <a:r>
              <a:rPr lang="en-US" altLang="zh-CN" dirty="0">
                <a:sym typeface="Wingdings" panose="05000000000000000000" pitchFamily="2" charset="2"/>
              </a:rPr>
              <a:t> </a:t>
            </a:r>
            <a:r>
              <a:rPr lang="zh-CN" altLang="en-US" dirty="0"/>
              <a:t>优者吸引劣者</a:t>
            </a:r>
            <a:endParaRPr lang="en-US" altLang="zh-CN" dirty="0"/>
          </a:p>
          <a:p>
            <a:pPr marL="342900" indent="-342900">
              <a:lnSpc>
                <a:spcPct val="130000"/>
              </a:lnSpc>
              <a:buFont typeface="+mj-lt"/>
              <a:buAutoNum type="arabicPeriod"/>
            </a:pPr>
            <a:r>
              <a:rPr lang="zh-CN" altLang="en-US" dirty="0"/>
              <a:t>距离衰减 </a:t>
            </a:r>
            <a:r>
              <a:rPr lang="en-US" altLang="zh-CN" dirty="0">
                <a:sym typeface="Wingdings" panose="05000000000000000000" pitchFamily="2" charset="2"/>
              </a:rPr>
              <a:t> </a:t>
            </a:r>
            <a:r>
              <a:rPr lang="zh-CN" altLang="en-US" dirty="0"/>
              <a:t>搜索范围自然分区</a:t>
            </a:r>
          </a:p>
        </p:txBody>
      </p:sp>
      <p:pic>
        <p:nvPicPr>
          <p:cNvPr id="2050" name="Picture 2" descr="沂水萤火虫水洞游玩攻略简介,沂水萤火虫水洞门票/地址/图片/开放时间/照片/门票价格【携程攻略】">
            <a:extLst>
              <a:ext uri="{FF2B5EF4-FFF2-40B4-BE49-F238E27FC236}">
                <a16:creationId xmlns:a16="http://schemas.microsoft.com/office/drawing/2014/main" id="{ABE5B800-F8BC-9656-9837-2CFDA6F726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103" y="3136559"/>
            <a:ext cx="4776870" cy="3184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007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BA01C-2561-53CE-4D7C-B1788BC25D7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0EE9118-7B68-CC30-AD08-33908777DECC}"/>
              </a:ext>
            </a:extLst>
          </p:cNvPr>
          <p:cNvSpPr>
            <a:spLocks noGrp="1"/>
          </p:cNvSpPr>
          <p:nvPr>
            <p:ph type="title"/>
          </p:nvPr>
        </p:nvSpPr>
        <p:spPr/>
        <p:txBody>
          <a:bodyPr/>
          <a:lstStyle/>
          <a:p>
            <a:r>
              <a:rPr lang="en-US" altLang="zh-CN" dirty="0"/>
              <a:t>1.3 </a:t>
            </a:r>
            <a:r>
              <a:rPr lang="zh-CN" altLang="en-US" dirty="0"/>
              <a:t>为什么要提出萤火虫算法？</a:t>
            </a:r>
          </a:p>
        </p:txBody>
      </p:sp>
      <p:sp>
        <p:nvSpPr>
          <p:cNvPr id="3" name="文本框 2">
            <a:extLst>
              <a:ext uri="{FF2B5EF4-FFF2-40B4-BE49-F238E27FC236}">
                <a16:creationId xmlns:a16="http://schemas.microsoft.com/office/drawing/2014/main" id="{7009CADD-B521-E05D-B2DA-3D6499AC4942}"/>
              </a:ext>
            </a:extLst>
          </p:cNvPr>
          <p:cNvSpPr txBox="1"/>
          <p:nvPr/>
        </p:nvSpPr>
        <p:spPr>
          <a:xfrm>
            <a:off x="792481" y="1380119"/>
            <a:ext cx="8228535" cy="418256"/>
          </a:xfrm>
          <a:prstGeom prst="rect">
            <a:avLst/>
          </a:prstGeom>
          <a:noFill/>
        </p:spPr>
        <p:txBody>
          <a:bodyPr wrap="none" rtlCol="0">
            <a:spAutoFit/>
          </a:bodyPr>
          <a:lstStyle/>
          <a:p>
            <a:pPr>
              <a:lnSpc>
                <a:spcPct val="130000"/>
              </a:lnSpc>
            </a:pPr>
            <a:r>
              <a:rPr lang="zh-CN" altLang="en-US" dirty="0"/>
              <a:t>在 </a:t>
            </a:r>
            <a:r>
              <a:rPr lang="en-US" altLang="zh-CN" dirty="0"/>
              <a:t>2000 </a:t>
            </a:r>
            <a:r>
              <a:rPr lang="zh-CN" altLang="en-US" dirty="0"/>
              <a:t>年后，工程与科学界遇到越来越多</a:t>
            </a:r>
            <a:r>
              <a:rPr lang="zh-CN" altLang="en-US" dirty="0">
                <a:solidFill>
                  <a:srgbClr val="FF0000"/>
                </a:solidFill>
              </a:rPr>
              <a:t>难以用传统优化方法解决</a:t>
            </a:r>
            <a:r>
              <a:rPr lang="zh-CN" altLang="en-US" dirty="0"/>
              <a:t>的问题：</a:t>
            </a:r>
          </a:p>
        </p:txBody>
      </p:sp>
      <p:sp>
        <p:nvSpPr>
          <p:cNvPr id="4" name="文本框 3">
            <a:extLst>
              <a:ext uri="{FF2B5EF4-FFF2-40B4-BE49-F238E27FC236}">
                <a16:creationId xmlns:a16="http://schemas.microsoft.com/office/drawing/2014/main" id="{F3822BA6-4A86-534E-A20D-8595C05A96E4}"/>
              </a:ext>
            </a:extLst>
          </p:cNvPr>
          <p:cNvSpPr txBox="1"/>
          <p:nvPr/>
        </p:nvSpPr>
        <p:spPr>
          <a:xfrm>
            <a:off x="792480" y="1798375"/>
            <a:ext cx="3474028"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多峰函数（有许多局部最优）</a:t>
            </a:r>
          </a:p>
        </p:txBody>
      </p:sp>
      <p:sp>
        <p:nvSpPr>
          <p:cNvPr id="5" name="文本框 4">
            <a:extLst>
              <a:ext uri="{FF2B5EF4-FFF2-40B4-BE49-F238E27FC236}">
                <a16:creationId xmlns:a16="http://schemas.microsoft.com/office/drawing/2014/main" id="{845E9E39-8943-732D-6E74-D7F4B8ADFE62}"/>
              </a:ext>
            </a:extLst>
          </p:cNvPr>
          <p:cNvSpPr txBox="1"/>
          <p:nvPr/>
        </p:nvSpPr>
        <p:spPr>
          <a:xfrm>
            <a:off x="792479" y="2206031"/>
            <a:ext cx="3012363"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不连续、不光滑、不可微</a:t>
            </a:r>
          </a:p>
        </p:txBody>
      </p:sp>
      <p:sp>
        <p:nvSpPr>
          <p:cNvPr id="6" name="文本框 5">
            <a:extLst>
              <a:ext uri="{FF2B5EF4-FFF2-40B4-BE49-F238E27FC236}">
                <a16:creationId xmlns:a16="http://schemas.microsoft.com/office/drawing/2014/main" id="{7313CC13-EB3A-CD9E-631C-E3B8ADAFCBE0}"/>
              </a:ext>
            </a:extLst>
          </p:cNvPr>
          <p:cNvSpPr txBox="1"/>
          <p:nvPr/>
        </p:nvSpPr>
        <p:spPr>
          <a:xfrm>
            <a:off x="792479" y="2613688"/>
            <a:ext cx="3012363"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搜索空间维度高、噪声大</a:t>
            </a:r>
          </a:p>
        </p:txBody>
      </p:sp>
      <p:sp>
        <p:nvSpPr>
          <p:cNvPr id="7" name="文本框 6">
            <a:extLst>
              <a:ext uri="{FF2B5EF4-FFF2-40B4-BE49-F238E27FC236}">
                <a16:creationId xmlns:a16="http://schemas.microsoft.com/office/drawing/2014/main" id="{3E7F3D27-5BF6-5400-785C-7FF9AF7A0656}"/>
              </a:ext>
            </a:extLst>
          </p:cNvPr>
          <p:cNvSpPr txBox="1"/>
          <p:nvPr/>
        </p:nvSpPr>
        <p:spPr>
          <a:xfrm>
            <a:off x="792479" y="3010744"/>
            <a:ext cx="2781531"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梯度难以计算或不存在</a:t>
            </a:r>
          </a:p>
        </p:txBody>
      </p:sp>
      <p:sp>
        <p:nvSpPr>
          <p:cNvPr id="8" name="AutoShape 2" descr="地道解释优化领域下什么是多目标、多峰、多模态、动态、噪声环境和超多目标优化问题_小怪兽喜欢小天使的技术博客_51CTO博客">
            <a:extLst>
              <a:ext uri="{FF2B5EF4-FFF2-40B4-BE49-F238E27FC236}">
                <a16:creationId xmlns:a16="http://schemas.microsoft.com/office/drawing/2014/main" id="{4B523C0F-9C92-0A40-704C-7A685B16982E}"/>
              </a:ext>
            </a:extLst>
          </p:cNvPr>
          <p:cNvSpPr>
            <a:spLocks noChangeAspect="1" noChangeArrowheads="1"/>
          </p:cNvSpPr>
          <p:nvPr/>
        </p:nvSpPr>
        <p:spPr bwMode="auto">
          <a:xfrm>
            <a:off x="5943600" y="3276600"/>
            <a:ext cx="4466492" cy="44664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076" name="Picture 4" descr="粒子群算法应用——求解多峰函数_多峰函数表达式-CSDN博客">
            <a:extLst>
              <a:ext uri="{FF2B5EF4-FFF2-40B4-BE49-F238E27FC236}">
                <a16:creationId xmlns:a16="http://schemas.microsoft.com/office/drawing/2014/main" id="{55A7B31E-4286-0E77-366A-E4769176C7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0850" y="3219872"/>
            <a:ext cx="5114087" cy="256903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19738D60-BBBF-BDEB-103C-92D560716A49}"/>
              </a:ext>
            </a:extLst>
          </p:cNvPr>
          <p:cNvSpPr txBox="1"/>
          <p:nvPr/>
        </p:nvSpPr>
        <p:spPr>
          <a:xfrm>
            <a:off x="792479" y="3704921"/>
            <a:ext cx="2723823" cy="418256"/>
          </a:xfrm>
          <a:prstGeom prst="rect">
            <a:avLst/>
          </a:prstGeom>
          <a:noFill/>
        </p:spPr>
        <p:txBody>
          <a:bodyPr wrap="none" rtlCol="0">
            <a:spAutoFit/>
          </a:bodyPr>
          <a:lstStyle/>
          <a:p>
            <a:pPr>
              <a:lnSpc>
                <a:spcPct val="130000"/>
              </a:lnSpc>
            </a:pPr>
            <a:r>
              <a:rPr lang="zh-CN" altLang="en-US" dirty="0"/>
              <a:t>萤火虫算法的优势在于：</a:t>
            </a:r>
          </a:p>
        </p:txBody>
      </p:sp>
      <p:sp>
        <p:nvSpPr>
          <p:cNvPr id="11" name="文本框 10">
            <a:extLst>
              <a:ext uri="{FF2B5EF4-FFF2-40B4-BE49-F238E27FC236}">
                <a16:creationId xmlns:a16="http://schemas.microsoft.com/office/drawing/2014/main" id="{09D5257B-1C6E-2F77-59CD-1AC4ED921924}"/>
              </a:ext>
            </a:extLst>
          </p:cNvPr>
          <p:cNvSpPr txBox="1"/>
          <p:nvPr/>
        </p:nvSpPr>
        <p:spPr>
          <a:xfrm>
            <a:off x="792479" y="4175516"/>
            <a:ext cx="4397358" cy="1494961"/>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天然适合搜索多峰问题</a:t>
            </a:r>
            <a:endParaRPr lang="en-US" altLang="zh-CN" dirty="0"/>
          </a:p>
          <a:p>
            <a:pPr marL="285750" indent="-285750">
              <a:lnSpc>
                <a:spcPct val="130000"/>
              </a:lnSpc>
              <a:buFont typeface="Arial" panose="020B0604020202020204" pitchFamily="34" charset="0"/>
              <a:buChar char="•"/>
            </a:pPr>
            <a:r>
              <a:rPr lang="zh-CN" altLang="en-US" dirty="0"/>
              <a:t>个体可自动分组，分布式寻找多个优解</a:t>
            </a:r>
            <a:endParaRPr lang="en-US" altLang="zh-CN" dirty="0"/>
          </a:p>
          <a:p>
            <a:pPr marL="285750" indent="-285750">
              <a:lnSpc>
                <a:spcPct val="130000"/>
              </a:lnSpc>
              <a:buFont typeface="Arial" panose="020B0604020202020204" pitchFamily="34" charset="0"/>
              <a:buChar char="•"/>
            </a:pPr>
            <a:r>
              <a:rPr lang="zh-CN" altLang="en-US" dirty="0"/>
              <a:t>保持随机性，较少陷入局部最优</a:t>
            </a:r>
            <a:endParaRPr lang="en-US" altLang="zh-CN" dirty="0"/>
          </a:p>
          <a:p>
            <a:pPr marL="285750" indent="-285750">
              <a:lnSpc>
                <a:spcPct val="130000"/>
              </a:lnSpc>
              <a:buFont typeface="Arial" panose="020B0604020202020204" pitchFamily="34" charset="0"/>
              <a:buChar char="•"/>
            </a:pPr>
            <a:r>
              <a:rPr lang="zh-CN" altLang="en-US" dirty="0"/>
              <a:t>机制简单、易实现</a:t>
            </a:r>
          </a:p>
        </p:txBody>
      </p:sp>
    </p:spTree>
    <p:extLst>
      <p:ext uri="{BB962C8B-B14F-4D97-AF65-F5344CB8AC3E}">
        <p14:creationId xmlns:p14="http://schemas.microsoft.com/office/powerpoint/2010/main" val="2334618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8C84D8-A930-4892-9CD2-5CD3AD307172}"/>
              </a:ext>
            </a:extLst>
          </p:cNvPr>
          <p:cNvSpPr>
            <a:spLocks noGrp="1"/>
          </p:cNvSpPr>
          <p:nvPr>
            <p:ph type="title"/>
          </p:nvPr>
        </p:nvSpPr>
        <p:spPr/>
        <p:txBody>
          <a:bodyPr/>
          <a:lstStyle/>
          <a:p>
            <a:r>
              <a:rPr lang="en-US" altLang="zh-CN" dirty="0"/>
              <a:t>1.4 </a:t>
            </a:r>
            <a:r>
              <a:rPr lang="zh-CN" altLang="en-US" dirty="0"/>
              <a:t>算法思想从自然到数学的映射</a:t>
            </a:r>
          </a:p>
        </p:txBody>
      </p:sp>
      <p:graphicFrame>
        <p:nvGraphicFramePr>
          <p:cNvPr id="6" name="表格 5">
            <a:extLst>
              <a:ext uri="{FF2B5EF4-FFF2-40B4-BE49-F238E27FC236}">
                <a16:creationId xmlns:a16="http://schemas.microsoft.com/office/drawing/2014/main" id="{1E4908C6-DDF5-4D8D-B58B-519AAE4D28DF}"/>
              </a:ext>
            </a:extLst>
          </p:cNvPr>
          <p:cNvGraphicFramePr>
            <a:graphicFrameLocks noGrp="1"/>
          </p:cNvGraphicFramePr>
          <p:nvPr>
            <p:extLst>
              <p:ext uri="{D42A27DB-BD31-4B8C-83A1-F6EECF244321}">
                <p14:modId xmlns:p14="http://schemas.microsoft.com/office/powerpoint/2010/main" val="311437388"/>
              </p:ext>
            </p:extLst>
          </p:nvPr>
        </p:nvGraphicFramePr>
        <p:xfrm>
          <a:off x="2116121" y="1980870"/>
          <a:ext cx="7959759" cy="2865648"/>
        </p:xfrm>
        <a:graphic>
          <a:graphicData uri="http://schemas.openxmlformats.org/drawingml/2006/table">
            <a:tbl>
              <a:tblPr firstRow="1" bandRow="1">
                <a:effectLst/>
                <a:tableStyleId>{5C22544A-7EE6-4342-B048-85BDC9FD1C3A}</a:tableStyleId>
              </a:tblPr>
              <a:tblGrid>
                <a:gridCol w="2653253">
                  <a:extLst>
                    <a:ext uri="{9D8B030D-6E8A-4147-A177-3AD203B41FA5}">
                      <a16:colId xmlns:a16="http://schemas.microsoft.com/office/drawing/2014/main" val="2671526940"/>
                    </a:ext>
                  </a:extLst>
                </a:gridCol>
                <a:gridCol w="2653253">
                  <a:extLst>
                    <a:ext uri="{9D8B030D-6E8A-4147-A177-3AD203B41FA5}">
                      <a16:colId xmlns:a16="http://schemas.microsoft.com/office/drawing/2014/main" val="2508200426"/>
                    </a:ext>
                  </a:extLst>
                </a:gridCol>
                <a:gridCol w="2653253">
                  <a:extLst>
                    <a:ext uri="{9D8B030D-6E8A-4147-A177-3AD203B41FA5}">
                      <a16:colId xmlns:a16="http://schemas.microsoft.com/office/drawing/2014/main" val="1280124664"/>
                    </a:ext>
                  </a:extLst>
                </a:gridCol>
              </a:tblGrid>
              <a:tr h="5792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自然行为</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数学意义</a:t>
                      </a:r>
                    </a:p>
                  </a:txBody>
                  <a:tcPr marL="137160" marR="137160" marT="137160" marB="1371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优化效果</a:t>
                      </a:r>
                    </a:p>
                  </a:txBody>
                  <a:tcPr marL="137160" marR="137160" marT="137160" marB="1371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21430123"/>
                  </a:ext>
                </a:extLst>
              </a:tr>
              <a:tr h="5792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亮度不同</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marL="137160" marR="137160" marT="137160" marB="1371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目标函数值</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marL="137160" marR="137160" marT="137160" marB="1371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明确优劣</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extLst>
                  <a:ext uri="{0D108BD9-81ED-4DB2-BD59-A6C34878D82A}">
                    <a16:rowId xmlns:a16="http://schemas.microsoft.com/office/drawing/2014/main" val="321967861"/>
                  </a:ext>
                </a:extLst>
              </a:tr>
              <a:tr h="4303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趋向更亮</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向更优解移动</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marL="137160" marR="137160" marT="137160" marB="1371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全局收敛</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marL="137160" marR="137160" marT="137160" marB="1371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43370534"/>
                  </a:ext>
                </a:extLst>
              </a:tr>
              <a:tr h="5792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光随距离衰减</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a:ln>
                            <a:noFill/>
                          </a:ln>
                          <a:solidFill>
                            <a:srgbClr val="000000">
                              <a:lumMod val="95000"/>
                              <a:lumOff val="5000"/>
                            </a:srgbClr>
                          </a:solidFill>
                          <a:effectLst/>
                          <a:uLnTx/>
                          <a:uFillTx/>
                          <a:latin typeface="+mj-ea"/>
                          <a:ea typeface="+mj-ea"/>
                          <a:cs typeface="+mn-cs"/>
                        </a:rPr>
                        <a:t>局部邻域搜索</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避免早熟收敛</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5201780"/>
                  </a:ext>
                </a:extLst>
              </a:tr>
              <a:tr h="5792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亮度变化</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动态搜索</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marL="137160" marR="137160" marT="137160" marB="1371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探索</a:t>
                      </a:r>
                      <a:r>
                        <a:rPr kumimoji="0" lang="en-US" altLang="zh-CN" sz="1800" b="0" i="0" u="none" strike="noStrike" kern="1200" cap="none" spc="0" normalizeH="0" baseline="0" dirty="0">
                          <a:ln>
                            <a:noFill/>
                          </a:ln>
                          <a:solidFill>
                            <a:srgbClr val="000000">
                              <a:lumMod val="95000"/>
                              <a:lumOff val="5000"/>
                            </a:srgbClr>
                          </a:solidFill>
                          <a:effectLst/>
                          <a:uLnTx/>
                          <a:uFillTx/>
                          <a:latin typeface="+mj-ea"/>
                          <a:ea typeface="+mj-ea"/>
                          <a:cs typeface="+mn-cs"/>
                        </a:rPr>
                        <a:t>/</a:t>
                      </a:r>
                      <a:r>
                        <a:rPr kumimoji="0" lang="zh-CN" altLang="en-US" sz="1800" b="0" i="0" u="none" strike="noStrike" kern="1200" cap="none" spc="0" normalizeH="0" baseline="0" dirty="0">
                          <a:ln>
                            <a:noFill/>
                          </a:ln>
                          <a:solidFill>
                            <a:srgbClr val="000000">
                              <a:lumMod val="95000"/>
                              <a:lumOff val="5000"/>
                            </a:srgbClr>
                          </a:solidFill>
                          <a:effectLst/>
                          <a:uLnTx/>
                          <a:uFillTx/>
                          <a:latin typeface="+mj-ea"/>
                          <a:ea typeface="+mj-ea"/>
                          <a:cs typeface="+mn-cs"/>
                        </a:rPr>
                        <a:t>开发平衡</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marL="137160" marR="137160" marT="137160" marB="1371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48376166"/>
                  </a:ext>
                </a:extLst>
              </a:tr>
            </a:tbl>
          </a:graphicData>
        </a:graphic>
      </p:graphicFrame>
      <p:sp>
        <p:nvSpPr>
          <p:cNvPr id="4" name="文本框 3">
            <a:extLst>
              <a:ext uri="{FF2B5EF4-FFF2-40B4-BE49-F238E27FC236}">
                <a16:creationId xmlns:a16="http://schemas.microsoft.com/office/drawing/2014/main" id="{6F617220-8412-F5F4-9B35-8CA190B541DD}"/>
              </a:ext>
            </a:extLst>
          </p:cNvPr>
          <p:cNvSpPr txBox="1"/>
          <p:nvPr/>
        </p:nvSpPr>
        <p:spPr>
          <a:xfrm>
            <a:off x="2010217" y="1547419"/>
            <a:ext cx="6097464" cy="369332"/>
          </a:xfrm>
          <a:prstGeom prst="rect">
            <a:avLst/>
          </a:prstGeom>
          <a:noFill/>
        </p:spPr>
        <p:txBody>
          <a:bodyPr wrap="square">
            <a:spAutoFit/>
          </a:bodyPr>
          <a:lstStyle/>
          <a:p>
            <a:r>
              <a:rPr lang="zh-CN" altLang="en-US" dirty="0"/>
              <a:t>自然世界 → 数学建模过程：</a:t>
            </a:r>
          </a:p>
        </p:txBody>
      </p:sp>
    </p:spTree>
    <p:extLst>
      <p:ext uri="{BB962C8B-B14F-4D97-AF65-F5344CB8AC3E}">
        <p14:creationId xmlns:p14="http://schemas.microsoft.com/office/powerpoint/2010/main" val="3992565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02</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算法流程</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Process</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萤火虫算法</a:t>
            </a:r>
            <a:r>
              <a:rPr lang="en-US" altLang="zh-CN" dirty="0"/>
              <a:t>-</a:t>
            </a:r>
            <a:r>
              <a:rPr lang="zh-CN" altLang="en-US" dirty="0"/>
              <a:t>算法流程</a:t>
            </a:r>
          </a:p>
        </p:txBody>
      </p:sp>
      <p:sp>
        <p:nvSpPr>
          <p:cNvPr id="7" name="矩形 6">
            <a:extLst>
              <a:ext uri="{FF2B5EF4-FFF2-40B4-BE49-F238E27FC236}">
                <a16:creationId xmlns:a16="http://schemas.microsoft.com/office/drawing/2014/main" id="{D820D1AB-7AB0-46B9-A544-5A22C9D2AD6A}"/>
              </a:ext>
            </a:extLst>
          </p:cNvPr>
          <p:cNvSpPr/>
          <p:nvPr/>
        </p:nvSpPr>
        <p:spPr>
          <a:xfrm>
            <a:off x="86868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889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808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38440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41F96-8408-C01C-78A4-951A31E9B44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4E4DD9-BE0E-4B59-F76D-DF531B0AA550}"/>
              </a:ext>
            </a:extLst>
          </p:cNvPr>
          <p:cNvSpPr>
            <a:spLocks noGrp="1"/>
          </p:cNvSpPr>
          <p:nvPr>
            <p:ph type="title"/>
          </p:nvPr>
        </p:nvSpPr>
        <p:spPr/>
        <p:txBody>
          <a:bodyPr/>
          <a:lstStyle/>
          <a:p>
            <a:r>
              <a:rPr lang="en-US" altLang="zh-CN" dirty="0"/>
              <a:t>2.1 </a:t>
            </a:r>
            <a:r>
              <a:rPr lang="zh-CN" altLang="en-US" dirty="0"/>
              <a:t>前置定义</a:t>
            </a:r>
          </a:p>
        </p:txBody>
      </p:sp>
      <p:sp>
        <p:nvSpPr>
          <p:cNvPr id="3" name="文本框 2">
            <a:extLst>
              <a:ext uri="{FF2B5EF4-FFF2-40B4-BE49-F238E27FC236}">
                <a16:creationId xmlns:a16="http://schemas.microsoft.com/office/drawing/2014/main" id="{197322D7-8F48-84DE-D962-913AE66AFB23}"/>
              </a:ext>
            </a:extLst>
          </p:cNvPr>
          <p:cNvSpPr txBox="1"/>
          <p:nvPr/>
        </p:nvSpPr>
        <p:spPr>
          <a:xfrm>
            <a:off x="792481" y="1213065"/>
            <a:ext cx="4033476" cy="418256"/>
          </a:xfrm>
          <a:prstGeom prst="rect">
            <a:avLst/>
          </a:prstGeom>
          <a:noFill/>
        </p:spPr>
        <p:txBody>
          <a:bodyPr wrap="none" rtlCol="0">
            <a:spAutoFit/>
          </a:bodyPr>
          <a:lstStyle/>
          <a:p>
            <a:pPr>
              <a:lnSpc>
                <a:spcPct val="130000"/>
              </a:lnSpc>
            </a:pPr>
            <a:r>
              <a:rPr lang="zh-CN" altLang="en-US" dirty="0"/>
              <a:t>在</a:t>
            </a:r>
            <a:r>
              <a:rPr lang="en-US" altLang="zh-CN" dirty="0"/>
              <a:t>D</a:t>
            </a:r>
            <a:r>
              <a:rPr lang="zh-CN" altLang="en-US" dirty="0"/>
              <a:t>维解空间内每个萤火虫的位置为：</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1B9C133-55E3-1AB0-706F-1D601D799D90}"/>
                  </a:ext>
                </a:extLst>
              </p:cNvPr>
              <p:cNvSpPr txBox="1"/>
              <p:nvPr/>
            </p:nvSpPr>
            <p:spPr>
              <a:xfrm>
                <a:off x="1323454" y="1627869"/>
                <a:ext cx="9542159" cy="360099"/>
              </a:xfrm>
              <a:prstGeom prst="rect">
                <a:avLst/>
              </a:prstGeom>
              <a:noFill/>
            </p:spPr>
            <p:txBody>
              <a:bodyPr wrap="square" lIns="0" tIns="0" rIns="0" bIns="0" rtlCol="0">
                <a:spAutoFit/>
              </a:bodyPr>
              <a:lstStyle/>
              <a:p>
                <a:pPr algn="l">
                  <a:lnSpc>
                    <a:spcPct val="130000"/>
                  </a:lnSpc>
                </a:pPr>
                <a14:m>
                  <m:oMathPara xmlns:m="http://schemas.openxmlformats.org/officeDocument/2006/math">
                    <m:oMathParaPr>
                      <m:jc m:val="centerGroup"/>
                    </m:oMathParaPr>
                    <m:oMath xmlns:m="http://schemas.openxmlformats.org/officeDocument/2006/math">
                      <m:eqArr>
                        <m:eqArrPr>
                          <m:ctrlPr>
                            <a:rPr lang="en-US" altLang="zh-CN" b="0" i="1" dirty="0" smtClean="0">
                              <a:latin typeface="Cambria Math" panose="02040503050406030204" pitchFamily="18" charset="0"/>
                            </a:rPr>
                          </m:ctrlPr>
                        </m:eqArrPr>
                        <m:e>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d>
                            <m:dPr>
                              <m:ctrlPr>
                                <a:rPr lang="en-US" altLang="zh-CN" i="1" dirty="0" smtClean="0">
                                  <a:latin typeface="Cambria Math" panose="02040503050406030204" pitchFamily="18" charset="0"/>
                                </a:rPr>
                              </m:ctrlPr>
                            </m:dPr>
                            <m:e>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𝐷</m:t>
                                  </m:r>
                                </m:sub>
                              </m:sSub>
                            </m:e>
                          </m:d>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2.1</m:t>
                              </m:r>
                            </m:e>
                          </m:d>
                        </m:e>
                      </m:eqArr>
                    </m:oMath>
                  </m:oMathPara>
                </a14:m>
                <a:endParaRPr dirty="0"/>
              </a:p>
            </p:txBody>
          </p:sp>
        </mc:Choice>
        <mc:Fallback xmlns="">
          <p:sp>
            <p:nvSpPr>
              <p:cNvPr id="5" name="文本框 4">
                <a:extLst>
                  <a:ext uri="{FF2B5EF4-FFF2-40B4-BE49-F238E27FC236}">
                    <a16:creationId xmlns:a16="http://schemas.microsoft.com/office/drawing/2014/main" id="{F1B9C133-55E3-1AB0-706F-1D601D799D90}"/>
                  </a:ext>
                </a:extLst>
              </p:cNvPr>
              <p:cNvSpPr txBox="1">
                <a:spLocks noRot="1" noChangeAspect="1" noMove="1" noResize="1" noEditPoints="1" noAdjustHandles="1" noChangeArrowheads="1" noChangeShapeType="1" noTextEdit="1"/>
              </p:cNvSpPr>
              <p:nvPr/>
            </p:nvSpPr>
            <p:spPr>
              <a:xfrm>
                <a:off x="1323454" y="1627869"/>
                <a:ext cx="9542159" cy="360099"/>
              </a:xfrm>
              <a:prstGeom prst="rect">
                <a:avLst/>
              </a:prstGeom>
              <a:blipFill>
                <a:blip r:embed="rId2"/>
                <a:stretch>
                  <a:fillRect b="-1695"/>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7668FF38-FCF1-2383-74A8-844D3A42D0CC}"/>
              </a:ext>
            </a:extLst>
          </p:cNvPr>
          <p:cNvSpPr txBox="1"/>
          <p:nvPr/>
        </p:nvSpPr>
        <p:spPr>
          <a:xfrm>
            <a:off x="792480" y="2088239"/>
            <a:ext cx="6097464" cy="369332"/>
          </a:xfrm>
          <a:prstGeom prst="rect">
            <a:avLst/>
          </a:prstGeom>
          <a:noFill/>
        </p:spPr>
        <p:txBody>
          <a:bodyPr wrap="square">
            <a:spAutoFit/>
          </a:bodyPr>
          <a:lstStyle/>
          <a:p>
            <a:r>
              <a:rPr lang="zh-CN" altLang="en-US" b="0" i="0" dirty="0">
                <a:solidFill>
                  <a:srgbClr val="191B1F"/>
                </a:solidFill>
                <a:effectLst/>
                <a:latin typeface="-apple-system"/>
              </a:rPr>
              <a:t>萤火虫之间的相对吸引度由以下公式：</a:t>
            </a:r>
            <a:endParaRPr lang="zh-CN" altLang="en-US"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870F7D3-37ED-A24B-D027-ED4EFF8B4196}"/>
                  </a:ext>
                </a:extLst>
              </p:cNvPr>
              <p:cNvSpPr txBox="1"/>
              <p:nvPr/>
            </p:nvSpPr>
            <p:spPr>
              <a:xfrm>
                <a:off x="1323452" y="2520751"/>
                <a:ext cx="9542159" cy="406137"/>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eqArr>
                        <m:eqArrPr>
                          <m:ctrlPr>
                            <a:rPr lang="en-US" altLang="zh-CN" i="1" smtClean="0">
                              <a:latin typeface="Cambria Math" panose="02040503050406030204" pitchFamily="18" charset="0"/>
                            </a:rPr>
                          </m:ctrlPr>
                        </m:eqArrPr>
                        <m:e>
                          <m:r>
                            <a:rPr lang="en-US" altLang="zh-CN" i="1" smtClean="0">
                              <a:latin typeface="Cambria Math" panose="02040503050406030204" pitchFamily="18" charset="0"/>
                            </a:rPr>
                            <m:t>𝛽</m:t>
                          </m:r>
                          <m:d>
                            <m:dPr>
                              <m:ctrlPr>
                                <a:rPr lang="en-US" altLang="zh-CN" i="1" smtClean="0">
                                  <a:latin typeface="Cambria Math" panose="02040503050406030204" pitchFamily="18" charset="0"/>
                                </a:rPr>
                              </m:ctrlPr>
                            </m:dPr>
                            <m:e>
                              <m:r>
                                <a:rPr lang="en-US" altLang="zh-CN" i="1">
                                  <a:latin typeface="Cambria Math" panose="02040503050406030204" pitchFamily="18" charset="0"/>
                                </a:rPr>
                                <m:t>𝑟</m:t>
                              </m:r>
                            </m:e>
                          </m:d>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𝛽</m:t>
                              </m:r>
                            </m:e>
                            <m:sub>
                              <m:r>
                                <a:rPr lang="en-US" altLang="zh-CN" i="1">
                                  <a:latin typeface="Cambria Math" panose="02040503050406030204" pitchFamily="18" charset="0"/>
                                </a:rPr>
                                <m:t>0</m:t>
                              </m:r>
                            </m:sub>
                          </m:sSub>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smtClean="0">
                                  <a:latin typeface="Cambria Math" panose="02040503050406030204" pitchFamily="18" charset="0"/>
                                </a:rPr>
                                <m:t>𝛾</m:t>
                              </m:r>
                              <m:sSup>
                                <m:sSupPr>
                                  <m:ctrlPr>
                                    <a:rPr lang="en-US" altLang="zh-CN" i="1">
                                      <a:latin typeface="Cambria Math" panose="02040503050406030204" pitchFamily="18" charset="0"/>
                                    </a:rPr>
                                  </m:ctrlPr>
                                </m:sSupPr>
                                <m:e>
                                  <m:r>
                                    <a:rPr lang="en-US" altLang="zh-CN" i="1">
                                      <a:latin typeface="Cambria Math" panose="02040503050406030204" pitchFamily="18" charset="0"/>
                                    </a:rPr>
                                    <m:t>𝑟</m:t>
                                  </m:r>
                                </m:e>
                                <m:sup>
                                  <m:r>
                                    <a:rPr lang="en-US" altLang="zh-CN" i="1">
                                      <a:latin typeface="Cambria Math" panose="02040503050406030204" pitchFamily="18" charset="0"/>
                                    </a:rPr>
                                    <m:t>2</m:t>
                                  </m:r>
                                </m:sup>
                              </m:sSup>
                            </m:sup>
                          </m:sSup>
                          <m:r>
                            <a:rPr lang="en-US" altLang="zh-CN" i="1" smtClean="0">
                              <a:latin typeface="Cambria Math" panose="02040503050406030204" pitchFamily="18" charset="0"/>
                            </a:rPr>
                            <m:t>#</m:t>
                          </m:r>
                          <m:d>
                            <m:dPr>
                              <m:ctrlPr>
                                <a:rPr lang="en-US" altLang="zh-CN" i="1" dirty="0" smtClean="0">
                                  <a:latin typeface="Cambria Math" panose="02040503050406030204" pitchFamily="18" charset="0"/>
                                </a:rPr>
                              </m:ctrlPr>
                            </m:dPr>
                            <m:e>
                              <m:r>
                                <a:rPr lang="en-US" altLang="zh-CN" b="0" i="1" dirty="0" smtClean="0">
                                  <a:latin typeface="Cambria Math" panose="02040503050406030204" pitchFamily="18" charset="0"/>
                                </a:rPr>
                                <m:t>2.2</m:t>
                              </m:r>
                            </m:e>
                          </m:d>
                        </m:e>
                      </m:eqArr>
                    </m:oMath>
                  </m:oMathPara>
                </a14:m>
                <a:endParaRPr dirty="0"/>
              </a:p>
            </p:txBody>
          </p:sp>
        </mc:Choice>
        <mc:Fallback xmlns="">
          <p:sp>
            <p:nvSpPr>
              <p:cNvPr id="9" name="文本框 8">
                <a:extLst>
                  <a:ext uri="{FF2B5EF4-FFF2-40B4-BE49-F238E27FC236}">
                    <a16:creationId xmlns:a16="http://schemas.microsoft.com/office/drawing/2014/main" id="{E870F7D3-37ED-A24B-D027-ED4EFF8B4196}"/>
                  </a:ext>
                </a:extLst>
              </p:cNvPr>
              <p:cNvSpPr txBox="1">
                <a:spLocks noRot="1" noChangeAspect="1" noMove="1" noResize="1" noEditPoints="1" noAdjustHandles="1" noChangeArrowheads="1" noChangeShapeType="1" noTextEdit="1"/>
              </p:cNvSpPr>
              <p:nvPr/>
            </p:nvSpPr>
            <p:spPr>
              <a:xfrm>
                <a:off x="1323452" y="2520751"/>
                <a:ext cx="9542159" cy="40613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3EE408A-7350-E3F0-F77A-4C18E02668FA}"/>
                  </a:ext>
                </a:extLst>
              </p:cNvPr>
              <p:cNvSpPr txBox="1"/>
              <p:nvPr/>
            </p:nvSpPr>
            <p:spPr>
              <a:xfrm>
                <a:off x="792480" y="3053248"/>
                <a:ext cx="9872588" cy="369332"/>
              </a:xfrm>
              <a:prstGeom prst="rect">
                <a:avLst/>
              </a:prstGeom>
              <a:noFill/>
            </p:spPr>
            <p:txBody>
              <a:bodyPr wrap="square">
                <a:spAutoFit/>
              </a:bodyPr>
              <a:lstStyle/>
              <a:p>
                <a:r>
                  <a:rPr lang="zh-CN" altLang="en-US" b="0" i="0" dirty="0">
                    <a:solidFill>
                      <a:srgbClr val="191B1F"/>
                    </a:solidFill>
                    <a:effectLst/>
                    <a:latin typeface="-apple-system"/>
                  </a:rPr>
                  <a:t>式</a:t>
                </a:r>
                <a:r>
                  <a:rPr lang="en-US" altLang="zh-CN" b="0" i="0" dirty="0">
                    <a:solidFill>
                      <a:srgbClr val="191B1F"/>
                    </a:solidFill>
                    <a:effectLst/>
                    <a:latin typeface="-apple-system"/>
                  </a:rPr>
                  <a:t>(2</a:t>
                </a:r>
                <a:r>
                  <a:rPr lang="en-US" altLang="zh-CN" dirty="0">
                    <a:solidFill>
                      <a:srgbClr val="191B1F"/>
                    </a:solidFill>
                    <a:latin typeface="-apple-system"/>
                  </a:rPr>
                  <a:t>.2</a:t>
                </a:r>
                <a:r>
                  <a:rPr lang="en-US" altLang="zh-CN" b="0" i="0" dirty="0">
                    <a:solidFill>
                      <a:srgbClr val="191B1F"/>
                    </a:solidFill>
                    <a:effectLst/>
                    <a:latin typeface="-apple-system"/>
                  </a:rPr>
                  <a:t>)</a:t>
                </a:r>
                <a:r>
                  <a:rPr lang="zh-CN" altLang="en-US" b="0" i="0" dirty="0">
                    <a:solidFill>
                      <a:srgbClr val="191B1F"/>
                    </a:solidFill>
                    <a:effectLst/>
                    <a:latin typeface="-apple-system"/>
                  </a:rPr>
                  <a:t>中</a:t>
                </a:r>
                <a14:m>
                  <m:oMath xmlns:m="http://schemas.openxmlformats.org/officeDocument/2006/math">
                    <m:sSub>
                      <m:sSubPr>
                        <m:ctrlPr>
                          <a:rPr lang="en-US" altLang="zh-CN" b="0" i="1" dirty="0" smtClean="0">
                            <a:solidFill>
                              <a:srgbClr val="191B1F"/>
                            </a:solidFill>
                            <a:effectLst/>
                            <a:latin typeface="Cambria Math" panose="02040503050406030204" pitchFamily="18" charset="0"/>
                          </a:rPr>
                        </m:ctrlPr>
                      </m:sSubPr>
                      <m:e>
                        <m:r>
                          <a:rPr lang="en-US" altLang="zh-CN" b="0" i="1" dirty="0" smtClean="0">
                            <a:solidFill>
                              <a:srgbClr val="191B1F"/>
                            </a:solidFill>
                            <a:effectLst/>
                            <a:latin typeface="Cambria Math" panose="02040503050406030204" pitchFamily="18" charset="0"/>
                          </a:rPr>
                          <m:t>𝛽</m:t>
                        </m:r>
                      </m:e>
                      <m:sub>
                        <m:r>
                          <a:rPr lang="en-US" altLang="zh-CN" b="0" i="1" dirty="0" smtClean="0">
                            <a:solidFill>
                              <a:srgbClr val="191B1F"/>
                            </a:solidFill>
                            <a:effectLst/>
                            <a:latin typeface="Cambria Math" panose="02040503050406030204" pitchFamily="18" charset="0"/>
                          </a:rPr>
                          <m:t>0</m:t>
                        </m:r>
                      </m:sub>
                    </m:sSub>
                  </m:oMath>
                </a14:m>
                <a:r>
                  <a:rPr lang="zh-CN" altLang="en-US" b="0" i="0" dirty="0">
                    <a:solidFill>
                      <a:srgbClr val="191B1F"/>
                    </a:solidFill>
                    <a:effectLst/>
                    <a:latin typeface="-apple-system"/>
                  </a:rPr>
                  <a:t>为其初始吸引度，即两只萤火虫之间距离为</a:t>
                </a:r>
                <a:r>
                  <a:rPr lang="en-US" altLang="zh-CN" b="0" i="0" dirty="0">
                    <a:solidFill>
                      <a:srgbClr val="191B1F"/>
                    </a:solidFill>
                    <a:effectLst/>
                    <a:latin typeface="-apple-system"/>
                  </a:rPr>
                  <a:t>0</a:t>
                </a:r>
                <a:r>
                  <a:rPr lang="zh-CN" altLang="en-US" b="0" i="0" dirty="0">
                    <a:solidFill>
                      <a:srgbClr val="191B1F"/>
                    </a:solidFill>
                    <a:effectLst/>
                    <a:latin typeface="-apple-system"/>
                  </a:rPr>
                  <a:t>时的吸引度，</a:t>
                </a:r>
                <a14:m>
                  <m:oMath xmlns:m="http://schemas.openxmlformats.org/officeDocument/2006/math">
                    <m:r>
                      <a:rPr lang="en-US" altLang="zh-CN" b="0" i="1" dirty="0" smtClean="0">
                        <a:solidFill>
                          <a:srgbClr val="191B1F"/>
                        </a:solidFill>
                        <a:effectLst/>
                        <a:latin typeface="Cambria Math" panose="02040503050406030204" pitchFamily="18" charset="0"/>
                      </a:rPr>
                      <m:t>𝑟</m:t>
                    </m:r>
                  </m:oMath>
                </a14:m>
                <a:r>
                  <a:rPr lang="zh-CN" altLang="en-US" b="0" i="0" dirty="0">
                    <a:solidFill>
                      <a:srgbClr val="191B1F"/>
                    </a:solidFill>
                    <a:effectLst/>
                    <a:latin typeface="-apple-system"/>
                  </a:rPr>
                  <a:t>为两只萤火虫之间的距离。</a:t>
                </a:r>
                <a:endParaRPr lang="zh-CN" altLang="en-US" dirty="0"/>
              </a:p>
            </p:txBody>
          </p:sp>
        </mc:Choice>
        <mc:Fallback xmlns="">
          <p:sp>
            <p:nvSpPr>
              <p:cNvPr id="11" name="文本框 10">
                <a:extLst>
                  <a:ext uri="{FF2B5EF4-FFF2-40B4-BE49-F238E27FC236}">
                    <a16:creationId xmlns:a16="http://schemas.microsoft.com/office/drawing/2014/main" id="{E3EE408A-7350-E3F0-F77A-4C18E02668FA}"/>
                  </a:ext>
                </a:extLst>
              </p:cNvPr>
              <p:cNvSpPr txBox="1">
                <a:spLocks noRot="1" noChangeAspect="1" noMove="1" noResize="1" noEditPoints="1" noAdjustHandles="1" noChangeArrowheads="1" noChangeShapeType="1" noTextEdit="1"/>
              </p:cNvSpPr>
              <p:nvPr/>
            </p:nvSpPr>
            <p:spPr>
              <a:xfrm>
                <a:off x="792480" y="3053248"/>
                <a:ext cx="9872588" cy="369332"/>
              </a:xfrm>
              <a:prstGeom prst="rect">
                <a:avLst/>
              </a:prstGeom>
              <a:blipFill>
                <a:blip r:embed="rId4"/>
                <a:stretch>
                  <a:fillRect l="-494" t="-11667" r="-2716" b="-26667"/>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26EA6BC1-EC0A-F960-CCC5-E06943CCF9DC}"/>
              </a:ext>
            </a:extLst>
          </p:cNvPr>
          <p:cNvSpPr txBox="1"/>
          <p:nvPr/>
        </p:nvSpPr>
        <p:spPr>
          <a:xfrm>
            <a:off x="792480" y="3692556"/>
            <a:ext cx="10073133" cy="646331"/>
          </a:xfrm>
          <a:prstGeom prst="rect">
            <a:avLst/>
          </a:prstGeom>
          <a:noFill/>
        </p:spPr>
        <p:txBody>
          <a:bodyPr wrap="square">
            <a:spAutoFit/>
          </a:bodyPr>
          <a:lstStyle/>
          <a:p>
            <a:r>
              <a:rPr lang="zh-CN" altLang="en-US" b="0" i="0" dirty="0">
                <a:solidFill>
                  <a:srgbClr val="191B1F"/>
                </a:solidFill>
                <a:effectLst/>
                <a:latin typeface="-apple-system"/>
              </a:rPr>
              <a:t>算法运行过程中，每只萤火虫将会朝着所有亮度比自己高的所有萤火虫移动，其移动距离由以下公式</a:t>
            </a:r>
            <a:r>
              <a:rPr lang="en-US" altLang="zh-CN" b="0" i="0" dirty="0">
                <a:solidFill>
                  <a:srgbClr val="191B1F"/>
                </a:solidFill>
                <a:effectLst/>
                <a:latin typeface="-apple-system"/>
              </a:rPr>
              <a:t>(2.3)</a:t>
            </a:r>
            <a:r>
              <a:rPr lang="zh-CN" altLang="en-US" b="0" i="0" dirty="0">
                <a:solidFill>
                  <a:srgbClr val="191B1F"/>
                </a:solidFill>
                <a:effectLst/>
                <a:latin typeface="-apple-system"/>
              </a:rPr>
              <a:t>计算得出：</a:t>
            </a:r>
            <a:endParaRPr lang="zh-CN" altLang="en-US"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7E0E49F-A911-8A02-A0E0-C6E5FFD3C465}"/>
                  </a:ext>
                </a:extLst>
              </p:cNvPr>
              <p:cNvSpPr txBox="1"/>
              <p:nvPr/>
            </p:nvSpPr>
            <p:spPr>
              <a:xfrm>
                <a:off x="1323453" y="4338887"/>
                <a:ext cx="9542159" cy="473271"/>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eqArr>
                        <m:eqArrPr>
                          <m:ctrlPr>
                            <a:rPr lang="en-US" altLang="zh-CN" b="0" i="1" dirty="0" smtClean="0">
                              <a:latin typeface="Cambria Math" panose="02040503050406030204" pitchFamily="18" charset="0"/>
                            </a:rPr>
                          </m:ctrlPr>
                        </m:eqArrPr>
                        <m:e>
                          <m:sSubSup>
                            <m:sSubSupPr>
                              <m:ctrlPr>
                                <a:rPr lang="en-US" altLang="zh-CN" b="0" i="1" dirty="0" smtClean="0">
                                  <a:latin typeface="Cambria Math" panose="02040503050406030204" pitchFamily="18" charset="0"/>
                                </a:rPr>
                              </m:ctrlPr>
                            </m:sSubSupPr>
                            <m:e>
                              <m:r>
                                <m:rPr>
                                  <m:brk/>
                                </m:rPr>
                                <a:rPr lang="en-US" altLang="zh-CN" b="0" i="1" dirty="0" smtClean="0">
                                  <a:latin typeface="Cambria Math" panose="02040503050406030204" pitchFamily="18" charset="0"/>
                                </a:rPr>
                                <m:t>𝑋</m:t>
                              </m:r>
                            </m:e>
                            <m:sub>
                              <m:r>
                                <m:rPr>
                                  <m:brk/>
                                </m:rPr>
                                <a:rPr lang="en-US" altLang="zh-CN" b="0" i="1" dirty="0" smtClean="0">
                                  <a:latin typeface="Cambria Math" panose="02040503050406030204" pitchFamily="18" charset="0"/>
                                </a:rPr>
                                <m:t>𝑗</m:t>
                              </m:r>
                            </m:sub>
                            <m:sup>
                              <m:r>
                                <m:rPr>
                                  <m:brk/>
                                </m:rPr>
                                <a:rPr lang="en-US" altLang="zh-CN" i="1" dirty="0">
                                  <a:latin typeface="Cambria Math" panose="02040503050406030204" pitchFamily="18" charset="0"/>
                                </a:rPr>
                                <m:t>,</m:t>
                              </m:r>
                            </m:sup>
                          </m:sSubSup>
                          <m:r>
                            <m:rPr>
                              <m:brk/>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brk/>
                                </m:rPr>
                                <a:rPr lang="en-US" altLang="zh-CN" b="0" i="1" dirty="0" smtClean="0">
                                  <a:latin typeface="Cambria Math" panose="02040503050406030204" pitchFamily="18" charset="0"/>
                                </a:rPr>
                                <m:t>𝑋</m:t>
                              </m:r>
                            </m:e>
                            <m:sub>
                              <m:r>
                                <m:rPr>
                                  <m:brk/>
                                </m:rPr>
                                <a:rPr lang="en-US" altLang="zh-CN" b="0" i="1" dirty="0" smtClean="0">
                                  <a:latin typeface="Cambria Math" panose="02040503050406030204" pitchFamily="18" charset="0"/>
                                </a:rPr>
                                <m:t>𝑖</m:t>
                              </m:r>
                            </m:sub>
                          </m:sSub>
                          <m:r>
                            <m:rPr>
                              <m:brk/>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𝛽</m:t>
                              </m:r>
                            </m:e>
                            <m:sub>
                              <m:r>
                                <a:rPr lang="en-US" altLang="zh-CN" b="0" i="1" dirty="0" smtClean="0">
                                  <a:latin typeface="Cambria Math" panose="02040503050406030204" pitchFamily="18" charset="0"/>
                                </a:rPr>
                                <m:t>0</m:t>
                              </m:r>
                            </m:sub>
                          </m:sSub>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𝑒</m:t>
                              </m:r>
                            </m:e>
                            <m: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𝛾</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𝑟</m:t>
                                  </m:r>
                                </m:e>
                                <m:sup>
                                  <m:r>
                                    <a:rPr lang="en-US" altLang="zh-CN" b="0" i="1" dirty="0" smtClean="0">
                                      <a:latin typeface="Cambria Math" panose="02040503050406030204" pitchFamily="18" charset="0"/>
                                    </a:rPr>
                                    <m:t>2</m:t>
                                  </m:r>
                                </m:sup>
                              </m:sSup>
                            </m:sup>
                          </m:sSup>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𝑗</m:t>
                                  </m:r>
                                </m:sub>
                              </m:sSub>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𝛼</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𝑟𝑎𝑛𝑑</m:t>
                          </m:r>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2.3</m:t>
                              </m:r>
                            </m:e>
                          </m:d>
                        </m:e>
                      </m:eqArr>
                    </m:oMath>
                  </m:oMathPara>
                </a14:m>
                <a:endParaRPr dirty="0"/>
              </a:p>
            </p:txBody>
          </p:sp>
        </mc:Choice>
        <mc:Fallback xmlns="">
          <p:sp>
            <p:nvSpPr>
              <p:cNvPr id="14" name="文本框 13">
                <a:extLst>
                  <a:ext uri="{FF2B5EF4-FFF2-40B4-BE49-F238E27FC236}">
                    <a16:creationId xmlns:a16="http://schemas.microsoft.com/office/drawing/2014/main" id="{17E0E49F-A911-8A02-A0E0-C6E5FFD3C465}"/>
                  </a:ext>
                </a:extLst>
              </p:cNvPr>
              <p:cNvSpPr txBox="1">
                <a:spLocks noRot="1" noChangeAspect="1" noMove="1" noResize="1" noEditPoints="1" noAdjustHandles="1" noChangeArrowheads="1" noChangeShapeType="1" noTextEdit="1"/>
              </p:cNvSpPr>
              <p:nvPr/>
            </p:nvSpPr>
            <p:spPr>
              <a:xfrm>
                <a:off x="1323453" y="4338887"/>
                <a:ext cx="9542159" cy="47327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F89D67F-2809-701B-2D49-ACF73D69D5AB}"/>
                  </a:ext>
                </a:extLst>
              </p:cNvPr>
              <p:cNvSpPr txBox="1"/>
              <p:nvPr/>
            </p:nvSpPr>
            <p:spPr>
              <a:xfrm>
                <a:off x="792481" y="4982779"/>
                <a:ext cx="9995682" cy="1138453"/>
              </a:xfrm>
              <a:prstGeom prst="rect">
                <a:avLst/>
              </a:prstGeom>
              <a:noFill/>
            </p:spPr>
            <p:txBody>
              <a:bodyPr wrap="square" rtlCol="0">
                <a:spAutoFit/>
              </a:bodyPr>
              <a:lstStyle/>
              <a:p>
                <a:pPr>
                  <a:lnSpc>
                    <a:spcPct val="130000"/>
                  </a:lnSpc>
                </a:pPr>
                <a:r>
                  <a:rPr lang="zh-CN" altLang="en-US" dirty="0"/>
                  <a:t>其中</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𝑋</m:t>
                        </m:r>
                      </m:e>
                      <m:sub>
                        <m:r>
                          <a:rPr lang="en-US" altLang="zh-CN" i="1" dirty="0" smtClean="0">
                            <a:latin typeface="Cambria Math" panose="02040503050406030204" pitchFamily="18" charset="0"/>
                          </a:rPr>
                          <m:t>𝑖</m:t>
                        </m:r>
                      </m:sub>
                    </m:sSub>
                  </m:oMath>
                </a14:m>
                <a:r>
                  <a:rPr lang="zh-CN" altLang="en-US" dirty="0"/>
                  <a:t>表示一个比第</a:t>
                </a:r>
                <a14:m>
                  <m:oMath xmlns:m="http://schemas.openxmlformats.org/officeDocument/2006/math">
                    <m:r>
                      <a:rPr lang="en-US" altLang="zh-CN" i="1" dirty="0" smtClean="0">
                        <a:latin typeface="Cambria Math" panose="02040503050406030204" pitchFamily="18" charset="0"/>
                      </a:rPr>
                      <m:t>𝑖</m:t>
                    </m:r>
                  </m:oMath>
                </a14:m>
                <a:r>
                  <a:rPr lang="zh-CN" altLang="en-US" dirty="0"/>
                  <a:t>个个体亮度更高的萤火虫的位置，</a:t>
                </a:r>
                <a14:m>
                  <m:oMath xmlns:m="http://schemas.openxmlformats.org/officeDocument/2006/math">
                    <m:r>
                      <a:rPr lang="en-US" altLang="zh-CN" i="1" dirty="0" smtClean="0">
                        <a:latin typeface="Cambria Math" panose="02040503050406030204" pitchFamily="18" charset="0"/>
                      </a:rPr>
                      <m:t>𝑟</m:t>
                    </m:r>
                  </m:oMath>
                </a14:m>
                <a:r>
                  <a:rPr lang="zh-CN" altLang="en-US" dirty="0"/>
                  <a:t>表示第</a:t>
                </a:r>
                <a14:m>
                  <m:oMath xmlns:m="http://schemas.openxmlformats.org/officeDocument/2006/math">
                    <m:r>
                      <a:rPr lang="en-US" altLang="zh-CN" i="1" dirty="0">
                        <a:latin typeface="Cambria Math" panose="02040503050406030204" pitchFamily="18" charset="0"/>
                      </a:rPr>
                      <m:t>𝑖</m:t>
                    </m:r>
                  </m:oMath>
                </a14:m>
                <a:r>
                  <a:rPr lang="zh-CN" altLang="en-US" dirty="0"/>
                  <a:t>个萤火虫与第</a:t>
                </a:r>
                <a14:m>
                  <m:oMath xmlns:m="http://schemas.openxmlformats.org/officeDocument/2006/math">
                    <m:r>
                      <a:rPr lang="en-US" altLang="zh-CN" i="1" dirty="0" smtClean="0">
                        <a:latin typeface="Cambria Math" panose="02040503050406030204" pitchFamily="18" charset="0"/>
                      </a:rPr>
                      <m:t>𝑗</m:t>
                    </m:r>
                  </m:oMath>
                </a14:m>
                <a:r>
                  <a:rPr lang="zh-CN" altLang="en-US" dirty="0"/>
                  <a:t>个萤火虫之间的距离。</a:t>
                </a:r>
                <a:r>
                  <a:rPr lang="en-US" altLang="zh-CN" dirty="0">
                    <a:latin typeface="Times New Roman" panose="02020603050405020304" pitchFamily="18" charset="0"/>
                    <a:cs typeface="Times New Roman" panose="02020603050405020304" pitchFamily="18" charset="0"/>
                  </a:rPr>
                  <a:t>rand</a:t>
                </a:r>
                <a:r>
                  <a:rPr lang="zh-CN" altLang="en-US" dirty="0"/>
                  <a:t>为一个随机扰动</a:t>
                </a:r>
                <a:r>
                  <a:rPr lang="en-US" altLang="zh-CN" dirty="0"/>
                  <a:t>,</a:t>
                </a:r>
                <a14:m>
                  <m:oMath xmlns:m="http://schemas.openxmlformats.org/officeDocument/2006/math">
                    <m:r>
                      <a:rPr lang="en-US" altLang="zh-CN" i="1" dirty="0" smtClean="0">
                        <a:latin typeface="Cambria Math" panose="02040503050406030204" pitchFamily="18" charset="0"/>
                      </a:rPr>
                      <m:t>𝛼</m:t>
                    </m:r>
                  </m:oMath>
                </a14:m>
                <a:r>
                  <a:rPr lang="zh-CN" altLang="en-US" dirty="0"/>
                  <a:t>为扰动的步长因子。一般</a:t>
                </a:r>
                <a14:m>
                  <m:oMath xmlns:m="http://schemas.openxmlformats.org/officeDocument/2006/math">
                    <m:r>
                      <m:rPr>
                        <m:nor/>
                      </m:rPr>
                      <a:rPr lang="en-US" altLang="zh-CN" dirty="0">
                        <a:latin typeface="Times New Roman" panose="02020603050405020304" pitchFamily="18" charset="0"/>
                        <a:cs typeface="Times New Roman" panose="02020603050405020304" pitchFamily="18" charset="0"/>
                      </a:rPr>
                      <m:t>rand</m:t>
                    </m:r>
                  </m:oMath>
                </a14:m>
                <a:r>
                  <a:rPr lang="zh-CN" altLang="en-US" dirty="0"/>
                  <a:t>取值为</a:t>
                </a:r>
                <a:r>
                  <a:rPr lang="en-US" altLang="zh-CN" dirty="0"/>
                  <a:t>[-0.5,0.5]</a:t>
                </a:r>
                <a:r>
                  <a:rPr lang="zh-CN" altLang="en-US" dirty="0"/>
                  <a:t>范围内的均匀分布或者</a:t>
                </a:r>
                <a:r>
                  <a:rPr lang="en-US" altLang="zh-CN" dirty="0"/>
                  <a:t>U(0,1)</a:t>
                </a:r>
                <a:r>
                  <a:rPr lang="zh-CN" altLang="en-US" dirty="0"/>
                  <a:t>的标准正态分布</a:t>
                </a:r>
                <a:r>
                  <a:rPr lang="en-US" altLang="zh-CN" dirty="0"/>
                  <a:t>, </a:t>
                </a:r>
                <a14:m>
                  <m:oMath xmlns:m="http://schemas.openxmlformats.org/officeDocument/2006/math">
                    <m:r>
                      <a:rPr lang="en-US" altLang="zh-CN" i="1" dirty="0">
                        <a:latin typeface="Cambria Math" panose="02040503050406030204" pitchFamily="18" charset="0"/>
                      </a:rPr>
                      <m:t>𝛼</m:t>
                    </m:r>
                  </m:oMath>
                </a14:m>
                <a:r>
                  <a:rPr lang="zh-CN" altLang="en-US" dirty="0"/>
                  <a:t>取值为</a:t>
                </a:r>
                <a:r>
                  <a:rPr lang="en-US" altLang="zh-CN" dirty="0"/>
                  <a:t>[0,1]</a:t>
                </a:r>
                <a:r>
                  <a:rPr lang="zh-CN" altLang="en-US" dirty="0"/>
                  <a:t>之间。</a:t>
                </a:r>
              </a:p>
            </p:txBody>
          </p:sp>
        </mc:Choice>
        <mc:Fallback xmlns="">
          <p:sp>
            <p:nvSpPr>
              <p:cNvPr id="15" name="文本框 14">
                <a:extLst>
                  <a:ext uri="{FF2B5EF4-FFF2-40B4-BE49-F238E27FC236}">
                    <a16:creationId xmlns:a16="http://schemas.microsoft.com/office/drawing/2014/main" id="{BF89D67F-2809-701B-2D49-ACF73D69D5AB}"/>
                  </a:ext>
                </a:extLst>
              </p:cNvPr>
              <p:cNvSpPr txBox="1">
                <a:spLocks noRot="1" noChangeAspect="1" noMove="1" noResize="1" noEditPoints="1" noAdjustHandles="1" noChangeArrowheads="1" noChangeShapeType="1" noTextEdit="1"/>
              </p:cNvSpPr>
              <p:nvPr/>
            </p:nvSpPr>
            <p:spPr>
              <a:xfrm>
                <a:off x="792481" y="4982779"/>
                <a:ext cx="9995682" cy="1138453"/>
              </a:xfrm>
              <a:prstGeom prst="rect">
                <a:avLst/>
              </a:prstGeom>
              <a:blipFill>
                <a:blip r:embed="rId6"/>
                <a:stretch>
                  <a:fillRect l="-488" b="-74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5111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EFD55-C699-83BE-7D7D-031706D5B6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B9C836-457D-93D9-0D1B-26F518C5991E}"/>
              </a:ext>
            </a:extLst>
          </p:cNvPr>
          <p:cNvSpPr>
            <a:spLocks noGrp="1"/>
          </p:cNvSpPr>
          <p:nvPr>
            <p:ph type="title"/>
          </p:nvPr>
        </p:nvSpPr>
        <p:spPr/>
        <p:txBody>
          <a:bodyPr/>
          <a:lstStyle/>
          <a:p>
            <a:r>
              <a:rPr lang="en-US" altLang="zh-CN" dirty="0"/>
              <a:t>2.2 </a:t>
            </a:r>
            <a:r>
              <a:rPr lang="zh-CN" altLang="en-US" dirty="0"/>
              <a:t>算法流程</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39FDFA2-5B56-51B3-CF14-5BC7CF7CA256}"/>
                  </a:ext>
                </a:extLst>
              </p:cNvPr>
              <p:cNvSpPr txBox="1"/>
              <p:nvPr/>
            </p:nvSpPr>
            <p:spPr>
              <a:xfrm>
                <a:off x="792480" y="1138535"/>
                <a:ext cx="10074809" cy="646331"/>
              </a:xfrm>
              <a:prstGeom prst="rect">
                <a:avLst/>
              </a:prstGeom>
              <a:noFill/>
            </p:spPr>
            <p:txBody>
              <a:bodyPr wrap="square">
                <a:spAutoFit/>
              </a:bodyPr>
              <a:lstStyle/>
              <a:p>
                <a:r>
                  <a:rPr lang="zh-CN" altLang="en-US" b="0" i="0" dirty="0">
                    <a:solidFill>
                      <a:srgbClr val="191B1F"/>
                    </a:solidFill>
                    <a:effectLst/>
                    <a:latin typeface="-apple-system"/>
                  </a:rPr>
                  <a:t>（</a:t>
                </a:r>
                <a:r>
                  <a:rPr lang="en-US" altLang="zh-CN" b="0" i="0" dirty="0">
                    <a:solidFill>
                      <a:srgbClr val="191B1F"/>
                    </a:solidFill>
                    <a:effectLst/>
                    <a:latin typeface="-apple-system"/>
                  </a:rPr>
                  <a:t>1</a:t>
                </a:r>
                <a:r>
                  <a:rPr lang="zh-CN" altLang="en-US" b="0" i="0" dirty="0">
                    <a:solidFill>
                      <a:srgbClr val="191B1F"/>
                    </a:solidFill>
                    <a:effectLst/>
                    <a:latin typeface="-apple-system"/>
                  </a:rPr>
                  <a:t>）初始化，设定萤火虫的种群为</a:t>
                </a:r>
                <a:r>
                  <a:rPr lang="en-US" altLang="zh-CN" b="0" i="0" dirty="0">
                    <a:solidFill>
                      <a:srgbClr val="191B1F"/>
                    </a:solidFill>
                    <a:effectLst/>
                    <a:latin typeface="-apple-system"/>
                  </a:rPr>
                  <a:t>N</a:t>
                </a:r>
                <a:r>
                  <a:rPr lang="zh-CN" altLang="en-US" b="0" i="0" dirty="0">
                    <a:solidFill>
                      <a:srgbClr val="191B1F"/>
                    </a:solidFill>
                    <a:effectLst/>
                    <a:latin typeface="-apple-system"/>
                  </a:rPr>
                  <a:t>，介质对光的吸收系数为</a:t>
                </a:r>
                <a14:m>
                  <m:oMath xmlns:m="http://schemas.openxmlformats.org/officeDocument/2006/math">
                    <m:r>
                      <a:rPr lang="en-US" altLang="zh-CN" i="1" dirty="0" smtClean="0">
                        <a:solidFill>
                          <a:srgbClr val="191B1F"/>
                        </a:solidFill>
                        <a:latin typeface="Cambria Math" panose="02040503050406030204" pitchFamily="18" charset="0"/>
                      </a:rPr>
                      <m:t>𝛾</m:t>
                    </m:r>
                    <m:r>
                      <a:rPr lang="en-US" altLang="zh-CN" i="1" dirty="0" smtClean="0">
                        <a:solidFill>
                          <a:srgbClr val="191B1F"/>
                        </a:solidFill>
                        <a:latin typeface="Cambria Math" panose="02040503050406030204" pitchFamily="18" charset="0"/>
                      </a:rPr>
                      <m:t>=1</m:t>
                    </m:r>
                  </m:oMath>
                </a14:m>
                <a:r>
                  <a:rPr lang="zh-CN" altLang="en-US" b="0" i="0" dirty="0">
                    <a:solidFill>
                      <a:srgbClr val="191B1F"/>
                    </a:solidFill>
                    <a:effectLst/>
                    <a:latin typeface="-apple-system"/>
                  </a:rPr>
                  <a:t>，初始步长</a:t>
                </a:r>
                <a14:m>
                  <m:oMath xmlns:m="http://schemas.openxmlformats.org/officeDocument/2006/math">
                    <m:r>
                      <a:rPr lang="en-US" altLang="zh-CN" b="0" i="1" dirty="0" smtClean="0">
                        <a:solidFill>
                          <a:srgbClr val="191B1F"/>
                        </a:solidFill>
                        <a:effectLst/>
                        <a:latin typeface="Cambria Math" panose="02040503050406030204" pitchFamily="18" charset="0"/>
                      </a:rPr>
                      <m:t>𝑎</m:t>
                    </m:r>
                    <m:r>
                      <a:rPr lang="en-US" altLang="zh-CN" b="0" i="1" dirty="0">
                        <a:solidFill>
                          <a:srgbClr val="191B1F"/>
                        </a:solidFill>
                        <a:effectLst/>
                        <a:latin typeface="Cambria Math" panose="02040503050406030204" pitchFamily="18" charset="0"/>
                      </a:rPr>
                      <m:t>=0.97</m:t>
                    </m:r>
                  </m:oMath>
                </a14:m>
                <a:r>
                  <a:rPr lang="zh-CN" altLang="en-US" b="0" i="0" dirty="0">
                    <a:solidFill>
                      <a:srgbClr val="191B1F"/>
                    </a:solidFill>
                    <a:effectLst/>
                    <a:latin typeface="-apple-system"/>
                  </a:rPr>
                  <a:t>，初始吸引度</a:t>
                </a:r>
                <a14:m>
                  <m:oMath xmlns:m="http://schemas.openxmlformats.org/officeDocument/2006/math">
                    <m:sSub>
                      <m:sSubPr>
                        <m:ctrlPr>
                          <a:rPr lang="en-US" altLang="zh-CN" b="0" i="1" dirty="0" smtClean="0">
                            <a:solidFill>
                              <a:srgbClr val="191B1F"/>
                            </a:solidFill>
                            <a:effectLst/>
                            <a:latin typeface="Cambria Math" panose="02040503050406030204" pitchFamily="18" charset="0"/>
                          </a:rPr>
                        </m:ctrlPr>
                      </m:sSubPr>
                      <m:e>
                        <m:r>
                          <a:rPr lang="en-US" altLang="zh-CN" b="0" i="1" dirty="0" smtClean="0">
                            <a:solidFill>
                              <a:srgbClr val="191B1F"/>
                            </a:solidFill>
                            <a:effectLst/>
                            <a:latin typeface="Cambria Math" panose="02040503050406030204" pitchFamily="18" charset="0"/>
                          </a:rPr>
                          <m:t>𝛽</m:t>
                        </m:r>
                      </m:e>
                      <m:sub>
                        <m:r>
                          <a:rPr lang="en-US" altLang="zh-CN" b="0" i="1" dirty="0" smtClean="0">
                            <a:solidFill>
                              <a:srgbClr val="191B1F"/>
                            </a:solidFill>
                            <a:effectLst/>
                            <a:latin typeface="Cambria Math" panose="02040503050406030204" pitchFamily="18" charset="0"/>
                          </a:rPr>
                          <m:t>0</m:t>
                        </m:r>
                      </m:sub>
                    </m:sSub>
                    <m:r>
                      <a:rPr lang="en-US" altLang="zh-CN" b="0" i="1" dirty="0" smtClean="0">
                        <a:solidFill>
                          <a:srgbClr val="191B1F"/>
                        </a:solidFill>
                        <a:effectLst/>
                        <a:latin typeface="Cambria Math" panose="02040503050406030204" pitchFamily="18" charset="0"/>
                      </a:rPr>
                      <m:t>=1.0</m:t>
                    </m:r>
                  </m:oMath>
                </a14:m>
                <a:r>
                  <a:rPr lang="zh-CN" altLang="en-US" b="0" i="0" dirty="0">
                    <a:solidFill>
                      <a:srgbClr val="191B1F"/>
                    </a:solidFill>
                    <a:effectLst/>
                    <a:latin typeface="-apple-system"/>
                  </a:rPr>
                  <a:t>，其中</a:t>
                </a:r>
                <a14:m>
                  <m:oMath xmlns:m="http://schemas.openxmlformats.org/officeDocument/2006/math">
                    <m:sSub>
                      <m:sSubPr>
                        <m:ctrlPr>
                          <a:rPr lang="en-US" altLang="zh-CN" i="1" dirty="0">
                            <a:solidFill>
                              <a:srgbClr val="191B1F"/>
                            </a:solidFill>
                            <a:latin typeface="Cambria Math" panose="02040503050406030204" pitchFamily="18" charset="0"/>
                          </a:rPr>
                        </m:ctrlPr>
                      </m:sSubPr>
                      <m:e>
                        <m:r>
                          <a:rPr lang="en-US" altLang="zh-CN" i="1" dirty="0">
                            <a:solidFill>
                              <a:srgbClr val="191B1F"/>
                            </a:solidFill>
                            <a:latin typeface="Cambria Math" panose="02040503050406030204" pitchFamily="18" charset="0"/>
                          </a:rPr>
                          <m:t>𝛽</m:t>
                        </m:r>
                      </m:e>
                      <m:sub>
                        <m:r>
                          <m:rPr>
                            <m:sty m:val="p"/>
                          </m:rPr>
                          <a:rPr lang="en-US" altLang="zh-CN" b="0" i="1" dirty="0" smtClean="0">
                            <a:solidFill>
                              <a:srgbClr val="191B1F"/>
                            </a:solidFill>
                            <a:latin typeface="Cambria Math" panose="02040503050406030204" pitchFamily="18" charset="0"/>
                          </a:rPr>
                          <m:t>max</m:t>
                        </m:r>
                      </m:sub>
                    </m:sSub>
                    <m:r>
                      <a:rPr lang="en-US" altLang="zh-CN" i="1" dirty="0">
                        <a:solidFill>
                          <a:srgbClr val="191B1F"/>
                        </a:solidFill>
                        <a:latin typeface="Cambria Math" panose="02040503050406030204" pitchFamily="18" charset="0"/>
                      </a:rPr>
                      <m:t>=1.0</m:t>
                    </m:r>
                    <m:r>
                      <a:rPr lang="en-US" altLang="zh-CN" b="0" i="1" dirty="0" smtClean="0">
                        <a:solidFill>
                          <a:srgbClr val="191B1F"/>
                        </a:solidFill>
                        <a:latin typeface="Cambria Math" panose="02040503050406030204" pitchFamily="18" charset="0"/>
                      </a:rPr>
                      <m:t>,</m:t>
                    </m:r>
                    <m:sSub>
                      <m:sSubPr>
                        <m:ctrlPr>
                          <a:rPr lang="en-US" altLang="zh-CN" i="1" dirty="0">
                            <a:solidFill>
                              <a:srgbClr val="191B1F"/>
                            </a:solidFill>
                            <a:latin typeface="Cambria Math" panose="02040503050406030204" pitchFamily="18" charset="0"/>
                          </a:rPr>
                        </m:ctrlPr>
                      </m:sSubPr>
                      <m:e>
                        <m:r>
                          <a:rPr lang="en-US" altLang="zh-CN" i="1" dirty="0">
                            <a:solidFill>
                              <a:srgbClr val="191B1F"/>
                            </a:solidFill>
                            <a:latin typeface="Cambria Math" panose="02040503050406030204" pitchFamily="18" charset="0"/>
                          </a:rPr>
                          <m:t>𝛽</m:t>
                        </m:r>
                      </m:e>
                      <m:sub>
                        <m:r>
                          <m:rPr>
                            <m:sty m:val="p"/>
                          </m:rPr>
                          <a:rPr lang="en-US" altLang="zh-CN" i="1" dirty="0">
                            <a:solidFill>
                              <a:srgbClr val="191B1F"/>
                            </a:solidFill>
                            <a:latin typeface="Cambria Math" panose="02040503050406030204" pitchFamily="18" charset="0"/>
                          </a:rPr>
                          <m:t>m</m:t>
                        </m:r>
                        <m:r>
                          <m:rPr>
                            <m:sty m:val="p"/>
                          </m:rPr>
                          <a:rPr lang="en-US" altLang="zh-CN" b="0" i="1" dirty="0" smtClean="0">
                            <a:solidFill>
                              <a:srgbClr val="191B1F"/>
                            </a:solidFill>
                            <a:latin typeface="Cambria Math" panose="02040503050406030204" pitchFamily="18" charset="0"/>
                          </a:rPr>
                          <m:t>in</m:t>
                        </m:r>
                      </m:sub>
                    </m:sSub>
                    <m:r>
                      <a:rPr lang="en-US" altLang="zh-CN" i="1" dirty="0">
                        <a:solidFill>
                          <a:srgbClr val="191B1F"/>
                        </a:solidFill>
                        <a:latin typeface="Cambria Math" panose="02040503050406030204" pitchFamily="18" charset="0"/>
                      </a:rPr>
                      <m:t>=0</m:t>
                    </m:r>
                    <m:r>
                      <a:rPr lang="en-US" altLang="zh-CN" b="0" i="1" dirty="0" smtClean="0">
                        <a:solidFill>
                          <a:srgbClr val="191B1F"/>
                        </a:solidFill>
                        <a:latin typeface="Cambria Math" panose="02040503050406030204" pitchFamily="18" charset="0"/>
                      </a:rPr>
                      <m:t>.2</m:t>
                    </m:r>
                  </m:oMath>
                </a14:m>
                <a:r>
                  <a:rPr lang="zh-CN" altLang="en-US" b="0" i="0" dirty="0">
                    <a:solidFill>
                      <a:srgbClr val="191B1F"/>
                    </a:solidFill>
                    <a:effectLst/>
                    <a:latin typeface="-apple-system"/>
                  </a:rPr>
                  <a:t>，其吸引度公式如</a:t>
                </a:r>
                <a:r>
                  <a:rPr lang="en-US" altLang="zh-CN" b="0" i="0" dirty="0">
                    <a:solidFill>
                      <a:srgbClr val="191B1F"/>
                    </a:solidFill>
                    <a:effectLst/>
                    <a:latin typeface="-apple-system"/>
                  </a:rPr>
                  <a:t>(2.</a:t>
                </a:r>
                <a:r>
                  <a:rPr lang="en-US" altLang="zh-CN" dirty="0">
                    <a:solidFill>
                      <a:srgbClr val="191B1F"/>
                    </a:solidFill>
                    <a:latin typeface="-apple-system"/>
                  </a:rPr>
                  <a:t>4</a:t>
                </a:r>
                <a:r>
                  <a:rPr lang="en-US" altLang="zh-CN" b="0" i="0" dirty="0">
                    <a:solidFill>
                      <a:srgbClr val="191B1F"/>
                    </a:solidFill>
                    <a:effectLst/>
                    <a:latin typeface="-apple-system"/>
                  </a:rPr>
                  <a:t>):</a:t>
                </a:r>
                <a:endParaRPr lang="zh-CN" altLang="en-US" dirty="0"/>
              </a:p>
            </p:txBody>
          </p:sp>
        </mc:Choice>
        <mc:Fallback xmlns="">
          <p:sp>
            <p:nvSpPr>
              <p:cNvPr id="6" name="文本框 5">
                <a:extLst>
                  <a:ext uri="{FF2B5EF4-FFF2-40B4-BE49-F238E27FC236}">
                    <a16:creationId xmlns:a16="http://schemas.microsoft.com/office/drawing/2014/main" id="{539FDFA2-5B56-51B3-CF14-5BC7CF7CA256}"/>
                  </a:ext>
                </a:extLst>
              </p:cNvPr>
              <p:cNvSpPr txBox="1">
                <a:spLocks noRot="1" noChangeAspect="1" noMove="1" noResize="1" noEditPoints="1" noAdjustHandles="1" noChangeArrowheads="1" noChangeShapeType="1" noTextEdit="1"/>
              </p:cNvSpPr>
              <p:nvPr/>
            </p:nvSpPr>
            <p:spPr>
              <a:xfrm>
                <a:off x="792480" y="1138535"/>
                <a:ext cx="10074809" cy="646331"/>
              </a:xfrm>
              <a:prstGeom prst="rect">
                <a:avLst/>
              </a:prstGeom>
              <a:blipFill>
                <a:blip r:embed="rId2"/>
                <a:stretch>
                  <a:fillRect l="-484" t="-6604"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8969B04-B218-CD6D-355A-6714B29BE07E}"/>
                  </a:ext>
                </a:extLst>
              </p:cNvPr>
              <p:cNvSpPr txBox="1"/>
              <p:nvPr/>
            </p:nvSpPr>
            <p:spPr>
              <a:xfrm>
                <a:off x="1107163" y="1804063"/>
                <a:ext cx="9542159" cy="405880"/>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eqArr>
                        <m:eqArrPr>
                          <m:ctrlPr>
                            <a:rPr lang="en-US" altLang="zh-CN" i="1" dirty="0" smtClean="0">
                              <a:latin typeface="Cambria Math" panose="02040503050406030204" pitchFamily="18" charset="0"/>
                            </a:rPr>
                          </m:ctrlPr>
                        </m:eqArrPr>
                        <m:e>
                          <m:r>
                            <a:rPr lang="en-US" altLang="zh-CN" i="1" dirty="0" smtClean="0">
                              <a:latin typeface="Cambria Math" panose="02040503050406030204" pitchFamily="18" charset="0"/>
                            </a:rPr>
                            <m:t>𝛽</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𝑟</m:t>
                              </m:r>
                            </m:e>
                          </m:d>
                          <m:r>
                            <a:rPr lang="en-US" altLang="zh-CN" i="1" dirty="0">
                              <a:latin typeface="Cambria Math" panose="02040503050406030204" pitchFamily="18" charset="0"/>
                            </a:rPr>
                            <m:t>=</m:t>
                          </m:r>
                          <m:d>
                            <m:dPr>
                              <m:ctrlPr>
                                <a:rPr lang="en-US" altLang="zh-CN" i="1" dirty="0" smtClean="0">
                                  <a:latin typeface="Cambria Math" panose="02040503050406030204" pitchFamily="18" charset="0"/>
                                </a:rPr>
                              </m:ctrlPr>
                            </m:dPr>
                            <m:e>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𝑚𝑎𝑥</m:t>
                                  </m:r>
                                </m:sub>
                              </m:sSub>
                              <m:r>
                                <a:rPr lang="en-US" altLang="zh-CN" i="1" dirty="0">
                                  <a:latin typeface="Cambria Math" panose="02040503050406030204" pitchFamily="18" charset="0"/>
                                </a:rPr>
                                <m:t>−</m:t>
                              </m:r>
                              <m:sSub>
                                <m:sSubPr>
                                  <m:ctrlPr>
                                    <a:rPr lang="en-US" altLang="zh-CN" b="0"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a:latin typeface="Cambria Math" panose="02040503050406030204" pitchFamily="18" charset="0"/>
                                    </a:rPr>
                                    <m:t>𝑚</m:t>
                                  </m:r>
                                  <m:r>
                                    <a:rPr lang="en-US" altLang="zh-CN" b="0" i="1" dirty="0" smtClean="0">
                                      <a:latin typeface="Cambria Math" panose="02040503050406030204" pitchFamily="18" charset="0"/>
                                    </a:rPr>
                                    <m:t>𝑖𝑛</m:t>
                                  </m:r>
                                </m:sub>
                              </m:sSub>
                            </m:e>
                          </m:d>
                          <m:r>
                            <a:rPr lang="en-US" altLang="zh-CN" i="1" dirty="0">
                              <a:latin typeface="Cambria Math" panose="02040503050406030204" pitchFamily="18" charset="0"/>
                            </a:rPr>
                            <m:t> </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𝛾</m:t>
                              </m:r>
                              <m:sSup>
                                <m:sSupPr>
                                  <m:ctrlPr>
                                    <a:rPr lang="en-US" altLang="zh-CN" i="1">
                                      <a:latin typeface="Cambria Math" panose="02040503050406030204" pitchFamily="18" charset="0"/>
                                    </a:rPr>
                                  </m:ctrlPr>
                                </m:sSupPr>
                                <m:e>
                                  <m:r>
                                    <a:rPr lang="en-US" altLang="zh-CN" i="1">
                                      <a:latin typeface="Cambria Math" panose="02040503050406030204" pitchFamily="18" charset="0"/>
                                    </a:rPr>
                                    <m:t>𝑟</m:t>
                                  </m:r>
                                </m:e>
                                <m:sup>
                                  <m:r>
                                    <a:rPr lang="en-US" altLang="zh-CN" i="1">
                                      <a:latin typeface="Cambria Math" panose="02040503050406030204" pitchFamily="18" charset="0"/>
                                    </a:rPr>
                                    <m:t>2</m:t>
                                  </m:r>
                                </m:sup>
                              </m:sSup>
                            </m:sup>
                          </m:s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a:latin typeface="Cambria Math" panose="02040503050406030204" pitchFamily="18" charset="0"/>
                                </a:rPr>
                                <m:t>𝑚𝑖𝑛</m:t>
                              </m:r>
                            </m:sub>
                          </m:sSub>
                          <m:r>
                            <a:rPr lang="en-US" altLang="zh-CN" i="1" dirty="0">
                              <a:latin typeface="Cambria Math" panose="02040503050406030204" pitchFamily="18" charset="0"/>
                            </a:rPr>
                            <m:t>#</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2.4</m:t>
                              </m:r>
                            </m:e>
                          </m:d>
                        </m:e>
                      </m:eqArr>
                    </m:oMath>
                  </m:oMathPara>
                </a14:m>
                <a:endParaRPr dirty="0"/>
              </a:p>
            </p:txBody>
          </p:sp>
        </mc:Choice>
        <mc:Fallback xmlns="">
          <p:sp>
            <p:nvSpPr>
              <p:cNvPr id="7" name="文本框 6">
                <a:extLst>
                  <a:ext uri="{FF2B5EF4-FFF2-40B4-BE49-F238E27FC236}">
                    <a16:creationId xmlns:a16="http://schemas.microsoft.com/office/drawing/2014/main" id="{38969B04-B218-CD6D-355A-6714B29BE07E}"/>
                  </a:ext>
                </a:extLst>
              </p:cNvPr>
              <p:cNvSpPr txBox="1">
                <a:spLocks noRot="1" noChangeAspect="1" noMove="1" noResize="1" noEditPoints="1" noAdjustHandles="1" noChangeArrowheads="1" noChangeShapeType="1" noTextEdit="1"/>
              </p:cNvSpPr>
              <p:nvPr/>
            </p:nvSpPr>
            <p:spPr>
              <a:xfrm>
                <a:off x="1107163" y="1804063"/>
                <a:ext cx="9542159" cy="405880"/>
              </a:xfrm>
              <a:prstGeom prst="rect">
                <a:avLst/>
              </a:prstGeom>
              <a:blipFill>
                <a:blip r:embed="rId3"/>
                <a:stretch>
                  <a:fillRect/>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1FC0FE88-742C-0F72-590B-1C8A6F197B8B}"/>
              </a:ext>
            </a:extLst>
          </p:cNvPr>
          <p:cNvSpPr txBox="1"/>
          <p:nvPr/>
        </p:nvSpPr>
        <p:spPr>
          <a:xfrm>
            <a:off x="792480" y="2343440"/>
            <a:ext cx="10074809" cy="369332"/>
          </a:xfrm>
          <a:prstGeom prst="rect">
            <a:avLst/>
          </a:prstGeom>
          <a:noFill/>
        </p:spPr>
        <p:txBody>
          <a:bodyPr wrap="square">
            <a:spAutoFit/>
          </a:bodyPr>
          <a:lstStyle/>
          <a:p>
            <a:r>
              <a:rPr lang="zh-CN" altLang="en-US" b="0" i="0" dirty="0">
                <a:solidFill>
                  <a:srgbClr val="191B1F"/>
                </a:solidFill>
                <a:effectLst/>
                <a:latin typeface="-apple-system"/>
              </a:rPr>
              <a:t>（</a:t>
            </a:r>
            <a:r>
              <a:rPr lang="en-US" altLang="zh-CN" b="0" i="0" dirty="0">
                <a:solidFill>
                  <a:srgbClr val="191B1F"/>
                </a:solidFill>
                <a:effectLst/>
                <a:latin typeface="-apple-system"/>
              </a:rPr>
              <a:t>2</a:t>
            </a:r>
            <a:r>
              <a:rPr lang="zh-CN" altLang="en-US" b="0" i="0" dirty="0">
                <a:solidFill>
                  <a:srgbClr val="191B1F"/>
                </a:solidFill>
                <a:effectLst/>
                <a:latin typeface="-apple-system"/>
              </a:rPr>
              <a:t>）根据萤火虫的位置计算出每个萤火虫的适应度值，适应度值越优的萤火虫亮度越高。</a:t>
            </a:r>
            <a:endParaRPr lang="zh-CN" altLang="en-US" dirty="0"/>
          </a:p>
        </p:txBody>
      </p:sp>
      <p:sp>
        <p:nvSpPr>
          <p:cNvPr id="18" name="文本框 17">
            <a:extLst>
              <a:ext uri="{FF2B5EF4-FFF2-40B4-BE49-F238E27FC236}">
                <a16:creationId xmlns:a16="http://schemas.microsoft.com/office/drawing/2014/main" id="{CEFD1D90-8D35-E58A-ADF4-0DF3C2861940}"/>
              </a:ext>
            </a:extLst>
          </p:cNvPr>
          <p:cNvSpPr txBox="1"/>
          <p:nvPr/>
        </p:nvSpPr>
        <p:spPr>
          <a:xfrm>
            <a:off x="792479" y="2948180"/>
            <a:ext cx="10074811" cy="646331"/>
          </a:xfrm>
          <a:prstGeom prst="rect">
            <a:avLst/>
          </a:prstGeom>
          <a:noFill/>
        </p:spPr>
        <p:txBody>
          <a:bodyPr wrap="square">
            <a:spAutoFit/>
          </a:bodyPr>
          <a:lstStyle/>
          <a:p>
            <a:r>
              <a:rPr lang="zh-CN" altLang="en-US" b="0" i="0" dirty="0">
                <a:solidFill>
                  <a:srgbClr val="191B1F"/>
                </a:solidFill>
                <a:effectLst/>
                <a:latin typeface="-apple-system"/>
              </a:rPr>
              <a:t>（</a:t>
            </a:r>
            <a:r>
              <a:rPr lang="en-US" altLang="zh-CN" b="0" i="0" dirty="0">
                <a:solidFill>
                  <a:srgbClr val="191B1F"/>
                </a:solidFill>
                <a:effectLst/>
                <a:latin typeface="-apple-system"/>
              </a:rPr>
              <a:t>3</a:t>
            </a:r>
            <a:r>
              <a:rPr lang="zh-CN" altLang="en-US" b="0" i="0" dirty="0">
                <a:solidFill>
                  <a:srgbClr val="191B1F"/>
                </a:solidFill>
                <a:effectLst/>
                <a:latin typeface="-apple-system"/>
              </a:rPr>
              <a:t>）每个萤火虫将根据式</a:t>
            </a:r>
            <a:r>
              <a:rPr lang="en-US" altLang="zh-CN" dirty="0">
                <a:solidFill>
                  <a:srgbClr val="191B1F"/>
                </a:solidFill>
                <a:latin typeface="-apple-system"/>
              </a:rPr>
              <a:t>(2.3)</a:t>
            </a:r>
            <a:r>
              <a:rPr lang="zh-CN" altLang="en-US" b="0" i="0" dirty="0">
                <a:solidFill>
                  <a:srgbClr val="191B1F"/>
                </a:solidFill>
                <a:effectLst/>
                <a:latin typeface="-apple-system"/>
              </a:rPr>
              <a:t>向所有比自己亮度高的萤火虫飞行其中第 </a:t>
            </a:r>
            <a:r>
              <a:rPr lang="en-US" altLang="zh-CN" b="0" i="0" dirty="0">
                <a:solidFill>
                  <a:srgbClr val="191B1F"/>
                </a:solidFill>
                <a:effectLst/>
                <a:latin typeface="-apple-system"/>
              </a:rPr>
              <a:t>t </a:t>
            </a:r>
            <a:r>
              <a:rPr lang="zh-CN" altLang="en-US" b="0" i="0" dirty="0">
                <a:solidFill>
                  <a:srgbClr val="191B1F"/>
                </a:solidFill>
                <a:effectLst/>
                <a:latin typeface="-apple-system"/>
              </a:rPr>
              <a:t>代时萤火虫飞行的步长公式如 </a:t>
            </a:r>
            <a:r>
              <a:rPr lang="en-US" altLang="zh-CN" b="0" i="0" dirty="0">
                <a:solidFill>
                  <a:srgbClr val="191B1F"/>
                </a:solidFill>
                <a:effectLst/>
                <a:latin typeface="-apple-system"/>
              </a:rPr>
              <a:t>(2.5)</a:t>
            </a:r>
            <a:r>
              <a:rPr lang="zh-CN" altLang="en-US" b="0" i="0" dirty="0">
                <a:solidFill>
                  <a:srgbClr val="191B1F"/>
                </a:solidFill>
                <a:effectLst/>
                <a:latin typeface="-apple-system"/>
              </a:rPr>
              <a:t>：</a:t>
            </a:r>
            <a:endParaRPr lang="zh-CN" altLang="en-US" dirty="0"/>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E365951-69C3-677B-3DC4-55D5A52E91DF}"/>
                  </a:ext>
                </a:extLst>
              </p:cNvPr>
              <p:cNvSpPr txBox="1"/>
              <p:nvPr/>
            </p:nvSpPr>
            <p:spPr>
              <a:xfrm>
                <a:off x="1107162" y="3458888"/>
                <a:ext cx="9542159" cy="360099"/>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eqArr>
                        <m:eqArrPr>
                          <m:ctrlPr>
                            <a:rPr lang="en-US" altLang="zh-CN" i="1" smtClean="0">
                              <a:latin typeface="Cambria Math" panose="02040503050406030204" pitchFamily="18" charset="0"/>
                            </a:rPr>
                          </m:ctrlPr>
                        </m:eqArrPr>
                        <m:e>
                          <m:r>
                            <a:rPr lang="en-US" altLang="zh-CN" i="1">
                              <a:latin typeface="Cambria Math" panose="02040503050406030204" pitchFamily="18" charset="0"/>
                            </a:rPr>
                            <m:t>𝛼</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𝛼</m:t>
                              </m:r>
                            </m:e>
                            <m:sup>
                              <m:r>
                                <a:rPr lang="en-US" altLang="zh-CN" i="1" smtClean="0">
                                  <a:latin typeface="Cambria Math" panose="02040503050406030204" pitchFamily="18" charset="0"/>
                                </a:rPr>
                                <m:t>𝑡</m:t>
                              </m:r>
                            </m:sup>
                          </m:sSup>
                          <m:r>
                            <a:rPr lang="en-US" altLang="zh-CN" i="1">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2.5</m:t>
                              </m:r>
                            </m:e>
                          </m:d>
                        </m:e>
                      </m:eqArr>
                    </m:oMath>
                  </m:oMathPara>
                </a14:m>
                <a:endParaRPr dirty="0"/>
              </a:p>
            </p:txBody>
          </p:sp>
        </mc:Choice>
        <mc:Fallback xmlns="">
          <p:sp>
            <p:nvSpPr>
              <p:cNvPr id="19" name="文本框 18">
                <a:extLst>
                  <a:ext uri="{FF2B5EF4-FFF2-40B4-BE49-F238E27FC236}">
                    <a16:creationId xmlns:a16="http://schemas.microsoft.com/office/drawing/2014/main" id="{1E365951-69C3-677B-3DC4-55D5A52E91DF}"/>
                  </a:ext>
                </a:extLst>
              </p:cNvPr>
              <p:cNvSpPr txBox="1">
                <a:spLocks noRot="1" noChangeAspect="1" noMove="1" noResize="1" noEditPoints="1" noAdjustHandles="1" noChangeArrowheads="1" noChangeShapeType="1" noTextEdit="1"/>
              </p:cNvSpPr>
              <p:nvPr/>
            </p:nvSpPr>
            <p:spPr>
              <a:xfrm>
                <a:off x="1107162" y="3458888"/>
                <a:ext cx="9542159" cy="360099"/>
              </a:xfrm>
              <a:prstGeom prst="rect">
                <a:avLst/>
              </a:prstGeom>
              <a:blipFill>
                <a:blip r:embed="rId4"/>
                <a:stretch>
                  <a:fillRect/>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DCD46A1C-0819-3019-315D-22D545C3394C}"/>
              </a:ext>
            </a:extLst>
          </p:cNvPr>
          <p:cNvSpPr txBox="1"/>
          <p:nvPr/>
        </p:nvSpPr>
        <p:spPr>
          <a:xfrm>
            <a:off x="792479" y="3818987"/>
            <a:ext cx="10074812" cy="646331"/>
          </a:xfrm>
          <a:prstGeom prst="rect">
            <a:avLst/>
          </a:prstGeom>
          <a:noFill/>
        </p:spPr>
        <p:txBody>
          <a:bodyPr wrap="square">
            <a:spAutoFit/>
          </a:bodyPr>
          <a:lstStyle/>
          <a:p>
            <a:r>
              <a:rPr lang="en-US" altLang="zh-CN" dirty="0">
                <a:solidFill>
                  <a:srgbClr val="191B1F"/>
                </a:solidFill>
                <a:latin typeface="-apple-system"/>
              </a:rPr>
              <a:t>           </a:t>
            </a:r>
            <a:r>
              <a:rPr lang="zh-CN" altLang="en-US" b="0" i="0" dirty="0">
                <a:solidFill>
                  <a:srgbClr val="191B1F"/>
                </a:solidFill>
                <a:effectLst/>
                <a:latin typeface="-apple-system"/>
              </a:rPr>
              <a:t>由于所有个体只会向比自己亮度高的个体飞行，那么群体中亮度最高的个体将不会更新其位置。本文中群体中亮度最大的个体将按照以下公式</a:t>
            </a:r>
            <a:r>
              <a:rPr lang="en-US" altLang="zh-CN" b="0" i="0" dirty="0">
                <a:solidFill>
                  <a:srgbClr val="191B1F"/>
                </a:solidFill>
                <a:effectLst/>
                <a:latin typeface="-apple-system"/>
              </a:rPr>
              <a:t>(2.6)</a:t>
            </a:r>
            <a:r>
              <a:rPr lang="zh-CN" altLang="en-US" b="0" i="0" dirty="0">
                <a:solidFill>
                  <a:srgbClr val="191B1F"/>
                </a:solidFill>
                <a:effectLst/>
                <a:latin typeface="-apple-system"/>
              </a:rPr>
              <a:t>来更新自己的位置。</a:t>
            </a:r>
            <a:endParaRPr lang="zh-CN" altLang="en-US" dirty="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24047612-5232-C4CE-3A5D-40EFD08A4AC6}"/>
                  </a:ext>
                </a:extLst>
              </p:cNvPr>
              <p:cNvSpPr txBox="1"/>
              <p:nvPr/>
            </p:nvSpPr>
            <p:spPr>
              <a:xfrm>
                <a:off x="1107162" y="4465318"/>
                <a:ext cx="9542159" cy="412421"/>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eqArr>
                        <m:eqArrPr>
                          <m:ctrlPr>
                            <a:rPr lang="en-US" altLang="zh-CN" i="1" dirty="0" smtClean="0">
                              <a:latin typeface="Cambria Math" panose="02040503050406030204" pitchFamily="18" charset="0"/>
                            </a:rPr>
                          </m:ctrlPr>
                        </m:eqArrPr>
                        <m:e>
                          <m:sSubSup>
                            <m:sSubSupPr>
                              <m:ctrlPr>
                                <a:rPr lang="en-US" altLang="zh-CN" i="1" dirty="0" smtClean="0">
                                  <a:latin typeface="Cambria Math" panose="02040503050406030204" pitchFamily="18" charset="0"/>
                                </a:rPr>
                              </m:ctrlPr>
                            </m:sSubSupPr>
                            <m:e>
                              <m:r>
                                <m:rPr>
                                  <m:sty m:val="p"/>
                                  <m:brk/>
                                </m:rPr>
                                <a:rPr lang="en-US" altLang="zh-CN" i="0" dirty="0" smtClean="0">
                                  <a:latin typeface="Cambria Math" panose="02040503050406030204" pitchFamily="18" charset="0"/>
                                </a:rPr>
                                <m:t>X</m:t>
                              </m:r>
                            </m:e>
                            <m:sub>
                              <m:r>
                                <m:rPr>
                                  <m:sty m:val="p"/>
                                  <m:brk/>
                                </m:rPr>
                                <a:rPr lang="en-US" altLang="zh-CN" i="0" dirty="0">
                                  <a:latin typeface="Cambria Math" panose="02040503050406030204" pitchFamily="18" charset="0"/>
                                </a:rPr>
                                <m:t>j</m:t>
                              </m:r>
                            </m:sub>
                            <m:sup>
                              <m:r>
                                <m:rPr>
                                  <m:brk/>
                                </m:rPr>
                                <a:rPr lang="en-US" altLang="zh-CN" i="0" dirty="0">
                                  <a:latin typeface="Cambria Math" panose="02040503050406030204" pitchFamily="18" charset="0"/>
                                </a:rPr>
                                <m:t>,</m:t>
                              </m:r>
                            </m:sup>
                          </m:sSubSup>
                          <m:r>
                            <a:rPr lang="en-US" altLang="zh-CN" i="0" dirty="0">
                              <a:latin typeface="Cambria Math" panose="02040503050406030204" pitchFamily="18" charset="0"/>
                            </a:rPr>
                            <m:t>=</m:t>
                          </m:r>
                          <m:sSub>
                            <m:sSubPr>
                              <m:ctrlPr>
                                <a:rPr lang="en-US" altLang="zh-CN" i="1" dirty="0">
                                  <a:latin typeface="Cambria Math" panose="02040503050406030204" pitchFamily="18" charset="0"/>
                                </a:rPr>
                              </m:ctrlPr>
                            </m:sSubPr>
                            <m:e>
                              <m:r>
                                <m:rPr>
                                  <m:sty m:val="p"/>
                                  <m:brk/>
                                </m:rPr>
                                <a:rPr lang="en-US" altLang="zh-CN" i="0" dirty="0">
                                  <a:latin typeface="Cambria Math" panose="02040503050406030204" pitchFamily="18" charset="0"/>
                                </a:rPr>
                                <m:t>X</m:t>
                              </m:r>
                            </m:e>
                            <m:sub>
                              <m:r>
                                <m:rPr>
                                  <m:sty m:val="p"/>
                                  <m:brk/>
                                </m:rPr>
                                <a:rPr lang="en-US" altLang="zh-CN" i="0" dirty="0">
                                  <a:latin typeface="Cambria Math" panose="02040503050406030204" pitchFamily="18" charset="0"/>
                                </a:rPr>
                                <m:t>i</m:t>
                              </m:r>
                            </m:sub>
                          </m:sSub>
                          <m:r>
                            <a:rPr lang="en-US" altLang="zh-CN" i="0" dirty="0">
                              <a:latin typeface="Cambria Math" panose="02040503050406030204" pitchFamily="18" charset="0"/>
                            </a:rPr>
                            <m:t>+</m:t>
                          </m:r>
                          <m:r>
                            <m:rPr>
                              <m:sty m:val="p"/>
                            </m:rPr>
                            <a:rPr lang="en-US" altLang="zh-CN" i="0" dirty="0">
                              <a:latin typeface="Cambria Math" panose="02040503050406030204" pitchFamily="18" charset="0"/>
                            </a:rPr>
                            <m:t>α</m:t>
                          </m:r>
                          <m:r>
                            <a:rPr lang="en-US" altLang="zh-CN" i="0" dirty="0">
                              <a:latin typeface="Cambria Math" panose="02040503050406030204" pitchFamily="18" charset="0"/>
                            </a:rPr>
                            <m:t>∗</m:t>
                          </m:r>
                          <m:r>
                            <m:rPr>
                              <m:sty m:val="p"/>
                            </m:rPr>
                            <a:rPr lang="en-US" altLang="zh-CN" b="0" i="0" dirty="0" smtClean="0">
                              <a:latin typeface="Cambria Math" panose="02040503050406030204" pitchFamily="18" charset="0"/>
                            </a:rPr>
                            <m:t>Guass</m:t>
                          </m:r>
                          <m:r>
                            <a:rPr lang="en-US" altLang="zh-CN" b="0" i="0" dirty="0" smtClean="0">
                              <a:latin typeface="Cambria Math" panose="02040503050406030204" pitchFamily="18" charset="0"/>
                            </a:rPr>
                            <m:t>∗</m:t>
                          </m:r>
                          <m:r>
                            <m:rPr>
                              <m:sty m:val="p"/>
                            </m:rPr>
                            <a:rPr lang="en-US" altLang="zh-CN" i="0" dirty="0">
                              <a:latin typeface="Cambria Math" panose="02040503050406030204" pitchFamily="18" charset="0"/>
                            </a:rPr>
                            <m:t>rand</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0" dirty="0">
                                  <a:latin typeface="Cambria Math" panose="02040503050406030204" pitchFamily="18" charset="0"/>
                                </a:rPr>
                                <m:t>2.</m:t>
                              </m:r>
                              <m:r>
                                <a:rPr lang="en-US" altLang="zh-CN" b="0" i="0" dirty="0" smtClean="0">
                                  <a:latin typeface="Cambria Math" panose="02040503050406030204" pitchFamily="18" charset="0"/>
                                </a:rPr>
                                <m:t>6</m:t>
                              </m:r>
                            </m:e>
                          </m:d>
                        </m:e>
                      </m:eqArr>
                    </m:oMath>
                  </m:oMathPara>
                </a14:m>
                <a:endParaRPr/>
              </a:p>
            </p:txBody>
          </p:sp>
        </mc:Choice>
        <mc:Fallback xmlns="">
          <p:sp>
            <p:nvSpPr>
              <p:cNvPr id="22" name="文本框 21">
                <a:extLst>
                  <a:ext uri="{FF2B5EF4-FFF2-40B4-BE49-F238E27FC236}">
                    <a16:creationId xmlns:a16="http://schemas.microsoft.com/office/drawing/2014/main" id="{24047612-5232-C4CE-3A5D-40EFD08A4AC6}"/>
                  </a:ext>
                </a:extLst>
              </p:cNvPr>
              <p:cNvSpPr txBox="1">
                <a:spLocks noRot="1" noChangeAspect="1" noMove="1" noResize="1" noEditPoints="1" noAdjustHandles="1" noChangeArrowheads="1" noChangeShapeType="1" noTextEdit="1"/>
              </p:cNvSpPr>
              <p:nvPr/>
            </p:nvSpPr>
            <p:spPr>
              <a:xfrm>
                <a:off x="1107162" y="4465318"/>
                <a:ext cx="9542159" cy="41242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3A588926-5F94-9218-04CF-B2C8EA5C1BF2}"/>
                  </a:ext>
                </a:extLst>
              </p:cNvPr>
              <p:cNvSpPr txBox="1"/>
              <p:nvPr/>
            </p:nvSpPr>
            <p:spPr>
              <a:xfrm>
                <a:off x="792478" y="4864594"/>
                <a:ext cx="10074813" cy="646331"/>
              </a:xfrm>
              <a:prstGeom prst="rect">
                <a:avLst/>
              </a:prstGeom>
              <a:noFill/>
            </p:spPr>
            <p:txBody>
              <a:bodyPr wrap="square">
                <a:spAutoFit/>
              </a:bodyPr>
              <a:lstStyle/>
              <a:p>
                <a:r>
                  <a:rPr lang="zh-CN" altLang="en-US" b="0" i="0" dirty="0">
                    <a:solidFill>
                      <a:srgbClr val="191B1F"/>
                    </a:solidFill>
                    <a:effectLst/>
                    <a:latin typeface="-apple-system"/>
                  </a:rPr>
                  <a:t>（</a:t>
                </a:r>
                <a:r>
                  <a:rPr lang="en-US" altLang="zh-CN" b="0" i="0" dirty="0">
                    <a:solidFill>
                      <a:srgbClr val="191B1F"/>
                    </a:solidFill>
                    <a:effectLst/>
                    <a:latin typeface="-apple-system"/>
                  </a:rPr>
                  <a:t>4</a:t>
                </a:r>
                <a:r>
                  <a:rPr lang="zh-CN" altLang="en-US" b="0" i="0" dirty="0">
                    <a:solidFill>
                      <a:srgbClr val="191B1F"/>
                    </a:solidFill>
                    <a:effectLst/>
                    <a:latin typeface="-apple-system"/>
                  </a:rPr>
                  <a:t>）计算在萤火虫向所有比自己亮度高的其它个体飞行后所到的</a:t>
                </a:r>
                <a14:m>
                  <m:oMath xmlns:m="http://schemas.openxmlformats.org/officeDocument/2006/math">
                    <a:fld id="{825F15A7-03F4-43D7-82C5-3E23DA2F108C}" type="mathplaceholder">
                      <a:rPr lang="zh-CN" altLang="en-US" b="0" i="0" smtClean="0">
                        <a:solidFill>
                          <a:srgbClr val="191B1F"/>
                        </a:solidFill>
                        <a:effectLst/>
                        <a:latin typeface="Cambria Math" panose="02040503050406030204" pitchFamily="18" charset="0"/>
                      </a:rPr>
                      <a:t>在此处键入公式。</a:t>
                    </a:fld>
                  </m:oMath>
                </a14:m>
                <a:r>
                  <a:rPr lang="zh-CN" altLang="en-US" b="0" i="0" dirty="0">
                    <a:solidFill>
                      <a:srgbClr val="191B1F"/>
                    </a:solidFill>
                    <a:effectLst/>
                    <a:latin typeface="-apple-system"/>
                  </a:rPr>
                  <a:t>位置的适应度值，若该位置优于飞行之前的位置，则该萤火虫将飞行到新的位置，否则萤火虫将停留在原处。</a:t>
                </a:r>
                <a:endParaRPr lang="zh-CN" altLang="en-US" dirty="0"/>
              </a:p>
            </p:txBody>
          </p:sp>
        </mc:Choice>
        <mc:Fallback xmlns="">
          <p:sp>
            <p:nvSpPr>
              <p:cNvPr id="24" name="文本框 23">
                <a:extLst>
                  <a:ext uri="{FF2B5EF4-FFF2-40B4-BE49-F238E27FC236}">
                    <a16:creationId xmlns:a16="http://schemas.microsoft.com/office/drawing/2014/main" id="{3A588926-5F94-9218-04CF-B2C8EA5C1BF2}"/>
                  </a:ext>
                </a:extLst>
              </p:cNvPr>
              <p:cNvSpPr txBox="1">
                <a:spLocks noRot="1" noChangeAspect="1" noMove="1" noResize="1" noEditPoints="1" noAdjustHandles="1" noChangeArrowheads="1" noChangeShapeType="1" noTextEdit="1"/>
              </p:cNvSpPr>
              <p:nvPr/>
            </p:nvSpPr>
            <p:spPr>
              <a:xfrm>
                <a:off x="792478" y="4864594"/>
                <a:ext cx="10074813" cy="646331"/>
              </a:xfrm>
              <a:prstGeom prst="rect">
                <a:avLst/>
              </a:prstGeom>
              <a:blipFill>
                <a:blip r:embed="rId6"/>
                <a:stretch>
                  <a:fillRect l="-484" t="-6604" b="-14151"/>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EB5910D0-8613-8DBC-F4D5-D437756970AA}"/>
              </a:ext>
            </a:extLst>
          </p:cNvPr>
          <p:cNvSpPr txBox="1"/>
          <p:nvPr/>
        </p:nvSpPr>
        <p:spPr>
          <a:xfrm>
            <a:off x="792478" y="5615490"/>
            <a:ext cx="10074814" cy="369332"/>
          </a:xfrm>
          <a:prstGeom prst="rect">
            <a:avLst/>
          </a:prstGeom>
          <a:noFill/>
        </p:spPr>
        <p:txBody>
          <a:bodyPr wrap="square">
            <a:spAutoFit/>
          </a:bodyPr>
          <a:lstStyle/>
          <a:p>
            <a:r>
              <a:rPr lang="zh-CN" altLang="en-US" b="0" i="0" dirty="0">
                <a:solidFill>
                  <a:srgbClr val="191B1F"/>
                </a:solidFill>
                <a:effectLst/>
                <a:latin typeface="-apple-system"/>
              </a:rPr>
              <a:t>（</a:t>
            </a:r>
            <a:r>
              <a:rPr lang="en-US" altLang="zh-CN" b="0" i="0" dirty="0">
                <a:solidFill>
                  <a:srgbClr val="191B1F"/>
                </a:solidFill>
                <a:effectLst/>
                <a:latin typeface="-apple-system"/>
              </a:rPr>
              <a:t>5</a:t>
            </a:r>
            <a:r>
              <a:rPr lang="zh-CN" altLang="en-US" b="0" i="0" dirty="0">
                <a:solidFill>
                  <a:srgbClr val="191B1F"/>
                </a:solidFill>
                <a:effectLst/>
                <a:latin typeface="-apple-system"/>
              </a:rPr>
              <a:t>）若算法到达最大迭代次数则将搜索到的最优的萤火虫的位置作为解输出，否则将跳到步骤</a:t>
            </a:r>
            <a:r>
              <a:rPr lang="en-US" altLang="zh-CN" b="0" i="0" dirty="0">
                <a:solidFill>
                  <a:srgbClr val="191B1F"/>
                </a:solidFill>
                <a:effectLst/>
                <a:latin typeface="-apple-system"/>
              </a:rPr>
              <a:t>(2)</a:t>
            </a:r>
            <a:r>
              <a:rPr lang="zh-CN" altLang="en-US" b="0" i="0" dirty="0">
                <a:solidFill>
                  <a:srgbClr val="191B1F"/>
                </a:solidFill>
                <a:effectLst/>
                <a:latin typeface="-apple-system"/>
              </a:rPr>
              <a:t>。</a:t>
            </a:r>
            <a:endParaRPr lang="zh-CN" altLang="en-US" dirty="0"/>
          </a:p>
        </p:txBody>
      </p:sp>
    </p:spTree>
    <p:extLst>
      <p:ext uri="{BB962C8B-B14F-4D97-AF65-F5344CB8AC3E}">
        <p14:creationId xmlns:p14="http://schemas.microsoft.com/office/powerpoint/2010/main" val="3761219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DACCF-9537-9FD8-D552-5B5F24A0036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6AF9056-A054-6E46-829E-320D0CFDE39C}"/>
              </a:ext>
            </a:extLst>
          </p:cNvPr>
          <p:cNvSpPr>
            <a:spLocks noGrp="1"/>
          </p:cNvSpPr>
          <p:nvPr>
            <p:ph type="title"/>
          </p:nvPr>
        </p:nvSpPr>
        <p:spPr/>
        <p:txBody>
          <a:bodyPr/>
          <a:lstStyle/>
          <a:p>
            <a:r>
              <a:rPr lang="en-US" altLang="zh-CN" dirty="0"/>
              <a:t>2.2 </a:t>
            </a:r>
            <a:r>
              <a:rPr lang="zh-CN" altLang="en-US" dirty="0"/>
              <a:t>算法流程</a:t>
            </a:r>
          </a:p>
        </p:txBody>
      </p:sp>
      <p:pic>
        <p:nvPicPr>
          <p:cNvPr id="8" name="图片 7">
            <a:extLst>
              <a:ext uri="{FF2B5EF4-FFF2-40B4-BE49-F238E27FC236}">
                <a16:creationId xmlns:a16="http://schemas.microsoft.com/office/drawing/2014/main" id="{832B1E65-CE56-559D-0F3F-866B2A8D7E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008" y="1354015"/>
            <a:ext cx="2590800" cy="3886200"/>
          </a:xfrm>
          <a:prstGeom prst="rect">
            <a:avLst/>
          </a:prstGeom>
        </p:spPr>
      </p:pic>
      <p:pic>
        <p:nvPicPr>
          <p:cNvPr id="10" name="图片 9">
            <a:extLst>
              <a:ext uri="{FF2B5EF4-FFF2-40B4-BE49-F238E27FC236}">
                <a16:creationId xmlns:a16="http://schemas.microsoft.com/office/drawing/2014/main" id="{CEB95B40-EDA8-41F0-C46C-B450277D5D4B}"/>
              </a:ext>
            </a:extLst>
          </p:cNvPr>
          <p:cNvPicPr>
            <a:picLocks noChangeAspect="1"/>
          </p:cNvPicPr>
          <p:nvPr/>
        </p:nvPicPr>
        <p:blipFill>
          <a:blip r:embed="rId3"/>
          <a:stretch>
            <a:fillRect/>
          </a:stretch>
        </p:blipFill>
        <p:spPr>
          <a:xfrm>
            <a:off x="5615355" y="1354016"/>
            <a:ext cx="4071912" cy="3886200"/>
          </a:xfrm>
          <a:prstGeom prst="rect">
            <a:avLst/>
          </a:prstGeom>
        </p:spPr>
      </p:pic>
      <p:sp>
        <p:nvSpPr>
          <p:cNvPr id="11" name="文本框 10">
            <a:extLst>
              <a:ext uri="{FF2B5EF4-FFF2-40B4-BE49-F238E27FC236}">
                <a16:creationId xmlns:a16="http://schemas.microsoft.com/office/drawing/2014/main" id="{B48AC563-36B9-6470-4D11-7BBD58EF3AAF}"/>
              </a:ext>
            </a:extLst>
          </p:cNvPr>
          <p:cNvSpPr txBox="1"/>
          <p:nvPr/>
        </p:nvSpPr>
        <p:spPr>
          <a:xfrm>
            <a:off x="774310" y="5373988"/>
            <a:ext cx="3920196" cy="418256"/>
          </a:xfrm>
          <a:prstGeom prst="rect">
            <a:avLst/>
          </a:prstGeom>
          <a:noFill/>
        </p:spPr>
        <p:txBody>
          <a:bodyPr wrap="square" rtlCol="0">
            <a:spAutoFit/>
          </a:bodyPr>
          <a:lstStyle/>
          <a:p>
            <a:pPr algn="ctr">
              <a:lnSpc>
                <a:spcPct val="130000"/>
              </a:lnSpc>
            </a:pPr>
            <a:r>
              <a:rPr lang="zh-CN" altLang="en-US" dirty="0"/>
              <a:t>萤火虫算法流程图</a:t>
            </a:r>
          </a:p>
        </p:txBody>
      </p:sp>
      <p:sp>
        <p:nvSpPr>
          <p:cNvPr id="12" name="文本框 11">
            <a:extLst>
              <a:ext uri="{FF2B5EF4-FFF2-40B4-BE49-F238E27FC236}">
                <a16:creationId xmlns:a16="http://schemas.microsoft.com/office/drawing/2014/main" id="{B1CFE7DE-262E-B88A-2BF9-44A4D30F8980}"/>
              </a:ext>
            </a:extLst>
          </p:cNvPr>
          <p:cNvSpPr txBox="1"/>
          <p:nvPr/>
        </p:nvSpPr>
        <p:spPr>
          <a:xfrm>
            <a:off x="5691213" y="5294877"/>
            <a:ext cx="3920196" cy="418256"/>
          </a:xfrm>
          <a:prstGeom prst="rect">
            <a:avLst/>
          </a:prstGeom>
          <a:noFill/>
        </p:spPr>
        <p:txBody>
          <a:bodyPr wrap="square" rtlCol="0">
            <a:spAutoFit/>
          </a:bodyPr>
          <a:lstStyle/>
          <a:p>
            <a:pPr algn="ctr">
              <a:lnSpc>
                <a:spcPct val="130000"/>
              </a:lnSpc>
            </a:pPr>
            <a:r>
              <a:rPr lang="zh-CN" altLang="en-US" dirty="0"/>
              <a:t>萤火虫算法伪代码</a:t>
            </a:r>
          </a:p>
        </p:txBody>
      </p:sp>
    </p:spTree>
    <p:extLst>
      <p:ext uri="{BB962C8B-B14F-4D97-AF65-F5344CB8AC3E}">
        <p14:creationId xmlns:p14="http://schemas.microsoft.com/office/powerpoint/2010/main" val="982886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03</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算法优点</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Advantage</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萤火虫算法</a:t>
            </a:r>
            <a:r>
              <a:rPr lang="en-US" altLang="zh-CN" dirty="0"/>
              <a:t>-</a:t>
            </a:r>
            <a:r>
              <a:rPr lang="zh-CN" altLang="en-US" dirty="0"/>
              <a:t>算法优点</a:t>
            </a:r>
          </a:p>
        </p:txBody>
      </p:sp>
      <p:sp>
        <p:nvSpPr>
          <p:cNvPr id="7" name="矩形 6">
            <a:extLst>
              <a:ext uri="{FF2B5EF4-FFF2-40B4-BE49-F238E27FC236}">
                <a16:creationId xmlns:a16="http://schemas.microsoft.com/office/drawing/2014/main" id="{D820D1AB-7AB0-46B9-A544-5A22C9D2AD6A}"/>
              </a:ext>
            </a:extLst>
          </p:cNvPr>
          <p:cNvSpPr/>
          <p:nvPr/>
        </p:nvSpPr>
        <p:spPr>
          <a:xfrm>
            <a:off x="106934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782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4943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7910B-EA48-E530-0C4B-CDD8CF0D4A6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2A8B575-FCF1-B4B8-8FE8-5A3914CC482D}"/>
              </a:ext>
            </a:extLst>
          </p:cNvPr>
          <p:cNvSpPr>
            <a:spLocks noGrp="1"/>
          </p:cNvSpPr>
          <p:nvPr>
            <p:ph type="title"/>
          </p:nvPr>
        </p:nvSpPr>
        <p:spPr/>
        <p:txBody>
          <a:bodyPr/>
          <a:lstStyle/>
          <a:p>
            <a:r>
              <a:rPr lang="en-US" altLang="zh-CN" dirty="0"/>
              <a:t>3 </a:t>
            </a:r>
            <a:r>
              <a:rPr lang="zh-CN" altLang="en-US" dirty="0"/>
              <a:t>算法优点</a:t>
            </a:r>
          </a:p>
        </p:txBody>
      </p:sp>
      <p:sp>
        <p:nvSpPr>
          <p:cNvPr id="3" name="文本框 2">
            <a:extLst>
              <a:ext uri="{FF2B5EF4-FFF2-40B4-BE49-F238E27FC236}">
                <a16:creationId xmlns:a16="http://schemas.microsoft.com/office/drawing/2014/main" id="{DF9E649D-D062-902F-44D1-9FCDB8A51E1D}"/>
              </a:ext>
            </a:extLst>
          </p:cNvPr>
          <p:cNvSpPr txBox="1"/>
          <p:nvPr/>
        </p:nvSpPr>
        <p:spPr>
          <a:xfrm>
            <a:off x="549465" y="1219918"/>
            <a:ext cx="5546535" cy="5456045"/>
          </a:xfrm>
          <a:prstGeom prst="rect">
            <a:avLst/>
          </a:prstGeom>
          <a:noFill/>
        </p:spPr>
        <p:txBody>
          <a:bodyPr wrap="square" rtlCol="0">
            <a:spAutoFit/>
          </a:bodyPr>
          <a:lstStyle/>
          <a:p>
            <a:pPr>
              <a:lnSpc>
                <a:spcPct val="130000"/>
              </a:lnSpc>
            </a:pPr>
            <a:r>
              <a:rPr lang="en-US" altLang="zh-CN" b="1" dirty="0"/>
              <a:t>1. </a:t>
            </a:r>
            <a:r>
              <a:rPr lang="zh-CN" altLang="en-US" b="1" dirty="0"/>
              <a:t>自动分群与多模态处理能力 </a:t>
            </a:r>
            <a:r>
              <a:rPr lang="en-US" altLang="zh-CN" b="1" dirty="0"/>
              <a:t>(Automatic Subdivision)</a:t>
            </a:r>
          </a:p>
          <a:p>
            <a:pPr>
              <a:lnSpc>
                <a:spcPct val="130000"/>
              </a:lnSpc>
            </a:pPr>
            <a:r>
              <a:rPr lang="en-US" altLang="zh-CN" b="1" dirty="0"/>
              <a:t>	</a:t>
            </a:r>
          </a:p>
          <a:p>
            <a:pPr marL="285750" indent="-285750">
              <a:lnSpc>
                <a:spcPct val="130000"/>
              </a:lnSpc>
              <a:buFont typeface="Arial" panose="020B0604020202020204" pitchFamily="34" charset="0"/>
              <a:buChar char="•"/>
            </a:pPr>
            <a:r>
              <a:rPr lang="zh-CN" altLang="en-US" b="1" dirty="0"/>
              <a:t>核心点：</a:t>
            </a:r>
            <a:r>
              <a:rPr lang="zh-CN" altLang="en-US" dirty="0"/>
              <a:t> 算法具有自动将种群分成子群的能力。</a:t>
            </a:r>
            <a:endParaRPr lang="en-US" altLang="zh-CN" dirty="0"/>
          </a:p>
          <a:p>
            <a:pPr marL="285750" indent="-285750">
              <a:lnSpc>
                <a:spcPct val="130000"/>
              </a:lnSpc>
              <a:buFont typeface="Arial" panose="020B0604020202020204" pitchFamily="34" charset="0"/>
              <a:buChar char="•"/>
            </a:pPr>
            <a:r>
              <a:rPr lang="zh-CN" altLang="en-US" b="1" dirty="0"/>
              <a:t>优势：</a:t>
            </a:r>
            <a:r>
              <a:rPr lang="zh-CN" altLang="en-US" dirty="0"/>
              <a:t> 非常适合解决</a:t>
            </a:r>
            <a:r>
              <a:rPr lang="zh-CN" altLang="en-US" b="1" dirty="0">
                <a:solidFill>
                  <a:srgbClr val="FF0000"/>
                </a:solidFill>
              </a:rPr>
              <a:t>多模态优化问题</a:t>
            </a:r>
            <a:r>
              <a:rPr lang="zh-CN" altLang="en-US" dirty="0">
                <a:solidFill>
                  <a:srgbClr val="FF0000"/>
                </a:solidFill>
              </a:rPr>
              <a:t> </a:t>
            </a:r>
            <a:r>
              <a:rPr lang="en-US" altLang="zh-CN" dirty="0"/>
              <a:t>(Multimodal Optimization)</a:t>
            </a:r>
            <a:r>
              <a:rPr lang="zh-CN" altLang="en-US" dirty="0"/>
              <a:t>，即能够同时找到多个局部最优解（</a:t>
            </a:r>
            <a:r>
              <a:rPr lang="en-US" altLang="zh-CN" dirty="0"/>
              <a:t>Local Optima</a:t>
            </a:r>
            <a:r>
              <a:rPr lang="zh-CN" altLang="en-US" dirty="0"/>
              <a:t>）和全局最优解，而不容易陷入单一陷阱。</a:t>
            </a:r>
            <a:endParaRPr lang="en-US" altLang="zh-CN" dirty="0"/>
          </a:p>
          <a:p>
            <a:pPr>
              <a:lnSpc>
                <a:spcPct val="130000"/>
              </a:lnSpc>
            </a:pPr>
            <a:endParaRPr lang="en-US" altLang="zh-CN" b="1" dirty="0"/>
          </a:p>
          <a:p>
            <a:pPr>
              <a:lnSpc>
                <a:spcPct val="130000"/>
              </a:lnSpc>
            </a:pPr>
            <a:r>
              <a:rPr lang="en-US" altLang="zh-CN" b="1" dirty="0"/>
              <a:t>2. </a:t>
            </a:r>
            <a:r>
              <a:rPr lang="zh-CN" altLang="en-US" b="1" dirty="0"/>
              <a:t>强大的局部搜索能力 </a:t>
            </a:r>
            <a:r>
              <a:rPr lang="en-US" altLang="zh-CN" b="1" dirty="0"/>
              <a:t>(Local Search Capability)</a:t>
            </a:r>
          </a:p>
          <a:p>
            <a:pPr>
              <a:lnSpc>
                <a:spcPct val="130000"/>
              </a:lnSpc>
            </a:pPr>
            <a:endParaRPr lang="en-US" altLang="zh-CN" b="1" dirty="0"/>
          </a:p>
          <a:p>
            <a:pPr marL="285750" indent="-285750">
              <a:lnSpc>
                <a:spcPct val="130000"/>
              </a:lnSpc>
              <a:buFont typeface="Arial" panose="020B0604020202020204" pitchFamily="34" charset="0"/>
              <a:buChar char="•"/>
            </a:pPr>
            <a:r>
              <a:rPr lang="zh-CN" altLang="en-US" b="1" dirty="0"/>
              <a:t>核心点：</a:t>
            </a:r>
            <a:r>
              <a:rPr lang="zh-CN" altLang="en-US" dirty="0"/>
              <a:t> 算法具有自动将种群分成子群的能力。</a:t>
            </a:r>
            <a:endParaRPr lang="en-US" altLang="zh-CN" dirty="0"/>
          </a:p>
          <a:p>
            <a:pPr marL="285750" indent="-285750">
              <a:lnSpc>
                <a:spcPct val="130000"/>
              </a:lnSpc>
              <a:buFont typeface="Arial" panose="020B0604020202020204" pitchFamily="34" charset="0"/>
              <a:buChar char="•"/>
            </a:pPr>
            <a:r>
              <a:rPr lang="zh-CN" altLang="en-US" b="1" dirty="0"/>
              <a:t>优势：</a:t>
            </a:r>
            <a:r>
              <a:rPr lang="zh-CN" altLang="en-US" dirty="0"/>
              <a:t> 这种机制使得萤火虫在接近最优解时，移动步长会自然变小，从而在局部区域进行</a:t>
            </a:r>
            <a:r>
              <a:rPr lang="zh-CN" altLang="en-US" dirty="0">
                <a:solidFill>
                  <a:srgbClr val="FF0000"/>
                </a:solidFill>
              </a:rPr>
              <a:t>精细搜索</a:t>
            </a:r>
            <a:r>
              <a:rPr lang="zh-CN" altLang="en-US" dirty="0"/>
              <a:t>，提高了求解精度。</a:t>
            </a:r>
            <a:endParaRPr lang="en-US" altLang="zh-CN" b="1" dirty="0"/>
          </a:p>
          <a:p>
            <a:pPr>
              <a:lnSpc>
                <a:spcPct val="130000"/>
              </a:lnSpc>
            </a:pPr>
            <a:endParaRPr lang="zh-CN" altLang="en-US" b="1" dirty="0"/>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5E73B6E-E3DB-00B4-32E5-E43764230946}"/>
                  </a:ext>
                </a:extLst>
              </p:cNvPr>
              <p:cNvSpPr txBox="1"/>
              <p:nvPr/>
            </p:nvSpPr>
            <p:spPr>
              <a:xfrm>
                <a:off x="6244281" y="1219918"/>
                <a:ext cx="5546535" cy="5456045"/>
              </a:xfrm>
              <a:prstGeom prst="rect">
                <a:avLst/>
              </a:prstGeom>
              <a:noFill/>
            </p:spPr>
            <p:txBody>
              <a:bodyPr wrap="square" rtlCol="0">
                <a:spAutoFit/>
              </a:bodyPr>
              <a:lstStyle/>
              <a:p>
                <a:pPr>
                  <a:lnSpc>
                    <a:spcPct val="130000"/>
                  </a:lnSpc>
                </a:pPr>
                <a:r>
                  <a:rPr lang="en-US" altLang="zh-CN" b="1" dirty="0"/>
                  <a:t>3. </a:t>
                </a:r>
                <a:r>
                  <a:rPr lang="zh-CN" altLang="en-US" b="1" dirty="0"/>
                  <a:t>简单且易于实现 </a:t>
                </a:r>
                <a:r>
                  <a:rPr lang="en-US" altLang="zh-CN" b="1" dirty="0"/>
                  <a:t>(Simplicity &amp; Implementation</a:t>
                </a:r>
                <a:r>
                  <a:rPr lang="en-US" altLang="zh-CN" dirty="0"/>
                  <a:t>)</a:t>
                </a:r>
                <a:r>
                  <a:rPr lang="en-US" altLang="zh-CN" b="1" dirty="0"/>
                  <a:t>	</a:t>
                </a:r>
              </a:p>
              <a:p>
                <a:pPr marL="285750" indent="-285750" fontAlgn="base">
                  <a:lnSpc>
                    <a:spcPct val="130000"/>
                  </a:lnSpc>
                  <a:spcBef>
                    <a:spcPct val="0"/>
                  </a:spcBef>
                  <a:spcAft>
                    <a:spcPct val="0"/>
                  </a:spcAft>
                  <a:buFont typeface="Arial" panose="020B0604020202020204" pitchFamily="34" charset="0"/>
                  <a:buChar char="•"/>
                </a:pPr>
                <a:r>
                  <a:rPr lang="zh-CN" altLang="en-US" b="1" dirty="0"/>
                  <a:t>核心点：</a:t>
                </a:r>
                <a:r>
                  <a:rPr lang="zh-CN" altLang="en-US" dirty="0"/>
                  <a:t> 概念直观，源于自然现象。</a:t>
                </a:r>
                <a:endParaRPr lang="en-US" altLang="zh-CN" dirty="0"/>
              </a:p>
              <a:p>
                <a:pPr marL="285750" lvl="0" indent="-285750" fontAlgn="base">
                  <a:lnSpc>
                    <a:spcPct val="130000"/>
                  </a:lnSpc>
                  <a:spcBef>
                    <a:spcPct val="0"/>
                  </a:spcBef>
                  <a:spcAft>
                    <a:spcPct val="0"/>
                  </a:spcAft>
                  <a:buFont typeface="Arial" panose="020B0604020202020204" pitchFamily="34" charset="0"/>
                  <a:buChar char="•"/>
                </a:pPr>
                <a:r>
                  <a:rPr lang="zh-CN" altLang="en-US" b="1" dirty="0"/>
                  <a:t>优势：</a:t>
                </a:r>
                <a:r>
                  <a:rPr lang="zh-CN" altLang="zh-CN" dirty="0"/>
                  <a:t>核心公式简洁，参数较少（主要是光强吸收系数 </a:t>
                </a:r>
                <a14:m>
                  <m:oMath xmlns:m="http://schemas.openxmlformats.org/officeDocument/2006/math">
                    <m:r>
                      <a:rPr lang="zh-CN" altLang="zh-CN" dirty="0">
                        <a:latin typeface="Cambria Math" panose="02040503050406030204" pitchFamily="18" charset="0"/>
                      </a:rPr>
                      <m:t>𝛾</m:t>
                    </m:r>
                  </m:oMath>
                </a14:m>
                <a:r>
                  <a:rPr lang="zh-CN" altLang="zh-CN" dirty="0"/>
                  <a:t>、最大吸引度 </a:t>
                </a:r>
                <a14:m>
                  <m:oMath xmlns:m="http://schemas.openxmlformats.org/officeDocument/2006/math">
                    <m:sSub>
                      <m:sSubPr>
                        <m:ctrlPr>
                          <a:rPr lang="zh-CN" altLang="zh-CN" i="1" dirty="0">
                            <a:latin typeface="Cambria Math" panose="02040503050406030204" pitchFamily="18" charset="0"/>
                          </a:rPr>
                        </m:ctrlPr>
                      </m:sSubPr>
                      <m:e>
                        <m:r>
                          <a:rPr lang="zh-CN" altLang="zh-CN" dirty="0">
                            <a:latin typeface="Cambria Math" panose="02040503050406030204" pitchFamily="18" charset="0"/>
                          </a:rPr>
                          <m:t>𝛽</m:t>
                        </m:r>
                      </m:e>
                      <m:sub>
                        <m:r>
                          <a:rPr lang="zh-CN" altLang="zh-CN" dirty="0">
                            <a:latin typeface="Cambria Math" panose="02040503050406030204" pitchFamily="18" charset="0"/>
                          </a:rPr>
                          <m:t>0</m:t>
                        </m:r>
                      </m:sub>
                    </m:sSub>
                  </m:oMath>
                </a14:m>
                <a:r>
                  <a:rPr lang="zh-CN" altLang="zh-CN" dirty="0"/>
                  <a:t>和步长因子 </a:t>
                </a:r>
                <a14:m>
                  <m:oMath xmlns:m="http://schemas.openxmlformats.org/officeDocument/2006/math">
                    <m:r>
                      <a:rPr lang="zh-CN" altLang="zh-CN" dirty="0">
                        <a:latin typeface="Cambria Math" panose="02040503050406030204" pitchFamily="18" charset="0"/>
                      </a:rPr>
                      <m:t>𝛼</m:t>
                    </m:r>
                  </m:oMath>
                </a14:m>
                <a:r>
                  <a:rPr lang="zh-CN" altLang="zh-CN" dirty="0"/>
                  <a:t>），</a:t>
                </a:r>
                <a:r>
                  <a:rPr lang="zh-CN" altLang="zh-CN" dirty="0">
                    <a:solidFill>
                      <a:srgbClr val="FF0000"/>
                    </a:solidFill>
                  </a:rPr>
                  <a:t>易于编程实现和修改</a:t>
                </a:r>
                <a:r>
                  <a:rPr lang="zh-CN" altLang="zh-CN" dirty="0"/>
                  <a:t>。</a:t>
                </a:r>
                <a:endParaRPr lang="en-US" altLang="zh-CN" dirty="0"/>
              </a:p>
              <a:p>
                <a:pPr marL="285750" lvl="0" indent="-285750" fontAlgn="base">
                  <a:lnSpc>
                    <a:spcPct val="130000"/>
                  </a:lnSpc>
                  <a:spcBef>
                    <a:spcPct val="0"/>
                  </a:spcBef>
                  <a:spcAft>
                    <a:spcPct val="0"/>
                  </a:spcAft>
                  <a:buFont typeface="Arial" panose="020B0604020202020204" pitchFamily="34" charset="0"/>
                  <a:buChar char="•"/>
                </a:pPr>
                <a:endParaRPr lang="en-US" altLang="zh-CN" b="1" dirty="0"/>
              </a:p>
              <a:p>
                <a:pPr marL="285750" lvl="0" indent="-285750" fontAlgn="base">
                  <a:lnSpc>
                    <a:spcPct val="130000"/>
                  </a:lnSpc>
                  <a:spcBef>
                    <a:spcPct val="0"/>
                  </a:spcBef>
                  <a:spcAft>
                    <a:spcPct val="0"/>
                  </a:spcAft>
                  <a:buFont typeface="Arial" panose="020B0604020202020204" pitchFamily="34" charset="0"/>
                  <a:buChar char="•"/>
                </a:pPr>
                <a:endParaRPr lang="en-US" altLang="zh-CN" b="1" dirty="0"/>
              </a:p>
              <a:p>
                <a:pPr>
                  <a:lnSpc>
                    <a:spcPct val="130000"/>
                  </a:lnSpc>
                </a:pPr>
                <a:r>
                  <a:rPr lang="en-US" altLang="zh-CN" b="1" dirty="0"/>
                  <a:t>4. </a:t>
                </a:r>
                <a:r>
                  <a:rPr lang="zh-CN" altLang="en-US" b="1" dirty="0"/>
                  <a:t>无记忆需求 </a:t>
                </a:r>
                <a:r>
                  <a:rPr lang="en-US" altLang="zh-CN" b="1" dirty="0"/>
                  <a:t>(No Memory Requirement) </a:t>
                </a:r>
              </a:p>
              <a:p>
                <a:pPr>
                  <a:lnSpc>
                    <a:spcPct val="130000"/>
                  </a:lnSpc>
                </a:pPr>
                <a:endParaRPr lang="en-US" altLang="zh-CN" b="1" dirty="0"/>
              </a:p>
              <a:p>
                <a:pPr marL="285750" lvl="0" indent="-285750" fontAlgn="base">
                  <a:lnSpc>
                    <a:spcPct val="130000"/>
                  </a:lnSpc>
                  <a:spcBef>
                    <a:spcPct val="0"/>
                  </a:spcBef>
                  <a:spcAft>
                    <a:spcPct val="0"/>
                  </a:spcAft>
                  <a:buFont typeface="Arial" panose="020B0604020202020204" pitchFamily="34" charset="0"/>
                  <a:buChar char="•"/>
                </a:pPr>
                <a:r>
                  <a:rPr lang="zh-CN" altLang="en-US" b="1" dirty="0"/>
                  <a:t>核心点：</a:t>
                </a:r>
                <a:r>
                  <a:rPr lang="zh-CN" altLang="en-US" dirty="0"/>
                  <a:t> 这是一个无记忆算法（</a:t>
                </a:r>
                <a:r>
                  <a:rPr lang="en-US" altLang="zh-CN" dirty="0"/>
                  <a:t>Memory-less</a:t>
                </a:r>
                <a:r>
                  <a:rPr lang="zh-CN" altLang="en-US" dirty="0"/>
                  <a:t>）。</a:t>
                </a:r>
                <a:endParaRPr lang="en-US" altLang="zh-CN" dirty="0"/>
              </a:p>
              <a:p>
                <a:pPr marL="285750" indent="-285750" fontAlgn="base">
                  <a:lnSpc>
                    <a:spcPct val="130000"/>
                  </a:lnSpc>
                  <a:spcBef>
                    <a:spcPct val="0"/>
                  </a:spcBef>
                  <a:spcAft>
                    <a:spcPct val="0"/>
                  </a:spcAft>
                  <a:buFont typeface="Arial" panose="020B0604020202020204" pitchFamily="34" charset="0"/>
                  <a:buChar char="•"/>
                </a:pPr>
                <a:r>
                  <a:rPr lang="zh-CN" altLang="zh-CN" b="1" dirty="0"/>
                  <a:t>优势： </a:t>
                </a:r>
                <a:r>
                  <a:rPr lang="zh-CN" altLang="zh-CN" dirty="0"/>
                  <a:t>与需要记录“历史最优位置” (pbest) 的粒子群算法 (PSO) 不同，FA 仅依赖当前位置的信息，</a:t>
                </a:r>
                <a:r>
                  <a:rPr lang="zh-CN" altLang="zh-CN" dirty="0">
                    <a:solidFill>
                      <a:srgbClr val="FF0000"/>
                    </a:solidFill>
                  </a:rPr>
                  <a:t>节省了存储空间</a:t>
                </a:r>
                <a:r>
                  <a:rPr lang="zh-CN" altLang="zh-CN" dirty="0"/>
                  <a:t>。</a:t>
                </a:r>
              </a:p>
              <a:p>
                <a:pPr>
                  <a:lnSpc>
                    <a:spcPct val="130000"/>
                  </a:lnSpc>
                </a:pPr>
                <a:endParaRPr lang="zh-CN" altLang="en-US" b="1" dirty="0"/>
              </a:p>
            </p:txBody>
          </p:sp>
        </mc:Choice>
        <mc:Fallback xmlns="">
          <p:sp>
            <p:nvSpPr>
              <p:cNvPr id="27" name="文本框 26">
                <a:extLst>
                  <a:ext uri="{FF2B5EF4-FFF2-40B4-BE49-F238E27FC236}">
                    <a16:creationId xmlns:a16="http://schemas.microsoft.com/office/drawing/2014/main" id="{25E73B6E-E3DB-00B4-32E5-E43764230946}"/>
                  </a:ext>
                </a:extLst>
              </p:cNvPr>
              <p:cNvSpPr txBox="1">
                <a:spLocks noRot="1" noChangeAspect="1" noMove="1" noResize="1" noEditPoints="1" noAdjustHandles="1" noChangeArrowheads="1" noChangeShapeType="1" noTextEdit="1"/>
              </p:cNvSpPr>
              <p:nvPr/>
            </p:nvSpPr>
            <p:spPr>
              <a:xfrm>
                <a:off x="6244281" y="1219918"/>
                <a:ext cx="5546535" cy="5456045"/>
              </a:xfrm>
              <a:prstGeom prst="rect">
                <a:avLst/>
              </a:prstGeom>
              <a:blipFill>
                <a:blip r:embed="rId2"/>
                <a:stretch>
                  <a:fillRect l="-879" r="-9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39699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04</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算法缺点</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Disadvantage</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萤火虫算法</a:t>
            </a:r>
            <a:r>
              <a:rPr lang="en-US" altLang="zh-CN" dirty="0"/>
              <a:t>-</a:t>
            </a:r>
            <a:r>
              <a:rPr lang="zh-CN" altLang="en-US" dirty="0"/>
              <a:t>算法缺点</a:t>
            </a:r>
          </a:p>
        </p:txBody>
      </p:sp>
      <p:sp>
        <p:nvSpPr>
          <p:cNvPr id="7" name="矩形 6">
            <a:extLst>
              <a:ext uri="{FF2B5EF4-FFF2-40B4-BE49-F238E27FC236}">
                <a16:creationId xmlns:a16="http://schemas.microsoft.com/office/drawing/2014/main" id="{D820D1AB-7AB0-46B9-A544-5A22C9D2AD6A}"/>
              </a:ext>
            </a:extLst>
          </p:cNvPr>
          <p:cNvSpPr/>
          <p:nvPr/>
        </p:nvSpPr>
        <p:spPr>
          <a:xfrm>
            <a:off x="127381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782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46522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4C87C-F43A-F2A8-1C5A-E595E11B18D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6EB5DF2-044D-284B-1354-B4174C885EA5}"/>
              </a:ext>
            </a:extLst>
          </p:cNvPr>
          <p:cNvSpPr>
            <a:spLocks noGrp="1"/>
          </p:cNvSpPr>
          <p:nvPr>
            <p:ph type="title"/>
          </p:nvPr>
        </p:nvSpPr>
        <p:spPr/>
        <p:txBody>
          <a:bodyPr/>
          <a:lstStyle/>
          <a:p>
            <a:r>
              <a:rPr lang="en-US" altLang="zh-CN" dirty="0"/>
              <a:t>4 </a:t>
            </a:r>
            <a:r>
              <a:rPr lang="zh-CN" altLang="en-US" dirty="0"/>
              <a:t>算法缺点</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7F765FA-ED19-68E7-0459-B47ABC81EAC9}"/>
                  </a:ext>
                </a:extLst>
              </p:cNvPr>
              <p:cNvSpPr txBox="1"/>
              <p:nvPr/>
            </p:nvSpPr>
            <p:spPr>
              <a:xfrm>
                <a:off x="549465" y="1219918"/>
                <a:ext cx="5546535" cy="5649945"/>
              </a:xfrm>
              <a:prstGeom prst="rect">
                <a:avLst/>
              </a:prstGeom>
              <a:noFill/>
            </p:spPr>
            <p:txBody>
              <a:bodyPr wrap="square" rtlCol="0">
                <a:spAutoFit/>
              </a:bodyPr>
              <a:lstStyle/>
              <a:p>
                <a:pPr>
                  <a:lnSpc>
                    <a:spcPct val="130000"/>
                  </a:lnSpc>
                </a:pPr>
                <a:r>
                  <a:rPr lang="en-US" altLang="zh-CN" b="1" dirty="0"/>
                  <a:t>1. </a:t>
                </a:r>
                <a:r>
                  <a:rPr lang="zh-CN" altLang="en-US" b="1" dirty="0"/>
                  <a:t>计算复杂度高 </a:t>
                </a:r>
                <a:r>
                  <a:rPr lang="en-US" altLang="zh-CN" b="1" dirty="0"/>
                  <a:t>(High Computational Complexity)</a:t>
                </a:r>
              </a:p>
              <a:p>
                <a:pPr>
                  <a:lnSpc>
                    <a:spcPct val="130000"/>
                  </a:lnSpc>
                </a:pPr>
                <a:r>
                  <a:rPr lang="en-US" altLang="zh-CN" b="1" dirty="0"/>
                  <a:t>	</a:t>
                </a:r>
              </a:p>
              <a:p>
                <a:pPr marL="285750" indent="-285750">
                  <a:lnSpc>
                    <a:spcPct val="130000"/>
                  </a:lnSpc>
                  <a:buFont typeface="Arial" panose="020B0604020202020204" pitchFamily="34" charset="0"/>
                  <a:buChar char="•"/>
                </a:pPr>
                <a:r>
                  <a:rPr lang="zh-CN" altLang="en-US" b="1" dirty="0"/>
                  <a:t>核心点：</a:t>
                </a:r>
                <a:r>
                  <a:rPr lang="zh-CN" altLang="en-US" dirty="0"/>
                  <a:t> 全局两两比较。</a:t>
                </a:r>
                <a:endParaRPr lang="en-US" altLang="zh-CN" dirty="0"/>
              </a:p>
              <a:p>
                <a:pPr marL="285750" indent="-285750">
                  <a:lnSpc>
                    <a:spcPct val="130000"/>
                  </a:lnSpc>
                  <a:buFont typeface="Arial" panose="020B0604020202020204" pitchFamily="34" charset="0"/>
                  <a:buChar char="•"/>
                </a:pPr>
                <a:r>
                  <a:rPr lang="zh-CN" altLang="zh-CN" b="1" dirty="0"/>
                  <a:t>劣势：</a:t>
                </a:r>
                <a:r>
                  <a:rPr lang="zh-CN" altLang="zh-CN" dirty="0">
                    <a:latin typeface="Arial" panose="020B0604020202020204" pitchFamily="34" charset="0"/>
                  </a:rPr>
                  <a:t> 在标准FA中，每只萤火虫都需要与所有其他萤火虫比较亮度。如果种群数量为</a:t>
                </a:r>
                <a:r>
                  <a:rPr lang="en-US" altLang="zh-CN" dirty="0">
                    <a:latin typeface="Arial" panose="020B0604020202020204" pitchFamily="34" charset="0"/>
                  </a:rPr>
                  <a:t> </a:t>
                </a:r>
                <a14:m>
                  <m:oMath xmlns:m="http://schemas.openxmlformats.org/officeDocument/2006/math">
                    <m:r>
                      <a:rPr lang="zh-CN" altLang="zh-CN" i="1" dirty="0" smtClean="0">
                        <a:latin typeface="Cambria Math" panose="02040503050406030204" pitchFamily="18" charset="0"/>
                        <a:ea typeface="Google Sans Text"/>
                      </a:rPr>
                      <m:t>𝑁</m:t>
                    </m:r>
                  </m:oMath>
                </a14:m>
                <a:r>
                  <a:rPr lang="zh-CN" altLang="zh-CN" dirty="0">
                    <a:latin typeface="Arial" panose="020B0604020202020204" pitchFamily="34" charset="0"/>
                  </a:rPr>
                  <a:t>，则单次迭代的计算复杂度为</a:t>
                </a:r>
                <a:r>
                  <a:rPr lang="en-US" altLang="zh-CN" dirty="0">
                    <a:latin typeface="Arial" panose="020B0604020202020204" pitchFamily="34" charset="0"/>
                  </a:rPr>
                  <a:t> </a:t>
                </a:r>
                <a14:m>
                  <m:oMath xmlns:m="http://schemas.openxmlformats.org/officeDocument/2006/math">
                    <m:r>
                      <a:rPr lang="zh-CN" altLang="zh-CN" i="1" dirty="0" smtClean="0">
                        <a:solidFill>
                          <a:srgbClr val="FF0000"/>
                        </a:solidFill>
                        <a:latin typeface="Cambria Math" panose="02040503050406030204" pitchFamily="18" charset="0"/>
                        <a:ea typeface="Google Sans Text"/>
                      </a:rPr>
                      <m:t>𝑂</m:t>
                    </m:r>
                    <m:d>
                      <m:dPr>
                        <m:ctrlPr>
                          <a:rPr lang="zh-CN" altLang="zh-CN" i="1" dirty="0" smtClean="0">
                            <a:solidFill>
                              <a:srgbClr val="FF0000"/>
                            </a:solidFill>
                            <a:latin typeface="Cambria Math" panose="02040503050406030204" pitchFamily="18" charset="0"/>
                            <a:ea typeface="Google Sans Text"/>
                          </a:rPr>
                        </m:ctrlPr>
                      </m:dPr>
                      <m:e>
                        <m:sSup>
                          <m:sSupPr>
                            <m:ctrlPr>
                              <a:rPr lang="zh-CN" altLang="zh-CN" i="1" dirty="0" smtClean="0">
                                <a:solidFill>
                                  <a:srgbClr val="FF0000"/>
                                </a:solidFill>
                                <a:latin typeface="Cambria Math" panose="02040503050406030204" pitchFamily="18" charset="0"/>
                                <a:ea typeface="Google Sans Text"/>
                              </a:rPr>
                            </m:ctrlPr>
                          </m:sSupPr>
                          <m:e>
                            <m:r>
                              <a:rPr lang="zh-CN" altLang="zh-CN" i="1" dirty="0" smtClean="0">
                                <a:solidFill>
                                  <a:srgbClr val="FF0000"/>
                                </a:solidFill>
                                <a:latin typeface="Cambria Math" panose="02040503050406030204" pitchFamily="18" charset="0"/>
                                <a:ea typeface="Google Sans Text"/>
                              </a:rPr>
                              <m:t>𝑁</m:t>
                            </m:r>
                          </m:e>
                          <m:sup>
                            <m:r>
                              <a:rPr lang="zh-CN" altLang="zh-CN" i="1" dirty="0" smtClean="0">
                                <a:solidFill>
                                  <a:srgbClr val="FF0000"/>
                                </a:solidFill>
                                <a:latin typeface="Cambria Math" panose="02040503050406030204" pitchFamily="18" charset="0"/>
                                <a:ea typeface="Google Sans Text"/>
                              </a:rPr>
                              <m:t>2</m:t>
                            </m:r>
                          </m:sup>
                        </m:sSup>
                      </m:e>
                    </m:d>
                  </m:oMath>
                </a14:m>
                <a:r>
                  <a:rPr lang="zh-CN" altLang="zh-CN" dirty="0">
                    <a:latin typeface="Arial" panose="020B0604020202020204" pitchFamily="34" charset="0"/>
                  </a:rPr>
                  <a:t>。在大规模种群下，</a:t>
                </a:r>
                <a:r>
                  <a:rPr lang="zh-CN" altLang="zh-CN" dirty="0">
                    <a:solidFill>
                      <a:srgbClr val="FF0000"/>
                    </a:solidFill>
                    <a:latin typeface="Arial" panose="020B0604020202020204" pitchFamily="34" charset="0"/>
                  </a:rPr>
                  <a:t>计算极其耗时</a:t>
                </a:r>
                <a:r>
                  <a:rPr lang="zh-CN" altLang="zh-CN" dirty="0">
                    <a:latin typeface="Arial" panose="020B0604020202020204" pitchFamily="34" charset="0"/>
                  </a:rPr>
                  <a:t>。</a:t>
                </a:r>
              </a:p>
              <a:p>
                <a:pPr>
                  <a:lnSpc>
                    <a:spcPct val="130000"/>
                  </a:lnSpc>
                </a:pPr>
                <a:endParaRPr lang="en-US" altLang="zh-CN" b="1" dirty="0"/>
              </a:p>
              <a:p>
                <a:r>
                  <a:rPr lang="en-US" altLang="zh-CN" b="1" dirty="0"/>
                  <a:t>2. </a:t>
                </a:r>
                <a:r>
                  <a:rPr lang="zh-CN" altLang="en-US" b="1" dirty="0"/>
                  <a:t>收敛速度依赖参数 </a:t>
                </a:r>
                <a:r>
                  <a:rPr lang="en-US" altLang="zh-CN" b="1" dirty="0"/>
                  <a:t>(Convergence Speed)</a:t>
                </a:r>
              </a:p>
              <a:p>
                <a:endParaRPr lang="en-US" altLang="zh-CN" dirty="0"/>
              </a:p>
              <a:p>
                <a:pPr marL="285750" lvl="0" indent="-285750" fontAlgn="base">
                  <a:lnSpc>
                    <a:spcPct val="130000"/>
                  </a:lnSpc>
                  <a:spcBef>
                    <a:spcPct val="0"/>
                  </a:spcBef>
                  <a:spcAft>
                    <a:spcPct val="0"/>
                  </a:spcAft>
                  <a:buFont typeface="Arial" panose="020B0604020202020204" pitchFamily="34" charset="0"/>
                  <a:buChar char="•"/>
                </a:pPr>
                <a:r>
                  <a:rPr lang="zh-CN" altLang="zh-CN" b="1" dirty="0"/>
                  <a:t>核心点： </a:t>
                </a:r>
                <a:r>
                  <a:rPr lang="zh-CN" altLang="zh-CN" dirty="0"/>
                  <a:t>早期搜索快，后期可能震荡。</a:t>
                </a:r>
              </a:p>
              <a:p>
                <a:pPr marL="285750" lvl="0" indent="-285750" fontAlgn="base">
                  <a:lnSpc>
                    <a:spcPct val="130000"/>
                  </a:lnSpc>
                  <a:spcBef>
                    <a:spcPct val="0"/>
                  </a:spcBef>
                  <a:spcAft>
                    <a:spcPct val="0"/>
                  </a:spcAft>
                  <a:buFont typeface="Arial" panose="020B0604020202020204" pitchFamily="34" charset="0"/>
                  <a:buChar char="•"/>
                </a:pPr>
                <a:r>
                  <a:rPr lang="zh-CN" altLang="zh-CN" b="1" dirty="0"/>
                  <a:t>劣势： </a:t>
                </a:r>
                <a:r>
                  <a:rPr lang="zh-CN" altLang="zh-CN" dirty="0">
                    <a:latin typeface="Arial" panose="020B0604020202020204" pitchFamily="34" charset="0"/>
                  </a:rPr>
                  <a:t>虽然局部搜索能力强，但在高维空间中，如果步长因子 </a:t>
                </a:r>
                <a14:m>
                  <m:oMath xmlns:m="http://schemas.openxmlformats.org/officeDocument/2006/math">
                    <m:r>
                      <a:rPr lang="zh-CN" altLang="zh-CN" i="1" dirty="0" smtClean="0">
                        <a:latin typeface="Cambria Math" panose="02040503050406030204" pitchFamily="18" charset="0"/>
                      </a:rPr>
                      <m:t>𝛼</m:t>
                    </m:r>
                  </m:oMath>
                </a14:m>
                <a:r>
                  <a:rPr lang="zh-CN" altLang="zh-CN" dirty="0">
                    <a:latin typeface="Arial" panose="020B0604020202020204" pitchFamily="34" charset="0"/>
                  </a:rPr>
                  <a:t> 设置不当（不随迭代递减），算法在后期可能围绕最优解震荡而</a:t>
                </a:r>
                <a:r>
                  <a:rPr lang="zh-CN" altLang="zh-CN" dirty="0">
                    <a:solidFill>
                      <a:srgbClr val="FF0000"/>
                    </a:solidFill>
                    <a:latin typeface="Arial" panose="020B0604020202020204" pitchFamily="34" charset="0"/>
                  </a:rPr>
                  <a:t>无法收敛</a:t>
                </a:r>
                <a:r>
                  <a:rPr lang="zh-CN" altLang="zh-CN" dirty="0">
                    <a:latin typeface="Arial" panose="020B0604020202020204" pitchFamily="34" charset="0"/>
                  </a:rPr>
                  <a:t>，导致速度变慢。</a:t>
                </a:r>
              </a:p>
              <a:p>
                <a:pPr>
                  <a:lnSpc>
                    <a:spcPct val="130000"/>
                  </a:lnSpc>
                </a:pPr>
                <a:endParaRPr lang="zh-CN" altLang="en-US" b="1" dirty="0"/>
              </a:p>
            </p:txBody>
          </p:sp>
        </mc:Choice>
        <mc:Fallback xmlns="">
          <p:sp>
            <p:nvSpPr>
              <p:cNvPr id="3" name="文本框 2">
                <a:extLst>
                  <a:ext uri="{FF2B5EF4-FFF2-40B4-BE49-F238E27FC236}">
                    <a16:creationId xmlns:a16="http://schemas.microsoft.com/office/drawing/2014/main" id="{B7F765FA-ED19-68E7-0459-B47ABC81EAC9}"/>
                  </a:ext>
                </a:extLst>
              </p:cNvPr>
              <p:cNvSpPr txBox="1">
                <a:spLocks noRot="1" noChangeAspect="1" noMove="1" noResize="1" noEditPoints="1" noAdjustHandles="1" noChangeArrowheads="1" noChangeShapeType="1" noTextEdit="1"/>
              </p:cNvSpPr>
              <p:nvPr/>
            </p:nvSpPr>
            <p:spPr>
              <a:xfrm>
                <a:off x="549465" y="1219918"/>
                <a:ext cx="5546535" cy="5649945"/>
              </a:xfrm>
              <a:prstGeom prst="rect">
                <a:avLst/>
              </a:prstGeom>
              <a:blipFill>
                <a:blip r:embed="rId2"/>
                <a:stretch>
                  <a:fillRect l="-879" r="-9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6E56D73C-562D-4445-DB8D-32DCEE4FB919}"/>
                  </a:ext>
                </a:extLst>
              </p:cNvPr>
              <p:cNvSpPr txBox="1"/>
              <p:nvPr/>
            </p:nvSpPr>
            <p:spPr>
              <a:xfrm>
                <a:off x="6244281" y="1219918"/>
                <a:ext cx="5546535" cy="4739439"/>
              </a:xfrm>
              <a:prstGeom prst="rect">
                <a:avLst/>
              </a:prstGeom>
              <a:noFill/>
            </p:spPr>
            <p:txBody>
              <a:bodyPr wrap="square" rtlCol="0">
                <a:spAutoFit/>
              </a:bodyPr>
              <a:lstStyle/>
              <a:p>
                <a:pPr>
                  <a:lnSpc>
                    <a:spcPct val="130000"/>
                  </a:lnSpc>
                </a:pPr>
                <a:r>
                  <a:rPr lang="en-US" altLang="zh-CN" b="1" dirty="0"/>
                  <a:t>3. </a:t>
                </a:r>
                <a:r>
                  <a:rPr lang="zh-CN" altLang="en-US" b="1" dirty="0"/>
                  <a:t>参数敏感性 </a:t>
                </a:r>
                <a:r>
                  <a:rPr lang="en-US" altLang="zh-CN" b="1" dirty="0"/>
                  <a:t>(Parameter Sensitivity)	</a:t>
                </a:r>
              </a:p>
              <a:p>
                <a:pPr>
                  <a:lnSpc>
                    <a:spcPct val="130000"/>
                  </a:lnSpc>
                </a:pPr>
                <a:endParaRPr lang="en-US" altLang="zh-CN" b="1" dirty="0"/>
              </a:p>
              <a:p>
                <a:pPr marL="285750" indent="-285750" fontAlgn="base">
                  <a:lnSpc>
                    <a:spcPct val="130000"/>
                  </a:lnSpc>
                  <a:spcBef>
                    <a:spcPct val="0"/>
                  </a:spcBef>
                  <a:spcAft>
                    <a:spcPct val="0"/>
                  </a:spcAft>
                  <a:buFont typeface="Arial" panose="020B0604020202020204" pitchFamily="34" charset="0"/>
                  <a:buChar char="•"/>
                </a:pPr>
                <a:r>
                  <a:rPr lang="zh-CN" altLang="en-US" b="1" dirty="0"/>
                  <a:t>核心点：</a:t>
                </a:r>
                <a:r>
                  <a:rPr lang="zh-CN" altLang="zh-CN" dirty="0">
                    <a:latin typeface="Arial" panose="020B0604020202020204" pitchFamily="34" charset="0"/>
                  </a:rPr>
                  <a:t>对 </a:t>
                </a:r>
                <a14:m>
                  <m:oMath xmlns:m="http://schemas.openxmlformats.org/officeDocument/2006/math">
                    <m:r>
                      <a:rPr lang="zh-CN" altLang="zh-CN" i="1" dirty="0" smtClean="0">
                        <a:latin typeface="Cambria Math" panose="02040503050406030204" pitchFamily="18" charset="0"/>
                        <a:ea typeface="Google Sans Text"/>
                      </a:rPr>
                      <m:t>𝛾</m:t>
                    </m:r>
                  </m:oMath>
                </a14:m>
                <a:r>
                  <a:rPr lang="en-US" altLang="zh-CN" dirty="0">
                    <a:latin typeface="Arial" panose="020B0604020202020204" pitchFamily="34" charset="0"/>
                    <a:ea typeface="Google Sans Text"/>
                  </a:rPr>
                  <a:t> </a:t>
                </a:r>
                <a:r>
                  <a:rPr lang="zh-CN" altLang="zh-CN" dirty="0">
                    <a:latin typeface="Arial" panose="020B0604020202020204" pitchFamily="34" charset="0"/>
                  </a:rPr>
                  <a:t>(光强吸收系数) 非常敏感。</a:t>
                </a:r>
                <a:endParaRPr lang="en-US" altLang="zh-CN" dirty="0">
                  <a:latin typeface="Arial" panose="020B0604020202020204" pitchFamily="34" charset="0"/>
                </a:endParaRPr>
              </a:p>
              <a:p>
                <a:pPr marL="285750" lvl="0" indent="-285750" fontAlgn="base">
                  <a:lnSpc>
                    <a:spcPct val="130000"/>
                  </a:lnSpc>
                  <a:spcBef>
                    <a:spcPct val="0"/>
                  </a:spcBef>
                  <a:spcAft>
                    <a:spcPct val="0"/>
                  </a:spcAft>
                  <a:buFont typeface="Arial" panose="020B0604020202020204" pitchFamily="34" charset="0"/>
                  <a:buChar char="•"/>
                </a:pPr>
                <a:r>
                  <a:rPr lang="zh-CN" altLang="en-US" b="1" dirty="0"/>
                  <a:t>劣势：</a:t>
                </a:r>
                <a:endParaRPr lang="en-US" altLang="zh-CN" b="1" dirty="0"/>
              </a:p>
              <a:p>
                <a:pPr marL="742950" lvl="1" indent="-285750" fontAlgn="base">
                  <a:lnSpc>
                    <a:spcPct val="130000"/>
                  </a:lnSpc>
                  <a:spcBef>
                    <a:spcPct val="0"/>
                  </a:spcBef>
                  <a:spcAft>
                    <a:spcPct val="0"/>
                  </a:spcAft>
                  <a:buFont typeface="Arial" panose="020B0604020202020204" pitchFamily="34" charset="0"/>
                  <a:buChar char="•"/>
                </a:pPr>
                <a:r>
                  <a:rPr lang="zh-CN" altLang="zh-CN" dirty="0">
                    <a:latin typeface="Arial" panose="020B0604020202020204" pitchFamily="34" charset="0"/>
                  </a:rPr>
                  <a:t>若 </a:t>
                </a:r>
                <a14:m>
                  <m:oMath xmlns:m="http://schemas.openxmlformats.org/officeDocument/2006/math">
                    <m:r>
                      <a:rPr lang="zh-CN" altLang="zh-CN" i="1" dirty="0" smtClean="0">
                        <a:latin typeface="Cambria Math" panose="02040503050406030204" pitchFamily="18" charset="0"/>
                        <a:ea typeface="Google Sans Text"/>
                      </a:rPr>
                      <m:t>𝛾</m:t>
                    </m:r>
                    <m:r>
                      <a:rPr lang="zh-CN" altLang="zh-CN" i="1" dirty="0">
                        <a:latin typeface="Cambria Math" panose="02040503050406030204" pitchFamily="18" charset="0"/>
                        <a:ea typeface="Google Sans Text"/>
                      </a:rPr>
                      <m:t>→</m:t>
                    </m:r>
                    <m:r>
                      <a:rPr lang="zh-CN" altLang="zh-CN" i="1" dirty="0" smtClean="0">
                        <a:latin typeface="Cambria Math" panose="02040503050406030204" pitchFamily="18" charset="0"/>
                        <a:ea typeface="Google Sans Text"/>
                      </a:rPr>
                      <m:t>0</m:t>
                    </m:r>
                  </m:oMath>
                </a14:m>
                <a:r>
                  <a:rPr lang="zh-CN" altLang="zh-CN" dirty="0">
                    <a:latin typeface="Arial" panose="020B0604020202020204" pitchFamily="34" charset="0"/>
                  </a:rPr>
                  <a:t>：光强不衰减，FA </a:t>
                </a:r>
                <a:r>
                  <a:rPr lang="zh-CN" altLang="zh-CN" dirty="0">
                    <a:solidFill>
                      <a:srgbClr val="FF0000"/>
                    </a:solidFill>
                    <a:latin typeface="Arial" panose="020B0604020202020204" pitchFamily="34" charset="0"/>
                  </a:rPr>
                  <a:t>退化</a:t>
                </a:r>
                <a:r>
                  <a:rPr lang="zh-CN" altLang="zh-CN" dirty="0">
                    <a:latin typeface="Arial" panose="020B0604020202020204" pitchFamily="34" charset="0"/>
                  </a:rPr>
                  <a:t>为标准的粒子群算法 (PSO)。</a:t>
                </a:r>
                <a:endParaRPr lang="en-US" altLang="zh-CN" dirty="0">
                  <a:latin typeface="Arial" panose="020B0604020202020204" pitchFamily="34" charset="0"/>
                </a:endParaRPr>
              </a:p>
              <a:p>
                <a:pPr marL="742950" lvl="1" indent="-285750" fontAlgn="base">
                  <a:lnSpc>
                    <a:spcPct val="130000"/>
                  </a:lnSpc>
                  <a:spcBef>
                    <a:spcPct val="0"/>
                  </a:spcBef>
                  <a:spcAft>
                    <a:spcPct val="0"/>
                  </a:spcAft>
                  <a:buFont typeface="Arial" panose="020B0604020202020204" pitchFamily="34" charset="0"/>
                  <a:buChar char="•"/>
                </a:pPr>
                <a:r>
                  <a:rPr lang="zh-CN" altLang="zh-CN" dirty="0">
                    <a:latin typeface="Arial" panose="020B0604020202020204" pitchFamily="34" charset="0"/>
                  </a:rPr>
                  <a:t>若 </a:t>
                </a:r>
                <a14:m>
                  <m:oMath xmlns:m="http://schemas.openxmlformats.org/officeDocument/2006/math">
                    <m:r>
                      <a:rPr lang="zh-CN" altLang="zh-CN" i="1" dirty="0" smtClean="0">
                        <a:latin typeface="Cambria Math" panose="02040503050406030204" pitchFamily="18" charset="0"/>
                        <a:ea typeface="Google Sans Text"/>
                      </a:rPr>
                      <m:t>𝛾</m:t>
                    </m:r>
                    <m:r>
                      <a:rPr lang="zh-CN" altLang="zh-CN" i="1" dirty="0">
                        <a:latin typeface="Cambria Math" panose="02040503050406030204" pitchFamily="18" charset="0"/>
                        <a:ea typeface="Google Sans Text"/>
                      </a:rPr>
                      <m:t>→</m:t>
                    </m:r>
                    <m:r>
                      <a:rPr lang="zh-CN" altLang="zh-CN" i="1" dirty="0" smtClean="0">
                        <a:latin typeface="Cambria Math" panose="02040503050406030204" pitchFamily="18" charset="0"/>
                        <a:ea typeface="Google Sans Text"/>
                      </a:rPr>
                      <m:t>∞</m:t>
                    </m:r>
                  </m:oMath>
                </a14:m>
                <a:r>
                  <a:rPr lang="zh-CN" altLang="zh-CN" dirty="0">
                    <a:latin typeface="Arial" panose="020B0604020202020204" pitchFamily="34" charset="0"/>
                  </a:rPr>
                  <a:t>：能见度极低，FA </a:t>
                </a:r>
                <a:r>
                  <a:rPr lang="zh-CN" altLang="zh-CN" dirty="0">
                    <a:solidFill>
                      <a:srgbClr val="FF0000"/>
                    </a:solidFill>
                    <a:latin typeface="Arial" panose="020B0604020202020204" pitchFamily="34" charset="0"/>
                  </a:rPr>
                  <a:t>退化</a:t>
                </a:r>
                <a:r>
                  <a:rPr lang="zh-CN" altLang="zh-CN" dirty="0">
                    <a:latin typeface="Arial" panose="020B0604020202020204" pitchFamily="34" charset="0"/>
                  </a:rPr>
                  <a:t>为纯粹的随机游走 (Random Walk)。</a:t>
                </a:r>
                <a:endParaRPr lang="en-US" altLang="zh-CN" b="1" dirty="0"/>
              </a:p>
              <a:p>
                <a:pPr>
                  <a:lnSpc>
                    <a:spcPct val="130000"/>
                  </a:lnSpc>
                </a:pPr>
                <a:r>
                  <a:rPr lang="en-US" altLang="zh-CN" b="1" dirty="0"/>
                  <a:t>4. </a:t>
                </a:r>
                <a:r>
                  <a:rPr lang="zh-CN" altLang="en-US" b="1" dirty="0"/>
                  <a:t>易陷于局部最优 </a:t>
                </a:r>
                <a:r>
                  <a:rPr lang="en-US" altLang="zh-CN" b="1" dirty="0"/>
                  <a:t>(Trapping in Local Optima)</a:t>
                </a:r>
              </a:p>
              <a:p>
                <a:pPr>
                  <a:lnSpc>
                    <a:spcPct val="130000"/>
                  </a:lnSpc>
                </a:pPr>
                <a:endParaRPr lang="en-US" altLang="zh-CN" b="1" dirty="0"/>
              </a:p>
              <a:p>
                <a:pPr marL="285750" lvl="0" indent="-285750" fontAlgn="base">
                  <a:lnSpc>
                    <a:spcPct val="130000"/>
                  </a:lnSpc>
                  <a:spcBef>
                    <a:spcPct val="0"/>
                  </a:spcBef>
                  <a:spcAft>
                    <a:spcPct val="0"/>
                  </a:spcAft>
                  <a:buFont typeface="Arial" panose="020B0604020202020204" pitchFamily="34" charset="0"/>
                  <a:buChar char="•"/>
                </a:pPr>
                <a:r>
                  <a:rPr lang="zh-CN" altLang="en-US" b="1" dirty="0"/>
                  <a:t>核心点：</a:t>
                </a:r>
                <a:r>
                  <a:rPr lang="zh-CN" altLang="en-US" dirty="0"/>
                  <a:t>尽管比某些算法好，但在极复杂的山谷地形中，如果没有随机扰动项的良好控制，仍可能</a:t>
                </a:r>
                <a:r>
                  <a:rPr lang="zh-CN" altLang="en-US" dirty="0">
                    <a:solidFill>
                      <a:srgbClr val="FF0000"/>
                    </a:solidFill>
                  </a:rPr>
                  <a:t>过早收敛</a:t>
                </a:r>
                <a:r>
                  <a:rPr lang="zh-CN" altLang="en-US" dirty="0"/>
                  <a:t>于局部最优。</a:t>
                </a:r>
                <a:endParaRPr lang="zh-CN" altLang="en-US" b="1" dirty="0"/>
              </a:p>
            </p:txBody>
          </p:sp>
        </mc:Choice>
        <mc:Fallback xmlns="">
          <p:sp>
            <p:nvSpPr>
              <p:cNvPr id="27" name="文本框 26">
                <a:extLst>
                  <a:ext uri="{FF2B5EF4-FFF2-40B4-BE49-F238E27FC236}">
                    <a16:creationId xmlns:a16="http://schemas.microsoft.com/office/drawing/2014/main" id="{6E56D73C-562D-4445-DB8D-32DCEE4FB919}"/>
                  </a:ext>
                </a:extLst>
              </p:cNvPr>
              <p:cNvSpPr txBox="1">
                <a:spLocks noRot="1" noChangeAspect="1" noMove="1" noResize="1" noEditPoints="1" noAdjustHandles="1" noChangeArrowheads="1" noChangeShapeType="1" noTextEdit="1"/>
              </p:cNvSpPr>
              <p:nvPr/>
            </p:nvSpPr>
            <p:spPr>
              <a:xfrm>
                <a:off x="6244281" y="1219918"/>
                <a:ext cx="5546535" cy="4739439"/>
              </a:xfrm>
              <a:prstGeom prst="rect">
                <a:avLst/>
              </a:prstGeom>
              <a:blipFill>
                <a:blip r:embed="rId3"/>
                <a:stretch>
                  <a:fillRect l="-879" r="-440" b="-10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57156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05</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改进思路</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Improve</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萤火虫算法</a:t>
            </a:r>
            <a:r>
              <a:rPr lang="en-US" altLang="zh-CN" dirty="0"/>
              <a:t>-</a:t>
            </a:r>
            <a:r>
              <a:rPr lang="zh-CN" altLang="en-US" dirty="0"/>
              <a:t>改进思路</a:t>
            </a:r>
          </a:p>
        </p:txBody>
      </p:sp>
      <p:sp>
        <p:nvSpPr>
          <p:cNvPr id="7" name="矩形 6">
            <a:extLst>
              <a:ext uri="{FF2B5EF4-FFF2-40B4-BE49-F238E27FC236}">
                <a16:creationId xmlns:a16="http://schemas.microsoft.com/office/drawing/2014/main" id="{D820D1AB-7AB0-46B9-A544-5A22C9D2AD6A}"/>
              </a:ext>
            </a:extLst>
          </p:cNvPr>
          <p:cNvSpPr/>
          <p:nvPr/>
        </p:nvSpPr>
        <p:spPr>
          <a:xfrm>
            <a:off x="147828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7744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F9961-A1CF-F578-4586-2094CE99AF4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B392C36-909F-71D6-1EAC-50FF8C240E9E}"/>
              </a:ext>
            </a:extLst>
          </p:cNvPr>
          <p:cNvSpPr>
            <a:spLocks noGrp="1"/>
          </p:cNvSpPr>
          <p:nvPr>
            <p:ph type="title"/>
          </p:nvPr>
        </p:nvSpPr>
        <p:spPr/>
        <p:txBody>
          <a:bodyPr/>
          <a:lstStyle/>
          <a:p>
            <a:r>
              <a:rPr lang="en-US" altLang="zh-CN" dirty="0"/>
              <a:t>5 </a:t>
            </a:r>
            <a:r>
              <a:rPr lang="zh-CN" altLang="en-US" dirty="0"/>
              <a:t>改进思路一：参数自适应优化</a:t>
            </a:r>
          </a:p>
        </p:txBody>
      </p:sp>
      <p:sp>
        <p:nvSpPr>
          <p:cNvPr id="8" name="Rectangle 5">
            <a:extLst>
              <a:ext uri="{FF2B5EF4-FFF2-40B4-BE49-F238E27FC236}">
                <a16:creationId xmlns:a16="http://schemas.microsoft.com/office/drawing/2014/main" id="{D27263F2-3C7B-3635-EF4E-D642B449302B}"/>
              </a:ext>
            </a:extLst>
          </p:cNvPr>
          <p:cNvSpPr>
            <a:spLocks noChangeArrowheads="1"/>
          </p:cNvSpPr>
          <p:nvPr/>
        </p:nvSpPr>
        <p:spPr bwMode="auto">
          <a:xfrm>
            <a:off x="792481" y="1362911"/>
            <a:ext cx="4567279" cy="812777"/>
          </a:xfrm>
          <a:prstGeom prst="rect">
            <a:avLst/>
          </a:prstGeom>
          <a:solidFill>
            <a:srgbClr val="00377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sz="4800" b="1" dirty="0">
                <a:solidFill>
                  <a:schemeClr val="bg1"/>
                </a:solidFill>
                <a:latin typeface="+mj-ea"/>
                <a:ea typeface="+mj-ea"/>
              </a:rPr>
              <a:t>参数</a:t>
            </a:r>
            <a:r>
              <a:rPr lang="zh-CN" altLang="en-US" sz="4800" b="1" dirty="0">
                <a:solidFill>
                  <a:srgbClr val="00B050"/>
                </a:solidFill>
                <a:latin typeface="+mj-ea"/>
                <a:ea typeface="+mj-ea"/>
              </a:rPr>
              <a:t>自适应</a:t>
            </a:r>
            <a:r>
              <a:rPr lang="zh-CN" altLang="en-US" sz="4800" b="1" dirty="0">
                <a:solidFill>
                  <a:schemeClr val="bg1"/>
                </a:solidFill>
                <a:latin typeface="+mj-ea"/>
                <a:ea typeface="+mj-ea"/>
              </a:rPr>
              <a:t>优化</a:t>
            </a:r>
          </a:p>
        </p:txBody>
      </p:sp>
      <p:sp>
        <p:nvSpPr>
          <p:cNvPr id="10" name="文本框 9">
            <a:extLst>
              <a:ext uri="{FF2B5EF4-FFF2-40B4-BE49-F238E27FC236}">
                <a16:creationId xmlns:a16="http://schemas.microsoft.com/office/drawing/2014/main" id="{AC2D83C7-6087-2CD6-3A2B-35D22676BB7C}"/>
              </a:ext>
            </a:extLst>
          </p:cNvPr>
          <p:cNvSpPr txBox="1"/>
          <p:nvPr/>
        </p:nvSpPr>
        <p:spPr>
          <a:xfrm>
            <a:off x="792481" y="2437664"/>
            <a:ext cx="6337368" cy="830997"/>
          </a:xfrm>
          <a:prstGeom prst="rect">
            <a:avLst/>
          </a:prstGeom>
          <a:noFill/>
        </p:spPr>
        <p:txBody>
          <a:bodyPr wrap="square">
            <a:spAutoFit/>
          </a:bodyPr>
          <a:lstStyle/>
          <a:p>
            <a:r>
              <a:rPr lang="en-US" altLang="zh-CN" sz="2400" dirty="0">
                <a:latin typeface="Urbanist"/>
              </a:rPr>
              <a:t>——</a:t>
            </a:r>
            <a:r>
              <a:rPr lang="zh-CN" altLang="en-US" sz="2400" b="0" i="0" dirty="0">
                <a:effectLst/>
                <a:latin typeface="Urbanist"/>
              </a:rPr>
              <a:t>解决标准算法参数敏感与后期收敛震荡的问题</a:t>
            </a:r>
            <a:endParaRPr lang="zh-CN" altLang="en-US" sz="2400" dirty="0"/>
          </a:p>
        </p:txBody>
      </p:sp>
      <p:sp>
        <p:nvSpPr>
          <p:cNvPr id="11" name="Freeform 139">
            <a:extLst>
              <a:ext uri="{FF2B5EF4-FFF2-40B4-BE49-F238E27FC236}">
                <a16:creationId xmlns:a16="http://schemas.microsoft.com/office/drawing/2014/main" id="{E8EB5CAE-5457-89C6-11F2-2A8756D931FF}"/>
              </a:ext>
            </a:extLst>
          </p:cNvPr>
          <p:cNvSpPr>
            <a:spLocks/>
          </p:cNvSpPr>
          <p:nvPr/>
        </p:nvSpPr>
        <p:spPr bwMode="auto">
          <a:xfrm>
            <a:off x="792481" y="3530637"/>
            <a:ext cx="204176" cy="384257"/>
          </a:xfrm>
          <a:custGeom>
            <a:avLst/>
            <a:gdLst>
              <a:gd name="T0" fmla="*/ 0 w 161"/>
              <a:gd name="T1" fmla="*/ 0 h 303"/>
              <a:gd name="T2" fmla="*/ 0 w 161"/>
              <a:gd name="T3" fmla="*/ 303 h 303"/>
              <a:gd name="T4" fmla="*/ 0 w 161"/>
              <a:gd name="T5" fmla="*/ 303 h 303"/>
              <a:gd name="T6" fmla="*/ 81 w 161"/>
              <a:gd name="T7" fmla="*/ 234 h 303"/>
              <a:gd name="T8" fmla="*/ 161 w 161"/>
              <a:gd name="T9" fmla="*/ 303 h 303"/>
              <a:gd name="T10" fmla="*/ 161 w 161"/>
              <a:gd name="T11" fmla="*/ 303 h 303"/>
              <a:gd name="T12" fmla="*/ 161 w 161"/>
              <a:gd name="T13" fmla="*/ 0 h 303"/>
              <a:gd name="T14" fmla="*/ 0 w 161"/>
              <a:gd name="T15" fmla="*/ 0 h 3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 h="303">
                <a:moveTo>
                  <a:pt x="0" y="0"/>
                </a:moveTo>
                <a:lnTo>
                  <a:pt x="0" y="303"/>
                </a:lnTo>
                <a:lnTo>
                  <a:pt x="0" y="303"/>
                </a:lnTo>
                <a:lnTo>
                  <a:pt x="81" y="234"/>
                </a:lnTo>
                <a:lnTo>
                  <a:pt x="161" y="303"/>
                </a:lnTo>
                <a:lnTo>
                  <a:pt x="161" y="303"/>
                </a:lnTo>
                <a:lnTo>
                  <a:pt x="161" y="0"/>
                </a:lnTo>
                <a:lnTo>
                  <a:pt x="0" y="0"/>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12" name="文本框 11">
            <a:extLst>
              <a:ext uri="{FF2B5EF4-FFF2-40B4-BE49-F238E27FC236}">
                <a16:creationId xmlns:a16="http://schemas.microsoft.com/office/drawing/2014/main" id="{C07870CE-AA26-3E6D-C2A7-27F997BE95FC}"/>
              </a:ext>
            </a:extLst>
          </p:cNvPr>
          <p:cNvSpPr txBox="1"/>
          <p:nvPr/>
        </p:nvSpPr>
        <p:spPr>
          <a:xfrm>
            <a:off x="996657" y="3395434"/>
            <a:ext cx="6133192" cy="1138517"/>
          </a:xfrm>
          <a:prstGeom prst="rect">
            <a:avLst/>
          </a:prstGeom>
          <a:noFill/>
        </p:spPr>
        <p:txBody>
          <a:bodyPr wrap="square">
            <a:spAutoFit/>
          </a:bodyPr>
          <a:lstStyle/>
          <a:p>
            <a:pPr>
              <a:lnSpc>
                <a:spcPct val="130000"/>
              </a:lnSpc>
            </a:pPr>
            <a:r>
              <a:rPr lang="zh-CN" altLang="en-US" b="1" dirty="0">
                <a:latin typeface="Arial" panose="020B0604020202020204" pitchFamily="34" charset="0"/>
              </a:rPr>
              <a:t>混沌初始化 </a:t>
            </a:r>
            <a:r>
              <a:rPr lang="en-US" altLang="zh-CN" b="1" dirty="0">
                <a:latin typeface="Arial" panose="020B0604020202020204" pitchFamily="34" charset="0"/>
              </a:rPr>
              <a:t>(Chaos Initialization)</a:t>
            </a:r>
            <a:r>
              <a:rPr lang="zh-CN" altLang="en-US" b="1" dirty="0">
                <a:latin typeface="Arial" panose="020B0604020202020204" pitchFamily="34" charset="0"/>
              </a:rPr>
              <a:t>：</a:t>
            </a:r>
            <a:r>
              <a:rPr lang="zh-CN" altLang="en-US" dirty="0">
                <a:latin typeface="Arial" panose="020B0604020202020204" pitchFamily="34" charset="0"/>
              </a:rPr>
              <a:t>基于混沌理论映射生成初始种群，打破伪随机数的局限，确保萤火虫在解空间分布更均匀。</a:t>
            </a:r>
          </a:p>
        </p:txBody>
      </p:sp>
      <p:sp>
        <p:nvSpPr>
          <p:cNvPr id="13" name="Freeform 139">
            <a:extLst>
              <a:ext uri="{FF2B5EF4-FFF2-40B4-BE49-F238E27FC236}">
                <a16:creationId xmlns:a16="http://schemas.microsoft.com/office/drawing/2014/main" id="{3704CC37-8E2F-A5E9-0A05-F5E84D67425C}"/>
              </a:ext>
            </a:extLst>
          </p:cNvPr>
          <p:cNvSpPr>
            <a:spLocks/>
          </p:cNvSpPr>
          <p:nvPr/>
        </p:nvSpPr>
        <p:spPr bwMode="auto">
          <a:xfrm>
            <a:off x="792481" y="4660661"/>
            <a:ext cx="204176" cy="384257"/>
          </a:xfrm>
          <a:custGeom>
            <a:avLst/>
            <a:gdLst>
              <a:gd name="T0" fmla="*/ 0 w 161"/>
              <a:gd name="T1" fmla="*/ 0 h 303"/>
              <a:gd name="T2" fmla="*/ 0 w 161"/>
              <a:gd name="T3" fmla="*/ 303 h 303"/>
              <a:gd name="T4" fmla="*/ 0 w 161"/>
              <a:gd name="T5" fmla="*/ 303 h 303"/>
              <a:gd name="T6" fmla="*/ 81 w 161"/>
              <a:gd name="T7" fmla="*/ 234 h 303"/>
              <a:gd name="T8" fmla="*/ 161 w 161"/>
              <a:gd name="T9" fmla="*/ 303 h 303"/>
              <a:gd name="T10" fmla="*/ 161 w 161"/>
              <a:gd name="T11" fmla="*/ 303 h 303"/>
              <a:gd name="T12" fmla="*/ 161 w 161"/>
              <a:gd name="T13" fmla="*/ 0 h 303"/>
              <a:gd name="T14" fmla="*/ 0 w 161"/>
              <a:gd name="T15" fmla="*/ 0 h 3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 h="303">
                <a:moveTo>
                  <a:pt x="0" y="0"/>
                </a:moveTo>
                <a:lnTo>
                  <a:pt x="0" y="303"/>
                </a:lnTo>
                <a:lnTo>
                  <a:pt x="0" y="303"/>
                </a:lnTo>
                <a:lnTo>
                  <a:pt x="81" y="234"/>
                </a:lnTo>
                <a:lnTo>
                  <a:pt x="161" y="303"/>
                </a:lnTo>
                <a:lnTo>
                  <a:pt x="161" y="303"/>
                </a:lnTo>
                <a:lnTo>
                  <a:pt x="161" y="0"/>
                </a:lnTo>
                <a:lnTo>
                  <a:pt x="0" y="0"/>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C88CF92-A698-79A8-8A67-78AD524FCB3A}"/>
                  </a:ext>
                </a:extLst>
              </p:cNvPr>
              <p:cNvSpPr txBox="1"/>
              <p:nvPr/>
            </p:nvSpPr>
            <p:spPr>
              <a:xfrm>
                <a:off x="1014224" y="4573121"/>
                <a:ext cx="6098058" cy="778418"/>
              </a:xfrm>
              <a:prstGeom prst="rect">
                <a:avLst/>
              </a:prstGeom>
              <a:noFill/>
            </p:spPr>
            <p:txBody>
              <a:bodyPr wrap="square">
                <a:spAutoFit/>
              </a:bodyPr>
              <a:lstStyle/>
              <a:p>
                <a:pPr>
                  <a:lnSpc>
                    <a:spcPct val="130000"/>
                  </a:lnSpc>
                </a:pPr>
                <a:r>
                  <a:rPr lang="zh-CN" altLang="en-US" b="1" dirty="0">
                    <a:latin typeface="Arial" panose="020B0604020202020204" pitchFamily="34" charset="0"/>
                  </a:rPr>
                  <a:t>自适应步长 </a:t>
                </a:r>
                <a:r>
                  <a:rPr lang="en-US" altLang="zh-CN" b="1" dirty="0">
                    <a:latin typeface="Arial" panose="020B0604020202020204" pitchFamily="34" charset="0"/>
                  </a:rPr>
                  <a:t>(Adaptive Step Size)</a:t>
                </a:r>
                <a:r>
                  <a:rPr lang="zh-CN" altLang="en-US" b="1" dirty="0">
                    <a:latin typeface="Arial" panose="020B0604020202020204" pitchFamily="34" charset="0"/>
                  </a:rPr>
                  <a:t> ：</a:t>
                </a:r>
                <a:r>
                  <a:rPr lang="zh-CN" altLang="en-US" dirty="0">
                    <a:latin typeface="Arial" panose="020B0604020202020204" pitchFamily="34" charset="0"/>
                  </a:rPr>
                  <a:t>设计随迭代次数衰减的步长因子 </a:t>
                </a:r>
                <a14:m>
                  <m:oMath xmlns:m="http://schemas.openxmlformats.org/officeDocument/2006/math">
                    <m:r>
                      <a:rPr lang="en-US" altLang="zh-CN" i="1" dirty="0" smtClean="0">
                        <a:latin typeface="Cambria Math" panose="02040503050406030204" pitchFamily="18" charset="0"/>
                      </a:rPr>
                      <m:t>𝛼</m:t>
                    </m:r>
                  </m:oMath>
                </a14:m>
                <a:r>
                  <a:rPr lang="zh-CN" altLang="en-US" dirty="0">
                    <a:latin typeface="Arial" panose="020B0604020202020204" pitchFamily="34" charset="0"/>
                  </a:rPr>
                  <a:t>。</a:t>
                </a:r>
                <a:endParaRPr lang="en-US" altLang="zh-CN" dirty="0">
                  <a:latin typeface="Arial" panose="020B0604020202020204" pitchFamily="34" charset="0"/>
                </a:endParaRPr>
              </a:p>
            </p:txBody>
          </p:sp>
        </mc:Choice>
        <mc:Fallback xmlns="">
          <p:sp>
            <p:nvSpPr>
              <p:cNvPr id="15" name="文本框 14">
                <a:extLst>
                  <a:ext uri="{FF2B5EF4-FFF2-40B4-BE49-F238E27FC236}">
                    <a16:creationId xmlns:a16="http://schemas.microsoft.com/office/drawing/2014/main" id="{9C88CF92-A698-79A8-8A67-78AD524FCB3A}"/>
                  </a:ext>
                </a:extLst>
              </p:cNvPr>
              <p:cNvSpPr txBox="1">
                <a:spLocks noRot="1" noChangeAspect="1" noMove="1" noResize="1" noEditPoints="1" noAdjustHandles="1" noChangeArrowheads="1" noChangeShapeType="1" noTextEdit="1"/>
              </p:cNvSpPr>
              <p:nvPr/>
            </p:nvSpPr>
            <p:spPr>
              <a:xfrm>
                <a:off x="1014224" y="4573121"/>
                <a:ext cx="6098058" cy="778418"/>
              </a:xfrm>
              <a:prstGeom prst="rect">
                <a:avLst/>
              </a:prstGeom>
              <a:blipFill>
                <a:blip r:embed="rId2"/>
                <a:stretch>
                  <a:fillRect l="-799" b="-10938"/>
                </a:stretch>
              </a:blipFill>
            </p:spPr>
            <p:txBody>
              <a:bodyPr/>
              <a:lstStyle/>
              <a:p>
                <a:r>
                  <a:rPr lang="zh-CN" altLang="en-US">
                    <a:noFill/>
                  </a:rPr>
                  <a:t> </a:t>
                </a:r>
              </a:p>
            </p:txBody>
          </p:sp>
        </mc:Fallback>
      </mc:AlternateContent>
      <p:sp>
        <p:nvSpPr>
          <p:cNvPr id="16" name="Freeform 139">
            <a:extLst>
              <a:ext uri="{FF2B5EF4-FFF2-40B4-BE49-F238E27FC236}">
                <a16:creationId xmlns:a16="http://schemas.microsoft.com/office/drawing/2014/main" id="{D12D1A80-A426-715E-3505-A866BD66EE5A}"/>
              </a:ext>
            </a:extLst>
          </p:cNvPr>
          <p:cNvSpPr>
            <a:spLocks/>
          </p:cNvSpPr>
          <p:nvPr/>
        </p:nvSpPr>
        <p:spPr bwMode="auto">
          <a:xfrm>
            <a:off x="792481" y="5517618"/>
            <a:ext cx="204176" cy="384257"/>
          </a:xfrm>
          <a:custGeom>
            <a:avLst/>
            <a:gdLst>
              <a:gd name="T0" fmla="*/ 0 w 161"/>
              <a:gd name="T1" fmla="*/ 0 h 303"/>
              <a:gd name="T2" fmla="*/ 0 w 161"/>
              <a:gd name="T3" fmla="*/ 303 h 303"/>
              <a:gd name="T4" fmla="*/ 0 w 161"/>
              <a:gd name="T5" fmla="*/ 303 h 303"/>
              <a:gd name="T6" fmla="*/ 81 w 161"/>
              <a:gd name="T7" fmla="*/ 234 h 303"/>
              <a:gd name="T8" fmla="*/ 161 w 161"/>
              <a:gd name="T9" fmla="*/ 303 h 303"/>
              <a:gd name="T10" fmla="*/ 161 w 161"/>
              <a:gd name="T11" fmla="*/ 303 h 303"/>
              <a:gd name="T12" fmla="*/ 161 w 161"/>
              <a:gd name="T13" fmla="*/ 0 h 303"/>
              <a:gd name="T14" fmla="*/ 0 w 161"/>
              <a:gd name="T15" fmla="*/ 0 h 3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 h="303">
                <a:moveTo>
                  <a:pt x="0" y="0"/>
                </a:moveTo>
                <a:lnTo>
                  <a:pt x="0" y="303"/>
                </a:lnTo>
                <a:lnTo>
                  <a:pt x="0" y="303"/>
                </a:lnTo>
                <a:lnTo>
                  <a:pt x="81" y="234"/>
                </a:lnTo>
                <a:lnTo>
                  <a:pt x="161" y="303"/>
                </a:lnTo>
                <a:lnTo>
                  <a:pt x="161" y="303"/>
                </a:lnTo>
                <a:lnTo>
                  <a:pt x="161" y="0"/>
                </a:lnTo>
                <a:lnTo>
                  <a:pt x="0" y="0"/>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文本框 17">
            <a:extLst>
              <a:ext uri="{FF2B5EF4-FFF2-40B4-BE49-F238E27FC236}">
                <a16:creationId xmlns:a16="http://schemas.microsoft.com/office/drawing/2014/main" id="{A8CE5786-8309-B0D6-98D6-B36290EFACE3}"/>
              </a:ext>
            </a:extLst>
          </p:cNvPr>
          <p:cNvSpPr txBox="1"/>
          <p:nvPr/>
        </p:nvSpPr>
        <p:spPr>
          <a:xfrm>
            <a:off x="996657" y="5390773"/>
            <a:ext cx="6098058" cy="782137"/>
          </a:xfrm>
          <a:prstGeom prst="rect">
            <a:avLst/>
          </a:prstGeom>
          <a:noFill/>
        </p:spPr>
        <p:txBody>
          <a:bodyPr wrap="square">
            <a:spAutoFit/>
          </a:bodyPr>
          <a:lstStyle/>
          <a:p>
            <a:pPr>
              <a:lnSpc>
                <a:spcPct val="130000"/>
              </a:lnSpc>
              <a:spcAft>
                <a:spcPts val="1875"/>
              </a:spcAft>
            </a:pPr>
            <a:r>
              <a:rPr lang="zh-CN" altLang="en-US" b="1" dirty="0">
                <a:latin typeface="Arial" panose="020B0604020202020204" pitchFamily="34" charset="0"/>
              </a:rPr>
              <a:t>动态平衡：</a:t>
            </a:r>
            <a:r>
              <a:rPr lang="zh-CN" altLang="en-US" dirty="0">
                <a:latin typeface="Arial" panose="020B0604020202020204" pitchFamily="34" charset="0"/>
              </a:rPr>
              <a:t>初期使用大步长进行全局探索 ，后期自动切换为小步长进行局部精细开发 。</a:t>
            </a:r>
          </a:p>
        </p:txBody>
      </p:sp>
      <p:sp>
        <p:nvSpPr>
          <p:cNvPr id="24" name="文本框 23">
            <a:extLst>
              <a:ext uri="{FF2B5EF4-FFF2-40B4-BE49-F238E27FC236}">
                <a16:creationId xmlns:a16="http://schemas.microsoft.com/office/drawing/2014/main" id="{7649D9B9-52E0-8A35-1E8E-8AF6AC34F6F5}"/>
              </a:ext>
            </a:extLst>
          </p:cNvPr>
          <p:cNvSpPr txBox="1"/>
          <p:nvPr/>
        </p:nvSpPr>
        <p:spPr>
          <a:xfrm>
            <a:off x="8458167" y="3429830"/>
            <a:ext cx="2079024" cy="369332"/>
          </a:xfrm>
          <a:prstGeom prst="rect">
            <a:avLst/>
          </a:prstGeom>
          <a:noFill/>
        </p:spPr>
        <p:txBody>
          <a:bodyPr wrap="square">
            <a:spAutoFit/>
          </a:bodyPr>
          <a:lstStyle/>
          <a:p>
            <a:r>
              <a:rPr lang="zh-CN" altLang="en-US" b="1" dirty="0"/>
              <a:t>一维</a:t>
            </a:r>
            <a:r>
              <a:rPr lang="zh-CN" altLang="en-US" b="1" dirty="0">
                <a:latin typeface="Arial" panose="020B0604020202020204" pitchFamily="34" charset="0"/>
              </a:rPr>
              <a:t>混沌</a:t>
            </a:r>
            <a:r>
              <a:rPr lang="zh-CN" altLang="en-US" b="1" dirty="0"/>
              <a:t>映射：</a:t>
            </a:r>
          </a:p>
        </p:txBody>
      </p:sp>
      <p:sp>
        <p:nvSpPr>
          <p:cNvPr id="25" name="Freeform 39">
            <a:extLst>
              <a:ext uri="{FF2B5EF4-FFF2-40B4-BE49-F238E27FC236}">
                <a16:creationId xmlns:a16="http://schemas.microsoft.com/office/drawing/2014/main" id="{A8942B74-EB9E-FE3E-AC01-5504303938F4}"/>
              </a:ext>
            </a:extLst>
          </p:cNvPr>
          <p:cNvSpPr>
            <a:spLocks noEditPoints="1"/>
          </p:cNvSpPr>
          <p:nvPr/>
        </p:nvSpPr>
        <p:spPr bwMode="auto">
          <a:xfrm>
            <a:off x="8107681" y="3407606"/>
            <a:ext cx="203952" cy="383836"/>
          </a:xfrm>
          <a:custGeom>
            <a:avLst/>
            <a:gdLst>
              <a:gd name="T0" fmla="*/ 68 w 68"/>
              <a:gd name="T1" fmla="*/ 44 h 128"/>
              <a:gd name="T2" fmla="*/ 34 w 68"/>
              <a:gd name="T3" fmla="*/ 0 h 128"/>
              <a:gd name="T4" fmla="*/ 0 w 68"/>
              <a:gd name="T5" fmla="*/ 44 h 128"/>
              <a:gd name="T6" fmla="*/ 29 w 68"/>
              <a:gd name="T7" fmla="*/ 88 h 128"/>
              <a:gd name="T8" fmla="*/ 25 w 68"/>
              <a:gd name="T9" fmla="*/ 96 h 128"/>
              <a:gd name="T10" fmla="*/ 30 w 68"/>
              <a:gd name="T11" fmla="*/ 96 h 128"/>
              <a:gd name="T12" fmla="*/ 30 w 68"/>
              <a:gd name="T13" fmla="*/ 128 h 128"/>
              <a:gd name="T14" fmla="*/ 35 w 68"/>
              <a:gd name="T15" fmla="*/ 128 h 128"/>
              <a:gd name="T16" fmla="*/ 35 w 68"/>
              <a:gd name="T17" fmla="*/ 96 h 128"/>
              <a:gd name="T18" fmla="*/ 40 w 68"/>
              <a:gd name="T19" fmla="*/ 96 h 128"/>
              <a:gd name="T20" fmla="*/ 36 w 68"/>
              <a:gd name="T21" fmla="*/ 88 h 128"/>
              <a:gd name="T22" fmla="*/ 68 w 68"/>
              <a:gd name="T23" fmla="*/ 44 h 128"/>
              <a:gd name="T24" fmla="*/ 25 w 68"/>
              <a:gd name="T25" fmla="*/ 19 h 128"/>
              <a:gd name="T26" fmla="*/ 22 w 68"/>
              <a:gd name="T27" fmla="*/ 22 h 128"/>
              <a:gd name="T28" fmla="*/ 17 w 68"/>
              <a:gd name="T29" fmla="*/ 32 h 128"/>
              <a:gd name="T30" fmla="*/ 15 w 68"/>
              <a:gd name="T31" fmla="*/ 44 h 128"/>
              <a:gd name="T32" fmla="*/ 5 w 68"/>
              <a:gd name="T33" fmla="*/ 44 h 128"/>
              <a:gd name="T34" fmla="*/ 8 w 68"/>
              <a:gd name="T35" fmla="*/ 29 h 128"/>
              <a:gd name="T36" fmla="*/ 14 w 68"/>
              <a:gd name="T37" fmla="*/ 16 h 128"/>
              <a:gd name="T38" fmla="*/ 25 w 68"/>
              <a:gd name="T39" fmla="*/ 8 h 128"/>
              <a:gd name="T40" fmla="*/ 25 w 68"/>
              <a:gd name="T41" fmla="*/ 1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128">
                <a:moveTo>
                  <a:pt x="68" y="44"/>
                </a:moveTo>
                <a:cubicBezTo>
                  <a:pt x="68" y="20"/>
                  <a:pt x="53" y="0"/>
                  <a:pt x="34" y="0"/>
                </a:cubicBezTo>
                <a:cubicBezTo>
                  <a:pt x="15" y="0"/>
                  <a:pt x="0" y="20"/>
                  <a:pt x="0" y="44"/>
                </a:cubicBezTo>
                <a:cubicBezTo>
                  <a:pt x="0" y="66"/>
                  <a:pt x="12" y="85"/>
                  <a:pt x="29" y="88"/>
                </a:cubicBezTo>
                <a:cubicBezTo>
                  <a:pt x="25" y="96"/>
                  <a:pt x="25" y="96"/>
                  <a:pt x="25" y="96"/>
                </a:cubicBezTo>
                <a:cubicBezTo>
                  <a:pt x="30" y="96"/>
                  <a:pt x="30" y="96"/>
                  <a:pt x="30" y="96"/>
                </a:cubicBezTo>
                <a:cubicBezTo>
                  <a:pt x="30" y="128"/>
                  <a:pt x="30" y="128"/>
                  <a:pt x="30" y="128"/>
                </a:cubicBezTo>
                <a:cubicBezTo>
                  <a:pt x="35" y="128"/>
                  <a:pt x="35" y="128"/>
                  <a:pt x="35" y="128"/>
                </a:cubicBezTo>
                <a:cubicBezTo>
                  <a:pt x="35" y="96"/>
                  <a:pt x="35" y="96"/>
                  <a:pt x="35" y="96"/>
                </a:cubicBezTo>
                <a:cubicBezTo>
                  <a:pt x="40" y="96"/>
                  <a:pt x="40" y="96"/>
                  <a:pt x="40" y="96"/>
                </a:cubicBezTo>
                <a:cubicBezTo>
                  <a:pt x="36" y="88"/>
                  <a:pt x="36" y="88"/>
                  <a:pt x="36" y="88"/>
                </a:cubicBezTo>
                <a:cubicBezTo>
                  <a:pt x="54" y="87"/>
                  <a:pt x="68" y="68"/>
                  <a:pt x="68" y="44"/>
                </a:cubicBezTo>
                <a:close/>
                <a:moveTo>
                  <a:pt x="25" y="19"/>
                </a:moveTo>
                <a:cubicBezTo>
                  <a:pt x="24" y="20"/>
                  <a:pt x="23" y="21"/>
                  <a:pt x="22" y="22"/>
                </a:cubicBezTo>
                <a:cubicBezTo>
                  <a:pt x="20" y="25"/>
                  <a:pt x="18" y="28"/>
                  <a:pt x="17" y="32"/>
                </a:cubicBezTo>
                <a:cubicBezTo>
                  <a:pt x="16" y="36"/>
                  <a:pt x="15" y="40"/>
                  <a:pt x="15" y="44"/>
                </a:cubicBezTo>
                <a:cubicBezTo>
                  <a:pt x="5" y="44"/>
                  <a:pt x="5" y="44"/>
                  <a:pt x="5" y="44"/>
                </a:cubicBezTo>
                <a:cubicBezTo>
                  <a:pt x="5" y="39"/>
                  <a:pt x="6" y="34"/>
                  <a:pt x="8" y="29"/>
                </a:cubicBezTo>
                <a:cubicBezTo>
                  <a:pt x="9" y="24"/>
                  <a:pt x="11" y="20"/>
                  <a:pt x="14" y="16"/>
                </a:cubicBezTo>
                <a:cubicBezTo>
                  <a:pt x="17" y="12"/>
                  <a:pt x="21" y="9"/>
                  <a:pt x="25" y="8"/>
                </a:cubicBezTo>
                <a:lnTo>
                  <a:pt x="25" y="19"/>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pic>
        <p:nvPicPr>
          <p:cNvPr id="28" name="图片 27">
            <a:extLst>
              <a:ext uri="{FF2B5EF4-FFF2-40B4-BE49-F238E27FC236}">
                <a16:creationId xmlns:a16="http://schemas.microsoft.com/office/drawing/2014/main" id="{9726D88B-3F1E-1ACC-A511-E0B42110AFDF}"/>
              </a:ext>
            </a:extLst>
          </p:cNvPr>
          <p:cNvPicPr>
            <a:picLocks noChangeAspect="1"/>
          </p:cNvPicPr>
          <p:nvPr/>
        </p:nvPicPr>
        <p:blipFill>
          <a:blip r:embed="rId3"/>
          <a:stretch>
            <a:fillRect/>
          </a:stretch>
        </p:blipFill>
        <p:spPr>
          <a:xfrm>
            <a:off x="8209657" y="4048176"/>
            <a:ext cx="2000250" cy="485775"/>
          </a:xfrm>
          <a:prstGeom prst="rect">
            <a:avLst/>
          </a:prstGeom>
        </p:spPr>
      </p:pic>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A03BF3F6-681C-756E-187A-0AF0447D046D}"/>
                  </a:ext>
                </a:extLst>
              </p:cNvPr>
              <p:cNvSpPr txBox="1"/>
              <p:nvPr/>
            </p:nvSpPr>
            <p:spPr>
              <a:xfrm>
                <a:off x="8107681" y="4901009"/>
                <a:ext cx="3036181" cy="923330"/>
              </a:xfrm>
              <a:prstGeom prst="rect">
                <a:avLst/>
              </a:prstGeom>
              <a:noFill/>
            </p:spPr>
            <p:txBody>
              <a:bodyPr wrap="square">
                <a:spAutoFit/>
              </a:bodyPr>
              <a:lstStyle/>
              <a:p>
                <a:r>
                  <a:rPr lang="zh-CN" altLang="en-US" dirty="0"/>
                  <a:t>其中，</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𝑘</m:t>
                        </m:r>
                      </m:sub>
                    </m:sSub>
                  </m:oMath>
                </a14:m>
                <a:r>
                  <a:rPr lang="zh-CN" altLang="en-US" dirty="0"/>
                  <a:t>为混沌域，取值为</a:t>
                </a:r>
                <a14:m>
                  <m:oMath xmlns:m="http://schemas.openxmlformats.org/officeDocument/2006/math">
                    <m:r>
                      <a:rPr lang="en-US" altLang="zh-CN" i="1" dirty="0" smtClean="0">
                        <a:latin typeface="Cambria Math" panose="02040503050406030204" pitchFamily="18" charset="0"/>
                      </a:rPr>
                      <m:t>0</m:t>
                    </m:r>
                    <m:r>
                      <a:rPr lang="en-US" altLang="zh-CN" b="0" i="1" dirty="0" smtClean="0">
                        <a:latin typeface="Cambria Math" panose="02040503050406030204" pitchFamily="18" charset="0"/>
                      </a:rPr>
                      <m:t>≤</m:t>
                    </m:r>
                    <m:r>
                      <m:rPr>
                        <m:sty m:val="p"/>
                      </m:rPr>
                      <a:rPr lang="en-US" altLang="zh-CN" b="0" i="1" dirty="0" smtClean="0">
                        <a:latin typeface="Cambria Math" panose="02040503050406030204" pitchFamily="18" charset="0"/>
                      </a:rPr>
                      <m:t>k</m:t>
                    </m:r>
                    <m:r>
                      <a:rPr lang="en-US" altLang="zh-CN" i="1" dirty="0">
                        <a:latin typeface="Cambria Math" panose="02040503050406030204" pitchFamily="18" charset="0"/>
                      </a:rPr>
                      <m:t>≤</m:t>
                    </m:r>
                    <m:r>
                      <a:rPr lang="en-US" altLang="zh-CN" i="1" dirty="0" smtClean="0">
                        <a:latin typeface="Cambria Math" panose="02040503050406030204" pitchFamily="18" charset="0"/>
                      </a:rPr>
                      <m:t>1</m:t>
                    </m:r>
                  </m:oMath>
                </a14:m>
                <a:r>
                  <a:rPr lang="zh-CN" altLang="en-US" dirty="0"/>
                  <a:t>；</a:t>
                </a:r>
                <a14:m>
                  <m:oMath xmlns:m="http://schemas.openxmlformats.org/officeDocument/2006/math">
                    <m:r>
                      <a:rPr lang="en-US" altLang="zh-CN" i="1" dirty="0" smtClean="0">
                        <a:latin typeface="Cambria Math" panose="02040503050406030204" pitchFamily="18" charset="0"/>
                      </a:rPr>
                      <m:t>𝜇</m:t>
                    </m:r>
                  </m:oMath>
                </a14:m>
                <a:r>
                  <a:rPr lang="zh-CN" altLang="en-US" dirty="0"/>
                  <a:t>为分支参数，取值范围为</a:t>
                </a:r>
                <a:r>
                  <a:rPr lang="en-US" altLang="zh-CN" dirty="0"/>
                  <a:t>[0,4]</a:t>
                </a:r>
                <a:r>
                  <a:rPr lang="zh-CN" altLang="en-US" dirty="0"/>
                  <a:t>。</a:t>
                </a:r>
              </a:p>
            </p:txBody>
          </p:sp>
        </mc:Choice>
        <mc:Fallback xmlns="">
          <p:sp>
            <p:nvSpPr>
              <p:cNvPr id="30" name="文本框 29">
                <a:extLst>
                  <a:ext uri="{FF2B5EF4-FFF2-40B4-BE49-F238E27FC236}">
                    <a16:creationId xmlns:a16="http://schemas.microsoft.com/office/drawing/2014/main" id="{A03BF3F6-681C-756E-187A-0AF0447D046D}"/>
                  </a:ext>
                </a:extLst>
              </p:cNvPr>
              <p:cNvSpPr txBox="1">
                <a:spLocks noRot="1" noChangeAspect="1" noMove="1" noResize="1" noEditPoints="1" noAdjustHandles="1" noChangeArrowheads="1" noChangeShapeType="1" noTextEdit="1"/>
              </p:cNvSpPr>
              <p:nvPr/>
            </p:nvSpPr>
            <p:spPr>
              <a:xfrm>
                <a:off x="8107681" y="4901009"/>
                <a:ext cx="3036181" cy="923330"/>
              </a:xfrm>
              <a:prstGeom prst="rect">
                <a:avLst/>
              </a:prstGeom>
              <a:blipFill>
                <a:blip r:embed="rId4"/>
                <a:stretch>
                  <a:fillRect l="-1606" t="-3974" b="-99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45448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80659-EB1B-2EC0-6903-BAC5BBD2C6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5B567A9-5B5C-76DD-16AF-11943DC9192F}"/>
              </a:ext>
            </a:extLst>
          </p:cNvPr>
          <p:cNvSpPr>
            <a:spLocks noGrp="1"/>
          </p:cNvSpPr>
          <p:nvPr>
            <p:ph type="title"/>
          </p:nvPr>
        </p:nvSpPr>
        <p:spPr/>
        <p:txBody>
          <a:bodyPr/>
          <a:lstStyle/>
          <a:p>
            <a:r>
              <a:rPr lang="en-US" altLang="zh-CN" dirty="0"/>
              <a:t>5 </a:t>
            </a:r>
            <a:r>
              <a:rPr lang="zh-CN" altLang="en-US" dirty="0"/>
              <a:t>改进思路二：引入莱维飞行机制</a:t>
            </a:r>
          </a:p>
        </p:txBody>
      </p:sp>
      <p:sp>
        <p:nvSpPr>
          <p:cNvPr id="8" name="Rectangle 5">
            <a:extLst>
              <a:ext uri="{FF2B5EF4-FFF2-40B4-BE49-F238E27FC236}">
                <a16:creationId xmlns:a16="http://schemas.microsoft.com/office/drawing/2014/main" id="{21989670-C17B-F58A-1863-AFF523A422A1}"/>
              </a:ext>
            </a:extLst>
          </p:cNvPr>
          <p:cNvSpPr>
            <a:spLocks noChangeArrowheads="1"/>
          </p:cNvSpPr>
          <p:nvPr/>
        </p:nvSpPr>
        <p:spPr bwMode="auto">
          <a:xfrm>
            <a:off x="792481" y="1362911"/>
            <a:ext cx="5151119" cy="812777"/>
          </a:xfrm>
          <a:prstGeom prst="rect">
            <a:avLst/>
          </a:prstGeom>
          <a:solidFill>
            <a:srgbClr val="00377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sz="4800" b="1" dirty="0">
                <a:solidFill>
                  <a:schemeClr val="bg1"/>
                </a:solidFill>
                <a:latin typeface="+mj-ea"/>
                <a:ea typeface="+mj-ea"/>
              </a:rPr>
              <a:t>引入</a:t>
            </a:r>
            <a:r>
              <a:rPr lang="zh-CN" altLang="en-US" sz="4800" b="1" dirty="0">
                <a:solidFill>
                  <a:srgbClr val="00B050"/>
                </a:solidFill>
                <a:latin typeface="+mj-ea"/>
                <a:ea typeface="+mj-ea"/>
              </a:rPr>
              <a:t>莱维飞行</a:t>
            </a:r>
            <a:r>
              <a:rPr lang="zh-CN" altLang="en-US" sz="4800" b="1" dirty="0">
                <a:solidFill>
                  <a:schemeClr val="bg1"/>
                </a:solidFill>
                <a:latin typeface="+mj-ea"/>
                <a:ea typeface="+mj-ea"/>
              </a:rPr>
              <a:t>机制</a:t>
            </a:r>
          </a:p>
        </p:txBody>
      </p:sp>
      <p:sp>
        <p:nvSpPr>
          <p:cNvPr id="10" name="文本框 9">
            <a:extLst>
              <a:ext uri="{FF2B5EF4-FFF2-40B4-BE49-F238E27FC236}">
                <a16:creationId xmlns:a16="http://schemas.microsoft.com/office/drawing/2014/main" id="{D8CBBBA0-AB89-5012-C61D-56368F18B5B2}"/>
              </a:ext>
            </a:extLst>
          </p:cNvPr>
          <p:cNvSpPr txBox="1"/>
          <p:nvPr/>
        </p:nvSpPr>
        <p:spPr>
          <a:xfrm>
            <a:off x="792481" y="2437664"/>
            <a:ext cx="6337368" cy="830997"/>
          </a:xfrm>
          <a:prstGeom prst="rect">
            <a:avLst/>
          </a:prstGeom>
          <a:noFill/>
        </p:spPr>
        <p:txBody>
          <a:bodyPr wrap="square">
            <a:spAutoFit/>
          </a:bodyPr>
          <a:lstStyle/>
          <a:p>
            <a:r>
              <a:rPr lang="en-US" altLang="zh-CN" sz="2400" dirty="0">
                <a:latin typeface="Urbanist"/>
              </a:rPr>
              <a:t>——</a:t>
            </a:r>
            <a:r>
              <a:rPr lang="zh-CN" altLang="en-US" dirty="0"/>
              <a:t> </a:t>
            </a:r>
            <a:r>
              <a:rPr lang="zh-CN" altLang="en-US" sz="2400" dirty="0">
                <a:latin typeface="Urbanist"/>
              </a:rPr>
              <a:t>解决标准的高斯随机游走 </a:t>
            </a:r>
            <a:r>
              <a:rPr lang="en-US" altLang="zh-CN" sz="2400" dirty="0">
                <a:latin typeface="Urbanist"/>
              </a:rPr>
              <a:t>(Random Walk) </a:t>
            </a:r>
            <a:r>
              <a:rPr lang="zh-CN" altLang="en-US" sz="2400" dirty="0">
                <a:latin typeface="Urbanist"/>
              </a:rPr>
              <a:t>搜索效率低，容易在平坦区域原地打转</a:t>
            </a:r>
            <a:r>
              <a:rPr lang="zh-CN" altLang="en-US" sz="2400" b="0" i="0" dirty="0">
                <a:effectLst/>
                <a:latin typeface="Urbanist"/>
              </a:rPr>
              <a:t>的问题</a:t>
            </a:r>
            <a:endParaRPr lang="zh-CN" altLang="en-US" sz="2400" dirty="0"/>
          </a:p>
        </p:txBody>
      </p:sp>
      <p:sp>
        <p:nvSpPr>
          <p:cNvPr id="4" name="文本框 3">
            <a:extLst>
              <a:ext uri="{FF2B5EF4-FFF2-40B4-BE49-F238E27FC236}">
                <a16:creationId xmlns:a16="http://schemas.microsoft.com/office/drawing/2014/main" id="{A0F54EBF-501C-7EB9-4743-8DA05D285BC3}"/>
              </a:ext>
            </a:extLst>
          </p:cNvPr>
          <p:cNvSpPr txBox="1"/>
          <p:nvPr/>
        </p:nvSpPr>
        <p:spPr>
          <a:xfrm>
            <a:off x="1121635" y="3614984"/>
            <a:ext cx="6098058" cy="646331"/>
          </a:xfrm>
          <a:prstGeom prst="rect">
            <a:avLst/>
          </a:prstGeom>
          <a:noFill/>
        </p:spPr>
        <p:txBody>
          <a:bodyPr wrap="square">
            <a:spAutoFit/>
          </a:bodyPr>
          <a:lstStyle/>
          <a:p>
            <a:r>
              <a:rPr lang="zh-CN" altLang="en-US" b="1" dirty="0">
                <a:latin typeface="Arial" panose="020B0604020202020204" pitchFamily="34" charset="0"/>
              </a:rPr>
              <a:t>莱维飞行：</a:t>
            </a:r>
            <a:r>
              <a:rPr lang="zh-CN" altLang="en-US" dirty="0">
                <a:latin typeface="Arial" panose="020B0604020202020204" pitchFamily="34" charset="0"/>
              </a:rPr>
              <a:t>模仿自然界（如信天翁）的觅食行为，采用“莱维飞行”模式。这是一种长尾分布的随机游走。</a:t>
            </a:r>
          </a:p>
        </p:txBody>
      </p:sp>
      <p:sp>
        <p:nvSpPr>
          <p:cNvPr id="5" name="Freeform 138">
            <a:extLst>
              <a:ext uri="{FF2B5EF4-FFF2-40B4-BE49-F238E27FC236}">
                <a16:creationId xmlns:a16="http://schemas.microsoft.com/office/drawing/2014/main" id="{E433AD0D-5671-9CD3-B5AE-1AC83232E5BB}"/>
              </a:ext>
            </a:extLst>
          </p:cNvPr>
          <p:cNvSpPr>
            <a:spLocks noEditPoints="1"/>
          </p:cNvSpPr>
          <p:nvPr/>
        </p:nvSpPr>
        <p:spPr bwMode="auto">
          <a:xfrm>
            <a:off x="918727" y="3697083"/>
            <a:ext cx="202908" cy="384257"/>
          </a:xfrm>
          <a:custGeom>
            <a:avLst/>
            <a:gdLst>
              <a:gd name="T0" fmla="*/ 0 w 160"/>
              <a:gd name="T1" fmla="*/ 0 h 303"/>
              <a:gd name="T2" fmla="*/ 0 w 160"/>
              <a:gd name="T3" fmla="*/ 303 h 303"/>
              <a:gd name="T4" fmla="*/ 80 w 160"/>
              <a:gd name="T5" fmla="*/ 234 h 303"/>
              <a:gd name="T6" fmla="*/ 160 w 160"/>
              <a:gd name="T7" fmla="*/ 303 h 303"/>
              <a:gd name="T8" fmla="*/ 160 w 160"/>
              <a:gd name="T9" fmla="*/ 0 h 303"/>
              <a:gd name="T10" fmla="*/ 0 w 160"/>
              <a:gd name="T11" fmla="*/ 0 h 303"/>
              <a:gd name="T12" fmla="*/ 108 w 160"/>
              <a:gd name="T13" fmla="*/ 170 h 303"/>
              <a:gd name="T14" fmla="*/ 80 w 160"/>
              <a:gd name="T15" fmla="*/ 156 h 303"/>
              <a:gd name="T16" fmla="*/ 52 w 160"/>
              <a:gd name="T17" fmla="*/ 170 h 303"/>
              <a:gd name="T18" fmla="*/ 56 w 160"/>
              <a:gd name="T19" fmla="*/ 139 h 303"/>
              <a:gd name="T20" fmla="*/ 33 w 160"/>
              <a:gd name="T21" fmla="*/ 116 h 303"/>
              <a:gd name="T22" fmla="*/ 66 w 160"/>
              <a:gd name="T23" fmla="*/ 111 h 303"/>
              <a:gd name="T24" fmla="*/ 80 w 160"/>
              <a:gd name="T25" fmla="*/ 83 h 303"/>
              <a:gd name="T26" fmla="*/ 94 w 160"/>
              <a:gd name="T27" fmla="*/ 111 h 303"/>
              <a:gd name="T28" fmla="*/ 127 w 160"/>
              <a:gd name="T29" fmla="*/ 116 h 303"/>
              <a:gd name="T30" fmla="*/ 104 w 160"/>
              <a:gd name="T31" fmla="*/ 139 h 303"/>
              <a:gd name="T32" fmla="*/ 108 w 160"/>
              <a:gd name="T33" fmla="*/ 17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 h="303">
                <a:moveTo>
                  <a:pt x="0" y="0"/>
                </a:moveTo>
                <a:lnTo>
                  <a:pt x="0" y="303"/>
                </a:lnTo>
                <a:lnTo>
                  <a:pt x="80" y="234"/>
                </a:lnTo>
                <a:lnTo>
                  <a:pt x="160" y="303"/>
                </a:lnTo>
                <a:lnTo>
                  <a:pt x="160" y="0"/>
                </a:lnTo>
                <a:lnTo>
                  <a:pt x="0" y="0"/>
                </a:lnTo>
                <a:close/>
                <a:moveTo>
                  <a:pt x="108" y="170"/>
                </a:moveTo>
                <a:lnTo>
                  <a:pt x="80" y="156"/>
                </a:lnTo>
                <a:lnTo>
                  <a:pt x="52" y="170"/>
                </a:lnTo>
                <a:lnTo>
                  <a:pt x="56" y="139"/>
                </a:lnTo>
                <a:lnTo>
                  <a:pt x="33" y="116"/>
                </a:lnTo>
                <a:lnTo>
                  <a:pt x="66" y="111"/>
                </a:lnTo>
                <a:lnTo>
                  <a:pt x="80" y="83"/>
                </a:lnTo>
                <a:lnTo>
                  <a:pt x="94" y="111"/>
                </a:lnTo>
                <a:lnTo>
                  <a:pt x="127" y="116"/>
                </a:lnTo>
                <a:lnTo>
                  <a:pt x="104" y="139"/>
                </a:lnTo>
                <a:lnTo>
                  <a:pt x="108" y="170"/>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183">
            <a:extLst>
              <a:ext uri="{FF2B5EF4-FFF2-40B4-BE49-F238E27FC236}">
                <a16:creationId xmlns:a16="http://schemas.microsoft.com/office/drawing/2014/main" id="{408DAB8A-F5AF-C390-8B45-9A11479A6167}"/>
              </a:ext>
            </a:extLst>
          </p:cNvPr>
          <p:cNvSpPr>
            <a:spLocks noEditPoints="1"/>
          </p:cNvSpPr>
          <p:nvPr/>
        </p:nvSpPr>
        <p:spPr bwMode="auto">
          <a:xfrm>
            <a:off x="828263" y="4607638"/>
            <a:ext cx="383836" cy="383836"/>
          </a:xfrm>
          <a:custGeom>
            <a:avLst/>
            <a:gdLst>
              <a:gd name="T0" fmla="*/ 128 w 128"/>
              <a:gd name="T1" fmla="*/ 10 h 128"/>
              <a:gd name="T2" fmla="*/ 103 w 128"/>
              <a:gd name="T3" fmla="*/ 10 h 128"/>
              <a:gd name="T4" fmla="*/ 103 w 128"/>
              <a:gd name="T5" fmla="*/ 0 h 128"/>
              <a:gd name="T6" fmla="*/ 24 w 128"/>
              <a:gd name="T7" fmla="*/ 0 h 128"/>
              <a:gd name="T8" fmla="*/ 24 w 128"/>
              <a:gd name="T9" fmla="*/ 10 h 128"/>
              <a:gd name="T10" fmla="*/ 0 w 128"/>
              <a:gd name="T11" fmla="*/ 10 h 128"/>
              <a:gd name="T12" fmla="*/ 0 w 128"/>
              <a:gd name="T13" fmla="*/ 10 h 128"/>
              <a:gd name="T14" fmla="*/ 0 w 128"/>
              <a:gd name="T15" fmla="*/ 20 h 128"/>
              <a:gd name="T16" fmla="*/ 29 w 128"/>
              <a:gd name="T17" fmla="*/ 69 h 128"/>
              <a:gd name="T18" fmla="*/ 54 w 128"/>
              <a:gd name="T19" fmla="*/ 88 h 128"/>
              <a:gd name="T20" fmla="*/ 54 w 128"/>
              <a:gd name="T21" fmla="*/ 113 h 128"/>
              <a:gd name="T22" fmla="*/ 29 w 128"/>
              <a:gd name="T23" fmla="*/ 128 h 128"/>
              <a:gd name="T24" fmla="*/ 99 w 128"/>
              <a:gd name="T25" fmla="*/ 128 h 128"/>
              <a:gd name="T26" fmla="*/ 74 w 128"/>
              <a:gd name="T27" fmla="*/ 113 h 128"/>
              <a:gd name="T28" fmla="*/ 74 w 128"/>
              <a:gd name="T29" fmla="*/ 87 h 128"/>
              <a:gd name="T30" fmla="*/ 97 w 128"/>
              <a:gd name="T31" fmla="*/ 70 h 128"/>
              <a:gd name="T32" fmla="*/ 128 w 128"/>
              <a:gd name="T33" fmla="*/ 20 h 128"/>
              <a:gd name="T34" fmla="*/ 128 w 128"/>
              <a:gd name="T35" fmla="*/ 10 h 128"/>
              <a:gd name="T36" fmla="*/ 14 w 128"/>
              <a:gd name="T37" fmla="*/ 36 h 128"/>
              <a:gd name="T38" fmla="*/ 10 w 128"/>
              <a:gd name="T39" fmla="*/ 20 h 128"/>
              <a:gd name="T40" fmla="*/ 24 w 128"/>
              <a:gd name="T41" fmla="*/ 20 h 128"/>
              <a:gd name="T42" fmla="*/ 24 w 128"/>
              <a:gd name="T43" fmla="*/ 49 h 128"/>
              <a:gd name="T44" fmla="*/ 24 w 128"/>
              <a:gd name="T45" fmla="*/ 49 h 128"/>
              <a:gd name="T46" fmla="*/ 24 w 128"/>
              <a:gd name="T47" fmla="*/ 49 h 128"/>
              <a:gd name="T48" fmla="*/ 24 w 128"/>
              <a:gd name="T49" fmla="*/ 52 h 128"/>
              <a:gd name="T50" fmla="*/ 14 w 128"/>
              <a:gd name="T51" fmla="*/ 36 h 128"/>
              <a:gd name="T52" fmla="*/ 76 w 128"/>
              <a:gd name="T53" fmla="*/ 60 h 128"/>
              <a:gd name="T54" fmla="*/ 64 w 128"/>
              <a:gd name="T55" fmla="*/ 54 h 128"/>
              <a:gd name="T56" fmla="*/ 52 w 128"/>
              <a:gd name="T57" fmla="*/ 60 h 128"/>
              <a:gd name="T58" fmla="*/ 54 w 128"/>
              <a:gd name="T59" fmla="*/ 47 h 128"/>
              <a:gd name="T60" fmla="*/ 44 w 128"/>
              <a:gd name="T61" fmla="*/ 37 h 128"/>
              <a:gd name="T62" fmla="*/ 58 w 128"/>
              <a:gd name="T63" fmla="*/ 35 h 128"/>
              <a:gd name="T64" fmla="*/ 64 w 128"/>
              <a:gd name="T65" fmla="*/ 23 h 128"/>
              <a:gd name="T66" fmla="*/ 70 w 128"/>
              <a:gd name="T67" fmla="*/ 35 h 128"/>
              <a:gd name="T68" fmla="*/ 84 w 128"/>
              <a:gd name="T69" fmla="*/ 37 h 128"/>
              <a:gd name="T70" fmla="*/ 74 w 128"/>
              <a:gd name="T71" fmla="*/ 47 h 128"/>
              <a:gd name="T72" fmla="*/ 76 w 128"/>
              <a:gd name="T73" fmla="*/ 60 h 128"/>
              <a:gd name="T74" fmla="*/ 114 w 128"/>
              <a:gd name="T75" fmla="*/ 36 h 128"/>
              <a:gd name="T76" fmla="*/ 103 w 128"/>
              <a:gd name="T77" fmla="*/ 53 h 128"/>
              <a:gd name="T78" fmla="*/ 103 w 128"/>
              <a:gd name="T79" fmla="*/ 49 h 128"/>
              <a:gd name="T80" fmla="*/ 103 w 128"/>
              <a:gd name="T81" fmla="*/ 49 h 128"/>
              <a:gd name="T82" fmla="*/ 103 w 128"/>
              <a:gd name="T83" fmla="*/ 49 h 128"/>
              <a:gd name="T84" fmla="*/ 103 w 128"/>
              <a:gd name="T85" fmla="*/ 20 h 128"/>
              <a:gd name="T86" fmla="*/ 118 w 128"/>
              <a:gd name="T87" fmla="*/ 20 h 128"/>
              <a:gd name="T88" fmla="*/ 114 w 128"/>
              <a:gd name="T89" fmla="*/ 3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28">
                <a:moveTo>
                  <a:pt x="128" y="10"/>
                </a:moveTo>
                <a:cubicBezTo>
                  <a:pt x="103" y="10"/>
                  <a:pt x="103" y="10"/>
                  <a:pt x="103" y="10"/>
                </a:cubicBezTo>
                <a:cubicBezTo>
                  <a:pt x="103" y="0"/>
                  <a:pt x="103" y="0"/>
                  <a:pt x="103" y="0"/>
                </a:cubicBezTo>
                <a:cubicBezTo>
                  <a:pt x="24" y="0"/>
                  <a:pt x="24" y="0"/>
                  <a:pt x="24" y="0"/>
                </a:cubicBezTo>
                <a:cubicBezTo>
                  <a:pt x="24" y="10"/>
                  <a:pt x="24" y="10"/>
                  <a:pt x="24" y="10"/>
                </a:cubicBezTo>
                <a:cubicBezTo>
                  <a:pt x="0" y="10"/>
                  <a:pt x="0" y="10"/>
                  <a:pt x="0" y="10"/>
                </a:cubicBezTo>
                <a:cubicBezTo>
                  <a:pt x="0" y="10"/>
                  <a:pt x="0" y="10"/>
                  <a:pt x="0" y="10"/>
                </a:cubicBezTo>
                <a:cubicBezTo>
                  <a:pt x="0" y="20"/>
                  <a:pt x="0" y="20"/>
                  <a:pt x="0" y="20"/>
                </a:cubicBezTo>
                <a:cubicBezTo>
                  <a:pt x="2" y="40"/>
                  <a:pt x="13" y="58"/>
                  <a:pt x="29" y="69"/>
                </a:cubicBezTo>
                <a:cubicBezTo>
                  <a:pt x="35" y="78"/>
                  <a:pt x="44" y="85"/>
                  <a:pt x="54" y="88"/>
                </a:cubicBezTo>
                <a:cubicBezTo>
                  <a:pt x="54" y="113"/>
                  <a:pt x="54" y="113"/>
                  <a:pt x="54" y="113"/>
                </a:cubicBezTo>
                <a:cubicBezTo>
                  <a:pt x="29" y="128"/>
                  <a:pt x="29" y="128"/>
                  <a:pt x="29" y="128"/>
                </a:cubicBezTo>
                <a:cubicBezTo>
                  <a:pt x="99" y="128"/>
                  <a:pt x="99" y="128"/>
                  <a:pt x="99" y="128"/>
                </a:cubicBezTo>
                <a:cubicBezTo>
                  <a:pt x="74" y="113"/>
                  <a:pt x="74" y="113"/>
                  <a:pt x="74" y="113"/>
                </a:cubicBezTo>
                <a:cubicBezTo>
                  <a:pt x="74" y="87"/>
                  <a:pt x="74" y="87"/>
                  <a:pt x="74" y="87"/>
                </a:cubicBezTo>
                <a:cubicBezTo>
                  <a:pt x="84" y="85"/>
                  <a:pt x="92" y="78"/>
                  <a:pt x="97" y="70"/>
                </a:cubicBezTo>
                <a:cubicBezTo>
                  <a:pt x="114" y="59"/>
                  <a:pt x="126" y="41"/>
                  <a:pt x="128" y="20"/>
                </a:cubicBezTo>
                <a:cubicBezTo>
                  <a:pt x="128" y="10"/>
                  <a:pt x="128" y="10"/>
                  <a:pt x="128" y="10"/>
                </a:cubicBezTo>
                <a:close/>
                <a:moveTo>
                  <a:pt x="14" y="36"/>
                </a:moveTo>
                <a:cubicBezTo>
                  <a:pt x="12" y="31"/>
                  <a:pt x="11" y="25"/>
                  <a:pt x="10" y="20"/>
                </a:cubicBezTo>
                <a:cubicBezTo>
                  <a:pt x="24" y="20"/>
                  <a:pt x="24" y="20"/>
                  <a:pt x="24" y="20"/>
                </a:cubicBezTo>
                <a:cubicBezTo>
                  <a:pt x="24" y="49"/>
                  <a:pt x="24" y="49"/>
                  <a:pt x="24" y="49"/>
                </a:cubicBezTo>
                <a:cubicBezTo>
                  <a:pt x="24" y="49"/>
                  <a:pt x="24" y="49"/>
                  <a:pt x="24" y="49"/>
                </a:cubicBezTo>
                <a:cubicBezTo>
                  <a:pt x="24" y="49"/>
                  <a:pt x="24" y="49"/>
                  <a:pt x="24" y="49"/>
                </a:cubicBezTo>
                <a:cubicBezTo>
                  <a:pt x="24" y="50"/>
                  <a:pt x="24" y="51"/>
                  <a:pt x="24" y="52"/>
                </a:cubicBezTo>
                <a:cubicBezTo>
                  <a:pt x="20" y="47"/>
                  <a:pt x="17" y="42"/>
                  <a:pt x="14" y="36"/>
                </a:cubicBezTo>
                <a:close/>
                <a:moveTo>
                  <a:pt x="76" y="60"/>
                </a:moveTo>
                <a:cubicBezTo>
                  <a:pt x="64" y="54"/>
                  <a:pt x="64" y="54"/>
                  <a:pt x="64" y="54"/>
                </a:cubicBezTo>
                <a:cubicBezTo>
                  <a:pt x="52" y="60"/>
                  <a:pt x="52" y="60"/>
                  <a:pt x="52" y="60"/>
                </a:cubicBezTo>
                <a:cubicBezTo>
                  <a:pt x="54" y="47"/>
                  <a:pt x="54" y="47"/>
                  <a:pt x="54" y="47"/>
                </a:cubicBezTo>
                <a:cubicBezTo>
                  <a:pt x="44" y="37"/>
                  <a:pt x="44" y="37"/>
                  <a:pt x="44" y="37"/>
                </a:cubicBezTo>
                <a:cubicBezTo>
                  <a:pt x="58" y="35"/>
                  <a:pt x="58" y="35"/>
                  <a:pt x="58" y="35"/>
                </a:cubicBezTo>
                <a:cubicBezTo>
                  <a:pt x="64" y="23"/>
                  <a:pt x="64" y="23"/>
                  <a:pt x="64" y="23"/>
                </a:cubicBezTo>
                <a:cubicBezTo>
                  <a:pt x="70" y="35"/>
                  <a:pt x="70" y="35"/>
                  <a:pt x="70" y="35"/>
                </a:cubicBezTo>
                <a:cubicBezTo>
                  <a:pt x="84" y="37"/>
                  <a:pt x="84" y="37"/>
                  <a:pt x="84" y="37"/>
                </a:cubicBezTo>
                <a:cubicBezTo>
                  <a:pt x="74" y="47"/>
                  <a:pt x="74" y="47"/>
                  <a:pt x="74" y="47"/>
                </a:cubicBezTo>
                <a:lnTo>
                  <a:pt x="76" y="60"/>
                </a:lnTo>
                <a:close/>
                <a:moveTo>
                  <a:pt x="114" y="36"/>
                </a:moveTo>
                <a:cubicBezTo>
                  <a:pt x="111" y="42"/>
                  <a:pt x="107" y="48"/>
                  <a:pt x="103" y="53"/>
                </a:cubicBezTo>
                <a:cubicBezTo>
                  <a:pt x="103" y="52"/>
                  <a:pt x="103" y="51"/>
                  <a:pt x="103" y="49"/>
                </a:cubicBezTo>
                <a:cubicBezTo>
                  <a:pt x="103" y="49"/>
                  <a:pt x="103" y="49"/>
                  <a:pt x="103" y="49"/>
                </a:cubicBezTo>
                <a:cubicBezTo>
                  <a:pt x="103" y="49"/>
                  <a:pt x="103" y="49"/>
                  <a:pt x="103" y="49"/>
                </a:cubicBezTo>
                <a:cubicBezTo>
                  <a:pt x="103" y="20"/>
                  <a:pt x="103" y="20"/>
                  <a:pt x="103" y="20"/>
                </a:cubicBezTo>
                <a:cubicBezTo>
                  <a:pt x="118" y="20"/>
                  <a:pt x="118" y="20"/>
                  <a:pt x="118" y="20"/>
                </a:cubicBezTo>
                <a:cubicBezTo>
                  <a:pt x="117" y="25"/>
                  <a:pt x="116" y="31"/>
                  <a:pt x="114" y="36"/>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 name="文本框 6">
            <a:extLst>
              <a:ext uri="{FF2B5EF4-FFF2-40B4-BE49-F238E27FC236}">
                <a16:creationId xmlns:a16="http://schemas.microsoft.com/office/drawing/2014/main" id="{D1FC031A-3409-8407-7155-7CF4F6922E63}"/>
              </a:ext>
            </a:extLst>
          </p:cNvPr>
          <p:cNvSpPr txBox="1"/>
          <p:nvPr/>
        </p:nvSpPr>
        <p:spPr>
          <a:xfrm>
            <a:off x="1121635" y="4622142"/>
            <a:ext cx="6366560" cy="369332"/>
          </a:xfrm>
          <a:prstGeom prst="rect">
            <a:avLst/>
          </a:prstGeom>
          <a:noFill/>
        </p:spPr>
        <p:txBody>
          <a:bodyPr wrap="square">
            <a:spAutoFit/>
          </a:bodyPr>
          <a:lstStyle/>
          <a:p>
            <a:r>
              <a:rPr lang="zh-CN" altLang="en-US" b="1" dirty="0"/>
              <a:t>长距离跳跃：</a:t>
            </a:r>
            <a:r>
              <a:rPr lang="zh-CN" altLang="en-US" dirty="0"/>
              <a:t>偶尔的大跨度飞行帮助算法跳出局部最优陷阱。</a:t>
            </a:r>
            <a:endParaRPr lang="zh-CN" altLang="en-US" dirty="0">
              <a:latin typeface="Arial" panose="020B0604020202020204" pitchFamily="34" charset="0"/>
            </a:endParaRPr>
          </a:p>
        </p:txBody>
      </p:sp>
      <p:sp>
        <p:nvSpPr>
          <p:cNvPr id="9" name="Freeform 183">
            <a:extLst>
              <a:ext uri="{FF2B5EF4-FFF2-40B4-BE49-F238E27FC236}">
                <a16:creationId xmlns:a16="http://schemas.microsoft.com/office/drawing/2014/main" id="{C16238D8-5009-C88F-89E0-0BE48110EE71}"/>
              </a:ext>
            </a:extLst>
          </p:cNvPr>
          <p:cNvSpPr>
            <a:spLocks noEditPoints="1"/>
          </p:cNvSpPr>
          <p:nvPr/>
        </p:nvSpPr>
        <p:spPr bwMode="auto">
          <a:xfrm>
            <a:off x="828263" y="5481445"/>
            <a:ext cx="383836" cy="383836"/>
          </a:xfrm>
          <a:custGeom>
            <a:avLst/>
            <a:gdLst>
              <a:gd name="T0" fmla="*/ 128 w 128"/>
              <a:gd name="T1" fmla="*/ 10 h 128"/>
              <a:gd name="T2" fmla="*/ 103 w 128"/>
              <a:gd name="T3" fmla="*/ 10 h 128"/>
              <a:gd name="T4" fmla="*/ 103 w 128"/>
              <a:gd name="T5" fmla="*/ 0 h 128"/>
              <a:gd name="T6" fmla="*/ 24 w 128"/>
              <a:gd name="T7" fmla="*/ 0 h 128"/>
              <a:gd name="T8" fmla="*/ 24 w 128"/>
              <a:gd name="T9" fmla="*/ 10 h 128"/>
              <a:gd name="T10" fmla="*/ 0 w 128"/>
              <a:gd name="T11" fmla="*/ 10 h 128"/>
              <a:gd name="T12" fmla="*/ 0 w 128"/>
              <a:gd name="T13" fmla="*/ 10 h 128"/>
              <a:gd name="T14" fmla="*/ 0 w 128"/>
              <a:gd name="T15" fmla="*/ 20 h 128"/>
              <a:gd name="T16" fmla="*/ 29 w 128"/>
              <a:gd name="T17" fmla="*/ 69 h 128"/>
              <a:gd name="T18" fmla="*/ 54 w 128"/>
              <a:gd name="T19" fmla="*/ 88 h 128"/>
              <a:gd name="T20" fmla="*/ 54 w 128"/>
              <a:gd name="T21" fmla="*/ 113 h 128"/>
              <a:gd name="T22" fmla="*/ 29 w 128"/>
              <a:gd name="T23" fmla="*/ 128 h 128"/>
              <a:gd name="T24" fmla="*/ 99 w 128"/>
              <a:gd name="T25" fmla="*/ 128 h 128"/>
              <a:gd name="T26" fmla="*/ 74 w 128"/>
              <a:gd name="T27" fmla="*/ 113 h 128"/>
              <a:gd name="T28" fmla="*/ 74 w 128"/>
              <a:gd name="T29" fmla="*/ 87 h 128"/>
              <a:gd name="T30" fmla="*/ 97 w 128"/>
              <a:gd name="T31" fmla="*/ 70 h 128"/>
              <a:gd name="T32" fmla="*/ 128 w 128"/>
              <a:gd name="T33" fmla="*/ 20 h 128"/>
              <a:gd name="T34" fmla="*/ 128 w 128"/>
              <a:gd name="T35" fmla="*/ 10 h 128"/>
              <a:gd name="T36" fmla="*/ 14 w 128"/>
              <a:gd name="T37" fmla="*/ 36 h 128"/>
              <a:gd name="T38" fmla="*/ 10 w 128"/>
              <a:gd name="T39" fmla="*/ 20 h 128"/>
              <a:gd name="T40" fmla="*/ 24 w 128"/>
              <a:gd name="T41" fmla="*/ 20 h 128"/>
              <a:gd name="T42" fmla="*/ 24 w 128"/>
              <a:gd name="T43" fmla="*/ 49 h 128"/>
              <a:gd name="T44" fmla="*/ 24 w 128"/>
              <a:gd name="T45" fmla="*/ 49 h 128"/>
              <a:gd name="T46" fmla="*/ 24 w 128"/>
              <a:gd name="T47" fmla="*/ 49 h 128"/>
              <a:gd name="T48" fmla="*/ 24 w 128"/>
              <a:gd name="T49" fmla="*/ 52 h 128"/>
              <a:gd name="T50" fmla="*/ 14 w 128"/>
              <a:gd name="T51" fmla="*/ 36 h 128"/>
              <a:gd name="T52" fmla="*/ 76 w 128"/>
              <a:gd name="T53" fmla="*/ 60 h 128"/>
              <a:gd name="T54" fmla="*/ 64 w 128"/>
              <a:gd name="T55" fmla="*/ 54 h 128"/>
              <a:gd name="T56" fmla="*/ 52 w 128"/>
              <a:gd name="T57" fmla="*/ 60 h 128"/>
              <a:gd name="T58" fmla="*/ 54 w 128"/>
              <a:gd name="T59" fmla="*/ 47 h 128"/>
              <a:gd name="T60" fmla="*/ 44 w 128"/>
              <a:gd name="T61" fmla="*/ 37 h 128"/>
              <a:gd name="T62" fmla="*/ 58 w 128"/>
              <a:gd name="T63" fmla="*/ 35 h 128"/>
              <a:gd name="T64" fmla="*/ 64 w 128"/>
              <a:gd name="T65" fmla="*/ 23 h 128"/>
              <a:gd name="T66" fmla="*/ 70 w 128"/>
              <a:gd name="T67" fmla="*/ 35 h 128"/>
              <a:gd name="T68" fmla="*/ 84 w 128"/>
              <a:gd name="T69" fmla="*/ 37 h 128"/>
              <a:gd name="T70" fmla="*/ 74 w 128"/>
              <a:gd name="T71" fmla="*/ 47 h 128"/>
              <a:gd name="T72" fmla="*/ 76 w 128"/>
              <a:gd name="T73" fmla="*/ 60 h 128"/>
              <a:gd name="T74" fmla="*/ 114 w 128"/>
              <a:gd name="T75" fmla="*/ 36 h 128"/>
              <a:gd name="T76" fmla="*/ 103 w 128"/>
              <a:gd name="T77" fmla="*/ 53 h 128"/>
              <a:gd name="T78" fmla="*/ 103 w 128"/>
              <a:gd name="T79" fmla="*/ 49 h 128"/>
              <a:gd name="T80" fmla="*/ 103 w 128"/>
              <a:gd name="T81" fmla="*/ 49 h 128"/>
              <a:gd name="T82" fmla="*/ 103 w 128"/>
              <a:gd name="T83" fmla="*/ 49 h 128"/>
              <a:gd name="T84" fmla="*/ 103 w 128"/>
              <a:gd name="T85" fmla="*/ 20 h 128"/>
              <a:gd name="T86" fmla="*/ 118 w 128"/>
              <a:gd name="T87" fmla="*/ 20 h 128"/>
              <a:gd name="T88" fmla="*/ 114 w 128"/>
              <a:gd name="T89" fmla="*/ 3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28">
                <a:moveTo>
                  <a:pt x="128" y="10"/>
                </a:moveTo>
                <a:cubicBezTo>
                  <a:pt x="103" y="10"/>
                  <a:pt x="103" y="10"/>
                  <a:pt x="103" y="10"/>
                </a:cubicBezTo>
                <a:cubicBezTo>
                  <a:pt x="103" y="0"/>
                  <a:pt x="103" y="0"/>
                  <a:pt x="103" y="0"/>
                </a:cubicBezTo>
                <a:cubicBezTo>
                  <a:pt x="24" y="0"/>
                  <a:pt x="24" y="0"/>
                  <a:pt x="24" y="0"/>
                </a:cubicBezTo>
                <a:cubicBezTo>
                  <a:pt x="24" y="10"/>
                  <a:pt x="24" y="10"/>
                  <a:pt x="24" y="10"/>
                </a:cubicBezTo>
                <a:cubicBezTo>
                  <a:pt x="0" y="10"/>
                  <a:pt x="0" y="10"/>
                  <a:pt x="0" y="10"/>
                </a:cubicBezTo>
                <a:cubicBezTo>
                  <a:pt x="0" y="10"/>
                  <a:pt x="0" y="10"/>
                  <a:pt x="0" y="10"/>
                </a:cubicBezTo>
                <a:cubicBezTo>
                  <a:pt x="0" y="20"/>
                  <a:pt x="0" y="20"/>
                  <a:pt x="0" y="20"/>
                </a:cubicBezTo>
                <a:cubicBezTo>
                  <a:pt x="2" y="40"/>
                  <a:pt x="13" y="58"/>
                  <a:pt x="29" y="69"/>
                </a:cubicBezTo>
                <a:cubicBezTo>
                  <a:pt x="35" y="78"/>
                  <a:pt x="44" y="85"/>
                  <a:pt x="54" y="88"/>
                </a:cubicBezTo>
                <a:cubicBezTo>
                  <a:pt x="54" y="113"/>
                  <a:pt x="54" y="113"/>
                  <a:pt x="54" y="113"/>
                </a:cubicBezTo>
                <a:cubicBezTo>
                  <a:pt x="29" y="128"/>
                  <a:pt x="29" y="128"/>
                  <a:pt x="29" y="128"/>
                </a:cubicBezTo>
                <a:cubicBezTo>
                  <a:pt x="99" y="128"/>
                  <a:pt x="99" y="128"/>
                  <a:pt x="99" y="128"/>
                </a:cubicBezTo>
                <a:cubicBezTo>
                  <a:pt x="74" y="113"/>
                  <a:pt x="74" y="113"/>
                  <a:pt x="74" y="113"/>
                </a:cubicBezTo>
                <a:cubicBezTo>
                  <a:pt x="74" y="87"/>
                  <a:pt x="74" y="87"/>
                  <a:pt x="74" y="87"/>
                </a:cubicBezTo>
                <a:cubicBezTo>
                  <a:pt x="84" y="85"/>
                  <a:pt x="92" y="78"/>
                  <a:pt x="97" y="70"/>
                </a:cubicBezTo>
                <a:cubicBezTo>
                  <a:pt x="114" y="59"/>
                  <a:pt x="126" y="41"/>
                  <a:pt x="128" y="20"/>
                </a:cubicBezTo>
                <a:cubicBezTo>
                  <a:pt x="128" y="10"/>
                  <a:pt x="128" y="10"/>
                  <a:pt x="128" y="10"/>
                </a:cubicBezTo>
                <a:close/>
                <a:moveTo>
                  <a:pt x="14" y="36"/>
                </a:moveTo>
                <a:cubicBezTo>
                  <a:pt x="12" y="31"/>
                  <a:pt x="11" y="25"/>
                  <a:pt x="10" y="20"/>
                </a:cubicBezTo>
                <a:cubicBezTo>
                  <a:pt x="24" y="20"/>
                  <a:pt x="24" y="20"/>
                  <a:pt x="24" y="20"/>
                </a:cubicBezTo>
                <a:cubicBezTo>
                  <a:pt x="24" y="49"/>
                  <a:pt x="24" y="49"/>
                  <a:pt x="24" y="49"/>
                </a:cubicBezTo>
                <a:cubicBezTo>
                  <a:pt x="24" y="49"/>
                  <a:pt x="24" y="49"/>
                  <a:pt x="24" y="49"/>
                </a:cubicBezTo>
                <a:cubicBezTo>
                  <a:pt x="24" y="49"/>
                  <a:pt x="24" y="49"/>
                  <a:pt x="24" y="49"/>
                </a:cubicBezTo>
                <a:cubicBezTo>
                  <a:pt x="24" y="50"/>
                  <a:pt x="24" y="51"/>
                  <a:pt x="24" y="52"/>
                </a:cubicBezTo>
                <a:cubicBezTo>
                  <a:pt x="20" y="47"/>
                  <a:pt x="17" y="42"/>
                  <a:pt x="14" y="36"/>
                </a:cubicBezTo>
                <a:close/>
                <a:moveTo>
                  <a:pt x="76" y="60"/>
                </a:moveTo>
                <a:cubicBezTo>
                  <a:pt x="64" y="54"/>
                  <a:pt x="64" y="54"/>
                  <a:pt x="64" y="54"/>
                </a:cubicBezTo>
                <a:cubicBezTo>
                  <a:pt x="52" y="60"/>
                  <a:pt x="52" y="60"/>
                  <a:pt x="52" y="60"/>
                </a:cubicBezTo>
                <a:cubicBezTo>
                  <a:pt x="54" y="47"/>
                  <a:pt x="54" y="47"/>
                  <a:pt x="54" y="47"/>
                </a:cubicBezTo>
                <a:cubicBezTo>
                  <a:pt x="44" y="37"/>
                  <a:pt x="44" y="37"/>
                  <a:pt x="44" y="37"/>
                </a:cubicBezTo>
                <a:cubicBezTo>
                  <a:pt x="58" y="35"/>
                  <a:pt x="58" y="35"/>
                  <a:pt x="58" y="35"/>
                </a:cubicBezTo>
                <a:cubicBezTo>
                  <a:pt x="64" y="23"/>
                  <a:pt x="64" y="23"/>
                  <a:pt x="64" y="23"/>
                </a:cubicBezTo>
                <a:cubicBezTo>
                  <a:pt x="70" y="35"/>
                  <a:pt x="70" y="35"/>
                  <a:pt x="70" y="35"/>
                </a:cubicBezTo>
                <a:cubicBezTo>
                  <a:pt x="84" y="37"/>
                  <a:pt x="84" y="37"/>
                  <a:pt x="84" y="37"/>
                </a:cubicBezTo>
                <a:cubicBezTo>
                  <a:pt x="74" y="47"/>
                  <a:pt x="74" y="47"/>
                  <a:pt x="74" y="47"/>
                </a:cubicBezTo>
                <a:lnTo>
                  <a:pt x="76" y="60"/>
                </a:lnTo>
                <a:close/>
                <a:moveTo>
                  <a:pt x="114" y="36"/>
                </a:moveTo>
                <a:cubicBezTo>
                  <a:pt x="111" y="42"/>
                  <a:pt x="107" y="48"/>
                  <a:pt x="103" y="53"/>
                </a:cubicBezTo>
                <a:cubicBezTo>
                  <a:pt x="103" y="52"/>
                  <a:pt x="103" y="51"/>
                  <a:pt x="103" y="49"/>
                </a:cubicBezTo>
                <a:cubicBezTo>
                  <a:pt x="103" y="49"/>
                  <a:pt x="103" y="49"/>
                  <a:pt x="103" y="49"/>
                </a:cubicBezTo>
                <a:cubicBezTo>
                  <a:pt x="103" y="49"/>
                  <a:pt x="103" y="49"/>
                  <a:pt x="103" y="49"/>
                </a:cubicBezTo>
                <a:cubicBezTo>
                  <a:pt x="103" y="20"/>
                  <a:pt x="103" y="20"/>
                  <a:pt x="103" y="20"/>
                </a:cubicBezTo>
                <a:cubicBezTo>
                  <a:pt x="118" y="20"/>
                  <a:pt x="118" y="20"/>
                  <a:pt x="118" y="20"/>
                </a:cubicBezTo>
                <a:cubicBezTo>
                  <a:pt x="117" y="25"/>
                  <a:pt x="116" y="31"/>
                  <a:pt x="114" y="36"/>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文本框 16">
            <a:extLst>
              <a:ext uri="{FF2B5EF4-FFF2-40B4-BE49-F238E27FC236}">
                <a16:creationId xmlns:a16="http://schemas.microsoft.com/office/drawing/2014/main" id="{5F09DBC3-A6BE-35B4-595C-4736BE2DCD50}"/>
              </a:ext>
            </a:extLst>
          </p:cNvPr>
          <p:cNvSpPr txBox="1"/>
          <p:nvPr/>
        </p:nvSpPr>
        <p:spPr>
          <a:xfrm>
            <a:off x="1121635" y="5495089"/>
            <a:ext cx="6098058" cy="646331"/>
          </a:xfrm>
          <a:prstGeom prst="rect">
            <a:avLst/>
          </a:prstGeom>
          <a:noFill/>
        </p:spPr>
        <p:txBody>
          <a:bodyPr wrap="square">
            <a:spAutoFit/>
          </a:bodyPr>
          <a:lstStyle/>
          <a:p>
            <a:r>
              <a:rPr lang="zh-CN" altLang="en-US" b="1" dirty="0"/>
              <a:t>高效搜索</a:t>
            </a:r>
            <a:r>
              <a:rPr lang="en-US" altLang="zh-CN" b="1" dirty="0"/>
              <a:t>:</a:t>
            </a:r>
            <a:r>
              <a:rPr lang="zh-CN" altLang="en-US" b="1" dirty="0"/>
              <a:t> </a:t>
            </a:r>
            <a:r>
              <a:rPr lang="zh-CN" altLang="en-US" dirty="0"/>
              <a:t>在保持局部搜索精度的同时，显著扩大了全局搜索范围。</a:t>
            </a:r>
          </a:p>
        </p:txBody>
      </p:sp>
      <p:sp>
        <p:nvSpPr>
          <p:cNvPr id="19" name="AutoShape 2" descr="的图片">
            <a:extLst>
              <a:ext uri="{FF2B5EF4-FFF2-40B4-BE49-F238E27FC236}">
                <a16:creationId xmlns:a16="http://schemas.microsoft.com/office/drawing/2014/main" id="{6C258DEE-923E-245C-B007-C5F8F7192C1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AutoShape 4" descr="的图片">
            <a:extLst>
              <a:ext uri="{FF2B5EF4-FFF2-40B4-BE49-F238E27FC236}">
                <a16:creationId xmlns:a16="http://schemas.microsoft.com/office/drawing/2014/main" id="{183231E6-DE25-E01D-D658-F011910F5A2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2" name="图片 21">
            <a:extLst>
              <a:ext uri="{FF2B5EF4-FFF2-40B4-BE49-F238E27FC236}">
                <a16:creationId xmlns:a16="http://schemas.microsoft.com/office/drawing/2014/main" id="{23EE2BF2-F4A8-A230-9B2D-4CE02986F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065" y="2765745"/>
            <a:ext cx="4517373" cy="3295388"/>
          </a:xfrm>
          <a:prstGeom prst="rect">
            <a:avLst/>
          </a:prstGeom>
        </p:spPr>
      </p:pic>
    </p:spTree>
    <p:extLst>
      <p:ext uri="{BB962C8B-B14F-4D97-AF65-F5344CB8AC3E}">
        <p14:creationId xmlns:p14="http://schemas.microsoft.com/office/powerpoint/2010/main" val="2292576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9F6D1-6095-3A6C-130E-3673D85672D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67E6DA6-A6DF-9D0E-A371-694905F616CF}"/>
              </a:ext>
            </a:extLst>
          </p:cNvPr>
          <p:cNvSpPr>
            <a:spLocks noGrp="1"/>
          </p:cNvSpPr>
          <p:nvPr>
            <p:ph type="title"/>
          </p:nvPr>
        </p:nvSpPr>
        <p:spPr/>
        <p:txBody>
          <a:bodyPr/>
          <a:lstStyle/>
          <a:p>
            <a:r>
              <a:rPr lang="en-US" altLang="zh-CN" dirty="0"/>
              <a:t>5 </a:t>
            </a:r>
            <a:r>
              <a:rPr lang="zh-CN" altLang="en-US" dirty="0"/>
              <a:t>改进思路三：混合算法协同策略</a:t>
            </a:r>
          </a:p>
        </p:txBody>
      </p:sp>
      <p:sp>
        <p:nvSpPr>
          <p:cNvPr id="8" name="Rectangle 5">
            <a:extLst>
              <a:ext uri="{FF2B5EF4-FFF2-40B4-BE49-F238E27FC236}">
                <a16:creationId xmlns:a16="http://schemas.microsoft.com/office/drawing/2014/main" id="{0EEDF5ED-A454-51FF-45FE-3018FA9E46C5}"/>
              </a:ext>
            </a:extLst>
          </p:cNvPr>
          <p:cNvSpPr>
            <a:spLocks noChangeArrowheads="1"/>
          </p:cNvSpPr>
          <p:nvPr/>
        </p:nvSpPr>
        <p:spPr bwMode="auto">
          <a:xfrm>
            <a:off x="792481" y="1362911"/>
            <a:ext cx="4567279" cy="812777"/>
          </a:xfrm>
          <a:prstGeom prst="rect">
            <a:avLst/>
          </a:prstGeom>
          <a:solidFill>
            <a:srgbClr val="00377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sz="4800" b="1" dirty="0">
                <a:solidFill>
                  <a:schemeClr val="bg1"/>
                </a:solidFill>
                <a:latin typeface="+mj-ea"/>
                <a:ea typeface="+mj-ea"/>
              </a:rPr>
              <a:t>参数</a:t>
            </a:r>
            <a:r>
              <a:rPr lang="zh-CN" altLang="en-US" sz="4800" b="1" dirty="0">
                <a:solidFill>
                  <a:srgbClr val="00B050"/>
                </a:solidFill>
                <a:latin typeface="+mj-ea"/>
                <a:ea typeface="+mj-ea"/>
              </a:rPr>
              <a:t>自适应</a:t>
            </a:r>
            <a:r>
              <a:rPr lang="zh-CN" altLang="en-US" sz="4800" b="1" dirty="0">
                <a:solidFill>
                  <a:schemeClr val="bg1"/>
                </a:solidFill>
                <a:latin typeface="+mj-ea"/>
                <a:ea typeface="+mj-ea"/>
              </a:rPr>
              <a:t>优化</a:t>
            </a:r>
          </a:p>
        </p:txBody>
      </p:sp>
      <p:sp>
        <p:nvSpPr>
          <p:cNvPr id="10" name="文本框 9">
            <a:extLst>
              <a:ext uri="{FF2B5EF4-FFF2-40B4-BE49-F238E27FC236}">
                <a16:creationId xmlns:a16="http://schemas.microsoft.com/office/drawing/2014/main" id="{0BBFC2DB-EE44-67BF-6F53-0E3C74AD0CA1}"/>
              </a:ext>
            </a:extLst>
          </p:cNvPr>
          <p:cNvSpPr txBox="1"/>
          <p:nvPr/>
        </p:nvSpPr>
        <p:spPr>
          <a:xfrm>
            <a:off x="792481" y="2437664"/>
            <a:ext cx="6337368" cy="830997"/>
          </a:xfrm>
          <a:prstGeom prst="rect">
            <a:avLst/>
          </a:prstGeom>
          <a:noFill/>
        </p:spPr>
        <p:txBody>
          <a:bodyPr wrap="square">
            <a:spAutoFit/>
          </a:bodyPr>
          <a:lstStyle/>
          <a:p>
            <a:r>
              <a:rPr lang="en-US" altLang="zh-CN" sz="2400" dirty="0">
                <a:latin typeface="Urbanist"/>
              </a:rPr>
              <a:t>——</a:t>
            </a:r>
            <a:r>
              <a:rPr lang="zh-CN" altLang="en-US" sz="2400" dirty="0">
                <a:latin typeface="Urbanist"/>
              </a:rPr>
              <a:t>取长补短：融合其他元启发式算法的优势算子</a:t>
            </a:r>
          </a:p>
        </p:txBody>
      </p:sp>
      <p:grpSp>
        <p:nvGrpSpPr>
          <p:cNvPr id="3" name="组合 2">
            <a:extLst>
              <a:ext uri="{FF2B5EF4-FFF2-40B4-BE49-F238E27FC236}">
                <a16:creationId xmlns:a16="http://schemas.microsoft.com/office/drawing/2014/main" id="{A0BEEF6D-6A6D-48BB-B818-CCC00D4D0525}"/>
              </a:ext>
            </a:extLst>
          </p:cNvPr>
          <p:cNvGrpSpPr/>
          <p:nvPr/>
        </p:nvGrpSpPr>
        <p:grpSpPr>
          <a:xfrm>
            <a:off x="792481" y="3496350"/>
            <a:ext cx="2447024" cy="2995699"/>
            <a:chOff x="3468458" y="1931150"/>
            <a:chExt cx="2447024" cy="2995699"/>
          </a:xfrm>
        </p:grpSpPr>
        <p:sp>
          <p:nvSpPr>
            <p:cNvPr id="4" name="矩形 3">
              <a:extLst>
                <a:ext uri="{FF2B5EF4-FFF2-40B4-BE49-F238E27FC236}">
                  <a16:creationId xmlns:a16="http://schemas.microsoft.com/office/drawing/2014/main" id="{6B4592DC-FDDB-DFE6-4986-34B866294238}"/>
                </a:ext>
              </a:extLst>
            </p:cNvPr>
            <p:cNvSpPr/>
            <p:nvPr/>
          </p:nvSpPr>
          <p:spPr>
            <a:xfrm>
              <a:off x="3468458" y="1931150"/>
              <a:ext cx="2447024" cy="2995699"/>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51CDA2BD-2664-D418-7598-B8EBD2C3B957}"/>
                </a:ext>
              </a:extLst>
            </p:cNvPr>
            <p:cNvSpPr/>
            <p:nvPr/>
          </p:nvSpPr>
          <p:spPr>
            <a:xfrm>
              <a:off x="3640733" y="2057889"/>
              <a:ext cx="2225740" cy="396583"/>
            </a:xfrm>
            <a:prstGeom prst="rect">
              <a:avLst/>
            </a:prstGeom>
          </p:spPr>
          <p:txBody>
            <a:bodyPr wrap="square" lIns="0">
              <a:noAutofit/>
            </a:bodyPr>
            <a:lstStyle/>
            <a:p>
              <a:r>
                <a:rPr lang="en-US" altLang="zh-CN" sz="2000" b="1" dirty="0">
                  <a:solidFill>
                    <a:schemeClr val="bg1"/>
                  </a:solidFill>
                </a:rPr>
                <a:t>FA + GA (</a:t>
              </a:r>
              <a:r>
                <a:rPr lang="zh-CN" altLang="en-US" sz="2000" b="1" dirty="0">
                  <a:solidFill>
                    <a:schemeClr val="bg1"/>
                  </a:solidFill>
                </a:rPr>
                <a:t>遗传算法</a:t>
              </a:r>
              <a:r>
                <a:rPr lang="en-US" altLang="zh-CN" sz="2000" b="1" dirty="0">
                  <a:solidFill>
                    <a:schemeClr val="bg1"/>
                  </a:solidFill>
                </a:rPr>
                <a:t>)</a:t>
              </a:r>
            </a:p>
          </p:txBody>
        </p:sp>
        <p:sp>
          <p:nvSpPr>
            <p:cNvPr id="6" name="矩形 5">
              <a:extLst>
                <a:ext uri="{FF2B5EF4-FFF2-40B4-BE49-F238E27FC236}">
                  <a16:creationId xmlns:a16="http://schemas.microsoft.com/office/drawing/2014/main" id="{DA0601D6-D142-A03F-82F6-54B7D1A44E88}"/>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a:extLst>
                <a:ext uri="{FF2B5EF4-FFF2-40B4-BE49-F238E27FC236}">
                  <a16:creationId xmlns:a16="http://schemas.microsoft.com/office/drawing/2014/main" id="{474F9202-A579-B603-8ECA-9AEE1039A567}"/>
                </a:ext>
              </a:extLst>
            </p:cNvPr>
            <p:cNvSpPr/>
            <p:nvPr/>
          </p:nvSpPr>
          <p:spPr>
            <a:xfrm>
              <a:off x="3640733" y="2638607"/>
              <a:ext cx="2225740" cy="1498552"/>
            </a:xfrm>
            <a:prstGeom prst="rect">
              <a:avLst/>
            </a:prstGeom>
          </p:spPr>
          <p:txBody>
            <a:bodyPr wrap="square" lIns="0">
              <a:normAutofit fontScale="85000" lnSpcReduction="10000"/>
            </a:bodyPr>
            <a:lstStyle/>
            <a:p>
              <a:pPr>
                <a:lnSpc>
                  <a:spcPct val="130000"/>
                </a:lnSpc>
              </a:pPr>
              <a:r>
                <a:rPr lang="zh-CN" altLang="en-US" dirty="0"/>
                <a:t>引入</a:t>
              </a:r>
              <a:r>
                <a:rPr lang="zh-CN" altLang="en-US" b="1" dirty="0">
                  <a:solidFill>
                    <a:schemeClr val="accent2"/>
                  </a:solidFill>
                </a:rPr>
                <a:t>变异 </a:t>
              </a:r>
              <a:r>
                <a:rPr lang="en-US" altLang="zh-CN" b="1" dirty="0">
                  <a:solidFill>
                    <a:schemeClr val="accent2"/>
                  </a:solidFill>
                </a:rPr>
                <a:t>(Mutation)</a:t>
              </a:r>
              <a:r>
                <a:rPr lang="zh-CN" altLang="en-US" dirty="0">
                  <a:solidFill>
                    <a:schemeClr val="accent2"/>
                  </a:solidFill>
                </a:rPr>
                <a:t> </a:t>
              </a:r>
              <a:r>
                <a:rPr lang="zh-CN" altLang="en-US" dirty="0"/>
                <a:t>和</a:t>
              </a:r>
              <a:r>
                <a:rPr lang="zh-CN" altLang="en-US" dirty="0">
                  <a:solidFill>
                    <a:schemeClr val="accent2"/>
                  </a:solidFill>
                </a:rPr>
                <a:t>交叉算子</a:t>
              </a:r>
              <a:r>
                <a:rPr lang="zh-CN" altLang="en-US" dirty="0"/>
                <a:t>。当萤火虫陷入停滞时，强制对其位置进行变异，增加种群多样性，防止早熟收敛。</a:t>
              </a:r>
              <a:endParaRPr lang="zh-CN" altLang="en-US" dirty="0">
                <a:solidFill>
                  <a:schemeClr val="tx1">
                    <a:lumMod val="95000"/>
                    <a:lumOff val="5000"/>
                  </a:schemeClr>
                </a:solidFill>
                <a:latin typeface="+mn-ea"/>
                <a:cs typeface="Arial" panose="020B0604020202020204" pitchFamily="34" charset="0"/>
              </a:endParaRPr>
            </a:p>
          </p:txBody>
        </p:sp>
      </p:grpSp>
      <p:grpSp>
        <p:nvGrpSpPr>
          <p:cNvPr id="23" name="组合 22">
            <a:extLst>
              <a:ext uri="{FF2B5EF4-FFF2-40B4-BE49-F238E27FC236}">
                <a16:creationId xmlns:a16="http://schemas.microsoft.com/office/drawing/2014/main" id="{088B1E4B-B89B-895E-1E4D-BED629E1F08B}"/>
              </a:ext>
            </a:extLst>
          </p:cNvPr>
          <p:cNvGrpSpPr/>
          <p:nvPr/>
        </p:nvGrpSpPr>
        <p:grpSpPr>
          <a:xfrm>
            <a:off x="3239505" y="3496350"/>
            <a:ext cx="2447024" cy="2995699"/>
            <a:chOff x="3468458" y="1931150"/>
            <a:chExt cx="2447024" cy="2995699"/>
          </a:xfrm>
        </p:grpSpPr>
        <p:sp>
          <p:nvSpPr>
            <p:cNvPr id="26" name="矩形 25">
              <a:extLst>
                <a:ext uri="{FF2B5EF4-FFF2-40B4-BE49-F238E27FC236}">
                  <a16:creationId xmlns:a16="http://schemas.microsoft.com/office/drawing/2014/main" id="{9268B0C6-CC37-9A2E-3FEA-0B57F1A60BBD}"/>
                </a:ext>
              </a:extLst>
            </p:cNvPr>
            <p:cNvSpPr/>
            <p:nvPr/>
          </p:nvSpPr>
          <p:spPr>
            <a:xfrm>
              <a:off x="3468458" y="1931150"/>
              <a:ext cx="2447024" cy="2995699"/>
            </a:xfrm>
            <a:prstGeom prst="rect">
              <a:avLst/>
            </a:prstGeom>
            <a:solidFill>
              <a:srgbClr val="7030A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86E68EC9-466B-627A-35B3-8FF19F5DA9B8}"/>
                </a:ext>
              </a:extLst>
            </p:cNvPr>
            <p:cNvSpPr/>
            <p:nvPr/>
          </p:nvSpPr>
          <p:spPr>
            <a:xfrm>
              <a:off x="3640733" y="2057889"/>
              <a:ext cx="2225740" cy="396583"/>
            </a:xfrm>
            <a:prstGeom prst="rect">
              <a:avLst/>
            </a:prstGeom>
          </p:spPr>
          <p:txBody>
            <a:bodyPr wrap="square" lIns="0">
              <a:noAutofit/>
            </a:bodyPr>
            <a:lstStyle/>
            <a:p>
              <a:r>
                <a:rPr lang="en-US" altLang="zh-CN" sz="2000" b="1" dirty="0">
                  <a:solidFill>
                    <a:schemeClr val="bg1"/>
                  </a:solidFill>
                </a:rPr>
                <a:t>FA + PSO (</a:t>
              </a:r>
              <a:r>
                <a:rPr lang="zh-CN" altLang="en-US" sz="2000" b="1" dirty="0">
                  <a:solidFill>
                    <a:schemeClr val="bg1"/>
                  </a:solidFill>
                </a:rPr>
                <a:t>粒子群</a:t>
              </a:r>
              <a:r>
                <a:rPr lang="en-US" altLang="zh-CN" sz="2000" b="1" dirty="0">
                  <a:solidFill>
                    <a:schemeClr val="bg1"/>
                  </a:solidFill>
                </a:rPr>
                <a:t>)</a:t>
              </a:r>
            </a:p>
          </p:txBody>
        </p:sp>
        <p:sp>
          <p:nvSpPr>
            <p:cNvPr id="29" name="矩形 28">
              <a:extLst>
                <a:ext uri="{FF2B5EF4-FFF2-40B4-BE49-F238E27FC236}">
                  <a16:creationId xmlns:a16="http://schemas.microsoft.com/office/drawing/2014/main" id="{4B1D506E-ECC1-6FFE-25AD-3C7D2EB1CC94}"/>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BE477ED9-4CFE-44A5-94CE-C8B69F4B9ECC}"/>
                    </a:ext>
                  </a:extLst>
                </p:cNvPr>
                <p:cNvSpPr/>
                <p:nvPr/>
              </p:nvSpPr>
              <p:spPr>
                <a:xfrm>
                  <a:off x="3640733" y="2638607"/>
                  <a:ext cx="2225740" cy="1498552"/>
                </a:xfrm>
                <a:prstGeom prst="rect">
                  <a:avLst/>
                </a:prstGeom>
              </p:spPr>
              <p:txBody>
                <a:bodyPr wrap="square" lIns="0">
                  <a:normAutofit fontScale="85000" lnSpcReduction="10000"/>
                </a:bodyPr>
                <a:lstStyle/>
                <a:p>
                  <a:pPr>
                    <a:lnSpc>
                      <a:spcPct val="130000"/>
                    </a:lnSpc>
                  </a:pPr>
                  <a:r>
                    <a:rPr lang="zh-CN" altLang="en-US" dirty="0"/>
                    <a:t>引入</a:t>
                  </a:r>
                  <a:r>
                    <a:rPr lang="zh-CN" altLang="en-US" b="1" dirty="0">
                      <a:solidFill>
                        <a:schemeClr val="accent2"/>
                      </a:solidFill>
                    </a:rPr>
                    <a:t>全局最优记忆 </a:t>
                  </a:r>
                  <a14:m>
                    <m:oMath xmlns:m="http://schemas.openxmlformats.org/officeDocument/2006/math">
                      <m:r>
                        <a:rPr lang="en-US" altLang="zh-CN" b="1" i="1" dirty="0" smtClean="0">
                          <a:solidFill>
                            <a:schemeClr val="accent2"/>
                          </a:solidFill>
                          <a:latin typeface="Cambria Math" panose="02040503050406030204" pitchFamily="18" charset="0"/>
                        </a:rPr>
                        <m:t>(</m:t>
                      </m:r>
                      <m:r>
                        <a:rPr lang="en-US" altLang="zh-CN" b="1" i="1" dirty="0" smtClean="0">
                          <a:solidFill>
                            <a:schemeClr val="accent2"/>
                          </a:solidFill>
                          <a:latin typeface="Cambria Math" panose="02040503050406030204" pitchFamily="18" charset="0"/>
                        </a:rPr>
                        <m:t>𝒈𝒃𝒆𝒔𝒕</m:t>
                      </m:r>
                      <m:r>
                        <a:rPr lang="en-US" altLang="zh-CN" b="1" i="1" dirty="0" smtClean="0">
                          <a:solidFill>
                            <a:schemeClr val="accent2"/>
                          </a:solidFill>
                          <a:latin typeface="Cambria Math" panose="02040503050406030204" pitchFamily="18" charset="0"/>
                        </a:rPr>
                        <m:t>)</m:t>
                      </m:r>
                    </m:oMath>
                  </a14:m>
                  <a:r>
                    <a:rPr lang="zh-CN" altLang="en-US" dirty="0"/>
                    <a:t>。萤火虫不仅被邻居吸引，还受群体历史最优位置的引导，大幅加快收敛速度。</a:t>
                  </a:r>
                  <a:endParaRPr lang="zh-CN" altLang="en-US" dirty="0">
                    <a:solidFill>
                      <a:schemeClr val="tx1">
                        <a:lumMod val="95000"/>
                        <a:lumOff val="5000"/>
                      </a:schemeClr>
                    </a:solidFill>
                    <a:latin typeface="+mn-ea"/>
                    <a:cs typeface="Arial" panose="020B0604020202020204" pitchFamily="34" charset="0"/>
                  </a:endParaRPr>
                </a:p>
              </p:txBody>
            </p:sp>
          </mc:Choice>
          <mc:Fallback xmlns="">
            <p:sp>
              <p:nvSpPr>
                <p:cNvPr id="31" name="矩形 30">
                  <a:extLst>
                    <a:ext uri="{FF2B5EF4-FFF2-40B4-BE49-F238E27FC236}">
                      <a16:creationId xmlns:a16="http://schemas.microsoft.com/office/drawing/2014/main" id="{BE477ED9-4CFE-44A5-94CE-C8B69F4B9ECC}"/>
                    </a:ext>
                  </a:extLst>
                </p:cNvPr>
                <p:cNvSpPr>
                  <a:spLocks noRot="1" noChangeAspect="1" noMove="1" noResize="1" noEditPoints="1" noAdjustHandles="1" noChangeArrowheads="1" noChangeShapeType="1" noTextEdit="1"/>
                </p:cNvSpPr>
                <p:nvPr/>
              </p:nvSpPr>
              <p:spPr>
                <a:xfrm>
                  <a:off x="3640733" y="2638607"/>
                  <a:ext cx="2225740" cy="1498552"/>
                </a:xfrm>
                <a:prstGeom prst="rect">
                  <a:avLst/>
                </a:prstGeom>
                <a:blipFill>
                  <a:blip r:embed="rId2"/>
                  <a:stretch>
                    <a:fillRect l="-5205" b="-1224"/>
                  </a:stretch>
                </a:blipFill>
              </p:spPr>
              <p:txBody>
                <a:bodyPr/>
                <a:lstStyle/>
                <a:p>
                  <a:r>
                    <a:rPr lang="zh-CN" altLang="en-US">
                      <a:noFill/>
                    </a:rPr>
                    <a:t> </a:t>
                  </a:r>
                </a:p>
              </p:txBody>
            </p:sp>
          </mc:Fallback>
        </mc:AlternateContent>
      </p:grpSp>
      <p:grpSp>
        <p:nvGrpSpPr>
          <p:cNvPr id="39" name="组合 38">
            <a:extLst>
              <a:ext uri="{FF2B5EF4-FFF2-40B4-BE49-F238E27FC236}">
                <a16:creationId xmlns:a16="http://schemas.microsoft.com/office/drawing/2014/main" id="{CA24C9BF-13F4-CBB6-947E-9CE592C3FC1F}"/>
              </a:ext>
            </a:extLst>
          </p:cNvPr>
          <p:cNvGrpSpPr/>
          <p:nvPr/>
        </p:nvGrpSpPr>
        <p:grpSpPr>
          <a:xfrm>
            <a:off x="5660657" y="3496350"/>
            <a:ext cx="2447024" cy="2995699"/>
            <a:chOff x="3468458" y="1931150"/>
            <a:chExt cx="2447024" cy="2995699"/>
          </a:xfrm>
        </p:grpSpPr>
        <p:sp>
          <p:nvSpPr>
            <p:cNvPr id="40" name="矩形 39">
              <a:extLst>
                <a:ext uri="{FF2B5EF4-FFF2-40B4-BE49-F238E27FC236}">
                  <a16:creationId xmlns:a16="http://schemas.microsoft.com/office/drawing/2014/main" id="{A01928E8-E5BA-4FBC-314F-6742E9D77C9C}"/>
                </a:ext>
              </a:extLst>
            </p:cNvPr>
            <p:cNvSpPr/>
            <p:nvPr/>
          </p:nvSpPr>
          <p:spPr>
            <a:xfrm>
              <a:off x="3468458" y="1931150"/>
              <a:ext cx="2447024" cy="2995699"/>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57CDBC2C-9959-5BB6-2526-F619AECCEC63}"/>
                </a:ext>
              </a:extLst>
            </p:cNvPr>
            <p:cNvSpPr/>
            <p:nvPr/>
          </p:nvSpPr>
          <p:spPr>
            <a:xfrm>
              <a:off x="3640733" y="2057889"/>
              <a:ext cx="2225740" cy="396583"/>
            </a:xfrm>
            <a:prstGeom prst="rect">
              <a:avLst/>
            </a:prstGeom>
          </p:spPr>
          <p:txBody>
            <a:bodyPr wrap="square" lIns="0">
              <a:noAutofit/>
            </a:bodyPr>
            <a:lstStyle/>
            <a:p>
              <a:r>
                <a:rPr lang="zh-CN" altLang="en-US" sz="2000" b="1" dirty="0">
                  <a:solidFill>
                    <a:schemeClr val="bg1"/>
                  </a:solidFill>
                </a:rPr>
                <a:t>精英策略 </a:t>
              </a:r>
              <a:r>
                <a:rPr lang="en-US" altLang="zh-CN" sz="2000" b="1" dirty="0">
                  <a:solidFill>
                    <a:schemeClr val="bg1"/>
                  </a:solidFill>
                </a:rPr>
                <a:t>(Elitism)</a:t>
              </a:r>
            </a:p>
            <a:p>
              <a:endParaRPr lang="en-US" altLang="zh-CN" sz="2000" b="1" dirty="0">
                <a:solidFill>
                  <a:schemeClr val="bg1"/>
                </a:solidFill>
              </a:endParaRPr>
            </a:p>
          </p:txBody>
        </p:sp>
        <p:sp>
          <p:nvSpPr>
            <p:cNvPr id="42" name="矩形 41">
              <a:extLst>
                <a:ext uri="{FF2B5EF4-FFF2-40B4-BE49-F238E27FC236}">
                  <a16:creationId xmlns:a16="http://schemas.microsoft.com/office/drawing/2014/main" id="{D8E4E6C4-A707-4C34-7A41-0BD86CB8C8C0}"/>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562A389B-97C4-ADFD-5485-53A78C226040}"/>
                    </a:ext>
                  </a:extLst>
                </p:cNvPr>
                <p:cNvSpPr/>
                <p:nvPr/>
              </p:nvSpPr>
              <p:spPr>
                <a:xfrm>
                  <a:off x="3640733" y="2638607"/>
                  <a:ext cx="2225740" cy="1498552"/>
                </a:xfrm>
                <a:prstGeom prst="rect">
                  <a:avLst/>
                </a:prstGeom>
              </p:spPr>
              <p:txBody>
                <a:bodyPr wrap="square" lIns="0">
                  <a:normAutofit fontScale="85000" lnSpcReduction="10000"/>
                </a:bodyPr>
                <a:lstStyle/>
                <a:p>
                  <a:pPr>
                    <a:lnSpc>
                      <a:spcPct val="130000"/>
                    </a:lnSpc>
                  </a:pPr>
                  <a:r>
                    <a:rPr lang="zh-CN" altLang="en-US" dirty="0"/>
                    <a:t>在迭代过程中仅保留适应度最高的“精英萤火虫”进行局部搜索，或减少劣质个体的计算，降低</a:t>
                  </a:r>
                  <a14:m>
                    <m:oMath xmlns:m="http://schemas.openxmlformats.org/officeDocument/2006/math">
                      <m:r>
                        <a:rPr lang="en-US" altLang="zh-CN" i="1" dirty="0" smtClean="0">
                          <a:latin typeface="Cambria Math" panose="02040503050406030204" pitchFamily="18" charset="0"/>
                        </a:rPr>
                        <m:t>𝑂</m:t>
                      </m:r>
                      <m:d>
                        <m:dPr>
                          <m:ctrlPr>
                            <a:rPr lang="en-US" altLang="zh-CN" i="1" dirty="0" smtClean="0">
                              <a:latin typeface="Cambria Math" panose="02040503050406030204" pitchFamily="18" charset="0"/>
                            </a:rPr>
                          </m:ctrlPr>
                        </m:dPr>
                        <m:e>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𝑁</m:t>
                              </m:r>
                            </m:e>
                            <m:sup>
                              <m:r>
                                <a:rPr lang="en-US" altLang="zh-CN" i="1" dirty="0" smtClean="0">
                                  <a:latin typeface="Cambria Math" panose="02040503050406030204" pitchFamily="18" charset="0"/>
                                </a:rPr>
                                <m:t>2</m:t>
                              </m:r>
                            </m:sup>
                          </m:sSup>
                        </m:e>
                      </m:d>
                      <m:r>
                        <a:rPr lang="en-US" altLang="zh-CN" i="1" dirty="0" smtClean="0">
                          <a:latin typeface="Cambria Math" panose="02040503050406030204" pitchFamily="18" charset="0"/>
                        </a:rPr>
                        <m:t> </m:t>
                      </m:r>
                    </m:oMath>
                  </a14:m>
                  <a:r>
                    <a:rPr lang="zh-CN" altLang="en-US" dirty="0"/>
                    <a:t>复杂度。</a:t>
                  </a:r>
                  <a:endParaRPr lang="zh-CN" altLang="en-US" dirty="0">
                    <a:solidFill>
                      <a:schemeClr val="tx1">
                        <a:lumMod val="95000"/>
                        <a:lumOff val="5000"/>
                      </a:schemeClr>
                    </a:solidFill>
                    <a:latin typeface="+mn-ea"/>
                    <a:cs typeface="Arial" panose="020B0604020202020204" pitchFamily="34" charset="0"/>
                  </a:endParaRPr>
                </a:p>
              </p:txBody>
            </p:sp>
          </mc:Choice>
          <mc:Fallback xmlns="">
            <p:sp>
              <p:nvSpPr>
                <p:cNvPr id="43" name="矩形 42">
                  <a:extLst>
                    <a:ext uri="{FF2B5EF4-FFF2-40B4-BE49-F238E27FC236}">
                      <a16:creationId xmlns:a16="http://schemas.microsoft.com/office/drawing/2014/main" id="{562A389B-97C4-ADFD-5485-53A78C226040}"/>
                    </a:ext>
                  </a:extLst>
                </p:cNvPr>
                <p:cNvSpPr>
                  <a:spLocks noRot="1" noChangeAspect="1" noMove="1" noResize="1" noEditPoints="1" noAdjustHandles="1" noChangeArrowheads="1" noChangeShapeType="1" noTextEdit="1"/>
                </p:cNvSpPr>
                <p:nvPr/>
              </p:nvSpPr>
              <p:spPr>
                <a:xfrm>
                  <a:off x="3640733" y="2638607"/>
                  <a:ext cx="2225740" cy="1498552"/>
                </a:xfrm>
                <a:prstGeom prst="rect">
                  <a:avLst/>
                </a:prstGeom>
                <a:blipFill>
                  <a:blip r:embed="rId3"/>
                  <a:stretch>
                    <a:fillRect l="-5205" b="-1224"/>
                  </a:stretch>
                </a:blipFill>
              </p:spPr>
              <p:txBody>
                <a:bodyPr/>
                <a:lstStyle/>
                <a:p>
                  <a:r>
                    <a:rPr lang="zh-CN" altLang="en-US">
                      <a:noFill/>
                    </a:rPr>
                    <a:t> </a:t>
                  </a:r>
                </a:p>
              </p:txBody>
            </p:sp>
          </mc:Fallback>
        </mc:AlternateContent>
      </p:grpSp>
      <p:grpSp>
        <p:nvGrpSpPr>
          <p:cNvPr id="51" name="组合 50">
            <a:extLst>
              <a:ext uri="{FF2B5EF4-FFF2-40B4-BE49-F238E27FC236}">
                <a16:creationId xmlns:a16="http://schemas.microsoft.com/office/drawing/2014/main" id="{F73411F7-0AF3-039D-764C-044234514247}"/>
              </a:ext>
            </a:extLst>
          </p:cNvPr>
          <p:cNvGrpSpPr/>
          <p:nvPr/>
        </p:nvGrpSpPr>
        <p:grpSpPr>
          <a:xfrm>
            <a:off x="8107680" y="3496350"/>
            <a:ext cx="3447011" cy="2995699"/>
            <a:chOff x="3468458" y="1931150"/>
            <a:chExt cx="3447011" cy="2995699"/>
          </a:xfrm>
        </p:grpSpPr>
        <p:sp>
          <p:nvSpPr>
            <p:cNvPr id="52" name="矩形 51">
              <a:extLst>
                <a:ext uri="{FF2B5EF4-FFF2-40B4-BE49-F238E27FC236}">
                  <a16:creationId xmlns:a16="http://schemas.microsoft.com/office/drawing/2014/main" id="{0EEEF188-693A-DF3D-C434-568DD44797C7}"/>
                </a:ext>
              </a:extLst>
            </p:cNvPr>
            <p:cNvSpPr/>
            <p:nvPr/>
          </p:nvSpPr>
          <p:spPr>
            <a:xfrm>
              <a:off x="3468458" y="1931150"/>
              <a:ext cx="2447024" cy="2995699"/>
            </a:xfrm>
            <a:prstGeom prst="rect">
              <a:avLst/>
            </a:prstGeom>
            <a:solidFill>
              <a:srgbClr val="7030A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52">
              <a:extLst>
                <a:ext uri="{FF2B5EF4-FFF2-40B4-BE49-F238E27FC236}">
                  <a16:creationId xmlns:a16="http://schemas.microsoft.com/office/drawing/2014/main" id="{E01D2469-EAA3-3AC5-7D0F-0E1CB5F1D3A8}"/>
                </a:ext>
              </a:extLst>
            </p:cNvPr>
            <p:cNvSpPr/>
            <p:nvPr/>
          </p:nvSpPr>
          <p:spPr>
            <a:xfrm>
              <a:off x="3640733" y="2057889"/>
              <a:ext cx="3274736" cy="396583"/>
            </a:xfrm>
            <a:prstGeom prst="rect">
              <a:avLst/>
            </a:prstGeom>
          </p:spPr>
          <p:txBody>
            <a:bodyPr wrap="square" lIns="0">
              <a:noAutofit/>
            </a:bodyPr>
            <a:lstStyle/>
            <a:p>
              <a:r>
                <a:rPr lang="zh-CN" altLang="en-US" sz="2000" b="1" dirty="0">
                  <a:solidFill>
                    <a:schemeClr val="bg1"/>
                  </a:solidFill>
                </a:rPr>
                <a:t>多群协同</a:t>
              </a:r>
              <a:endParaRPr lang="en-US" altLang="zh-CN" sz="2000" b="1" dirty="0">
                <a:solidFill>
                  <a:schemeClr val="bg1"/>
                </a:solidFill>
              </a:endParaRPr>
            </a:p>
          </p:txBody>
        </p:sp>
        <p:sp>
          <p:nvSpPr>
            <p:cNvPr id="54" name="矩形 53">
              <a:extLst>
                <a:ext uri="{FF2B5EF4-FFF2-40B4-BE49-F238E27FC236}">
                  <a16:creationId xmlns:a16="http://schemas.microsoft.com/office/drawing/2014/main" id="{0DCEB689-471B-EFBB-D25D-B4F37EC62CCA}"/>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矩形 54">
              <a:extLst>
                <a:ext uri="{FF2B5EF4-FFF2-40B4-BE49-F238E27FC236}">
                  <a16:creationId xmlns:a16="http://schemas.microsoft.com/office/drawing/2014/main" id="{F3D0644F-178A-92C8-7198-7CB15DC983BC}"/>
                </a:ext>
              </a:extLst>
            </p:cNvPr>
            <p:cNvSpPr/>
            <p:nvPr/>
          </p:nvSpPr>
          <p:spPr>
            <a:xfrm>
              <a:off x="3640733" y="2638607"/>
              <a:ext cx="2225740" cy="1498552"/>
            </a:xfrm>
            <a:prstGeom prst="rect">
              <a:avLst/>
            </a:prstGeom>
          </p:spPr>
          <p:txBody>
            <a:bodyPr wrap="square" lIns="0">
              <a:normAutofit fontScale="85000" lnSpcReduction="10000"/>
            </a:bodyPr>
            <a:lstStyle/>
            <a:p>
              <a:pPr>
                <a:lnSpc>
                  <a:spcPct val="130000"/>
                </a:lnSpc>
              </a:pPr>
              <a:r>
                <a:rPr lang="zh-CN" altLang="en-US" dirty="0"/>
                <a:t>将种群划分为多个独立进化的子群，子群间定期交换信息。既保持了各子群的独立探索，又实现了全局信息共享。</a:t>
              </a:r>
              <a:endParaRPr lang="zh-CN" altLang="en-US" dirty="0">
                <a:solidFill>
                  <a:schemeClr val="tx1">
                    <a:lumMod val="95000"/>
                    <a:lumOff val="5000"/>
                  </a:schemeClr>
                </a:solidFill>
                <a:latin typeface="+mn-ea"/>
                <a:cs typeface="Arial" panose="020B0604020202020204" pitchFamily="34" charset="0"/>
              </a:endParaRPr>
            </a:p>
          </p:txBody>
        </p:sp>
      </p:grpSp>
    </p:spTree>
    <p:extLst>
      <p:ext uri="{BB962C8B-B14F-4D97-AF65-F5344CB8AC3E}">
        <p14:creationId xmlns:p14="http://schemas.microsoft.com/office/powerpoint/2010/main" val="2213043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06</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应用方向</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Application</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萤火虫算法</a:t>
            </a:r>
            <a:r>
              <a:rPr lang="en-US" altLang="zh-CN" dirty="0"/>
              <a:t>-</a:t>
            </a:r>
            <a:r>
              <a:rPr lang="zh-CN" altLang="en-US" dirty="0"/>
              <a:t>应用方向</a:t>
            </a:r>
          </a:p>
        </p:txBody>
      </p:sp>
      <p:sp>
        <p:nvSpPr>
          <p:cNvPr id="7" name="矩形 6">
            <a:extLst>
              <a:ext uri="{FF2B5EF4-FFF2-40B4-BE49-F238E27FC236}">
                <a16:creationId xmlns:a16="http://schemas.microsoft.com/office/drawing/2014/main" id="{D820D1AB-7AB0-46B9-A544-5A22C9D2AD6A}"/>
              </a:ext>
            </a:extLst>
          </p:cNvPr>
          <p:cNvSpPr/>
          <p:nvPr/>
        </p:nvSpPr>
        <p:spPr>
          <a:xfrm>
            <a:off x="168275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782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7885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949B21B-A209-46B9-AA2C-E30D38C5213D}"/>
              </a:ext>
            </a:extLst>
          </p:cNvPr>
          <p:cNvSpPr>
            <a:spLocks noGrp="1"/>
          </p:cNvSpPr>
          <p:nvPr>
            <p:ph type="title"/>
          </p:nvPr>
        </p:nvSpPr>
        <p:spPr/>
        <p:txBody>
          <a:bodyPr/>
          <a:lstStyle/>
          <a:p>
            <a:r>
              <a:rPr lang="en-US" altLang="zh-CN" dirty="0"/>
              <a:t>6 </a:t>
            </a:r>
            <a:r>
              <a:rPr lang="zh-CN" altLang="en-US" dirty="0"/>
              <a:t>萤火虫算法的应用方向</a:t>
            </a:r>
          </a:p>
        </p:txBody>
      </p:sp>
      <p:grpSp>
        <p:nvGrpSpPr>
          <p:cNvPr id="40" name="组合 39">
            <a:extLst>
              <a:ext uri="{FF2B5EF4-FFF2-40B4-BE49-F238E27FC236}">
                <a16:creationId xmlns:a16="http://schemas.microsoft.com/office/drawing/2014/main" id="{78A48003-6484-4772-8836-1064C049D117}"/>
              </a:ext>
            </a:extLst>
          </p:cNvPr>
          <p:cNvGrpSpPr/>
          <p:nvPr/>
        </p:nvGrpSpPr>
        <p:grpSpPr>
          <a:xfrm>
            <a:off x="7346372" y="1743502"/>
            <a:ext cx="2410058" cy="606375"/>
            <a:chOff x="7342559" y="1743502"/>
            <a:chExt cx="2410058" cy="606375"/>
          </a:xfrm>
        </p:grpSpPr>
        <p:sp>
          <p:nvSpPr>
            <p:cNvPr id="21" name="文本框 20">
              <a:extLst>
                <a:ext uri="{FF2B5EF4-FFF2-40B4-BE49-F238E27FC236}">
                  <a16:creationId xmlns:a16="http://schemas.microsoft.com/office/drawing/2014/main" id="{B0590442-DA62-4AE7-AFEA-9C9B82728B7C}"/>
                </a:ext>
              </a:extLst>
            </p:cNvPr>
            <p:cNvSpPr txBox="1"/>
            <p:nvPr/>
          </p:nvSpPr>
          <p:spPr>
            <a:xfrm>
              <a:off x="7808936" y="1743502"/>
              <a:ext cx="1943681" cy="369332"/>
            </a:xfrm>
            <a:prstGeom prst="rect">
              <a:avLst/>
            </a:prstGeom>
            <a:noFill/>
          </p:spPr>
          <p:txBody>
            <a:bodyPr wrap="square" lIns="0" rtlCol="0">
              <a:spAutoFit/>
            </a:bodyPr>
            <a:lstStyle/>
            <a:p>
              <a:pPr algn="ctr"/>
              <a:r>
                <a:rPr lang="zh-CN" altLang="en-US" b="1" dirty="0">
                  <a:solidFill>
                    <a:schemeClr val="tx1">
                      <a:lumMod val="95000"/>
                      <a:lumOff val="5000"/>
                    </a:schemeClr>
                  </a:solidFill>
                  <a:latin typeface="+mj-ea"/>
                  <a:ea typeface="+mj-ea"/>
                </a:rPr>
                <a:t>工程结构设计</a:t>
              </a:r>
            </a:p>
          </p:txBody>
        </p:sp>
        <p:cxnSp>
          <p:nvCxnSpPr>
            <p:cNvPr id="26" name="直接连接符 25">
              <a:extLst>
                <a:ext uri="{FF2B5EF4-FFF2-40B4-BE49-F238E27FC236}">
                  <a16:creationId xmlns:a16="http://schemas.microsoft.com/office/drawing/2014/main" id="{9821E67B-31C5-41C6-BBD4-05292BDBCC2D}"/>
                </a:ext>
              </a:extLst>
            </p:cNvPr>
            <p:cNvCxnSpPr>
              <a:cxnSpLocks/>
            </p:cNvCxnSpPr>
            <p:nvPr/>
          </p:nvCxnSpPr>
          <p:spPr>
            <a:xfrm>
              <a:off x="7715250" y="2132707"/>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129A824-44D2-4C9A-9619-A38426768A51}"/>
                </a:ext>
              </a:extLst>
            </p:cNvPr>
            <p:cNvCxnSpPr>
              <a:cxnSpLocks/>
            </p:cNvCxnSpPr>
            <p:nvPr/>
          </p:nvCxnSpPr>
          <p:spPr>
            <a:xfrm flipV="1">
              <a:off x="7342559" y="2132707"/>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grpSp>
        <p:nvGrpSpPr>
          <p:cNvPr id="47" name="组合 46">
            <a:extLst>
              <a:ext uri="{FF2B5EF4-FFF2-40B4-BE49-F238E27FC236}">
                <a16:creationId xmlns:a16="http://schemas.microsoft.com/office/drawing/2014/main" id="{4FA6A1BD-3F33-4B0E-B0DC-2647BC1CE167}"/>
              </a:ext>
            </a:extLst>
          </p:cNvPr>
          <p:cNvGrpSpPr/>
          <p:nvPr/>
        </p:nvGrpSpPr>
        <p:grpSpPr>
          <a:xfrm>
            <a:off x="7428863" y="4300214"/>
            <a:ext cx="2273805" cy="369332"/>
            <a:chOff x="7619273" y="3900651"/>
            <a:chExt cx="2273805" cy="369332"/>
          </a:xfrm>
        </p:grpSpPr>
        <p:sp>
          <p:nvSpPr>
            <p:cNvPr id="42" name="文本框 41">
              <a:extLst>
                <a:ext uri="{FF2B5EF4-FFF2-40B4-BE49-F238E27FC236}">
                  <a16:creationId xmlns:a16="http://schemas.microsoft.com/office/drawing/2014/main" id="{D7584414-B8FF-4F71-8C0D-78775E2D4546}"/>
                </a:ext>
              </a:extLst>
            </p:cNvPr>
            <p:cNvSpPr txBox="1"/>
            <p:nvPr/>
          </p:nvSpPr>
          <p:spPr>
            <a:xfrm>
              <a:off x="7949397" y="3900651"/>
              <a:ext cx="1943681" cy="369332"/>
            </a:xfrm>
            <a:prstGeom prst="rect">
              <a:avLst/>
            </a:prstGeom>
            <a:noFill/>
          </p:spPr>
          <p:txBody>
            <a:bodyPr wrap="square" lIns="0" rtlCol="0">
              <a:spAutoFit/>
            </a:bodyPr>
            <a:lstStyle/>
            <a:p>
              <a:pPr algn="ctr"/>
              <a:r>
                <a:rPr lang="zh-CN" altLang="en-US" b="1" dirty="0">
                  <a:solidFill>
                    <a:schemeClr val="tx1">
                      <a:lumMod val="95000"/>
                      <a:lumOff val="5000"/>
                    </a:schemeClr>
                  </a:solidFill>
                  <a:latin typeface="+mj-ea"/>
                  <a:ea typeface="+mj-ea"/>
                </a:rPr>
                <a:t>组合优化问题</a:t>
              </a:r>
            </a:p>
          </p:txBody>
        </p:sp>
        <p:cxnSp>
          <p:nvCxnSpPr>
            <p:cNvPr id="44" name="直接连接符 43">
              <a:extLst>
                <a:ext uri="{FF2B5EF4-FFF2-40B4-BE49-F238E27FC236}">
                  <a16:creationId xmlns:a16="http://schemas.microsoft.com/office/drawing/2014/main" id="{945BD53D-2876-41EA-97C8-3A53FF482FED}"/>
                </a:ext>
              </a:extLst>
            </p:cNvPr>
            <p:cNvCxnSpPr>
              <a:cxnSpLocks/>
            </p:cNvCxnSpPr>
            <p:nvPr/>
          </p:nvCxnSpPr>
          <p:spPr>
            <a:xfrm>
              <a:off x="7826361" y="4250758"/>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B05DBBE9-7546-4048-B376-8A9C67E4F0E4}"/>
                </a:ext>
              </a:extLst>
            </p:cNvPr>
            <p:cNvCxnSpPr>
              <a:cxnSpLocks/>
            </p:cNvCxnSpPr>
            <p:nvPr/>
          </p:nvCxnSpPr>
          <p:spPr>
            <a:xfrm>
              <a:off x="7619273" y="3948758"/>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grpSp>
        <p:nvGrpSpPr>
          <p:cNvPr id="48" name="组合 47">
            <a:extLst>
              <a:ext uri="{FF2B5EF4-FFF2-40B4-BE49-F238E27FC236}">
                <a16:creationId xmlns:a16="http://schemas.microsoft.com/office/drawing/2014/main" id="{FE75B3A5-BA1C-499F-9D61-CCA05557A0E2}"/>
              </a:ext>
            </a:extLst>
          </p:cNvPr>
          <p:cNvGrpSpPr/>
          <p:nvPr/>
        </p:nvGrpSpPr>
        <p:grpSpPr>
          <a:xfrm flipH="1">
            <a:off x="2150457" y="1704911"/>
            <a:ext cx="2655247" cy="644966"/>
            <a:chOff x="7342559" y="1704911"/>
            <a:chExt cx="2655247" cy="644966"/>
          </a:xfrm>
        </p:grpSpPr>
        <p:sp>
          <p:nvSpPr>
            <p:cNvPr id="49" name="文本框 48">
              <a:extLst>
                <a:ext uri="{FF2B5EF4-FFF2-40B4-BE49-F238E27FC236}">
                  <a16:creationId xmlns:a16="http://schemas.microsoft.com/office/drawing/2014/main" id="{BD20E12F-B08D-4972-84C4-D87E2A239856}"/>
                </a:ext>
              </a:extLst>
            </p:cNvPr>
            <p:cNvSpPr txBox="1"/>
            <p:nvPr/>
          </p:nvSpPr>
          <p:spPr>
            <a:xfrm>
              <a:off x="7482647" y="1704911"/>
              <a:ext cx="2515159" cy="369332"/>
            </a:xfrm>
            <a:prstGeom prst="rect">
              <a:avLst/>
            </a:prstGeom>
            <a:noFill/>
          </p:spPr>
          <p:txBody>
            <a:bodyPr wrap="square" lIns="0" rIns="0" rtlCol="0">
              <a:spAutoFit/>
            </a:bodyPr>
            <a:lstStyle/>
            <a:p>
              <a:pPr algn="ctr"/>
              <a:r>
                <a:rPr lang="zh-CN" altLang="en-US" b="1" dirty="0">
                  <a:solidFill>
                    <a:schemeClr val="tx1">
                      <a:lumMod val="95000"/>
                      <a:lumOff val="5000"/>
                    </a:schemeClr>
                  </a:solidFill>
                  <a:latin typeface="+mj-ea"/>
                  <a:ea typeface="+mj-ea"/>
                </a:rPr>
                <a:t>数字图像处理</a:t>
              </a:r>
            </a:p>
          </p:txBody>
        </p:sp>
        <p:cxnSp>
          <p:nvCxnSpPr>
            <p:cNvPr id="51" name="直接连接符 50">
              <a:extLst>
                <a:ext uri="{FF2B5EF4-FFF2-40B4-BE49-F238E27FC236}">
                  <a16:creationId xmlns:a16="http://schemas.microsoft.com/office/drawing/2014/main" id="{7502837B-FCCD-4FA0-9708-E54FC0C99EAA}"/>
                </a:ext>
              </a:extLst>
            </p:cNvPr>
            <p:cNvCxnSpPr>
              <a:cxnSpLocks/>
            </p:cNvCxnSpPr>
            <p:nvPr/>
          </p:nvCxnSpPr>
          <p:spPr>
            <a:xfrm>
              <a:off x="7715250" y="2132707"/>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C0D73E0-4458-419D-A658-7848EE496FF2}"/>
                </a:ext>
              </a:extLst>
            </p:cNvPr>
            <p:cNvCxnSpPr>
              <a:cxnSpLocks/>
            </p:cNvCxnSpPr>
            <p:nvPr/>
          </p:nvCxnSpPr>
          <p:spPr>
            <a:xfrm flipV="1">
              <a:off x="7342559" y="2132707"/>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grpSp>
        <p:nvGrpSpPr>
          <p:cNvPr id="63" name="组合 62">
            <a:extLst>
              <a:ext uri="{FF2B5EF4-FFF2-40B4-BE49-F238E27FC236}">
                <a16:creationId xmlns:a16="http://schemas.microsoft.com/office/drawing/2014/main" id="{DF5B09B7-C592-43E3-8B80-82A057C3A846}"/>
              </a:ext>
            </a:extLst>
          </p:cNvPr>
          <p:cNvGrpSpPr/>
          <p:nvPr/>
        </p:nvGrpSpPr>
        <p:grpSpPr>
          <a:xfrm flipH="1">
            <a:off x="2054192" y="4241242"/>
            <a:ext cx="2529851" cy="409079"/>
            <a:chOff x="7660640" y="3841679"/>
            <a:chExt cx="2529851" cy="409079"/>
          </a:xfrm>
        </p:grpSpPr>
        <p:sp>
          <p:nvSpPr>
            <p:cNvPr id="64" name="文本框 63">
              <a:extLst>
                <a:ext uri="{FF2B5EF4-FFF2-40B4-BE49-F238E27FC236}">
                  <a16:creationId xmlns:a16="http://schemas.microsoft.com/office/drawing/2014/main" id="{E979E9D1-8EE2-40F9-9A66-DD55777230BD}"/>
                </a:ext>
              </a:extLst>
            </p:cNvPr>
            <p:cNvSpPr txBox="1"/>
            <p:nvPr/>
          </p:nvSpPr>
          <p:spPr>
            <a:xfrm>
              <a:off x="7903251" y="3841679"/>
              <a:ext cx="2287240" cy="369332"/>
            </a:xfrm>
            <a:prstGeom prst="rect">
              <a:avLst/>
            </a:prstGeom>
            <a:noFill/>
          </p:spPr>
          <p:txBody>
            <a:bodyPr wrap="square" lIns="0" rIns="0" rtlCol="0">
              <a:spAutoFit/>
            </a:bodyPr>
            <a:lstStyle/>
            <a:p>
              <a:pPr algn="ctr"/>
              <a:r>
                <a:rPr lang="zh-CN" altLang="en-US" b="1" dirty="0">
                  <a:solidFill>
                    <a:schemeClr val="tx1">
                      <a:lumMod val="95000"/>
                      <a:lumOff val="5000"/>
                    </a:schemeClr>
                  </a:solidFill>
                  <a:latin typeface="+mj-ea"/>
                  <a:ea typeface="+mj-ea"/>
                </a:rPr>
                <a:t>机器学习与数据挖掘</a:t>
              </a:r>
            </a:p>
          </p:txBody>
        </p:sp>
        <p:cxnSp>
          <p:nvCxnSpPr>
            <p:cNvPr id="66" name="直接连接符 65">
              <a:extLst>
                <a:ext uri="{FF2B5EF4-FFF2-40B4-BE49-F238E27FC236}">
                  <a16:creationId xmlns:a16="http://schemas.microsoft.com/office/drawing/2014/main" id="{7ED72F19-EA63-4CD8-B9D5-EC7F306E497B}"/>
                </a:ext>
              </a:extLst>
            </p:cNvPr>
            <p:cNvCxnSpPr>
              <a:cxnSpLocks/>
            </p:cNvCxnSpPr>
            <p:nvPr/>
          </p:nvCxnSpPr>
          <p:spPr>
            <a:xfrm>
              <a:off x="7826361" y="4250758"/>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6B10426-180D-4C6E-97B4-16F36B3FA1DF}"/>
                </a:ext>
              </a:extLst>
            </p:cNvPr>
            <p:cNvCxnSpPr>
              <a:cxnSpLocks/>
            </p:cNvCxnSpPr>
            <p:nvPr/>
          </p:nvCxnSpPr>
          <p:spPr>
            <a:xfrm>
              <a:off x="7660640" y="3977640"/>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pic>
        <p:nvPicPr>
          <p:cNvPr id="8" name="图片占位符 7">
            <a:extLst>
              <a:ext uri="{FF2B5EF4-FFF2-40B4-BE49-F238E27FC236}">
                <a16:creationId xmlns:a16="http://schemas.microsoft.com/office/drawing/2014/main" id="{8AA4C351-B263-78BD-E64D-95EDB428372F}"/>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1875" r="21875"/>
          <a:stretch>
            <a:fillRect/>
          </a:stretch>
        </p:blipFill>
        <p:spPr/>
      </p:pic>
      <p:sp>
        <p:nvSpPr>
          <p:cNvPr id="5" name="AutoShape 2" descr="萤火虫 的图像结果">
            <a:extLst>
              <a:ext uri="{FF2B5EF4-FFF2-40B4-BE49-F238E27FC236}">
                <a16:creationId xmlns:a16="http://schemas.microsoft.com/office/drawing/2014/main" id="{AAB3F8DA-5724-7DF0-5F1F-C301CABE61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文本框 15">
            <a:extLst>
              <a:ext uri="{FF2B5EF4-FFF2-40B4-BE49-F238E27FC236}">
                <a16:creationId xmlns:a16="http://schemas.microsoft.com/office/drawing/2014/main" id="{F30E83CA-699C-4040-C99F-47B019819B0A}"/>
              </a:ext>
            </a:extLst>
          </p:cNvPr>
          <p:cNvSpPr txBox="1"/>
          <p:nvPr/>
        </p:nvSpPr>
        <p:spPr>
          <a:xfrm flipH="1">
            <a:off x="2291105" y="2249635"/>
            <a:ext cx="2514599" cy="702115"/>
          </a:xfrm>
          <a:prstGeom prst="rect">
            <a:avLst/>
          </a:prstGeom>
          <a:noFill/>
        </p:spPr>
        <p:txBody>
          <a:bodyPr wrap="square" lIns="0" rIns="0" rtlCol="0">
            <a:spAutoFit/>
          </a:bodyPr>
          <a:lstStyle/>
          <a:p>
            <a:pPr>
              <a:lnSpc>
                <a:spcPct val="130000"/>
              </a:lnSpc>
            </a:pPr>
            <a:r>
              <a:rPr lang="zh-CN" altLang="en-US" sz="1600" dirty="0"/>
              <a:t>图像压缩、多级阈值分割、图像配准与特征提取。</a:t>
            </a:r>
          </a:p>
        </p:txBody>
      </p:sp>
      <p:sp>
        <p:nvSpPr>
          <p:cNvPr id="17" name="文本框 16">
            <a:extLst>
              <a:ext uri="{FF2B5EF4-FFF2-40B4-BE49-F238E27FC236}">
                <a16:creationId xmlns:a16="http://schemas.microsoft.com/office/drawing/2014/main" id="{22927C25-6D78-AC11-E625-EECDAD03993B}"/>
              </a:ext>
            </a:extLst>
          </p:cNvPr>
          <p:cNvSpPr txBox="1"/>
          <p:nvPr/>
        </p:nvSpPr>
        <p:spPr>
          <a:xfrm flipH="1">
            <a:off x="7719063" y="2303464"/>
            <a:ext cx="2514599" cy="1022203"/>
          </a:xfrm>
          <a:prstGeom prst="rect">
            <a:avLst/>
          </a:prstGeom>
          <a:noFill/>
        </p:spPr>
        <p:txBody>
          <a:bodyPr wrap="square" lIns="0" rIns="0" rtlCol="0">
            <a:spAutoFit/>
          </a:bodyPr>
          <a:lstStyle/>
          <a:p>
            <a:pPr>
              <a:lnSpc>
                <a:spcPct val="130000"/>
              </a:lnSpc>
            </a:pPr>
            <a:r>
              <a:rPr lang="zh-CN" altLang="en-US" sz="1600" dirty="0"/>
              <a:t>天线阵列设计、压力容器优化、弹簧设计及桁架结构减重。</a:t>
            </a:r>
          </a:p>
        </p:txBody>
      </p:sp>
      <p:sp>
        <p:nvSpPr>
          <p:cNvPr id="18" name="文本框 17">
            <a:extLst>
              <a:ext uri="{FF2B5EF4-FFF2-40B4-BE49-F238E27FC236}">
                <a16:creationId xmlns:a16="http://schemas.microsoft.com/office/drawing/2014/main" id="{508B33BC-27DB-4FA8-F38E-1948B6CE6D3F}"/>
              </a:ext>
            </a:extLst>
          </p:cNvPr>
          <p:cNvSpPr txBox="1"/>
          <p:nvPr/>
        </p:nvSpPr>
        <p:spPr>
          <a:xfrm flipH="1">
            <a:off x="2165428" y="4710312"/>
            <a:ext cx="2514599" cy="702115"/>
          </a:xfrm>
          <a:prstGeom prst="rect">
            <a:avLst/>
          </a:prstGeom>
          <a:noFill/>
        </p:spPr>
        <p:txBody>
          <a:bodyPr wrap="square" lIns="0" rIns="0" rtlCol="0">
            <a:spAutoFit/>
          </a:bodyPr>
          <a:lstStyle/>
          <a:p>
            <a:pPr>
              <a:lnSpc>
                <a:spcPct val="130000"/>
              </a:lnSpc>
            </a:pPr>
            <a:r>
              <a:rPr lang="zh-CN" altLang="en-US" sz="1600" dirty="0"/>
              <a:t>数据聚类分析、支持向量机参数优化、特征选择。</a:t>
            </a:r>
          </a:p>
        </p:txBody>
      </p:sp>
      <p:sp>
        <p:nvSpPr>
          <p:cNvPr id="19" name="文本框 18">
            <a:extLst>
              <a:ext uri="{FF2B5EF4-FFF2-40B4-BE49-F238E27FC236}">
                <a16:creationId xmlns:a16="http://schemas.microsoft.com/office/drawing/2014/main" id="{7427AFC0-D0D8-E1A9-28A6-FE13FE7F0D98}"/>
              </a:ext>
            </a:extLst>
          </p:cNvPr>
          <p:cNvSpPr txBox="1"/>
          <p:nvPr/>
        </p:nvSpPr>
        <p:spPr>
          <a:xfrm flipH="1">
            <a:off x="7719062" y="4708983"/>
            <a:ext cx="2514599" cy="702115"/>
          </a:xfrm>
          <a:prstGeom prst="rect">
            <a:avLst/>
          </a:prstGeom>
          <a:noFill/>
        </p:spPr>
        <p:txBody>
          <a:bodyPr wrap="square" lIns="0" rIns="0" rtlCol="0">
            <a:spAutoFit/>
          </a:bodyPr>
          <a:lstStyle/>
          <a:p>
            <a:pPr>
              <a:lnSpc>
                <a:spcPct val="130000"/>
              </a:lnSpc>
            </a:pPr>
            <a:r>
              <a:rPr lang="zh-CN" altLang="en-US" sz="1600" dirty="0"/>
              <a:t>旅行商问题 </a:t>
            </a:r>
            <a:r>
              <a:rPr lang="en-US" altLang="zh-CN" sz="1600" dirty="0"/>
              <a:t>(TSP)</a:t>
            </a:r>
            <a:r>
              <a:rPr lang="zh-CN" altLang="en-US" sz="1600" dirty="0"/>
              <a:t>、车间调度、蛋白质折叠与路径规划。</a:t>
            </a:r>
          </a:p>
        </p:txBody>
      </p:sp>
    </p:spTree>
    <p:extLst>
      <p:ext uri="{BB962C8B-B14F-4D97-AF65-F5344CB8AC3E}">
        <p14:creationId xmlns:p14="http://schemas.microsoft.com/office/powerpoint/2010/main" val="1585598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DE829-4A81-6045-48F6-7A3795365BA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5F47BBC-4F16-4EA7-E2F0-462055C91FED}"/>
              </a:ext>
            </a:extLst>
          </p:cNvPr>
          <p:cNvSpPr>
            <a:spLocks noGrp="1"/>
          </p:cNvSpPr>
          <p:nvPr>
            <p:ph type="title"/>
          </p:nvPr>
        </p:nvSpPr>
        <p:spPr/>
        <p:txBody>
          <a:bodyPr/>
          <a:lstStyle/>
          <a:p>
            <a:r>
              <a:rPr lang="en-US" altLang="zh-CN" dirty="0"/>
              <a:t>6 </a:t>
            </a:r>
            <a:r>
              <a:rPr lang="zh-CN" altLang="en-US" dirty="0"/>
              <a:t>应用一：数字图像分割</a:t>
            </a:r>
          </a:p>
        </p:txBody>
      </p:sp>
      <p:sp>
        <p:nvSpPr>
          <p:cNvPr id="12" name="Rectangle 5">
            <a:extLst>
              <a:ext uri="{FF2B5EF4-FFF2-40B4-BE49-F238E27FC236}">
                <a16:creationId xmlns:a16="http://schemas.microsoft.com/office/drawing/2014/main" id="{6BF68534-D0EC-0916-490D-60A36AF2FE9D}"/>
              </a:ext>
            </a:extLst>
          </p:cNvPr>
          <p:cNvSpPr>
            <a:spLocks noChangeArrowheads="1"/>
          </p:cNvSpPr>
          <p:nvPr/>
        </p:nvSpPr>
        <p:spPr bwMode="auto">
          <a:xfrm>
            <a:off x="792481" y="1362911"/>
            <a:ext cx="4567279" cy="812777"/>
          </a:xfrm>
          <a:prstGeom prst="rect">
            <a:avLst/>
          </a:prstGeom>
          <a:solidFill>
            <a:srgbClr val="00377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sz="4800" b="1" dirty="0">
                <a:solidFill>
                  <a:srgbClr val="00B050"/>
                </a:solidFill>
                <a:latin typeface="+mj-ea"/>
                <a:ea typeface="+mj-ea"/>
              </a:rPr>
              <a:t>数字图像分割</a:t>
            </a:r>
          </a:p>
        </p:txBody>
      </p:sp>
      <p:grpSp>
        <p:nvGrpSpPr>
          <p:cNvPr id="13" name="组合 12">
            <a:extLst>
              <a:ext uri="{FF2B5EF4-FFF2-40B4-BE49-F238E27FC236}">
                <a16:creationId xmlns:a16="http://schemas.microsoft.com/office/drawing/2014/main" id="{C4FD6393-D89B-C738-FD5A-EAC47595903A}"/>
              </a:ext>
            </a:extLst>
          </p:cNvPr>
          <p:cNvGrpSpPr/>
          <p:nvPr/>
        </p:nvGrpSpPr>
        <p:grpSpPr>
          <a:xfrm>
            <a:off x="858982" y="2992976"/>
            <a:ext cx="197280" cy="258224"/>
            <a:chOff x="7882860" y="1895857"/>
            <a:chExt cx="263781" cy="384257"/>
          </a:xfrm>
        </p:grpSpPr>
        <p:sp>
          <p:nvSpPr>
            <p:cNvPr id="14" name="Oval 135">
              <a:extLst>
                <a:ext uri="{FF2B5EF4-FFF2-40B4-BE49-F238E27FC236}">
                  <a16:creationId xmlns:a16="http://schemas.microsoft.com/office/drawing/2014/main" id="{E70ADDAF-94CE-2F6C-D0C7-6E9B6D956319}"/>
                </a:ext>
              </a:extLst>
            </p:cNvPr>
            <p:cNvSpPr>
              <a:spLocks noChangeArrowheads="1"/>
            </p:cNvSpPr>
            <p:nvPr/>
          </p:nvSpPr>
          <p:spPr bwMode="auto">
            <a:xfrm>
              <a:off x="7970364" y="1982092"/>
              <a:ext cx="90040" cy="90040"/>
            </a:xfrm>
            <a:prstGeom prst="ellipse">
              <a:avLst/>
            </a:pr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136">
              <a:extLst>
                <a:ext uri="{FF2B5EF4-FFF2-40B4-BE49-F238E27FC236}">
                  <a16:creationId xmlns:a16="http://schemas.microsoft.com/office/drawing/2014/main" id="{F485FDC4-93B8-6CC7-2375-6798EBA04C9C}"/>
                </a:ext>
              </a:extLst>
            </p:cNvPr>
            <p:cNvSpPr>
              <a:spLocks noEditPoints="1"/>
            </p:cNvSpPr>
            <p:nvPr/>
          </p:nvSpPr>
          <p:spPr bwMode="auto">
            <a:xfrm>
              <a:off x="7882860" y="1895857"/>
              <a:ext cx="263781" cy="263781"/>
            </a:xfrm>
            <a:custGeom>
              <a:avLst/>
              <a:gdLst>
                <a:gd name="T0" fmla="*/ 88 w 88"/>
                <a:gd name="T1" fmla="*/ 44 h 88"/>
                <a:gd name="T2" fmla="*/ 79 w 88"/>
                <a:gd name="T3" fmla="*/ 35 h 88"/>
                <a:gd name="T4" fmla="*/ 82 w 88"/>
                <a:gd name="T5" fmla="*/ 22 h 88"/>
                <a:gd name="T6" fmla="*/ 70 w 88"/>
                <a:gd name="T7" fmla="*/ 19 h 88"/>
                <a:gd name="T8" fmla="*/ 66 w 88"/>
                <a:gd name="T9" fmla="*/ 6 h 88"/>
                <a:gd name="T10" fmla="*/ 53 w 88"/>
                <a:gd name="T11" fmla="*/ 9 h 88"/>
                <a:gd name="T12" fmla="*/ 44 w 88"/>
                <a:gd name="T13" fmla="*/ 0 h 88"/>
                <a:gd name="T14" fmla="*/ 35 w 88"/>
                <a:gd name="T15" fmla="*/ 9 h 88"/>
                <a:gd name="T16" fmla="*/ 22 w 88"/>
                <a:gd name="T17" fmla="*/ 6 h 88"/>
                <a:gd name="T18" fmla="*/ 18 w 88"/>
                <a:gd name="T19" fmla="*/ 19 h 88"/>
                <a:gd name="T20" fmla="*/ 6 w 88"/>
                <a:gd name="T21" fmla="*/ 22 h 88"/>
                <a:gd name="T22" fmla="*/ 9 w 88"/>
                <a:gd name="T23" fmla="*/ 35 h 88"/>
                <a:gd name="T24" fmla="*/ 0 w 88"/>
                <a:gd name="T25" fmla="*/ 44 h 88"/>
                <a:gd name="T26" fmla="*/ 9 w 88"/>
                <a:gd name="T27" fmla="*/ 54 h 88"/>
                <a:gd name="T28" fmla="*/ 6 w 88"/>
                <a:gd name="T29" fmla="*/ 66 h 88"/>
                <a:gd name="T30" fmla="*/ 18 w 88"/>
                <a:gd name="T31" fmla="*/ 70 h 88"/>
                <a:gd name="T32" fmla="*/ 22 w 88"/>
                <a:gd name="T33" fmla="*/ 82 h 88"/>
                <a:gd name="T34" fmla="*/ 35 w 88"/>
                <a:gd name="T35" fmla="*/ 79 h 88"/>
                <a:gd name="T36" fmla="*/ 44 w 88"/>
                <a:gd name="T37" fmla="*/ 88 h 88"/>
                <a:gd name="T38" fmla="*/ 53 w 88"/>
                <a:gd name="T39" fmla="*/ 79 h 88"/>
                <a:gd name="T40" fmla="*/ 66 w 88"/>
                <a:gd name="T41" fmla="*/ 82 h 88"/>
                <a:gd name="T42" fmla="*/ 70 w 88"/>
                <a:gd name="T43" fmla="*/ 70 h 88"/>
                <a:gd name="T44" fmla="*/ 82 w 88"/>
                <a:gd name="T45" fmla="*/ 66 h 88"/>
                <a:gd name="T46" fmla="*/ 79 w 88"/>
                <a:gd name="T47" fmla="*/ 54 h 88"/>
                <a:gd name="T48" fmla="*/ 88 w 88"/>
                <a:gd name="T49" fmla="*/ 44 h 88"/>
                <a:gd name="T50" fmla="*/ 44 w 88"/>
                <a:gd name="T51" fmla="*/ 69 h 88"/>
                <a:gd name="T52" fmla="*/ 19 w 88"/>
                <a:gd name="T53" fmla="*/ 44 h 88"/>
                <a:gd name="T54" fmla="*/ 44 w 88"/>
                <a:gd name="T55" fmla="*/ 20 h 88"/>
                <a:gd name="T56" fmla="*/ 69 w 88"/>
                <a:gd name="T57" fmla="*/ 44 h 88"/>
                <a:gd name="T58" fmla="*/ 44 w 88"/>
                <a:gd name="T59" fmla="*/ 6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8" h="88">
                  <a:moveTo>
                    <a:pt x="88" y="44"/>
                  </a:moveTo>
                  <a:cubicBezTo>
                    <a:pt x="79" y="35"/>
                    <a:pt x="79" y="35"/>
                    <a:pt x="79" y="35"/>
                  </a:cubicBezTo>
                  <a:cubicBezTo>
                    <a:pt x="82" y="22"/>
                    <a:pt x="82" y="22"/>
                    <a:pt x="82" y="22"/>
                  </a:cubicBezTo>
                  <a:cubicBezTo>
                    <a:pt x="70" y="19"/>
                    <a:pt x="70" y="19"/>
                    <a:pt x="70" y="19"/>
                  </a:cubicBezTo>
                  <a:cubicBezTo>
                    <a:pt x="66" y="6"/>
                    <a:pt x="66" y="6"/>
                    <a:pt x="66" y="6"/>
                  </a:cubicBezTo>
                  <a:cubicBezTo>
                    <a:pt x="53" y="9"/>
                    <a:pt x="53" y="9"/>
                    <a:pt x="53" y="9"/>
                  </a:cubicBezTo>
                  <a:cubicBezTo>
                    <a:pt x="44" y="0"/>
                    <a:pt x="44" y="0"/>
                    <a:pt x="44" y="0"/>
                  </a:cubicBezTo>
                  <a:cubicBezTo>
                    <a:pt x="35" y="9"/>
                    <a:pt x="35" y="9"/>
                    <a:pt x="35" y="9"/>
                  </a:cubicBezTo>
                  <a:cubicBezTo>
                    <a:pt x="22" y="6"/>
                    <a:pt x="22" y="6"/>
                    <a:pt x="22" y="6"/>
                  </a:cubicBezTo>
                  <a:cubicBezTo>
                    <a:pt x="18" y="19"/>
                    <a:pt x="18" y="19"/>
                    <a:pt x="18" y="19"/>
                  </a:cubicBezTo>
                  <a:cubicBezTo>
                    <a:pt x="6" y="22"/>
                    <a:pt x="6" y="22"/>
                    <a:pt x="6" y="22"/>
                  </a:cubicBezTo>
                  <a:cubicBezTo>
                    <a:pt x="9" y="35"/>
                    <a:pt x="9" y="35"/>
                    <a:pt x="9" y="35"/>
                  </a:cubicBezTo>
                  <a:cubicBezTo>
                    <a:pt x="0" y="44"/>
                    <a:pt x="0" y="44"/>
                    <a:pt x="0" y="44"/>
                  </a:cubicBezTo>
                  <a:cubicBezTo>
                    <a:pt x="9" y="54"/>
                    <a:pt x="9" y="54"/>
                    <a:pt x="9" y="54"/>
                  </a:cubicBezTo>
                  <a:cubicBezTo>
                    <a:pt x="6" y="66"/>
                    <a:pt x="6" y="66"/>
                    <a:pt x="6" y="66"/>
                  </a:cubicBezTo>
                  <a:cubicBezTo>
                    <a:pt x="18" y="70"/>
                    <a:pt x="18" y="70"/>
                    <a:pt x="18" y="70"/>
                  </a:cubicBezTo>
                  <a:cubicBezTo>
                    <a:pt x="22" y="82"/>
                    <a:pt x="22" y="82"/>
                    <a:pt x="22" y="82"/>
                  </a:cubicBezTo>
                  <a:cubicBezTo>
                    <a:pt x="35" y="79"/>
                    <a:pt x="35" y="79"/>
                    <a:pt x="35" y="79"/>
                  </a:cubicBezTo>
                  <a:cubicBezTo>
                    <a:pt x="44" y="88"/>
                    <a:pt x="44" y="88"/>
                    <a:pt x="44" y="88"/>
                  </a:cubicBezTo>
                  <a:cubicBezTo>
                    <a:pt x="53" y="79"/>
                    <a:pt x="53" y="79"/>
                    <a:pt x="53" y="79"/>
                  </a:cubicBezTo>
                  <a:cubicBezTo>
                    <a:pt x="66" y="82"/>
                    <a:pt x="66" y="82"/>
                    <a:pt x="66" y="82"/>
                  </a:cubicBezTo>
                  <a:cubicBezTo>
                    <a:pt x="70" y="70"/>
                    <a:pt x="70" y="70"/>
                    <a:pt x="70" y="70"/>
                  </a:cubicBezTo>
                  <a:cubicBezTo>
                    <a:pt x="82" y="66"/>
                    <a:pt x="82" y="66"/>
                    <a:pt x="82" y="66"/>
                  </a:cubicBezTo>
                  <a:cubicBezTo>
                    <a:pt x="79" y="54"/>
                    <a:pt x="79" y="54"/>
                    <a:pt x="79" y="54"/>
                  </a:cubicBezTo>
                  <a:lnTo>
                    <a:pt x="88" y="44"/>
                  </a:lnTo>
                  <a:close/>
                  <a:moveTo>
                    <a:pt x="44" y="69"/>
                  </a:moveTo>
                  <a:cubicBezTo>
                    <a:pt x="30" y="69"/>
                    <a:pt x="19" y="58"/>
                    <a:pt x="19" y="44"/>
                  </a:cubicBezTo>
                  <a:cubicBezTo>
                    <a:pt x="19" y="31"/>
                    <a:pt x="30" y="20"/>
                    <a:pt x="44" y="20"/>
                  </a:cubicBezTo>
                  <a:cubicBezTo>
                    <a:pt x="58" y="20"/>
                    <a:pt x="69" y="31"/>
                    <a:pt x="69" y="44"/>
                  </a:cubicBezTo>
                  <a:cubicBezTo>
                    <a:pt x="69" y="58"/>
                    <a:pt x="58" y="69"/>
                    <a:pt x="44" y="69"/>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137">
              <a:extLst>
                <a:ext uri="{FF2B5EF4-FFF2-40B4-BE49-F238E27FC236}">
                  <a16:creationId xmlns:a16="http://schemas.microsoft.com/office/drawing/2014/main" id="{F5FF8DFE-7471-AB6A-EF0E-BAFB97BA4902}"/>
                </a:ext>
              </a:extLst>
            </p:cNvPr>
            <p:cNvSpPr>
              <a:spLocks/>
            </p:cNvSpPr>
            <p:nvPr/>
          </p:nvSpPr>
          <p:spPr bwMode="auto">
            <a:xfrm>
              <a:off x="7970364" y="2165978"/>
              <a:ext cx="90040" cy="114136"/>
            </a:xfrm>
            <a:custGeom>
              <a:avLst/>
              <a:gdLst>
                <a:gd name="T0" fmla="*/ 52 w 71"/>
                <a:gd name="T1" fmla="*/ 12 h 90"/>
                <a:gd name="T2" fmla="*/ 35 w 71"/>
                <a:gd name="T3" fmla="*/ 28 h 90"/>
                <a:gd name="T4" fmla="*/ 19 w 71"/>
                <a:gd name="T5" fmla="*/ 12 h 90"/>
                <a:gd name="T6" fmla="*/ 7 w 71"/>
                <a:gd name="T7" fmla="*/ 0 h 90"/>
                <a:gd name="T8" fmla="*/ 0 w 71"/>
                <a:gd name="T9" fmla="*/ 2 h 90"/>
                <a:gd name="T10" fmla="*/ 0 w 71"/>
                <a:gd name="T11" fmla="*/ 90 h 90"/>
                <a:gd name="T12" fmla="*/ 35 w 71"/>
                <a:gd name="T13" fmla="*/ 57 h 90"/>
                <a:gd name="T14" fmla="*/ 71 w 71"/>
                <a:gd name="T15" fmla="*/ 90 h 90"/>
                <a:gd name="T16" fmla="*/ 71 w 71"/>
                <a:gd name="T17" fmla="*/ 2 h 90"/>
                <a:gd name="T18" fmla="*/ 64 w 71"/>
                <a:gd name="T19" fmla="*/ 0 h 90"/>
                <a:gd name="T20" fmla="*/ 52 w 71"/>
                <a:gd name="T21"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90">
                  <a:moveTo>
                    <a:pt x="52" y="12"/>
                  </a:moveTo>
                  <a:lnTo>
                    <a:pt x="35" y="28"/>
                  </a:lnTo>
                  <a:lnTo>
                    <a:pt x="19" y="12"/>
                  </a:lnTo>
                  <a:lnTo>
                    <a:pt x="7" y="0"/>
                  </a:lnTo>
                  <a:lnTo>
                    <a:pt x="0" y="2"/>
                  </a:lnTo>
                  <a:lnTo>
                    <a:pt x="0" y="90"/>
                  </a:lnTo>
                  <a:lnTo>
                    <a:pt x="35" y="57"/>
                  </a:lnTo>
                  <a:lnTo>
                    <a:pt x="71" y="90"/>
                  </a:lnTo>
                  <a:lnTo>
                    <a:pt x="71" y="2"/>
                  </a:lnTo>
                  <a:lnTo>
                    <a:pt x="64" y="0"/>
                  </a:lnTo>
                  <a:lnTo>
                    <a:pt x="52" y="12"/>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8" name="文本框 17">
            <a:extLst>
              <a:ext uri="{FF2B5EF4-FFF2-40B4-BE49-F238E27FC236}">
                <a16:creationId xmlns:a16="http://schemas.microsoft.com/office/drawing/2014/main" id="{5610D21C-D407-32C5-1393-74AB3C222FEA}"/>
              </a:ext>
            </a:extLst>
          </p:cNvPr>
          <p:cNvSpPr txBox="1"/>
          <p:nvPr/>
        </p:nvSpPr>
        <p:spPr>
          <a:xfrm>
            <a:off x="1056262" y="2919085"/>
            <a:ext cx="6096000" cy="923330"/>
          </a:xfrm>
          <a:prstGeom prst="rect">
            <a:avLst/>
          </a:prstGeom>
          <a:noFill/>
        </p:spPr>
        <p:txBody>
          <a:bodyPr wrap="square">
            <a:spAutoFit/>
          </a:bodyPr>
          <a:lstStyle/>
          <a:p>
            <a:pPr algn="l">
              <a:spcAft>
                <a:spcPts val="1500"/>
              </a:spcAft>
            </a:pPr>
            <a:r>
              <a:rPr lang="zh-CN" altLang="en-US" b="1" dirty="0">
                <a:latin typeface="Arial" panose="020B0604020202020204" pitchFamily="34" charset="0"/>
              </a:rPr>
              <a:t>核心挑战：</a:t>
            </a:r>
            <a:r>
              <a:rPr lang="zh-CN" altLang="en-US" dirty="0">
                <a:latin typeface="Arial" panose="020B0604020202020204" pitchFamily="34" charset="0"/>
              </a:rPr>
              <a:t>在图像处理中，确定最佳的阈值（</a:t>
            </a:r>
            <a:r>
              <a:rPr lang="en-US" altLang="zh-CN" dirty="0">
                <a:latin typeface="Arial" panose="020B0604020202020204" pitchFamily="34" charset="0"/>
              </a:rPr>
              <a:t>Threshold</a:t>
            </a:r>
            <a:r>
              <a:rPr lang="zh-CN" altLang="en-US" dirty="0">
                <a:latin typeface="Arial" panose="020B0604020202020204" pitchFamily="34" charset="0"/>
              </a:rPr>
              <a:t>）以将目标物体与背景分离是一个极其耗时的过程，尤其是多级阈值分割。</a:t>
            </a:r>
          </a:p>
        </p:txBody>
      </p:sp>
      <p:sp>
        <p:nvSpPr>
          <p:cNvPr id="20" name="文本框 19">
            <a:extLst>
              <a:ext uri="{FF2B5EF4-FFF2-40B4-BE49-F238E27FC236}">
                <a16:creationId xmlns:a16="http://schemas.microsoft.com/office/drawing/2014/main" id="{88A923FD-45C5-91EC-6178-7F5060E221F2}"/>
              </a:ext>
            </a:extLst>
          </p:cNvPr>
          <p:cNvSpPr txBox="1"/>
          <p:nvPr/>
        </p:nvSpPr>
        <p:spPr>
          <a:xfrm>
            <a:off x="1056262" y="4178504"/>
            <a:ext cx="6096000" cy="646331"/>
          </a:xfrm>
          <a:prstGeom prst="rect">
            <a:avLst/>
          </a:prstGeom>
          <a:noFill/>
        </p:spPr>
        <p:txBody>
          <a:bodyPr wrap="square">
            <a:spAutoFit/>
          </a:bodyPr>
          <a:lstStyle/>
          <a:p>
            <a:pPr algn="l">
              <a:spcAft>
                <a:spcPts val="1500"/>
              </a:spcAft>
            </a:pPr>
            <a:r>
              <a:rPr lang="en-US" altLang="zh-CN" b="1" dirty="0">
                <a:latin typeface="Arial" panose="020B0604020202020204" pitchFamily="34" charset="0"/>
              </a:rPr>
              <a:t>FA </a:t>
            </a:r>
            <a:r>
              <a:rPr lang="zh-CN" altLang="en-US" b="1" dirty="0">
                <a:latin typeface="Arial" panose="020B0604020202020204" pitchFamily="34" charset="0"/>
              </a:rPr>
              <a:t>的作用：</a:t>
            </a:r>
            <a:r>
              <a:rPr lang="zh-CN" altLang="en-US" dirty="0">
                <a:latin typeface="Arial" panose="020B0604020202020204" pitchFamily="34" charset="0"/>
              </a:rPr>
              <a:t>利用萤火虫算法代替传统的穷举搜索法，以最大化“类间方差”（</a:t>
            </a:r>
            <a:r>
              <a:rPr lang="en-US" altLang="zh-CN" dirty="0">
                <a:latin typeface="Arial" panose="020B0604020202020204" pitchFamily="34" charset="0"/>
              </a:rPr>
              <a:t>Otsu</a:t>
            </a:r>
            <a:r>
              <a:rPr lang="zh-CN" altLang="en-US" dirty="0">
                <a:latin typeface="Arial" panose="020B0604020202020204" pitchFamily="34" charset="0"/>
              </a:rPr>
              <a:t>算法）为目标函数。</a:t>
            </a:r>
          </a:p>
        </p:txBody>
      </p:sp>
      <p:grpSp>
        <p:nvGrpSpPr>
          <p:cNvPr id="21" name="组合 20">
            <a:extLst>
              <a:ext uri="{FF2B5EF4-FFF2-40B4-BE49-F238E27FC236}">
                <a16:creationId xmlns:a16="http://schemas.microsoft.com/office/drawing/2014/main" id="{395DA410-6A90-D1B2-E70E-C340E3E051EF}"/>
              </a:ext>
            </a:extLst>
          </p:cNvPr>
          <p:cNvGrpSpPr/>
          <p:nvPr/>
        </p:nvGrpSpPr>
        <p:grpSpPr>
          <a:xfrm>
            <a:off x="858982" y="4243445"/>
            <a:ext cx="197280" cy="258224"/>
            <a:chOff x="7882860" y="1895857"/>
            <a:chExt cx="263781" cy="384257"/>
          </a:xfrm>
        </p:grpSpPr>
        <p:sp>
          <p:nvSpPr>
            <p:cNvPr id="22" name="Oval 135">
              <a:extLst>
                <a:ext uri="{FF2B5EF4-FFF2-40B4-BE49-F238E27FC236}">
                  <a16:creationId xmlns:a16="http://schemas.microsoft.com/office/drawing/2014/main" id="{25EB50E7-772F-B44D-CD45-38E2D4D72198}"/>
                </a:ext>
              </a:extLst>
            </p:cNvPr>
            <p:cNvSpPr>
              <a:spLocks noChangeArrowheads="1"/>
            </p:cNvSpPr>
            <p:nvPr/>
          </p:nvSpPr>
          <p:spPr bwMode="auto">
            <a:xfrm>
              <a:off x="7970364" y="1982092"/>
              <a:ext cx="90040" cy="90040"/>
            </a:xfrm>
            <a:prstGeom prst="ellipse">
              <a:avLst/>
            </a:pr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36">
              <a:extLst>
                <a:ext uri="{FF2B5EF4-FFF2-40B4-BE49-F238E27FC236}">
                  <a16:creationId xmlns:a16="http://schemas.microsoft.com/office/drawing/2014/main" id="{88C5E11C-2425-A60C-C6BF-6823A5B86AAE}"/>
                </a:ext>
              </a:extLst>
            </p:cNvPr>
            <p:cNvSpPr>
              <a:spLocks noEditPoints="1"/>
            </p:cNvSpPr>
            <p:nvPr/>
          </p:nvSpPr>
          <p:spPr bwMode="auto">
            <a:xfrm>
              <a:off x="7882860" y="1895857"/>
              <a:ext cx="263781" cy="263781"/>
            </a:xfrm>
            <a:custGeom>
              <a:avLst/>
              <a:gdLst>
                <a:gd name="T0" fmla="*/ 88 w 88"/>
                <a:gd name="T1" fmla="*/ 44 h 88"/>
                <a:gd name="T2" fmla="*/ 79 w 88"/>
                <a:gd name="T3" fmla="*/ 35 h 88"/>
                <a:gd name="T4" fmla="*/ 82 w 88"/>
                <a:gd name="T5" fmla="*/ 22 h 88"/>
                <a:gd name="T6" fmla="*/ 70 w 88"/>
                <a:gd name="T7" fmla="*/ 19 h 88"/>
                <a:gd name="T8" fmla="*/ 66 w 88"/>
                <a:gd name="T9" fmla="*/ 6 h 88"/>
                <a:gd name="T10" fmla="*/ 53 w 88"/>
                <a:gd name="T11" fmla="*/ 9 h 88"/>
                <a:gd name="T12" fmla="*/ 44 w 88"/>
                <a:gd name="T13" fmla="*/ 0 h 88"/>
                <a:gd name="T14" fmla="*/ 35 w 88"/>
                <a:gd name="T15" fmla="*/ 9 h 88"/>
                <a:gd name="T16" fmla="*/ 22 w 88"/>
                <a:gd name="T17" fmla="*/ 6 h 88"/>
                <a:gd name="T18" fmla="*/ 18 w 88"/>
                <a:gd name="T19" fmla="*/ 19 h 88"/>
                <a:gd name="T20" fmla="*/ 6 w 88"/>
                <a:gd name="T21" fmla="*/ 22 h 88"/>
                <a:gd name="T22" fmla="*/ 9 w 88"/>
                <a:gd name="T23" fmla="*/ 35 h 88"/>
                <a:gd name="T24" fmla="*/ 0 w 88"/>
                <a:gd name="T25" fmla="*/ 44 h 88"/>
                <a:gd name="T26" fmla="*/ 9 w 88"/>
                <a:gd name="T27" fmla="*/ 54 h 88"/>
                <a:gd name="T28" fmla="*/ 6 w 88"/>
                <a:gd name="T29" fmla="*/ 66 h 88"/>
                <a:gd name="T30" fmla="*/ 18 w 88"/>
                <a:gd name="T31" fmla="*/ 70 h 88"/>
                <a:gd name="T32" fmla="*/ 22 w 88"/>
                <a:gd name="T33" fmla="*/ 82 h 88"/>
                <a:gd name="T34" fmla="*/ 35 w 88"/>
                <a:gd name="T35" fmla="*/ 79 h 88"/>
                <a:gd name="T36" fmla="*/ 44 w 88"/>
                <a:gd name="T37" fmla="*/ 88 h 88"/>
                <a:gd name="T38" fmla="*/ 53 w 88"/>
                <a:gd name="T39" fmla="*/ 79 h 88"/>
                <a:gd name="T40" fmla="*/ 66 w 88"/>
                <a:gd name="T41" fmla="*/ 82 h 88"/>
                <a:gd name="T42" fmla="*/ 70 w 88"/>
                <a:gd name="T43" fmla="*/ 70 h 88"/>
                <a:gd name="T44" fmla="*/ 82 w 88"/>
                <a:gd name="T45" fmla="*/ 66 h 88"/>
                <a:gd name="T46" fmla="*/ 79 w 88"/>
                <a:gd name="T47" fmla="*/ 54 h 88"/>
                <a:gd name="T48" fmla="*/ 88 w 88"/>
                <a:gd name="T49" fmla="*/ 44 h 88"/>
                <a:gd name="T50" fmla="*/ 44 w 88"/>
                <a:gd name="T51" fmla="*/ 69 h 88"/>
                <a:gd name="T52" fmla="*/ 19 w 88"/>
                <a:gd name="T53" fmla="*/ 44 h 88"/>
                <a:gd name="T54" fmla="*/ 44 w 88"/>
                <a:gd name="T55" fmla="*/ 20 h 88"/>
                <a:gd name="T56" fmla="*/ 69 w 88"/>
                <a:gd name="T57" fmla="*/ 44 h 88"/>
                <a:gd name="T58" fmla="*/ 44 w 88"/>
                <a:gd name="T59" fmla="*/ 6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8" h="88">
                  <a:moveTo>
                    <a:pt x="88" y="44"/>
                  </a:moveTo>
                  <a:cubicBezTo>
                    <a:pt x="79" y="35"/>
                    <a:pt x="79" y="35"/>
                    <a:pt x="79" y="35"/>
                  </a:cubicBezTo>
                  <a:cubicBezTo>
                    <a:pt x="82" y="22"/>
                    <a:pt x="82" y="22"/>
                    <a:pt x="82" y="22"/>
                  </a:cubicBezTo>
                  <a:cubicBezTo>
                    <a:pt x="70" y="19"/>
                    <a:pt x="70" y="19"/>
                    <a:pt x="70" y="19"/>
                  </a:cubicBezTo>
                  <a:cubicBezTo>
                    <a:pt x="66" y="6"/>
                    <a:pt x="66" y="6"/>
                    <a:pt x="66" y="6"/>
                  </a:cubicBezTo>
                  <a:cubicBezTo>
                    <a:pt x="53" y="9"/>
                    <a:pt x="53" y="9"/>
                    <a:pt x="53" y="9"/>
                  </a:cubicBezTo>
                  <a:cubicBezTo>
                    <a:pt x="44" y="0"/>
                    <a:pt x="44" y="0"/>
                    <a:pt x="44" y="0"/>
                  </a:cubicBezTo>
                  <a:cubicBezTo>
                    <a:pt x="35" y="9"/>
                    <a:pt x="35" y="9"/>
                    <a:pt x="35" y="9"/>
                  </a:cubicBezTo>
                  <a:cubicBezTo>
                    <a:pt x="22" y="6"/>
                    <a:pt x="22" y="6"/>
                    <a:pt x="22" y="6"/>
                  </a:cubicBezTo>
                  <a:cubicBezTo>
                    <a:pt x="18" y="19"/>
                    <a:pt x="18" y="19"/>
                    <a:pt x="18" y="19"/>
                  </a:cubicBezTo>
                  <a:cubicBezTo>
                    <a:pt x="6" y="22"/>
                    <a:pt x="6" y="22"/>
                    <a:pt x="6" y="22"/>
                  </a:cubicBezTo>
                  <a:cubicBezTo>
                    <a:pt x="9" y="35"/>
                    <a:pt x="9" y="35"/>
                    <a:pt x="9" y="35"/>
                  </a:cubicBezTo>
                  <a:cubicBezTo>
                    <a:pt x="0" y="44"/>
                    <a:pt x="0" y="44"/>
                    <a:pt x="0" y="44"/>
                  </a:cubicBezTo>
                  <a:cubicBezTo>
                    <a:pt x="9" y="54"/>
                    <a:pt x="9" y="54"/>
                    <a:pt x="9" y="54"/>
                  </a:cubicBezTo>
                  <a:cubicBezTo>
                    <a:pt x="6" y="66"/>
                    <a:pt x="6" y="66"/>
                    <a:pt x="6" y="66"/>
                  </a:cubicBezTo>
                  <a:cubicBezTo>
                    <a:pt x="18" y="70"/>
                    <a:pt x="18" y="70"/>
                    <a:pt x="18" y="70"/>
                  </a:cubicBezTo>
                  <a:cubicBezTo>
                    <a:pt x="22" y="82"/>
                    <a:pt x="22" y="82"/>
                    <a:pt x="22" y="82"/>
                  </a:cubicBezTo>
                  <a:cubicBezTo>
                    <a:pt x="35" y="79"/>
                    <a:pt x="35" y="79"/>
                    <a:pt x="35" y="79"/>
                  </a:cubicBezTo>
                  <a:cubicBezTo>
                    <a:pt x="44" y="88"/>
                    <a:pt x="44" y="88"/>
                    <a:pt x="44" y="88"/>
                  </a:cubicBezTo>
                  <a:cubicBezTo>
                    <a:pt x="53" y="79"/>
                    <a:pt x="53" y="79"/>
                    <a:pt x="53" y="79"/>
                  </a:cubicBezTo>
                  <a:cubicBezTo>
                    <a:pt x="66" y="82"/>
                    <a:pt x="66" y="82"/>
                    <a:pt x="66" y="82"/>
                  </a:cubicBezTo>
                  <a:cubicBezTo>
                    <a:pt x="70" y="70"/>
                    <a:pt x="70" y="70"/>
                    <a:pt x="70" y="70"/>
                  </a:cubicBezTo>
                  <a:cubicBezTo>
                    <a:pt x="82" y="66"/>
                    <a:pt x="82" y="66"/>
                    <a:pt x="82" y="66"/>
                  </a:cubicBezTo>
                  <a:cubicBezTo>
                    <a:pt x="79" y="54"/>
                    <a:pt x="79" y="54"/>
                    <a:pt x="79" y="54"/>
                  </a:cubicBezTo>
                  <a:lnTo>
                    <a:pt x="88" y="44"/>
                  </a:lnTo>
                  <a:close/>
                  <a:moveTo>
                    <a:pt x="44" y="69"/>
                  </a:moveTo>
                  <a:cubicBezTo>
                    <a:pt x="30" y="69"/>
                    <a:pt x="19" y="58"/>
                    <a:pt x="19" y="44"/>
                  </a:cubicBezTo>
                  <a:cubicBezTo>
                    <a:pt x="19" y="31"/>
                    <a:pt x="30" y="20"/>
                    <a:pt x="44" y="20"/>
                  </a:cubicBezTo>
                  <a:cubicBezTo>
                    <a:pt x="58" y="20"/>
                    <a:pt x="69" y="31"/>
                    <a:pt x="69" y="44"/>
                  </a:cubicBezTo>
                  <a:cubicBezTo>
                    <a:pt x="69" y="58"/>
                    <a:pt x="58" y="69"/>
                    <a:pt x="44" y="69"/>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137">
              <a:extLst>
                <a:ext uri="{FF2B5EF4-FFF2-40B4-BE49-F238E27FC236}">
                  <a16:creationId xmlns:a16="http://schemas.microsoft.com/office/drawing/2014/main" id="{9D4004DE-A3D8-18FD-DCE2-9B34E0D7B617}"/>
                </a:ext>
              </a:extLst>
            </p:cNvPr>
            <p:cNvSpPr>
              <a:spLocks/>
            </p:cNvSpPr>
            <p:nvPr/>
          </p:nvSpPr>
          <p:spPr bwMode="auto">
            <a:xfrm>
              <a:off x="7970364" y="2165978"/>
              <a:ext cx="90040" cy="114136"/>
            </a:xfrm>
            <a:custGeom>
              <a:avLst/>
              <a:gdLst>
                <a:gd name="T0" fmla="*/ 52 w 71"/>
                <a:gd name="T1" fmla="*/ 12 h 90"/>
                <a:gd name="T2" fmla="*/ 35 w 71"/>
                <a:gd name="T3" fmla="*/ 28 h 90"/>
                <a:gd name="T4" fmla="*/ 19 w 71"/>
                <a:gd name="T5" fmla="*/ 12 h 90"/>
                <a:gd name="T6" fmla="*/ 7 w 71"/>
                <a:gd name="T7" fmla="*/ 0 h 90"/>
                <a:gd name="T8" fmla="*/ 0 w 71"/>
                <a:gd name="T9" fmla="*/ 2 h 90"/>
                <a:gd name="T10" fmla="*/ 0 w 71"/>
                <a:gd name="T11" fmla="*/ 90 h 90"/>
                <a:gd name="T12" fmla="*/ 35 w 71"/>
                <a:gd name="T13" fmla="*/ 57 h 90"/>
                <a:gd name="T14" fmla="*/ 71 w 71"/>
                <a:gd name="T15" fmla="*/ 90 h 90"/>
                <a:gd name="T16" fmla="*/ 71 w 71"/>
                <a:gd name="T17" fmla="*/ 2 h 90"/>
                <a:gd name="T18" fmla="*/ 64 w 71"/>
                <a:gd name="T19" fmla="*/ 0 h 90"/>
                <a:gd name="T20" fmla="*/ 52 w 71"/>
                <a:gd name="T21"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90">
                  <a:moveTo>
                    <a:pt x="52" y="12"/>
                  </a:moveTo>
                  <a:lnTo>
                    <a:pt x="35" y="28"/>
                  </a:lnTo>
                  <a:lnTo>
                    <a:pt x="19" y="12"/>
                  </a:lnTo>
                  <a:lnTo>
                    <a:pt x="7" y="0"/>
                  </a:lnTo>
                  <a:lnTo>
                    <a:pt x="0" y="2"/>
                  </a:lnTo>
                  <a:lnTo>
                    <a:pt x="0" y="90"/>
                  </a:lnTo>
                  <a:lnTo>
                    <a:pt x="35" y="57"/>
                  </a:lnTo>
                  <a:lnTo>
                    <a:pt x="71" y="90"/>
                  </a:lnTo>
                  <a:lnTo>
                    <a:pt x="71" y="2"/>
                  </a:lnTo>
                  <a:lnTo>
                    <a:pt x="64" y="0"/>
                  </a:lnTo>
                  <a:lnTo>
                    <a:pt x="52" y="12"/>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4" name="文本框 33">
            <a:extLst>
              <a:ext uri="{FF2B5EF4-FFF2-40B4-BE49-F238E27FC236}">
                <a16:creationId xmlns:a16="http://schemas.microsoft.com/office/drawing/2014/main" id="{62C30E54-CBDF-2FDC-967B-93C9BF228237}"/>
              </a:ext>
            </a:extLst>
          </p:cNvPr>
          <p:cNvSpPr txBox="1"/>
          <p:nvPr/>
        </p:nvSpPr>
        <p:spPr>
          <a:xfrm>
            <a:off x="1056262" y="5160924"/>
            <a:ext cx="6096000" cy="1308050"/>
          </a:xfrm>
          <a:prstGeom prst="rect">
            <a:avLst/>
          </a:prstGeom>
          <a:noFill/>
        </p:spPr>
        <p:txBody>
          <a:bodyPr wrap="square">
            <a:spAutoFit/>
          </a:bodyPr>
          <a:lstStyle/>
          <a:p>
            <a:pPr>
              <a:spcAft>
                <a:spcPts val="1500"/>
              </a:spcAft>
            </a:pPr>
            <a:r>
              <a:rPr lang="zh-CN" altLang="en-US" b="1" dirty="0">
                <a:latin typeface="Arial" panose="020B0604020202020204" pitchFamily="34" charset="0"/>
              </a:rPr>
              <a:t>显著优势：</a:t>
            </a:r>
            <a:endParaRPr lang="en-US" altLang="zh-CN" b="1" dirty="0">
              <a:latin typeface="Arial" panose="020B0604020202020204" pitchFamily="34" charset="0"/>
            </a:endParaRPr>
          </a:p>
          <a:p>
            <a:pPr marL="285750" indent="-285750">
              <a:spcAft>
                <a:spcPts val="1500"/>
              </a:spcAft>
              <a:buFont typeface="Arial" panose="020B0604020202020204" pitchFamily="34" charset="0"/>
              <a:buChar char="•"/>
            </a:pPr>
            <a:r>
              <a:rPr lang="zh-CN" altLang="en-US" dirty="0"/>
              <a:t>计算速度提升数倍。</a:t>
            </a:r>
            <a:endParaRPr lang="en-US" altLang="zh-CN" dirty="0"/>
          </a:p>
          <a:p>
            <a:pPr marL="285750" indent="-285750">
              <a:spcAft>
                <a:spcPts val="1500"/>
              </a:spcAft>
              <a:buFont typeface="Arial" panose="020B0604020202020204" pitchFamily="34" charset="0"/>
              <a:buChar char="•"/>
            </a:pPr>
            <a:r>
              <a:rPr lang="zh-CN" altLang="en-US" dirty="0"/>
              <a:t>在含噪图像中仍能保持高精度的边缘检测能力。</a:t>
            </a:r>
            <a:endParaRPr lang="zh-CN" altLang="en-US" dirty="0">
              <a:latin typeface="Arial" panose="020B0604020202020204" pitchFamily="34" charset="0"/>
            </a:endParaRPr>
          </a:p>
        </p:txBody>
      </p:sp>
      <p:grpSp>
        <p:nvGrpSpPr>
          <p:cNvPr id="35" name="组合 34">
            <a:extLst>
              <a:ext uri="{FF2B5EF4-FFF2-40B4-BE49-F238E27FC236}">
                <a16:creationId xmlns:a16="http://schemas.microsoft.com/office/drawing/2014/main" id="{00AF3546-5A67-F3A5-ACF8-C0968394B916}"/>
              </a:ext>
            </a:extLst>
          </p:cNvPr>
          <p:cNvGrpSpPr/>
          <p:nvPr/>
        </p:nvGrpSpPr>
        <p:grpSpPr>
          <a:xfrm>
            <a:off x="858982" y="5239250"/>
            <a:ext cx="197280" cy="258224"/>
            <a:chOff x="7882860" y="1895857"/>
            <a:chExt cx="263781" cy="384257"/>
          </a:xfrm>
        </p:grpSpPr>
        <p:sp>
          <p:nvSpPr>
            <p:cNvPr id="36" name="Oval 135">
              <a:extLst>
                <a:ext uri="{FF2B5EF4-FFF2-40B4-BE49-F238E27FC236}">
                  <a16:creationId xmlns:a16="http://schemas.microsoft.com/office/drawing/2014/main" id="{E77F4040-8737-AC06-8F4F-13CFB7D4300E}"/>
                </a:ext>
              </a:extLst>
            </p:cNvPr>
            <p:cNvSpPr>
              <a:spLocks noChangeArrowheads="1"/>
            </p:cNvSpPr>
            <p:nvPr/>
          </p:nvSpPr>
          <p:spPr bwMode="auto">
            <a:xfrm>
              <a:off x="7970364" y="1982092"/>
              <a:ext cx="90040" cy="90040"/>
            </a:xfrm>
            <a:prstGeom prst="ellipse">
              <a:avLst/>
            </a:pr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36">
              <a:extLst>
                <a:ext uri="{FF2B5EF4-FFF2-40B4-BE49-F238E27FC236}">
                  <a16:creationId xmlns:a16="http://schemas.microsoft.com/office/drawing/2014/main" id="{FAE14F2D-9A3B-A5C8-EECA-187866EE0C53}"/>
                </a:ext>
              </a:extLst>
            </p:cNvPr>
            <p:cNvSpPr>
              <a:spLocks noEditPoints="1"/>
            </p:cNvSpPr>
            <p:nvPr/>
          </p:nvSpPr>
          <p:spPr bwMode="auto">
            <a:xfrm>
              <a:off x="7882860" y="1895857"/>
              <a:ext cx="263781" cy="263781"/>
            </a:xfrm>
            <a:custGeom>
              <a:avLst/>
              <a:gdLst>
                <a:gd name="T0" fmla="*/ 88 w 88"/>
                <a:gd name="T1" fmla="*/ 44 h 88"/>
                <a:gd name="T2" fmla="*/ 79 w 88"/>
                <a:gd name="T3" fmla="*/ 35 h 88"/>
                <a:gd name="T4" fmla="*/ 82 w 88"/>
                <a:gd name="T5" fmla="*/ 22 h 88"/>
                <a:gd name="T6" fmla="*/ 70 w 88"/>
                <a:gd name="T7" fmla="*/ 19 h 88"/>
                <a:gd name="T8" fmla="*/ 66 w 88"/>
                <a:gd name="T9" fmla="*/ 6 h 88"/>
                <a:gd name="T10" fmla="*/ 53 w 88"/>
                <a:gd name="T11" fmla="*/ 9 h 88"/>
                <a:gd name="T12" fmla="*/ 44 w 88"/>
                <a:gd name="T13" fmla="*/ 0 h 88"/>
                <a:gd name="T14" fmla="*/ 35 w 88"/>
                <a:gd name="T15" fmla="*/ 9 h 88"/>
                <a:gd name="T16" fmla="*/ 22 w 88"/>
                <a:gd name="T17" fmla="*/ 6 h 88"/>
                <a:gd name="T18" fmla="*/ 18 w 88"/>
                <a:gd name="T19" fmla="*/ 19 h 88"/>
                <a:gd name="T20" fmla="*/ 6 w 88"/>
                <a:gd name="T21" fmla="*/ 22 h 88"/>
                <a:gd name="T22" fmla="*/ 9 w 88"/>
                <a:gd name="T23" fmla="*/ 35 h 88"/>
                <a:gd name="T24" fmla="*/ 0 w 88"/>
                <a:gd name="T25" fmla="*/ 44 h 88"/>
                <a:gd name="T26" fmla="*/ 9 w 88"/>
                <a:gd name="T27" fmla="*/ 54 h 88"/>
                <a:gd name="T28" fmla="*/ 6 w 88"/>
                <a:gd name="T29" fmla="*/ 66 h 88"/>
                <a:gd name="T30" fmla="*/ 18 w 88"/>
                <a:gd name="T31" fmla="*/ 70 h 88"/>
                <a:gd name="T32" fmla="*/ 22 w 88"/>
                <a:gd name="T33" fmla="*/ 82 h 88"/>
                <a:gd name="T34" fmla="*/ 35 w 88"/>
                <a:gd name="T35" fmla="*/ 79 h 88"/>
                <a:gd name="T36" fmla="*/ 44 w 88"/>
                <a:gd name="T37" fmla="*/ 88 h 88"/>
                <a:gd name="T38" fmla="*/ 53 w 88"/>
                <a:gd name="T39" fmla="*/ 79 h 88"/>
                <a:gd name="T40" fmla="*/ 66 w 88"/>
                <a:gd name="T41" fmla="*/ 82 h 88"/>
                <a:gd name="T42" fmla="*/ 70 w 88"/>
                <a:gd name="T43" fmla="*/ 70 h 88"/>
                <a:gd name="T44" fmla="*/ 82 w 88"/>
                <a:gd name="T45" fmla="*/ 66 h 88"/>
                <a:gd name="T46" fmla="*/ 79 w 88"/>
                <a:gd name="T47" fmla="*/ 54 h 88"/>
                <a:gd name="T48" fmla="*/ 88 w 88"/>
                <a:gd name="T49" fmla="*/ 44 h 88"/>
                <a:gd name="T50" fmla="*/ 44 w 88"/>
                <a:gd name="T51" fmla="*/ 69 h 88"/>
                <a:gd name="T52" fmla="*/ 19 w 88"/>
                <a:gd name="T53" fmla="*/ 44 h 88"/>
                <a:gd name="T54" fmla="*/ 44 w 88"/>
                <a:gd name="T55" fmla="*/ 20 h 88"/>
                <a:gd name="T56" fmla="*/ 69 w 88"/>
                <a:gd name="T57" fmla="*/ 44 h 88"/>
                <a:gd name="T58" fmla="*/ 44 w 88"/>
                <a:gd name="T59" fmla="*/ 6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8" h="88">
                  <a:moveTo>
                    <a:pt x="88" y="44"/>
                  </a:moveTo>
                  <a:cubicBezTo>
                    <a:pt x="79" y="35"/>
                    <a:pt x="79" y="35"/>
                    <a:pt x="79" y="35"/>
                  </a:cubicBezTo>
                  <a:cubicBezTo>
                    <a:pt x="82" y="22"/>
                    <a:pt x="82" y="22"/>
                    <a:pt x="82" y="22"/>
                  </a:cubicBezTo>
                  <a:cubicBezTo>
                    <a:pt x="70" y="19"/>
                    <a:pt x="70" y="19"/>
                    <a:pt x="70" y="19"/>
                  </a:cubicBezTo>
                  <a:cubicBezTo>
                    <a:pt x="66" y="6"/>
                    <a:pt x="66" y="6"/>
                    <a:pt x="66" y="6"/>
                  </a:cubicBezTo>
                  <a:cubicBezTo>
                    <a:pt x="53" y="9"/>
                    <a:pt x="53" y="9"/>
                    <a:pt x="53" y="9"/>
                  </a:cubicBezTo>
                  <a:cubicBezTo>
                    <a:pt x="44" y="0"/>
                    <a:pt x="44" y="0"/>
                    <a:pt x="44" y="0"/>
                  </a:cubicBezTo>
                  <a:cubicBezTo>
                    <a:pt x="35" y="9"/>
                    <a:pt x="35" y="9"/>
                    <a:pt x="35" y="9"/>
                  </a:cubicBezTo>
                  <a:cubicBezTo>
                    <a:pt x="22" y="6"/>
                    <a:pt x="22" y="6"/>
                    <a:pt x="22" y="6"/>
                  </a:cubicBezTo>
                  <a:cubicBezTo>
                    <a:pt x="18" y="19"/>
                    <a:pt x="18" y="19"/>
                    <a:pt x="18" y="19"/>
                  </a:cubicBezTo>
                  <a:cubicBezTo>
                    <a:pt x="6" y="22"/>
                    <a:pt x="6" y="22"/>
                    <a:pt x="6" y="22"/>
                  </a:cubicBezTo>
                  <a:cubicBezTo>
                    <a:pt x="9" y="35"/>
                    <a:pt x="9" y="35"/>
                    <a:pt x="9" y="35"/>
                  </a:cubicBezTo>
                  <a:cubicBezTo>
                    <a:pt x="0" y="44"/>
                    <a:pt x="0" y="44"/>
                    <a:pt x="0" y="44"/>
                  </a:cubicBezTo>
                  <a:cubicBezTo>
                    <a:pt x="9" y="54"/>
                    <a:pt x="9" y="54"/>
                    <a:pt x="9" y="54"/>
                  </a:cubicBezTo>
                  <a:cubicBezTo>
                    <a:pt x="6" y="66"/>
                    <a:pt x="6" y="66"/>
                    <a:pt x="6" y="66"/>
                  </a:cubicBezTo>
                  <a:cubicBezTo>
                    <a:pt x="18" y="70"/>
                    <a:pt x="18" y="70"/>
                    <a:pt x="18" y="70"/>
                  </a:cubicBezTo>
                  <a:cubicBezTo>
                    <a:pt x="22" y="82"/>
                    <a:pt x="22" y="82"/>
                    <a:pt x="22" y="82"/>
                  </a:cubicBezTo>
                  <a:cubicBezTo>
                    <a:pt x="35" y="79"/>
                    <a:pt x="35" y="79"/>
                    <a:pt x="35" y="79"/>
                  </a:cubicBezTo>
                  <a:cubicBezTo>
                    <a:pt x="44" y="88"/>
                    <a:pt x="44" y="88"/>
                    <a:pt x="44" y="88"/>
                  </a:cubicBezTo>
                  <a:cubicBezTo>
                    <a:pt x="53" y="79"/>
                    <a:pt x="53" y="79"/>
                    <a:pt x="53" y="79"/>
                  </a:cubicBezTo>
                  <a:cubicBezTo>
                    <a:pt x="66" y="82"/>
                    <a:pt x="66" y="82"/>
                    <a:pt x="66" y="82"/>
                  </a:cubicBezTo>
                  <a:cubicBezTo>
                    <a:pt x="70" y="70"/>
                    <a:pt x="70" y="70"/>
                    <a:pt x="70" y="70"/>
                  </a:cubicBezTo>
                  <a:cubicBezTo>
                    <a:pt x="82" y="66"/>
                    <a:pt x="82" y="66"/>
                    <a:pt x="82" y="66"/>
                  </a:cubicBezTo>
                  <a:cubicBezTo>
                    <a:pt x="79" y="54"/>
                    <a:pt x="79" y="54"/>
                    <a:pt x="79" y="54"/>
                  </a:cubicBezTo>
                  <a:lnTo>
                    <a:pt x="88" y="44"/>
                  </a:lnTo>
                  <a:close/>
                  <a:moveTo>
                    <a:pt x="44" y="69"/>
                  </a:moveTo>
                  <a:cubicBezTo>
                    <a:pt x="30" y="69"/>
                    <a:pt x="19" y="58"/>
                    <a:pt x="19" y="44"/>
                  </a:cubicBezTo>
                  <a:cubicBezTo>
                    <a:pt x="19" y="31"/>
                    <a:pt x="30" y="20"/>
                    <a:pt x="44" y="20"/>
                  </a:cubicBezTo>
                  <a:cubicBezTo>
                    <a:pt x="58" y="20"/>
                    <a:pt x="69" y="31"/>
                    <a:pt x="69" y="44"/>
                  </a:cubicBezTo>
                  <a:cubicBezTo>
                    <a:pt x="69" y="58"/>
                    <a:pt x="58" y="69"/>
                    <a:pt x="44" y="69"/>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37">
              <a:extLst>
                <a:ext uri="{FF2B5EF4-FFF2-40B4-BE49-F238E27FC236}">
                  <a16:creationId xmlns:a16="http://schemas.microsoft.com/office/drawing/2014/main" id="{0BD27FC3-EB48-CF9E-7D03-F12BE7DEFDCD}"/>
                </a:ext>
              </a:extLst>
            </p:cNvPr>
            <p:cNvSpPr>
              <a:spLocks/>
            </p:cNvSpPr>
            <p:nvPr/>
          </p:nvSpPr>
          <p:spPr bwMode="auto">
            <a:xfrm>
              <a:off x="7970364" y="2165978"/>
              <a:ext cx="90040" cy="114136"/>
            </a:xfrm>
            <a:custGeom>
              <a:avLst/>
              <a:gdLst>
                <a:gd name="T0" fmla="*/ 52 w 71"/>
                <a:gd name="T1" fmla="*/ 12 h 90"/>
                <a:gd name="T2" fmla="*/ 35 w 71"/>
                <a:gd name="T3" fmla="*/ 28 h 90"/>
                <a:gd name="T4" fmla="*/ 19 w 71"/>
                <a:gd name="T5" fmla="*/ 12 h 90"/>
                <a:gd name="T6" fmla="*/ 7 w 71"/>
                <a:gd name="T7" fmla="*/ 0 h 90"/>
                <a:gd name="T8" fmla="*/ 0 w 71"/>
                <a:gd name="T9" fmla="*/ 2 h 90"/>
                <a:gd name="T10" fmla="*/ 0 w 71"/>
                <a:gd name="T11" fmla="*/ 90 h 90"/>
                <a:gd name="T12" fmla="*/ 35 w 71"/>
                <a:gd name="T13" fmla="*/ 57 h 90"/>
                <a:gd name="T14" fmla="*/ 71 w 71"/>
                <a:gd name="T15" fmla="*/ 90 h 90"/>
                <a:gd name="T16" fmla="*/ 71 w 71"/>
                <a:gd name="T17" fmla="*/ 2 h 90"/>
                <a:gd name="T18" fmla="*/ 64 w 71"/>
                <a:gd name="T19" fmla="*/ 0 h 90"/>
                <a:gd name="T20" fmla="*/ 52 w 71"/>
                <a:gd name="T21"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90">
                  <a:moveTo>
                    <a:pt x="52" y="12"/>
                  </a:moveTo>
                  <a:lnTo>
                    <a:pt x="35" y="28"/>
                  </a:lnTo>
                  <a:lnTo>
                    <a:pt x="19" y="12"/>
                  </a:lnTo>
                  <a:lnTo>
                    <a:pt x="7" y="0"/>
                  </a:lnTo>
                  <a:lnTo>
                    <a:pt x="0" y="2"/>
                  </a:lnTo>
                  <a:lnTo>
                    <a:pt x="0" y="90"/>
                  </a:lnTo>
                  <a:lnTo>
                    <a:pt x="35" y="57"/>
                  </a:lnTo>
                  <a:lnTo>
                    <a:pt x="71" y="90"/>
                  </a:lnTo>
                  <a:lnTo>
                    <a:pt x="71" y="2"/>
                  </a:lnTo>
                  <a:lnTo>
                    <a:pt x="64" y="0"/>
                  </a:lnTo>
                  <a:lnTo>
                    <a:pt x="52" y="12"/>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45" name="图片 44">
            <a:extLst>
              <a:ext uri="{FF2B5EF4-FFF2-40B4-BE49-F238E27FC236}">
                <a16:creationId xmlns:a16="http://schemas.microsoft.com/office/drawing/2014/main" id="{CCE0CA49-49A7-67D6-1167-A4B1299CF18D}"/>
              </a:ext>
            </a:extLst>
          </p:cNvPr>
          <p:cNvPicPr>
            <a:picLocks noChangeAspect="1"/>
          </p:cNvPicPr>
          <p:nvPr/>
        </p:nvPicPr>
        <p:blipFill>
          <a:blip r:embed="rId2"/>
          <a:stretch>
            <a:fillRect/>
          </a:stretch>
        </p:blipFill>
        <p:spPr>
          <a:xfrm>
            <a:off x="7305528" y="3111435"/>
            <a:ext cx="4722965" cy="923329"/>
          </a:xfrm>
          <a:prstGeom prst="rect">
            <a:avLst/>
          </a:prstGeom>
        </p:spPr>
      </p:pic>
      <p:sp>
        <p:nvSpPr>
          <p:cNvPr id="47" name="文本框 46">
            <a:extLst>
              <a:ext uri="{FF2B5EF4-FFF2-40B4-BE49-F238E27FC236}">
                <a16:creationId xmlns:a16="http://schemas.microsoft.com/office/drawing/2014/main" id="{154C40A1-B9AC-314B-D45C-3FA756EEA0AE}"/>
              </a:ext>
            </a:extLst>
          </p:cNvPr>
          <p:cNvSpPr txBox="1"/>
          <p:nvPr/>
        </p:nvSpPr>
        <p:spPr>
          <a:xfrm>
            <a:off x="7203493" y="4128691"/>
            <a:ext cx="4880560" cy="215444"/>
          </a:xfrm>
          <a:prstGeom prst="rect">
            <a:avLst/>
          </a:prstGeom>
          <a:noFill/>
        </p:spPr>
        <p:txBody>
          <a:bodyPr wrap="square">
            <a:spAutoFit/>
          </a:bodyPr>
          <a:lstStyle/>
          <a:p>
            <a:r>
              <a:rPr lang="en-US" altLang="zh-CN" sz="800" dirty="0"/>
              <a:t>  a.</a:t>
            </a:r>
            <a:r>
              <a:rPr lang="zh-CN" altLang="en-US" sz="800" dirty="0"/>
              <a:t>传统最大熵法          </a:t>
            </a:r>
            <a:r>
              <a:rPr lang="en-US" altLang="zh-CN" sz="800" dirty="0"/>
              <a:t>b.</a:t>
            </a:r>
            <a:r>
              <a:rPr lang="zh-CN" altLang="en-US" sz="800" dirty="0"/>
              <a:t>最大类间方差法     </a:t>
            </a:r>
            <a:r>
              <a:rPr lang="en-US" altLang="zh-CN" sz="800" dirty="0"/>
              <a:t>c.</a:t>
            </a:r>
            <a:r>
              <a:rPr lang="zh-CN" altLang="en-US" sz="800" dirty="0"/>
              <a:t>最小误差阈值法            </a:t>
            </a:r>
            <a:r>
              <a:rPr lang="en-US" altLang="zh-CN" sz="800" dirty="0"/>
              <a:t>d.</a:t>
            </a:r>
            <a:r>
              <a:rPr lang="zh-CN" altLang="en-US" sz="800" dirty="0"/>
              <a:t>粒子群算法               </a:t>
            </a:r>
            <a:r>
              <a:rPr lang="en-US" altLang="zh-CN" sz="800" dirty="0"/>
              <a:t>e.</a:t>
            </a:r>
            <a:r>
              <a:rPr lang="zh-CN" altLang="en-US" sz="800" dirty="0"/>
              <a:t>萤火虫算法</a:t>
            </a:r>
          </a:p>
        </p:txBody>
      </p:sp>
      <p:sp>
        <p:nvSpPr>
          <p:cNvPr id="49" name="文本框 48">
            <a:extLst>
              <a:ext uri="{FF2B5EF4-FFF2-40B4-BE49-F238E27FC236}">
                <a16:creationId xmlns:a16="http://schemas.microsoft.com/office/drawing/2014/main" id="{F31E06E9-C831-A73A-CA27-30FD63A102E0}"/>
              </a:ext>
            </a:extLst>
          </p:cNvPr>
          <p:cNvSpPr txBox="1"/>
          <p:nvPr/>
        </p:nvSpPr>
        <p:spPr>
          <a:xfrm>
            <a:off x="8184427" y="2610325"/>
            <a:ext cx="2918691" cy="369332"/>
          </a:xfrm>
          <a:prstGeom prst="rect">
            <a:avLst/>
          </a:prstGeom>
          <a:noFill/>
        </p:spPr>
        <p:txBody>
          <a:bodyPr wrap="square">
            <a:spAutoFit/>
          </a:bodyPr>
          <a:lstStyle/>
          <a:p>
            <a:r>
              <a:rPr lang="zh-CN" altLang="en-US" dirty="0"/>
              <a:t>高信噪比图像的分割结果</a:t>
            </a:r>
          </a:p>
        </p:txBody>
      </p:sp>
      <p:pic>
        <p:nvPicPr>
          <p:cNvPr id="56" name="图片 55">
            <a:extLst>
              <a:ext uri="{FF2B5EF4-FFF2-40B4-BE49-F238E27FC236}">
                <a16:creationId xmlns:a16="http://schemas.microsoft.com/office/drawing/2014/main" id="{EBBAED01-9BAE-08C2-9A30-4DC42E5E6F08}"/>
              </a:ext>
            </a:extLst>
          </p:cNvPr>
          <p:cNvPicPr>
            <a:picLocks noChangeAspect="1"/>
          </p:cNvPicPr>
          <p:nvPr/>
        </p:nvPicPr>
        <p:blipFill>
          <a:blip r:embed="rId3"/>
          <a:stretch>
            <a:fillRect/>
          </a:stretch>
        </p:blipFill>
        <p:spPr>
          <a:xfrm>
            <a:off x="7259053" y="5073547"/>
            <a:ext cx="4769440" cy="899574"/>
          </a:xfrm>
          <a:prstGeom prst="rect">
            <a:avLst/>
          </a:prstGeom>
        </p:spPr>
      </p:pic>
      <p:sp>
        <p:nvSpPr>
          <p:cNvPr id="57" name="文本框 56">
            <a:extLst>
              <a:ext uri="{FF2B5EF4-FFF2-40B4-BE49-F238E27FC236}">
                <a16:creationId xmlns:a16="http://schemas.microsoft.com/office/drawing/2014/main" id="{E896F845-4A65-0E98-C472-8B2FE5050B75}"/>
              </a:ext>
            </a:extLst>
          </p:cNvPr>
          <p:cNvSpPr txBox="1"/>
          <p:nvPr/>
        </p:nvSpPr>
        <p:spPr>
          <a:xfrm>
            <a:off x="7216758" y="6031999"/>
            <a:ext cx="4880560" cy="215444"/>
          </a:xfrm>
          <a:prstGeom prst="rect">
            <a:avLst/>
          </a:prstGeom>
          <a:noFill/>
        </p:spPr>
        <p:txBody>
          <a:bodyPr wrap="square">
            <a:spAutoFit/>
          </a:bodyPr>
          <a:lstStyle/>
          <a:p>
            <a:r>
              <a:rPr lang="en-US" altLang="zh-CN" sz="800" dirty="0"/>
              <a:t>  a.</a:t>
            </a:r>
            <a:r>
              <a:rPr lang="zh-CN" altLang="en-US" sz="800" dirty="0"/>
              <a:t>传统最大熵法          </a:t>
            </a:r>
            <a:r>
              <a:rPr lang="en-US" altLang="zh-CN" sz="800" dirty="0"/>
              <a:t>b.</a:t>
            </a:r>
            <a:r>
              <a:rPr lang="zh-CN" altLang="en-US" sz="800" dirty="0"/>
              <a:t>最大类间方差法     </a:t>
            </a:r>
            <a:r>
              <a:rPr lang="en-US" altLang="zh-CN" sz="800" dirty="0"/>
              <a:t>c.</a:t>
            </a:r>
            <a:r>
              <a:rPr lang="zh-CN" altLang="en-US" sz="800" dirty="0"/>
              <a:t>最小误差阈值法            </a:t>
            </a:r>
            <a:r>
              <a:rPr lang="en-US" altLang="zh-CN" sz="800" dirty="0"/>
              <a:t>d.</a:t>
            </a:r>
            <a:r>
              <a:rPr lang="zh-CN" altLang="en-US" sz="800" dirty="0"/>
              <a:t>粒子群算法               </a:t>
            </a:r>
            <a:r>
              <a:rPr lang="en-US" altLang="zh-CN" sz="800" dirty="0"/>
              <a:t>e.</a:t>
            </a:r>
            <a:r>
              <a:rPr lang="zh-CN" altLang="en-US" sz="800" dirty="0"/>
              <a:t>萤火虫算法</a:t>
            </a:r>
          </a:p>
        </p:txBody>
      </p:sp>
      <p:sp>
        <p:nvSpPr>
          <p:cNvPr id="58" name="文本框 57">
            <a:extLst>
              <a:ext uri="{FF2B5EF4-FFF2-40B4-BE49-F238E27FC236}">
                <a16:creationId xmlns:a16="http://schemas.microsoft.com/office/drawing/2014/main" id="{56733B9D-AF92-8A15-6D10-E3B3F3066C3B}"/>
              </a:ext>
            </a:extLst>
          </p:cNvPr>
          <p:cNvSpPr txBox="1"/>
          <p:nvPr/>
        </p:nvSpPr>
        <p:spPr>
          <a:xfrm>
            <a:off x="8184427" y="4524175"/>
            <a:ext cx="2918691" cy="369332"/>
          </a:xfrm>
          <a:prstGeom prst="rect">
            <a:avLst/>
          </a:prstGeom>
          <a:noFill/>
        </p:spPr>
        <p:txBody>
          <a:bodyPr wrap="square">
            <a:spAutoFit/>
          </a:bodyPr>
          <a:lstStyle/>
          <a:p>
            <a:r>
              <a:rPr lang="zh-CN" altLang="en-US" dirty="0"/>
              <a:t>低信噪比图像的分割结果</a:t>
            </a:r>
          </a:p>
        </p:txBody>
      </p:sp>
    </p:spTree>
    <p:extLst>
      <p:ext uri="{BB962C8B-B14F-4D97-AF65-F5344CB8AC3E}">
        <p14:creationId xmlns:p14="http://schemas.microsoft.com/office/powerpoint/2010/main" val="649537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8C4CA-2223-DA56-C2DB-35B92B79478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F561841-FC38-4238-ADDF-8B9639EDF5F6}"/>
              </a:ext>
            </a:extLst>
          </p:cNvPr>
          <p:cNvSpPr>
            <a:spLocks noGrp="1"/>
          </p:cNvSpPr>
          <p:nvPr>
            <p:ph type="title"/>
          </p:nvPr>
        </p:nvSpPr>
        <p:spPr/>
        <p:txBody>
          <a:bodyPr/>
          <a:lstStyle/>
          <a:p>
            <a:r>
              <a:rPr lang="en-US" altLang="zh-CN" dirty="0"/>
              <a:t>6 </a:t>
            </a:r>
            <a:r>
              <a:rPr lang="zh-CN" altLang="en-US" dirty="0"/>
              <a:t>应用二：工程结构优化</a:t>
            </a:r>
          </a:p>
        </p:txBody>
      </p:sp>
      <p:sp>
        <p:nvSpPr>
          <p:cNvPr id="12" name="Rectangle 5">
            <a:extLst>
              <a:ext uri="{FF2B5EF4-FFF2-40B4-BE49-F238E27FC236}">
                <a16:creationId xmlns:a16="http://schemas.microsoft.com/office/drawing/2014/main" id="{B786AB95-6021-7C9D-D8D7-0A375A4E8654}"/>
              </a:ext>
            </a:extLst>
          </p:cNvPr>
          <p:cNvSpPr>
            <a:spLocks noChangeArrowheads="1"/>
          </p:cNvSpPr>
          <p:nvPr/>
        </p:nvSpPr>
        <p:spPr bwMode="auto">
          <a:xfrm>
            <a:off x="792481" y="1362911"/>
            <a:ext cx="4567279" cy="812777"/>
          </a:xfrm>
          <a:prstGeom prst="rect">
            <a:avLst/>
          </a:prstGeom>
          <a:solidFill>
            <a:srgbClr val="00377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sz="4800" b="1" dirty="0">
                <a:solidFill>
                  <a:srgbClr val="00B050"/>
                </a:solidFill>
                <a:latin typeface="+mj-ea"/>
                <a:ea typeface="+mj-ea"/>
              </a:rPr>
              <a:t>工程结构优化</a:t>
            </a:r>
          </a:p>
        </p:txBody>
      </p:sp>
      <p:grpSp>
        <p:nvGrpSpPr>
          <p:cNvPr id="13" name="组合 12">
            <a:extLst>
              <a:ext uri="{FF2B5EF4-FFF2-40B4-BE49-F238E27FC236}">
                <a16:creationId xmlns:a16="http://schemas.microsoft.com/office/drawing/2014/main" id="{C187D561-B3C5-24C7-B9CC-47AEB520B68E}"/>
              </a:ext>
            </a:extLst>
          </p:cNvPr>
          <p:cNvGrpSpPr/>
          <p:nvPr/>
        </p:nvGrpSpPr>
        <p:grpSpPr>
          <a:xfrm>
            <a:off x="858982" y="2992976"/>
            <a:ext cx="197280" cy="258224"/>
            <a:chOff x="7882860" y="1895857"/>
            <a:chExt cx="263781" cy="384257"/>
          </a:xfrm>
        </p:grpSpPr>
        <p:sp>
          <p:nvSpPr>
            <p:cNvPr id="14" name="Oval 135">
              <a:extLst>
                <a:ext uri="{FF2B5EF4-FFF2-40B4-BE49-F238E27FC236}">
                  <a16:creationId xmlns:a16="http://schemas.microsoft.com/office/drawing/2014/main" id="{178085F0-4DE8-E4EC-FE85-76AB523789AB}"/>
                </a:ext>
              </a:extLst>
            </p:cNvPr>
            <p:cNvSpPr>
              <a:spLocks noChangeArrowheads="1"/>
            </p:cNvSpPr>
            <p:nvPr/>
          </p:nvSpPr>
          <p:spPr bwMode="auto">
            <a:xfrm>
              <a:off x="7970364" y="1982092"/>
              <a:ext cx="90040" cy="90040"/>
            </a:xfrm>
            <a:prstGeom prst="ellipse">
              <a:avLst/>
            </a:pr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136">
              <a:extLst>
                <a:ext uri="{FF2B5EF4-FFF2-40B4-BE49-F238E27FC236}">
                  <a16:creationId xmlns:a16="http://schemas.microsoft.com/office/drawing/2014/main" id="{D7FAE847-C473-9B52-CC5E-1A3978BED5A2}"/>
                </a:ext>
              </a:extLst>
            </p:cNvPr>
            <p:cNvSpPr>
              <a:spLocks noEditPoints="1"/>
            </p:cNvSpPr>
            <p:nvPr/>
          </p:nvSpPr>
          <p:spPr bwMode="auto">
            <a:xfrm>
              <a:off x="7882860" y="1895857"/>
              <a:ext cx="263781" cy="263781"/>
            </a:xfrm>
            <a:custGeom>
              <a:avLst/>
              <a:gdLst>
                <a:gd name="T0" fmla="*/ 88 w 88"/>
                <a:gd name="T1" fmla="*/ 44 h 88"/>
                <a:gd name="T2" fmla="*/ 79 w 88"/>
                <a:gd name="T3" fmla="*/ 35 h 88"/>
                <a:gd name="T4" fmla="*/ 82 w 88"/>
                <a:gd name="T5" fmla="*/ 22 h 88"/>
                <a:gd name="T6" fmla="*/ 70 w 88"/>
                <a:gd name="T7" fmla="*/ 19 h 88"/>
                <a:gd name="T8" fmla="*/ 66 w 88"/>
                <a:gd name="T9" fmla="*/ 6 h 88"/>
                <a:gd name="T10" fmla="*/ 53 w 88"/>
                <a:gd name="T11" fmla="*/ 9 h 88"/>
                <a:gd name="T12" fmla="*/ 44 w 88"/>
                <a:gd name="T13" fmla="*/ 0 h 88"/>
                <a:gd name="T14" fmla="*/ 35 w 88"/>
                <a:gd name="T15" fmla="*/ 9 h 88"/>
                <a:gd name="T16" fmla="*/ 22 w 88"/>
                <a:gd name="T17" fmla="*/ 6 h 88"/>
                <a:gd name="T18" fmla="*/ 18 w 88"/>
                <a:gd name="T19" fmla="*/ 19 h 88"/>
                <a:gd name="T20" fmla="*/ 6 w 88"/>
                <a:gd name="T21" fmla="*/ 22 h 88"/>
                <a:gd name="T22" fmla="*/ 9 w 88"/>
                <a:gd name="T23" fmla="*/ 35 h 88"/>
                <a:gd name="T24" fmla="*/ 0 w 88"/>
                <a:gd name="T25" fmla="*/ 44 h 88"/>
                <a:gd name="T26" fmla="*/ 9 w 88"/>
                <a:gd name="T27" fmla="*/ 54 h 88"/>
                <a:gd name="T28" fmla="*/ 6 w 88"/>
                <a:gd name="T29" fmla="*/ 66 h 88"/>
                <a:gd name="T30" fmla="*/ 18 w 88"/>
                <a:gd name="T31" fmla="*/ 70 h 88"/>
                <a:gd name="T32" fmla="*/ 22 w 88"/>
                <a:gd name="T33" fmla="*/ 82 h 88"/>
                <a:gd name="T34" fmla="*/ 35 w 88"/>
                <a:gd name="T35" fmla="*/ 79 h 88"/>
                <a:gd name="T36" fmla="*/ 44 w 88"/>
                <a:gd name="T37" fmla="*/ 88 h 88"/>
                <a:gd name="T38" fmla="*/ 53 w 88"/>
                <a:gd name="T39" fmla="*/ 79 h 88"/>
                <a:gd name="T40" fmla="*/ 66 w 88"/>
                <a:gd name="T41" fmla="*/ 82 h 88"/>
                <a:gd name="T42" fmla="*/ 70 w 88"/>
                <a:gd name="T43" fmla="*/ 70 h 88"/>
                <a:gd name="T44" fmla="*/ 82 w 88"/>
                <a:gd name="T45" fmla="*/ 66 h 88"/>
                <a:gd name="T46" fmla="*/ 79 w 88"/>
                <a:gd name="T47" fmla="*/ 54 h 88"/>
                <a:gd name="T48" fmla="*/ 88 w 88"/>
                <a:gd name="T49" fmla="*/ 44 h 88"/>
                <a:gd name="T50" fmla="*/ 44 w 88"/>
                <a:gd name="T51" fmla="*/ 69 h 88"/>
                <a:gd name="T52" fmla="*/ 19 w 88"/>
                <a:gd name="T53" fmla="*/ 44 h 88"/>
                <a:gd name="T54" fmla="*/ 44 w 88"/>
                <a:gd name="T55" fmla="*/ 20 h 88"/>
                <a:gd name="T56" fmla="*/ 69 w 88"/>
                <a:gd name="T57" fmla="*/ 44 h 88"/>
                <a:gd name="T58" fmla="*/ 44 w 88"/>
                <a:gd name="T59" fmla="*/ 6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8" h="88">
                  <a:moveTo>
                    <a:pt x="88" y="44"/>
                  </a:moveTo>
                  <a:cubicBezTo>
                    <a:pt x="79" y="35"/>
                    <a:pt x="79" y="35"/>
                    <a:pt x="79" y="35"/>
                  </a:cubicBezTo>
                  <a:cubicBezTo>
                    <a:pt x="82" y="22"/>
                    <a:pt x="82" y="22"/>
                    <a:pt x="82" y="22"/>
                  </a:cubicBezTo>
                  <a:cubicBezTo>
                    <a:pt x="70" y="19"/>
                    <a:pt x="70" y="19"/>
                    <a:pt x="70" y="19"/>
                  </a:cubicBezTo>
                  <a:cubicBezTo>
                    <a:pt x="66" y="6"/>
                    <a:pt x="66" y="6"/>
                    <a:pt x="66" y="6"/>
                  </a:cubicBezTo>
                  <a:cubicBezTo>
                    <a:pt x="53" y="9"/>
                    <a:pt x="53" y="9"/>
                    <a:pt x="53" y="9"/>
                  </a:cubicBezTo>
                  <a:cubicBezTo>
                    <a:pt x="44" y="0"/>
                    <a:pt x="44" y="0"/>
                    <a:pt x="44" y="0"/>
                  </a:cubicBezTo>
                  <a:cubicBezTo>
                    <a:pt x="35" y="9"/>
                    <a:pt x="35" y="9"/>
                    <a:pt x="35" y="9"/>
                  </a:cubicBezTo>
                  <a:cubicBezTo>
                    <a:pt x="22" y="6"/>
                    <a:pt x="22" y="6"/>
                    <a:pt x="22" y="6"/>
                  </a:cubicBezTo>
                  <a:cubicBezTo>
                    <a:pt x="18" y="19"/>
                    <a:pt x="18" y="19"/>
                    <a:pt x="18" y="19"/>
                  </a:cubicBezTo>
                  <a:cubicBezTo>
                    <a:pt x="6" y="22"/>
                    <a:pt x="6" y="22"/>
                    <a:pt x="6" y="22"/>
                  </a:cubicBezTo>
                  <a:cubicBezTo>
                    <a:pt x="9" y="35"/>
                    <a:pt x="9" y="35"/>
                    <a:pt x="9" y="35"/>
                  </a:cubicBezTo>
                  <a:cubicBezTo>
                    <a:pt x="0" y="44"/>
                    <a:pt x="0" y="44"/>
                    <a:pt x="0" y="44"/>
                  </a:cubicBezTo>
                  <a:cubicBezTo>
                    <a:pt x="9" y="54"/>
                    <a:pt x="9" y="54"/>
                    <a:pt x="9" y="54"/>
                  </a:cubicBezTo>
                  <a:cubicBezTo>
                    <a:pt x="6" y="66"/>
                    <a:pt x="6" y="66"/>
                    <a:pt x="6" y="66"/>
                  </a:cubicBezTo>
                  <a:cubicBezTo>
                    <a:pt x="18" y="70"/>
                    <a:pt x="18" y="70"/>
                    <a:pt x="18" y="70"/>
                  </a:cubicBezTo>
                  <a:cubicBezTo>
                    <a:pt x="22" y="82"/>
                    <a:pt x="22" y="82"/>
                    <a:pt x="22" y="82"/>
                  </a:cubicBezTo>
                  <a:cubicBezTo>
                    <a:pt x="35" y="79"/>
                    <a:pt x="35" y="79"/>
                    <a:pt x="35" y="79"/>
                  </a:cubicBezTo>
                  <a:cubicBezTo>
                    <a:pt x="44" y="88"/>
                    <a:pt x="44" y="88"/>
                    <a:pt x="44" y="88"/>
                  </a:cubicBezTo>
                  <a:cubicBezTo>
                    <a:pt x="53" y="79"/>
                    <a:pt x="53" y="79"/>
                    <a:pt x="53" y="79"/>
                  </a:cubicBezTo>
                  <a:cubicBezTo>
                    <a:pt x="66" y="82"/>
                    <a:pt x="66" y="82"/>
                    <a:pt x="66" y="82"/>
                  </a:cubicBezTo>
                  <a:cubicBezTo>
                    <a:pt x="70" y="70"/>
                    <a:pt x="70" y="70"/>
                    <a:pt x="70" y="70"/>
                  </a:cubicBezTo>
                  <a:cubicBezTo>
                    <a:pt x="82" y="66"/>
                    <a:pt x="82" y="66"/>
                    <a:pt x="82" y="66"/>
                  </a:cubicBezTo>
                  <a:cubicBezTo>
                    <a:pt x="79" y="54"/>
                    <a:pt x="79" y="54"/>
                    <a:pt x="79" y="54"/>
                  </a:cubicBezTo>
                  <a:lnTo>
                    <a:pt x="88" y="44"/>
                  </a:lnTo>
                  <a:close/>
                  <a:moveTo>
                    <a:pt x="44" y="69"/>
                  </a:moveTo>
                  <a:cubicBezTo>
                    <a:pt x="30" y="69"/>
                    <a:pt x="19" y="58"/>
                    <a:pt x="19" y="44"/>
                  </a:cubicBezTo>
                  <a:cubicBezTo>
                    <a:pt x="19" y="31"/>
                    <a:pt x="30" y="20"/>
                    <a:pt x="44" y="20"/>
                  </a:cubicBezTo>
                  <a:cubicBezTo>
                    <a:pt x="58" y="20"/>
                    <a:pt x="69" y="31"/>
                    <a:pt x="69" y="44"/>
                  </a:cubicBezTo>
                  <a:cubicBezTo>
                    <a:pt x="69" y="58"/>
                    <a:pt x="58" y="69"/>
                    <a:pt x="44" y="69"/>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137">
              <a:extLst>
                <a:ext uri="{FF2B5EF4-FFF2-40B4-BE49-F238E27FC236}">
                  <a16:creationId xmlns:a16="http://schemas.microsoft.com/office/drawing/2014/main" id="{D4A0F010-8844-5A71-0979-13D3ED71791F}"/>
                </a:ext>
              </a:extLst>
            </p:cNvPr>
            <p:cNvSpPr>
              <a:spLocks/>
            </p:cNvSpPr>
            <p:nvPr/>
          </p:nvSpPr>
          <p:spPr bwMode="auto">
            <a:xfrm>
              <a:off x="7970364" y="2165978"/>
              <a:ext cx="90040" cy="114136"/>
            </a:xfrm>
            <a:custGeom>
              <a:avLst/>
              <a:gdLst>
                <a:gd name="T0" fmla="*/ 52 w 71"/>
                <a:gd name="T1" fmla="*/ 12 h 90"/>
                <a:gd name="T2" fmla="*/ 35 w 71"/>
                <a:gd name="T3" fmla="*/ 28 h 90"/>
                <a:gd name="T4" fmla="*/ 19 w 71"/>
                <a:gd name="T5" fmla="*/ 12 h 90"/>
                <a:gd name="T6" fmla="*/ 7 w 71"/>
                <a:gd name="T7" fmla="*/ 0 h 90"/>
                <a:gd name="T8" fmla="*/ 0 w 71"/>
                <a:gd name="T9" fmla="*/ 2 h 90"/>
                <a:gd name="T10" fmla="*/ 0 w 71"/>
                <a:gd name="T11" fmla="*/ 90 h 90"/>
                <a:gd name="T12" fmla="*/ 35 w 71"/>
                <a:gd name="T13" fmla="*/ 57 h 90"/>
                <a:gd name="T14" fmla="*/ 71 w 71"/>
                <a:gd name="T15" fmla="*/ 90 h 90"/>
                <a:gd name="T16" fmla="*/ 71 w 71"/>
                <a:gd name="T17" fmla="*/ 2 h 90"/>
                <a:gd name="T18" fmla="*/ 64 w 71"/>
                <a:gd name="T19" fmla="*/ 0 h 90"/>
                <a:gd name="T20" fmla="*/ 52 w 71"/>
                <a:gd name="T21"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90">
                  <a:moveTo>
                    <a:pt x="52" y="12"/>
                  </a:moveTo>
                  <a:lnTo>
                    <a:pt x="35" y="28"/>
                  </a:lnTo>
                  <a:lnTo>
                    <a:pt x="19" y="12"/>
                  </a:lnTo>
                  <a:lnTo>
                    <a:pt x="7" y="0"/>
                  </a:lnTo>
                  <a:lnTo>
                    <a:pt x="0" y="2"/>
                  </a:lnTo>
                  <a:lnTo>
                    <a:pt x="0" y="90"/>
                  </a:lnTo>
                  <a:lnTo>
                    <a:pt x="35" y="57"/>
                  </a:lnTo>
                  <a:lnTo>
                    <a:pt x="71" y="90"/>
                  </a:lnTo>
                  <a:lnTo>
                    <a:pt x="71" y="2"/>
                  </a:lnTo>
                  <a:lnTo>
                    <a:pt x="64" y="0"/>
                  </a:lnTo>
                  <a:lnTo>
                    <a:pt x="52" y="12"/>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8" name="文本框 17">
            <a:extLst>
              <a:ext uri="{FF2B5EF4-FFF2-40B4-BE49-F238E27FC236}">
                <a16:creationId xmlns:a16="http://schemas.microsoft.com/office/drawing/2014/main" id="{F9DE7981-8521-3EFB-EB34-83C28522DD38}"/>
              </a:ext>
            </a:extLst>
          </p:cNvPr>
          <p:cNvSpPr txBox="1"/>
          <p:nvPr/>
        </p:nvSpPr>
        <p:spPr>
          <a:xfrm>
            <a:off x="1056262" y="2919085"/>
            <a:ext cx="6096000" cy="646331"/>
          </a:xfrm>
          <a:prstGeom prst="rect">
            <a:avLst/>
          </a:prstGeom>
          <a:noFill/>
        </p:spPr>
        <p:txBody>
          <a:bodyPr wrap="square">
            <a:spAutoFit/>
          </a:bodyPr>
          <a:lstStyle/>
          <a:p>
            <a:r>
              <a:rPr lang="zh-CN" altLang="en-US" b="1" dirty="0"/>
              <a:t>复杂性：</a:t>
            </a:r>
            <a:r>
              <a:rPr lang="zh-CN" altLang="en-US" dirty="0"/>
              <a:t>现实工程设计通常包含高度非线性的约束条件（如应力、挠度、振动频率）。</a:t>
            </a:r>
          </a:p>
        </p:txBody>
      </p:sp>
      <p:sp>
        <p:nvSpPr>
          <p:cNvPr id="20" name="文本框 19">
            <a:extLst>
              <a:ext uri="{FF2B5EF4-FFF2-40B4-BE49-F238E27FC236}">
                <a16:creationId xmlns:a16="http://schemas.microsoft.com/office/drawing/2014/main" id="{F11B8D03-086A-A082-BBB6-2E7B657C4E67}"/>
              </a:ext>
            </a:extLst>
          </p:cNvPr>
          <p:cNvSpPr txBox="1"/>
          <p:nvPr/>
        </p:nvSpPr>
        <p:spPr>
          <a:xfrm>
            <a:off x="1056262" y="3777817"/>
            <a:ext cx="6096000" cy="1862048"/>
          </a:xfrm>
          <a:prstGeom prst="rect">
            <a:avLst/>
          </a:prstGeom>
          <a:noFill/>
        </p:spPr>
        <p:txBody>
          <a:bodyPr wrap="square">
            <a:spAutoFit/>
          </a:bodyPr>
          <a:lstStyle/>
          <a:p>
            <a:pPr>
              <a:spcAft>
                <a:spcPts val="1500"/>
              </a:spcAft>
            </a:pPr>
            <a:r>
              <a:rPr lang="zh-CN" altLang="en-US" b="1" dirty="0"/>
              <a:t>典型案例：</a:t>
            </a:r>
            <a:endParaRPr lang="en-US" altLang="zh-CN" b="1" dirty="0"/>
          </a:p>
          <a:p>
            <a:pPr marL="285750" indent="-285750">
              <a:spcAft>
                <a:spcPts val="1500"/>
              </a:spcAft>
              <a:buFont typeface="Arial" panose="020B0604020202020204" pitchFamily="34" charset="0"/>
              <a:buChar char="•"/>
            </a:pPr>
            <a:r>
              <a:rPr lang="zh-CN" altLang="en-US" b="1" dirty="0"/>
              <a:t>桁架结构设计：</a:t>
            </a:r>
            <a:r>
              <a:rPr lang="zh-CN" altLang="en-US" dirty="0"/>
              <a:t> 在保证结构强度的前提下，通过优化横截面积最小化整体重量。</a:t>
            </a:r>
            <a:endParaRPr lang="en-US" altLang="zh-CN" dirty="0"/>
          </a:p>
          <a:p>
            <a:pPr marL="285750" indent="-285750">
              <a:spcAft>
                <a:spcPts val="1500"/>
              </a:spcAft>
              <a:buFont typeface="Arial" panose="020B0604020202020204" pitchFamily="34" charset="0"/>
              <a:buChar char="•"/>
            </a:pPr>
            <a:r>
              <a:rPr lang="zh-CN" altLang="en-US" b="1" dirty="0"/>
              <a:t>天线阵列</a:t>
            </a:r>
            <a:r>
              <a:rPr lang="en-US" altLang="zh-CN" b="1" dirty="0"/>
              <a:t>:</a:t>
            </a:r>
            <a:r>
              <a:rPr lang="zh-CN" altLang="en-US" dirty="0"/>
              <a:t> 优化天线单元的位置和间距，以获得旁瓣最低、主瓣最强的辐射方向图。</a:t>
            </a:r>
            <a:endParaRPr lang="zh-CN" altLang="en-US" dirty="0">
              <a:latin typeface="Arial" panose="020B0604020202020204" pitchFamily="34" charset="0"/>
            </a:endParaRPr>
          </a:p>
        </p:txBody>
      </p:sp>
      <p:grpSp>
        <p:nvGrpSpPr>
          <p:cNvPr id="21" name="组合 20">
            <a:extLst>
              <a:ext uri="{FF2B5EF4-FFF2-40B4-BE49-F238E27FC236}">
                <a16:creationId xmlns:a16="http://schemas.microsoft.com/office/drawing/2014/main" id="{2CE4ECCB-117F-E1FC-DA1B-F621F6EF87F8}"/>
              </a:ext>
            </a:extLst>
          </p:cNvPr>
          <p:cNvGrpSpPr/>
          <p:nvPr/>
        </p:nvGrpSpPr>
        <p:grpSpPr>
          <a:xfrm>
            <a:off x="853280" y="3833422"/>
            <a:ext cx="197280" cy="258224"/>
            <a:chOff x="7882860" y="1895857"/>
            <a:chExt cx="263781" cy="384257"/>
          </a:xfrm>
        </p:grpSpPr>
        <p:sp>
          <p:nvSpPr>
            <p:cNvPr id="22" name="Oval 135">
              <a:extLst>
                <a:ext uri="{FF2B5EF4-FFF2-40B4-BE49-F238E27FC236}">
                  <a16:creationId xmlns:a16="http://schemas.microsoft.com/office/drawing/2014/main" id="{A763C422-F654-2053-523A-165F4779C103}"/>
                </a:ext>
              </a:extLst>
            </p:cNvPr>
            <p:cNvSpPr>
              <a:spLocks noChangeArrowheads="1"/>
            </p:cNvSpPr>
            <p:nvPr/>
          </p:nvSpPr>
          <p:spPr bwMode="auto">
            <a:xfrm>
              <a:off x="7970364" y="1982092"/>
              <a:ext cx="90040" cy="90040"/>
            </a:xfrm>
            <a:prstGeom prst="ellipse">
              <a:avLst/>
            </a:pr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36">
              <a:extLst>
                <a:ext uri="{FF2B5EF4-FFF2-40B4-BE49-F238E27FC236}">
                  <a16:creationId xmlns:a16="http://schemas.microsoft.com/office/drawing/2014/main" id="{D40379FE-40A8-C6E5-B413-AEAC01A6F570}"/>
                </a:ext>
              </a:extLst>
            </p:cNvPr>
            <p:cNvSpPr>
              <a:spLocks noEditPoints="1"/>
            </p:cNvSpPr>
            <p:nvPr/>
          </p:nvSpPr>
          <p:spPr bwMode="auto">
            <a:xfrm>
              <a:off x="7882860" y="1895857"/>
              <a:ext cx="263781" cy="263781"/>
            </a:xfrm>
            <a:custGeom>
              <a:avLst/>
              <a:gdLst>
                <a:gd name="T0" fmla="*/ 88 w 88"/>
                <a:gd name="T1" fmla="*/ 44 h 88"/>
                <a:gd name="T2" fmla="*/ 79 w 88"/>
                <a:gd name="T3" fmla="*/ 35 h 88"/>
                <a:gd name="T4" fmla="*/ 82 w 88"/>
                <a:gd name="T5" fmla="*/ 22 h 88"/>
                <a:gd name="T6" fmla="*/ 70 w 88"/>
                <a:gd name="T7" fmla="*/ 19 h 88"/>
                <a:gd name="T8" fmla="*/ 66 w 88"/>
                <a:gd name="T9" fmla="*/ 6 h 88"/>
                <a:gd name="T10" fmla="*/ 53 w 88"/>
                <a:gd name="T11" fmla="*/ 9 h 88"/>
                <a:gd name="T12" fmla="*/ 44 w 88"/>
                <a:gd name="T13" fmla="*/ 0 h 88"/>
                <a:gd name="T14" fmla="*/ 35 w 88"/>
                <a:gd name="T15" fmla="*/ 9 h 88"/>
                <a:gd name="T16" fmla="*/ 22 w 88"/>
                <a:gd name="T17" fmla="*/ 6 h 88"/>
                <a:gd name="T18" fmla="*/ 18 w 88"/>
                <a:gd name="T19" fmla="*/ 19 h 88"/>
                <a:gd name="T20" fmla="*/ 6 w 88"/>
                <a:gd name="T21" fmla="*/ 22 h 88"/>
                <a:gd name="T22" fmla="*/ 9 w 88"/>
                <a:gd name="T23" fmla="*/ 35 h 88"/>
                <a:gd name="T24" fmla="*/ 0 w 88"/>
                <a:gd name="T25" fmla="*/ 44 h 88"/>
                <a:gd name="T26" fmla="*/ 9 w 88"/>
                <a:gd name="T27" fmla="*/ 54 h 88"/>
                <a:gd name="T28" fmla="*/ 6 w 88"/>
                <a:gd name="T29" fmla="*/ 66 h 88"/>
                <a:gd name="T30" fmla="*/ 18 w 88"/>
                <a:gd name="T31" fmla="*/ 70 h 88"/>
                <a:gd name="T32" fmla="*/ 22 w 88"/>
                <a:gd name="T33" fmla="*/ 82 h 88"/>
                <a:gd name="T34" fmla="*/ 35 w 88"/>
                <a:gd name="T35" fmla="*/ 79 h 88"/>
                <a:gd name="T36" fmla="*/ 44 w 88"/>
                <a:gd name="T37" fmla="*/ 88 h 88"/>
                <a:gd name="T38" fmla="*/ 53 w 88"/>
                <a:gd name="T39" fmla="*/ 79 h 88"/>
                <a:gd name="T40" fmla="*/ 66 w 88"/>
                <a:gd name="T41" fmla="*/ 82 h 88"/>
                <a:gd name="T42" fmla="*/ 70 w 88"/>
                <a:gd name="T43" fmla="*/ 70 h 88"/>
                <a:gd name="T44" fmla="*/ 82 w 88"/>
                <a:gd name="T45" fmla="*/ 66 h 88"/>
                <a:gd name="T46" fmla="*/ 79 w 88"/>
                <a:gd name="T47" fmla="*/ 54 h 88"/>
                <a:gd name="T48" fmla="*/ 88 w 88"/>
                <a:gd name="T49" fmla="*/ 44 h 88"/>
                <a:gd name="T50" fmla="*/ 44 w 88"/>
                <a:gd name="T51" fmla="*/ 69 h 88"/>
                <a:gd name="T52" fmla="*/ 19 w 88"/>
                <a:gd name="T53" fmla="*/ 44 h 88"/>
                <a:gd name="T54" fmla="*/ 44 w 88"/>
                <a:gd name="T55" fmla="*/ 20 h 88"/>
                <a:gd name="T56" fmla="*/ 69 w 88"/>
                <a:gd name="T57" fmla="*/ 44 h 88"/>
                <a:gd name="T58" fmla="*/ 44 w 88"/>
                <a:gd name="T59" fmla="*/ 6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8" h="88">
                  <a:moveTo>
                    <a:pt x="88" y="44"/>
                  </a:moveTo>
                  <a:cubicBezTo>
                    <a:pt x="79" y="35"/>
                    <a:pt x="79" y="35"/>
                    <a:pt x="79" y="35"/>
                  </a:cubicBezTo>
                  <a:cubicBezTo>
                    <a:pt x="82" y="22"/>
                    <a:pt x="82" y="22"/>
                    <a:pt x="82" y="22"/>
                  </a:cubicBezTo>
                  <a:cubicBezTo>
                    <a:pt x="70" y="19"/>
                    <a:pt x="70" y="19"/>
                    <a:pt x="70" y="19"/>
                  </a:cubicBezTo>
                  <a:cubicBezTo>
                    <a:pt x="66" y="6"/>
                    <a:pt x="66" y="6"/>
                    <a:pt x="66" y="6"/>
                  </a:cubicBezTo>
                  <a:cubicBezTo>
                    <a:pt x="53" y="9"/>
                    <a:pt x="53" y="9"/>
                    <a:pt x="53" y="9"/>
                  </a:cubicBezTo>
                  <a:cubicBezTo>
                    <a:pt x="44" y="0"/>
                    <a:pt x="44" y="0"/>
                    <a:pt x="44" y="0"/>
                  </a:cubicBezTo>
                  <a:cubicBezTo>
                    <a:pt x="35" y="9"/>
                    <a:pt x="35" y="9"/>
                    <a:pt x="35" y="9"/>
                  </a:cubicBezTo>
                  <a:cubicBezTo>
                    <a:pt x="22" y="6"/>
                    <a:pt x="22" y="6"/>
                    <a:pt x="22" y="6"/>
                  </a:cubicBezTo>
                  <a:cubicBezTo>
                    <a:pt x="18" y="19"/>
                    <a:pt x="18" y="19"/>
                    <a:pt x="18" y="19"/>
                  </a:cubicBezTo>
                  <a:cubicBezTo>
                    <a:pt x="6" y="22"/>
                    <a:pt x="6" y="22"/>
                    <a:pt x="6" y="22"/>
                  </a:cubicBezTo>
                  <a:cubicBezTo>
                    <a:pt x="9" y="35"/>
                    <a:pt x="9" y="35"/>
                    <a:pt x="9" y="35"/>
                  </a:cubicBezTo>
                  <a:cubicBezTo>
                    <a:pt x="0" y="44"/>
                    <a:pt x="0" y="44"/>
                    <a:pt x="0" y="44"/>
                  </a:cubicBezTo>
                  <a:cubicBezTo>
                    <a:pt x="9" y="54"/>
                    <a:pt x="9" y="54"/>
                    <a:pt x="9" y="54"/>
                  </a:cubicBezTo>
                  <a:cubicBezTo>
                    <a:pt x="6" y="66"/>
                    <a:pt x="6" y="66"/>
                    <a:pt x="6" y="66"/>
                  </a:cubicBezTo>
                  <a:cubicBezTo>
                    <a:pt x="18" y="70"/>
                    <a:pt x="18" y="70"/>
                    <a:pt x="18" y="70"/>
                  </a:cubicBezTo>
                  <a:cubicBezTo>
                    <a:pt x="22" y="82"/>
                    <a:pt x="22" y="82"/>
                    <a:pt x="22" y="82"/>
                  </a:cubicBezTo>
                  <a:cubicBezTo>
                    <a:pt x="35" y="79"/>
                    <a:pt x="35" y="79"/>
                    <a:pt x="35" y="79"/>
                  </a:cubicBezTo>
                  <a:cubicBezTo>
                    <a:pt x="44" y="88"/>
                    <a:pt x="44" y="88"/>
                    <a:pt x="44" y="88"/>
                  </a:cubicBezTo>
                  <a:cubicBezTo>
                    <a:pt x="53" y="79"/>
                    <a:pt x="53" y="79"/>
                    <a:pt x="53" y="79"/>
                  </a:cubicBezTo>
                  <a:cubicBezTo>
                    <a:pt x="66" y="82"/>
                    <a:pt x="66" y="82"/>
                    <a:pt x="66" y="82"/>
                  </a:cubicBezTo>
                  <a:cubicBezTo>
                    <a:pt x="70" y="70"/>
                    <a:pt x="70" y="70"/>
                    <a:pt x="70" y="70"/>
                  </a:cubicBezTo>
                  <a:cubicBezTo>
                    <a:pt x="82" y="66"/>
                    <a:pt x="82" y="66"/>
                    <a:pt x="82" y="66"/>
                  </a:cubicBezTo>
                  <a:cubicBezTo>
                    <a:pt x="79" y="54"/>
                    <a:pt x="79" y="54"/>
                    <a:pt x="79" y="54"/>
                  </a:cubicBezTo>
                  <a:lnTo>
                    <a:pt x="88" y="44"/>
                  </a:lnTo>
                  <a:close/>
                  <a:moveTo>
                    <a:pt x="44" y="69"/>
                  </a:moveTo>
                  <a:cubicBezTo>
                    <a:pt x="30" y="69"/>
                    <a:pt x="19" y="58"/>
                    <a:pt x="19" y="44"/>
                  </a:cubicBezTo>
                  <a:cubicBezTo>
                    <a:pt x="19" y="31"/>
                    <a:pt x="30" y="20"/>
                    <a:pt x="44" y="20"/>
                  </a:cubicBezTo>
                  <a:cubicBezTo>
                    <a:pt x="58" y="20"/>
                    <a:pt x="69" y="31"/>
                    <a:pt x="69" y="44"/>
                  </a:cubicBezTo>
                  <a:cubicBezTo>
                    <a:pt x="69" y="58"/>
                    <a:pt x="58" y="69"/>
                    <a:pt x="44" y="69"/>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137">
              <a:extLst>
                <a:ext uri="{FF2B5EF4-FFF2-40B4-BE49-F238E27FC236}">
                  <a16:creationId xmlns:a16="http://schemas.microsoft.com/office/drawing/2014/main" id="{4E1B2C47-86E4-560C-13F5-5E1BC1027115}"/>
                </a:ext>
              </a:extLst>
            </p:cNvPr>
            <p:cNvSpPr>
              <a:spLocks/>
            </p:cNvSpPr>
            <p:nvPr/>
          </p:nvSpPr>
          <p:spPr bwMode="auto">
            <a:xfrm>
              <a:off x="7970364" y="2165978"/>
              <a:ext cx="90040" cy="114136"/>
            </a:xfrm>
            <a:custGeom>
              <a:avLst/>
              <a:gdLst>
                <a:gd name="T0" fmla="*/ 52 w 71"/>
                <a:gd name="T1" fmla="*/ 12 h 90"/>
                <a:gd name="T2" fmla="*/ 35 w 71"/>
                <a:gd name="T3" fmla="*/ 28 h 90"/>
                <a:gd name="T4" fmla="*/ 19 w 71"/>
                <a:gd name="T5" fmla="*/ 12 h 90"/>
                <a:gd name="T6" fmla="*/ 7 w 71"/>
                <a:gd name="T7" fmla="*/ 0 h 90"/>
                <a:gd name="T8" fmla="*/ 0 w 71"/>
                <a:gd name="T9" fmla="*/ 2 h 90"/>
                <a:gd name="T10" fmla="*/ 0 w 71"/>
                <a:gd name="T11" fmla="*/ 90 h 90"/>
                <a:gd name="T12" fmla="*/ 35 w 71"/>
                <a:gd name="T13" fmla="*/ 57 h 90"/>
                <a:gd name="T14" fmla="*/ 71 w 71"/>
                <a:gd name="T15" fmla="*/ 90 h 90"/>
                <a:gd name="T16" fmla="*/ 71 w 71"/>
                <a:gd name="T17" fmla="*/ 2 h 90"/>
                <a:gd name="T18" fmla="*/ 64 w 71"/>
                <a:gd name="T19" fmla="*/ 0 h 90"/>
                <a:gd name="T20" fmla="*/ 52 w 71"/>
                <a:gd name="T21"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90">
                  <a:moveTo>
                    <a:pt x="52" y="12"/>
                  </a:moveTo>
                  <a:lnTo>
                    <a:pt x="35" y="28"/>
                  </a:lnTo>
                  <a:lnTo>
                    <a:pt x="19" y="12"/>
                  </a:lnTo>
                  <a:lnTo>
                    <a:pt x="7" y="0"/>
                  </a:lnTo>
                  <a:lnTo>
                    <a:pt x="0" y="2"/>
                  </a:lnTo>
                  <a:lnTo>
                    <a:pt x="0" y="90"/>
                  </a:lnTo>
                  <a:lnTo>
                    <a:pt x="35" y="57"/>
                  </a:lnTo>
                  <a:lnTo>
                    <a:pt x="71" y="90"/>
                  </a:lnTo>
                  <a:lnTo>
                    <a:pt x="71" y="2"/>
                  </a:lnTo>
                  <a:lnTo>
                    <a:pt x="64" y="0"/>
                  </a:lnTo>
                  <a:lnTo>
                    <a:pt x="52" y="12"/>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5" name="组合 34">
            <a:extLst>
              <a:ext uri="{FF2B5EF4-FFF2-40B4-BE49-F238E27FC236}">
                <a16:creationId xmlns:a16="http://schemas.microsoft.com/office/drawing/2014/main" id="{B21E19DE-0C95-3284-F647-832DFA2A174E}"/>
              </a:ext>
            </a:extLst>
          </p:cNvPr>
          <p:cNvGrpSpPr/>
          <p:nvPr/>
        </p:nvGrpSpPr>
        <p:grpSpPr>
          <a:xfrm>
            <a:off x="847882" y="5817142"/>
            <a:ext cx="197280" cy="258224"/>
            <a:chOff x="7882860" y="1895857"/>
            <a:chExt cx="263781" cy="384257"/>
          </a:xfrm>
        </p:grpSpPr>
        <p:sp>
          <p:nvSpPr>
            <p:cNvPr id="36" name="Oval 135">
              <a:extLst>
                <a:ext uri="{FF2B5EF4-FFF2-40B4-BE49-F238E27FC236}">
                  <a16:creationId xmlns:a16="http://schemas.microsoft.com/office/drawing/2014/main" id="{3965C31F-E64D-7177-2C08-68D4C228930B}"/>
                </a:ext>
              </a:extLst>
            </p:cNvPr>
            <p:cNvSpPr>
              <a:spLocks noChangeArrowheads="1"/>
            </p:cNvSpPr>
            <p:nvPr/>
          </p:nvSpPr>
          <p:spPr bwMode="auto">
            <a:xfrm>
              <a:off x="7970364" y="1982092"/>
              <a:ext cx="90040" cy="90040"/>
            </a:xfrm>
            <a:prstGeom prst="ellipse">
              <a:avLst/>
            </a:pr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36">
              <a:extLst>
                <a:ext uri="{FF2B5EF4-FFF2-40B4-BE49-F238E27FC236}">
                  <a16:creationId xmlns:a16="http://schemas.microsoft.com/office/drawing/2014/main" id="{81294790-7CF8-2368-3E9A-F8907BC7D6D4}"/>
                </a:ext>
              </a:extLst>
            </p:cNvPr>
            <p:cNvSpPr>
              <a:spLocks noEditPoints="1"/>
            </p:cNvSpPr>
            <p:nvPr/>
          </p:nvSpPr>
          <p:spPr bwMode="auto">
            <a:xfrm>
              <a:off x="7882860" y="1895857"/>
              <a:ext cx="263781" cy="263781"/>
            </a:xfrm>
            <a:custGeom>
              <a:avLst/>
              <a:gdLst>
                <a:gd name="T0" fmla="*/ 88 w 88"/>
                <a:gd name="T1" fmla="*/ 44 h 88"/>
                <a:gd name="T2" fmla="*/ 79 w 88"/>
                <a:gd name="T3" fmla="*/ 35 h 88"/>
                <a:gd name="T4" fmla="*/ 82 w 88"/>
                <a:gd name="T5" fmla="*/ 22 h 88"/>
                <a:gd name="T6" fmla="*/ 70 w 88"/>
                <a:gd name="T7" fmla="*/ 19 h 88"/>
                <a:gd name="T8" fmla="*/ 66 w 88"/>
                <a:gd name="T9" fmla="*/ 6 h 88"/>
                <a:gd name="T10" fmla="*/ 53 w 88"/>
                <a:gd name="T11" fmla="*/ 9 h 88"/>
                <a:gd name="T12" fmla="*/ 44 w 88"/>
                <a:gd name="T13" fmla="*/ 0 h 88"/>
                <a:gd name="T14" fmla="*/ 35 w 88"/>
                <a:gd name="T15" fmla="*/ 9 h 88"/>
                <a:gd name="T16" fmla="*/ 22 w 88"/>
                <a:gd name="T17" fmla="*/ 6 h 88"/>
                <a:gd name="T18" fmla="*/ 18 w 88"/>
                <a:gd name="T19" fmla="*/ 19 h 88"/>
                <a:gd name="T20" fmla="*/ 6 w 88"/>
                <a:gd name="T21" fmla="*/ 22 h 88"/>
                <a:gd name="T22" fmla="*/ 9 w 88"/>
                <a:gd name="T23" fmla="*/ 35 h 88"/>
                <a:gd name="T24" fmla="*/ 0 w 88"/>
                <a:gd name="T25" fmla="*/ 44 h 88"/>
                <a:gd name="T26" fmla="*/ 9 w 88"/>
                <a:gd name="T27" fmla="*/ 54 h 88"/>
                <a:gd name="T28" fmla="*/ 6 w 88"/>
                <a:gd name="T29" fmla="*/ 66 h 88"/>
                <a:gd name="T30" fmla="*/ 18 w 88"/>
                <a:gd name="T31" fmla="*/ 70 h 88"/>
                <a:gd name="T32" fmla="*/ 22 w 88"/>
                <a:gd name="T33" fmla="*/ 82 h 88"/>
                <a:gd name="T34" fmla="*/ 35 w 88"/>
                <a:gd name="T35" fmla="*/ 79 h 88"/>
                <a:gd name="T36" fmla="*/ 44 w 88"/>
                <a:gd name="T37" fmla="*/ 88 h 88"/>
                <a:gd name="T38" fmla="*/ 53 w 88"/>
                <a:gd name="T39" fmla="*/ 79 h 88"/>
                <a:gd name="T40" fmla="*/ 66 w 88"/>
                <a:gd name="T41" fmla="*/ 82 h 88"/>
                <a:gd name="T42" fmla="*/ 70 w 88"/>
                <a:gd name="T43" fmla="*/ 70 h 88"/>
                <a:gd name="T44" fmla="*/ 82 w 88"/>
                <a:gd name="T45" fmla="*/ 66 h 88"/>
                <a:gd name="T46" fmla="*/ 79 w 88"/>
                <a:gd name="T47" fmla="*/ 54 h 88"/>
                <a:gd name="T48" fmla="*/ 88 w 88"/>
                <a:gd name="T49" fmla="*/ 44 h 88"/>
                <a:gd name="T50" fmla="*/ 44 w 88"/>
                <a:gd name="T51" fmla="*/ 69 h 88"/>
                <a:gd name="T52" fmla="*/ 19 w 88"/>
                <a:gd name="T53" fmla="*/ 44 h 88"/>
                <a:gd name="T54" fmla="*/ 44 w 88"/>
                <a:gd name="T55" fmla="*/ 20 h 88"/>
                <a:gd name="T56" fmla="*/ 69 w 88"/>
                <a:gd name="T57" fmla="*/ 44 h 88"/>
                <a:gd name="T58" fmla="*/ 44 w 88"/>
                <a:gd name="T59" fmla="*/ 6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8" h="88">
                  <a:moveTo>
                    <a:pt x="88" y="44"/>
                  </a:moveTo>
                  <a:cubicBezTo>
                    <a:pt x="79" y="35"/>
                    <a:pt x="79" y="35"/>
                    <a:pt x="79" y="35"/>
                  </a:cubicBezTo>
                  <a:cubicBezTo>
                    <a:pt x="82" y="22"/>
                    <a:pt x="82" y="22"/>
                    <a:pt x="82" y="22"/>
                  </a:cubicBezTo>
                  <a:cubicBezTo>
                    <a:pt x="70" y="19"/>
                    <a:pt x="70" y="19"/>
                    <a:pt x="70" y="19"/>
                  </a:cubicBezTo>
                  <a:cubicBezTo>
                    <a:pt x="66" y="6"/>
                    <a:pt x="66" y="6"/>
                    <a:pt x="66" y="6"/>
                  </a:cubicBezTo>
                  <a:cubicBezTo>
                    <a:pt x="53" y="9"/>
                    <a:pt x="53" y="9"/>
                    <a:pt x="53" y="9"/>
                  </a:cubicBezTo>
                  <a:cubicBezTo>
                    <a:pt x="44" y="0"/>
                    <a:pt x="44" y="0"/>
                    <a:pt x="44" y="0"/>
                  </a:cubicBezTo>
                  <a:cubicBezTo>
                    <a:pt x="35" y="9"/>
                    <a:pt x="35" y="9"/>
                    <a:pt x="35" y="9"/>
                  </a:cubicBezTo>
                  <a:cubicBezTo>
                    <a:pt x="22" y="6"/>
                    <a:pt x="22" y="6"/>
                    <a:pt x="22" y="6"/>
                  </a:cubicBezTo>
                  <a:cubicBezTo>
                    <a:pt x="18" y="19"/>
                    <a:pt x="18" y="19"/>
                    <a:pt x="18" y="19"/>
                  </a:cubicBezTo>
                  <a:cubicBezTo>
                    <a:pt x="6" y="22"/>
                    <a:pt x="6" y="22"/>
                    <a:pt x="6" y="22"/>
                  </a:cubicBezTo>
                  <a:cubicBezTo>
                    <a:pt x="9" y="35"/>
                    <a:pt x="9" y="35"/>
                    <a:pt x="9" y="35"/>
                  </a:cubicBezTo>
                  <a:cubicBezTo>
                    <a:pt x="0" y="44"/>
                    <a:pt x="0" y="44"/>
                    <a:pt x="0" y="44"/>
                  </a:cubicBezTo>
                  <a:cubicBezTo>
                    <a:pt x="9" y="54"/>
                    <a:pt x="9" y="54"/>
                    <a:pt x="9" y="54"/>
                  </a:cubicBezTo>
                  <a:cubicBezTo>
                    <a:pt x="6" y="66"/>
                    <a:pt x="6" y="66"/>
                    <a:pt x="6" y="66"/>
                  </a:cubicBezTo>
                  <a:cubicBezTo>
                    <a:pt x="18" y="70"/>
                    <a:pt x="18" y="70"/>
                    <a:pt x="18" y="70"/>
                  </a:cubicBezTo>
                  <a:cubicBezTo>
                    <a:pt x="22" y="82"/>
                    <a:pt x="22" y="82"/>
                    <a:pt x="22" y="82"/>
                  </a:cubicBezTo>
                  <a:cubicBezTo>
                    <a:pt x="35" y="79"/>
                    <a:pt x="35" y="79"/>
                    <a:pt x="35" y="79"/>
                  </a:cubicBezTo>
                  <a:cubicBezTo>
                    <a:pt x="44" y="88"/>
                    <a:pt x="44" y="88"/>
                    <a:pt x="44" y="88"/>
                  </a:cubicBezTo>
                  <a:cubicBezTo>
                    <a:pt x="53" y="79"/>
                    <a:pt x="53" y="79"/>
                    <a:pt x="53" y="79"/>
                  </a:cubicBezTo>
                  <a:cubicBezTo>
                    <a:pt x="66" y="82"/>
                    <a:pt x="66" y="82"/>
                    <a:pt x="66" y="82"/>
                  </a:cubicBezTo>
                  <a:cubicBezTo>
                    <a:pt x="70" y="70"/>
                    <a:pt x="70" y="70"/>
                    <a:pt x="70" y="70"/>
                  </a:cubicBezTo>
                  <a:cubicBezTo>
                    <a:pt x="82" y="66"/>
                    <a:pt x="82" y="66"/>
                    <a:pt x="82" y="66"/>
                  </a:cubicBezTo>
                  <a:cubicBezTo>
                    <a:pt x="79" y="54"/>
                    <a:pt x="79" y="54"/>
                    <a:pt x="79" y="54"/>
                  </a:cubicBezTo>
                  <a:lnTo>
                    <a:pt x="88" y="44"/>
                  </a:lnTo>
                  <a:close/>
                  <a:moveTo>
                    <a:pt x="44" y="69"/>
                  </a:moveTo>
                  <a:cubicBezTo>
                    <a:pt x="30" y="69"/>
                    <a:pt x="19" y="58"/>
                    <a:pt x="19" y="44"/>
                  </a:cubicBezTo>
                  <a:cubicBezTo>
                    <a:pt x="19" y="31"/>
                    <a:pt x="30" y="20"/>
                    <a:pt x="44" y="20"/>
                  </a:cubicBezTo>
                  <a:cubicBezTo>
                    <a:pt x="58" y="20"/>
                    <a:pt x="69" y="31"/>
                    <a:pt x="69" y="44"/>
                  </a:cubicBezTo>
                  <a:cubicBezTo>
                    <a:pt x="69" y="58"/>
                    <a:pt x="58" y="69"/>
                    <a:pt x="44" y="69"/>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37">
              <a:extLst>
                <a:ext uri="{FF2B5EF4-FFF2-40B4-BE49-F238E27FC236}">
                  <a16:creationId xmlns:a16="http://schemas.microsoft.com/office/drawing/2014/main" id="{D9E795A8-764D-6928-2221-5CE8625085CE}"/>
                </a:ext>
              </a:extLst>
            </p:cNvPr>
            <p:cNvSpPr>
              <a:spLocks/>
            </p:cNvSpPr>
            <p:nvPr/>
          </p:nvSpPr>
          <p:spPr bwMode="auto">
            <a:xfrm>
              <a:off x="7970364" y="2165978"/>
              <a:ext cx="90040" cy="114136"/>
            </a:xfrm>
            <a:custGeom>
              <a:avLst/>
              <a:gdLst>
                <a:gd name="T0" fmla="*/ 52 w 71"/>
                <a:gd name="T1" fmla="*/ 12 h 90"/>
                <a:gd name="T2" fmla="*/ 35 w 71"/>
                <a:gd name="T3" fmla="*/ 28 h 90"/>
                <a:gd name="T4" fmla="*/ 19 w 71"/>
                <a:gd name="T5" fmla="*/ 12 h 90"/>
                <a:gd name="T6" fmla="*/ 7 w 71"/>
                <a:gd name="T7" fmla="*/ 0 h 90"/>
                <a:gd name="T8" fmla="*/ 0 w 71"/>
                <a:gd name="T9" fmla="*/ 2 h 90"/>
                <a:gd name="T10" fmla="*/ 0 w 71"/>
                <a:gd name="T11" fmla="*/ 90 h 90"/>
                <a:gd name="T12" fmla="*/ 35 w 71"/>
                <a:gd name="T13" fmla="*/ 57 h 90"/>
                <a:gd name="T14" fmla="*/ 71 w 71"/>
                <a:gd name="T15" fmla="*/ 90 h 90"/>
                <a:gd name="T16" fmla="*/ 71 w 71"/>
                <a:gd name="T17" fmla="*/ 2 h 90"/>
                <a:gd name="T18" fmla="*/ 64 w 71"/>
                <a:gd name="T19" fmla="*/ 0 h 90"/>
                <a:gd name="T20" fmla="*/ 52 w 71"/>
                <a:gd name="T21"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90">
                  <a:moveTo>
                    <a:pt x="52" y="12"/>
                  </a:moveTo>
                  <a:lnTo>
                    <a:pt x="35" y="28"/>
                  </a:lnTo>
                  <a:lnTo>
                    <a:pt x="19" y="12"/>
                  </a:lnTo>
                  <a:lnTo>
                    <a:pt x="7" y="0"/>
                  </a:lnTo>
                  <a:lnTo>
                    <a:pt x="0" y="2"/>
                  </a:lnTo>
                  <a:lnTo>
                    <a:pt x="0" y="90"/>
                  </a:lnTo>
                  <a:lnTo>
                    <a:pt x="35" y="57"/>
                  </a:lnTo>
                  <a:lnTo>
                    <a:pt x="71" y="90"/>
                  </a:lnTo>
                  <a:lnTo>
                    <a:pt x="71" y="2"/>
                  </a:lnTo>
                  <a:lnTo>
                    <a:pt x="64" y="0"/>
                  </a:lnTo>
                  <a:lnTo>
                    <a:pt x="52" y="12"/>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6" name="文本框 5">
            <a:extLst>
              <a:ext uri="{FF2B5EF4-FFF2-40B4-BE49-F238E27FC236}">
                <a16:creationId xmlns:a16="http://schemas.microsoft.com/office/drawing/2014/main" id="{BE5CEB18-F6E3-FE7D-4C85-F94CA773FE09}"/>
              </a:ext>
            </a:extLst>
          </p:cNvPr>
          <p:cNvSpPr txBox="1"/>
          <p:nvPr/>
        </p:nvSpPr>
        <p:spPr>
          <a:xfrm>
            <a:off x="1098557" y="5752201"/>
            <a:ext cx="6096000" cy="646331"/>
          </a:xfrm>
          <a:prstGeom prst="rect">
            <a:avLst/>
          </a:prstGeom>
          <a:noFill/>
        </p:spPr>
        <p:txBody>
          <a:bodyPr wrap="square">
            <a:spAutoFit/>
          </a:bodyPr>
          <a:lstStyle/>
          <a:p>
            <a:pPr algn="l">
              <a:spcAft>
                <a:spcPts val="1500"/>
              </a:spcAft>
            </a:pPr>
            <a:r>
              <a:rPr lang="zh-CN" altLang="en-US" b="1" dirty="0"/>
              <a:t>效果：</a:t>
            </a:r>
            <a:r>
              <a:rPr lang="en-US" altLang="zh-CN" dirty="0"/>
              <a:t>FA </a:t>
            </a:r>
            <a:r>
              <a:rPr lang="zh-CN" altLang="en-US" dirty="0"/>
              <a:t>能够有效处理连续变量与离散变量混合的复杂优化问题。</a:t>
            </a:r>
          </a:p>
        </p:txBody>
      </p:sp>
      <p:pic>
        <p:nvPicPr>
          <p:cNvPr id="9218" name="Picture 2">
            <a:extLst>
              <a:ext uri="{FF2B5EF4-FFF2-40B4-BE49-F238E27FC236}">
                <a16:creationId xmlns:a16="http://schemas.microsoft.com/office/drawing/2014/main" id="{DB3293E9-BAE9-C838-3A89-AF71FA544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2394" y="2293828"/>
            <a:ext cx="3600450" cy="254317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6C6C96E8-6AAD-D39E-8EC2-0B35791DA9BB}"/>
              </a:ext>
            </a:extLst>
          </p:cNvPr>
          <p:cNvSpPr txBox="1"/>
          <p:nvPr/>
        </p:nvSpPr>
        <p:spPr>
          <a:xfrm>
            <a:off x="7772833" y="4993534"/>
            <a:ext cx="3259571" cy="646331"/>
          </a:xfrm>
          <a:prstGeom prst="rect">
            <a:avLst/>
          </a:prstGeom>
          <a:noFill/>
        </p:spPr>
        <p:txBody>
          <a:bodyPr wrap="square">
            <a:spAutoFit/>
          </a:bodyPr>
          <a:lstStyle/>
          <a:p>
            <a:r>
              <a:rPr lang="zh-CN" altLang="en-US" b="1" dirty="0"/>
              <a:t>使用萤火虫算法解决车辆侧面碰撞的结构设计问题</a:t>
            </a:r>
          </a:p>
        </p:txBody>
      </p:sp>
    </p:spTree>
    <p:extLst>
      <p:ext uri="{BB962C8B-B14F-4D97-AF65-F5344CB8AC3E}">
        <p14:creationId xmlns:p14="http://schemas.microsoft.com/office/powerpoint/2010/main" val="179690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88065-EDCC-E555-73F7-0A013D0EFD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749DA9-B615-866B-04C0-4EE690E735C7}"/>
              </a:ext>
            </a:extLst>
          </p:cNvPr>
          <p:cNvSpPr>
            <a:spLocks noGrp="1"/>
          </p:cNvSpPr>
          <p:nvPr>
            <p:ph type="title"/>
          </p:nvPr>
        </p:nvSpPr>
        <p:spPr/>
        <p:txBody>
          <a:bodyPr/>
          <a:lstStyle/>
          <a:p>
            <a:r>
              <a:rPr lang="en-US" altLang="zh-CN" dirty="0"/>
              <a:t>6 </a:t>
            </a:r>
            <a:r>
              <a:rPr lang="zh-CN" altLang="en-US" dirty="0"/>
              <a:t>应用三：数字图像分割</a:t>
            </a:r>
          </a:p>
        </p:txBody>
      </p:sp>
      <p:sp>
        <p:nvSpPr>
          <p:cNvPr id="12" name="Rectangle 5">
            <a:extLst>
              <a:ext uri="{FF2B5EF4-FFF2-40B4-BE49-F238E27FC236}">
                <a16:creationId xmlns:a16="http://schemas.microsoft.com/office/drawing/2014/main" id="{52059A1A-36F0-566A-2C7C-E78DD305A125}"/>
              </a:ext>
            </a:extLst>
          </p:cNvPr>
          <p:cNvSpPr>
            <a:spLocks noChangeArrowheads="1"/>
          </p:cNvSpPr>
          <p:nvPr/>
        </p:nvSpPr>
        <p:spPr bwMode="auto">
          <a:xfrm>
            <a:off x="792481" y="1362911"/>
            <a:ext cx="4567279" cy="812777"/>
          </a:xfrm>
          <a:prstGeom prst="rect">
            <a:avLst/>
          </a:prstGeom>
          <a:solidFill>
            <a:srgbClr val="00377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sz="4800" b="1" dirty="0">
                <a:solidFill>
                  <a:srgbClr val="00B050"/>
                </a:solidFill>
                <a:latin typeface="+mj-ea"/>
                <a:ea typeface="+mj-ea"/>
              </a:rPr>
              <a:t>数据聚类分析</a:t>
            </a:r>
          </a:p>
        </p:txBody>
      </p:sp>
      <p:grpSp>
        <p:nvGrpSpPr>
          <p:cNvPr id="13" name="组合 12">
            <a:extLst>
              <a:ext uri="{FF2B5EF4-FFF2-40B4-BE49-F238E27FC236}">
                <a16:creationId xmlns:a16="http://schemas.microsoft.com/office/drawing/2014/main" id="{7608AE18-30C8-331B-6AF9-156971CD0674}"/>
              </a:ext>
            </a:extLst>
          </p:cNvPr>
          <p:cNvGrpSpPr/>
          <p:nvPr/>
        </p:nvGrpSpPr>
        <p:grpSpPr>
          <a:xfrm>
            <a:off x="858982" y="2992976"/>
            <a:ext cx="197280" cy="258224"/>
            <a:chOff x="7882860" y="1895857"/>
            <a:chExt cx="263781" cy="384257"/>
          </a:xfrm>
        </p:grpSpPr>
        <p:sp>
          <p:nvSpPr>
            <p:cNvPr id="14" name="Oval 135">
              <a:extLst>
                <a:ext uri="{FF2B5EF4-FFF2-40B4-BE49-F238E27FC236}">
                  <a16:creationId xmlns:a16="http://schemas.microsoft.com/office/drawing/2014/main" id="{9A8B0962-0EB7-A8E9-2433-829E3248F6DC}"/>
                </a:ext>
              </a:extLst>
            </p:cNvPr>
            <p:cNvSpPr>
              <a:spLocks noChangeArrowheads="1"/>
            </p:cNvSpPr>
            <p:nvPr/>
          </p:nvSpPr>
          <p:spPr bwMode="auto">
            <a:xfrm>
              <a:off x="7970364" y="1982092"/>
              <a:ext cx="90040" cy="90040"/>
            </a:xfrm>
            <a:prstGeom prst="ellipse">
              <a:avLst/>
            </a:pr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136">
              <a:extLst>
                <a:ext uri="{FF2B5EF4-FFF2-40B4-BE49-F238E27FC236}">
                  <a16:creationId xmlns:a16="http://schemas.microsoft.com/office/drawing/2014/main" id="{73221748-BA05-6D42-9A42-F5EF067D2724}"/>
                </a:ext>
              </a:extLst>
            </p:cNvPr>
            <p:cNvSpPr>
              <a:spLocks noEditPoints="1"/>
            </p:cNvSpPr>
            <p:nvPr/>
          </p:nvSpPr>
          <p:spPr bwMode="auto">
            <a:xfrm>
              <a:off x="7882860" y="1895857"/>
              <a:ext cx="263781" cy="263781"/>
            </a:xfrm>
            <a:custGeom>
              <a:avLst/>
              <a:gdLst>
                <a:gd name="T0" fmla="*/ 88 w 88"/>
                <a:gd name="T1" fmla="*/ 44 h 88"/>
                <a:gd name="T2" fmla="*/ 79 w 88"/>
                <a:gd name="T3" fmla="*/ 35 h 88"/>
                <a:gd name="T4" fmla="*/ 82 w 88"/>
                <a:gd name="T5" fmla="*/ 22 h 88"/>
                <a:gd name="T6" fmla="*/ 70 w 88"/>
                <a:gd name="T7" fmla="*/ 19 h 88"/>
                <a:gd name="T8" fmla="*/ 66 w 88"/>
                <a:gd name="T9" fmla="*/ 6 h 88"/>
                <a:gd name="T10" fmla="*/ 53 w 88"/>
                <a:gd name="T11" fmla="*/ 9 h 88"/>
                <a:gd name="T12" fmla="*/ 44 w 88"/>
                <a:gd name="T13" fmla="*/ 0 h 88"/>
                <a:gd name="T14" fmla="*/ 35 w 88"/>
                <a:gd name="T15" fmla="*/ 9 h 88"/>
                <a:gd name="T16" fmla="*/ 22 w 88"/>
                <a:gd name="T17" fmla="*/ 6 h 88"/>
                <a:gd name="T18" fmla="*/ 18 w 88"/>
                <a:gd name="T19" fmla="*/ 19 h 88"/>
                <a:gd name="T20" fmla="*/ 6 w 88"/>
                <a:gd name="T21" fmla="*/ 22 h 88"/>
                <a:gd name="T22" fmla="*/ 9 w 88"/>
                <a:gd name="T23" fmla="*/ 35 h 88"/>
                <a:gd name="T24" fmla="*/ 0 w 88"/>
                <a:gd name="T25" fmla="*/ 44 h 88"/>
                <a:gd name="T26" fmla="*/ 9 w 88"/>
                <a:gd name="T27" fmla="*/ 54 h 88"/>
                <a:gd name="T28" fmla="*/ 6 w 88"/>
                <a:gd name="T29" fmla="*/ 66 h 88"/>
                <a:gd name="T30" fmla="*/ 18 w 88"/>
                <a:gd name="T31" fmla="*/ 70 h 88"/>
                <a:gd name="T32" fmla="*/ 22 w 88"/>
                <a:gd name="T33" fmla="*/ 82 h 88"/>
                <a:gd name="T34" fmla="*/ 35 w 88"/>
                <a:gd name="T35" fmla="*/ 79 h 88"/>
                <a:gd name="T36" fmla="*/ 44 w 88"/>
                <a:gd name="T37" fmla="*/ 88 h 88"/>
                <a:gd name="T38" fmla="*/ 53 w 88"/>
                <a:gd name="T39" fmla="*/ 79 h 88"/>
                <a:gd name="T40" fmla="*/ 66 w 88"/>
                <a:gd name="T41" fmla="*/ 82 h 88"/>
                <a:gd name="T42" fmla="*/ 70 w 88"/>
                <a:gd name="T43" fmla="*/ 70 h 88"/>
                <a:gd name="T44" fmla="*/ 82 w 88"/>
                <a:gd name="T45" fmla="*/ 66 h 88"/>
                <a:gd name="T46" fmla="*/ 79 w 88"/>
                <a:gd name="T47" fmla="*/ 54 h 88"/>
                <a:gd name="T48" fmla="*/ 88 w 88"/>
                <a:gd name="T49" fmla="*/ 44 h 88"/>
                <a:gd name="T50" fmla="*/ 44 w 88"/>
                <a:gd name="T51" fmla="*/ 69 h 88"/>
                <a:gd name="T52" fmla="*/ 19 w 88"/>
                <a:gd name="T53" fmla="*/ 44 h 88"/>
                <a:gd name="T54" fmla="*/ 44 w 88"/>
                <a:gd name="T55" fmla="*/ 20 h 88"/>
                <a:gd name="T56" fmla="*/ 69 w 88"/>
                <a:gd name="T57" fmla="*/ 44 h 88"/>
                <a:gd name="T58" fmla="*/ 44 w 88"/>
                <a:gd name="T59" fmla="*/ 6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8" h="88">
                  <a:moveTo>
                    <a:pt x="88" y="44"/>
                  </a:moveTo>
                  <a:cubicBezTo>
                    <a:pt x="79" y="35"/>
                    <a:pt x="79" y="35"/>
                    <a:pt x="79" y="35"/>
                  </a:cubicBezTo>
                  <a:cubicBezTo>
                    <a:pt x="82" y="22"/>
                    <a:pt x="82" y="22"/>
                    <a:pt x="82" y="22"/>
                  </a:cubicBezTo>
                  <a:cubicBezTo>
                    <a:pt x="70" y="19"/>
                    <a:pt x="70" y="19"/>
                    <a:pt x="70" y="19"/>
                  </a:cubicBezTo>
                  <a:cubicBezTo>
                    <a:pt x="66" y="6"/>
                    <a:pt x="66" y="6"/>
                    <a:pt x="66" y="6"/>
                  </a:cubicBezTo>
                  <a:cubicBezTo>
                    <a:pt x="53" y="9"/>
                    <a:pt x="53" y="9"/>
                    <a:pt x="53" y="9"/>
                  </a:cubicBezTo>
                  <a:cubicBezTo>
                    <a:pt x="44" y="0"/>
                    <a:pt x="44" y="0"/>
                    <a:pt x="44" y="0"/>
                  </a:cubicBezTo>
                  <a:cubicBezTo>
                    <a:pt x="35" y="9"/>
                    <a:pt x="35" y="9"/>
                    <a:pt x="35" y="9"/>
                  </a:cubicBezTo>
                  <a:cubicBezTo>
                    <a:pt x="22" y="6"/>
                    <a:pt x="22" y="6"/>
                    <a:pt x="22" y="6"/>
                  </a:cubicBezTo>
                  <a:cubicBezTo>
                    <a:pt x="18" y="19"/>
                    <a:pt x="18" y="19"/>
                    <a:pt x="18" y="19"/>
                  </a:cubicBezTo>
                  <a:cubicBezTo>
                    <a:pt x="6" y="22"/>
                    <a:pt x="6" y="22"/>
                    <a:pt x="6" y="22"/>
                  </a:cubicBezTo>
                  <a:cubicBezTo>
                    <a:pt x="9" y="35"/>
                    <a:pt x="9" y="35"/>
                    <a:pt x="9" y="35"/>
                  </a:cubicBezTo>
                  <a:cubicBezTo>
                    <a:pt x="0" y="44"/>
                    <a:pt x="0" y="44"/>
                    <a:pt x="0" y="44"/>
                  </a:cubicBezTo>
                  <a:cubicBezTo>
                    <a:pt x="9" y="54"/>
                    <a:pt x="9" y="54"/>
                    <a:pt x="9" y="54"/>
                  </a:cubicBezTo>
                  <a:cubicBezTo>
                    <a:pt x="6" y="66"/>
                    <a:pt x="6" y="66"/>
                    <a:pt x="6" y="66"/>
                  </a:cubicBezTo>
                  <a:cubicBezTo>
                    <a:pt x="18" y="70"/>
                    <a:pt x="18" y="70"/>
                    <a:pt x="18" y="70"/>
                  </a:cubicBezTo>
                  <a:cubicBezTo>
                    <a:pt x="22" y="82"/>
                    <a:pt x="22" y="82"/>
                    <a:pt x="22" y="82"/>
                  </a:cubicBezTo>
                  <a:cubicBezTo>
                    <a:pt x="35" y="79"/>
                    <a:pt x="35" y="79"/>
                    <a:pt x="35" y="79"/>
                  </a:cubicBezTo>
                  <a:cubicBezTo>
                    <a:pt x="44" y="88"/>
                    <a:pt x="44" y="88"/>
                    <a:pt x="44" y="88"/>
                  </a:cubicBezTo>
                  <a:cubicBezTo>
                    <a:pt x="53" y="79"/>
                    <a:pt x="53" y="79"/>
                    <a:pt x="53" y="79"/>
                  </a:cubicBezTo>
                  <a:cubicBezTo>
                    <a:pt x="66" y="82"/>
                    <a:pt x="66" y="82"/>
                    <a:pt x="66" y="82"/>
                  </a:cubicBezTo>
                  <a:cubicBezTo>
                    <a:pt x="70" y="70"/>
                    <a:pt x="70" y="70"/>
                    <a:pt x="70" y="70"/>
                  </a:cubicBezTo>
                  <a:cubicBezTo>
                    <a:pt x="82" y="66"/>
                    <a:pt x="82" y="66"/>
                    <a:pt x="82" y="66"/>
                  </a:cubicBezTo>
                  <a:cubicBezTo>
                    <a:pt x="79" y="54"/>
                    <a:pt x="79" y="54"/>
                    <a:pt x="79" y="54"/>
                  </a:cubicBezTo>
                  <a:lnTo>
                    <a:pt x="88" y="44"/>
                  </a:lnTo>
                  <a:close/>
                  <a:moveTo>
                    <a:pt x="44" y="69"/>
                  </a:moveTo>
                  <a:cubicBezTo>
                    <a:pt x="30" y="69"/>
                    <a:pt x="19" y="58"/>
                    <a:pt x="19" y="44"/>
                  </a:cubicBezTo>
                  <a:cubicBezTo>
                    <a:pt x="19" y="31"/>
                    <a:pt x="30" y="20"/>
                    <a:pt x="44" y="20"/>
                  </a:cubicBezTo>
                  <a:cubicBezTo>
                    <a:pt x="58" y="20"/>
                    <a:pt x="69" y="31"/>
                    <a:pt x="69" y="44"/>
                  </a:cubicBezTo>
                  <a:cubicBezTo>
                    <a:pt x="69" y="58"/>
                    <a:pt x="58" y="69"/>
                    <a:pt x="44" y="69"/>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137">
              <a:extLst>
                <a:ext uri="{FF2B5EF4-FFF2-40B4-BE49-F238E27FC236}">
                  <a16:creationId xmlns:a16="http://schemas.microsoft.com/office/drawing/2014/main" id="{5C2C7B90-1FA6-2149-98A5-31F03F3AF715}"/>
                </a:ext>
              </a:extLst>
            </p:cNvPr>
            <p:cNvSpPr>
              <a:spLocks/>
            </p:cNvSpPr>
            <p:nvPr/>
          </p:nvSpPr>
          <p:spPr bwMode="auto">
            <a:xfrm>
              <a:off x="7970364" y="2165978"/>
              <a:ext cx="90040" cy="114136"/>
            </a:xfrm>
            <a:custGeom>
              <a:avLst/>
              <a:gdLst>
                <a:gd name="T0" fmla="*/ 52 w 71"/>
                <a:gd name="T1" fmla="*/ 12 h 90"/>
                <a:gd name="T2" fmla="*/ 35 w 71"/>
                <a:gd name="T3" fmla="*/ 28 h 90"/>
                <a:gd name="T4" fmla="*/ 19 w 71"/>
                <a:gd name="T5" fmla="*/ 12 h 90"/>
                <a:gd name="T6" fmla="*/ 7 w 71"/>
                <a:gd name="T7" fmla="*/ 0 h 90"/>
                <a:gd name="T8" fmla="*/ 0 w 71"/>
                <a:gd name="T9" fmla="*/ 2 h 90"/>
                <a:gd name="T10" fmla="*/ 0 w 71"/>
                <a:gd name="T11" fmla="*/ 90 h 90"/>
                <a:gd name="T12" fmla="*/ 35 w 71"/>
                <a:gd name="T13" fmla="*/ 57 h 90"/>
                <a:gd name="T14" fmla="*/ 71 w 71"/>
                <a:gd name="T15" fmla="*/ 90 h 90"/>
                <a:gd name="T16" fmla="*/ 71 w 71"/>
                <a:gd name="T17" fmla="*/ 2 h 90"/>
                <a:gd name="T18" fmla="*/ 64 w 71"/>
                <a:gd name="T19" fmla="*/ 0 h 90"/>
                <a:gd name="T20" fmla="*/ 52 w 71"/>
                <a:gd name="T21"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90">
                  <a:moveTo>
                    <a:pt x="52" y="12"/>
                  </a:moveTo>
                  <a:lnTo>
                    <a:pt x="35" y="28"/>
                  </a:lnTo>
                  <a:lnTo>
                    <a:pt x="19" y="12"/>
                  </a:lnTo>
                  <a:lnTo>
                    <a:pt x="7" y="0"/>
                  </a:lnTo>
                  <a:lnTo>
                    <a:pt x="0" y="2"/>
                  </a:lnTo>
                  <a:lnTo>
                    <a:pt x="0" y="90"/>
                  </a:lnTo>
                  <a:lnTo>
                    <a:pt x="35" y="57"/>
                  </a:lnTo>
                  <a:lnTo>
                    <a:pt x="71" y="90"/>
                  </a:lnTo>
                  <a:lnTo>
                    <a:pt x="71" y="2"/>
                  </a:lnTo>
                  <a:lnTo>
                    <a:pt x="64" y="0"/>
                  </a:lnTo>
                  <a:lnTo>
                    <a:pt x="52" y="12"/>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8" name="文本框 17">
            <a:extLst>
              <a:ext uri="{FF2B5EF4-FFF2-40B4-BE49-F238E27FC236}">
                <a16:creationId xmlns:a16="http://schemas.microsoft.com/office/drawing/2014/main" id="{155B7825-DB2A-3465-D69A-FEC86A2B1E0F}"/>
              </a:ext>
            </a:extLst>
          </p:cNvPr>
          <p:cNvSpPr txBox="1"/>
          <p:nvPr/>
        </p:nvSpPr>
        <p:spPr>
          <a:xfrm>
            <a:off x="1056262" y="2919085"/>
            <a:ext cx="6096000" cy="646331"/>
          </a:xfrm>
          <a:prstGeom prst="rect">
            <a:avLst/>
          </a:prstGeom>
          <a:noFill/>
        </p:spPr>
        <p:txBody>
          <a:bodyPr wrap="square">
            <a:spAutoFit/>
          </a:bodyPr>
          <a:lstStyle/>
          <a:p>
            <a:r>
              <a:rPr lang="zh-CN" altLang="en-US" b="1" dirty="0"/>
              <a:t>传统痛点</a:t>
            </a:r>
            <a:r>
              <a:rPr lang="en-US" altLang="zh-CN" b="1" dirty="0"/>
              <a:t>:</a:t>
            </a:r>
            <a:r>
              <a:rPr lang="zh-CN" altLang="en-US" dirty="0"/>
              <a:t> 经典的 </a:t>
            </a:r>
            <a:r>
              <a:rPr lang="en-US" altLang="zh-CN" dirty="0"/>
              <a:t>K-Means </a:t>
            </a:r>
            <a:r>
              <a:rPr lang="zh-CN" altLang="en-US" dirty="0"/>
              <a:t>算法严重依赖初始中心点的选择，极易陷入局部最优。</a:t>
            </a:r>
          </a:p>
        </p:txBody>
      </p:sp>
      <p:sp>
        <p:nvSpPr>
          <p:cNvPr id="20" name="文本框 19">
            <a:extLst>
              <a:ext uri="{FF2B5EF4-FFF2-40B4-BE49-F238E27FC236}">
                <a16:creationId xmlns:a16="http://schemas.microsoft.com/office/drawing/2014/main" id="{7D47106E-2626-ED22-5DE9-5F31768AED88}"/>
              </a:ext>
            </a:extLst>
          </p:cNvPr>
          <p:cNvSpPr txBox="1"/>
          <p:nvPr/>
        </p:nvSpPr>
        <p:spPr>
          <a:xfrm>
            <a:off x="1056262" y="4178504"/>
            <a:ext cx="6096000" cy="646331"/>
          </a:xfrm>
          <a:prstGeom prst="rect">
            <a:avLst/>
          </a:prstGeom>
          <a:noFill/>
        </p:spPr>
        <p:txBody>
          <a:bodyPr wrap="square">
            <a:spAutoFit/>
          </a:bodyPr>
          <a:lstStyle/>
          <a:p>
            <a:r>
              <a:rPr lang="en-US" altLang="zh-CN" b="1" dirty="0"/>
              <a:t>FA</a:t>
            </a:r>
            <a:r>
              <a:rPr lang="zh-CN" altLang="en-US" b="1" dirty="0"/>
              <a:t>改进策略</a:t>
            </a:r>
            <a:r>
              <a:rPr lang="en-US" altLang="zh-CN" b="1" dirty="0"/>
              <a:t>:</a:t>
            </a:r>
            <a:r>
              <a:rPr lang="zh-CN" altLang="en-US" dirty="0"/>
              <a:t> 将聚类中心看作“萤火虫”，通过亮度（聚类紧凑度）相互吸引。</a:t>
            </a:r>
          </a:p>
        </p:txBody>
      </p:sp>
      <p:grpSp>
        <p:nvGrpSpPr>
          <p:cNvPr id="21" name="组合 20">
            <a:extLst>
              <a:ext uri="{FF2B5EF4-FFF2-40B4-BE49-F238E27FC236}">
                <a16:creationId xmlns:a16="http://schemas.microsoft.com/office/drawing/2014/main" id="{2DF25121-5953-07E6-EF79-189B5A39109B}"/>
              </a:ext>
            </a:extLst>
          </p:cNvPr>
          <p:cNvGrpSpPr/>
          <p:nvPr/>
        </p:nvGrpSpPr>
        <p:grpSpPr>
          <a:xfrm>
            <a:off x="858982" y="4243445"/>
            <a:ext cx="197280" cy="258224"/>
            <a:chOff x="7882860" y="1895857"/>
            <a:chExt cx="263781" cy="384257"/>
          </a:xfrm>
        </p:grpSpPr>
        <p:sp>
          <p:nvSpPr>
            <p:cNvPr id="22" name="Oval 135">
              <a:extLst>
                <a:ext uri="{FF2B5EF4-FFF2-40B4-BE49-F238E27FC236}">
                  <a16:creationId xmlns:a16="http://schemas.microsoft.com/office/drawing/2014/main" id="{CB8587C2-F6F0-7729-66B2-F992EC8BB7D8}"/>
                </a:ext>
              </a:extLst>
            </p:cNvPr>
            <p:cNvSpPr>
              <a:spLocks noChangeArrowheads="1"/>
            </p:cNvSpPr>
            <p:nvPr/>
          </p:nvSpPr>
          <p:spPr bwMode="auto">
            <a:xfrm>
              <a:off x="7970364" y="1982092"/>
              <a:ext cx="90040" cy="90040"/>
            </a:xfrm>
            <a:prstGeom prst="ellipse">
              <a:avLst/>
            </a:pr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36">
              <a:extLst>
                <a:ext uri="{FF2B5EF4-FFF2-40B4-BE49-F238E27FC236}">
                  <a16:creationId xmlns:a16="http://schemas.microsoft.com/office/drawing/2014/main" id="{DB465CEC-3B94-EC52-3B6C-3EEFDA26E4BD}"/>
                </a:ext>
              </a:extLst>
            </p:cNvPr>
            <p:cNvSpPr>
              <a:spLocks noEditPoints="1"/>
            </p:cNvSpPr>
            <p:nvPr/>
          </p:nvSpPr>
          <p:spPr bwMode="auto">
            <a:xfrm>
              <a:off x="7882860" y="1895857"/>
              <a:ext cx="263781" cy="263781"/>
            </a:xfrm>
            <a:custGeom>
              <a:avLst/>
              <a:gdLst>
                <a:gd name="T0" fmla="*/ 88 w 88"/>
                <a:gd name="T1" fmla="*/ 44 h 88"/>
                <a:gd name="T2" fmla="*/ 79 w 88"/>
                <a:gd name="T3" fmla="*/ 35 h 88"/>
                <a:gd name="T4" fmla="*/ 82 w 88"/>
                <a:gd name="T5" fmla="*/ 22 h 88"/>
                <a:gd name="T6" fmla="*/ 70 w 88"/>
                <a:gd name="T7" fmla="*/ 19 h 88"/>
                <a:gd name="T8" fmla="*/ 66 w 88"/>
                <a:gd name="T9" fmla="*/ 6 h 88"/>
                <a:gd name="T10" fmla="*/ 53 w 88"/>
                <a:gd name="T11" fmla="*/ 9 h 88"/>
                <a:gd name="T12" fmla="*/ 44 w 88"/>
                <a:gd name="T13" fmla="*/ 0 h 88"/>
                <a:gd name="T14" fmla="*/ 35 w 88"/>
                <a:gd name="T15" fmla="*/ 9 h 88"/>
                <a:gd name="T16" fmla="*/ 22 w 88"/>
                <a:gd name="T17" fmla="*/ 6 h 88"/>
                <a:gd name="T18" fmla="*/ 18 w 88"/>
                <a:gd name="T19" fmla="*/ 19 h 88"/>
                <a:gd name="T20" fmla="*/ 6 w 88"/>
                <a:gd name="T21" fmla="*/ 22 h 88"/>
                <a:gd name="T22" fmla="*/ 9 w 88"/>
                <a:gd name="T23" fmla="*/ 35 h 88"/>
                <a:gd name="T24" fmla="*/ 0 w 88"/>
                <a:gd name="T25" fmla="*/ 44 h 88"/>
                <a:gd name="T26" fmla="*/ 9 w 88"/>
                <a:gd name="T27" fmla="*/ 54 h 88"/>
                <a:gd name="T28" fmla="*/ 6 w 88"/>
                <a:gd name="T29" fmla="*/ 66 h 88"/>
                <a:gd name="T30" fmla="*/ 18 w 88"/>
                <a:gd name="T31" fmla="*/ 70 h 88"/>
                <a:gd name="T32" fmla="*/ 22 w 88"/>
                <a:gd name="T33" fmla="*/ 82 h 88"/>
                <a:gd name="T34" fmla="*/ 35 w 88"/>
                <a:gd name="T35" fmla="*/ 79 h 88"/>
                <a:gd name="T36" fmla="*/ 44 w 88"/>
                <a:gd name="T37" fmla="*/ 88 h 88"/>
                <a:gd name="T38" fmla="*/ 53 w 88"/>
                <a:gd name="T39" fmla="*/ 79 h 88"/>
                <a:gd name="T40" fmla="*/ 66 w 88"/>
                <a:gd name="T41" fmla="*/ 82 h 88"/>
                <a:gd name="T42" fmla="*/ 70 w 88"/>
                <a:gd name="T43" fmla="*/ 70 h 88"/>
                <a:gd name="T44" fmla="*/ 82 w 88"/>
                <a:gd name="T45" fmla="*/ 66 h 88"/>
                <a:gd name="T46" fmla="*/ 79 w 88"/>
                <a:gd name="T47" fmla="*/ 54 h 88"/>
                <a:gd name="T48" fmla="*/ 88 w 88"/>
                <a:gd name="T49" fmla="*/ 44 h 88"/>
                <a:gd name="T50" fmla="*/ 44 w 88"/>
                <a:gd name="T51" fmla="*/ 69 h 88"/>
                <a:gd name="T52" fmla="*/ 19 w 88"/>
                <a:gd name="T53" fmla="*/ 44 h 88"/>
                <a:gd name="T54" fmla="*/ 44 w 88"/>
                <a:gd name="T55" fmla="*/ 20 h 88"/>
                <a:gd name="T56" fmla="*/ 69 w 88"/>
                <a:gd name="T57" fmla="*/ 44 h 88"/>
                <a:gd name="T58" fmla="*/ 44 w 88"/>
                <a:gd name="T59" fmla="*/ 6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8" h="88">
                  <a:moveTo>
                    <a:pt x="88" y="44"/>
                  </a:moveTo>
                  <a:cubicBezTo>
                    <a:pt x="79" y="35"/>
                    <a:pt x="79" y="35"/>
                    <a:pt x="79" y="35"/>
                  </a:cubicBezTo>
                  <a:cubicBezTo>
                    <a:pt x="82" y="22"/>
                    <a:pt x="82" y="22"/>
                    <a:pt x="82" y="22"/>
                  </a:cubicBezTo>
                  <a:cubicBezTo>
                    <a:pt x="70" y="19"/>
                    <a:pt x="70" y="19"/>
                    <a:pt x="70" y="19"/>
                  </a:cubicBezTo>
                  <a:cubicBezTo>
                    <a:pt x="66" y="6"/>
                    <a:pt x="66" y="6"/>
                    <a:pt x="66" y="6"/>
                  </a:cubicBezTo>
                  <a:cubicBezTo>
                    <a:pt x="53" y="9"/>
                    <a:pt x="53" y="9"/>
                    <a:pt x="53" y="9"/>
                  </a:cubicBezTo>
                  <a:cubicBezTo>
                    <a:pt x="44" y="0"/>
                    <a:pt x="44" y="0"/>
                    <a:pt x="44" y="0"/>
                  </a:cubicBezTo>
                  <a:cubicBezTo>
                    <a:pt x="35" y="9"/>
                    <a:pt x="35" y="9"/>
                    <a:pt x="35" y="9"/>
                  </a:cubicBezTo>
                  <a:cubicBezTo>
                    <a:pt x="22" y="6"/>
                    <a:pt x="22" y="6"/>
                    <a:pt x="22" y="6"/>
                  </a:cubicBezTo>
                  <a:cubicBezTo>
                    <a:pt x="18" y="19"/>
                    <a:pt x="18" y="19"/>
                    <a:pt x="18" y="19"/>
                  </a:cubicBezTo>
                  <a:cubicBezTo>
                    <a:pt x="6" y="22"/>
                    <a:pt x="6" y="22"/>
                    <a:pt x="6" y="22"/>
                  </a:cubicBezTo>
                  <a:cubicBezTo>
                    <a:pt x="9" y="35"/>
                    <a:pt x="9" y="35"/>
                    <a:pt x="9" y="35"/>
                  </a:cubicBezTo>
                  <a:cubicBezTo>
                    <a:pt x="0" y="44"/>
                    <a:pt x="0" y="44"/>
                    <a:pt x="0" y="44"/>
                  </a:cubicBezTo>
                  <a:cubicBezTo>
                    <a:pt x="9" y="54"/>
                    <a:pt x="9" y="54"/>
                    <a:pt x="9" y="54"/>
                  </a:cubicBezTo>
                  <a:cubicBezTo>
                    <a:pt x="6" y="66"/>
                    <a:pt x="6" y="66"/>
                    <a:pt x="6" y="66"/>
                  </a:cubicBezTo>
                  <a:cubicBezTo>
                    <a:pt x="18" y="70"/>
                    <a:pt x="18" y="70"/>
                    <a:pt x="18" y="70"/>
                  </a:cubicBezTo>
                  <a:cubicBezTo>
                    <a:pt x="22" y="82"/>
                    <a:pt x="22" y="82"/>
                    <a:pt x="22" y="82"/>
                  </a:cubicBezTo>
                  <a:cubicBezTo>
                    <a:pt x="35" y="79"/>
                    <a:pt x="35" y="79"/>
                    <a:pt x="35" y="79"/>
                  </a:cubicBezTo>
                  <a:cubicBezTo>
                    <a:pt x="44" y="88"/>
                    <a:pt x="44" y="88"/>
                    <a:pt x="44" y="88"/>
                  </a:cubicBezTo>
                  <a:cubicBezTo>
                    <a:pt x="53" y="79"/>
                    <a:pt x="53" y="79"/>
                    <a:pt x="53" y="79"/>
                  </a:cubicBezTo>
                  <a:cubicBezTo>
                    <a:pt x="66" y="82"/>
                    <a:pt x="66" y="82"/>
                    <a:pt x="66" y="82"/>
                  </a:cubicBezTo>
                  <a:cubicBezTo>
                    <a:pt x="70" y="70"/>
                    <a:pt x="70" y="70"/>
                    <a:pt x="70" y="70"/>
                  </a:cubicBezTo>
                  <a:cubicBezTo>
                    <a:pt x="82" y="66"/>
                    <a:pt x="82" y="66"/>
                    <a:pt x="82" y="66"/>
                  </a:cubicBezTo>
                  <a:cubicBezTo>
                    <a:pt x="79" y="54"/>
                    <a:pt x="79" y="54"/>
                    <a:pt x="79" y="54"/>
                  </a:cubicBezTo>
                  <a:lnTo>
                    <a:pt x="88" y="44"/>
                  </a:lnTo>
                  <a:close/>
                  <a:moveTo>
                    <a:pt x="44" y="69"/>
                  </a:moveTo>
                  <a:cubicBezTo>
                    <a:pt x="30" y="69"/>
                    <a:pt x="19" y="58"/>
                    <a:pt x="19" y="44"/>
                  </a:cubicBezTo>
                  <a:cubicBezTo>
                    <a:pt x="19" y="31"/>
                    <a:pt x="30" y="20"/>
                    <a:pt x="44" y="20"/>
                  </a:cubicBezTo>
                  <a:cubicBezTo>
                    <a:pt x="58" y="20"/>
                    <a:pt x="69" y="31"/>
                    <a:pt x="69" y="44"/>
                  </a:cubicBezTo>
                  <a:cubicBezTo>
                    <a:pt x="69" y="58"/>
                    <a:pt x="58" y="69"/>
                    <a:pt x="44" y="69"/>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137">
              <a:extLst>
                <a:ext uri="{FF2B5EF4-FFF2-40B4-BE49-F238E27FC236}">
                  <a16:creationId xmlns:a16="http://schemas.microsoft.com/office/drawing/2014/main" id="{DF3FBD62-6B98-E724-7015-6E9CFE13192E}"/>
                </a:ext>
              </a:extLst>
            </p:cNvPr>
            <p:cNvSpPr>
              <a:spLocks/>
            </p:cNvSpPr>
            <p:nvPr/>
          </p:nvSpPr>
          <p:spPr bwMode="auto">
            <a:xfrm>
              <a:off x="7970364" y="2165978"/>
              <a:ext cx="90040" cy="114136"/>
            </a:xfrm>
            <a:custGeom>
              <a:avLst/>
              <a:gdLst>
                <a:gd name="T0" fmla="*/ 52 w 71"/>
                <a:gd name="T1" fmla="*/ 12 h 90"/>
                <a:gd name="T2" fmla="*/ 35 w 71"/>
                <a:gd name="T3" fmla="*/ 28 h 90"/>
                <a:gd name="T4" fmla="*/ 19 w 71"/>
                <a:gd name="T5" fmla="*/ 12 h 90"/>
                <a:gd name="T6" fmla="*/ 7 w 71"/>
                <a:gd name="T7" fmla="*/ 0 h 90"/>
                <a:gd name="T8" fmla="*/ 0 w 71"/>
                <a:gd name="T9" fmla="*/ 2 h 90"/>
                <a:gd name="T10" fmla="*/ 0 w 71"/>
                <a:gd name="T11" fmla="*/ 90 h 90"/>
                <a:gd name="T12" fmla="*/ 35 w 71"/>
                <a:gd name="T13" fmla="*/ 57 h 90"/>
                <a:gd name="T14" fmla="*/ 71 w 71"/>
                <a:gd name="T15" fmla="*/ 90 h 90"/>
                <a:gd name="T16" fmla="*/ 71 w 71"/>
                <a:gd name="T17" fmla="*/ 2 h 90"/>
                <a:gd name="T18" fmla="*/ 64 w 71"/>
                <a:gd name="T19" fmla="*/ 0 h 90"/>
                <a:gd name="T20" fmla="*/ 52 w 71"/>
                <a:gd name="T21"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90">
                  <a:moveTo>
                    <a:pt x="52" y="12"/>
                  </a:moveTo>
                  <a:lnTo>
                    <a:pt x="35" y="28"/>
                  </a:lnTo>
                  <a:lnTo>
                    <a:pt x="19" y="12"/>
                  </a:lnTo>
                  <a:lnTo>
                    <a:pt x="7" y="0"/>
                  </a:lnTo>
                  <a:lnTo>
                    <a:pt x="0" y="2"/>
                  </a:lnTo>
                  <a:lnTo>
                    <a:pt x="0" y="90"/>
                  </a:lnTo>
                  <a:lnTo>
                    <a:pt x="35" y="57"/>
                  </a:lnTo>
                  <a:lnTo>
                    <a:pt x="71" y="90"/>
                  </a:lnTo>
                  <a:lnTo>
                    <a:pt x="71" y="2"/>
                  </a:lnTo>
                  <a:lnTo>
                    <a:pt x="64" y="0"/>
                  </a:lnTo>
                  <a:lnTo>
                    <a:pt x="52" y="12"/>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4" name="文本框 33">
            <a:extLst>
              <a:ext uri="{FF2B5EF4-FFF2-40B4-BE49-F238E27FC236}">
                <a16:creationId xmlns:a16="http://schemas.microsoft.com/office/drawing/2014/main" id="{A690367D-D1D4-231E-E9F0-58DB841BAB00}"/>
              </a:ext>
            </a:extLst>
          </p:cNvPr>
          <p:cNvSpPr txBox="1"/>
          <p:nvPr/>
        </p:nvSpPr>
        <p:spPr>
          <a:xfrm>
            <a:off x="1056262" y="5160924"/>
            <a:ext cx="6096000" cy="646331"/>
          </a:xfrm>
          <a:prstGeom prst="rect">
            <a:avLst/>
          </a:prstGeom>
          <a:noFill/>
        </p:spPr>
        <p:txBody>
          <a:bodyPr wrap="square">
            <a:spAutoFit/>
          </a:bodyPr>
          <a:lstStyle/>
          <a:p>
            <a:r>
              <a:rPr lang="zh-CN" altLang="en-US" b="1" dirty="0"/>
              <a:t>结果</a:t>
            </a:r>
            <a:r>
              <a:rPr lang="en-US" altLang="zh-CN" b="1" dirty="0"/>
              <a:t>:</a:t>
            </a:r>
            <a:r>
              <a:rPr lang="zh-CN" altLang="en-US" dirty="0"/>
              <a:t> 能够自动找到全局最优的聚类中心位置，且对初始值不敏感，分类准确率显著提高。</a:t>
            </a:r>
          </a:p>
        </p:txBody>
      </p:sp>
      <p:grpSp>
        <p:nvGrpSpPr>
          <p:cNvPr id="35" name="组合 34">
            <a:extLst>
              <a:ext uri="{FF2B5EF4-FFF2-40B4-BE49-F238E27FC236}">
                <a16:creationId xmlns:a16="http://schemas.microsoft.com/office/drawing/2014/main" id="{821C6C5A-C134-50E4-5BAB-3A87EDE99919}"/>
              </a:ext>
            </a:extLst>
          </p:cNvPr>
          <p:cNvGrpSpPr/>
          <p:nvPr/>
        </p:nvGrpSpPr>
        <p:grpSpPr>
          <a:xfrm>
            <a:off x="858982" y="5239250"/>
            <a:ext cx="197280" cy="258224"/>
            <a:chOff x="7882860" y="1895857"/>
            <a:chExt cx="263781" cy="384257"/>
          </a:xfrm>
        </p:grpSpPr>
        <p:sp>
          <p:nvSpPr>
            <p:cNvPr id="36" name="Oval 135">
              <a:extLst>
                <a:ext uri="{FF2B5EF4-FFF2-40B4-BE49-F238E27FC236}">
                  <a16:creationId xmlns:a16="http://schemas.microsoft.com/office/drawing/2014/main" id="{A5CEDD96-53AD-57A7-85DA-9451DC56981C}"/>
                </a:ext>
              </a:extLst>
            </p:cNvPr>
            <p:cNvSpPr>
              <a:spLocks noChangeArrowheads="1"/>
            </p:cNvSpPr>
            <p:nvPr/>
          </p:nvSpPr>
          <p:spPr bwMode="auto">
            <a:xfrm>
              <a:off x="7970364" y="1982092"/>
              <a:ext cx="90040" cy="90040"/>
            </a:xfrm>
            <a:prstGeom prst="ellipse">
              <a:avLst/>
            </a:pr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36">
              <a:extLst>
                <a:ext uri="{FF2B5EF4-FFF2-40B4-BE49-F238E27FC236}">
                  <a16:creationId xmlns:a16="http://schemas.microsoft.com/office/drawing/2014/main" id="{ED4FFD72-95DF-4CE5-F840-7B1903B42561}"/>
                </a:ext>
              </a:extLst>
            </p:cNvPr>
            <p:cNvSpPr>
              <a:spLocks noEditPoints="1"/>
            </p:cNvSpPr>
            <p:nvPr/>
          </p:nvSpPr>
          <p:spPr bwMode="auto">
            <a:xfrm>
              <a:off x="7882860" y="1895857"/>
              <a:ext cx="263781" cy="263781"/>
            </a:xfrm>
            <a:custGeom>
              <a:avLst/>
              <a:gdLst>
                <a:gd name="T0" fmla="*/ 88 w 88"/>
                <a:gd name="T1" fmla="*/ 44 h 88"/>
                <a:gd name="T2" fmla="*/ 79 w 88"/>
                <a:gd name="T3" fmla="*/ 35 h 88"/>
                <a:gd name="T4" fmla="*/ 82 w 88"/>
                <a:gd name="T5" fmla="*/ 22 h 88"/>
                <a:gd name="T6" fmla="*/ 70 w 88"/>
                <a:gd name="T7" fmla="*/ 19 h 88"/>
                <a:gd name="T8" fmla="*/ 66 w 88"/>
                <a:gd name="T9" fmla="*/ 6 h 88"/>
                <a:gd name="T10" fmla="*/ 53 w 88"/>
                <a:gd name="T11" fmla="*/ 9 h 88"/>
                <a:gd name="T12" fmla="*/ 44 w 88"/>
                <a:gd name="T13" fmla="*/ 0 h 88"/>
                <a:gd name="T14" fmla="*/ 35 w 88"/>
                <a:gd name="T15" fmla="*/ 9 h 88"/>
                <a:gd name="T16" fmla="*/ 22 w 88"/>
                <a:gd name="T17" fmla="*/ 6 h 88"/>
                <a:gd name="T18" fmla="*/ 18 w 88"/>
                <a:gd name="T19" fmla="*/ 19 h 88"/>
                <a:gd name="T20" fmla="*/ 6 w 88"/>
                <a:gd name="T21" fmla="*/ 22 h 88"/>
                <a:gd name="T22" fmla="*/ 9 w 88"/>
                <a:gd name="T23" fmla="*/ 35 h 88"/>
                <a:gd name="T24" fmla="*/ 0 w 88"/>
                <a:gd name="T25" fmla="*/ 44 h 88"/>
                <a:gd name="T26" fmla="*/ 9 w 88"/>
                <a:gd name="T27" fmla="*/ 54 h 88"/>
                <a:gd name="T28" fmla="*/ 6 w 88"/>
                <a:gd name="T29" fmla="*/ 66 h 88"/>
                <a:gd name="T30" fmla="*/ 18 w 88"/>
                <a:gd name="T31" fmla="*/ 70 h 88"/>
                <a:gd name="T32" fmla="*/ 22 w 88"/>
                <a:gd name="T33" fmla="*/ 82 h 88"/>
                <a:gd name="T34" fmla="*/ 35 w 88"/>
                <a:gd name="T35" fmla="*/ 79 h 88"/>
                <a:gd name="T36" fmla="*/ 44 w 88"/>
                <a:gd name="T37" fmla="*/ 88 h 88"/>
                <a:gd name="T38" fmla="*/ 53 w 88"/>
                <a:gd name="T39" fmla="*/ 79 h 88"/>
                <a:gd name="T40" fmla="*/ 66 w 88"/>
                <a:gd name="T41" fmla="*/ 82 h 88"/>
                <a:gd name="T42" fmla="*/ 70 w 88"/>
                <a:gd name="T43" fmla="*/ 70 h 88"/>
                <a:gd name="T44" fmla="*/ 82 w 88"/>
                <a:gd name="T45" fmla="*/ 66 h 88"/>
                <a:gd name="T46" fmla="*/ 79 w 88"/>
                <a:gd name="T47" fmla="*/ 54 h 88"/>
                <a:gd name="T48" fmla="*/ 88 w 88"/>
                <a:gd name="T49" fmla="*/ 44 h 88"/>
                <a:gd name="T50" fmla="*/ 44 w 88"/>
                <a:gd name="T51" fmla="*/ 69 h 88"/>
                <a:gd name="T52" fmla="*/ 19 w 88"/>
                <a:gd name="T53" fmla="*/ 44 h 88"/>
                <a:gd name="T54" fmla="*/ 44 w 88"/>
                <a:gd name="T55" fmla="*/ 20 h 88"/>
                <a:gd name="T56" fmla="*/ 69 w 88"/>
                <a:gd name="T57" fmla="*/ 44 h 88"/>
                <a:gd name="T58" fmla="*/ 44 w 88"/>
                <a:gd name="T59" fmla="*/ 6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8" h="88">
                  <a:moveTo>
                    <a:pt x="88" y="44"/>
                  </a:moveTo>
                  <a:cubicBezTo>
                    <a:pt x="79" y="35"/>
                    <a:pt x="79" y="35"/>
                    <a:pt x="79" y="35"/>
                  </a:cubicBezTo>
                  <a:cubicBezTo>
                    <a:pt x="82" y="22"/>
                    <a:pt x="82" y="22"/>
                    <a:pt x="82" y="22"/>
                  </a:cubicBezTo>
                  <a:cubicBezTo>
                    <a:pt x="70" y="19"/>
                    <a:pt x="70" y="19"/>
                    <a:pt x="70" y="19"/>
                  </a:cubicBezTo>
                  <a:cubicBezTo>
                    <a:pt x="66" y="6"/>
                    <a:pt x="66" y="6"/>
                    <a:pt x="66" y="6"/>
                  </a:cubicBezTo>
                  <a:cubicBezTo>
                    <a:pt x="53" y="9"/>
                    <a:pt x="53" y="9"/>
                    <a:pt x="53" y="9"/>
                  </a:cubicBezTo>
                  <a:cubicBezTo>
                    <a:pt x="44" y="0"/>
                    <a:pt x="44" y="0"/>
                    <a:pt x="44" y="0"/>
                  </a:cubicBezTo>
                  <a:cubicBezTo>
                    <a:pt x="35" y="9"/>
                    <a:pt x="35" y="9"/>
                    <a:pt x="35" y="9"/>
                  </a:cubicBezTo>
                  <a:cubicBezTo>
                    <a:pt x="22" y="6"/>
                    <a:pt x="22" y="6"/>
                    <a:pt x="22" y="6"/>
                  </a:cubicBezTo>
                  <a:cubicBezTo>
                    <a:pt x="18" y="19"/>
                    <a:pt x="18" y="19"/>
                    <a:pt x="18" y="19"/>
                  </a:cubicBezTo>
                  <a:cubicBezTo>
                    <a:pt x="6" y="22"/>
                    <a:pt x="6" y="22"/>
                    <a:pt x="6" y="22"/>
                  </a:cubicBezTo>
                  <a:cubicBezTo>
                    <a:pt x="9" y="35"/>
                    <a:pt x="9" y="35"/>
                    <a:pt x="9" y="35"/>
                  </a:cubicBezTo>
                  <a:cubicBezTo>
                    <a:pt x="0" y="44"/>
                    <a:pt x="0" y="44"/>
                    <a:pt x="0" y="44"/>
                  </a:cubicBezTo>
                  <a:cubicBezTo>
                    <a:pt x="9" y="54"/>
                    <a:pt x="9" y="54"/>
                    <a:pt x="9" y="54"/>
                  </a:cubicBezTo>
                  <a:cubicBezTo>
                    <a:pt x="6" y="66"/>
                    <a:pt x="6" y="66"/>
                    <a:pt x="6" y="66"/>
                  </a:cubicBezTo>
                  <a:cubicBezTo>
                    <a:pt x="18" y="70"/>
                    <a:pt x="18" y="70"/>
                    <a:pt x="18" y="70"/>
                  </a:cubicBezTo>
                  <a:cubicBezTo>
                    <a:pt x="22" y="82"/>
                    <a:pt x="22" y="82"/>
                    <a:pt x="22" y="82"/>
                  </a:cubicBezTo>
                  <a:cubicBezTo>
                    <a:pt x="35" y="79"/>
                    <a:pt x="35" y="79"/>
                    <a:pt x="35" y="79"/>
                  </a:cubicBezTo>
                  <a:cubicBezTo>
                    <a:pt x="44" y="88"/>
                    <a:pt x="44" y="88"/>
                    <a:pt x="44" y="88"/>
                  </a:cubicBezTo>
                  <a:cubicBezTo>
                    <a:pt x="53" y="79"/>
                    <a:pt x="53" y="79"/>
                    <a:pt x="53" y="79"/>
                  </a:cubicBezTo>
                  <a:cubicBezTo>
                    <a:pt x="66" y="82"/>
                    <a:pt x="66" y="82"/>
                    <a:pt x="66" y="82"/>
                  </a:cubicBezTo>
                  <a:cubicBezTo>
                    <a:pt x="70" y="70"/>
                    <a:pt x="70" y="70"/>
                    <a:pt x="70" y="70"/>
                  </a:cubicBezTo>
                  <a:cubicBezTo>
                    <a:pt x="82" y="66"/>
                    <a:pt x="82" y="66"/>
                    <a:pt x="82" y="66"/>
                  </a:cubicBezTo>
                  <a:cubicBezTo>
                    <a:pt x="79" y="54"/>
                    <a:pt x="79" y="54"/>
                    <a:pt x="79" y="54"/>
                  </a:cubicBezTo>
                  <a:lnTo>
                    <a:pt x="88" y="44"/>
                  </a:lnTo>
                  <a:close/>
                  <a:moveTo>
                    <a:pt x="44" y="69"/>
                  </a:moveTo>
                  <a:cubicBezTo>
                    <a:pt x="30" y="69"/>
                    <a:pt x="19" y="58"/>
                    <a:pt x="19" y="44"/>
                  </a:cubicBezTo>
                  <a:cubicBezTo>
                    <a:pt x="19" y="31"/>
                    <a:pt x="30" y="20"/>
                    <a:pt x="44" y="20"/>
                  </a:cubicBezTo>
                  <a:cubicBezTo>
                    <a:pt x="58" y="20"/>
                    <a:pt x="69" y="31"/>
                    <a:pt x="69" y="44"/>
                  </a:cubicBezTo>
                  <a:cubicBezTo>
                    <a:pt x="69" y="58"/>
                    <a:pt x="58" y="69"/>
                    <a:pt x="44" y="69"/>
                  </a:cubicBez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37">
              <a:extLst>
                <a:ext uri="{FF2B5EF4-FFF2-40B4-BE49-F238E27FC236}">
                  <a16:creationId xmlns:a16="http://schemas.microsoft.com/office/drawing/2014/main" id="{6B090190-A215-C0B9-C9B4-CF64D0E3C87A}"/>
                </a:ext>
              </a:extLst>
            </p:cNvPr>
            <p:cNvSpPr>
              <a:spLocks/>
            </p:cNvSpPr>
            <p:nvPr/>
          </p:nvSpPr>
          <p:spPr bwMode="auto">
            <a:xfrm>
              <a:off x="7970364" y="2165978"/>
              <a:ext cx="90040" cy="114136"/>
            </a:xfrm>
            <a:custGeom>
              <a:avLst/>
              <a:gdLst>
                <a:gd name="T0" fmla="*/ 52 w 71"/>
                <a:gd name="T1" fmla="*/ 12 h 90"/>
                <a:gd name="T2" fmla="*/ 35 w 71"/>
                <a:gd name="T3" fmla="*/ 28 h 90"/>
                <a:gd name="T4" fmla="*/ 19 w 71"/>
                <a:gd name="T5" fmla="*/ 12 h 90"/>
                <a:gd name="T6" fmla="*/ 7 w 71"/>
                <a:gd name="T7" fmla="*/ 0 h 90"/>
                <a:gd name="T8" fmla="*/ 0 w 71"/>
                <a:gd name="T9" fmla="*/ 2 h 90"/>
                <a:gd name="T10" fmla="*/ 0 w 71"/>
                <a:gd name="T11" fmla="*/ 90 h 90"/>
                <a:gd name="T12" fmla="*/ 35 w 71"/>
                <a:gd name="T13" fmla="*/ 57 h 90"/>
                <a:gd name="T14" fmla="*/ 71 w 71"/>
                <a:gd name="T15" fmla="*/ 90 h 90"/>
                <a:gd name="T16" fmla="*/ 71 w 71"/>
                <a:gd name="T17" fmla="*/ 2 h 90"/>
                <a:gd name="T18" fmla="*/ 64 w 71"/>
                <a:gd name="T19" fmla="*/ 0 h 90"/>
                <a:gd name="T20" fmla="*/ 52 w 71"/>
                <a:gd name="T21"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90">
                  <a:moveTo>
                    <a:pt x="52" y="12"/>
                  </a:moveTo>
                  <a:lnTo>
                    <a:pt x="35" y="28"/>
                  </a:lnTo>
                  <a:lnTo>
                    <a:pt x="19" y="12"/>
                  </a:lnTo>
                  <a:lnTo>
                    <a:pt x="7" y="0"/>
                  </a:lnTo>
                  <a:lnTo>
                    <a:pt x="0" y="2"/>
                  </a:lnTo>
                  <a:lnTo>
                    <a:pt x="0" y="90"/>
                  </a:lnTo>
                  <a:lnTo>
                    <a:pt x="35" y="57"/>
                  </a:lnTo>
                  <a:lnTo>
                    <a:pt x="71" y="90"/>
                  </a:lnTo>
                  <a:lnTo>
                    <a:pt x="71" y="2"/>
                  </a:lnTo>
                  <a:lnTo>
                    <a:pt x="64" y="0"/>
                  </a:lnTo>
                  <a:lnTo>
                    <a:pt x="52" y="12"/>
                  </a:lnTo>
                  <a:close/>
                </a:path>
              </a:pathLst>
            </a:custGeom>
            <a:solidFill>
              <a:srgbClr val="505A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10242" name="Picture 2" descr="Animation showing the K-means clustering process. Image by Author.">
            <a:extLst>
              <a:ext uri="{FF2B5EF4-FFF2-40B4-BE49-F238E27FC236}">
                <a16:creationId xmlns:a16="http://schemas.microsoft.com/office/drawing/2014/main" id="{987FB658-9A84-B319-BE64-8723EED21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6758" y="2688188"/>
            <a:ext cx="4618051" cy="3465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778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请各位老师批评指正</a:t>
            </a:r>
            <a:r>
              <a:rPr lang="en-US" altLang="zh-CN" dirty="0"/>
              <a:t>!</a:t>
            </a: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UPC专属模板配色方案">
      <a:dk1>
        <a:srgbClr val="000000"/>
      </a:dk1>
      <a:lt1>
        <a:srgbClr val="FFFFFF"/>
      </a:lt1>
      <a:dk2>
        <a:srgbClr val="768395"/>
      </a:dk2>
      <a:lt2>
        <a:srgbClr val="F0F0F0"/>
      </a:lt2>
      <a:accent1>
        <a:srgbClr val="003778"/>
      </a:accent1>
      <a:accent2>
        <a:srgbClr val="D00746"/>
      </a:accent2>
      <a:accent3>
        <a:srgbClr val="FEA200"/>
      </a:accent3>
      <a:accent4>
        <a:srgbClr val="14BAB0"/>
      </a:accent4>
      <a:accent5>
        <a:srgbClr val="CFDC2A"/>
      </a:accent5>
      <a:accent6>
        <a:srgbClr val="73B1C8"/>
      </a:accent6>
      <a:hlink>
        <a:srgbClr val="4472C4"/>
      </a:hlink>
      <a:folHlink>
        <a:srgbClr val="BFBFBF"/>
      </a:folHlink>
    </a:clrScheme>
    <a:fontScheme name="UPC专属模板字体方案">
      <a:majorFont>
        <a:latin typeface="Segoe UI"/>
        <a:ea typeface="微软雅黑"/>
        <a:cs typeface=""/>
      </a:majorFont>
      <a:minorFont>
        <a:latin typeface="Segoe U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4557</TotalTime>
  <Words>2091</Words>
  <Application>Microsoft Office PowerPoint</Application>
  <PresentationFormat>宽屏</PresentationFormat>
  <Paragraphs>211</Paragraphs>
  <Slides>25</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25</vt:i4>
      </vt:variant>
    </vt:vector>
  </HeadingPairs>
  <TitlesOfParts>
    <vt:vector size="40" baseType="lpstr">
      <vt:lpstr>-apple-system</vt:lpstr>
      <vt:lpstr>Microsoft YaHei UI</vt:lpstr>
      <vt:lpstr>Urbanist</vt:lpstr>
      <vt:lpstr>微软雅黑</vt:lpstr>
      <vt:lpstr>Arial</vt:lpstr>
      <vt:lpstr>Calibri</vt:lpstr>
      <vt:lpstr>Cambria Math</vt:lpstr>
      <vt:lpstr>Impact</vt:lpstr>
      <vt:lpstr>Roboto Light</vt:lpstr>
      <vt:lpstr>Segoe UI</vt:lpstr>
      <vt:lpstr>Segoe UI Light</vt:lpstr>
      <vt:lpstr>Times New Roman</vt:lpstr>
      <vt:lpstr>Wingdings</vt:lpstr>
      <vt:lpstr>Office 主题​​</vt:lpstr>
      <vt:lpstr>2_OfficePLUS</vt:lpstr>
      <vt:lpstr>萤火虫算法</vt:lpstr>
      <vt:lpstr>PowerPoint 演示文稿</vt:lpstr>
      <vt:lpstr>算法背景</vt:lpstr>
      <vt:lpstr>1.1 萤火虫算法是什么？</vt:lpstr>
      <vt:lpstr>1.2 萤火虫算法的生物学灵感来源</vt:lpstr>
      <vt:lpstr>1.3 为什么要提出萤火虫算法？</vt:lpstr>
      <vt:lpstr>1.4 算法思想从自然到数学的映射</vt:lpstr>
      <vt:lpstr>算法流程</vt:lpstr>
      <vt:lpstr>2.1 前置定义</vt:lpstr>
      <vt:lpstr>2.2 算法流程</vt:lpstr>
      <vt:lpstr>2.2 算法流程</vt:lpstr>
      <vt:lpstr>算法优点</vt:lpstr>
      <vt:lpstr>3 算法优点</vt:lpstr>
      <vt:lpstr>算法缺点</vt:lpstr>
      <vt:lpstr>4 算法缺点</vt:lpstr>
      <vt:lpstr>改进思路</vt:lpstr>
      <vt:lpstr>5 改进思路一：参数自适应优化</vt:lpstr>
      <vt:lpstr>5 改进思路二：引入莱维飞行机制</vt:lpstr>
      <vt:lpstr>5 改进思路三：混合算法协同策略</vt:lpstr>
      <vt:lpstr>应用方向</vt:lpstr>
      <vt:lpstr>6 萤火虫算法的应用方向</vt:lpstr>
      <vt:lpstr>6 应用一：数字图像分割</vt:lpstr>
      <vt:lpstr>6 应用二：工程结构优化</vt:lpstr>
      <vt:lpstr>6 应用三：数字图像分割</vt:lpstr>
      <vt:lpstr>请各位老师批评指正!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志浩 王</dc:creator>
  <cp:lastModifiedBy>春阳 李</cp:lastModifiedBy>
  <cp:revision>447</cp:revision>
  <dcterms:created xsi:type="dcterms:W3CDTF">2018-12-20T13:10:20Z</dcterms:created>
  <dcterms:modified xsi:type="dcterms:W3CDTF">2025-12-07T10:57:39Z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2019-04-12T02:32:11.3712254Z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33fb340e-0a7b-4f47-a53e-1f796744a0fc</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